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  <Override PartName="/ppt/slides/slide35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7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34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6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s/slide32.xml" ContentType="application/vnd.openxmlformats-officedocument.presentationml.slide+xml"/>
  <Override PartName="/ppt/slides/slide16.xml" ContentType="application/vnd.openxmlformats-officedocument.presentationml.slide+xml"/>
  <Override PartName="/ppt/slides/slide37.xml" ContentType="application/vnd.openxmlformats-officedocument.presentationml.slide+xml"/>
  <Override PartName="/ppt/slides/slide33.xml" ContentType="application/vnd.openxmlformats-officedocument.presentationml.slide+xml"/>
  <Override PartName="/ppt/slides/slide36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3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41" Type="http://schemas.openxmlformats.org/officeDocument/2006/relationships/tableStyles" Target="tableStyles.xml" /><Relationship Id="rId4" Type="http://schemas.openxmlformats.org/officeDocument/2006/relationships/slide" Target="slides/slide4.xml" /><Relationship Id="rId38" Type="http://schemas.openxmlformats.org/officeDocument/2006/relationships/slide" Target="slides/slide38.xml" /><Relationship Id="rId37" Type="http://schemas.openxmlformats.org/officeDocument/2006/relationships/slide" Target="slides/slide37.xml" /><Relationship Id="rId36" Type="http://schemas.openxmlformats.org/officeDocument/2006/relationships/slide" Target="slides/slide36.xml" /><Relationship Id="rId33" Type="http://schemas.openxmlformats.org/officeDocument/2006/relationships/slide" Target="slides/slide33.xml" /><Relationship Id="rId32" Type="http://schemas.openxmlformats.org/officeDocument/2006/relationships/slide" Target="slides/slide32.xml" /><Relationship Id="rId31" Type="http://schemas.openxmlformats.org/officeDocument/2006/relationships/slide" Target="slides/slide31.xml" /><Relationship Id="rId30" Type="http://schemas.openxmlformats.org/officeDocument/2006/relationships/slide" Target="slides/slide30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28" Type="http://schemas.openxmlformats.org/officeDocument/2006/relationships/slide" Target="slides/slide28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40" Type="http://schemas.openxmlformats.org/officeDocument/2006/relationships/presProps" Target="presProps.xml" /><Relationship Id="rId39" Type="http://schemas.openxmlformats.org/officeDocument/2006/relationships/notesMaster" Target="notesMasters/notesMaster1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3" Type="http://schemas.openxmlformats.org/officeDocument/2006/relationships/slide" Target="slides/slide23.xml" /><Relationship Id="rId22" Type="http://schemas.openxmlformats.org/officeDocument/2006/relationships/slide" Target="slides/slide22.xml" /><Relationship Id="rId42" Type="http://schemas.openxmlformats.org/officeDocument/2006/relationships/viewProps" Target="viewProps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" Type="http://schemas.openxmlformats.org/officeDocument/2006/relationships/slide" Target="slides/slide2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17" Type="http://schemas.openxmlformats.org/officeDocument/2006/relationships/slide" Target="slides/slide17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2" Type="http://schemas.openxmlformats.org/officeDocument/2006/relationships/slide" Target="slides/slide12.xml" /><Relationship Id="rId16" Type="http://schemas.openxmlformats.org/officeDocument/2006/relationships/slide" Target="slides/slide16.xml" /><Relationship Id="rId29" Type="http://schemas.openxmlformats.org/officeDocument/2006/relationships/slide" Target="slides/slide29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35" Type="http://schemas.openxmlformats.org/officeDocument/2006/relationships/slide" Target="slides/slide35.xml" /><Relationship Id="rId34" Type="http://schemas.openxmlformats.org/officeDocument/2006/relationships/slide" Target="slides/slide34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'#0E3F8C', padding: 0 }}&gt;&#10;  &lt;Box style={{ flexDirection: 'column', height: '100%', justifyContent: 'center', padding: '0 80px', position: 'relative' }}&gt;&#10;    &lt;Box style={{ position: 'absolute', top: 0, left: 0, right: 0, height: 8, background: '#1E4FA8' }} /&gt;&#10;    &lt;Box style={{ position: 'absolute', top: 8, left: 0, right: 0, height: 2, background: '#3D7BD9' }} /&gt;&#10;    &lt;Box style={{ flexDirection: 'row', alignItems: 'center', gap: 14, marginBottom: 30 }}&gt;&#10;      &lt;Box style={{ padding: '7px 18px', background: '#3D7BD9', borderRadius: 18 }}&gt;&#10;        &lt;Text style={{ fontSize: 16, color: '#FFFFFF', fontWeight: 'bold', letterSpacing: 2 }}&gt;ISAD · WEEK 08&lt;/Text&gt;&#10;      &lt;/Box&gt;&#10;      &lt;Box style={{ width: 56, height: 1, background: '#5B84C4' }} /&gt;&#10;      &lt;Text style={{ fontSize: 16, color: '#7FA2D6', letterSpacing: 1 }}&gt;MODULE B · OO ANALYSIS&lt;/Text&gt;&#10;    &lt;/Box&gt;&#10;    &lt;Text style={{ fontSize: 56, fontWeight: 'bold', color: '#FFFFFF', fontFamily: 'Georgia, serif', lineHeight: 1.12 }}&gt;&#10;      Sequence Diagrams&#10;    &lt;/Text&gt;&#10;    &lt;Box style={{ width: 88, height: 5, background: '#FFC107', marginTop: 28, marginBottom: 22 }} /&gt;&#10;    &lt;Text style={{ fontSize: 26, color: '#B9CDF0', lineHeight: 1.45 }}&gt;&#10;      Turning the lines into a conversation that happens in time&#10;    &lt;/Text&gt;&#10;    &lt;Box style={{ position: 'absolute', bottom: 46, left: 80, right: 80, flexDirection: 'row', justifyContent: 'space-between', alignItems: 'center', borderTop: '1px solid #2B5793', paddingTop: 18 }}&gt;&#10;      &lt;Text style={{ fontSize: 17, color: '#C5D4EA' }}&gt;Ren Zheng · School of Software Engineering&lt;/Text&gt;&#10;      &lt;Text style={{ fontSize: 17, color: '#C5D4EA' }}&gt;Fall 2026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62000" y="2286000"/>
            <a:ext cx="1781175" cy="323850"/>
          </a:xfrm>
          <a:prstGeom prst="roundRect">
            <a:avLst>
              <a:gd name="adj" fmla="val 52941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33450" y="2352675"/>
            <a:ext cx="1438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150">
                <a:solidFill>
                  <a:srgbClr val="FFFFFF"/>
                </a:solidFill>
                <a:latin typeface="Microsoft YaHei"/>
                <a:ea typeface="Microsoft YaHei"/>
              </a:rPr>
              <a:t>ISAD · WEEK 08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2676525" y="2447925"/>
            <a:ext cx="533400" cy="9525"/>
          </a:xfrm>
          <a:prstGeom prst="rect">
            <a:avLst/>
          </a:prstGeom>
          <a:solidFill>
            <a:srgbClr val="5B84C4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3343275" y="235267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7FA2D6"/>
                </a:solidFill>
                <a:latin typeface="Microsoft YaHei"/>
                <a:ea typeface="Microsoft YaHei"/>
              </a:rPr>
              <a:t>MODULE B · OO ANALYSIS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895600"/>
            <a:ext cx="10668000" cy="723900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en-US" sz="4200" b="1">
                <a:solidFill>
                  <a:srgbClr val="FFFFFF"/>
                </a:solidFill>
                <a:latin typeface="Georgia"/>
                <a:ea typeface="Georgia"/>
              </a:rPr>
              <a:t>Sequence Diagrams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3886200"/>
            <a:ext cx="8382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4143375"/>
            <a:ext cx="10668000" cy="4381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950">
                <a:solidFill>
                  <a:srgbClr val="B9CDF0"/>
                </a:solidFill>
                <a:latin typeface="Microsoft YaHei"/>
                <a:ea typeface="Microsoft YaHei"/>
              </a:rPr>
              <a:t>Turning the lines into a conversation that happens in time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0" y="76200"/>
            <a:ext cx="12192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762000" y="6038850"/>
            <a:ext cx="10668000" cy="390525"/>
          </a:xfrm>
          <a:custGeom>
            <a:pathLst>
              <a:path w="1120" h="41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62000" y="6219825"/>
            <a:ext cx="321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Ren Zheng · School of Software Engineering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763250" y="6219825"/>
            <a:ext cx="66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Fall 2026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81" name="" descr="&lt;Slide style={{ background: '#FFFFFF', padding: 0 }}&gt;&#10;  &lt;Box style={{ flexDirection: 'row', height: '100%' }}&gt;&#10;    &lt;Box style={{ width: 320, background: '#0E3F8C', padding: '60px 44px', flexDirection: 'column', justifyContent: 'space-between' }}&gt;&#10;      &lt;Box&gt;&#10;        &lt;Box style={{ width: 40, height: 4, background: '#FFC107', marginBottom: 24 }} /&gt;&#10;        &lt;Text style={{ fontSize: 46, fontWeight: 'bold', color: '#FFFFFF', fontFamily: 'Georgia, serif', lineHeight: 1.15 }}&gt;Contents&lt;/Text&gt;&#10;        &lt;Text style={{ fontSize: 16, color: '#7FA2D6', marginTop: 18, letterSpacing: 1 }}&gt;WEEK 08 · ROADMAP&lt;/Text&gt;&#10;      &lt;/Box&gt;&#10;      &lt;Text style={{ fontSize: 15, color: '#5B84C4', lineHeight: 1.5 }}&gt;Sequence&lt;br /&gt;Diagrams&lt;/Text&gt;&#10;    &lt;/Box&gt;&#10;    &lt;Box style={{ flex: 1, padding: '50px 56px', flexDirection: 'column', gap: 15 }}&gt;&#10;        &lt;Box key=&quot;01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1&lt;/Text&gt;&#10;          &lt;/Box&gt;&#10;          &lt;Text style={{ flex: 1, fontSize: 20, color: '#1A2230', fontWeight: '600' }}&gt;Anatomy of a Sequence Diagram&lt;/Text&gt;&#10;          &lt;Text style={{ fontSize: 20, color: '#8B97A8', fontWeight: 'bold' }}&gt;03&lt;/Text&gt;&#10;        &lt;/Box&gt;&#10;        &lt;Box key=&quot;02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2&lt;/Text&gt;&#10;          &lt;/Box&gt;&#10;          &lt;Text style={{ flex: 1, fontSize: 20, color: '#1A2230', fontWeight: '600' }}&gt;From SSD to a Full Diagram&lt;/Text&gt;&#10;          &lt;Text style={{ fontSize: 20, color: '#8B97A8', fontWeight: 'bold' }}&gt;09&lt;/Text&gt;&#10;        &lt;/Box&gt;&#10;        &lt;Box key=&quot;03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3&lt;/Text&gt;&#10;          &lt;/Box&gt;&#10;          &lt;Text style={{ flex: 1, fontSize: 20, color: '#1A2230', fontWeight: '600' }}&gt;Interaction Fragments&lt;/Text&gt;&#10;          &lt;Text style={{ fontSize: 20, color: '#8B97A8', fontWeight: 'bold' }}&gt;14&lt;/Text&gt;&#10;        &lt;/Box&gt;&#10;        &lt;Box key=&quot;04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4&lt;/Text&gt;&#10;          &lt;/Box&gt;&#10;          &lt;Text style={{ flex: 1, fontSize: 20, color: '#1A2230', fontWeight: '600' }}&gt;Operation Discovery&lt;/Text&gt;&#10;          &lt;Text style={{ fontSize: 20, color: '#8B97A8', fontWeight: 'bold' }}&gt;21&lt;/Text&gt;&#10;        &lt;/Box&gt;&#10;        &lt;Box key=&quot;05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5&lt;/Text&gt;&#10;          &lt;/Box&gt;&#10;          &lt;Text style={{ flex: 1, fontSize: 20, color: '#1A2230', fontWeight: '600' }}&gt;A Worked Example: Place Order&lt;/Text&gt;&#10;          &lt;Text style={{ fontSize: 20, color: '#8B97A8', fontWeight: 'bold' }}&gt;25&lt;/Text&gt;&#10;        &lt;/Box&gt;&#10;        &lt;Box key=&quot;06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6&lt;/Text&gt;&#10;          &lt;/Box&gt;&#10;          &lt;Text style={{ flex: 1, fontSize: 20, color: '#1A2230', fontWeight: '600' }}&gt;Lab — Exercise 8.1, 8.2 + M2&lt;/Text&gt;&#10;          &lt;Text style={{ fontSize: 20, color: '#8B97A8', fontWeight: 'bold' }}&gt;30&lt;/Text&gt;&#10;  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0" y="0"/>
            <a:ext cx="3048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419100" y="571500"/>
            <a:ext cx="381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19100" y="838200"/>
            <a:ext cx="2209800" cy="609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450" b="1">
                <a:solidFill>
                  <a:srgbClr val="FFFFFF"/>
                </a:solidFill>
                <a:latin typeface="Georgia"/>
                <a:ea typeface="Georgia"/>
              </a:rPr>
              <a:t>Contents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19100" y="1619250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7FA2D6"/>
                </a:solidFill>
                <a:latin typeface="Microsoft YaHei"/>
                <a:ea typeface="Microsoft YaHei"/>
              </a:rPr>
              <a:t>WEEK 08 · ROADMAP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19100" y="5772150"/>
            <a:ext cx="22098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B84C4"/>
                </a:solidFill>
                <a:latin typeface="Microsoft YaHei"/>
                <a:ea typeface="Microsoft YaHei"/>
              </a:rPr>
              <a:t>Sequence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5B84C4"/>
                </a:solidFill>
                <a:latin typeface="Microsoft YaHei"/>
                <a:ea typeface="Microsoft YaHei"/>
              </a:rPr>
              <a:t>Diagrams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3581400" y="476250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3771900" y="6096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905250" y="73342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457700" y="742950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Anatomy of a Sequence Diagram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249025" y="74295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3581400" y="1381125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3771900" y="15144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3905250" y="1638300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457700" y="1647825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From SSD to a Full Diagram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1249025" y="1647825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3581400" y="2286000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3771900" y="241935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3905250" y="254317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457700" y="2552700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Interaction Fragments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1249025" y="25527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3581400" y="3190875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3771900" y="332422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905250" y="3448050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457700" y="3457575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Operation Discovery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249025" y="3457575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21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3581400" y="4095750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3771900" y="42291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3905250" y="435292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457700" y="4362450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A Worked Example: Place Order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1249025" y="436245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25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3581400" y="5000625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3771900" y="51339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3905250" y="5257800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457700" y="5267325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Lab — Exercise 8.1, 8.2 + M2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1249025" y="5267325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37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1&lt;/Text&gt;&#10;    &lt;/Box&gt;&#10;    &lt;Box style={{ flex: 1, padding: '70px 64px', flexDirection: 'column', justifyContent: 'center' }}&gt;&#10;      &lt;Text style={{ fontSize: 15, color: '#7FA2D6', letterSpacing: 2, marginBottom: 18 }}&gt;PART 1 · LECTURE · 30 MIN&lt;/Text&gt;&#10;      &lt;Text style={{ fontSize: 46, fontWeight: 'bold', color: '#FFFFFF', lineHeight: 1.18 }}&gt;Anatomy&lt;/Text&gt;&#10;      &lt;Box style={{ width: 64, height: 4, background: '#FFC107', marginTop: 26, marginBottom: 26 }} /&gt;&#10;      &lt;Box style={{ flexDirection: 'column', gap: 12 }}&gt;&#10;          &lt;Box key=&quot;Time flows down the page — nothing else&quot; style={{ flexDirection: 'row', alignItems: 'center', gap: 12 }}&gt;&#10;            &lt;Box style={{ width: 8, height: 8, borderRadius: 4, background: '#3D7BD9' }} /&gt;&#10;            &lt;Text style={{ fontSize: 20, color: '#C5D4EA' }}&gt;Time flows down the page — nothing else&lt;/Text&gt;&#10;          &lt;/Box&gt;&#10;          &lt;Box key=&quot;A lifeline is an object; a message is a &quot; style={{ flexDirection: 'row', alignItems: 'center', gap: 12 }}&gt;&#10;            &lt;Box style={{ width: 8, height: 8, borderRadius: 4, background: '#3D7BD9' }} /&gt;&#10;            &lt;Text style={{ fontSize: 20, color: '#C5D4EA' }}&gt;A lifeline is an object; a message is a request that takes time&lt;/Text&gt;&#10;          &lt;/Box&gt;&#10;          &lt;Box key=&quot;Three message kinds, one rule: the arrow&quot; style={{ flexDirection: 'row', alignItems: 'center', gap: 12 }}&gt;&#10;            &lt;Box style={{ width: 8, height: 8, borderRadius: 4, background: '#3D7BD9' }} /&gt;&#10;            &lt;Text style={{ fontSize: 20, color: '#C5D4EA' }}&gt;Three message kinds, one rule: the arrowhead tells you what happens next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39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71450" y="2171700"/>
            <a:ext cx="250507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3467100" y="22193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 · 30 MIN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3467100" y="25622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Anatomy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3467100" y="34385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44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3533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Time flows down the page — nothing else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34671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3657600" y="4067175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 lifeline is an object; a message is a request that takes time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3467100" y="4486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3657600" y="4410075"/>
            <a:ext cx="6343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Three message kinds, one rule: the arrowhead tells you what happens next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4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572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ANATOMY&lt;/Text&gt;&#10;  &lt;/Box&gt;&#10;  &lt;Box style={{ padding: '13px 40px 0 40px', flexDirection: 'row', alignItems: 'center', justifyContent: 'space-between' }}&gt;&#10;    &lt;Text style={{ fontSize: 29, fontWeight: 'bold', color: '#0E3F8C' }}&gt;A Sequence Diagram, Reading Left to Right&lt;/Text&gt;&#10;    &lt;Text style={{ fontSize: 14, color: '#1E4FA8', fontWeight: 'bold' }}&gt;04 / 38&lt;/Text&gt;&#10;  &lt;/Box&gt;&#10;  &lt;Box style={{ flex: 1, padding: '10px 40px 0 40px', flexDirection: 'column' }}&gt;&#10;    &lt;Box style={{ justifyContent: 'center', alignItems: 'center' }}&gt;&#10;    &lt;svg width={1180} height={442} viewBox='0 0 1180 $h'&gt;&#10;&#10;      &lt;text x='10' y='16' fill='#8B97A8' fontSize='13'&gt;Five objects. Every message costs a little time, so the vertical axis is the story and the horizontal axis is nobody.&lt;/text&gt;&#10;&#10;      &lt;rect x='40' y='34' width='148' height='46' rx='8' fill='#EAF6EC' stroke='#2B7A3D' strokeWidth='2' /&gt;&#10;      &lt;text x='114' y='64' textAnchor='middle' fill='#0E3F8C' fontSize='16' fontWeight='bold'&gt;Student&lt;/text&gt;&#10;      &lt;line x1='114' y1='34' x2='114' y2='372' stroke='#8B97A8' strokeWidth='1.6' strokeDasharray='7 6' /&gt;&#10;      &lt;rect x='300' y='34' width='148' height='46' rx='8' fill='#EAF6EC' stroke='#2B7A3D' strokeWidth='2' /&gt;&#10;      &lt;text x='374' y='64' textAnchor='middle' fill='#0E3F8C' fontSize='16' fontWeight='bold'&gt;StudentApp&lt;/text&gt;&#10;      &lt;line x1='374' y1='34' x2='374' y2='372' stroke='#8B97A8' strokeWidth='1.6' strokeDasharray='7 6' /&gt;&#10;      &lt;rect x='560' y='34' width='148' height='46' rx='8' fill='#F0F5FC' stroke='#1E4FA8' strokeWidth='2' /&gt;&#10;      &lt;text x='634' y='64' textAnchor='middle' fill='#0E3F8C' fontSize='16' fontWeight='bold'&gt;PlaceOrderController&lt;/text&gt;&#10;      &lt;line x1='634' y1='34' x2='634' y2='372' stroke='#8B97A8' strokeWidth='1.6' strokeDasharray='7 6' /&gt;&#10;      &lt;rect x='820' y='34' width='148' height='46' rx='8' fill='#F7F9FC' stroke='#1E4FA8' strokeWidth='2' /&gt;&#10;      &lt;text x='894' y='64' textAnchor='middle' fill='#0E3F8C' fontSize='16' fontWeight='bold'&gt;Order&lt;/text&gt;&#10;      &lt;line x1='894' y1='34' x2='894' y2='372' stroke='#8B97A8' strokeWidth='1.6' strokeDasharray='7 6' /&gt;&#10;      &lt;rect x='1030' y='34' width='148' height='46' rx='8' fill='#F7F9FC' stroke='#1E4FA8' strokeWidth='2' /&gt;&#10;      &lt;text x='1104' y='64' textAnchor='middle' fill='#0E3F8C' fontSize='16' fontWeight='bold'&gt;OrderLine&lt;/text&gt;&#10;      &lt;line x1='1104' y1='34' x2='1104' y2='372' stroke='#8B97A8' strokeWidth='1.6' strokeDasharray='7 6' /&gt;      &lt;rect x='108' y='96' width='13' height='230' rx='3' fill='#C5D4EA' stroke='#0E3F8C' strokeWidth='1.2' /&gt;      &lt;rect x='368' y='118' width='13' height='190' rx='3' fill='#C5D4EA' stroke='#0E3F8C' strokeWidth='1.2' /&gt;      &lt;rect x='628' y='140' width='13' height='146' rx='3' fill='#C5D4EA' stroke='#0E3F8C' strokeWidth='1.2' /&gt;      &lt;rect x='888' y='162' width='13' height='100' rx='3' fill='#C5D4EA' stroke='#0E3F8C' strokeWidth='1.2' /&gt;      &lt;rect x='1098' y='186' width='13' height='58' rx='3' fill='#C5D4EA' stroke='#0E3F8C' strokeWidth='1.2' /&gt;      &lt;line x1='122' y1='100' x2='351' y2='100' stroke='#0E3F8C' strokeWidth='2' /&gt;&#10;      &lt;text x='242' y='91' fill='#1A2230' fontSize='13.5'&gt;placeOrder(cart)&lt;/text&gt;&#10;      &lt;polygon points='362,100 352,94 352,106' fill='#0E3F8C' /&gt;      &lt;line x1='382' y1='122' x2='611' y2='122' stroke='#0E3F8C' strokeWidth='2' /&gt;&#10;      &lt;text x='502' y='113' fill='#1A2230' fontSize='13.5'&gt;createOrder(cart)&lt;/text&gt;&#10;      &lt;polygon points='622,122 612,116 612,128' fill='#0E3F8C' /&gt;      &lt;line x1='642' y1='144' x2='871' y2='144' stroke='#0E3F8C' strokeWidth='2' /&gt;&#10;      &lt;text x='762' y='135' fill='#1A2230' fontSize='13.5'&gt;addLine(item, qty)&lt;/text&gt;&#10;      &lt;polygon points='882,144 872,138 872,150' fill='#0E3F8C' /&gt;      &lt;line x1='902' y1='166' x2='1081' y2='166' stroke='#0E3F8C' strokeWidth='2' /&gt;&#10;      &lt;text x='997' y='157' fill='#1A2230' fontSize='13.5'&gt;new OrderLine(item, qty)&lt;/text&gt;&#10;      &lt;polygon points='1092,166 1082,160 1082,172' fill='#0E3F8C' /&gt;      &lt;line x1='1092' y1='200' x2='913' y2='200' stroke='#7FA2D6' strokeWidth='1.8' strokeDasharray='6 5' /&gt;&#10;      &lt;polygon points='913,200 904,195 904,205' fill='#7FA2D6' /&gt;&#10;      &lt;text x='997' y='192' fill='#8B97A8' fontSize='12'&gt;line&lt;/text&gt;      &lt;line x1='622' y1='240' x2='371' y2='240' stroke='#7FA2D6' strokeWidth='2' /&gt;&#10;      &lt;text x='502' y='231' fill='#1A2230' fontSize='13.5'&gt;orderId&lt;/text&gt;&#10;      &lt;polygon points='382,240 372,234 372,246' fill='#7FA2D6' /&gt;      &lt;line x1='362' y1='268' x2='111' y2='268' stroke='#7FA2D6' strokeWidth='2' /&gt;&#10;      &lt;text x='242' y='259' fill='#1A2230' fontSize='13.5'&gt;confirmation&lt;/text&gt;&#10;      &lt;polygon points='122,268 112,262 112,274' fill='#7FA2D6' /&gt;&#10;      &lt;rect x='40' y='392' width='1090' height='40' rx='8' fill='#F0F5FC' /&gt;&#10;      &lt;text x='60' y='417' fill='#4A5568' fontSize='13.5'&gt;Read the arrows as «who asked whom, and when». The boxes are your W06/W07 classes — same names, now talking.&lt;/text&gt;&#10;&#10;    &lt;/svg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04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10696575" y="257175"/>
            <a:ext cx="1114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ANATOMY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7150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A Sequence Diagram, Reading Left to Right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38</a:t>
            </a:r>
            <a:endParaRPr/>
          </a:p>
        </p:txBody>
      </p:sp>
      <p:pic>
        <p:nvPicPr>
          <p:cNvPr id="5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238250"/>
            <a:ext cx="11239500" cy="4210050"/>
          </a:xfrm>
          <a:prstGeom prst="rect">
            <a:avLst/>
          </a:prstGeom>
          <a:ln/>
        </p:spPr>
      </p:pic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38</a:t>
            </a:r>
            <a:endParaRPr/>
          </a:p>
        </p:txBody>
      </p:sp>
    </p:spTree>
  </p:cSld>
</p:sld>
</file>

<file path=ppt/slides/slide5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582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ANATOMY&lt;/Text&gt;&#10;  &lt;/Box&gt;&#10;  &lt;Box style={{ padding: '13px 40px 0 40px', flexDirection: 'row', alignItems: 'center', justifyContent: 'space-between' }}&gt;&#10;    &lt;Text style={{ fontSize: 29, fontWeight: 'bold', color: '#0E3F8C' }}&gt;Lifelines — Who Is on the Page at All&lt;/Text&gt;&#10;    &lt;Text style={{ fontSize: 14, color: '#1E4FA8', fontWeight: 'bold' }}&gt;05 / 38&lt;/Text&gt;&#10;  &lt;/Box&gt;&#10;  &lt;Box style={{ flex: 1, padding: '10px 40px 0 40px', flexDirection: 'column' }}&gt;&#10;    &lt;Table&#10;      style={{ width: '100%', height: '100%' }}&#10;      defaultTextStyle={{ fontSize: 13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290, 440, 270]}&#10;      cells={[&#10;        [&#10;          { text: 'Question', textStyle: {bold: true, color: '#FFFFFF', fontSize: 15}, cellStyle: {background: { color: '#0E3F8C' }} },&#10;          { text: 'Rule', textStyle: {bold: true, color: '#FFFFFF', fontSize: 15}, cellStyle: {background: { color: '#1E4FA8' }} },&#10;          { text: 'CampusBites example', textStyle: {bold: true, color: '#FFFFFF', fontSize: 15}, cellStyle: {background: { color: '#1E4FA8' }} }&#10;        ],&#10;        [&#10;          { text: 'Must every W06 class appear?', textStyle: {color: '#4A5568'}, cellStyle: {} },&#10;          { text: 'No — only those that send or receive a message in this scenario', textStyle: {color: '#4A5568'}, cellStyle: {} },&#10;          { text: 'Payment appears; Coupon does not', textStyle: {color: '#4A5568'}, cellStyle: {} }&#10;        ],&#10;        [&#10;          { text: 'Can an actor appear?', textStyle: {color: '#4A5568'}, cellStyle: {background: { color: '#F7F9FC' }} },&#10;          { text: 'Yes — actors are participants like any other', textStyle: {color: '#4A5568'}, cellStyle: {background: { color: '#F7F9FC' }} },&#10;          { text: 'Student is on the left of the diagram', textStyle: {color: '#4A5568'}, cellStyle: {background: { color: '#F7F9FC' }} }&#10;        ],&#10;        [&#10;          { text: 'How many lifelines is too many?', textStyle: {color: '#4A5568'}, cellStyle: {} },&#10;          { text: 'More than about seven and the diagram stops being readable', textStyle: {color: '#4A5568'}, cellStyle: {} },&#10;          { text: 'Split into two scenarios if it grows', textStyle: {color: '#4A5568'}, cellStyle: {} }&#10;        ],&#10;        [&#10;          { text: 'Same class twice in one diagram?', textStyle: {color: '#4A5568'}, cellStyle: {background: { color: '#F7F9FC' }} },&#10;          { text: 'Only for different scenarios; within one scenario, once', textStyle: {color: '#4A5568'}, cellStyle: {background: { color: '#F7F9FC' }} },&#10;          { text: 'Two separate use cases get two diagrams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05 / 38&lt;/Text&gt;&#10;  &lt;/Box&gt;&#10;  &lt;Box style={{ height: 46, background: '#0E3F8C', padding: '0 40px', flexDirection: 'row', alignItems: 'center', justifyContent: 'center' }}&gt;&#10;    &lt;Text style={{ fontSize: 16.5, color: '#FFFFFF', fontWeight: '600' }}&gt;If a class is on the page, it is because something talks to it. If nothing talks to it, leave it off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10696575" y="257175"/>
            <a:ext cx="1114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ANATOMY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8577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Lifelines — Who Is on the Page at All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38</a:t>
            </a:r>
            <a:endParaRPr/>
          </a:p>
        </p:txBody>
      </p:sp>
      <p:graphicFrame>
        <p:nvGraphicFramePr>
          <p:cNvPr id="589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2818803">
                  <a:extLst>
                    <a:ext uri="{9D8B030D-6E8A-4147-A177-3AD203B41FA5}">
                      <a16:colId val="1"/>
                    </a:ext>
                  </a:extLst>
                </a:gridCol>
                <a:gridCol w="5181383">
                  <a:extLst>
                    <a:ext uri="{9D8B030D-6E8A-4147-A177-3AD203B41FA5}">
                      <a16:colId val="2"/>
                    </a:ext>
                  </a:extLst>
                </a:gridCol>
                <a:gridCol w="3429815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05140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Question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Rule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CampusBites example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Must every W06 class appear?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 — only those that send or receive a message in this scenario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Payment appears; Coupon does not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Can an actor appear?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Yes — actors are participants like any other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Student is on the left of the 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How many lifelines is too many?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More than about seven and the diagram stops being readable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Split into two scenarios if it grows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Same class twice in one diagram?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Only for different scenarios; within one scenario, once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Two separate use cases get two diagrams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38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2686050" y="6543675"/>
            <a:ext cx="681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If a class is on the page, it is because something talks to it. If nothing talks to it, leave it off.</a:t>
            </a:r>
            <a:endParaRPr/>
          </a:p>
        </p:txBody>
      </p:sp>
    </p:spTree>
  </p:cSld>
</p:sld>
</file>

<file path=ppt/slides/slide6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594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ANATOMY&lt;/Text&gt;&#10;  &lt;/Box&gt;&#10;  &lt;Box style={{ padding: '13px 40px 0 40px', flexDirection: 'row', alignItems: 'center', justifyContent: 'space-between' }}&gt;&#10;    &lt;Text style={{ fontSize: 29, fontWeight: 'bold', color: '#0E3F8C' }}&gt;Three Message Kinds and What Each One Promises&lt;/Text&gt;&#10;    &lt;Text style={{ fontSize: 14, color: '#1E4FA8', fontWeight: 'bold' }}&gt;06 / 38&lt;/Text&gt;&#10;  &lt;/Box&gt;&#10;  &lt;Box style={{ flex: 1, padding: '10px 40px 0 40px', flexDirection: 'column' }}&gt;&#10;    &lt;Table&#10;      style={{ width: '100%', height: '100%' }}&#10;      defaultTextStyle={{ fontSize: 13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230, 200, 320, 250]}&#10;      cells={[&#10;        [&#10;          { text: 'Kind', textStyle: {bold: true, color: '#FFFFFF', fontSize: 15}, cellStyle: {background: { color: '#0E3F8C' }} },&#10;          { text: 'Arrow', textStyle: {bold: true, color: '#FFFFFF', fontSize: 15}, cellStyle: {background: { color: '#1E4FA8' }} },&#10;          { text: 'Means', textStyle: {bold: true, color: '#FFFFFF', fontSize: 15}, cellStyle: {background: { color: '#1E4FA8' }} },&#10;          { text: 'Use it for', textStyle: {bold: true, color: '#FFFFFF', fontSize: 15}, cellStyle: {background: { color: '#1E4FA8' }} }&#10;        ],&#10;        [&#10;          { text: 'Synchronous call', textStyle: {color: '#4A5568'}, cellStyle: {} },&#10;          { text: 'filled solid head', textStyle: {color: '#4A5568'}, cellStyle: {} },&#10;          { text: 'The sender waits for the answer', textStyle: {color: '#4A5568'}, cellStyle: {} },&#10;          { text: 'Nearly everything you draw in analysis', textStyle: {color: '#4A5568'}, cellStyle: {} }&#10;        ],&#10;        [&#10;          { text: 'Reply / return', textStyle: {color: '#4A5568'}, cellStyle: {background: { color: '#F7F9FC' }} },&#10;          { text: 'dashed open head', textStyle: {color: '#4A5568'}, cellStyle: {background: { color: '#F7F9FC' }} },&#10;          { text: 'The answer coming back', textStyle: {color: '#4A5568'}, cellStyle: {background: { color: '#F7F9FC' }} },&#10;          { text: 'The value produced by the call above it', textStyle: {color: '#4A5568'}, cellStyle: {background: { color: '#F7F9FC' }} }&#10;        ],&#10;        [&#10;          { text: 'Asynchronous message', textStyle: {color: '#4A5568'}, cellStyle: {} },&#10;          { text: 'filled open head', textStyle: {color: '#4A5568'}, cellStyle: {} },&#10;          { text: 'Sent and forgotten; no immediate answer', textStyle: {color: '#4A5568'}, cellStyle: {} },&#10;          { text: 'Events and notifications only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06 / 38&lt;/Text&gt;&#10;  &lt;/Box&gt;&#10;  &lt;Box style={{ height: 46, background: '#0E3F8C', padding: '0 40px', flexDirection: 'row', alignItems: 'center', justifyContent: 'center' }}&gt;&#10;    &lt;Text style={{ fontSize: 16.5, color: '#FFFFFF', fontWeight: '600' }}&gt;If you cannot say what the answer is, you are not drawing a synchronous call — you are drawing a wish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10696575" y="257175"/>
            <a:ext cx="1114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ANATOMY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68389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Three Message Kinds and What Each One Promises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38</a:t>
            </a:r>
            <a:endParaRPr/>
          </a:p>
        </p:txBody>
      </p:sp>
      <p:graphicFrame>
        <p:nvGraphicFramePr>
          <p:cNvPr id="601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2263457">
                  <a:extLst>
                    <a:ext uri="{9D8B030D-6E8A-4147-A177-3AD203B41FA5}">
                      <a16:colId val="1"/>
                    </a:ext>
                  </a:extLst>
                </a:gridCol>
                <a:gridCol w="1791269">
                  <a:extLst>
                    <a:ext uri="{9D8B030D-6E8A-4147-A177-3AD203B41FA5}">
                      <a16:colId val="2"/>
                    </a:ext>
                  </a:extLst>
                </a:gridCol>
                <a:gridCol w="3771413">
                  <a:extLst>
                    <a:ext uri="{9D8B030D-6E8A-4147-A177-3AD203B41FA5}">
                      <a16:colId val="3"/>
                    </a:ext>
                  </a:extLst>
                </a:gridCol>
                <a:gridCol w="3603862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130753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Kind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Arrow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Means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Use it for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118340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Synchronous call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filled solid head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sender waits for the answer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Nearly everything you draw in analysis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118340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Reply / return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dashed open head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answer coming back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value produced by the call above 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118340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Asynchronous message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filled open head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Sent and forgotten; no immediate answer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Events and notifications only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38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2200275" y="6543675"/>
            <a:ext cx="7791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If you cannot say what the answer is, you are not drawing a synchronous call — you are drawing a wish.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06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ANATOMY&lt;/Text&gt;&#10;  &lt;/Box&gt;&#10;  &lt;Box style={{ padding: '13px 40px 0 40px', flexDirection: 'row', alignItems: 'center', justifyContent: 'space-between' }}&gt;&#10;    &lt;Text style={{ fontSize: 29, fontWeight: 'bold', color: '#0E3F8C' }}&gt;Activation Bars and Why You Need Them&lt;/Text&gt;&#10;    &lt;Text style={{ fontSize: 14, color: '#1E4FA8', fontWeight: 'bold' }}&gt;07 / 38&lt;/Text&gt;&#10;  &lt;/Box&gt;&#10;  &lt;Box style={{ flex: 1, padding: '10px 40px 0 40px', flexDirection: 'column' }}&gt;&#10;    &lt;Box style={{ flexDirection: 'row', gap: 26 }}&gt;&#10;      &lt;Box style={{ width: 560, justifyContent: 'center' }}&gt;&#10;      &lt;Box style={{ padding: '18px 20px', background: '#1E4FA8', borderRadius: 10, border: '1px solid #E5E7EB' }}&gt;&#10;        &lt;Text style={{ fontSize: 13, color: '#8B97A8', letterSpacing: 1, marginBottom: 12 }}&gt;HOW TO DRAW ONE&lt;/Text&gt;&#10;&#10;          &lt;Box key=&quot;The bar starts when an object re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1&lt;/Text&gt;&#10;            &lt;/Box&gt;&#10;            &lt;Text style={{ flex: 1, fontSize: 13.5, color: '#1A2230', lineHeight: 1.45 }}&gt;The bar starts when an object receives a message.&lt;/Text&gt;&#10;          &lt;/Box&gt;&#10;          &lt;Box key=&quot;It ends when that object sends o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2&lt;/Text&gt;&#10;            &lt;/Box&gt;&#10;            &lt;Text style={{ flex: 1, fontSize: 13.5, color: '#1A2230', lineHeight: 1.45 }}&gt;It ends when that object sends or receives its next message.&lt;/Text&gt;&#10;          &lt;/Box&gt;&#10;          &lt;Box key=&quot;The widest span belongs to the o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3&lt;/Text&gt;&#10;            &lt;/Box&gt;&#10;            &lt;Text style={{ flex: 1, fontSize: 13.5, color: '#1A2230', lineHeight: 1.45 }}&gt;The widest span belongs to the object doing the most work.&lt;/Text&gt;&#10;          &lt;/Box&gt;&#10;      &lt;/Box&gt;&#10;      &lt;/Box&gt;&#10;      &lt;Box style={{ flex: 1, flexDirection: 'column', justifyContent: 'center', gap: 13 }}&gt;&#10;      &lt;Box style={{ padding: '15px 17px', background: '#F0F5FC', borderRadius: 9, borderLeft: '4px solid #1E4FA8' }}&gt;&#10;        &lt;Text style={{ fontSize: 16, fontWeight: 'bold', color: '#0E3F8C' }}&gt;What it actually tells a reader&lt;/Text&gt;&#10;        &lt;Text style={{ fontSize: 13, color: '#4A5568', lineHeight: 1.6, marginTop: 5 }}&gt;&#10;          Duration. Without bars, a reader cannot tell whether an object is idle because it finished or because it was never called.&#10;        &lt;/Text&gt;&#10;      &lt;/Box&gt;&#10;      &lt;Box style={{ padding: '15px 17px', background: '#FFFFFF', borderRadius: 9, border: '1px solid #D6DCE5' }}&gt;&#10;        &lt;Text style={{ fontSize: 16, fontWeight: 'bold', color: '#0E3F8C' }}&gt;Nesting is legal and meaningful&lt;/Text&gt;&#10;        &lt;Text style={{ fontSize: 13, color: '#4A5568', lineHeight: 1.6, marginTop: 5 }}&gt;&#10;          An object can be re-activated later. Two separate bars on the same lifeline mean two separate episodes of work, not one long one.&#10;        &lt;/Text&gt;&#10;      &lt;/Box&gt;&#10;      &lt;Box style={{ padding: '15px 17px', background: '#FFF6E0', borderRadius: 9, borderLeft: '4px solid #FFC107' }}&gt;&#10;        &lt;Text style={{ fontSize: 16, fontWeight: 'bold', color: '#996F00' }}&gt;The common mistake&lt;/Text&gt;&#10;        &lt;Text style={{ fontSize: 13, color: '#4A5568', lineHeight: 1.6, marginTop: 5 }}&gt;&#10;          One long bar for the whole diagram. It says «this object is always busy», which is false and hides the very structure you drew the diagram to show.&#10;        &lt;/Text&gt;&#10;      &lt;/Box&gt;&#10;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07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10696575" y="257175"/>
            <a:ext cx="1114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ANATOMY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4006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Activation Bars and Why You Need Them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07 / 38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381000" y="2085975"/>
            <a:ext cx="5334000" cy="1552575"/>
          </a:xfrm>
          <a:prstGeom prst="roundRect">
            <a:avLst>
              <a:gd name="adj" fmla="val 6135"/>
            </a:avLst>
          </a:prstGeom>
          <a:solidFill>
            <a:srgbClr val="1E4FA8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571500" y="22574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HOW TO DRAW ONE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571500" y="252412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647700" y="25622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895350" y="252412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The bar starts when an object receives a message.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571500" y="28384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647700" y="28765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895350" y="283845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It ends when that object sends or receives its next message.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571500" y="315277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647700" y="31908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895350" y="315277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The widest span belongs to the object doing the most work.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6000750" y="12382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25" name=""/>
          <p:cNvSpPr/>
          <p:nvPr/>
        </p:nvSpPr>
        <p:spPr>
          <a:xfrm rot="0" flipH="0" flipV="0">
            <a:off x="6000750" y="123825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162675" y="138112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What it actually tells a reader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6162675" y="161925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Duration. Without bars, a reader cannot tell whether an object is idle because it finished or because it was never called.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5962650" y="236220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124575" y="2505075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Nesting is legal and meaningful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6124575" y="2743200"/>
            <a:ext cx="5524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An object can be re-activated later. Two separate bars on the same lifeline mean two separate episodes of work, not one long one.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6000750" y="34861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632" name=""/>
          <p:cNvSpPr/>
          <p:nvPr/>
        </p:nvSpPr>
        <p:spPr>
          <a:xfrm rot="0" flipH="0" flipV="0">
            <a:off x="6000750" y="348615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6162675" y="362902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96F00"/>
                </a:solidFill>
                <a:latin typeface="Microsoft YaHei"/>
                <a:ea typeface="Microsoft YaHei"/>
              </a:rPr>
              <a:t>The common mistake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6162675" y="386715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One long bar for the whole diagram. It says «this object is always busy», which is false and hides the very structure you drew the diagram to show.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07 / 38</a:t>
            </a:r>
            <a:endParaRPr/>
          </a:p>
        </p:txBody>
      </p:sp>
    </p:spTree>
  </p:cSld>
</p:sld>
</file>

<file path=ppt/slides/slide8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637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ANATOMY&lt;/Text&gt;&#10;  &lt;/Box&gt;&#10;  &lt;Box style={{ padding: '13px 40px 0 40px', flexDirection: 'row', alignItems: 'center', justifyContent: 'space-between' }}&gt;&#10;    &lt;Text style={{ fontSize: 29, fontWeight: 'bold', color: '#0E3F8C' }}&gt;Time Flows Down — Reading Rules&lt;/Text&gt;&#10;    &lt;Text style={{ fontSize: 14, color: '#1E4FA8', fontWeight: 'bold' }}&gt;08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450, 550]}&#10;      cells={[&#10;        [&#10;          { text: 'Rule', textStyle: {bold: true, color: '#FFFFFF', fontSize: 15}, cellStyle: {background: { color: '#0E3F8C' }} },&#10;          { text: 'What it forbids', textStyle: {bold: true, color: '#FFFFFF', fontSize: 15}, cellStyle: {background: { color: '#1E4FA8' }} }&#10;        ],&#10;        [&#10;          { text: 'Messages are ordered top to bottom and never cross backwards', textStyle: {color: '#4A5568'}, cellStyle: {} },&#10;          { text: 'A message drawn lower that goes up — unless it is a return', textStyle: {color: '#4A5568'}, cellStyle: {} }&#10;        ],&#10;        [&#10;          { text: 'Two messages at the same height happen at the same moment', textStyle: {color: '#4A5568'}, cellStyle: {background: { color: '#F7F9FC' }} },&#10;          { text: 'Reading order left to right within one level; that level is simultaneous', textStyle: {color: '#4A5568'}, cellStyle: {background: { color: '#F7F9FC' }} }&#10;        ],&#10;        [&#10;          { text: 'A lifeline placed left is not «earlier»', textStyle: {color: '#4A5568'}, cellStyle: {} },&#10;          { text: 'Lifeline position is layout, not time — the vertical axis is the only time axis', textStyle: {color: '#4A5568'}, cellStyle: {} }&#10;        ],&#10;        [&#10;          { text: 'Horizontal distance means nothing', textStyle: {color: '#4A5568'}, cellStyle: {background: { color: '#F7F9FC' }} },&#10;          { text: '«It is closer because it is faster» — no such inference is valid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08 / 38&lt;/Text&gt;&#10;  &lt;/Box&gt;&#10;  &lt;Box style={{ height: 46, background: '#0E3F8C', padding: '0 40px', flexDirection: 'row', alignItems: 'center', justifyContent: 'center' }}&gt;&#10;    &lt;Text style={{ fontSize: 16.5, color: '#FFFFFF', fontWeight: '600' }}&gt;Every question about a sequence diagram is a question about order. If you are arguing about position, you are off the diagram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10696575" y="257175"/>
            <a:ext cx="1114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ANATOMY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6767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Time Flows Down — Reading Rules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38</a:t>
            </a:r>
            <a:endParaRPr/>
          </a:p>
        </p:txBody>
      </p:sp>
      <p:graphicFrame>
        <p:nvGraphicFramePr>
          <p:cNvPr id="644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5362557">
                  <a:extLst>
                    <a:ext uri="{9D8B030D-6E8A-4147-A177-3AD203B41FA5}">
                      <a16:colId val="1"/>
                    </a:ext>
                  </a:extLst>
                </a:gridCol>
                <a:gridCol w="6067443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102336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Rule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What it forbids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Messages are ordered top to bottom and never cross backwards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message drawn lower that goes up — unless it is a return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Two messages at the same height happen at the same moment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Reading order left to right within one level; that level is simultaneous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lifeline placed left is not «earlier»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Lifeline position is layout, not time — the vertical axis is the only time axis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Horizontal distance means nothing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«It is closer because it is faster» — no such inference is valid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38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1362075" y="6543675"/>
            <a:ext cx="9467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Every question about a sequence diagram is a question about order. If you are arguing about position, you are off the diagram.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49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2&lt;/Text&gt;&#10;    &lt;/Box&gt;&#10;    &lt;Box style={{ flex: 1, padding: '70px 64px', flexDirection: 'column', justifyContent: 'center' }}&gt;&#10;      &lt;Text style={{ fontSize: 15, color: '#7FA2D6', letterSpacing: 2, marginBottom: 18 }}&gt;PART 2 · LECTURE · 35 MIN&lt;/Text&gt;&#10;      &lt;Text style={{ fontSize: 46, fontWeight: 'bold', color: '#FFFFFF', lineHeight: 1.18 }}&gt;From SSD to a Full Diagram&lt;/Text&gt;&#10;      &lt;Box style={{ width: 64, height: 4, background: '#FFC107', marginTop: 26, marginBottom: 26 }} /&gt;&#10;      &lt;Box style={{ flexDirection: 'column', gap: 12 }}&gt;&#10;          &lt;Box key=&quot;A system sequence diagram treats the who&quot; style={{ flexDirection: 'row', alignItems: 'center', gap: 12 }}&gt;&#10;            &lt;Box style={{ width: 8, height: 8, borderRadius: 4, background: '#3D7BD9' }} /&gt;&#10;            &lt;Text style={{ fontSize: 20, color: '#C5D4EA' }}&gt;A system sequence diagram treats the whole system as one black box&lt;/Text&gt;&#10;          &lt;/Box&gt;&#10;          &lt;Box key=&quot;The full diagram opens the box — and now&quot; style={{ flexDirection: 'row', alignItems: 'center', gap: 12 }}&gt;&#10;            &lt;Box style={{ width: 8, height: 8, borderRadius: 4, background: '#3D7BD9' }} /&gt;&#10;            &lt;Text style={{ fontSize: 20, color: '#C5D4EA' }}&gt;The full diagram opens the box — and now your classes have to earn their place&lt;/Text&gt;&#10;          &lt;/Box&gt;&#10;          &lt;Box key=&quot;The order objects appear in is almost al&quot; style={{ flexDirection: 'row', alignItems: 'center', gap: 12 }}&gt;&#10;            &lt;Box style={{ width: 8, height: 8, borderRadius: 4, background: '#3D7BD9' }} /&gt;&#10;            &lt;Text style={{ fontSize: 20, color: '#C5D4EA' }}&gt;The order objects appear in is almost always boundary, then control, then entity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51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28575" y="2171700"/>
            <a:ext cx="279082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3467100" y="22193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2 · LECTURE · 35 MIN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3467100" y="25622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From SSD to a Full Diagram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3467100" y="34385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656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5943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 system sequence diagram treats the whole system as one black box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34671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3657600" y="4067175"/>
            <a:ext cx="6791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 full diagram opens the box — and now your classes have to earn their place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3467100" y="4486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3657600" y="4410075"/>
            <a:ext cx="6696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 order objects appear in is almost always boundary, then control, then entity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10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15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FROM SSD TO FULL&lt;/Text&gt;&#10;  &lt;/Box&gt;&#10;  &lt;Box style={{ padding: '13px 40px 0 40px', flexDirection: 'row', alignItems: 'center', justifyContent: 'space-between' }}&gt;&#10;    &lt;Text style={{ fontSize: 29, fontWeight: 'bold', color: '#0E3F8C' }}&gt;Black Box, Then White Box&lt;/Text&gt;&#10;    &lt;Text style={{ fontSize: 14, color: '#1E4FA8', fontWeight: 'bold' }}&gt;10 / 38&lt;/Text&gt;&#10;  &lt;/Box&gt;&#10;  &lt;Box style={{ flex: 1, padding: '10px 40px 0 40px', flexDirection: 'column' }}&gt;&#10;    &lt;Box style={{ justifyContent: 'center', alignItems: 'center' }}&gt;&#10;    &lt;svg width={1180} height={362} viewBox='0 0 1180 $h'&gt;&#10;&#10;      &lt;text x='10' y='16' fill='#8B97A8' fontSize='13'&gt;Same scenario, two levels. The upper one is what a client approves; the lower one is what your classes must support.&lt;/text&gt;&#10;&#10;      &lt;rect x='40' y='40' width='500' height='250' rx='10' fill='#FFFFFF' stroke='#D6DCE5' /&gt;&#10;      &lt;text x='60' y='66' fill='#0E3F8C' fontSize='16' fontWeight='bold'&gt;System sequence diagram — the black box&lt;/text&gt;&#10;&#10;      &lt;rect x='90' y='84' width='176' height='46' rx='8' fill='#EAF6EC' stroke='#2B7A3D' strokeWidth='2' /&gt;&#10;      &lt;text x='178' y='114' textAnchor='middle' fill='#0E3F8C' fontSize='16' fontWeight='bold'&gt;Student&lt;/text&gt;&#10;      &lt;line x1='178' y1='84' x2='178' y2='268' stroke='#8B97A8' strokeWidth='1.6' strokeDasharray='7 6' /&gt;&#10;      &lt;rect x='360' y='84' width='176' height='46' rx='8' fill='#F0F5FC' stroke='#1E4FA8' strokeWidth='2' /&gt;&#10;      &lt;text x='448' y='114' textAnchor='middle' fill='#0E3F8C' fontSize='16' fontWeight='bold'&gt;CampusBites&lt;/text&gt;&#10;      &lt;line x1='448' y1='84' x2='448' y2='268' stroke='#8B97A8' strokeWidth='1.6' strokeDasharray='7 6' /&gt;      &lt;rect x='172' y='126' width='13' height='112' rx='3' fill='#C5D4EA' stroke='#0E3F8C' strokeWidth='1.2' /&gt;      &lt;rect x='442' y='126' width='13' height='112' rx='3' fill='#C5D4EA' stroke='#0E3F8C' strokeWidth='1.2' /&gt;      &lt;line x1='186' y1='132' x2='425' y2='132' stroke='#0E3F8C' strokeWidth='2' /&gt;&#10;      &lt;text x='311' y='123' fill='#1A2230' fontSize='13.5'&gt;placeOrder(cart)&lt;/text&gt;&#10;      &lt;polygon points='436,132 426,126 426,138' fill='#0E3F8C' /&gt;      &lt;line x1='436' y1='170' x2='197' y2='170' stroke='#7FA2D6' strokeWidth='1.8' strokeDasharray='6 5' /&gt;&#10;      &lt;polygon points='197,170 188,165 188,175' fill='#7FA2D6' /&gt;&#10;      &lt;text x='311' y='162' fill='#8B97A8' fontSize='12'&gt;orderId&lt;/text&gt;      &lt;line x1='186' y1='210' x2='425' y2='210' stroke='#0E3F8C' strokeWidth='2' /&gt;&#10;      &lt;text x='311' y='201' fill='#1A2230' fontSize='13.5'&gt;trackOrder(orderId)&lt;/text&gt;&#10;      &lt;polygon points='436,210 426,204 426,216' fill='#0E3F8C' /&gt;      &lt;line x1='436' y1='248' x2='197' y2='248' stroke='#7FA2D6' strokeWidth='1.8' strokeDasharray='6 5' /&gt;&#10;      &lt;polygon points='197,248 188,243 188,253' fill='#7FA2D6' /&gt;&#10;      &lt;text x='311' y='240' fill='#8B97A8' fontSize='12'&gt;status&lt;/text&gt;&#10;      &lt;text x='60' y='288' fill='#8B97A8' fontSize='12.5'&gt;One box for the whole system. Correct at this level, useless for design.&lt;/text&gt;&#10;&#10;      &lt;rect x='580' y='40' width='560' height='250' rx='10' fill='#FFFFFF' stroke='#1E4FA8' strokeWidth='1.6' /&gt;&#10;      &lt;text x='600' y='66' fill='#0E3F8C' fontSize='16' fontWeight='bold'&gt;Full diagram — the box opened&lt;/text&gt;&#10;&#10;      &lt;rect x='620' y='84' width='118' height='46' rx='8' fill='#EAF6EC' stroke='#2B7A3D' strokeWidth='2' /&gt;&#10;      &lt;text x='679' y='114' textAnchor='middle' fill='#0E3F8C' fontSize='16' fontWeight='bold'&gt;Student&lt;/text&gt;&#10;      &lt;line x1='679' y1='84' x2='679' y2='268' stroke='#8B97A8' strokeWidth='1.6' strokeDasharray='7 6' /&gt;&#10;      &lt;rect x='790' y='84' width='118' height='46' rx='8' fill='#EAF6EC' stroke='#2B7A3D' strokeWidth='2' /&gt;&#10;      &lt;text x='849' y='114' textAnchor='middle' fill='#0E3F8C' fontSize='16' fontWeight='bold'&gt;OrderUI&lt;/text&gt;&#10;      &lt;line x1='849' y1='84' x2='849' y2='268' stroke='#8B97A8' strokeWidth='1.6' strokeDasharray='7 6' /&gt;&#10;      &lt;rect x='960' y='84' width='118' height='46' rx='8' fill='#F0F5FC' stroke='#1E4FA8' strokeWidth='2' /&gt;&#10;      &lt;text x='1019' y='114' textAnchor='middle' fill='#0E3F8C' fontSize='16' fontWeight='bold'&gt;PlaceOrderCtrl&lt;/text&gt;&#10;      &lt;line x1='1019' y1='84' x2='1019' y2='268' stroke='#8B97A8' strokeWidth='1.6' strokeDasharray='7 6' /&gt;      &lt;rect x='673' y='126' width='13' height='40' rx='3' fill='#C5D4EA' stroke='#0E3F8C' strokeWidth='1.2' /&gt;      &lt;rect x='843' y='126' width='13' height='112' rx='3' fill='#C5D4EA' stroke='#0E3F8C' strokeWidth='1.2' /&gt;      &lt;rect x='1013' y='126' width='13' height='112' rx='3' fill='#C5D4EA' stroke='#0E3F8C' strokeWidth='1.2' /&gt;      &lt;line x1='687' y1='132' x2='826' y2='132' stroke='#0E3F8C' strokeWidth='2' /&gt;&#10;      &lt;text x='762' y='123' fill='#1A2230' fontSize='13.5'&gt;submit(cart)&lt;/text&gt;&#10;      &lt;polygon points='837,132 827,126 827,138' fill='#0E3F8C' /&gt;      &lt;line x1='861' y1='160' x2='996' y2='160' stroke='#0E3F8C' strokeWidth='2' /&gt;&#10;      &lt;text x='934' y='151' fill='#1A2230' fontSize='13.5'&gt;createOrder&lt;/text&gt;&#10;      &lt;polygon points='1007,160 997,154 997,166' fill='#0E3F8C' /&gt;      &lt;line x1='837' y1='200' x2='676' y2='200' stroke='#7FA2D6' strokeWidth='2' /&gt;&#10;      &lt;text x='762' y='191' fill='#1A2230' fontSize='13.5'&gt;confirmation&lt;/text&gt;&#10;      &lt;polygon points='687,200 677,194 677,206' fill='#7FA2D6' /&gt;&#10;      &lt;text x='600' y='288' fill='#8B97A8' fontSize='12.5'&gt;Three lifelines, and the controller is now a named object with responsibilities.&lt;/text&gt;&#10;&#10;      &lt;rect x='40' y='308' width='1100' height='44' rx='9' fill='#FFF6E0' /&gt;&#10;      &lt;text x='62' y='336' fill='#996F00' fontSize='14'&gt;Rule of thumb: draw the black box first to agree on the conversation, then open it. Opening first produces diagrams nobody can review.&lt;/text&gt;&#10;&#10;    &lt;/svg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0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010775" y="257175"/>
            <a:ext cx="1800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FROM SSD TO FULL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5814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Black Box, Then White Box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38</a:t>
            </a:r>
            <a:endParaRPr/>
          </a:p>
        </p:txBody>
      </p:sp>
      <p:pic>
        <p:nvPicPr>
          <p:cNvPr id="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238250"/>
            <a:ext cx="11239500" cy="3448050"/>
          </a:xfrm>
          <a:prstGeom prst="rect">
            <a:avLst/>
          </a:prstGeom>
          <a:ln/>
        </p:spPr>
      </p:pic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38</a:t>
            </a:r>
            <a:endParaRPr/>
          </a:p>
        </p:txBody>
      </p:sp>
    </p:spTree>
  </p:cSld>
</p:sld>
</file>

<file path=ppt/slides/slide11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25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FROM SSD TO FULL&lt;/Text&gt;&#10;  &lt;/Box&gt;&#10;  &lt;Box style={{ padding: '13px 40px 0 40px', flexDirection: 'row', alignItems: 'center', justifyContent: 'space-between' }}&gt;&#10;    &lt;Text style={{ fontSize: 29, fontWeight: 'bold', color: '#0E3F8C' }}&gt;Opening the Box: Who Goes Where&lt;/Text&gt;&#10;    &lt;Text style={{ fontSize: 14, color: '#1E4FA8', fontWeight: 'bold' }}&gt;11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150, 260, 590]}&#10;      cells={[&#10;        [&#10;          { text: 'Role', textStyle: {bold: true, color: '#FFFFFF', fontSize: 15}, cellStyle: {background: { color: '#0E3F8C' }} },&#10;          { text: 'Appears', textStyle: {bold: true, color: '#FFFFFF', fontSize: 15}, cellStyle: {background: { color: '#1E4FA8' }} },&#10;          { text: 'Responsibility in the diagram', textStyle: {bold: true, color: '#FFFFFF', fontSize: 15}, cellStyle: {background: { color: '#1E4FA8' }} }&#10;        ],&#10;        [&#10;          { text: 'Boundary', textStyle: {color: '#4A5568'}, cellStyle: {} },&#10;          { text: 'First, on the left and right edges', textStyle: {color: '#4A5568'}, cellStyle: {} },&#10;          { text: 'Receives the actor’s request, shows the result. Knows nothing about rules.', textStyle: {color: '#4A5568'}, cellStyle: {} }&#10;        ],&#10;        [&#10;          { text: 'Control', textStyle: {color: '#4A5568'}, cellStyle: {background: { color: '#F7F9FC' }} },&#10;          { text: 'In the middle of the interaction', textStyle: {color: '#4A5568'}, cellStyle: {background: { color: '#F7F9FC' }} },&#10;          { text: 'Runs the steps of one use case. Holds the decision sequence.', textStyle: {color: '#4A5568'}, cellStyle: {background: { color: '#F7F9FC' }} }&#10;        ],&#10;        [&#10;          { text: 'Entity', textStyle: {color: '#4A5568'}, cellStyle: {} },&#10;          { text: 'Below and around the control', textStyle: {color: '#4A5568'}, cellStyle: {} },&#10;          { text: 'Holds the data and the rules that apply to it. No knowledge of the UI.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1 / 38&lt;/Text&gt;&#10;  &lt;/Box&gt;&#10;  &lt;Box style={{ height: 46, background: '#0E3F8C', padding: '0 40px', flexDirection: 'row', alignItems: 'center', justifyContent: 'center' }}&gt;&#10;    &lt;Text style={{ fontSize: 16.5, color: '#FFFFFF', fontWeight: '600' }}&gt;This is the same Entity / Boundary / Control split from W06 — here it is a position on the page, not just a box colour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0010775" y="257175"/>
            <a:ext cx="1800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FROM SSD TO FULL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6672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Opening the Box: Who Goes Where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11 / 38</a:t>
            </a:r>
            <a:endParaRPr/>
          </a:p>
        </p:txBody>
      </p:sp>
      <p:graphicFrame>
        <p:nvGraphicFramePr>
          <p:cNvPr id="32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1068993">
                  <a:extLst>
                    <a:ext uri="{9D8B030D-6E8A-4147-A177-3AD203B41FA5}">
                      <a16:colId val="1"/>
                    </a:ext>
                  </a:extLst>
                </a:gridCol>
                <a:gridCol w="3156375">
                  <a:extLst>
                    <a:ext uri="{9D8B030D-6E8A-4147-A177-3AD203B41FA5}">
                      <a16:colId val="2"/>
                    </a:ext>
                  </a:extLst>
                </a:gridCol>
                <a:gridCol w="720463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27495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Role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Appears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Responsibility in the 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Boundary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First, on the left and right edges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Receives the actor’s request, shows the result. Knows nothing about rules.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Control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In the middle of the interaction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Runs the steps of one use case. Holds the decision sequence.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Entity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Below and around the control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Holds the data and the rules that apply to it. No knowledge of the UI.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11 / 38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771650" y="6543675"/>
            <a:ext cx="8658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This is the same Entity / Boundary / Control split from W06 — here it is a position on the page, not just a box colour.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37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FROM SSD TO FULL&lt;/Text&gt;&#10;  &lt;/Box&gt;&#10;  &lt;Box style={{ padding: '13px 40px 0 40px', flexDirection: 'row', alignItems: 'center', justifyContent: 'space-between' }}&gt;&#10;    &lt;Text style={{ fontSize: 29, fontWeight: 'bold', color: '#0E3F8C' }}&gt;Why the Order Matters&lt;/Text&gt;&#10;    &lt;Text style={{ fontSize: 14, color: '#1E4FA8', fontWeight: 'bold' }}&gt;12 / 38&lt;/Text&gt;&#10;  &lt;/Box&gt;&#10;  &lt;Box style={{ flex: 1, padding: '10px 40px 0 40px', flexDirection: 'column' }}&gt;&#10;    &lt;Box style={{ flexDirection: 'row', gap: 26 }}&gt;&#10;      &lt;Box style={{ width: 560, justifyContent: 'center' }}&gt;&#10;      &lt;Box style={{ padding: '18px 20px', background: '#1E4FA8', borderRadius: 10, border: '1px solid #E5E7EB' }}&gt;&#10;        &lt;Text style={{ fontSize: 13, color: '#8B97A8', letterSpacing: 1, marginBottom: 12 }}&gt;THE CONVERSATION SHAPE&lt;/Text&gt;&#10;&#10;          &lt;Box key=&quot;Boundary speaks to control, neve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1&lt;/Text&gt;&#10;            &lt;/Box&gt;&#10;            &lt;Text style={{ flex: 1, fontSize: 13.5, color: '#1A2230', lineHeight: 1.45 }}&gt;Boundary speaks to control, never directly to entity.&lt;/Text&gt;&#10;          &lt;/Box&gt;&#10;          &lt;Box key=&quot;Control speaks to entity, and en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2&lt;/Text&gt;&#10;            &lt;/Box&gt;&#10;            &lt;Text style={{ flex: 1, fontSize: 13.5, color: '#1A2230', lineHeight: 1.45 }}&gt;Control speaks to entity, and entities may speak to each other.&lt;/Text&gt;&#10;          &lt;/Box&gt;&#10;          &lt;Box key=&quot;Entity never speaks to boundary.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3&lt;/Text&gt;&#10;            &lt;/Box&gt;&#10;            &lt;Text style={{ flex: 1, fontSize: 13.5, color: '#1A2230', lineHeight: 1.45 }}&gt;Entity never speaks to boundary.&lt;/Text&gt;&#10;          &lt;/Box&gt;&#10;      &lt;/Box&gt;&#10;      &lt;/Box&gt;&#10;      &lt;Box style={{ flex: 1, flexDirection: 'column', justifyContent: 'center', gap: 13 }}&gt;&#10;      &lt;Box style={{ padding: '15px 17px', background: '#FFF6E0', borderRadius: 9, borderLeft: '4px solid #FFC107' }}&gt;&#10;        &lt;Text style={{ fontSize: 16, fontWeight: 'bold', color: '#996F00' }}&gt;If an entity calls the UI&lt;/Text&gt;&#10;        &lt;Text style={{ fontSize: 13, color: '#4A5568', lineHeight: 1.6, marginTop: 5 }}&gt;&#10;          You have leaked a decision backwards. The rule «the order is cancelled» belongs to the control or the Order, never to the screen.&#10;        &lt;/Text&gt;&#10;      &lt;/Box&gt;&#10;      &lt;Box style={{ padding: '15px 17px', background: '#F0F5FC', borderRadius: 9, borderLeft: '4px solid #1E4FA8' }}&gt;&#10;        &lt;Text style={{ fontSize: 16, fontWeight: 'bold', color: '#0E3F8C' }}&gt;If two entities chat directly&lt;/Text&gt;&#10;        &lt;Text style={{ fontSize: 13, color: '#4A5568', lineHeight: 1.6, marginTop: 5 }}&gt;&#10;          That is usually correct and often necessary — an OrderLine asking a MenuItem about availability is domain logic, not UI logic.&#10;        &lt;/Text&gt;&#10;      &lt;/Box&gt;&#10;      &lt;Box style={{ padding: '15px 17px', background: '#FFFFFF', borderRadius: 9, border: '1px solid #D6DCE5' }}&gt;&#10;        &lt;Text style={{ fontSize: 16, fontWeight: 'bold', color: '#0E3F8C' }}&gt;What the order buys you&lt;/Text&gt;&#10;        &lt;Text style={{ fontSize: 13, color: '#4A5568', lineHeight: 1.6, marginTop: 5 }}&gt;&#10;          A reviewer can read the diagram top to bottom and know exactly which layer decided what. That is what makes it reviewable.&#10;        &lt;/Text&gt;&#10;      &lt;/Box&gt;&#10;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2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0010775" y="257175"/>
            <a:ext cx="1800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FROM SSD TO FULL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29718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Why the Order Matters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38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381000" y="2085975"/>
            <a:ext cx="5334000" cy="1552575"/>
          </a:xfrm>
          <a:prstGeom prst="roundRect">
            <a:avLst>
              <a:gd name="adj" fmla="val 6135"/>
            </a:avLst>
          </a:prstGeom>
          <a:solidFill>
            <a:srgbClr val="1E4FA8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71500" y="22574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THE CONVERSATION SHAPE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571500" y="252412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47700" y="25622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95350" y="252412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Boundary speaks to control, never directly to entity.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571500" y="28384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47700" y="28765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95350" y="283845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Control speaks to entity, and entities may speak to each other.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571500" y="315277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47700" y="31908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95350" y="315277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Entity never speaks to boundary.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000750" y="12382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6000750" y="123825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162675" y="138112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96F00"/>
                </a:solidFill>
                <a:latin typeface="Microsoft YaHei"/>
                <a:ea typeface="Microsoft YaHei"/>
              </a:rPr>
              <a:t>If an entity calls the UI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162675" y="161925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You have leaked a decision backwards. The rule «the order is cancelled» belongs to the control or the Order, never to the screen.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6000750" y="236220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6000750" y="236220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162675" y="250507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If two entities chat directly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162675" y="274320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That is usually correct and often necessary — an OrderLine asking a MenuItem about availability is domain logic, not UI logic.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5962650" y="34861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124575" y="3629025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What the order buys you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124575" y="3867150"/>
            <a:ext cx="5524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A reviewer can read the diagram top to bottom and know exactly which layer decided what. That is what makes it reviewable.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38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68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FROM SSD TO FULL&lt;/Text&gt;&#10;  &lt;/Box&gt;&#10;  &lt;Box style={{ padding: '13px 40px 0 40px', flexDirection: 'row', alignItems: 'center', justifyContent: 'space-between' }}&gt;&#10;    &lt;Text style={{ fontSize: 29, fontWeight: 'bold', color: '#0E3F8C' }}&gt;Three Diagrams You Should Not Draw&lt;/Text&gt;&#10;    &lt;Text style={{ fontSize: 14, color: '#1E4FA8', fontWeight: 'bold' }}&gt;13 / 38&lt;/Text&gt;&#10;  &lt;/Box&gt;&#10;  &lt;Box style={{ flex: 1, padding: '10px 40px 0 40px', flexDirection: 'column' }}&gt;&#10;    &lt;Box style={{ flexDirection: 'row', flexWrap: 'wrap', gap: 18, alignContent: 'flex-start' }}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ANTI-PATTERN 01&lt;/Text&gt;&#10;          &lt;Text style={{ fontSize: 19, fontWeight: 'bold', color: '#0E3F8C', lineHeight: 1.25 }}&gt;The deep call chain&lt;/Text&gt;&#10;          &lt;Text style={{ fontSize: 13, color: '#4A5568', lineHeight: 1.55 }}&gt;Eight arrows descending one lifelineless column. Split it, or open the box less.&lt;/Text&gt;&#10;        &lt;/Box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ANTI-PATTERN 02&lt;/Text&gt;&#10;          &lt;Text style={{ fontSize: 19, fontWeight: 'bold', color: '#0E3F8C', lineHeight: 1.25 }}&gt;UI events as messages&lt;/Text&gt;&#10;          &lt;Text style={{ fontSize: 13, color: '#4A5568', lineHeight: 1.55 }}&gt;«clicked» and «keyPressed» are not business conversations. Start from the use case step instead.&lt;/Text&gt;&#10;        &lt;/Box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ANTI-PATTERN 03&lt;/Text&gt;&#10;          &lt;Text style={{ fontSize: 19, fontWeight: 'bold', color: '#0E3F8C', lineHeight: 1.25 }}&gt;The kitchen sink&lt;/Text&gt;&#10;          &lt;Text style={{ fontSize: 13, color: '#4A5568', lineHeight: 1.55 }}&gt;Every class from the domain model on one page. Draw only what this scenario touches.&lt;/Text&gt;&#10;  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3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0010775" y="257175"/>
            <a:ext cx="1800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FROM SSD TO FULL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Three Diagrams You Should Not Draw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13 / 38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3810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3810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524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ANTI-PATTERN 01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The deep call chain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524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Eight arrows descending one lifelineless column. Split it, or open the box less.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41529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41529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3243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ANTI-PATTERN 02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3243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UI events as messages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3243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«clicked» and «keyPressed» are not business conversations. Start from the use case step instead.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79248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79248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0962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ANTI-PATTERN 03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0962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The kitchen sink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0962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Every class from the domain model on one page. Draw only what this scenario touches.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13 / 38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92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3&lt;/Text&gt;&#10;    &lt;/Box&gt;&#10;    &lt;Box style={{ flex: 1, padding: '70px 64px', flexDirection: 'column', justifyContent: 'center' }}&gt;&#10;      &lt;Text style={{ fontSize: 15, color: '#7FA2D6', letterSpacing: 2, marginBottom: 18 }}&gt;PART 3 · LECTURE · 40 MIN&lt;/Text&gt;&#10;      &lt;Text style={{ fontSize: 46, fontWeight: 'bold', color: '#FFFFFF', lineHeight: 1.18 }}&gt;Interaction Fragments&lt;/Text&gt;&#10;      &lt;Box style={{ width: 64, height: 4, background: '#FFC107', marginTop: 26, marginBottom: 26 }} /&gt;&#10;      &lt;Box style={{ flexDirection: 'column', gap: 12 }}&gt;&#10;          &lt;Box key=&quot;Four operators cover almost everything: &quot; style={{ flexDirection: 'row', alignItems: 'center', gap: 12 }}&gt;&#10;            &lt;Box style={{ width: 8, height: 8, borderRadius: 4, background: '#3D7BD9' }} /&gt;&#10;            &lt;Text style={{ fontSize: 20, color: '#C5D4EA' }}&gt;Four operators cover almost everything: alt, loop, opt, par&lt;/Text&gt;&#10;          &lt;/Box&gt;&#10;          &lt;Box key=&quot;A fragment is a region of the diagram, n&quot; style={{ flexDirection: 'row', alignItems: 'center', gap: 12 }}&gt;&#10;            &lt;Box style={{ width: 8, height: 8, borderRadius: 4, background: '#3D7BD9' }} /&gt;&#10;            &lt;Text style={{ fontSize: 20, color: '#C5D4EA' }}&gt;A fragment is a region of the diagram, not a jump somewhere else&lt;/Text&gt;&#10;          &lt;/Box&gt;&#10;          &lt;Box key=&quot;Nesting is allowed; jumping is not&quot; style={{ flexDirection: 'row', alignItems: 'center', gap: 12 }}&gt;&#10;            &lt;Box style={{ width: 8, height: 8, borderRadius: 4, background: '#3D7BD9' }} /&gt;&#10;            &lt;Text style={{ fontSize: 20, color: '#C5D4EA' }}&gt;Nesting is allowed; jumping is not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38100" y="2171700"/>
            <a:ext cx="27813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467100" y="22193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3 · LECTURE · 40 MIN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467100" y="25622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Interaction Fragments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3467100" y="34385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4848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Four operators cover almost everything: alt, loop, opt, par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34671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657600" y="4067175"/>
            <a:ext cx="5572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 fragment is a region of the diagram, not a jump somewhere else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3467100" y="4486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657600" y="4410075"/>
            <a:ext cx="2819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Nesting is allowed; jumping is not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15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106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FRAGMENTS&lt;/Text&gt;&#10;  &lt;/Box&gt;&#10;  &lt;Box style={{ padding: '13px 40px 0 40px', flexDirection: 'row', alignItems: 'center', justifyContent: 'space-between' }}&gt;&#10;    &lt;Text style={{ fontSize: 29, fontWeight: 'bold', color: '#0E3F8C' }}&gt;alt — Two Branches, One Guard Each&lt;/Text&gt;&#10;    &lt;Text style={{ fontSize: 14, color: '#1E4FA8', fontWeight: 'bold' }}&gt;15 / 38&lt;/Text&gt;&#10;  &lt;/Box&gt;&#10;  &lt;Box style={{ flex: 1, padding: '10px 40px 0 40px', flexDirection: 'column' }}&gt;&#10;    &lt;Box style={{ justifyContent: 'center', alignItems: 'center' }}&gt;&#10;    &lt;svg width={1180} height={442} viewBox='0 0 1180 $h'&gt;&#10;&#10;      &lt;text x='10' y='16' fill='#8B97A8' fontSize='13'&gt;The Payment step has two outcomes. Both belong inside the same step, so both live inside one frame.&lt;/text&gt;&#10;&#10;      &lt;rect x='40' y='34' width='150' height='46' rx='8' fill='#EAF6EC' stroke='#2B7A3D' strokeWidth='2' /&gt;&#10;      &lt;text x='115' y='64' textAnchor='middle' fill='#0E3F8C' fontSize='16' fontWeight='bold'&gt;OrderUI&lt;/text&gt;&#10;      &lt;line x1='115' y1='34' x2='115' y2='372' stroke='#8B97A8' strokeWidth='1.6' strokeDasharray='7 6' /&gt;&#10;      &lt;rect x='300' y='34' width='150' height='46' rx='8' fill='#F0F5FC' stroke='#1E4FA8' strokeWidth='2' /&gt;&#10;      &lt;text x='375' y='64' textAnchor='middle' fill='#0E3F8C' fontSize='16' fontWeight='bold'&gt;PlaceOrderCtrl&lt;/text&gt;&#10;      &lt;line x1='375' y1='34' x2='375' y2='372' stroke='#8B97A8' strokeWidth='1.6' strokeDasharray='7 6' /&gt;&#10;      &lt;rect x='560' y='34' width='150' height='46' rx='8' fill='#F7F9FC' stroke='#1E4FA8' strokeWidth='2' /&gt;&#10;      &lt;text x='635' y='64' textAnchor='middle' fill='#0E3F8C' fontSize='16' fontWeight='bold'&gt;Payment&lt;/text&gt;&#10;      &lt;line x1='635' y1='34' x2='635' y2='372' stroke='#8B97A8' strokeWidth='1.6' strokeDasharray='7 6' /&gt;      &lt;rect x='369' y='96' width='13' height='250' rx='3' fill='#C5D4EA' stroke='#0E3F8C' strokeWidth='1.2' /&gt;      &lt;rect x='629' y='122' width='13' height='196' rx='3' fill='#C5D4EA' stroke='#0E3F8C' strokeWidth='1.2' /&gt;      &lt;line x1='122' y1='104' x2='352' y2='104' stroke='#0E3F8C' strokeWidth='2' /&gt;&#10;      &lt;text x='242' y='95' fill='#1A2230' fontSize='13.5'&gt;placeOrder(cart)&lt;/text&gt;&#10;      &lt;polygon points='363,104 353,98 353,110' fill='#0E3F8C' /&gt;      &lt;line x1='383' y1='130' x2='612' y2='130' stroke='#0E3F8C' strokeWidth='2' /&gt;&#10;      &lt;text x='503' y='121' fill='#1A2230' fontSize='13.5'&gt;charge(amount)&lt;/text&gt;&#10;      &lt;polygon points='623,130 613,124 613,136' fill='#0E3F8C' /&gt;      &lt;rect x='300' y='152' width='560' height='128' rx='7' fill='#FFF6E0' fillOpacity='0.55' stroke='#FFC107' strokeWidth='1.6' strokeDasharray='7 5' /&gt;&#10;      &lt;rect x='300' y='152' width='116' height='24' rx='5' fill='#FFC107' /&gt;&#10;      &lt;text x='312' y='169' fill='#FFFFFF' fontSize='13' fontWeight='bold'&gt;[alt] alternative&lt;/text&gt;&#10;      &lt;text x='312' y='194' fill='#4A5568' fontSize='12' fontStyle='italic'&gt;[guard] payment succeeds?&lt;/text&gt;&#10;      &lt;line x1='300' y1='216' x2='860' y2='216' stroke='#FFC107' strokeWidth='1.4' strokeDasharray='7 5' /&gt;      &lt;line x1='620' y1='186' x2='837' y2='186' stroke='#0E3F8C' strokeWidth='2' /&gt;&#10;      &lt;text x='734' y='177' fill='#1A2230' fontSize='13.5'&gt;receipt()&lt;/text&gt;&#10;      &lt;polygon points='848,186 838,180 838,192' fill='#0E3F8C' /&gt;      &lt;line x1='620' y1='250' x2='837' y2='250' stroke='#0E3F8C' strokeWidth='2' /&gt;&#10;      &lt;text x='734' y='241' fill='#1A2230' fontSize='13.5'&gt;declined(reason)&lt;/text&gt;&#10;      &lt;polygon points='848,250 838,244 838,256' fill='#0E3F8C' /&gt;&#10;      &lt;text x='312' y='182' fill='#996F00' fontSize='12' fontWeight='bold'&gt;[payment succeeds]&lt;/text&gt;&#10;      &lt;text x='312' y='246' fill='#996F00' fontSize='12' fontWeight='bold'&gt;[payment fails]&lt;/text&gt;&#10;      &lt;rect x='40' y='392' width='1090' height='40' rx='8' fill='#FFF6E0' /&gt;&#10;      &lt;text x='60' y='417' fill='#996F00' fontSize='13.5'&gt;The frame encloses the alternatives. The order line continues after it, whatever branch ran — that is what makes it a frame and not two diagrams.&lt;/text&gt;&#10;&#10;    &lt;/svg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5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487025" y="257175"/>
            <a:ext cx="1323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FRAGMENTS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9434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alt — Two Branches, One Guard Each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15 / 38</a:t>
            </a:r>
            <a:endParaRPr/>
          </a:p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238250"/>
            <a:ext cx="11239500" cy="4210050"/>
          </a:xfrm>
          <a:prstGeom prst="rect">
            <a:avLst/>
          </a:prstGeom>
          <a:ln/>
        </p:spPr>
      </p:pic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15 / 38</a:t>
            </a:r>
            <a:endParaRPr/>
          </a:p>
        </p:txBody>
      </p:sp>
    </p:spTree>
  </p:cSld>
</p:sld>
</file>

<file path=ppt/slides/slide16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116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FRAGMENTS&lt;/Text&gt;&#10;  &lt;/Box&gt;&#10;  &lt;Box style={{ padding: '13px 40px 0 40px', flexDirection: 'row', alignItems: 'center', justifyContent: 'space-between' }}&gt;&#10;    &lt;Text style={{ fontSize: 29, fontWeight: 'bold', color: '#0E3F8C' }}&gt;loop — Repetition&lt;/Text&gt;&#10;    &lt;Text style={{ fontSize: 14, color: '#1E4FA8', fontWeight: 'bold' }}&gt;16 / 38&lt;/Text&gt;&#10;  &lt;/Box&gt;&#10;  &lt;Box style={{ flex: 1, padding: '10px 40px 0 40px', flexDirection: 'column' }}&gt;&#10;    &lt;Table&#10;      style={{ width: '100%', height: '100%' }}&#10;      defaultTextStyle={{ fontSize: 13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330, 320, 350]}&#10;      cells={[&#10;        [&#10;          { text: 'You need a loop when', textStyle: {bold: true, color: '#FFFFFF', fontSize: 15}, cellStyle: {background: { color: '#0E3F8C' }} },&#10;          { text: 'Example', textStyle: {bold: true, color: '#FFFFFF', fontSize: 15}, cellStyle: {background: { color: '#1E4FA8' }} },&#10;          { text: 'How to write it', textStyle: {bold: true, color: '#FFFFFF', fontSize: 15}, cellStyle: {background: { color: '#1E4FA8' }} }&#10;        ],&#10;        [&#10;          { text: 'A step repeats a known number of times', textStyle: {color: '#4A5568'}, cellStyle: {} },&#10;          { text: 'One message per order line', textStyle: {color: '#4A5568'}, cellStyle: {} },&#10;          { text: '[loop over cart lines]', textStyle: {color: '#4A5568'}, cellStyle: {} }&#10;        ],&#10;        [&#10;          { text: 'A step repeats until a condition fails', textStyle: {color: '#4A5568'}, cellStyle: {background: { color: '#F7F9FC' }} },&#10;          { text: 'Retry the payment while pending', textStyle: {color: '#4A5568'}, cellStyle: {background: { color: '#F7F9FC' }} },&#10;          { text: '[loop while payment pending]', textStyle: {color: '#4A5568'}, cellStyle: {background: { color: '#F7F9FC' }} }&#10;        ],&#10;        [&#10;          { text: 'A step repeats for each item in a collection', textStyle: {color: '#4A5568'}, cellStyle: {} },&#10;          { text: 'Add every line to the order', textStyle: {color: '#4A5568'}, cellStyle: {} },&#10;          { text: '[for each line in cart]', textStyle: {color: '#4A5568'}, cellStyle: {} }&#10;        ],&#10;        [&#10;          { text: 'You need something else when', textStyle: {color: '#4A5568'}, cellStyle: {background: { color: '#F7F9FC' }} },&#10;          { text: 'The number of repetitions is decided by a human', textStyle: {color: '#4A5568'}, cellStyle: {background: { color: '#F7F9FC' }} },&#10;          { text: 'That is a human interaction, not a loop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6 / 38&lt;/Text&gt;&#10;  &lt;/Box&gt;&#10;  &lt;Box style={{ height: 46, background: '#0E3F8C', padding: '0 40px', flexDirection: 'row', alignItems: 'center', justifyContent: 'center' }}&gt;&#10;    &lt;Text style={{ fontSize: 16.5, color: '#FFFFFF', fontWeight: '600' }}&gt;Write the loop bound in words. A loop with no stated bound becomes an infinite loop in somebody's head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0487025" y="257175"/>
            <a:ext cx="1323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FRAGMENTS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237172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loop — Repetition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16 / 38</a:t>
            </a:r>
            <a:endParaRPr/>
          </a:p>
        </p:txBody>
      </p:sp>
      <p:graphicFrame>
        <p:nvGraphicFramePr>
          <p:cNvPr id="123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3741422">
                  <a:extLst>
                    <a:ext uri="{9D8B030D-6E8A-4147-A177-3AD203B41FA5}">
                      <a16:colId val="1"/>
                    </a:ext>
                  </a:extLst>
                </a:gridCol>
                <a:gridCol w="4285148">
                  <a:extLst>
                    <a:ext uri="{9D8B030D-6E8A-4147-A177-3AD203B41FA5}">
                      <a16:colId val="2"/>
                    </a:ext>
                  </a:extLst>
                </a:gridCol>
                <a:gridCol w="340343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05140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You need a loop when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Example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How to write 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step repeats a known number of times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One message per order line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[loop over cart lines]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step repeats until a condition fails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Retry the payment while pending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[loop while payment pending]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step repeats for each item in a collection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Add every line to the order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[for each line in cart]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You need something else when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number of repetitions is decided by a human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That is a human interaction, not a loop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16 / 38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2124075" y="6543675"/>
            <a:ext cx="794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Write the loop bound in words. A loop with no stated bound becomes an infinite loop in somebody's head.</a:t>
            </a:r>
            <a:endParaRPr/>
          </a:p>
        </p:txBody>
      </p:sp>
    </p:spTree>
  </p:cSld>
</p:sld>
</file>

<file path=ppt/slides/slide17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128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FRAGMENTS&lt;/Text&gt;&#10;  &lt;/Box&gt;&#10;  &lt;Box style={{ padding: '13px 40px 0 40px', flexDirection: 'row', alignItems: 'center', justifyContent: 'space-between' }}&gt;&#10;    &lt;Text style={{ fontSize: 29, fontWeight: 'bold', color: '#0E3F8C' }}&gt;opt — The Optional Step&lt;/Text&gt;&#10;    &lt;Text style={{ fontSize: 14, color: '#1E4FA8', fontWeight: 'bold' }}&gt;17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130, 260, 330, 280]}&#10;      cells={[&#10;        [&#10;          { text: 'Operator', textStyle: {bold: true, color: '#FFFFFF', fontSize: 15}, cellStyle: {background: { color: '#0E3F8C' }} },&#10;          { text: 'Means', textStyle: {bold: true, color: '#FFFFFF', fontSize: 15}, cellStyle: {background: { color: '#1E4FA8' }} },&#10;          { text: 'Use it for', textStyle: {bold: true, color: '#FFFFFF', fontSize: 15}, cellStyle: {background: { color: '#1E4FA8' }} },&#10;          { text: 'Guard', textStyle: {bold: true, color: '#FFFFFF', fontSize: 15}, cellStyle: {background: { color: '#1E4FA8' }} }&#10;        ],&#10;        [&#10;          { text: 'opt', textStyle: {color: '#4A5568'}, cellStyle: {} },&#10;          { text: 'Zero or one occurrence', textStyle: {color: '#4A5568'}, cellStyle: {} },&#10;          { text: 'A step the scenario may skip', textStyle: {color: '#4A5568'}, cellStyle: {} },&#10;          { text: '[add a coupon]', textStyle: {color: '#4A5568'}, cellStyle: {} }&#10;        ],&#10;        [&#10;          { text: 'alt', textStyle: {color: '#4A5568'}, cellStyle: {background: { color: '#F7F9FC' }} },&#10;          { text: 'Exactly one of several branches', textStyle: {color: '#4A5568'}, cellStyle: {background: { color: '#F7F9FC' }} },&#10;          { text: 'A decision with different outcomes', textStyle: {color: '#4A5568'}, cellStyle: {background: { color: '#F7F9FC' }} },&#10;          { text: '[payment succeeds?]', textStyle: {color: '#4A5568'}, cellStyle: {background: { color: '#F7F9FC' }} }&#10;        ],&#10;        [&#10;          { text: 'loop', textStyle: {color: '#4A5568'}, cellStyle: {} },&#10;          { text: 'Zero or more occurrences', textStyle: {color: '#4A5568'}, cellStyle: {} },&#10;          { text: 'Repetition over a collection', textStyle: {color: '#4A5568'}, cellStyle: {} },&#10;          { text: '[for each line]', textStyle: {color: '#4A5568'}, cellStyle: {} }&#10;        ],&#10;        [&#10;          { text: 'par', textStyle: {color: '#4A5568'}, cellStyle: {background: { color: '#F7F9FC' }} },&#10;          { text: 'Concurrent or unordered sections', textStyle: {color: '#4A5568'}, cellStyle: {background: { color: '#F7F9FC' }} },&#10;          { text: 'Independent work that need not wait', textStyle: {color: '#4A5568'}, cellStyle: {background: { color: '#F7F9FC' }} },&#10;          { text: '[validate in parallel]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7 / 38&lt;/Text&gt;&#10;  &lt;/Box&gt;&#10;  &lt;Box style={{ height: 46, background: '#0E3F8C', padding: '0 40px', flexDirection: 'row', alignItems: 'center', justifyContent: 'center' }}&gt;&#10;    &lt;Text style={{ fontSize: 16.5, color: '#FFFFFF', fontWeight: '600' }}&gt;opt is the most overused operator. If a step is genuinely mandatory, writing opt hides a business rule — and reviewers notice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0487025" y="257175"/>
            <a:ext cx="1323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FRAGMENTS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2289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opt — The Optional Step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17 / 38</a:t>
            </a:r>
            <a:endParaRPr/>
          </a:p>
        </p:txBody>
      </p:sp>
      <p:graphicFrame>
        <p:nvGraphicFramePr>
          <p:cNvPr id="135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1293432">
                  <a:extLst>
                    <a:ext uri="{9D8B030D-6E8A-4147-A177-3AD203B41FA5}">
                      <a16:colId val="1"/>
                    </a:ext>
                  </a:extLst>
                </a:gridCol>
                <a:gridCol w="3718616">
                  <a:extLst>
                    <a:ext uri="{9D8B030D-6E8A-4147-A177-3AD203B41FA5}">
                      <a16:colId val="2"/>
                    </a:ext>
                  </a:extLst>
                </a:gridCol>
                <a:gridCol w="3999797">
                  <a:extLst>
                    <a:ext uri="{9D8B030D-6E8A-4147-A177-3AD203B41FA5}">
                      <a16:colId val="3"/>
                    </a:ext>
                  </a:extLst>
                </a:gridCol>
                <a:gridCol w="2418155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102336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Operator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Means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Use it for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Guard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opt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Zero or one occurrence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step the scenario may skip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[add a coupon]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alt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Exactly one of several branches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decision with different outcomes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[payment succeeds?]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loop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Zero or more occurrences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Repetition over a collection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[for each line]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par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Concurrent or unordered sections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Independent work that need not wait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[validate in parallel]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17 / 38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409700" y="6543675"/>
            <a:ext cx="938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opt is the most overused operator. If a step is genuinely mandatory, writing opt hides a business rule — and reviewers notice.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40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FRAGMENTS&lt;/Text&gt;&#10;  &lt;/Box&gt;&#10;  &lt;Box style={{ padding: '13px 40px 0 40px', flexDirection: 'row', alignItems: 'center', justifyContent: 'space-between' }}&gt;&#10;    &lt;Text style={{ fontSize: 29, fontWeight: 'bold', color: '#0E3F8C' }}&gt;The Anti-Pattern: Fragments as Gotos&lt;/Text&gt;&#10;    &lt;Text style={{ fontSize: 14, color: '#1E4FA8', fontWeight: 'bold' }}&gt;18 / 38&lt;/Text&gt;&#10;  &lt;/Box&gt;&#10;  &lt;Box style={{ flex: 1, padding: '10px 40px 0 40px', flexDirection: 'column' }}&gt;&#10;    &lt;Box style={{ flexDirection: 'row', flexWrap: 'wrap', gap: 18, alignContent: 'flex-start' }}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SYMPTOM 01&lt;/Text&gt;&#10;          &lt;Text style={{ fontSize: 19, fontWeight: 'bold', color: '#0E3F8C', lineHeight: 1.25 }}&gt;Jump out and back&lt;/Text&gt;&#10;          &lt;Text style={{ fontSize: 13, color: '#4A5568', lineHeight: 1.55 }}&gt;A fragment that appears far from the step it belongs to, with an arrow connecting them.&lt;/Text&gt;&#10;        &lt;/Box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SYMPTOM 02&lt;/Text&gt;&#10;          &lt;Text style={{ fontSize: 19, fontWeight: 'bold', color: '#0E3F8C', lineHeight: 1.25 }}&gt;The condition elsewhere&lt;/Text&gt;&#10;          &lt;Text style={{ fontSize: 13, color: '#4A5568', lineHeight: 1.55 }}&gt;The guard written on a page three screens away, so the reader must remember it.&lt;/Text&gt;&#10;        &lt;/Box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SYMPTOM 03&lt;/Text&gt;&#10;          &lt;Text style={{ fontSize: 19, fontWeight: 'bold', color: '#0E3F8C', lineHeight: 1.25 }}&gt;Alt as try-catch&lt;/Text&gt;&#10;          &lt;Text style={{ fontSize: 13, color: '#4A5568', lineHeight: 1.55 }}&gt;Exception handling drawn as two branches, when it is really a single failure path.&lt;/Text&gt;&#10;        &lt;/Box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THE RULE&lt;/Text&gt;&#10;          &lt;Text style={{ fontSize: 19, fontWeight: 'bold', color: '#0E3F8C', lineHeight: 1.25 }}&gt;A fragment is a region&lt;/Text&gt;&#10;          &lt;Text style={{ fontSize: 13, color: '#4A5568', lineHeight: 1.55 }}&gt;It surrounds the messages it governs. If you need to jump, you need a second diagram.&lt;/Text&gt;&#10;  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8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0487025" y="257175"/>
            <a:ext cx="1323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FRAGMENTS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9911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The Anti-Pattern: Fragments as Gotos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18 / 38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3810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3810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524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SYMPTOM 01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Jump out and back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524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A fragment that appears far from the step it belongs to, with an arrow connecting them.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41529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41529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3243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SYMPTOM 02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3243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The condition elsewhere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3243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The guard written on a page three screens away, so the reader must remember it.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79248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79248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0962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SYMPTOM 03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0962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Alt as try-catch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0962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Exception handling drawn as two branches, when it is really a single failure path.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381000" y="28765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381000" y="28765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52450" y="30480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THE RULE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52450" y="32766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A fragment is a region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52450" y="36290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It surrounds the messages it governs. If you need to jump, you need a second diagram.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18 / 38</a:t>
            </a:r>
            <a:endParaRPr/>
          </a:p>
        </p:txBody>
      </p:sp>
    </p:spTree>
  </p:cSld>
</p:sld>
</file>

<file path=ppt/slides/slide19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169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FRAGMENTS&lt;/Text&gt;&#10;  &lt;/Box&gt;&#10;  &lt;Box style={{ padding: '13px 40px 0 40px', flexDirection: 'row', alignItems: 'center', justifyContent: 'space-between' }}&gt;&#10;    &lt;Text style={{ fontSize: 29, fontWeight: 'bold', color: '#0E3F8C' }}&gt;Nesting Rules&lt;/Text&gt;&#10;    &lt;Text style={{ fontSize: 14, color: '#1E4FA8', fontWeight: 'bold' }}&gt;19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600, 400]}&#10;      cells={[&#10;        [&#10;          { text: 'Allowed', textStyle: {bold: true, color: '#FFFFFF', fontSize: 15}, cellStyle: {background: { color: '#0E3F8C' }} },&#10;          { text: 'Not allowed', textStyle: {bold: true, color: '#FFFFFF', fontSize: 15}, cellStyle: {background: { color: '#1E4FA8' }} }&#10;        ],&#10;        [&#10;          { text: 'A frame inside a frame — alt inside loop is very common', textStyle: {color: '#4A5568'}, cellStyle: {} },&#10;          { text: 'A frame that overlaps another frame without containing it', textStyle: {color: '#4A5568'}, cellStyle: {} }&#10;        ],&#10;        [&#10;          { text: 'Frames stacked vertically, each guarding its own messages', textStyle: {color: '#4A5568'}, cellStyle: {background: { color: '#F7F9FC' }} },&#10;          { text: 'Two frames side by side sharing messages between them', textStyle: {color: '#4A5568'}, cellStyle: {background: { color: '#F7F9FC' }} }&#10;        ],&#10;        [&#10;          { text: 'A frame whose messages are all inside its own border', textStyle: {color: '#4A5568'}, cellStyle: {} },&#10;          { text: 'A message that starts inside a frame and ends outside it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9 / 38&lt;/Text&gt;&#10;  &lt;/Box&gt;&#10;  &lt;Box style={{ height: 46, background: '#0E3F8C', padding: '0 40px', flexDirection: 'row', alignItems: 'center', justifyContent: 'center' }}&gt;&#10;    &lt;Text style={{ fontSize: 16.5, color: '#FFFFFF', fontWeight: '600' }}&gt;Rule of thumb: if you cannot draw a bracket around it, it is not a fragment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0487025" y="257175"/>
            <a:ext cx="1323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FRAGMENTS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18478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Nesting Rules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19 / 38</a:t>
            </a:r>
            <a:endParaRPr/>
          </a:p>
        </p:txBody>
      </p:sp>
      <p:graphicFrame>
        <p:nvGraphicFramePr>
          <p:cNvPr id="176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5786220">
                  <a:extLst>
                    <a:ext uri="{9D8B030D-6E8A-4147-A177-3AD203B41FA5}">
                      <a16:colId val="1"/>
                    </a:ext>
                  </a:extLst>
                </a:gridCol>
                <a:gridCol w="5643780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127495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Allowed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Not allowed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frame inside a frame — alt inside loop is very common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frame that overlaps another frame without containing 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Frames stacked vertically, each guarding its own messages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Two frames side by side sharing messages between them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frame whose messages are all inside its own border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message that starts inside a frame and ends outside 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19 / 38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3333750" y="6543675"/>
            <a:ext cx="553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Rule of thumb: if you cannot draw a bracket around it, it is not a fragment.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218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FRAGMENTS&lt;/Text&gt;&#10;  &lt;/Box&gt;&#10;  &lt;Box style={{ padding: '13px 40px 0 40px', flexDirection: 'row', alignItems: 'center', justifyContent: 'space-between' }}&gt;&#10;    &lt;Text style={{ fontSize: 29, fontWeight: 'bold', color: '#0E3F8C' }}&gt;Choosing the Operator&lt;/Text&gt;&#10;    &lt;Text style={{ fontSize: 14, color: '#1E4FA8', fontWeight: 'bold' }}&gt;20 / 38&lt;/Text&gt;&#10;  &lt;/Box&gt;&#10;  &lt;Box style={{ flex: 1, padding: '10px 40px 0 40px', flexDirection: 'column' }}&gt;&#10;    &lt;Box style={{ flexDirection: 'row', gap: 26 }}&gt;&#10;      &lt;Box style={{ width: 560, justifyContent: 'center' }}&gt;&#10;      &lt;Box style={{ padding: '18px 20px', background: '#1E4FA8', borderRadius: 10, border: '1px solid #E5E7EB' }}&gt;&#10;        &lt;Text style={{ fontSize: 13, color: '#8B97A8', letterSpacing: 1, marginBottom: 12 }}&gt;FOUR QUESTIONS, ONE ANSWER&lt;/Text&gt;&#10;&#10;          &lt;Box key=&quot;Could it happen twice? No → not 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1&lt;/Text&gt;&#10;            &lt;/Box&gt;&#10;            &lt;Text style={{ flex: 1, fontSize: 13.5, color: '#1A2230', lineHeight: 1.45 }}&gt;Could it happen twice? No → not a loop.&lt;/Text&gt;&#10;          &lt;/Box&gt;&#10;          &lt;Box key=&quot;Could it not happen at all? Yes 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2&lt;/Text&gt;&#10;            &lt;/Box&gt;&#10;            &lt;Text style={{ flex: 1, fontSize: 13.5, color: '#1A2230', lineHeight: 1.45 }}&gt;Could it not happen at all? Yes → opt or alt with an empty branch.&lt;/Text&gt;&#10;          &lt;/Box&gt;&#10;          &lt;Box key=&quot;Are the outcomes different? Yes 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3&lt;/Text&gt;&#10;            &lt;/Box&gt;&#10;            &lt;Text style={{ flex: 1, fontSize: 13.5, color: '#1A2230', lineHeight: 1.45 }}&gt;Are the outcomes different? Yes → alt with guards.&lt;/Text&gt;&#10;          &lt;/Box&gt;&#10;          &lt;Box key=&quot;Do both happen? Unordered → par.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4&lt;/Text&gt;&#10;            &lt;/Box&gt;&#10;            &lt;Text style={{ flex: 1, fontSize: 13.5, color: '#1A2230', lineHeight: 1.45 }}&gt;Do both happen? Unordered → par.&lt;/Text&gt;&#10;          &lt;/Box&gt;&#10;      &lt;/Box&gt;&#10;      &lt;/Box&gt;&#10;      &lt;Box style={{ flex: 1, flexDirection: 'column', justifyContent: 'center', gap: 13 }}&gt;&#10;      &lt;Box style={{ padding: '15px 17px', background: '#F0F5FC', borderRadius: 9, borderLeft: '4px solid #1E4FA8' }}&gt;&#10;        &lt;Text style={{ fontSize: 16, fontWeight: 'bold', color: '#0E3F8C' }}&gt;The test that catches most mistakes&lt;/Text&gt;&#10;        &lt;Text style={{ fontSize: 13, color: '#4A5568', lineHeight: 1.6, marginTop: 5 }}&gt;&#10;          Read your guard aloud. «Payment succeeds?» is a question and belongs in alt. «Payment» is a noun and belongs nowhere.&#10;        &lt;/Text&gt;&#10;      &lt;/Box&gt;&#10;      &lt;Box style={{ padding: '15px 17px', background: '#FFF6E0', borderRadius: 9, borderLeft: '4px solid #FFC107' }}&gt;&#10;        &lt;Text style={{ fontSize: 16, fontWeight: 'bold', color: '#996F00' }}&gt;Guards are business sentences&lt;/Text&gt;&#10;        &lt;Text style={{ fontSize: 13, color: '#4A5568', lineHeight: 1.6, marginTop: 5 }}&gt;&#10;          If the guard needs a paragraph to explain, the scenario is not understood yet — go back to the use case.&#10;        &lt;/Text&gt;&#10;      &lt;/Box&gt;&#10;      &lt;Box style={{ padding: '15px 17px', background: '#FFFFFF', borderRadius: 9, border: '1px solid #D6DCE5' }}&gt;&#10;        &lt;Text style={{ fontSize: 16, fontWeight: 'bold', color: '#0E3F8C' }}&gt;Par is rare in analysis&lt;/Text&gt;&#10;        &lt;Text style={{ fontSize: 13, color: '#4A5568', lineHeight: 1.6, marginTop: 5 }}&gt;&#10;          Most business steps are sequential. Reserve par for genuine independence, such as validating two independent constraints.&#10;        &lt;/Text&gt;&#10;      &lt;/Box&gt;&#10;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0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0487025" y="257175"/>
            <a:ext cx="1323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FRAGMENTS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0099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Choosing the Operator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20 / 38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381000" y="1933575"/>
            <a:ext cx="5334000" cy="1866900"/>
          </a:xfrm>
          <a:prstGeom prst="roundRect">
            <a:avLst>
              <a:gd name="adj" fmla="val 5102"/>
            </a:avLst>
          </a:prstGeom>
          <a:solidFill>
            <a:srgbClr val="1E4FA8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71500" y="21050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FOUR QUESTIONS, ONE ANSWER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571500" y="237172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47700" y="24098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95350" y="237172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Could it happen twice? No → not a loop.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571500" y="26860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47700" y="27241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95350" y="268605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Could it not happen at all? Yes → opt or alt with an empty branch.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571500" y="300037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47700" y="30384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95350" y="300037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Are the outcomes different? Yes → alt with guards.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571500" y="331470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47700" y="33528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95350" y="331470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Do both happen? Unordered → par.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00750" y="12382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6000750" y="123825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162675" y="138112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The test that catches most mistakes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162675" y="161925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Read your guard aloud. «Payment succeeds?» is a question and belongs in alt. «Payment» is a noun and belongs nowhere.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000750" y="236220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6000750" y="236220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162675" y="250507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96F00"/>
                </a:solidFill>
                <a:latin typeface="Microsoft YaHei"/>
                <a:ea typeface="Microsoft YaHei"/>
              </a:rPr>
              <a:t>Guards are business sentences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162675" y="274320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If the guard needs a paragraph to explain, the scenario is not understood yet — go back to the use case.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5962650" y="34861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124575" y="3629025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Par is rare in analysis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124575" y="3867150"/>
            <a:ext cx="5524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Most business steps are sequential. Reserve par for genuine independence, such as validating two independent constraints.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20 / 38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252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4&lt;/Text&gt;&#10;    &lt;/Box&gt;&#10;    &lt;Box style={{ flex: 1, padding: '70px 64px', flexDirection: 'column', justifyContent: 'center' }}&gt;&#10;      &lt;Text style={{ fontSize: 15, color: '#7FA2D6', letterSpacing: 2, marginBottom: 18 }}&gt;PART 4 · LECTURE · 15 MIN&lt;/Text&gt;&#10;      &lt;Text style={{ fontSize: 46, fontWeight: 'bold', color: '#FFFFFF', lineHeight: 1.18 }}&gt;Operation Discovery&lt;/Text&gt;&#10;      &lt;Box style={{ width: 64, height: 4, background: '#FFC107', marginTop: 26, marginBottom: 26 }} /&gt;&#10;      &lt;Box style={{ flexDirection: 'column', gap: 12 }}&gt;&#10;          &lt;Box key=&quot;Every arrow you drew is a future method &quot; style={{ flexDirection: 'row', alignItems: 'center', gap: 12 }}&gt;&#10;            &lt;Box style={{ width: 8, height: 8, borderRadius: 4, background: '#3D7BD9' }} /&gt;&#10;            &lt;Text style={{ fontSize: 20, color: '#C5D4EA' }}&gt;Every arrow you drew is a future method on the receiving object&lt;/Text&gt;&#10;          &lt;/Box&gt;&#10;          &lt;Box key=&quot;This is the bridge from analysis to desi&quot; style={{ flexDirection: 'row', alignItems: 'center', gap: 12 }}&gt;&#10;            &lt;Box style={{ width: 8, height: 8, borderRadius: 4, background: '#3D7BD9' }} /&gt;&#10;            &lt;Text style={{ fontSize: 20, color: '#C5D4EA' }}&gt;This is the bridge from analysis to design — and it lands in W10&lt;/Text&gt;&#10;          &lt;/Box&gt;&#10;          &lt;Box key=&quot;Traceability runs backwards: method to m&quot; style={{ flexDirection: 'row', alignItems: 'center', gap: 12 }}&gt;&#10;            &lt;Box style={{ width: 8, height: 8, borderRadius: 4, background: '#3D7BD9' }} /&gt;&#10;            &lt;Text style={{ fontSize: 20, color: '#C5D4EA' }}&gt;Traceability runs backwards: method to message to use case step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9525" y="2171700"/>
            <a:ext cx="283845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3467100" y="22193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4 · LECTURE · 15 MIN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3467100" y="25622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Operation Discovery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3467100" y="34385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5381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Every arrow you drew is a future method on the receiving object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34671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3657600" y="4067175"/>
            <a:ext cx="5372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This is the bridge from analysis to design — and it lands in W10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3467100" y="4486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3657600" y="4410075"/>
            <a:ext cx="5581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Traceability runs backwards: method to message to use case step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22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266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OPERATION DISCOVERY&lt;/Text&gt;&#10;  &lt;/Box&gt;&#10;  &lt;Box style={{ padding: '13px 40px 0 40px', flexDirection: 'row', alignItems: 'center', justifyContent: 'space-between' }}&gt;&#10;    &lt;Text style={{ fontSize: 29, fontWeight: 'bold', color: '#0E3F8C' }}&gt;Every Arrow Is a Method Waiting to Exist&lt;/Text&gt;&#10;    &lt;Text style={{ fontSize: 14, color: '#1E4FA8', fontWeight: 'bold' }}&gt;22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300, 440, 260]}&#10;      cells={[&#10;        [&#10;          { text: 'Message you drew', textStyle: {bold: true, color: '#FFFFFF', fontSize: 15}, cellStyle: {background: { color: '#0E3F8C' }} },&#10;          { text: 'Becomes this method on the receiving class', textStyle: {bold: true, color: '#FFFFFF', fontSize: 15}, cellStyle: {background: { color: '#1E4FA8' }} },&#10;          { text: 'Owner', textStyle: {bold: true, color: '#FFFFFF', fontSize: 15}, cellStyle: {background: { color: '#1E4FA8' }} }&#10;        ],&#10;        [&#10;          { text: 'createOrder(cart)', textStyle: {color: '#4A5568'}, cellStyle: {} },&#10;          { text: 'createOrder(...) on PlaceOrderController', textStyle: {color: '#4A5568'}, cellStyle: {} },&#10;          { text: 'Control', textStyle: {color: '#4A5568'}, cellStyle: {} }&#10;        ],&#10;        [&#10;          { text: 'addLine(item, qty)', textStyle: {color: '#4A5568'}, cellStyle: {background: { color: '#F7F9FC' }} },&#10;          { text: 'addLine(...) on Order', textStyle: {color: '#4A5568'}, cellStyle: {background: { color: '#F7F9FC' }} },&#10;          { text: 'Entity', textStyle: {color: '#4A5568'}, cellStyle: {background: { color: '#F7F9FC' }} }&#10;        ],&#10;        [&#10;          { text: 'charge(amount)', textStyle: {color: '#4A5568'}, cellStyle: {} },&#10;          { text: 'charge(...) on Payment', textStyle: {color: '#4A5568'}, cellStyle: {} },&#10;          { text: 'Entity', textStyle: {color: '#4A5568'}, cellStyle: {} }&#10;        ],&#10;        [&#10;          { text: 'new OrderLine(item, qty)', textStyle: {color: '#4A5568'}, cellStyle: {background: { color: '#F7F9FC' }} },&#10;          { text: 'a constructor — still an operation', textStyle: {color: '#4A5568'}, cellStyle: {background: { color: '#F7F9FC' }} },&#10;          { text: 'Entity', textStyle: {color: '#4A5568'}, cellStyle: {background: { color: '#F7F9FC' }} }&#10;        ],&#10;        [&#10;          { text: 'confirmation', textStyle: {color: '#4A5568'}, cellStyle: {} },&#10;          { text: 'a return value, not a method', textStyle: {color: '#4A5568'}, cellStyle: {} },&#10;          { text: '—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2 / 38&lt;/Text&gt;&#10;  &lt;/Box&gt;&#10;  &lt;Box style={{ height: 46, background: '#0E3F8C', padding: '0 40px', flexDirection: 'row', alignItems: 'center', justifyContent: 'center' }}&gt;&#10;    &lt;Text style={{ fontSize: 16.5, color: '#FFFFFF', fontWeight: '600' }}&gt;Write this list down. In W10 it becomes the operation column of your design class diagram, and it will save you an hour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9677400" y="25717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OPERATION DISCOVERY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3625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Every Arrow Is a Method Waiting to Exist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22 / 38</a:t>
            </a:r>
            <a:endParaRPr/>
          </a:p>
        </p:txBody>
      </p:sp>
      <p:graphicFrame>
        <p:nvGraphicFramePr>
          <p:cNvPr id="273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3345880">
                  <a:extLst>
                    <a:ext uri="{9D8B030D-6E8A-4147-A177-3AD203B41FA5}">
                      <a16:colId val="1"/>
                    </a:ext>
                  </a:extLst>
                </a:gridCol>
                <a:gridCol w="6890066">
                  <a:extLst>
                    <a:ext uri="{9D8B030D-6E8A-4147-A177-3AD203B41FA5}">
                      <a16:colId val="2"/>
                    </a:ext>
                  </a:extLst>
                </a:gridCol>
                <a:gridCol w="1194053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85470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Message you drew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Becomes this method on the receiving class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Owner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createOrder(cart)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createOrder(...) on PlaceOrderController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Control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addLine(item, qty)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addLine(...) on Order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Entity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charge(amount)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charge(...) on Payment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Entity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new OrderLine(item, qty)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constructor — still an operation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Entity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confirmation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return value, not a method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22 / 38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628775" y="6543675"/>
            <a:ext cx="8934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Write this list down. In W10 it becomes the operation column of your design class diagram, and it will save you an hour.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278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OPERATION DISCOVERY&lt;/Text&gt;&#10;  &lt;/Box&gt;&#10;  &lt;Box style={{ padding: '13px 40px 0 40px', flexDirection: 'row', alignItems: 'center', justifyContent: 'space-between' }}&gt;&#10;    &lt;Text style={{ fontSize: 29, fontWeight: 'bold', color: '#0E3F8C' }}&gt;The Analysis-to-Design Bridge&lt;/Text&gt;&#10;    &lt;Text style={{ fontSize: 14, color: '#1E4FA8', fontWeight: 'bold' }}&gt;23 / 38&lt;/Text&gt;&#10;  &lt;/Box&gt;&#10;  &lt;Box style={{ flex: 1, padding: '10px 40px 0 40px', flexDirection: 'column' }}&gt;&#10;    &lt;Box style={{ flexDirection: 'row', gap: 26 }}&gt;&#10;      &lt;Box style={{ width: 560, justifyContent: 'center' }}&gt;&#10;      &lt;Box style={{ padding: '18px 20px', background: '#1E4FA8', borderRadius: 10, border: '1px solid #E5E7EB' }}&gt;&#10;        &lt;Text style={{ fontSize: 13, color: '#8B97A8', letterSpacing: 1, marginBottom: 12 }}&gt;WHAT YOU ALREADY HAVE&lt;/Text&gt;&#10;&#10;          &lt;Box key=&quot;The use case gave you the steps 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1&lt;/Text&gt;&#10;            &lt;/Box&gt;&#10;            &lt;Text style={{ flex: 1, fontSize: 13.5, color: '#1A2230', lineHeight: 1.45 }}&gt;The use case gave you the steps (W05).&lt;/Text&gt;&#10;          &lt;/Box&gt;&#10;          &lt;Box key=&quot;The domain model gave you the cl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2&lt;/Text&gt;&#10;            &lt;/Box&gt;&#10;            &lt;Text style={{ flex: 1, fontSize: 13.5, color: '#1A2230', lineHeight: 1.45 }}&gt;The domain model gave you the classes (W06–W07).&lt;/Text&gt;&#10;          &lt;/Box&gt;&#10;          &lt;Box key=&quot;The sequence diagram connects th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3&lt;/Text&gt;&#10;            &lt;/Box&gt;&#10;            &lt;Text style={{ flex: 1, fontSize: 13.5, color: '#1A2230', lineHeight: 1.45 }}&gt;The sequence diagram connects the two.&lt;/Text&gt;&#10;          &lt;/Box&gt;&#10;      &lt;/Box&gt;&#10;      &lt;/Box&gt;&#10;      &lt;Box style={{ flex: 1, flexDirection: 'column', justifyContent: 'center', gap: 13 }}&gt;&#10;      &lt;Box style={{ padding: '15px 17px', background: '#F0F5FC', borderRadius: 9, borderLeft: '4px solid #1E4FA8' }}&gt;&#10;        &lt;Text style={{ fontSize: 16, fontWeight: 'bold', color: '#0E3F8C' }}&gt;What W10 adds&lt;/Text&gt;&#10;        &lt;Text style={{ fontSize: 13, color: '#4A5568', lineHeight: 1.6, marginTop: 5 }}&gt;&#10;          Visibility, types, navigation arrows and method signatures — all of it traceable back to an arrow you already drew.&#10;        &lt;/Text&gt;&#10;      &lt;/Box&gt;&#10;      &lt;Box style={{ padding: '15px 17px', background: '#FFF6E0', borderRadius: 9, borderLeft: '4px solid #FFC107' }}&gt;&#10;        &lt;Text style={{ fontSize: 16, fontWeight: 'bold', color: '#996F00' }}&gt;What W10 will not give you&lt;/Text&gt;&#10;        &lt;Text style={{ fontSize: 13, color: '#4A5568', lineHeight: 1.6, marginTop: 5 }}&gt;&#10;          New operations. If a method appears in W10 with no arrow behind it, you have invented behaviour nobody asked for.&#10;        &lt;/Text&gt;&#10;      &lt;/Box&gt;&#10;      &lt;Box style={{ padding: '15px 17px', background: '#FFFFFF', borderRadius: 9, border: '1px solid #D6DCE5' }}&gt;&#10;        &lt;Text style={{ fontSize: 16, fontWeight: 'bold', color: '#0E3F8C' }}&gt;How to use this in review&lt;/Text&gt;&#10;        &lt;Text style={{ fontSize: 13, color: '#4A5568', lineHeight: 1.6, marginTop: 5 }}&gt;&#10;          Point at any method in the design class diagram and trace it to a message. If the trail dies, the method is unjustified.&#10;        &lt;/Text&gt;&#10;      &lt;/Box&gt;&#10;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3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9677400" y="25717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OPERATION DISCOVERY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0290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The Analysis-to-Design Bridge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23 / 38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381000" y="2085975"/>
            <a:ext cx="5334000" cy="1552575"/>
          </a:xfrm>
          <a:prstGeom prst="roundRect">
            <a:avLst>
              <a:gd name="adj" fmla="val 6135"/>
            </a:avLst>
          </a:prstGeom>
          <a:solidFill>
            <a:srgbClr val="1E4FA8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71500" y="22574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WHAT YOU ALREADY HAVE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571500" y="252412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47700" y="25622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95350" y="252412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The use case gave you the steps (W05).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571500" y="28384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47700" y="28765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95350" y="283845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The domain model gave you the classes (W06–W07).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571500" y="315277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47700" y="31908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95350" y="315277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The sequence diagram connects the two.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6000750" y="12382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6000750" y="123825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162675" y="138112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What W10 adds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162675" y="161925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Visibility, types, navigation arrows and method signatures — all of it traceable back to an arrow you already drew.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6000750" y="236220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6000750" y="236220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162675" y="250507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96F00"/>
                </a:solidFill>
                <a:latin typeface="Microsoft YaHei"/>
                <a:ea typeface="Microsoft YaHei"/>
              </a:rPr>
              <a:t>What W10 will not give you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162675" y="274320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New operations. If a method appears in W10 with no arrow behind it, you have invented behaviour nobody asked for.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5962650" y="34861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124575" y="3629025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How to use this in review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124575" y="3867150"/>
            <a:ext cx="5524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Point at any method in the design class diagram and trace it to a message. If the trail dies, the method is unjustified.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23 / 38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309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OPERATION DISCOVERY&lt;/Text&gt;&#10;  &lt;/Box&gt;&#10;  &lt;Box style={{ padding: '13px 40px 0 40px', flexDirection: 'row', alignItems: 'center', justifyContent: 'space-between' }}&gt;&#10;    &lt;Text style={{ fontSize: 29, fontWeight: 'bold', color: '#0E3F8C' }}&gt;Naming Operations So They Survive Design&lt;/Text&gt;&#10;    &lt;Text style={{ fontSize: 14, color: '#1E4FA8', fontWeight: 'bold' }}&gt;24 / 38&lt;/Text&gt;&#10;  &lt;/Box&gt;&#10;  &lt;Box style={{ flex: 1, padding: '10px 40px 0 40px', flexDirection: 'column' }}&gt;&#10;    &lt;Box style={{ flexDirection: 'row', flexWrap: 'wrap', gap: 18, alignContent: 'flex-start' }}&gt;&#10;        &lt;Box style={{ width: '31.5%', padding: '18px 18px', background: '#F7F9FC', borderRadius: 10, border: '1px solid #E5E7EB', borderTop: '4px solid #2B7A3D', flexDirection: 'column', gap: 8 }}&gt;&#10;          &lt;Text style={{ fontSize: 13, color: '#8B97A8', letterSpacing: 1 }}&gt;RULE 01&lt;/Text&gt;&#10;          &lt;Text style={{ fontSize: 19, fontWeight: 'bold', color: '#0E3F8C', lineHeight: 1.25 }}&gt;Verb plus object&lt;/Text&gt;&#10;          &lt;Text style={{ fontSize: 13, color: '#4A5568', lineHeight: 1.55 }}&gt;placeOrder, addLine, charge. Not doIt, handle, process1.&lt;/Text&gt;&#10;        &lt;/Box&gt;&#10;        &lt;Box style={{ width: '31.5%', padding: '18px 18px', background: '#F7F9FC', borderRadius: 10, border: '1px solid #E5E7EB', borderTop: '4px solid #2B7A3D', flexDirection: 'column', gap: 8 }}&gt;&#10;          &lt;Text style={{ fontSize: 13, color: '#8B97A8', letterSpacing: 1 }}&gt;RULE 02&lt;/Text&gt;&#10;          &lt;Text style={{ fontSize: 19, fontWeight: 'bold', color: '#0E3F8C', lineHeight: 1.25 }}&gt;What the receiver needs, not what the sender wants&lt;/Text&gt;&#10;          &lt;Text style={{ fontSize: 13, color: '#4A5568', lineHeight: 1.55 }}&gt;The controller asks the Order to addLine, because the Order owns the rule.&lt;/Text&gt;&#10;        &lt;/Box&gt;&#10;        &lt;Box style={{ width: '31.5%', padding: '18px 18px', background: '#F7F9FC', borderRadius: 10, border: '1px solid #E5E7EB', borderTop: '4px solid #2B7A3D', flexDirection: 'column', gap: 8 }}&gt;&#10;          &lt;Text style={{ fontSize: 13, color: '#8B97A8', letterSpacing: 1 }}&gt;RULE 03&lt;/Text&gt;&#10;          &lt;Text style={{ fontSize: 19, fontWeight: 'bold', color: '#0E3F8C', lineHeight: 1.25 }}&gt;One name, one job&lt;/Text&gt;&#10;          &lt;Text style={{ fontSize: 13, color: '#4A5568', lineHeight: 1.55 }}&gt;If two messages to the same object do the same thing, merge them.&lt;/Text&gt;&#10;        &lt;/Box&gt;&#10;        &lt;Box style={{ width: '31.5%', padding: '18px 18px', background: '#F7F9FC', borderRadius: 10, border: '1px solid #E5E7EB', borderTop: '4px solid #2B7A3D', flexDirection: 'column', gap: 8 }}&gt;&#10;          &lt;Text style={{ fontSize: 13, color: '#8B97A8', letterSpacing: 1 }}&gt;RULE 04&lt;/Text&gt;&#10;          &lt;Text style={{ fontSize: 19, fontWeight: 'bold', color: '#0E3F8C', lineHeight: 1.25 }}&gt;No UI vocabulary&lt;/Text&gt;&#10;          &lt;Text style={{ fontSize: 13, color: '#4A5568', lineHeight: 1.55 }}&gt;Not submitForm or clickPay. The UI is one caller among several.&lt;/Text&gt;&#10;  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4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9677400" y="25717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OPERATION DISCOVERY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7721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Naming Operations So They Survive Design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24 / 38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381000" y="1276350"/>
            <a:ext cx="3600450" cy="1695450"/>
          </a:xfrm>
          <a:prstGeom prst="roundRect">
            <a:avLst>
              <a:gd name="adj" fmla="val 5618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381000" y="1276350"/>
            <a:ext cx="3600450" cy="1695450"/>
          </a:xfrm>
          <a:custGeom>
            <a:pathLst>
              <a:path w="378" h="178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2B7A3D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5524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RULE 01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Verb plus object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552450" y="2028825"/>
            <a:ext cx="32575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placeOrder, addLine, charge. Not doIt, handle, process1.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4152900" y="1276350"/>
            <a:ext cx="3600450" cy="1695450"/>
          </a:xfrm>
          <a:prstGeom prst="roundRect">
            <a:avLst>
              <a:gd name="adj" fmla="val 5618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4152900" y="1276350"/>
            <a:ext cx="3600450" cy="1695450"/>
          </a:xfrm>
          <a:custGeom>
            <a:pathLst>
              <a:path w="378" h="178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2B7A3D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3243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RULE 02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324350" y="1676400"/>
            <a:ext cx="3257550" cy="542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What the receiver needs, not what the sender wants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324350" y="22955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The controller asks the Order to addLine, because the Order owns the rule.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7924800" y="1276350"/>
            <a:ext cx="3600450" cy="1695450"/>
          </a:xfrm>
          <a:prstGeom prst="roundRect">
            <a:avLst>
              <a:gd name="adj" fmla="val 5618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7924800" y="1276350"/>
            <a:ext cx="3600450" cy="1695450"/>
          </a:xfrm>
          <a:custGeom>
            <a:pathLst>
              <a:path w="378" h="178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2B7A3D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80962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RULE 03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0962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One name, one job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0962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If two messages to the same object do the same thing, merge them.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381000" y="31432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381000" y="31432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2B7A3D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552450" y="33147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RULE 04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552450" y="35433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No UI vocabulary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52450" y="38957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Not submitForm or clickPay. The UI is one caller among several.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24 / 38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338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5&lt;/Text&gt;&#10;    &lt;/Box&gt;&#10;    &lt;Box style={{ flex: 1, padding: '70px 64px', flexDirection: 'column', justifyContent: 'center' }}&gt;&#10;      &lt;Text style={{ fontSize: 15, color: '#7FA2D6', letterSpacing: 2, marginBottom: 18 }}&gt;PART 5 · WORKED EXAMPLE&lt;/Text&gt;&#10;      &lt;Text style={{ fontSize: 46, fontWeight: 'bold', color: '#FFFFFF', lineHeight: 1.18 }}&gt;Place Order, End to End&lt;/Text&gt;&#10;      &lt;Box style={{ width: 64, height: 4, background: '#FFC107', marginTop: 26, marginBottom: 26 }} /&gt;&#10;      &lt;Box style={{ flexDirection: 'column', gap: 12 }}&gt;&#10;          &lt;Box key=&quot;A complete diagram: boundary, control, e&quot; style={{ flexDirection: 'row', alignItems: 'center', gap: 12 }}&gt;&#10;            &lt;Box style={{ width: 8, height: 8, borderRadius: 4, background: '#3D7BD9' }} /&gt;&#10;            &lt;Text style={{ fontSize: 20, color: '#C5D4EA' }}&gt;A complete diagram: boundary, control, entities, one alt&lt;/Text&gt;&#10;          &lt;/Box&gt;&#10;          &lt;Box key=&quot;Read it top to bottom and you have read &quot; style={{ flexDirection: 'row', alignItems: 'center', gap: 12 }}&gt;&#10;            &lt;Box style={{ width: 8, height: 8, borderRadius: 4, background: '#3D7BD9' }} /&gt;&#10;            &lt;Text style={{ fontSize: 20, color: '#C5D4EA' }}&gt;Read it top to bottom and you have read the whole use case&lt;/Text&gt;&#10;          &lt;/Box&gt;&#10;          &lt;Box key=&quot;Then the mistake gallery — four ways thi&quot; style={{ flexDirection: 'row', alignItems: 'center', gap: 12 }}&gt;&#10;            &lt;Box style={{ width: 8, height: 8, borderRadius: 4, background: '#3D7BD9' }} /&gt;&#10;            &lt;Text style={{ fontSize: 20, color: '#C5D4EA' }}&gt;Then the mistake gallery — four ways this same diagram goes wrong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57150" y="2171700"/>
            <a:ext cx="273367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05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3467100" y="22193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5 · WORKED EXAMPLE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3467100" y="25622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Place Order, End to End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3467100" y="34385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4648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 complete diagram: boundary, control, entities, one alt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34671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3657600" y="4067175"/>
            <a:ext cx="5086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Read it top to bottom and you have read the whole use case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3467100" y="4486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3657600" y="4410075"/>
            <a:ext cx="5838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Then the mistake gallery — four ways this same diagram goes wrong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26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352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WORKED EXAMPLE&lt;/Text&gt;&#10;  &lt;/Box&gt;&#10;  &lt;Box style={{ padding: '13px 40px 0 40px', flexDirection: 'row', alignItems: 'center', justifyContent: 'space-between' }}&gt;&#10;    &lt;Text style={{ fontSize: 29, fontWeight: 'bold', color: '#0E3F8C' }}&gt;Place Order — The Full Conversation&lt;/Text&gt;&#10;    &lt;Text style={{ fontSize: 14, color: '#1E4FA8', fontWeight: 'bold' }}&gt;26 / 38&lt;/Text&gt;&#10;  &lt;/Box&gt;&#10;  &lt;Box style={{ flex: 1, padding: '10px 40px 0 40px', flexDirection: 'column' }}&gt;&#10;    &lt;Box style={{ justifyContent: 'center', alignItems: 'center' }}&gt;&#10;    &lt;svg width={1180} height={530} viewBox='0 0 1180 $h'&gt;&#10;&#10;      &lt;text x='10' y='14' fill='#8B97A8' fontSize='12.5'&gt;The diagram the lab demo will walk through, step by step.&lt;/text&gt;&#10;&#10;      &lt;rect x='20' y='30' width='120' height='46' rx='8' fill='#EAF6EC' stroke='#2B7A3D' strokeWidth='2' /&gt;&#10;      &lt;text x='80' y='60' textAnchor='middle' fill='#0E3F8C' fontSize='16' fontWeight='bold'&gt;Student&lt;/text&gt;&#10;      &lt;line x1='80' y1='30' x2='80' y2='520' stroke='#8B97A8' strokeWidth='1.6' strokeDasharray='7 6' /&gt;&#10;      &lt;rect x='190' y='30' width='120' height='46' rx='8' fill='#EAF6EC' stroke='#2B7A3D' strokeWidth='2' /&gt;&#10;      &lt;text x='250' y='60' textAnchor='middle' fill='#0E3F8C' fontSize='16' fontWeight='bold'&gt;OrderUI&lt;/text&gt;&#10;      &lt;line x1='250' y1='30' x2='250' y2='520' stroke='#8B97A8' strokeWidth='1.6' strokeDasharray='7 6' /&gt;&#10;      &lt;rect x='360' y='30' width='120' height='46' rx='8' fill='#F0F5FC' stroke='#1E4FA8' strokeWidth='2' /&gt;&#10;      &lt;text x='420' y='60' textAnchor='middle' fill='#0E3F8C' fontSize='16' fontWeight='bold'&gt;PlaceOrderCtrl&lt;/text&gt;&#10;      &lt;line x1='420' y1='30' x2='420' y2='520' stroke='#8B97A8' strokeWidth='1.6' strokeDasharray='7 6' /&gt;&#10;      &lt;rect x='530' y='30' width='120' height='46' rx='8' fill='#F7F9FC' stroke='#1E4FA8' strokeWidth='2' /&gt;&#10;      &lt;text x='590' y='60' textAnchor='middle' fill='#0E3F8C' fontSize='16' fontWeight='bold'&gt;Order&lt;/text&gt;&#10;      &lt;line x1='590' y1='30' x2='590' y2='520' stroke='#8B97A8' strokeWidth='1.6' strokeDasharray='7 6' /&gt;&#10;      &lt;rect x='700' y='30' width='120' height='46' rx='8' fill='#F7F9FC' stroke='#1E4FA8' strokeWidth='2' /&gt;&#10;      &lt;text x='760' y='60' textAnchor='middle' fill='#0E3F8C' fontSize='16' fontWeight='bold'&gt;OrderLine&lt;/text&gt;&#10;      &lt;line x1='760' y1='30' x2='760' y2='520' stroke='#8B97A8' strokeWidth='1.6' strokeDasharray='7 6' /&gt;&#10;      &lt;rect x='870' y='30' width='120' height='46' rx='8' fill='#F7F9FC' stroke='#1E4FA8' strokeWidth='2' /&gt;&#10;      &lt;text x='930' y='60' textAnchor='middle' fill='#0E3F8C' fontSize='16' fontWeight='bold'&gt;MenuItem&lt;/text&gt;&#10;      &lt;line x1='930' y1='30' x2='930' y2='520' stroke='#8B97A8' strokeWidth='1.6' strokeDasharray='7 6' /&gt;&#10;      &lt;rect x='1030' y='30' width='120' height='46' rx='8' fill='#F7F9FC' stroke='#1E4FA8' strokeWidth='2' /&gt;&#10;      &lt;text x='1090' y='60' textAnchor='middle' fill='#0E3F8C' fontSize='16' fontWeight='bold'&gt;Payment&lt;/text&gt;&#10;      &lt;line x1='1090' y1='30' x2='1090' y2='520' stroke='#8B97A8' strokeWidth='1.6' strokeDasharray='7 6' /&gt;      &lt;rect x='74' y='80' width='13' height='402' rx='3' fill='#C5D4EA' stroke='#0E3F8C' strokeWidth='1.2' /&gt;      &lt;rect x='244' y='94' width='13' height='376' rx='3' fill='#C5D4EA' stroke='#0E3F8C' strokeWidth='1.2' /&gt;      &lt;rect x='414' y='106' width='13' height='358' rx='3' fill='#C5D4EA' stroke='#0E3F8C' strokeWidth='1.2' /&gt;      &lt;rect x='584' y='138' width='13' height='214' rx='3' fill='#C5D4EA' stroke='#0E3F8C' strokeWidth='1.2' /&gt;      &lt;rect x='754' y='230' width='13' height='72' rx='3' fill='#C5D4EA' stroke='#0E3F8C' strokeWidth='1.2' /&gt;      &lt;rect x='924' y='260' width='13' height='42' rx='3' fill='#C5D4EA' stroke='#0E3F8C' strokeWidth='1.2' /&gt;      &lt;rect x='1084' y='360' width='13' height='122' rx='3' fill='#C5D4EA' stroke='#0E3F8C' strokeWidth='1.2' /&gt;      &lt;line x1='88' y1='92' x2='231' y2='92' stroke='#0E3F8C' strokeWidth='2' /&gt;&#10;      &lt;text x='165' y='83' fill='#1A2230' fontSize='13.5'&gt;placeOrder(cart)&lt;/text&gt;&#10;      &lt;polygon points='242,92 232,86 232,98' fill='#0E3F8C' /&gt;      &lt;line x1='258' y1='122' x2='401' y2='122' stroke='#0E3F8C' strokeWidth='2' /&gt;&#10;      &lt;text x='335' y='113' fill='#1A2230' fontSize='13.5'&gt;createOrder(cart)&lt;/text&gt;&#10;      &lt;polygon points='412,122 402,116 402,128' fill='#0E3F8C' /&gt;      &lt;line x1='428' y1='152' x2='571' y2='152' stroke='#0E3F8C' strokeWidth='2' /&gt;&#10;      &lt;text x='505' y='143' fill='#1A2230' fontSize='13.5'&gt;new Order()&lt;/text&gt;&#10;      &lt;polygon points='582,152 572,146 572,158' fill='#0E3F8C' /&gt;      &lt;line x1='582' y1='180' x2='439' y2='180' stroke='#7FA2D6' strokeWidth='1.8' strokeDasharray='6 5' /&gt;&#10;      &lt;polygon points='439,180 430,175 430,185' fill='#7FA2D6' /&gt;&#10;      &lt;text x='505' y='172' fill='#8B97A8' fontSize='12'&gt;order&lt;/text&gt;      &lt;rect x='360' y='198' width='740' height='110' rx='7' fill='#F0F5FC' fillOpacity='0.55' stroke='#1E4FA8' strokeWidth='1.6' strokeDasharray='7 5' /&gt;&#10;      &lt;rect x='360' y='198' width='116' height='24' rx='5' fill='#1E4FA8' /&gt;&#10;      &lt;text x='372' y='215' fill='#FFFFFF' fontSize='13' fontWeight='bold'&gt;[loop] loop&lt;/text&gt;&#10;      &lt;text x='372' y='232' fill='#4A5568' fontSize='12' fontStyle='italic'&gt;[guard] for each line in cart&lt;/text&gt;      &lt;line x1='598' y1='248' x2='741' y2='248' stroke='#0E3F8C' strokeWidth='2' /&gt;&#10;      &lt;text x='675' y='239' fill='#1A2230' fontSize='13.5'&gt;addLine(item, qty)&lt;/text&gt;&#10;      &lt;polygon points='752,248 742,242 742,254' fill='#0E3F8C' /&gt;      &lt;line x1='768' y1='278' x2='911' y2='278' stroke='#0E3F8C' strokeWidth='2' /&gt;&#10;      &lt;text x='845' y='269' fill='#1A2230' fontSize='13.5'&gt;priceOf(item)&lt;/text&gt;&#10;      &lt;polygon points='922,278 912,272 912,284' fill='#0E3F8C' /&gt;      &lt;line x1='922' y1='302' x2='779' y2='302' stroke='#7FA2D6' strokeWidth='1.8' strokeDasharray='6 5' /&gt;&#10;      &lt;polygon points='779,302 770,297 770,307' fill='#7FA2D6' /&gt;&#10;      &lt;text x='845' y='294' fill='#8B97A8' fontSize='12'&gt;price&lt;/text&gt;      &lt;line x1='428' y1='328' x2='571' y2='328' stroke='#0E3F8C' strokeWidth='2' /&gt;&#10;      &lt;text x='505' y='319' fill='#1A2230' fontSize='13.5'&gt;total()&lt;/text&gt;&#10;      &lt;polygon points='582,328 572,322 572,334' fill='#0E3F8C' /&gt;      &lt;line x1='582' y1='352' x2='439' y2='352' stroke='#7FA2D6' strokeWidth='1.8' strokeDasharray='6 5' /&gt;&#10;      &lt;polygon points='439,352 430,347 430,357' fill='#7FA2D6' /&gt;&#10;      &lt;text x='505' y='344' fill='#8B97A8' fontSize='12'&gt;amount&lt;/text&gt;      &lt;line x1='428' y1='376' x2='1071' y2='376' stroke='#0E3F8C' strokeWidth='2' /&gt;&#10;      &lt;text x='755' y='367' fill='#1A2230' fontSize='13.5'&gt;charge(amount)&lt;/text&gt;&#10;      &lt;polygon points='1082,376 1072,370 1072,382' fill='#0E3F8C' /&gt;      &lt;rect x='360' y='396' width='740' height='108' rx='7' fill='#FFF6E0' fillOpacity='0.55' stroke='#FFC107' strokeWidth='1.6' strokeDasharray='7 5' /&gt;&#10;      &lt;rect x='360' y='396' width='116' height='24' rx='5' fill='#FFC107' /&gt;&#10;      &lt;text x='372' y='413' fill='#FFFFFF' fontSize='13' fontWeight='bold'&gt;[alt] alternative&lt;/text&gt;&#10;      &lt;text x='372' y='430' fill='#4A5568' fontSize='12' fontStyle='italic'&gt;[guard] payment succeeds?&lt;/text&gt;&#10;      &lt;line x1='360' y1='450' x2='1100' y2='450' stroke='#FFC107' strokeWidth='1.4' strokeDasharray='7 5' /&gt;      &lt;line x1='1082' y1='446' x2='417' y2='446' stroke='#0E3F8C' strokeWidth='2' /&gt;&#10;      &lt;text x='755' y='437' fill='#1A2230' fontSize='13.5'&gt;receipt()&lt;/text&gt;&#10;      &lt;polygon points='428,446 418,440 418,452' fill='#0E3F8C' /&gt;      &lt;line x1='1082' y1='482' x2='417' y2='482' stroke='#0E3F8C' strokeWidth='2' /&gt;&#10;      &lt;text x='755' y='473' fill='#1A2230' fontSize='13.5'&gt;declined(reason)&lt;/text&gt;&#10;      &lt;polygon points='428,482 418,476 418,488' fill='#0E3F8C' /&gt;&#10;    &lt;/svg&gt;&#10;    &lt;/Box&gt;&#10;  &lt;/Box&gt;&#10;  &lt;Box style={{ height: 34, padding: '0 40px', flexDirection: 'row', alignItems: 'center', justifyContent: 'space-between' }}&gt;&#10;    &lt;Text style={{ fontSize: 13, color: '#8B97A8' }}&gt;ISAD · Fall 2026 · Two frames, seven lifelines — and every arrow is a method that must exist in W10&lt;/Text&gt;&#10;    &lt;Text style={{ fontSize: 14, color: '#1E4FA8', fontWeight: 'bold' }}&gt;26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0029825" y="257175"/>
            <a:ext cx="178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WORKED EXAMPLE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88632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Place Order — The Full Conversation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26 / 38</a:t>
            </a:r>
            <a:endParaRPr/>
          </a:p>
        </p:txBody>
      </p:sp>
      <p:pic>
        <p:nvPicPr>
          <p:cNvPr id="3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238250"/>
            <a:ext cx="11239500" cy="5048250"/>
          </a:xfrm>
          <a:prstGeom prst="rect">
            <a:avLst/>
          </a:prstGeom>
          <a:ln/>
        </p:spPr>
      </p:pic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5514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Two frames, seven lifelines — and every arrow is a method that must exist in W10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26 / 38</a:t>
            </a:r>
            <a:endParaRPr/>
          </a:p>
        </p:txBody>
      </p:sp>
    </p:spTree>
  </p:cSld>
</p:sld>
</file>

<file path=ppt/slides/slide27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362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WORKED EXAMPLE&lt;/Text&gt;&#10;  &lt;/Box&gt;&#10;  &lt;Box style={{ padding: '13px 40px 0 40px', flexDirection: 'row', alignItems: 'center', justifyContent: 'space-between' }}&gt;&#10;    &lt;Text style={{ fontSize: 29, fontWeight: 'bold', color: '#0E3F8C' }}&gt;Sequence Diagram Walkthrough Checklist&lt;/Text&gt;&#10;    &lt;Text style={{ fontSize: 14, color: '#1E4FA8', fontWeight: 'bold' }}&gt;27 / 38&lt;/Text&gt;&#10;  &lt;/Box&gt;&#10;  &lt;Box style={{ flex: 1, padding: '10px 40px 0 40px', flexDirection: 'column' }}&gt;&#10;    &lt;Table&#10;      style={{ width: '100%', height: '100%' }}&#10;      defaultTextStyle={{ fontSize: 13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300, 420, 280]}&#10;      cells={[&#10;        [&#10;          { text: 'Check', textStyle: {bold: true, color: '#FFFFFF', fontSize: 15}, cellStyle: {background: { color: '#0E3F8C' }} },&#10;          { text: 'How to verify', textStyle: {bold: true, color: '#FFFFFF', fontSize: 15}, cellStyle: {background: { color: '#1E4FA8' }} },&#10;          { text: 'If it fails', textStyle: {bold: true, color: '#FFFFFF', fontSize: 15}, cellStyle: {background: { color: '#1E4FA8' }} }&#10;        ],&#10;        [&#10;          { text: 'Every lifeline is justified', textStyle: {color: '#4A5568'}, cellStyle: {} },&#10;          { text: 'Name the message that puts it on the page', textStyle: {color: '#4A5568'}, cellStyle: {} },&#10;          { text: 'Remove it', textStyle: {color: '#4A5568'}, cellStyle: {} }&#10;        ],&#10;        [&#10;          { text: 'Every message has an answer or is async', textStyle: {color: '#4A5568'}, cellStyle: {background: { color: '#F7F9FC' }} },&#10;          { text: 'Point at the arrowhead', textStyle: {color: '#4A5568'}, cellStyle: {background: { color: '#F7F9FC' }} },&#10;          { text: 'Fix the arrowhead or add the reply', textStyle: {color: '#4A5568'}, cellStyle: {background: { color: '#F7F9FC' }} }&#10;        ],&#10;        [&#10;          { text: 'Layers are respected', textStyle: {color: '#4A5568'}, cellStyle: {} },&#10;          { text: 'Boundary never talks to entity directly', textStyle: {color: '#4A5568'}, cellStyle: {} },&#10;          { text: 'Route it through the control', textStyle: {color: '#4A5568'}, cellStyle: {} }&#10;        ],&#10;        [&#10;          { text: 'Fragments contain their own messages', textStyle: {color: '#4A5568'}, cellStyle: {background: { color: '#F7F9FC' }} },&#10;          { text: 'Bracket each frame', textStyle: {color: '#4A5568'}, cellStyle: {background: { color: '#F7F9FC' }} },&#10;          { text: 'Move the stragglers inside', textStyle: {color: '#4A5568'}, cellStyle: {background: { color: '#F7F9FC' }} }&#10;        ],&#10;        [&#10;          { text: 'Guards are questions or conditions', textStyle: {color: '#4A5568'}, cellStyle: {} },&#10;          { text: 'Read each one aloud', textStyle: {color: '#4A5568'}, cellStyle: {} },&#10;          { text: 'Rewrite as a question', textStyle: {color: '#4A5568'}, cellStyle: {} }&#10;        ],&#10;        [&#10;          { text: 'No design vocabulary', textStyle: {color: '#4A5568'}, cellStyle: {background: { color: '#F7F9FC' }} },&#10;          { text: 'Search for click, submit, screen', textStyle: {color: '#4A5568'}, cellStyle: {background: { color: '#F7F9FC' }} },&#10;          { text: 'Rename to business language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7 / 38&lt;/Text&gt;&#10;  &lt;/Box&gt;&#10;  &lt;Box style={{ height: 46, background: '#0E3F8C', padding: '0 40px', flexDirection: 'row', alignItems: 'center', justifyContent: 'center' }}&gt;&#10;    &lt;Text style={{ fontSize: 16.5, color: '#FFFFFF', fontWeight: '600' }}&gt;The same six questions apply to every interaction diagram you will draw in this course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0029825" y="257175"/>
            <a:ext cx="178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WORKED EXAMPLE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5530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Sequence Diagram Walkthrough Checklist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27 / 38</a:t>
            </a:r>
            <a:endParaRPr/>
          </a:p>
        </p:txBody>
      </p:sp>
      <p:graphicFrame>
        <p:nvGraphicFramePr>
          <p:cNvPr id="369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4021432">
                  <a:extLst>
                    <a:ext uri="{9D8B030D-6E8A-4147-A177-3AD203B41FA5}">
                      <a16:colId val="1"/>
                    </a:ext>
                  </a:extLst>
                </a:gridCol>
                <a:gridCol w="4100719">
                  <a:extLst>
                    <a:ext uri="{9D8B030D-6E8A-4147-A177-3AD203B41FA5}">
                      <a16:colId val="2"/>
                    </a:ext>
                  </a:extLst>
                </a:gridCol>
                <a:gridCol w="330785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75543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Check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How to verify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If it fails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Every lifeline is justified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Name the message that puts it on the page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Remove 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Every message has an answer or is async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Point at the arrowhead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Fix the arrowhead or add the reply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Layers are respected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Boundary never talks to entity directly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Route it through the control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Fragments contain their own messages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Bracket each frame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Move the stragglers inside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Guards are questions or conditions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Read each one aloud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Rewrite as a question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 design vocabulary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Search for click, submit, screen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Rename to business language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27 / 38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2838450" y="6543675"/>
            <a:ext cx="6524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The same six questions apply to every interaction diagram you will draw in this course.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374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WORKED EXAMPLE&lt;/Text&gt;&#10;  &lt;/Box&gt;&#10;  &lt;Box style={{ padding: '13px 40px 0 40px', flexDirection: 'row', alignItems: 'center', justifyContent: 'space-between' }}&gt;&#10;    &lt;Text style={{ fontSize: 29, fontWeight: 'bold', color: '#0E3F8C' }}&gt;Mistake Gallery — Four Classic Failures&lt;/Text&gt;&#10;    &lt;Text style={{ fontSize: 14, color: '#1E4FA8', fontWeight: 'bold' }}&gt;28 / 38&lt;/Text&gt;&#10;  &lt;/Box&gt;&#10;  &lt;Box style={{ flex: 1, padding: '10px 40px 0 40px', flexDirection: 'column' }}&gt;&#10;    &lt;Box style={{ flexDirection: 'row', flexWrap: 'wrap', gap: 18, alignContent: 'flex-start' }}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MISTAKE 01&lt;/Text&gt;&#10;          &lt;Text style={{ fontSize: 19, fontWeight: 'bold', color: '#0E3F8C', lineHeight: 1.25 }}&gt;The missing return&lt;/Text&gt;&#10;          &lt;Text style={{ fontSize: 13, color: '#4A5568', lineHeight: 1.55 }}&gt;The caller asks and never hears back. Either there is no answer, or the arrowhead is wrong.&lt;/Text&gt;&#10;        &lt;/Box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MISTAKE 02&lt;/Text&gt;&#10;          &lt;Text style={{ fontSize: 19, fontWeight: 'bold', color: '#0E3F8C', lineHeight: 1.25 }}&gt;The deep chain&lt;/Text&gt;&#10;          &lt;Text style={{ fontSize: 13, color: '#4A5568', lineHeight: 1.55 }}&gt;Seven arrows down a single column. Nobody can review it and nobody can find their class in it.&lt;/Text&gt;&#10;        &lt;/Box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MISTAKE 03&lt;/Text&gt;&#10;          &lt;Text style={{ fontSize: 19, fontWeight: 'bold', color: '#0E3F8C', lineHeight: 1.25 }}&gt;Modelling the UI&lt;/Text&gt;&#10;          &lt;Text style={{ fontSize: 13, color: '#4A5568', lineHeight: 1.55 }}&gt;clicked, scrolled, keyPressed. These are not business steps — start from the use case step.&lt;/Text&gt;&#10;        &lt;/Box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MISTAKE 04&lt;/Text&gt;&#10;          &lt;Text style={{ fontSize: 19, fontWeight: 'bold', color: '#0E3F8C', lineHeight: 1.25 }}&gt;Boundary calling entity&lt;/Text&gt;&#10;          &lt;Text style={{ fontSize: 13, color: '#4A5568', lineHeight: 1.55 }}&gt;The screen reaches straight past the controller. The rules end up in two places.&lt;/Text&gt;&#10;  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8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10029825" y="257175"/>
            <a:ext cx="178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WORKED EXAMPLE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2578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Mistake Gallery — Four Classic Failures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28 / 38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3810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2" name=""/>
          <p:cNvSpPr/>
          <p:nvPr/>
        </p:nvSpPr>
        <p:spPr>
          <a:xfrm rot="0" flipH="0" flipV="0">
            <a:off x="3810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5524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MISTAKE 01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The missing return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5524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The caller asks and never hears back. Either there is no answer, or the arrowhead is wrong.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41529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7" name=""/>
          <p:cNvSpPr/>
          <p:nvPr/>
        </p:nvSpPr>
        <p:spPr>
          <a:xfrm rot="0" flipH="0" flipV="0">
            <a:off x="41529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43243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MISTAKE 02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43243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The deep chain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43243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Seven arrows down a single column. Nobody can review it and nobody can find their class in it.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79248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92" name=""/>
          <p:cNvSpPr/>
          <p:nvPr/>
        </p:nvSpPr>
        <p:spPr>
          <a:xfrm rot="0" flipH="0" flipV="0">
            <a:off x="79248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0962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MISTAKE 03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0962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Modelling the UI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0962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clicked, scrolled, keyPressed. These are not business steps — start from the use case step.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381000" y="28765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97" name=""/>
          <p:cNvSpPr/>
          <p:nvPr/>
        </p:nvSpPr>
        <p:spPr>
          <a:xfrm rot="0" flipH="0" flipV="0">
            <a:off x="381000" y="28765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52450" y="30480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MISTAKE 04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552450" y="32766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Boundary calling entity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552450" y="36290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The screen reaches straight past the controller. The rules end up in two places.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28 / 38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403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WORKED EXAMPLE&lt;/Text&gt;&#10;  &lt;/Box&gt;&#10;  &lt;Box style={{ padding: '13px 40px 0 40px', flexDirection: 'row', alignItems: 'center', justifyContent: 'space-between' }}&gt;&#10;    &lt;Text style={{ fontSize: 29, fontWeight: 'bold', color: '#0E3F8C' }}&gt;From Use Case to Sequence Diagram&lt;/Text&gt;&#10;    &lt;Text style={{ fontSize: 14, color: '#1E4FA8', fontWeight: 'bold' }}&gt;29 / 38&lt;/Text&gt;&#10;  &lt;/Box&gt;&#10;  &lt;Box style={{ flex: 1, padding: '10px 40px 0 40px', flexDirection: 'column' }}&gt;&#10;    &lt;Box style={{ flexDirection: 'row', gap: 26 }}&gt;&#10;      &lt;Box style={{ width: 560, justifyContent: 'center' }}&gt;&#10;      &lt;Box style={{ padding: '18px 20px', background: '#1E4FA8', borderRadius: 10, border: '1px solid #E5E7EB' }}&gt;&#10;        &lt;Text style={{ fontSize: 13, color: '#8B97A8', letterSpacing: 1, marginBottom: 12 }}&gt;THE CONVERSION&lt;/Text&gt;&#10;&#10;          &lt;Box key=&quot;Take the main success scenario, 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1&lt;/Text&gt;&#10;            &lt;/Box&gt;&#10;            &lt;Text style={{ flex: 1, fontSize: 13.5, color: '#1A2230', lineHeight: 1.45 }}&gt;Take the main success scenario, one step at a time.&lt;/Text&gt;&#10;          &lt;/Box&gt;&#10;          &lt;Box key=&quot;Each step becomes one message, i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2&lt;/Text&gt;&#10;            &lt;/Box&gt;&#10;            &lt;Text style={{ flex: 1, fontSize: 13.5, color: '#1A2230', lineHeight: 1.45 }}&gt;Each step becomes one message, in the same order.&lt;/Text&gt;&#10;          &lt;/Box&gt;&#10;          &lt;Box key=&quot;Each extension becomes an alt br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3&lt;/Text&gt;&#10;            &lt;/Box&gt;&#10;            &lt;Text style={{ flex: 1, fontSize: 13.5, color: '#1A2230', lineHeight: 1.45 }}&gt;Each extension becomes an alt branch at the step it extends.&lt;/Text&gt;&#10;          &lt;/Box&gt;&#10;          &lt;Box key=&quot;Leave everything else off. If no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4&lt;/Text&gt;&#10;            &lt;/Box&gt;&#10;            &lt;Text style={{ flex: 1, fontSize: 13.5, color: '#1A2230', lineHeight: 1.45 }}&gt;Leave everything else off. If no step needs it, it is not on the page.&lt;/Text&gt;&#10;          &lt;/Box&gt;&#10;      &lt;/Box&gt;&#10;      &lt;/Box&gt;&#10;      &lt;Box style={{ flex: 1, flexDirection: 'column', justifyContent: 'center', gap: 13 }}&gt;&#10;      &lt;Box style={{ padding: '15px 17px', background: '#F0F5FC', borderRadius: 9, borderLeft: '4px solid #1E4FA8' }}&gt;&#10;        &lt;Text style={{ fontSize: 16, fontWeight: 'bold', color: '#0E3F8C' }}&gt;The one-to-one rule&lt;/Text&gt;&#10;        &lt;Text style={{ fontSize: 13, color: '#4A5568', lineHeight: 1.6, marginTop: 5 }}&gt;&#10;          Seven steps in the scenario, seven messages in the diagram. If the counts differ, you have either merged two steps or invented one.&#10;        &lt;/Text&gt;&#10;      &lt;/Box&gt;&#10;      &lt;Box style={{ padding: '15px 17px', background: '#FFF6E0', borderRadius: 9, borderLeft: '4px solid #FFC107' }}&gt;&#10;        &lt;Text style={{ fontSize: 16, fontWeight: 'bold', color: '#996F00' }}&gt;Where extensions go&lt;/Text&gt;&#10;        &lt;Text style={{ fontSize: 13, color: '#4A5568', lineHeight: 1.6, marginTop: 5 }}&gt;&#10;          An extension is not a second diagram. It is a guarded branch inside the step it extends — that is the entire reason alt exists.&#10;        &lt;/Text&gt;&#10;      &lt;/Box&gt;&#10;      &lt;Box style={{ padding: '15px 17px', background: '#FFFFFF', borderRadius: 9, border: '1px solid #D6DCE5' }}&gt;&#10;        &lt;Text style={{ fontSize: 16, fontWeight: 'bold', color: '#0E3F8C' }}&gt;Do not start from the classes&lt;/Text&gt;&#10;        &lt;Text style={{ fontSize: 13, color: '#4A5568', lineHeight: 1.6, marginTop: 5 }}&gt;&#10;          Drawing the diagram from the domain model produces a picture of your model, not of the business. Start from the scenario.&#10;        &lt;/Text&gt;&#10;      &lt;/Box&gt;&#10;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9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10029825" y="257175"/>
            <a:ext cx="178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WORKED EXAMPLE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9149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From Use Case to Sequence Diagram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29 / 38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381000" y="1933575"/>
            <a:ext cx="5334000" cy="1866900"/>
          </a:xfrm>
          <a:prstGeom prst="roundRect">
            <a:avLst>
              <a:gd name="adj" fmla="val 5102"/>
            </a:avLst>
          </a:prstGeom>
          <a:solidFill>
            <a:srgbClr val="1E4FA8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571500" y="21050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THE CONVERSION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571500" y="237172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647700" y="24098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95350" y="237172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Take the main success scenario, one step at a time.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571500" y="26860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47700" y="27241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895350" y="268605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Each step becomes one message, in the same order.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571500" y="300037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647700" y="30384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95350" y="300037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Each extension becomes an alt branch at the step it extends.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571500" y="331470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47700" y="33528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895350" y="331470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Leave everything else off. If no step needs it, it is not on the page.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6000750" y="12382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25" name=""/>
          <p:cNvSpPr/>
          <p:nvPr/>
        </p:nvSpPr>
        <p:spPr>
          <a:xfrm rot="0" flipH="0" flipV="0">
            <a:off x="6000750" y="123825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162675" y="138112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The one-to-one rule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162675" y="161925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Seven steps in the scenario, seven messages in the diagram. If the counts differ, you have either merged two steps or invented one.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6000750" y="236220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429" name=""/>
          <p:cNvSpPr/>
          <p:nvPr/>
        </p:nvSpPr>
        <p:spPr>
          <a:xfrm rot="0" flipH="0" flipV="0">
            <a:off x="6000750" y="236220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6162675" y="250507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96F00"/>
                </a:solidFill>
                <a:latin typeface="Microsoft YaHei"/>
                <a:ea typeface="Microsoft YaHei"/>
              </a:rPr>
              <a:t>Where extensions go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6162675" y="274320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An extension is not a second diagram. It is a guarded branch inside the step it extends — that is the entire reason alt exists.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5962650" y="34861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124575" y="3629025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Do not start from the classes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124575" y="3867150"/>
            <a:ext cx="5524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Drawing the diagram from the domain model produces a picture of your model, not of the business. Start from the scenario.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29 / 38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451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6&lt;/Text&gt;&#10;    &lt;/Box&gt;&#10;    &lt;Box style={{ flex: 1, padding: '70px 64px', flexDirection: 'column', justifyContent: 'center' }}&gt;&#10;      &lt;Text style={{ fontSize: 15, color: '#7FA2D6', letterSpacing: 2, marginBottom: 18 }}&gt;PART 6 · LAB · 2 HOURS&lt;/Text&gt;&#10;      &lt;Text style={{ fontSize: 46, fontWeight: 'bold', color: '#FFFFFF', lineHeight: 1.18 }}&gt;Exercise 8.1, 8.2 + M2&lt;/Text&gt;&#10;      &lt;Box style={{ width: 64, height: 4, background: '#FFC107', marginTop: 26, marginBottom: 26 }} /&gt;&#10;      &lt;Box style={{ flexDirection: 'column', gap: 12 }}&gt;&#10;          &lt;Box key=&quot;Demo first: the Place Order diagram, wal&quot; style={{ flexDirection: 'row', alignItems: 'center', gap: 12 }}&gt;&#10;            &lt;Box style={{ width: 8, height: 8, borderRadius: 4, background: '#3D7BD9' }} /&gt;&#10;            &lt;Text style={{ fontSize: 20, color: '#C5D4EA' }}&gt;Demo first: the Place Order diagram, walked through in 25 minutes&lt;/Text&gt;&#10;          &lt;/Box&gt;&#10;          &lt;Box key=&quot;Then read a diagram you did not draw, an&quot; style={{ flexDirection: 'row', alignItems: 'center', gap: 12 }}&gt;&#10;            &lt;Box style={{ width: 8, height: 8, borderRadius: 4, background: '#3D7BD9' }} /&gt;&#10;            &lt;Text style={{ fontSize: 20, color: '#C5D4EA' }}&gt;Then read a diagram you did not draw, and answer six questions&lt;/Text&gt;&#10;          &lt;/Box&gt;&#10;          &lt;Box key=&quot;Then build one yourself, and hand in two&quot; style={{ flexDirection: 'row', alignItems: 'center', gap: 12 }}&gt;&#10;            &lt;Box style={{ width: 8, height: 8, borderRadius: 4, background: '#3D7BD9' }} /&gt;&#10;            &lt;Text style={{ fontSize: 20, color: '#C5D4EA' }}&gt;Then build one yourself, and hand in two for your own project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53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9525" y="2171700"/>
            <a:ext cx="282892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06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3467100" y="22193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6 · LAB · 2 HOURS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3467100" y="25622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Exercise 8.1, 8.2 + M2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3467100" y="34385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58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5638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Demo first: the Place Order diagram, walked through in 25 minutes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34671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3657600" y="4067175"/>
            <a:ext cx="5457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Then read a diagram you did not draw, and answer six questions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3467100" y="4486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3657600" y="4410075"/>
            <a:ext cx="5162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Then build one yourself, and hand in two for your own project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465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LAB&lt;/Text&gt;&#10;  &lt;/Box&gt;&#10;  &lt;Box style={{ padding: '13px 40px 0 40px', flexDirection: 'row', alignItems: 'center', justifyContent: 'space-between' }}&gt;&#10;    &lt;Text style={{ fontSize: 29, fontWeight: 'bold', color: '#0E3F8C' }}&gt;Exercise 8.1 — Read the Diagram, Answer Six Questions&lt;/Text&gt;&#10;    &lt;Text style={{ fontSize: 14, color: '#1E4FA8', fontWeight: 'bold' }}&gt;31 / 38&lt;/Text&gt;&#10;  &lt;/Box&gt;&#10;  &lt;Box style={{ flex: 1, padding: '10px 40px 0 40px', flexDirection: 'column' }}&gt;&#10;    &lt;Box style={{ flexDirection: 'column' }}&gt;&#10;      &lt;CodeBlock language='text' theme='one-dark-pro' style={{ width: '100%', fontSize: 13 }}&gt;&#10;The diagram on the next page shows Place Order with one alt.&#10;&#10;Q1. Which object decides whether the order is accepted?&#10;Q2. How many times does OrderLine receive a message, and from whom?&#10;Q3. What happens to the loop when the cart is empty?&#10;Q4. Which arrows are synchronous, and which carry a return?&#10;Q5. Which class in the diagram never appears in the domain model?&#10;Q6. Name one operation this diagram requires that the domain&#10;    model does not mention anywhere.&#10;&#10;Eight minutes. Individually. No notes.&#10;      &lt;/CodeBlock&gt;&#10;    &lt;Text style={{ fontSize: 13.5, color: '#4A5568', marginTop: 10 }}&gt;The diagram is deliberately imperfect — question 5 and question 6 both depend on you noticing it.&lt;/Text&gt;&#10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1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LAB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74485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Exercise 8.1 — Read the Diagram, Answer Six Questions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31 / 38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381000" y="1743075"/>
            <a:ext cx="1143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The diagram is deliberately imperfect — question 5 and question 6 both depend on you noticing it.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31 / 38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381000" y="1238250"/>
            <a:ext cx="11430000" cy="409575"/>
          </a:xfrm>
          <a:prstGeom prst="roundRect">
            <a:avLst>
              <a:gd name="adj" fmla="val 18605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476" name=""/>
          <p:cNvSpPr txBox="1"/>
          <p:nvPr/>
        </p:nvSpPr>
        <p:spPr>
          <a:xfrm rot="0" flipH="0" flipV="0">
            <a:off x="533400" y="1371600"/>
            <a:ext cx="11125200" cy="142875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</p:txBody>
      </p:sp>
    </p:spTree>
  </p:cSld>
</p:sld>
</file>

<file path=ppt/slides/slide32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477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LAB&lt;/Text&gt;&#10;  &lt;/Box&gt;&#10;  &lt;Box style={{ padding: '13px 40px 0 40px', flexDirection: 'row', alignItems: 'center', justifyContent: 'space-between' }}&gt;&#10;    &lt;Text style={{ fontSize: 29, fontWeight: 'bold', color: '#0E3F8C' }}&gt;Exercise 8.1 — Answers&lt;/Text&gt;&#10;    &lt;Text style={{ fontSize: 14, color: '#1E4FA8', fontWeight: 'bold' }}&gt;32 / 38&lt;/Text&gt;&#10;  &lt;/Box&gt;&#10;  &lt;Box style={{ flex: 1, padding: '10px 40px 0 40px', flexDirection: 'column' }}&gt;&#10;    &lt;Table&#10;      style={{ width: '100%', height: '100%' }}&#10;      defaultTextStyle={{ fontSize: 13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70, 420, 510]}&#10;      cells={[&#10;        [&#10;          { text: '#', textStyle: {bold: true, color: '#FFFFFF', fontSize: 15}, cellStyle: {background: { color: '#0E3F8C' }} },&#10;          { text: 'Answer', textStyle: {bold: true, color: '#FFFFFF', fontSize: 15}, cellStyle: {background: { color: '#1E4FA8' }} },&#10;          { text: 'The point of the question', textStyle: {bold: true, color: '#FFFFFF', fontSize: 15}, cellStyle: {background: { color: '#1E4FA8' }} }&#10;        ],&#10;        [&#10;          { text: 'Q1', textStyle: {color: '#4A5568'}, cellStyle: {} },&#10;          { text: 'PlaceOrderCtrl — inside the alt guard', textStyle: {color: '#4A5568'}, cellStyle: {} },&#10;          { text: 'Decisions live in the control, not in the UI', textStyle: {color: '#4A5568'}, cellStyle: {} }&#10;        ],&#10;        [&#10;          { text: 'Q2', textStyle: {color: '#4A5568'}, cellStyle: {background: { color: '#F7F9FC' }} },&#10;          { text: 'Twice: addLine, then priceOf', textStyle: {color: '#4A5568'}, cellStyle: {background: { color: '#F7F9FC' }} },&#10;          { text: 'Count the arrows before you guess', textStyle: {color: '#4A5568'}, cellStyle: {background: { color: '#F7F9FC' }} }&#10;        ],&#10;        [&#10;          { text: 'Q3', textStyle: {color: '#4A5568'}, cellStyle: {} },&#10;          { text: 'Zero iterations — the loop is skipped', textStyle: {color: '#4A5568'}, cellStyle: {} },&#10;          { text: 'A loop over an empty collection runs zero times', textStyle: {color: '#4A5568'}, cellStyle: {} }&#10;        ],&#10;        [&#10;          { text: 'Q4', textStyle: {color: '#4A5568'}, cellStyle: {background: { color: '#F7F9FC' }} },&#10;          { text: 'All solid; four dashed replies', textStyle: {color: '#4A5568'}, cellStyle: {background: { color: '#F7F9FC' }} },&#10;          { text: 'Everything here is a synchronous call', textStyle: {color: '#4A5568'}, cellStyle: {background: { color: '#F7F9FC' }} }&#10;        ],&#10;        [&#10;          { text: 'Q5', textStyle: {color: '#4A5568'}, cellStyle: {} },&#10;          { text: 'PlaceOrderCtrl — it is new in W08', textStyle: {color: '#4A5568'}, cellStyle: {} },&#10;          { text: 'Controllers appear when you open the black box', textStyle: {color: '#4A5568'}, cellStyle: {} }&#10;        ],&#10;        [&#10;          { text: 'Q6', textStyle: {color: '#4A5568'}, cellStyle: {background: { color: '#F7F9FC' }} },&#10;          { text: 'total(), charge(), priceOf()', textStyle: {color: '#4A5568'}, cellStyle: {background: { color: '#F7F9FC' }} },&#10;          { text: 'Behaviours the domain model never names — operation discovery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2 / 38&lt;/Text&gt;&#10;  &lt;/Box&gt;&#10;  &lt;Box style={{ height: 46, background: '#0E3F8C', padding: '0 40px', flexDirection: 'row', alignItems: 'center', justifyContent: 'center' }}&gt;&#10;    &lt;Text style={{ fontSize: 16.5, color: '#FFFFFF', fontWeight: '600' }}&gt;Q6 is the one that matters. Those three names are real methods you will owe someone in W10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LAB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1813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Exercise 8.1 — Answers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32 / 38</a:t>
            </a:r>
            <a:endParaRPr/>
          </a:p>
        </p:txBody>
      </p:sp>
      <p:graphicFrame>
        <p:nvGraphicFramePr>
          <p:cNvPr id="484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486984">
                  <a:extLst>
                    <a:ext uri="{9D8B030D-6E8A-4147-A177-3AD203B41FA5}">
                      <a16:colId val="1"/>
                    </a:ext>
                  </a:extLst>
                </a:gridCol>
                <a:gridCol w="3998206">
                  <a:extLst>
                    <a:ext uri="{9D8B030D-6E8A-4147-A177-3AD203B41FA5}">
                      <a16:colId val="2"/>
                    </a:ext>
                  </a:extLst>
                </a:gridCol>
                <a:gridCol w="694481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75543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Answer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The point of the question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Q1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PlaceOrderCtrl — inside the alt guard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Decisions live in the control, not in the UI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Q2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Twice: addLine, then priceOf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Count the arrows before you guess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Q3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Zero iterations — the loop is skipped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loop over an empty collection runs zero times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Q4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All solid; four dashed replies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Everything here is a synchronous call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Q5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PlaceOrderCtrl — it is new in W08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Controllers appear when you open the black box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Q6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total(), charge(), priceOf()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Behaviours the domain model never names — operation discovery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32 / 38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2571750" y="6543675"/>
            <a:ext cx="704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Q6 is the one that matters. Those three names are real methods you will owe someone in W10.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489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LAB&lt;/Text&gt;&#10;  &lt;/Box&gt;&#10;  &lt;Box style={{ padding: '13px 40px 0 40px', flexDirection: 'row', alignItems: 'center', justifyContent: 'space-between' }}&gt;&#10;    &lt;Text style={{ fontSize: 29, fontWeight: 'bold', color: '#0E3F8C' }}&gt;Exercise 8.2 — Seven Steps and One Extension&lt;/Text&gt;&#10;    &lt;Text style={{ fontSize: 14, color: '#1E4FA8', fontWeight: 'bold' }}&gt;33 / 38&lt;/Text&gt;&#10;  &lt;/Box&gt;&#10;  &lt;Box style={{ flex: 1, padding: '10px 40px 0 40px', flexDirection: 'column' }}&gt;&#10;    &lt;Box style={{ flexDirection: 'column' }}&gt;&#10;      &lt;CodeBlock language='text' theme='one-dark-pro' style={{ width: '100%', fontSize: 13 }}&gt;&#10;Main success scenario — Cancel Order:&#10;&#10;1  The student opens their order list.&#10;2  The system shows the orders that are still active.&#10;3  The student selects one order to cancel.&#10;4  The system checks the order state.&#10;5  The system marks the order Cancelled and releases the courier.&#10;6  The system refunds the payment.&#10;7  The system confirms the cancellation.&#10;&#10;Extension 3a  The order has already been delivered.&#10;   The system refuses and explains why.&#10;&#10;Extension 6a  The payment was cash on delivery.&#10;   There is nothing to refund.&#10;&#10;Task: draw the diagram. One alt for 3a, one for 6a.&#10;      &lt;/CodeBlock&gt;&#10;    &lt;Text style={{ fontSize: 13.5, color: '#4A5568', marginTop: 10 }}&gt;Twenty-five minutes in pairs. Then walk each other's diagrams and find one thing that is wrong.&lt;/Text&gt;&#10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3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LAB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625792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Exercise 8.2 — Seven Steps and One Extension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33 / 38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381000" y="1743075"/>
            <a:ext cx="1143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Twenty-five minutes in pairs. Then walk each other's diagrams and find one thing that is wrong.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33 / 38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381000" y="1238250"/>
            <a:ext cx="11430000" cy="409575"/>
          </a:xfrm>
          <a:prstGeom prst="roundRect">
            <a:avLst>
              <a:gd name="adj" fmla="val 18605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500" name=""/>
          <p:cNvSpPr txBox="1"/>
          <p:nvPr/>
        </p:nvSpPr>
        <p:spPr>
          <a:xfrm rot="0" flipH="0" flipV="0">
            <a:off x="533400" y="1371600"/>
            <a:ext cx="11125200" cy="142875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</p:txBody>
      </p:sp>
    </p:spTree>
  </p:cSld>
</p:sld>
</file>

<file path=ppt/slides/slide34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501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LAB&lt;/Text&gt;&#10;  &lt;/Box&gt;&#10;  &lt;Box style={{ padding: '13px 40px 0 40px', flexDirection: 'row', alignItems: 'center', justifyContent: 'space-between' }}&gt;&#10;    &lt;Text style={{ fontSize: 29, fontWeight: 'bold', color: '#0E3F8C' }}&gt;Where the Two Extensions Go&lt;/Text&gt;&#10;    &lt;Text style={{ fontSize: 14, color: '#1E4FA8', fontWeight: 'bold' }}&gt;34 / 38&lt;/Text&gt;&#10;  &lt;/Box&gt;&#10;  &lt;Box style={{ flex: 1, padding: '10px 40px 0 40px', flexDirection: 'column' }}&gt;&#10;    &lt;Table&#10;      style={{ width: '100%', height: '100%' }}&#10;      defaultTextStyle={{ fontSize: 13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250, 400, 350]}&#10;      cells={[&#10;        [&#10;          { text: 'Extension', textStyle: {bold: true, color: '#FFFFFF', fontSize: 15}, cellStyle: {background: { color: '#0E3F8C' }} },&#10;          { text: 'Becomes', textStyle: {bold: true, color: '#FFFFFF', fontSize: 15}, cellStyle: {background: { color: '#1E4FA8' }} },&#10;          { text: 'Why there and nowhere else', textStyle: {bold: true, color: '#FFFFFF', fontSize: 15}, cellStyle: {background: { color: '#1E4FA8' }} }&#10;        ],&#10;        [&#10;          { text: '3a  already delivered', textStyle: {color: '#4A5568'}, cellStyle: {} },&#10;          { text: 'alt around step 4, guarded by [state = Delivered]', textStyle: {color: '#4A5568'}, cellStyle: {} },&#10;          { text: 'It extends the check, so it belongs where the check happens', textStyle: {color: '#4A5568'}, cellStyle: {} }&#10;        ],&#10;        [&#10;          { text: '6a  cash on delivery', textStyle: {color: '#4A5568'}, cellStyle: {background: { color: '#F7F9FC' }} },&#10;          { text: 'alt around step 6, guarded by [method = cash]', textStyle: {color: '#4A5568'}, cellStyle: {background: { color: '#F7F9FC' }} },&#10;          { text: 'It extends the refund, not the cancellation', textStyle: {color: '#4A5568'}, cellStyle: {background: { color: '#F7F9FC' }} }&#10;        ],&#10;        [&#10;          { text: 'Both of them', textStyle: {color: '#4A5568'}, cellStyle: {} },&#10;          { text: 'not two extra lifelines', textStyle: {color: '#4A5568'}, cellStyle: {} },&#10;          { text: 'An extension is a branch in time, not a new object', textStyle: {color: '#4A5568'}, cellStyle: {} }&#10;        ],&#10;        [&#10;          { text: 'The confirmation (7)', textStyle: {color: '#4A5568'}, cellStyle: {background: { color: '#F7F9FC' }} },&#10;          { text: 'outside both frames', textStyle: {color: '#4A5568'}, cellStyle: {background: { color: '#F7F9FC' }} },&#10;          { text: 'It happens whichever branch ran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4 / 38&lt;/Text&gt;&#10;  &lt;/Box&gt;&#10;  &lt;Box style={{ height: 46, background: '#0E3F8C', padding: '0 40px', flexDirection: 'row', alignItems: 'center', justifyContent: 'center' }}&gt;&#10;    &lt;Text style={{ fontSize: 16.5, color: '#FFFFFF', fontWeight: '600' }}&gt;Getting the frames in the wrong place is the single most common error in this exercise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LAB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9624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Where the Two Extensions Go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34 / 38</a:t>
            </a:r>
            <a:endParaRPr/>
          </a:p>
        </p:txBody>
      </p:sp>
      <p:graphicFrame>
        <p:nvGraphicFramePr>
          <p:cNvPr id="508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1924153">
                  <a:extLst>
                    <a:ext uri="{9D8B030D-6E8A-4147-A177-3AD203B41FA5}">
                      <a16:colId val="1"/>
                    </a:ext>
                  </a:extLst>
                </a:gridCol>
                <a:gridCol w="4237262">
                  <a:extLst>
                    <a:ext uri="{9D8B030D-6E8A-4147-A177-3AD203B41FA5}">
                      <a16:colId val="2"/>
                    </a:ext>
                  </a:extLst>
                </a:gridCol>
                <a:gridCol w="5268585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05140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Extension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Becomes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Why there and nowhere else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3a  already delivered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alt around step 4, guarded by [state = Delivered]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It extends the check, so it belongs where the check happens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6a  cash on delivery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alt around step 6, guarded by [method = cash]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It extends the refund, not the cancellation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Both of them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not two extra lifelines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An extension is a branch in time, not a new object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confirmation (7)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outside both frames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It happens whichever branch ran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34 / 38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2838450" y="6543675"/>
            <a:ext cx="6524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Getting the frames in the wrong place is the single most common error in this exercise.</a:t>
            </a:r>
            <a:endParaRPr/>
          </a:p>
        </p:txBody>
      </p:sp>
    </p:spTree>
  </p:cSld>
</p:sld>
</file>

<file path=ppt/slides/slide35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513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LAB&lt;/Text&gt;&#10;  &lt;/Box&gt;&#10;  &lt;Box style={{ padding: '13px 40px 0 40px', flexDirection: 'row', alignItems: 'center', justifyContent: 'space-between' }}&gt;&#10;    &lt;Text style={{ fontSize: 29, fontWeight: 'bold', color: '#0E3F8C' }}&gt;M2 — What You Submit and When&lt;/Text&gt;&#10;    &lt;Text style={{ fontSize: 14, color: '#1E4FA8', fontWeight: 'bold' }}&gt;35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220, 560, 220]}&#10;      cells={[&#10;        [&#10;          { text: 'Item', textStyle: {bold: true, color: '#FFFFFF', fontSize: 15}, cellStyle: {background: { color: '#0E3F8C' }} },&#10;          { text: 'What it must contain', textStyle: {bold: true, color: '#FFFFFF', fontSize: 15}, cellStyle: {background: { color: '#1E4FA8' }} },&#10;          { text: 'Due', textStyle: {bold: true, color: '#FFFFFF', fontSize: 15}, cellStyle: {background: { color: '#1E4FA8' }} }&#10;        ],&#10;        [&#10;          { text: 'Sequence diagram 1', textStyle: {color: '#4A5568'}, cellStyle: {} },&#10;          { text: 'Your core use case, main scenario plus every extension', textStyle: {color: '#4A5568'}, cellStyle: {} },&#10;          { text: 'W09 lab', textStyle: {color: '#4A5568'}, cellStyle: {} }&#10;        ],&#10;        [&#10;          { text: 'Sequence diagram 2', textStyle: {color: '#4A5568'}, cellStyle: {background: { color: '#F7F9FC' }} },&#10;          { text: 'A second core use case, same standard', textStyle: {color: '#4A5568'}, cellStyle: {background: { color: '#F7F9FC' }} },&#10;          { text: 'W09 lab', textStyle: {color: '#4A5568'}, cellStyle: {background: { color: '#F7F9FC' }} }&#10;        ],&#10;        [&#10;          { text: 'Operation list', textStyle: {color: '#4A5568'}, cellStyle: {} },&#10;          { text: 'Every arrow, as a method name with its owning class', textStyle: {color: '#4A5568'}, cellStyle: {} },&#10;          { text: 'with the diagrams', textStyle: {color: '#4A5568'}, cellStyle: {} }&#10;        ],&#10;        [&#10;          { text: 'Repository state', textStyle: {color: '#4A5568'}, cellStyle: {background: { color: '#F7F9FC' }} },&#10;          { text: 'Diagrams committed, peer review notes attached', textStyle: {color: '#4A5568'}, cellStyle: {background: { color: '#F7F9FC' }} },&#10;          { text: 'end of lab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5 / 38&lt;/Text&gt;&#10;  &lt;/Box&gt;&#10;  &lt;Box style={{ height: 46, background: '#0E3F8C', padding: '0 40px', flexDirection: 'row', alignItems: 'center', justifyContent: 'center' }}&gt;&#10;    &lt;Text style={{ fontSize: 16.5, color: '#FFFFFF', fontWeight: '600' }}&gt;M2 is reviewed at the mid-term in W09. The operation list is what the reviewer checks first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LAB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4767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M2 — What You Submit and When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35 / 38</a:t>
            </a:r>
            <a:endParaRPr/>
          </a:p>
        </p:txBody>
      </p:sp>
      <p:graphicFrame>
        <p:nvGraphicFramePr>
          <p:cNvPr id="520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2590903">
                  <a:extLst>
                    <a:ext uri="{9D8B030D-6E8A-4147-A177-3AD203B41FA5}">
                      <a16:colId val="1"/>
                    </a:ext>
                  </a:extLst>
                </a:gridCol>
                <a:gridCol w="6613924">
                  <a:extLst>
                    <a:ext uri="{9D8B030D-6E8A-4147-A177-3AD203B41FA5}">
                      <a16:colId val="2"/>
                    </a:ext>
                  </a:extLst>
                </a:gridCol>
                <a:gridCol w="2225173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02336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Item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What it must contain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Due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Sequence diagram 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Your core use case, main scenario plus every extension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W09 lab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Sequence diagram 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second core use case, same standard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W09 lab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Operation list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Every arrow, as a method name with its owning class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with the diagrams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Repository state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Diagrams committed, peer review notes attached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end of lab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35 / 38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2733675" y="6543675"/>
            <a:ext cx="6734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M2 is reviewed at the mid-term in W09. The operation list is what the reviewer checks first.</a:t>
            </a:r>
            <a:endParaRPr/>
          </a:p>
        </p:txBody>
      </p:sp>
    </p:spTree>
  </p:cSld>
</p:sld>
</file>

<file path=ppt/slides/slide36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525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LAB&lt;/Text&gt;&#10;  &lt;/Box&gt;&#10;  &lt;Box style={{ padding: '13px 40px 0 40px', flexDirection: 'row', alignItems: 'center', justifyContent: 'space-between' }}&gt;&#10;    &lt;Text style={{ fontSize: 29, fontWeight: 'bold', color: '#0E3F8C' }}&gt;Model Review Before You Commit — Six Questions&lt;/Text&gt;&#10;    &lt;Text style={{ fontSize: 14, color: '#1E4FA8', fontWeight: 'bold' }}&gt;36 / 38&lt;/Text&gt;&#10;  &lt;/Box&gt;&#10;  &lt;Box style={{ flex: 1, padding: '10px 40px 0 40px', flexDirection: 'column' }}&gt;&#10;    &lt;Table&#10;      style={{ width: '100%', height: '100%' }}&#10;      defaultTextStyle={{ fontSize: 13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60, 520, 470]}&#10;      cells={[&#10;        [&#10;          { text: '#', textStyle: {bold: true, color: '#FFFFFF', fontSize: 15}, cellStyle: {background: { color: '#0E3F8C' }} },&#10;          { text: 'Question', textStyle: {bold: true, color: '#FFFFFF', fontSize: 15}, cellStyle: {background: { color: '#1E4FA8' }} },&#10;          { text: 'The wrong answer sounds like', textStyle: {bold: true, color: '#FFFFFF', fontSize: 15}, cellStyle: {background: { color: '#1E4FA8' }} }&#10;        ],&#10;        [&#10;          { text: '1', textStyle: {color: '#4A5568'}, cellStyle: {} },&#10;          { text: 'Is every lifeline on the page because something messages it?', textStyle: {color: '#4A5568'}, cellStyle: {} },&#10;          { text: '«it is in the domain model»', textStyle: {color: '#4A5568'}, cellStyle: {} }&#10;        ],&#10;        [&#10;          { text: '2', textStyle: {color: '#4A5568'}, cellStyle: {background: { color: '#F7F9FC' }} },&#10;          { text: 'Does every synchronous call have an answer?', textStyle: {color: '#4A5568'}, cellStyle: {background: { color: '#F7F9FC' }} },&#10;          { text: '«it returns something later»', textStyle: {color: '#4A5568'}, cellStyle: {background: { color: '#F7F9FC' }} }&#10;        ],&#10;        [&#10;          { text: '3', textStyle: {color: '#4A5568'}, cellStyle: {} },&#10;          { text: 'Do layers talk in the right order?', textStyle: {color: '#4A5568'}, cellStyle: {} },&#10;          { text: '«the UI needs the data so it asks directly»', textStyle: {color: '#4A5568'}, cellStyle: {} }&#10;        ],&#10;        [&#10;          { text: '4', textStyle: {color: '#4A5568'}, cellStyle: {background: { color: '#F7F9FC' }} },&#10;          { text: 'Does every frame contain the messages it governs?', textStyle: {color: '#4A5568'}, cellStyle: {background: { color: '#F7F9FC' }} },&#10;          { text: '«the condition is on the other side»', textStyle: {color: '#4A5568'}, cellStyle: {background: { color: '#F7F9FC' }} }&#10;        ],&#10;        [&#10;          { text: '5', textStyle: {color: '#4A5568'}, cellStyle: {} },&#10;          { text: 'Is every guard a condition the business recognises?', textStyle: {color: '#4A5568'}, cellStyle: {} },&#10;          { text: '«the system checks stuff»', textStyle: {color: '#4A5568'}, cellStyle: {} }&#10;        ],&#10;        [&#10;          { text: '6', textStyle: {color: '#4A5568'}, cellStyle: {background: { color: '#F7F9FC' }} },&#10;          { text: 'Can you name the method behind every arrow?', textStyle: {color: '#4A5568'}, cellStyle: {background: { color: '#F7F9FC' }} },&#10;          { text: '«it just gets the data»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6 / 38&lt;/Text&gt;&#10;  &lt;/Box&gt;&#10;  &lt;Box style={{ height: 46, background: '#0E3F8C', padding: '0 40px', flexDirection: 'row', alignItems: 'center', justifyContent: 'center' }}&gt;&#10;    &lt;Text style={{ fontSize: 16.5, color: '#FFFFFF', fontWeight: '600' }}&gt;Question 6 is the bridge to W10. If you cannot answer it for one arrow, that arrow does not belong on the page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LAB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67341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Model Review Before You Commit — Six Questions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36 / 38</a:t>
            </a:r>
            <a:endParaRPr/>
          </a:p>
        </p:txBody>
      </p:sp>
      <p:graphicFrame>
        <p:nvGraphicFramePr>
          <p:cNvPr id="532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334905">
                  <a:extLst>
                    <a:ext uri="{9D8B030D-6E8A-4147-A177-3AD203B41FA5}">
                      <a16:colId val="1"/>
                    </a:ext>
                  </a:extLst>
                </a:gridCol>
                <a:gridCol w="6564868">
                  <a:extLst>
                    <a:ext uri="{9D8B030D-6E8A-4147-A177-3AD203B41FA5}">
                      <a16:colId val="2"/>
                    </a:ext>
                  </a:extLst>
                </a:gridCol>
                <a:gridCol w="4530227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75543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Question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The wrong answer sounds like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Is every lifeline on the page because something messages it?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«it is in the domain model»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Does every synchronous call have an answer?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«it returns something later»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 layers talk in the right order?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«the UI needs the data so it asks directly»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Does every frame contain the messages it governs?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«the condition is on the other side»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Is every guard a condition the business recognises?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«the system checks stuff»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683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Can you name the method behind every arrow?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«it just gets the data»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36 / 38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1971675" y="6543675"/>
            <a:ext cx="8258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Question 6 is the bridge to W10. If you cannot answer it for one arrow, that arrow does not belong on the page.</a:t>
            </a:r>
            <a:endParaRPr/>
          </a:p>
        </p:txBody>
      </p:sp>
    </p:spTree>
  </p:cSld>
</p:sld>
</file>

<file path=ppt/slides/slide37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537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8 · LAB&lt;/Text&gt;&#10;  &lt;/Box&gt;&#10;  &lt;Box style={{ padding: '13px 40px 0 40px', flexDirection: 'row', alignItems: 'center', justifyContent: 'space-between' }}&gt;&#10;    &lt;Text style={{ fontSize: 29, fontWeight: 'bold', color: '#0E3F8C' }}&gt;Five Things To Take Home&lt;/Text&gt;&#10;    &lt;Text style={{ fontSize: 14, color: '#1E4FA8', fontWeight: 'bold' }}&gt;37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60, 420, 570]}&#10;      cells={[&#10;        [&#10;          { text: '#', textStyle: {bold: true, color: '#FFFFFF', fontSize: 15}, cellStyle: {background: { color: '#0E3F8C' }} },&#10;          { text: 'Take-home', textStyle: {bold: true, color: '#FFFFFF', fontSize: 15}, cellStyle: {background: { color: '#1E4FA8' }} },&#10;          { text: 'Because', textStyle: {bold: true, color: '#FFFFFF', fontSize: 15}, cellStyle: {background: { color: '#1E4FA8' }} }&#10;        ],&#10;        [&#10;          { text: '01', textStyle: {color: '#4A5568'}, cellStyle: {} },&#10;          { text: 'Time flows down, and nowhere else', textStyle: {color: '#4A5568'}, cellStyle: {} },&#10;          { text: 'Horizontal position is layout, never meaning', textStyle: {color: '#4A5568'}, cellStyle: {} }&#10;        ],&#10;        [&#10;          { text: '02', textStyle: {color: '#4A5568'}, cellStyle: {background: { color: '#F7F9FC' }} },&#10;          { text: 'The box opens: boundary, control, entity', textStyle: {color: '#4A5568'}, cellStyle: {background: { color: '#F7F9FC' }} },&#10;          { text: 'The same three roles from W06, now in conversation', textStyle: {color: '#4A5568'}, cellStyle: {background: { color: '#F7F9FC' }} }&#10;        ],&#10;        [&#10;          { text: '03', textStyle: {color: '#4A5568'}, cellStyle: {} },&#10;          { text: 'A fragment is a region, not a jump', textStyle: {color: '#4A5568'}, cellStyle: {} },&#10;          { text: 'If you need to jump, draw a second diagram', textStyle: {color: '#4A5568'}, cellStyle: {} }&#10;        ],&#10;        [&#10;          { text: '04', textStyle: {color: '#4A5568'}, cellStyle: {background: { color: '#F7F9FC' }} },&#10;          { text: 'Guards are business sentences', textStyle: {color: '#4A5568'}, cellStyle: {background: { color: '#F7F9FC' }} },&#10;          { text: 'If it needs a paragraph, the use case is not understood', textStyle: {color: '#4A5568'}, cellStyle: {background: { color: '#F7F9FC' }} }&#10;        ],&#10;        [&#10;          { text: '05', textStyle: {color: '#4A5568'}, cellStyle: {} },&#10;          { text: 'Every arrow is a method you owe someone', textStyle: {color: '#4A5568'}, cellStyle: {} },&#10;          { text: 'That debt comes due in W10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7 / 38&lt;/Text&gt;&#10;  &lt;/Box&gt;&#10;  &lt;Box style={{ height: 46, background: '#0E3F8C', padding: '0 40px', flexDirection: 'row', alignItems: 'center', justifyContent: 'center' }}&gt;&#10;    &lt;Text style={{ fontSize: 16.5, color: '#FFFFFF', fontWeight: '600' }}&gt;Next week the timeline changes shape: states, events and what happens inside one object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W08 · LAB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4671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Five Things To Take Home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37 / 38</a:t>
            </a:r>
            <a:endParaRPr/>
          </a:p>
        </p:txBody>
      </p:sp>
      <p:graphicFrame>
        <p:nvGraphicFramePr>
          <p:cNvPr id="544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463868">
                  <a:extLst>
                    <a:ext uri="{9D8B030D-6E8A-4147-A177-3AD203B41FA5}">
                      <a16:colId val="1"/>
                    </a:ext>
                  </a:extLst>
                </a:gridCol>
                <a:gridCol w="4866991">
                  <a:extLst>
                    <a:ext uri="{9D8B030D-6E8A-4147-A177-3AD203B41FA5}">
                      <a16:colId val="2"/>
                    </a:ext>
                  </a:extLst>
                </a:gridCol>
                <a:gridCol w="6099141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85470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Take-home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Because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Time flows down, and nowhere else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Horizontal position is layout, never meaning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box opens: boundary, control, entity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same three roles from W06, now in conversation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fragment is a region, not a jump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If you need to jump, draw a second 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Guards are business sentences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If it needs a paragraph, the use case is not understood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Every arrow is a method you owe someone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That debt comes due in W10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37 / 38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2705100" y="6543675"/>
            <a:ext cx="6791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Next week the timeline changes shape: states, events and what happens inside one object.</a:t>
            </a:r>
            <a:endParaRPr/>
          </a:p>
        </p:txBody>
      </p:sp>
    </p:spTree>
  </p:cSld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549" name="" descr="&lt;Slide style={{ background: '#0E3F8C', padding: 0 }}&gt;&#10;  &lt;Box style={{ flexDirection: 'column', height: '100%', position: 'relative', padding: '0 80px', justifyContent: 'center' }}&gt;&#10;    &lt;Box style={{ position: 'absolute', top: 0, left: 0, right: 0, height: 8, background: '#1E4FA8' }} /&gt;&#10;    &lt;Text style={{ fontSize: 15, color: '#7FA2D6', letterSpacing: 2, marginBottom: 16 }}&gt;WEEK 08 · WHAT YOU TAKE AWAY&lt;/Text&gt;&#10;    &lt;Text style={{ fontSize: 44, fontWeight: 'bold', color: '#FFFFFF', fontFamily: 'Georgia, serif', lineHeight: 1.15 }}&gt;&#10;      Lines became arrows.&lt;br /&gt;Arrows become methods.&#10;    &lt;/Text&gt;&#10;    &lt;Box style={{ width: 88, height: 5, background: '#FFC107', marginTop: 24, marginBottom: 26 }} /&gt;&#10;    &lt;Box style={{ flexDirection: 'row', flexWrap: 'wrap', gap: '12px 28px', marginBottom: 30 }}&gt;&#10;        &lt;Box key=&quot;01 · Time flows down the page only&quot; style={{ flexDirection: 'row', alignItems: 'center', gap: 10, width: '48%' }}&gt;&#10;          &lt;Box style={{ width: 7, height: 7, borderRadius: 4, background: '#3D7BD9' }} /&gt;&#10;          &lt;Text style={{ fontSize: 15.5, color: '#C5D4EA' }}&gt;01 · Time flows down the page only&lt;/Text&gt;&#10;        &lt;/Box&gt;&#10;        &lt;Box key=&quot;02 · Open the box: boundary, control&quot; style={{ flexDirection: 'row', alignItems: 'center', gap: 10, width: '48%' }}&gt;&#10;          &lt;Box style={{ width: 7, height: 7, borderRadius: 4, background: '#3D7BD9' }} /&gt;&#10;          &lt;Text style={{ fontSize: 15.5, color: '#C5D4EA' }}&gt;02 · Open the box: boundary, control, entity&lt;/Text&gt;&#10;        &lt;/Box&gt;&#10;        &lt;Box key=&quot;03 · alt, loop, opt, par — and nothi&quot; style={{ flexDirection: 'row', alignItems: 'center', gap: 10, width: '48%' }}&gt;&#10;          &lt;Box style={{ width: 7, height: 7, borderRadius: 4, background: '#3D7BD9' }} /&gt;&#10;          &lt;Text style={{ fontSize: 15.5, color: '#C5D4EA' }}&gt;03 · alt, loop, opt, par — and nothing else&lt;/Text&gt;&#10;        &lt;/Box&gt;&#10;        &lt;Box key=&quot;04 · A frame is a region, never a go&quot; style={{ flexDirection: 'row', alignItems: 'center', gap: 10, width: '48%' }}&gt;&#10;          &lt;Box style={{ width: 7, height: 7, borderRadius: 4, background: '#3D7BD9' }} /&gt;&#10;          &lt;Text style={{ fontSize: 15.5, color: '#C5D4EA' }}&gt;04 · A frame is a region, never a goto&lt;/Text&gt;&#10;        &lt;/Box&gt;&#10;        &lt;Box key=&quot;05 · Every arrow is a method you wil&quot; style={{ flexDirection: 'row', alignItems: 'center', gap: 10, width: '48%' }}&gt;&#10;          &lt;Box style={{ width: 7, height: 7, borderRadius: 4, background: '#3D7BD9' }} /&gt;&#10;          &lt;Text style={{ fontSize: 15.5, color: '#C5D4EA' }}&gt;05 · Every arrow is a method you will owe in W10&lt;/Text&gt;&#10;        &lt;/Box&gt;&#10;        &lt;Box key=&quot;06 · M2: two diagrams, plus the oper&quot; style={{ flexDirection: 'row', alignItems: 'center', gap: 10, width: '48%' }}&gt;&#10;          &lt;Box style={{ width: 7, height: 7, borderRadius: 4, background: '#3D7BD9' }} /&gt;&#10;          &lt;Text style={{ fontSize: 15.5, color: '#C5D4EA' }}&gt;06 · M2: two diagrams, plus the operation list&lt;/Text&gt;&#10;        &lt;/Box&gt;&#10;    &lt;/Box&gt;&#10;    &lt;Box style={{ borderTop: '1px solid #2B5793', paddingTop: 20, flexDirection: 'row', justifyContent: 'space-between', alignItems: 'center' }}&gt;&#10;      &lt;Box style={{ flex: 1 }}&gt;&#10;        &lt;Text style={{ fontSize: 14, color: '#7FA2D6', letterSpacing: 1, marginBottom: 6 }}&gt;NEXT WEEK — W09&lt;/Text&gt;&#10;        &lt;Text style={{ fontSize: 19, color: '#FFFFFF', fontWeight: '600' }}&gt;&#10;          Behavior Modeling II: state and activity diagrams, plus the mid-term review&#10;        &lt;/Text&gt;&#10;      &lt;/Box&gt;&#10;      &lt;Box style={{ padding: '10px 22px', background: '#1E4FA8', borderRadius: 22 }}&gt;&#10;        &lt;Text style={{ fontSize: 15, color: '#FFFFFF', fontWeight: 'bold' }}&gt;Questions?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762000" y="1581150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WEEK 08 · WHAT YOU TAKE AWAY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762000" y="1905000"/>
            <a:ext cx="10668000" cy="11620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300" b="1">
                <a:solidFill>
                  <a:srgbClr val="FFFFFF"/>
                </a:solidFill>
                <a:latin typeface="Georgia"/>
                <a:ea typeface="Georgia"/>
              </a:rPr>
              <a:t>Lines became arrows.</a:t>
            </a:r>
            <a:endParaRPr/>
          </a:p>
          <a:p>
            <a:pPr>
              <a:lnSpc>
                <a:spcPct val="114999"/>
              </a:lnSpc>
            </a:pPr>
            <a:r>
              <a:rPr lang="en-US" sz="3300" b="1">
                <a:solidFill>
                  <a:srgbClr val="FFFFFF"/>
                </a:solidFill>
                <a:latin typeface="Georgia"/>
                <a:ea typeface="Georgia"/>
              </a:rPr>
              <a:t>Arrows become methods.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762000" y="3295650"/>
            <a:ext cx="8382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54" name=""/>
          <p:cNvSpPr/>
          <p:nvPr/>
        </p:nvSpPr>
        <p:spPr>
          <a:xfrm rot="0" flipH="0" flipV="0">
            <a:off x="762000" y="364807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923925" y="3590925"/>
            <a:ext cx="23241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01 · Time flows down the page only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6000750" y="364807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162675" y="3590925"/>
            <a:ext cx="28289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02 · Open the box: boundary, control, entity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762000" y="39433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923925" y="3886200"/>
            <a:ext cx="27146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03 · alt, loop, opt, par — and nothing else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6000750" y="39433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162675" y="3886200"/>
            <a:ext cx="24384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04 · A frame is a region, never a goto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762000" y="42386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923925" y="4181475"/>
            <a:ext cx="322897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05 · Every arrow is a method you will owe in W10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6000750" y="42386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6162675" y="4181475"/>
            <a:ext cx="29432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06 · M2: two diagrams, plus the operation list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762000" y="4648200"/>
            <a:ext cx="10668000" cy="647700"/>
          </a:xfrm>
          <a:custGeom>
            <a:pathLst>
              <a:path w="1120" h="68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762000" y="4848225"/>
            <a:ext cx="945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7FA2D6"/>
                </a:solidFill>
                <a:latin typeface="Microsoft YaHei"/>
                <a:ea typeface="Microsoft YaHei"/>
              </a:rPr>
              <a:t>NEXT WEEK — W09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762000" y="5067300"/>
            <a:ext cx="9458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Behavior Modeling II: state and activity diagrams, plus the mid-term review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10220325" y="4886325"/>
            <a:ext cx="1209675" cy="361950"/>
          </a:xfrm>
          <a:prstGeom prst="roundRect">
            <a:avLst>
              <a:gd name="adj" fmla="val 5789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10429875" y="49815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Questions?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2026-10-15T10:02:01Z</dcterms:created>
  <dcterms:modified xsi:type="dcterms:W3CDTF">2026-10-15T10:02:01Z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{"AIGC":{"Label":"1","ContentProducer":"00119111010856365494821B355","ProduceID":"01a13d336074717894a44669972eb3e9","ReservedCode1":"","ContentPropagator":"00119111010856365494821B355","PropagateID":"01a13d336074717894a44669972eb3e9","ReservedCode2":""}}</vt:lpwstr>
  </property>
</Properties>
</file>
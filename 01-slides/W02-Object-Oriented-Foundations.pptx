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11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38.xml" ContentType="application/vnd.openxmlformats-officedocument.presentationml.slide+xml"/>
  <Override PartName="/ppt/slides/slide13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23.xml" ContentType="application/vnd.openxmlformats-officedocument.presentationml.slide+xml"/>
  <Override PartName="/ppt/slides/slide1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9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slides/slide7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30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slides/slide31.xml" ContentType="application/vnd.openxmlformats-officedocument.presentationml.slide+xml"/>
  <Override PartName="/ppt/slides/slide33.xml" ContentType="application/vnd.openxmlformats-officedocument.presentationml.slide+xml"/>
  <Override PartName="/ppt/slides/slide37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4.xml" ContentType="application/vnd.openxmlformats-officedocument.presentationml.slide+xml"/>
  <Override PartName="/ppt/slides/slide16.xml" ContentType="application/vnd.openxmlformats-officedocument.presentationml.slide+xml"/>
  <Override PartName="/docProps/core.xml" ContentType="application/vnd.openxmlformats-package.core-properties+xml"/>
  <Override PartName="/ppt/slides/slide36.xml" ContentType="application/vnd.openxmlformats-officedocument.presentationml.slide+xml"/>
  <Override PartName="/ppt/presentation.xml" ContentType="application/vnd.openxmlformats-officedocument.presentationml.presentation.main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4.xml" ContentType="application/vnd.openxmlformats-officedocument.presentationml.slide+xml"/>
  <Override PartName="/ppt/slides/slide35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7" Type="http://schemas.openxmlformats.org/officeDocument/2006/relationships/slide" Target="slides/slide7.xml" /><Relationship Id="rId41" Type="http://schemas.openxmlformats.org/officeDocument/2006/relationships/tableStyles" Target="tableStyles.xml" /><Relationship Id="rId37" Type="http://schemas.openxmlformats.org/officeDocument/2006/relationships/slide" Target="slides/slide37.xml" /><Relationship Id="rId36" Type="http://schemas.openxmlformats.org/officeDocument/2006/relationships/slide" Target="slides/slide36.xml" /><Relationship Id="rId35" Type="http://schemas.openxmlformats.org/officeDocument/2006/relationships/slide" Target="slides/slide35.xml" /><Relationship Id="rId34" Type="http://schemas.openxmlformats.org/officeDocument/2006/relationships/slide" Target="slides/slide34.xml" /><Relationship Id="rId33" Type="http://schemas.openxmlformats.org/officeDocument/2006/relationships/slide" Target="slides/slide33.xml" /><Relationship Id="rId32" Type="http://schemas.openxmlformats.org/officeDocument/2006/relationships/slide" Target="slides/slide32.xml" /><Relationship Id="rId4" Type="http://schemas.openxmlformats.org/officeDocument/2006/relationships/slide" Target="slides/slide4.xml" /><Relationship Id="rId31" Type="http://schemas.openxmlformats.org/officeDocument/2006/relationships/slide" Target="slides/slide31.xml" /><Relationship Id="rId30" Type="http://schemas.openxmlformats.org/officeDocument/2006/relationships/slide" Target="slides/slide30.xml" /><Relationship Id="rId3" Type="http://schemas.openxmlformats.org/officeDocument/2006/relationships/slide" Target="slides/slide3.xml" /><Relationship Id="rId29" Type="http://schemas.openxmlformats.org/officeDocument/2006/relationships/slide" Target="slides/slide29.xml" /><Relationship Id="rId22" Type="http://schemas.openxmlformats.org/officeDocument/2006/relationships/slide" Target="slides/slide22.xml" /><Relationship Id="rId24" Type="http://schemas.openxmlformats.org/officeDocument/2006/relationships/slide" Target="slides/slide24.xml" /><Relationship Id="rId27" Type="http://schemas.openxmlformats.org/officeDocument/2006/relationships/slide" Target="slides/slide27.xml" /><Relationship Id="rId25" Type="http://schemas.openxmlformats.org/officeDocument/2006/relationships/slide" Target="slides/slide25.xml" /><Relationship Id="rId26" Type="http://schemas.openxmlformats.org/officeDocument/2006/relationships/slide" Target="slides/slide26.xml" /><Relationship Id="rId20" Type="http://schemas.openxmlformats.org/officeDocument/2006/relationships/slide" Target="slides/slide20.xml" /><Relationship Id="rId6" Type="http://schemas.openxmlformats.org/officeDocument/2006/relationships/slide" Target="slides/slide6.xml" /><Relationship Id="rId14" Type="http://schemas.openxmlformats.org/officeDocument/2006/relationships/slide" Target="slides/slide14.xml" /><Relationship Id="rId19" Type="http://schemas.openxmlformats.org/officeDocument/2006/relationships/slide" Target="slides/slide19.xml" /><Relationship Id="rId39" Type="http://schemas.openxmlformats.org/officeDocument/2006/relationships/notesMaster" Target="notesMasters/notesMaster1.xml" /><Relationship Id="rId1" Type="http://schemas.openxmlformats.org/officeDocument/2006/relationships/slide" Target="slides/slide1.xml" /><Relationship Id="rId18" Type="http://schemas.openxmlformats.org/officeDocument/2006/relationships/slide" Target="slides/slide18.xml" /><Relationship Id="rId23" Type="http://schemas.openxmlformats.org/officeDocument/2006/relationships/slide" Target="slides/slide23.xml" /><Relationship Id="rId17" Type="http://schemas.openxmlformats.org/officeDocument/2006/relationships/slide" Target="slides/slide17.xml" /><Relationship Id="rId8" Type="http://schemas.openxmlformats.org/officeDocument/2006/relationships/slide" Target="slides/slide8.xml" /><Relationship Id="rId42" Type="http://schemas.openxmlformats.org/officeDocument/2006/relationships/viewProps" Target="viewProps.xml" /><Relationship Id="rId10" Type="http://schemas.openxmlformats.org/officeDocument/2006/relationships/slide" Target="slides/slide10.xml" /><Relationship Id="rId2" Type="http://schemas.openxmlformats.org/officeDocument/2006/relationships/slide" Target="slides/slide2.xml" /><Relationship Id="rId13" Type="http://schemas.openxmlformats.org/officeDocument/2006/relationships/slide" Target="slides/slide13.xml" /><Relationship Id="rId38" Type="http://schemas.openxmlformats.org/officeDocument/2006/relationships/slide" Target="slides/slide38.xml" /><Relationship Id="rId16" Type="http://schemas.openxmlformats.org/officeDocument/2006/relationships/slide" Target="slides/slide16.xml" /><Relationship Id="rId15" Type="http://schemas.openxmlformats.org/officeDocument/2006/relationships/slide" Target="slides/slide15.xml" /><Relationship Id="rId12" Type="http://schemas.openxmlformats.org/officeDocument/2006/relationships/slide" Target="slides/slide12.xml" /><Relationship Id="rId28" Type="http://schemas.openxmlformats.org/officeDocument/2006/relationships/slide" Target="slides/slide28.xml" /><Relationship Id="rId5" Type="http://schemas.openxmlformats.org/officeDocument/2006/relationships/slide" Target="slides/slide5.xml" /><Relationship Id="rId11" Type="http://schemas.openxmlformats.org/officeDocument/2006/relationships/slide" Target="slides/slide11.xml" /><Relationship Id="rId40" Type="http://schemas.openxmlformats.org/officeDocument/2006/relationships/presProps" Target="presProps.xml" /><Relationship Id="rId0" Type="http://schemas.openxmlformats.org/officeDocument/2006/relationships/slideMaster" Target="slideMasters/slideMaster1.xml" /><Relationship Id="rId9" Type="http://schemas.openxmlformats.org/officeDocument/2006/relationships/slide" Target="slides/slide9.xml" /><Relationship Id="rId21" Type="http://schemas.openxmlformats.org/officeDocument/2006/relationships/slide" Target="slides/slide2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4" Type="http://schemas.openxmlformats.org/officeDocument/2006/relationships/image" Target="media/image54.svg" /><Relationship Id="rId2" Type="http://schemas.openxmlformats.org/officeDocument/2006/relationships/image" Target="media/image52.svg" /><Relationship Id="rId5" Type="http://schemas.openxmlformats.org/officeDocument/2006/relationships/image" Target="media/image55.svg" /><Relationship Id="rId1" Type="http://schemas.openxmlformats.org/officeDocument/2006/relationships/image" Target="media/image51.svg" /><Relationship Id="rId3" Type="http://schemas.openxmlformats.org/officeDocument/2006/relationships/image" Target="media/image53.sv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5" Type="http://schemas.openxmlformats.org/officeDocument/2006/relationships/image" Target="media/image17.svg" /><Relationship Id="rId4" Type="http://schemas.openxmlformats.org/officeDocument/2006/relationships/image" Target="media/image38.svg" /><Relationship Id="rId2" Type="http://schemas.openxmlformats.org/officeDocument/2006/relationships/image" Target="media/image36.svg" /><Relationship Id="rId1" Type="http://schemas.openxmlformats.org/officeDocument/2006/relationships/image" Target="media/image56.svg" /><Relationship Id="rId3" Type="http://schemas.openxmlformats.org/officeDocument/2006/relationships/image" Target="media/image37.svg" /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media/image57.svg" /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media/image58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4" Type="http://schemas.openxmlformats.org/officeDocument/2006/relationships/image" Target="media/image5.svg" /><Relationship Id="rId2" Type="http://schemas.openxmlformats.org/officeDocument/2006/relationships/image" Target="media/image3.svg" /><Relationship Id="rId3" Type="http://schemas.openxmlformats.org/officeDocument/2006/relationships/image" Target="media/image4.svg" /><Relationship Id="rId1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2" Type="http://schemas.openxmlformats.org/officeDocument/2006/relationships/image" Target="media/image7.svg" /><Relationship Id="rId3" Type="http://schemas.openxmlformats.org/officeDocument/2006/relationships/image" Target="media/image8.svg" /><Relationship Id="rId1" Type="http://schemas.openxmlformats.org/officeDocument/2006/relationships/image" Target="media/image6.svg" /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2" Type="http://schemas.openxmlformats.org/officeDocument/2006/relationships/image" Target="media/image10.svg" /><Relationship Id="rId3" Type="http://schemas.openxmlformats.org/officeDocument/2006/relationships/image" Target="media/image11.svg" /><Relationship Id="rId1" Type="http://schemas.openxmlformats.org/officeDocument/2006/relationships/image" Target="media/image9.svg" /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2" Type="http://schemas.openxmlformats.org/officeDocument/2006/relationships/image" Target="media/image13.svg" /><Relationship Id="rId1" Type="http://schemas.openxmlformats.org/officeDocument/2006/relationships/image" Target="media/image12.svg" /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4" Type="http://schemas.openxmlformats.org/officeDocument/2006/relationships/image" Target="media/image17.svg" /><Relationship Id="rId2" Type="http://schemas.openxmlformats.org/officeDocument/2006/relationships/image" Target="media/image15.svg" /><Relationship Id="rId3" Type="http://schemas.openxmlformats.org/officeDocument/2006/relationships/image" Target="media/image16.svg" /><Relationship Id="rId1" Type="http://schemas.openxmlformats.org/officeDocument/2006/relationships/image" Target="media/image14.svg" /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2" Type="http://schemas.openxmlformats.org/officeDocument/2006/relationships/image" Target="media/image19.svg" /><Relationship Id="rId1" Type="http://schemas.openxmlformats.org/officeDocument/2006/relationships/image" Target="media/image18.svg" /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image" Target="media/image20.svg" /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2" Type="http://schemas.openxmlformats.org/officeDocument/2006/relationships/image" Target="media/image22.svg" /><Relationship Id="rId1" Type="http://schemas.openxmlformats.org/officeDocument/2006/relationships/image" Target="media/image21.svg" /><Relationship Id="rId3" Type="http://schemas.openxmlformats.org/officeDocument/2006/relationships/image" Target="media/image23.svg" /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3" Type="http://schemas.openxmlformats.org/officeDocument/2006/relationships/image" Target="media/image26.svg" /><Relationship Id="rId2" Type="http://schemas.openxmlformats.org/officeDocument/2006/relationships/image" Target="media/image25.svg" /><Relationship Id="rId1" Type="http://schemas.openxmlformats.org/officeDocument/2006/relationships/image" Target="media/image24.svg" /><Relationship Id="rId4" Type="http://schemas.openxmlformats.org/officeDocument/2006/relationships/image" Target="media/image27.svg" /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2" Type="http://schemas.openxmlformats.org/officeDocument/2006/relationships/image" Target="media/image13.svg" /><Relationship Id="rId1" Type="http://schemas.openxmlformats.org/officeDocument/2006/relationships/image" Target="media/image12.svg" /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4" Type="http://schemas.openxmlformats.org/officeDocument/2006/relationships/image" Target="media/image8.svg" /><Relationship Id="rId2" Type="http://schemas.openxmlformats.org/officeDocument/2006/relationships/image" Target="media/image29.svg" /><Relationship Id="rId1" Type="http://schemas.openxmlformats.org/officeDocument/2006/relationships/image" Target="media/image28.svg" /><Relationship Id="rId3" Type="http://schemas.openxmlformats.org/officeDocument/2006/relationships/image" Target="media/image30.svg" /><Relationship Id="rId0" Type="http://schemas.openxmlformats.org/officeDocument/2006/relationships/slideLayout" Target="../slideLayouts/slideLayout1.xml" /></Relationships>
</file>

<file path=ppt/slides/_rels/slide2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3" Type="http://schemas.openxmlformats.org/officeDocument/2006/relationships/image" Target="media/image5.svg" /><Relationship Id="rId1" Type="http://schemas.openxmlformats.org/officeDocument/2006/relationships/image" Target="media/image12.svg" /><Relationship Id="rId2" Type="http://schemas.openxmlformats.org/officeDocument/2006/relationships/image" Target="media/image13.svg" /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2" Type="http://schemas.openxmlformats.org/officeDocument/2006/relationships/image" Target="media/image31.svg" /><Relationship Id="rId3" Type="http://schemas.openxmlformats.org/officeDocument/2006/relationships/image" Target="media/image13.svg" /><Relationship Id="rId1" Type="http://schemas.openxmlformats.org/officeDocument/2006/relationships/image" Target="media/image12.svg" /><Relationship Id="rId0" Type="http://schemas.openxmlformats.org/officeDocument/2006/relationships/slideLayout" Target="../slideLayouts/slideLayout1.xml" /></Relationships>
</file>

<file path=ppt/slides/_rels/slide2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1.xml.rels><?xml version="1.0" encoding="UTF-8" standalone="yes"?><Relationships xmlns="http://schemas.openxmlformats.org/package/2006/relationships"><Relationship Id="rId4" Type="http://schemas.openxmlformats.org/officeDocument/2006/relationships/image" Target="media/image5.svg" /><Relationship Id="rId3" Type="http://schemas.openxmlformats.org/officeDocument/2006/relationships/image" Target="media/image34.svg" /><Relationship Id="rId2" Type="http://schemas.openxmlformats.org/officeDocument/2006/relationships/image" Target="media/image33.svg" /><Relationship Id="rId1" Type="http://schemas.openxmlformats.org/officeDocument/2006/relationships/image" Target="media/image32.svg" /><Relationship Id="rId0" Type="http://schemas.openxmlformats.org/officeDocument/2006/relationships/slideLayout" Target="../slideLayouts/slideLayout1.xml" 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image" Target="media/image35.svg" /><Relationship Id="rId0" Type="http://schemas.openxmlformats.org/officeDocument/2006/relationships/slideLayout" Target="../slideLayouts/slideLayout1.xml" /></Relationships>
</file>

<file path=ppt/slides/_rels/slide33.xml.rels><?xml version="1.0" encoding="UTF-8" standalone="yes"?><Relationships xmlns="http://schemas.openxmlformats.org/package/2006/relationships"><Relationship Id="rId5" Type="http://schemas.openxmlformats.org/officeDocument/2006/relationships/image" Target="media/image39.svg" /><Relationship Id="rId0" Type="http://schemas.openxmlformats.org/officeDocument/2006/relationships/slideLayout" Target="../slideLayouts/slideLayout1.xml" /><Relationship Id="rId4" Type="http://schemas.openxmlformats.org/officeDocument/2006/relationships/image" Target="media/image17.svg" /><Relationship Id="rId3" Type="http://schemas.openxmlformats.org/officeDocument/2006/relationships/image" Target="media/image38.svg" /><Relationship Id="rId2" Type="http://schemas.openxmlformats.org/officeDocument/2006/relationships/image" Target="media/image37.svg" /><Relationship Id="rId1" Type="http://schemas.openxmlformats.org/officeDocument/2006/relationships/image" Target="media/image36.svg" /></Relationships>
</file>

<file path=ppt/slides/_rels/slide34.xml.rels><?xml version="1.0" encoding="UTF-8" standalone="yes"?><Relationships xmlns="http://schemas.openxmlformats.org/package/2006/relationships"><Relationship Id="rId6" Type="http://schemas.openxmlformats.org/officeDocument/2006/relationships/image" Target="media/image44.svg" /><Relationship Id="rId5" Type="http://schemas.openxmlformats.org/officeDocument/2006/relationships/image" Target="media/image43.svg" /><Relationship Id="rId4" Type="http://schemas.openxmlformats.org/officeDocument/2006/relationships/image" Target="media/image42.svg" /><Relationship Id="rId2" Type="http://schemas.openxmlformats.org/officeDocument/2006/relationships/image" Target="media/image41.svg" /><Relationship Id="rId1" Type="http://schemas.openxmlformats.org/officeDocument/2006/relationships/image" Target="media/image40.svg" /><Relationship Id="rId3" Type="http://schemas.openxmlformats.org/officeDocument/2006/relationships/image" Target="media/image29.svg" /><Relationship Id="rId0" Type="http://schemas.openxmlformats.org/officeDocument/2006/relationships/slideLayout" Target="../slideLayouts/slideLayout1.xml" /></Relationships>
</file>

<file path=ppt/slides/_rels/slide35.xml.rels><?xml version="1.0" encoding="UTF-8" standalone="yes"?><Relationships xmlns="http://schemas.openxmlformats.org/package/2006/relationships"><Relationship Id="rId2" Type="http://schemas.openxmlformats.org/officeDocument/2006/relationships/image" Target="media/image27.svg" /><Relationship Id="rId1" Type="http://schemas.openxmlformats.org/officeDocument/2006/relationships/image" Target="media/image45.svg" /><Relationship Id="rId0" Type="http://schemas.openxmlformats.org/officeDocument/2006/relationships/slideLayout" Target="../slideLayouts/slideLayout1.xml" /></Relationships>
</file>

<file path=ppt/slides/_rels/slide36.xml.rels><?xml version="1.0" encoding="UTF-8" standalone="yes"?><Relationships xmlns="http://schemas.openxmlformats.org/package/2006/relationships"><Relationship Id="rId2" Type="http://schemas.openxmlformats.org/officeDocument/2006/relationships/image" Target="media/image47.svg" /><Relationship Id="rId4" Type="http://schemas.openxmlformats.org/officeDocument/2006/relationships/image" Target="media/image49.svg" /><Relationship Id="rId3" Type="http://schemas.openxmlformats.org/officeDocument/2006/relationships/image" Target="media/image48.svg" /><Relationship Id="rId1" Type="http://schemas.openxmlformats.org/officeDocument/2006/relationships/image" Target="media/image46.svg" /><Relationship Id="rId0" Type="http://schemas.openxmlformats.org/officeDocument/2006/relationships/slideLayout" Target="../slideLayouts/slideLayout1.xml" 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image" Target="media/image50.svg" /><Relationship Id="rId0" Type="http://schemas.openxmlformats.org/officeDocument/2006/relationships/slideLayout" Target="../slideLayouts/slideLayout1.xml" /></Relationships>
</file>

<file path=ppt/slides/_rels/slide3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Box style={{ position: 'absolute', top: 8, left: 0, right: 0, height: 2, background: '#3D7BD9' }} /&gt;&#10;    &lt;Box style={{ flexDirection: 'row', alignItems: 'center', gap: 14, marginBottom: 30 }}&gt;&#10;      &lt;Box style={{ padding: '7px 18px', background: '#3D7BD9', borderRadius: 18 }}&gt;&#10;        &lt;Text style={{ fontSize: 16, color: '#FFFFFF', fontWeight: 'bold', letterSpacing: 2 }}&gt;ISAD · WEEK 02&lt;/Text&gt;&#10;      &lt;/Box&gt;&#10;      &lt;Box style={{ width: 56, height: 1, background: '#5B84C4' }} /&gt;&#10;      &lt;Text style={{ fontSize: 16, color: '#7FA2D6', letterSpacing: 1 }}&gt;MODULE A · FOUNDATIONS&lt;/Text&gt;&#10;    &lt;/Box&gt;&#10;    &lt;Text style={{ fontSize: 58, fontWeight: 'bold', color: '#FFFFFF', fontFamily: 'Georgia, serif', lineHeight: 1.12 }}&gt;&#10;      Object-Oriented&#10;      &lt;br /&gt;&#10;      Foundations&#10;    &lt;/Text&gt;&#10;    &lt;Box style={{ width: 88, height: 5, background: '#FFC107', marginTop: 28, marginBottom: 22 }} /&gt;&#10;    &lt;Text style={{ fontSize: 26, color: '#B9CDF0', lineHeight: 1.45 }}&gt;&#10;      Objects, Encapsulation, Reuse &amp;amp; Polymorphism&#10;    &lt;/Text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Ren Zheng · School of Software Engineering&lt;/Text&gt;&#10;      &lt;Text style={{ fontSize: 17, color: '#C5D4EA' }}&gt;Fall 2026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762000" y="1905000"/>
            <a:ext cx="1781175" cy="323850"/>
          </a:xfrm>
          <a:prstGeom prst="roundRect">
            <a:avLst>
              <a:gd name="adj" fmla="val 5294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933450" y="1971675"/>
            <a:ext cx="1438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>ISAD · WEEK 02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2676525" y="2066925"/>
            <a:ext cx="533400" cy="9525"/>
          </a:xfrm>
          <a:prstGeom prst="rect">
            <a:avLst/>
          </a:prstGeom>
          <a:solidFill>
            <a:srgbClr val="5B84C4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3343275" y="1971675"/>
            <a:ext cx="2257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MODULE A · FOUNDATIONS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762000" y="2514600"/>
            <a:ext cx="10668000" cy="1485900"/>
          </a:xfrm>
          <a:prstGeom prst="rect"/>
        </p:spPr>
        <p:txBody>
          <a:bodyPr wrap="none" lIns="0" tIns="0" rIns="0" bIns="0"/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Object-Oriented</a:t>
            </a:r>
            <a:endParaRPr/>
          </a:p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Foundations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762000" y="4267200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524375"/>
            <a:ext cx="106680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950">
                <a:solidFill>
                  <a:srgbClr val="B9CDF0"/>
                </a:solidFill>
                <a:latin typeface="Microsoft YaHei"/>
                <a:ea typeface="Microsoft YaHei"/>
              </a:rPr>
              <a:t>Objects, Encapsulation, Reuse &amp; Polymorphism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219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School of Software Engineering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10763250" y="6219825"/>
            <a:ext cx="66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Fall 2026</a:t>
            </a:r>
            <a:endParaRPr/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241" name="" descr="&lt;Slide style={{ background: '#FFFFFF', padding: 0 }}&gt;&#10;  &lt;Box style={{ flexDirection: 'row', height: '100%' }}&gt;&#10;    &lt;Box style={{ width: 320, background: '#0E3F8C', padding: '60px 44px', flexDirection: 'column', justifyContent: 'space-between' }}&gt;&#10;      &lt;Box&gt;&#10;        &lt;Box style={{ width: 40, height: 4, background: '#FFC107', marginBottom: 24 }} /&gt;&#10;        &lt;Text style={{ fontSize: 46, fontWeight: 'bold', color: '#FFFFFF', fontFamily: 'Georgia, serif', lineHeight: 1.15 }}&gt;Contents&lt;/Text&gt;&#10;        &lt;Text style={{ fontSize: 16, color: '#7FA2D6', marginTop: 18, letterSpacing: 1 }}&gt;WEEK 02 · ROADMAP&lt;/Text&gt;&#10;      &lt;/Box&gt;&#10;      &lt;Text style={{ fontSize: 15, color: '#5B84C4', lineHeight: 1.5 }}&gt;Object-Oriented&lt;br /&gt;Foundations&lt;/Text&gt;&#10;    &lt;/Box&gt;&#10;    &lt;Box style={{ flex: 1, padding: '56px 56px', flexDirection: 'column', gap: 18 }}&gt;&#10;      {[&#10;        { n: '01', t: 'Recap &amp;amp; CampusBites Kickoff', p: '03' },&#10;        { n: '02', t: 'Objects Everywhere', p: '07' },&#10;        { n: '03', t: 'Encapsulation', p: '12' },&#10;        { n: '04', t: 'Inheritance vs. Composition', p: '17' },&#10;        { n: '05', t: 'Polymorphism &amp;amp; Interfaces', p: '23' },&#10;        { n: '06', t: 'Lab — OO Analysis &amp;amp; M0 Kickoff', p: '29' },&#10;      ].map((item) =&gt; (&#10;        &lt;Box key={item.n} style={{ flexDirection: 'row', alignItems: 'center', gap: 20, padding: '16px 20px', background: '#F7F9FC', borderRadius: 10, border: '1px solid #E5E7EB' }}&gt;&#10;          &lt;Box style={{ width: 52, height: 52, borderRadius: 8, background: '#1E4FA8', justifyContent: 'center', alignItems: 'center' }}&gt;&#10;            &lt;Text style={{ fontSize: 22, fontWeight: 'bold', color: '#FFFFFF' }}&gt;{item.n}&lt;/Text&gt;&#10;          &lt;/Box&gt;&#10;          &lt;Text style={{ flex: 1, fontSize: 21, color: '#1A2230', fontWeight: '600' }}&gt;{item.t}&lt;/Text&gt;&#10;          &lt;Text style={{ fontSize: 20, color: '#8B97A8', fontWeight: 'bold' }}&gt;{item.p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3" name=""/>
          <p:cNvSpPr/>
          <p:nvPr/>
        </p:nvSpPr>
        <p:spPr>
          <a:xfrm rot="0" flipH="0" flipV="0">
            <a:off x="0" y="0"/>
            <a:ext cx="3048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4" name=""/>
          <p:cNvSpPr/>
          <p:nvPr/>
        </p:nvSpPr>
        <p:spPr>
          <a:xfrm rot="0" flipH="0" flipV="0">
            <a:off x="419100" y="571500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419100" y="838200"/>
            <a:ext cx="2209800" cy="609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Contents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419100" y="1619250"/>
            <a:ext cx="220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WEEK 02 · ROADMAP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419100" y="5772150"/>
            <a:ext cx="2209800" cy="5143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Object-Oriented</a:t>
            </a:r>
            <a:endParaRPr/>
          </a:p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Foundations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3581400" y="5334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49" name=""/>
          <p:cNvSpPr/>
          <p:nvPr/>
        </p:nvSpPr>
        <p:spPr>
          <a:xfrm rot="0" flipH="0" flipV="0">
            <a:off x="3771900" y="6858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3905250" y="8096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4457700" y="8096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Recap &amp;amp; CampusBites Kickoff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11249025" y="8191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53" name=""/>
          <p:cNvSpPr/>
          <p:nvPr/>
        </p:nvSpPr>
        <p:spPr>
          <a:xfrm rot="0" flipH="0" flipV="0">
            <a:off x="3581400" y="15049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54" name=""/>
          <p:cNvSpPr/>
          <p:nvPr/>
        </p:nvSpPr>
        <p:spPr>
          <a:xfrm rot="0" flipH="0" flipV="0">
            <a:off x="3771900" y="16573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3905250" y="17811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4457700" y="17811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Objects Everywhere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11249025" y="17907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07</a:t>
            </a:r>
            <a:endParaRPr/>
          </a:p>
        </p:txBody>
      </p:sp>
      <p:sp>
        <p:nvSpPr>
          <p:cNvPr id="258" name=""/>
          <p:cNvSpPr/>
          <p:nvPr/>
        </p:nvSpPr>
        <p:spPr>
          <a:xfrm rot="0" flipH="0" flipV="0">
            <a:off x="3581400" y="24765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59" name=""/>
          <p:cNvSpPr/>
          <p:nvPr/>
        </p:nvSpPr>
        <p:spPr>
          <a:xfrm rot="0" flipH="0" flipV="0">
            <a:off x="3771900" y="26289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3905250" y="27527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4457700" y="27527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Encapsulation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11249025" y="27622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12</a:t>
            </a:r>
            <a:endParaRPr/>
          </a:p>
        </p:txBody>
      </p:sp>
      <p:sp>
        <p:nvSpPr>
          <p:cNvPr id="263" name=""/>
          <p:cNvSpPr/>
          <p:nvPr/>
        </p:nvSpPr>
        <p:spPr>
          <a:xfrm rot="0" flipH="0" flipV="0">
            <a:off x="3581400" y="34480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64" name=""/>
          <p:cNvSpPr/>
          <p:nvPr/>
        </p:nvSpPr>
        <p:spPr>
          <a:xfrm rot="0" flipH="0" flipV="0">
            <a:off x="3771900" y="36004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3905250" y="37242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4457700" y="37242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Inheritance vs. Composition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11249025" y="37338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17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3581400" y="44196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69" name=""/>
          <p:cNvSpPr/>
          <p:nvPr/>
        </p:nvSpPr>
        <p:spPr>
          <a:xfrm rot="0" flipH="0" flipV="0">
            <a:off x="3771900" y="45720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3905250" y="46958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4457700" y="46958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Polymorphism &amp;amp; Interfaces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11249025" y="4705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23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3581400" y="53911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74" name=""/>
          <p:cNvSpPr/>
          <p:nvPr/>
        </p:nvSpPr>
        <p:spPr>
          <a:xfrm rot="0" flipH="0" flipV="0">
            <a:off x="3771900" y="55435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3905250" y="56673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4457700" y="56673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Lab — OO Analysis &amp;amp; M0 Kickoff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11249025" y="56769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29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470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1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Recap &amp;amp;&lt;br /&gt;CampusBites Kickoff&lt;/Text&gt;&#10;      &lt;Box style={{ width: 64, height: 4, background: '#FFC107', marginTop: 26, marginBottom: 26 }} /&gt;&#10;      &lt;Box style={{ flexDirection: 'column', gap: 12 }}&gt;&#10;        {[&#10;          'Where Week 01 left us — and what plugs in here',&#10;          'The four pillars we cover this week',&#10;          'CampusBites starts today; M0 due Fri Sep 11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72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171450" y="2171700"/>
            <a:ext cx="25050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Recap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CampusBites Kickoff</a:t>
            </a:r>
            <a:endParaRPr/>
          </a:p>
        </p:txBody>
      </p:sp>
      <p:sp>
        <p:nvSpPr>
          <p:cNvPr id="476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77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41433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Where Week 01 left us — and what plugs in here</a:t>
            </a:r>
            <a:endParaRPr/>
          </a:p>
        </p:txBody>
      </p:sp>
      <p:sp>
        <p:nvSpPr>
          <p:cNvPr id="479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2924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four pillars we cover this week</a:t>
            </a:r>
            <a:endParaRPr/>
          </a:p>
        </p:txBody>
      </p:sp>
      <p:sp>
        <p:nvSpPr>
          <p:cNvPr id="481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82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3838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CampusBites starts today; M0 due Fri Sep 11</a:t>
            </a:r>
            <a:endParaRPr/>
          </a:p>
        </p:txBody>
      </p:sp>
      <p:sp>
        <p:nvSpPr>
          <p:cNvPr id="483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1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RECAP&lt;/Text&gt;&#10;  &lt;/Box&gt;&#10;  &lt;Box style={{ padding: '24px 40px 0 40px' }}&gt;&#10;    &lt;Text style={{ fontSize: 34, fontWeight: 'bold', color: '#0E3F8C' }}&gt;Where We Left Off&lt;/Text&gt;&#10;  &lt;/Box&gt;&#10;  &lt;Box style={{ flex: 1, padding: '20px 40px 0 40px', flexDirection: 'row', gap: 28 }}&gt;&#10;    &lt;Box style={{ flex: 3, flexDirection: 'column', gap: 10, justifyContent: 'center' }}&gt;&#10;      {[&#10;        ['info-circle', 'An information system is People + Process + Data + Technology', 'Not just software.'],&#10;        ['user-tie', 'The analyst translates between business and technology', 'W01, Part 3.'],&#10;        ['stream', 'Analysis asks what; design asks how', 'W01, Part 4.'],&#10;        ['map', 'Roadmap: models → principles → patterns → architecture', 'W01, Part 5.'],&#10;      ].map(([icon, t, d]) =&gt; (&#10;        &lt;Box key={t} style={{ flexDirection: 'row', gap: 14, alignItems: 'center', padding: '13px 18px', background: '#F7F9FC', borderRadius: 10, border: '1px solid #E5E7EB' }}&gt;&#10;          &lt;Box style={{ width: 40, height: 40, borderRadius: 9, background: '#E8EFF8', justifyContent: 'center', alignItems: 'center' }}&gt;&#10;            &lt;FAIcon name={icon} style={{ fill: '#1E4FA8', width: 20, height: 20 }} /&gt;&#10;          &lt;/Box&gt;&#10;          &lt;Box style={{ flexDirection: 'column', gap: 2 }}&gt;&#10;            &lt;Text style={{ fontSize: 16, fontWeight: 'bold', color: '#1A2230' }}&gt;{t}&lt;/Text&gt;&#10;            &lt;Text style={{ fontSize: 13, color: '#8B97A8' }}&gt;{d}&lt;/Text&gt;&#10;          &lt;/Box&gt;&#10;        &lt;/Box&gt;&#10;      ))}&#10;    &lt;/Box&gt;&#10;    &lt;Box style={{ flex: 2, padding: '26px 24px', background: '#0E3F8C', borderRadius: 12, flexDirection: 'column', justifyContent: 'center', gap: 14 }}&gt;&#10;      &lt;FAIcon name='plug' style={{ fill: '#FFC107', width: 32, height: 32 }} /&gt;&#10;      &lt;Text style={{ fontSize: 21, fontWeight: 'bold', color: '#FFFFFF', lineHeight: 1.35 }}&gt;The missing piece: what an object actually is.&lt;/Text&gt;&#10;      &lt;Text style={{ fontSize: 16, color: '#C5D4EA', lineHeight: 1.55 }}&gt;Last week we said this course is about objects. This week we get precise — before any diagram, before any pattern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1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15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RECAP</a:t>
            </a:r>
            <a:endParaRPr/>
          </a:p>
        </p:txBody>
      </p:sp>
      <p:sp>
        <p:nvSpPr>
          <p:cNvPr id="716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Where We Left Off</a:t>
            </a:r>
            <a:endParaRPr/>
          </a:p>
        </p:txBody>
      </p:sp>
      <p:sp>
        <p:nvSpPr>
          <p:cNvPr id="717" name=""/>
          <p:cNvSpPr/>
          <p:nvPr/>
        </p:nvSpPr>
        <p:spPr>
          <a:xfrm rot="0" flipH="0" flipV="0">
            <a:off x="381000" y="25908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18" name=""/>
          <p:cNvSpPr/>
          <p:nvPr/>
        </p:nvSpPr>
        <p:spPr>
          <a:xfrm rot="0" flipH="0" flipV="0">
            <a:off x="552450" y="27146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47700" y="2809875"/>
            <a:ext cx="190500" cy="190500"/>
          </a:xfrm>
          <a:prstGeom prst="rect">
            <a:avLst/>
          </a:prstGeom>
          <a:ln/>
        </p:spPr>
      </p:pic>
      <p:sp>
        <p:nvSpPr>
          <p:cNvPr id="720" name="" descr="{&quot;isTemplate&quot;:true,&quot;type&quot;:&quot;text&quot;}"/>
          <p:cNvSpPr txBox="1"/>
          <p:nvPr/>
        </p:nvSpPr>
        <p:spPr>
          <a:xfrm rot="0" flipH="0" flipV="0">
            <a:off x="1066800" y="2724150"/>
            <a:ext cx="4657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An information system is People + Process + Data + Technology</a:t>
            </a:r>
            <a:endParaRPr/>
          </a:p>
        </p:txBody>
      </p:sp>
      <p:sp>
        <p:nvSpPr>
          <p:cNvPr id="721" name="" descr="{&quot;isTemplate&quot;:true,&quot;type&quot;:&quot;text&quot;}"/>
          <p:cNvSpPr txBox="1"/>
          <p:nvPr/>
        </p:nvSpPr>
        <p:spPr>
          <a:xfrm rot="0" flipH="0" flipV="0">
            <a:off x="1066800" y="2933700"/>
            <a:ext cx="4657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Not just software.</a:t>
            </a:r>
            <a:endParaRPr/>
          </a:p>
        </p:txBody>
      </p:sp>
      <p:sp>
        <p:nvSpPr>
          <p:cNvPr id="722" name=""/>
          <p:cNvSpPr/>
          <p:nvPr/>
        </p:nvSpPr>
        <p:spPr>
          <a:xfrm rot="0" flipH="0" flipV="0">
            <a:off x="381000" y="33147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23" name=""/>
          <p:cNvSpPr/>
          <p:nvPr/>
        </p:nvSpPr>
        <p:spPr>
          <a:xfrm rot="0" flipH="0" flipV="0">
            <a:off x="552450" y="34385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2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47700" y="3533775"/>
            <a:ext cx="190500" cy="190500"/>
          </a:xfrm>
          <a:prstGeom prst="rect">
            <a:avLst/>
          </a:prstGeom>
          <a:ln/>
        </p:spPr>
      </p:pic>
      <p:sp>
        <p:nvSpPr>
          <p:cNvPr id="725" name="" descr="{&quot;isTemplate&quot;:true,&quot;type&quot;:&quot;text&quot;}"/>
          <p:cNvSpPr txBox="1"/>
          <p:nvPr/>
        </p:nvSpPr>
        <p:spPr>
          <a:xfrm rot="0" flipH="0" flipV="0">
            <a:off x="1066800" y="3448050"/>
            <a:ext cx="413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The analyst translates between business and technology</a:t>
            </a:r>
            <a:endParaRPr/>
          </a:p>
        </p:txBody>
      </p:sp>
      <p:sp>
        <p:nvSpPr>
          <p:cNvPr id="726" name="" descr="{&quot;isTemplate&quot;:true,&quot;type&quot;:&quot;text&quot;}"/>
          <p:cNvSpPr txBox="1"/>
          <p:nvPr/>
        </p:nvSpPr>
        <p:spPr>
          <a:xfrm rot="0" flipH="0" flipV="0">
            <a:off x="1066800" y="3657600"/>
            <a:ext cx="4133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W01, Part 3.</a:t>
            </a:r>
            <a:endParaRPr/>
          </a:p>
        </p:txBody>
      </p:sp>
      <p:sp>
        <p:nvSpPr>
          <p:cNvPr id="727" name=""/>
          <p:cNvSpPr/>
          <p:nvPr/>
        </p:nvSpPr>
        <p:spPr>
          <a:xfrm rot="0" flipH="0" flipV="0">
            <a:off x="381000" y="40386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28" name=""/>
          <p:cNvSpPr/>
          <p:nvPr/>
        </p:nvSpPr>
        <p:spPr>
          <a:xfrm rot="0" flipH="0" flipV="0">
            <a:off x="552450" y="41624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7700" y="4257675"/>
            <a:ext cx="190500" cy="190500"/>
          </a:xfrm>
          <a:prstGeom prst="rect">
            <a:avLst/>
          </a:prstGeom>
          <a:ln/>
        </p:spPr>
      </p:pic>
      <p:sp>
        <p:nvSpPr>
          <p:cNvPr id="730" name="" descr="{&quot;isTemplate&quot;:true,&quot;type&quot;:&quot;text&quot;}"/>
          <p:cNvSpPr txBox="1"/>
          <p:nvPr/>
        </p:nvSpPr>
        <p:spPr>
          <a:xfrm rot="0" flipH="0" flipV="0">
            <a:off x="1066800" y="4171950"/>
            <a:ext cx="27146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Analysis asks what; design asks how</a:t>
            </a:r>
            <a:endParaRPr/>
          </a:p>
        </p:txBody>
      </p:sp>
      <p:sp>
        <p:nvSpPr>
          <p:cNvPr id="731" name="" descr="{&quot;isTemplate&quot;:true,&quot;type&quot;:&quot;text&quot;}"/>
          <p:cNvSpPr txBox="1"/>
          <p:nvPr/>
        </p:nvSpPr>
        <p:spPr>
          <a:xfrm rot="0" flipH="0" flipV="0">
            <a:off x="1066800" y="4381500"/>
            <a:ext cx="2714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W01, Part 4.</a:t>
            </a:r>
            <a:endParaRPr/>
          </a:p>
        </p:txBody>
      </p:sp>
      <p:sp>
        <p:nvSpPr>
          <p:cNvPr id="732" name=""/>
          <p:cNvSpPr/>
          <p:nvPr/>
        </p:nvSpPr>
        <p:spPr>
          <a:xfrm rot="0" flipH="0" flipV="0">
            <a:off x="381000" y="4762500"/>
            <a:ext cx="6696075" cy="628650"/>
          </a:xfrm>
          <a:prstGeom prst="roundRect">
            <a:avLst>
              <a:gd name="adj" fmla="val 1515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33" name=""/>
          <p:cNvSpPr/>
          <p:nvPr/>
        </p:nvSpPr>
        <p:spPr>
          <a:xfrm rot="0" flipH="0" flipV="0">
            <a:off x="552450" y="48863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47700" y="4981575"/>
            <a:ext cx="190500" cy="190500"/>
          </a:xfrm>
          <a:prstGeom prst="rect">
            <a:avLst/>
          </a:prstGeom>
          <a:ln/>
        </p:spPr>
      </p:pic>
      <p:sp>
        <p:nvSpPr>
          <p:cNvPr id="735" name="" descr="{&quot;isTemplate&quot;:true,&quot;type&quot;:&quot;text&quot;}"/>
          <p:cNvSpPr txBox="1"/>
          <p:nvPr/>
        </p:nvSpPr>
        <p:spPr>
          <a:xfrm rot="0" flipH="0" flipV="0">
            <a:off x="1066800" y="4895850"/>
            <a:ext cx="4229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Roadmap: models → principles → patterns → architecture</a:t>
            </a:r>
            <a:endParaRPr/>
          </a:p>
        </p:txBody>
      </p:sp>
      <p:sp>
        <p:nvSpPr>
          <p:cNvPr id="736" name="" descr="{&quot;isTemplate&quot;:true,&quot;type&quot;:&quot;text&quot;}"/>
          <p:cNvSpPr txBox="1"/>
          <p:nvPr/>
        </p:nvSpPr>
        <p:spPr>
          <a:xfrm rot="0" flipH="0" flipV="0">
            <a:off x="1066800" y="5105400"/>
            <a:ext cx="422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W01, Part 5.</a:t>
            </a:r>
            <a:endParaRPr/>
          </a:p>
        </p:txBody>
      </p:sp>
      <p:sp>
        <p:nvSpPr>
          <p:cNvPr id="737" name=""/>
          <p:cNvSpPr/>
          <p:nvPr/>
        </p:nvSpPr>
        <p:spPr>
          <a:xfrm rot="0" flipH="0" flipV="0">
            <a:off x="7343775" y="1495425"/>
            <a:ext cx="4467225" cy="498157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7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7572375" y="3086100"/>
            <a:ext cx="304800" cy="304800"/>
          </a:xfrm>
          <a:prstGeom prst="rect">
            <a:avLst/>
          </a:prstGeom>
          <a:ln/>
        </p:spPr>
      </p:pic>
      <p:sp>
        <p:nvSpPr>
          <p:cNvPr id="739" name="" descr="{&quot;isTemplate&quot;:true,&quot;type&quot;:&quot;text&quot;}"/>
          <p:cNvSpPr txBox="1"/>
          <p:nvPr/>
        </p:nvSpPr>
        <p:spPr>
          <a:xfrm rot="0" flipH="0" flipV="0">
            <a:off x="7572375" y="3524250"/>
            <a:ext cx="40100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The missing piece: what an object actually is.</a:t>
            </a:r>
            <a:endParaRPr/>
          </a:p>
        </p:txBody>
      </p:sp>
      <p:sp>
        <p:nvSpPr>
          <p:cNvPr id="740" name="" descr="{&quot;isTemplate&quot;:true,&quot;type&quot;:&quot;text&quot;}"/>
          <p:cNvSpPr txBox="1"/>
          <p:nvPr/>
        </p:nvSpPr>
        <p:spPr>
          <a:xfrm rot="0" flipH="0" flipV="0">
            <a:off x="7572375" y="4314825"/>
            <a:ext cx="40100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Last week we said this course is about objects. This week we get precise — before any diagram, before any pattern.</a:t>
            </a:r>
            <a:endParaRPr/>
          </a:p>
        </p:txBody>
      </p:sp>
      <p:sp>
        <p:nvSpPr>
          <p:cNvPr id="74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74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04 / 38</a:t>
            </a:r>
            <a:endParaRPr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74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THIS WEEK&lt;/Text&gt;&#10;  &lt;/Box&gt;&#10;  &lt;Box style={{ flex: 1, flexDirection: 'row', alignItems: 'center', padding: '20px 40px', gap: 40 }}&gt;&#10;    &lt;Box style={{ width: 280, alignItems: 'center', justifyContent: 'center' }}&gt;&#10;      &lt;Text style={{ fontSize: 190, fontWeight: 'bold', color: '#E8EFF8', fontFamily: 'Georgia, serif', lineHeight: 1 }}&gt;4&lt;/Text&gt;&#10;      &lt;Text style={{ fontSize: 20, fontWeight: 'bold', color: '#1E4FA8', letterSpacing: 2, marginTop: 6 }}&gt;PILLARS&lt;/Text&gt;&#10;      &lt;Box style={{ width: 56, height: 4, background: '#FFC107', marginTop: 12 }} /&gt;&#10;    &lt;/Box&gt;&#10;    &lt;Box style={{ flex: 1, flexDirection: 'column', gap: 13 }}&gt;&#10;      {[&#10;        { n: '01', t: 'Objects', d: 'State, behaviour, identity — what an object is made of.' },&#10;        { n: '02', t: 'Encapsulation', d: 'Hide the state; expose behaviour. Guard your invariants.' },&#10;        { n: '03', t: 'Reuse', d: 'Inheritance vs. composition — and why one is preferred.' },&#10;        { n: '04', t: 'Polymorphism', d: 'One message, many behaviours. Program to an interface.' },&#10;      ].map((item) =&gt; (&#10;        &lt;Box key={item.n} style={{ flexDirection: 'row', alignItems: 'center', gap: 18, padding: '14px 20px', background: '#F0F5FC', borderRadius: 10, borderLeft: '4px solid #3D7BD9' }}&gt;&#10;          &lt;Text style={{ fontSize: 24, fontWeight: 'bold', color: '#3D7BD9', fontFamily: 'Georgia, serif' }}&gt;{item.n}&lt;/Text&gt;&#10;          &lt;Box style={{ flexDirection: 'column', gap: 2 }}&gt;&#10;            &lt;Text style={{ fontSize: 19, fontWeight: 'bold', color: '#0E3F8C' }}&gt;{item.t}&lt;/Text&gt;&#10;            &lt;Text style={{ fontSize: 14, color: '#4A5568', lineHeight: 1.45 }}&gt;{item.d}&lt;/Text&gt;&#10;          &lt;/Box&gt;&#10;        &lt;/Box&gt;&#10;      ))}&#10;    &lt;/Box&gt;&#10;  &lt;/Box&gt;&#10;  &lt;Box style={{ height: 56, background: '#0E3F8C', padding: '0 40px', flexDirection: 'row', alignItems: 'center', justifyContent: 'center' }}&gt;&#10;    &lt;Text style={{ fontSize: 18, color: '#FFFFFF', fontWeight: '600' }}&gt;These four are the grammar. Design patterns (Weeks 13–15) are the literature built on it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4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47" name="" descr="{&quot;isTemplate&quot;:true,&quot;type&quot;:&quot;text&quot;}"/>
          <p:cNvSpPr txBox="1"/>
          <p:nvPr/>
        </p:nvSpPr>
        <p:spPr>
          <a:xfrm rot="0" flipH="0" flipV="0">
            <a:off x="10601325" y="257175"/>
            <a:ext cx="1209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THIS WEEK</a:t>
            </a:r>
            <a:endParaRPr/>
          </a:p>
        </p:txBody>
      </p:sp>
      <p:sp>
        <p:nvSpPr>
          <p:cNvPr id="748" name="" descr="{&quot;isTemplate&quot;:true,&quot;type&quot;:&quot;text&quot;}"/>
          <p:cNvSpPr txBox="1"/>
          <p:nvPr/>
        </p:nvSpPr>
        <p:spPr>
          <a:xfrm rot="0" flipH="0" flipV="0">
            <a:off x="1123950" y="2200275"/>
            <a:ext cx="1181100" cy="2171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0" b="1">
                <a:solidFill>
                  <a:srgbClr val="E8EFF8"/>
                </a:solidFill>
                <a:latin typeface="Georgia"/>
                <a:ea typeface="Georgia"/>
              </a:rPr>
              <a:t>4</a:t>
            </a:r>
            <a:endParaRPr/>
          </a:p>
        </p:txBody>
      </p:sp>
      <p:sp>
        <p:nvSpPr>
          <p:cNvPr id="749" name="" descr="{&quot;isTemplate&quot;:true,&quot;type&quot;:&quot;text&quot;}"/>
          <p:cNvSpPr txBox="1"/>
          <p:nvPr/>
        </p:nvSpPr>
        <p:spPr>
          <a:xfrm rot="0" flipH="0" flipV="0">
            <a:off x="1238250" y="4429125"/>
            <a:ext cx="952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 spc="150">
                <a:solidFill>
                  <a:srgbClr val="1E4FA8"/>
                </a:solidFill>
                <a:latin typeface="Microsoft YaHei"/>
                <a:ea typeface="Microsoft YaHei"/>
              </a:rPr>
              <a:t>PILLARS</a:t>
            </a:r>
            <a:endParaRPr/>
          </a:p>
        </p:txBody>
      </p:sp>
      <p:sp>
        <p:nvSpPr>
          <p:cNvPr id="750" name=""/>
          <p:cNvSpPr/>
          <p:nvPr/>
        </p:nvSpPr>
        <p:spPr>
          <a:xfrm rot="0" flipH="0" flipV="0">
            <a:off x="1447800" y="4772025"/>
            <a:ext cx="5334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751" name=""/>
          <p:cNvSpPr/>
          <p:nvPr/>
        </p:nvSpPr>
        <p:spPr>
          <a:xfrm rot="0" flipH="0" flipV="0">
            <a:off x="3467100" y="1838325"/>
            <a:ext cx="8382000" cy="742950"/>
          </a:xfrm>
          <a:prstGeom prst="roundRect">
            <a:avLst>
              <a:gd name="adj" fmla="val 1282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52" name=""/>
          <p:cNvSpPr/>
          <p:nvPr/>
        </p:nvSpPr>
        <p:spPr>
          <a:xfrm rot="0" flipH="0" flipV="0">
            <a:off x="3467100" y="1838325"/>
            <a:ext cx="8382000" cy="742950"/>
          </a:xfrm>
          <a:custGeom>
            <a:pathLst>
              <a:path w="880" h="78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2"/>
                </a:lnTo>
                <a:cubicBezTo>
                  <a:pt x="4" y="75"/>
                  <a:pt x="6" y="77"/>
                  <a:pt x="9" y="78"/>
                </a:cubicBezTo>
                <a:cubicBezTo>
                  <a:pt x="4" y="77"/>
                  <a:pt x="0" y="73"/>
                  <a:pt x="0" y="6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53" name="" descr="{&quot;isTemplate&quot;:true,&quot;type&quot;:&quot;text&quot;}"/>
          <p:cNvSpPr txBox="1"/>
          <p:nvPr/>
        </p:nvSpPr>
        <p:spPr>
          <a:xfrm rot="0" flipH="0" flipV="0">
            <a:off x="3657600" y="2076450"/>
            <a:ext cx="2762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754" name="" descr="{&quot;isTemplate&quot;:true,&quot;type&quot;:&quot;text&quot;}"/>
          <p:cNvSpPr txBox="1"/>
          <p:nvPr/>
        </p:nvSpPr>
        <p:spPr>
          <a:xfrm rot="0" flipH="0" flipV="0">
            <a:off x="4105275" y="1971675"/>
            <a:ext cx="32194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Objects</a:t>
            </a:r>
            <a:endParaRPr/>
          </a:p>
        </p:txBody>
      </p:sp>
      <p:sp>
        <p:nvSpPr>
          <p:cNvPr id="755" name="" descr="{&quot;isTemplate&quot;:true,&quot;type&quot;:&quot;text&quot;}"/>
          <p:cNvSpPr txBox="1"/>
          <p:nvPr/>
        </p:nvSpPr>
        <p:spPr>
          <a:xfrm rot="0" flipH="0" flipV="0">
            <a:off x="4105275" y="2209800"/>
            <a:ext cx="32194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State, behaviour, identity — what an object is made of.</a:t>
            </a:r>
            <a:endParaRPr/>
          </a:p>
        </p:txBody>
      </p:sp>
      <p:sp>
        <p:nvSpPr>
          <p:cNvPr id="756" name=""/>
          <p:cNvSpPr/>
          <p:nvPr/>
        </p:nvSpPr>
        <p:spPr>
          <a:xfrm rot="0" flipH="0" flipV="0">
            <a:off x="3467100" y="2705100"/>
            <a:ext cx="8382000" cy="742950"/>
          </a:xfrm>
          <a:prstGeom prst="roundRect">
            <a:avLst>
              <a:gd name="adj" fmla="val 1282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57" name=""/>
          <p:cNvSpPr/>
          <p:nvPr/>
        </p:nvSpPr>
        <p:spPr>
          <a:xfrm rot="0" flipH="0" flipV="0">
            <a:off x="3467100" y="2705100"/>
            <a:ext cx="8382000" cy="742950"/>
          </a:xfrm>
          <a:custGeom>
            <a:pathLst>
              <a:path w="880" h="78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2"/>
                </a:lnTo>
                <a:cubicBezTo>
                  <a:pt x="4" y="75"/>
                  <a:pt x="6" y="77"/>
                  <a:pt x="9" y="78"/>
                </a:cubicBezTo>
                <a:cubicBezTo>
                  <a:pt x="4" y="77"/>
                  <a:pt x="0" y="73"/>
                  <a:pt x="0" y="6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58" name="" descr="{&quot;isTemplate&quot;:true,&quot;type&quot;:&quot;text&quot;}"/>
          <p:cNvSpPr txBox="1"/>
          <p:nvPr/>
        </p:nvSpPr>
        <p:spPr>
          <a:xfrm rot="0" flipH="0" flipV="0">
            <a:off x="3657600" y="2943225"/>
            <a:ext cx="304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759" name="" descr="{&quot;isTemplate&quot;:true,&quot;type&quot;:&quot;text&quot;}"/>
          <p:cNvSpPr txBox="1"/>
          <p:nvPr/>
        </p:nvSpPr>
        <p:spPr>
          <a:xfrm rot="0" flipH="0" flipV="0">
            <a:off x="4133850" y="2838450"/>
            <a:ext cx="3333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Encapsulation</a:t>
            </a:r>
            <a:endParaRPr/>
          </a:p>
        </p:txBody>
      </p:sp>
      <p:sp>
        <p:nvSpPr>
          <p:cNvPr id="760" name="" descr="{&quot;isTemplate&quot;:true,&quot;type&quot;:&quot;text&quot;}"/>
          <p:cNvSpPr txBox="1"/>
          <p:nvPr/>
        </p:nvSpPr>
        <p:spPr>
          <a:xfrm rot="0" flipH="0" flipV="0">
            <a:off x="4133850" y="3076575"/>
            <a:ext cx="33337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Hide the state; expose behaviour. Guard your invariants.</a:t>
            </a:r>
            <a:endParaRPr/>
          </a:p>
        </p:txBody>
      </p:sp>
      <p:sp>
        <p:nvSpPr>
          <p:cNvPr id="761" name=""/>
          <p:cNvSpPr/>
          <p:nvPr/>
        </p:nvSpPr>
        <p:spPr>
          <a:xfrm rot="0" flipH="0" flipV="0">
            <a:off x="3467100" y="3571875"/>
            <a:ext cx="8382000" cy="742950"/>
          </a:xfrm>
          <a:prstGeom prst="roundRect">
            <a:avLst>
              <a:gd name="adj" fmla="val 1282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62" name=""/>
          <p:cNvSpPr/>
          <p:nvPr/>
        </p:nvSpPr>
        <p:spPr>
          <a:xfrm rot="0" flipH="0" flipV="0">
            <a:off x="3467100" y="3571875"/>
            <a:ext cx="8382000" cy="742950"/>
          </a:xfrm>
          <a:custGeom>
            <a:pathLst>
              <a:path w="880" h="78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2"/>
                </a:lnTo>
                <a:cubicBezTo>
                  <a:pt x="4" y="75"/>
                  <a:pt x="6" y="77"/>
                  <a:pt x="9" y="78"/>
                </a:cubicBezTo>
                <a:cubicBezTo>
                  <a:pt x="4" y="77"/>
                  <a:pt x="0" y="73"/>
                  <a:pt x="0" y="6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63" name="" descr="{&quot;isTemplate&quot;:true,&quot;type&quot;:&quot;text&quot;}"/>
          <p:cNvSpPr txBox="1"/>
          <p:nvPr/>
        </p:nvSpPr>
        <p:spPr>
          <a:xfrm rot="0" flipH="0" flipV="0">
            <a:off x="3657600" y="3810000"/>
            <a:ext cx="304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764" name="" descr="{&quot;isTemplate&quot;:true,&quot;type&quot;:&quot;text&quot;}"/>
          <p:cNvSpPr txBox="1"/>
          <p:nvPr/>
        </p:nvSpPr>
        <p:spPr>
          <a:xfrm rot="0" flipH="0" flipV="0">
            <a:off x="4133850" y="3705225"/>
            <a:ext cx="3333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Reuse</a:t>
            </a:r>
            <a:endParaRPr/>
          </a:p>
        </p:txBody>
      </p:sp>
      <p:sp>
        <p:nvSpPr>
          <p:cNvPr id="765" name="" descr="{&quot;isTemplate&quot;:true,&quot;type&quot;:&quot;text&quot;}"/>
          <p:cNvSpPr txBox="1"/>
          <p:nvPr/>
        </p:nvSpPr>
        <p:spPr>
          <a:xfrm rot="0" flipH="0" flipV="0">
            <a:off x="4133850" y="3943350"/>
            <a:ext cx="33337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Inheritance vs. composition — and why one is preferred.</a:t>
            </a:r>
            <a:endParaRPr/>
          </a:p>
        </p:txBody>
      </p:sp>
      <p:sp>
        <p:nvSpPr>
          <p:cNvPr id="766" name=""/>
          <p:cNvSpPr/>
          <p:nvPr/>
        </p:nvSpPr>
        <p:spPr>
          <a:xfrm rot="0" flipH="0" flipV="0">
            <a:off x="3467100" y="4438650"/>
            <a:ext cx="8382000" cy="742950"/>
          </a:xfrm>
          <a:prstGeom prst="roundRect">
            <a:avLst>
              <a:gd name="adj" fmla="val 1282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67" name=""/>
          <p:cNvSpPr/>
          <p:nvPr/>
        </p:nvSpPr>
        <p:spPr>
          <a:xfrm rot="0" flipH="0" flipV="0">
            <a:off x="3467100" y="4438650"/>
            <a:ext cx="8382000" cy="742950"/>
          </a:xfrm>
          <a:custGeom>
            <a:pathLst>
              <a:path w="880" h="78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2"/>
                </a:lnTo>
                <a:cubicBezTo>
                  <a:pt x="4" y="75"/>
                  <a:pt x="6" y="77"/>
                  <a:pt x="9" y="78"/>
                </a:cubicBezTo>
                <a:cubicBezTo>
                  <a:pt x="4" y="77"/>
                  <a:pt x="0" y="73"/>
                  <a:pt x="0" y="68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68" name="" descr="{&quot;isTemplate&quot;:true,&quot;type&quot;:&quot;text&quot;}"/>
          <p:cNvSpPr txBox="1"/>
          <p:nvPr/>
        </p:nvSpPr>
        <p:spPr>
          <a:xfrm rot="0" flipH="0" flipV="0">
            <a:off x="3657600" y="4676775"/>
            <a:ext cx="3143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3D7BD9"/>
                </a:solidFill>
                <a:latin typeface="Georgia"/>
                <a:ea typeface="Georgia"/>
              </a:rPr>
              <a:t>04</a:t>
            </a:r>
            <a:endParaRPr/>
          </a:p>
        </p:txBody>
      </p:sp>
      <p:sp>
        <p:nvSpPr>
          <p:cNvPr id="769" name="" descr="{&quot;isTemplate&quot;:true,&quot;type&quot;:&quot;text&quot;}"/>
          <p:cNvSpPr txBox="1"/>
          <p:nvPr/>
        </p:nvSpPr>
        <p:spPr>
          <a:xfrm rot="0" flipH="0" flipV="0">
            <a:off x="4143375" y="4572000"/>
            <a:ext cx="3429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Polymorphism</a:t>
            </a:r>
            <a:endParaRPr/>
          </a:p>
        </p:txBody>
      </p:sp>
      <p:sp>
        <p:nvSpPr>
          <p:cNvPr id="770" name="" descr="{&quot;isTemplate&quot;:true,&quot;type&quot;:&quot;text&quot;}"/>
          <p:cNvSpPr txBox="1"/>
          <p:nvPr/>
        </p:nvSpPr>
        <p:spPr>
          <a:xfrm rot="0" flipH="0" flipV="0">
            <a:off x="4143375" y="4810125"/>
            <a:ext cx="34290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One message, many behaviours. Program to an interface.</a:t>
            </a:r>
            <a:endParaRPr/>
          </a:p>
        </p:txBody>
      </p:sp>
      <p:sp>
        <p:nvSpPr>
          <p:cNvPr id="771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72" name="" descr="{&quot;isTemplate&quot;:true,&quot;type&quot;:&quot;text&quot;}"/>
          <p:cNvSpPr txBox="1"/>
          <p:nvPr/>
        </p:nvSpPr>
        <p:spPr>
          <a:xfrm rot="0" flipH="0" flipV="0">
            <a:off x="2533650" y="6486525"/>
            <a:ext cx="71342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These four are the grammar. Design patterns (Weeks 13–15) are the literature built on it.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7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KICKOFF&lt;/Text&gt;&#10;  &lt;/Box&gt;&#10;  &lt;Box style={{ padding: '22px 40px 0 40px' }}&gt;&#10;    &lt;Text style={{ fontSize: 34, fontWeight: 'bold', color: '#0E3F8C' }}&gt;CampusBites Starts Today&lt;/Text&gt;&#10;  &lt;/Box&gt;&#10;  &lt;Box style={{ flex: 1, padding: '16px 40px 0 40px', flexDirection: 'row', gap: 26 }}&gt;&#10;    &lt;Box style={{ flex: 5, justifyContent: 'center', alignItems: 'center' }}&gt;&#10;      &lt;svg width={560} height={360} viewBox='0 0 560 360'&gt;&#10;        &lt;rect x='30' y='150' width='140' height='78' rx='12' fill='#E8EFF8' stroke='#3D7BD9' strokeWidth='2' /&gt;&#10;        &lt;text x='100' y='182' textAnchor='middle' fill='#0E3F8C' fontSize='19' fontWeight='bold'&gt;Student&lt;/text&gt;&#10;        &lt;text x='100' y='206' textAnchor='middle' fill='#8B97A8' fontSize='14'&gt;places the order&lt;/text&gt;&#10;        &lt;rect x='125' y='34' width='150' height='66' rx='12' fill='#E8EFF8' stroke='#3D7BD9' strokeWidth='2' /&gt;&#10;        &lt;text x='200' y='62' textAnchor='middle' fill='#0E3F8C' fontSize='19' fontWeight='bold'&gt;Restaurant&lt;/text&gt;&#10;        &lt;text x='200' y='84' textAnchor='middle' fill='#8B97A8' fontSize='14'&gt;prepares the food&lt;/text&gt;&#10;        &lt;rect x='125' y='266' width='150' height='66' rx='12' fill='#E8EFF8' stroke='#3D7BD9' strokeWidth='2' /&gt;&#10;        &lt;text x='200' y='294' textAnchor='middle' fill='#0E3F8C' fontSize='19' fontWeight='bold'&gt;Rider&lt;/text&gt;&#10;        &lt;text x='200' y='316' textAnchor='middle' fill='#8B97A8' fontSize='14'&gt;delivers to campus&lt;/text&gt;&#10;        &lt;rect x='360' y='150' width='160' height='78' rx='12' fill='#0E3F8C' /&gt;&#10;        &lt;text x='440' y='182' textAnchor='middle' fill='#FFFFFF' fontSize='19' fontWeight='bold'&gt;Order&lt;/text&gt;&#10;        &lt;text x='440' y='206' textAnchor='middle' fill='#FFC107' fontSize='15'&gt;state + payment&lt;/text&gt;&#10;        &lt;line x1='170' y1='168' x2='358' y2='178' stroke='#3D7BD9' strokeWidth='2' /&gt;&#10;        &lt;line x1='212' y1='100' x2='400' y2='172' stroke='#3D7BD9' strokeWidth='2' /&gt;&#10;        &lt;line x1='212' y1='266' x2='400' y2='212' stroke='#3D7BD9' strokeWidth='2' /&gt;&#10;        &lt;text x='440' y='268' textAnchor='middle' fill='#8B97A8' fontSize='14'&gt;campus food delivery&lt;/text&gt;&#10;      &lt;/svg&gt;&#10;    &lt;/Box&gt;&#10;    &lt;Box style={{ flex: 4, flexDirection: 'column', gap: 10, justifyContent: 'center' }}&gt;&#10;      &lt;Text style={{ fontSize: 17, fontWeight: 'bold', color: '#0E3F8C', marginBottom: 2 }}&gt;M0 — due Fri Sep 11 (pass / fail)&lt;/Text&gt;&#10;      {[&#10;        ['file-signature', 'Team charter', 'Name, roles, communication rules'],&#10;        ['users', 'Stakeholder list', 'Who cares about CampusBites'],&#10;        ['eye', 'One-paragraph vision', 'What it does, for whom'],&#10;        ['code-branch', 'Repository registered', 'Create repo, invite klausren'],&#10;      ].map(([icon, t, d]) =&gt; (&#10;        &lt;Box key={t} style={{ flexDirection: 'row', gap: 12, alignItems: 'center', padding: '12px 16px', background: '#F7F9FC', borderRadius: 9, border: '1px solid #E5E7EB' }}&gt;&#10;          &lt;Box style={{ width: 36, height: 36, borderRadius: 8, background: '#E8EFF8', justifyContent: 'center', alignItems: 'center' }}&gt;&#10;            &lt;FAIcon name={icon} style={{ fill: '#1E4FA8', width: 18, height: 18 }} /&gt;&#10;          &lt;/Box&gt;&#10;          &lt;Box style={{ flexDirection: 'column', gap: 1 }}&gt;&#10;            &lt;Text style={{ fontSize: 15, fontWeight: 'bold', color: '#1A2230' }}&gt;{t}&lt;/Text&gt;&#10;            &lt;Text style={{ fontSize: 13, color: '#4A5568' }}&gt;{d}&lt;/Text&gt;&#10;          &lt;/Box&gt;&#10;        &lt;/Box&gt;&#10;      ))}&#10;      &lt;Box style={{ marginTop: 4, padding: '11px 16px', background: '#FDF3F3', borderRadius: 9, borderLeft: '3px solid #D9534F' }}&gt;&#10;        &lt;Text style={{ fontSize: 14, color: '#D9534F', fontWeight: 'bold' }}&gt;One team of four. You settle the roles in this week's lab.&lt;/Text&gt;&#10;      &lt;/Box&gt;&#10;    &lt;/Box&gt;&#10;  &lt;/Box&gt;&#10;  &lt;Box style={{ height: 40, padding: '0 40px', flexDirection: 'row', alignItems: 'center', justifyContent: 'space-between' }}&gt;&#10;    &lt;Text style={{ fontSize: 13, color: '#8B97A8' }}&gt;Full brief: Project Guidebook · Deadline Schedule §4&lt;/Text&gt;&#10;    &lt;Text style={{ fontSize: 14, color: '#1E4FA8', fontWeight: 'bold' }}&gt;0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7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7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77" name="" descr="{&quot;isTemplate&quot;:true,&quot;type&quot;:&quot;text&quot;}"/>
          <p:cNvSpPr txBox="1"/>
          <p:nvPr/>
        </p:nvSpPr>
        <p:spPr>
          <a:xfrm rot="0" flipH="0" flipV="0">
            <a:off x="10763250" y="257175"/>
            <a:ext cx="104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KICKOFF</a:t>
            </a:r>
            <a:endParaRPr/>
          </a:p>
        </p:txBody>
      </p:sp>
      <p:sp>
        <p:nvSpPr>
          <p:cNvPr id="778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CampusBites Starts Today</a:t>
            </a:r>
            <a:endParaRPr/>
          </a:p>
        </p:txBody>
      </p:sp>
      <p:pic>
        <p:nvPicPr>
          <p:cNvPr id="7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2247900"/>
            <a:ext cx="5334000" cy="3429000"/>
          </a:xfrm>
          <a:prstGeom prst="rect">
            <a:avLst/>
          </a:prstGeom>
          <a:ln/>
        </p:spPr>
      </p:pic>
      <p:sp>
        <p:nvSpPr>
          <p:cNvPr id="780" name="" descr="{&quot;isTemplate&quot;:true,&quot;type&quot;:&quot;text&quot;}"/>
          <p:cNvSpPr txBox="1"/>
          <p:nvPr/>
        </p:nvSpPr>
        <p:spPr>
          <a:xfrm rot="0" flipH="0" flipV="0">
            <a:off x="6838950" y="2266950"/>
            <a:ext cx="49720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M0 — due Fri Sep 11 (pass / fail)</a:t>
            </a:r>
            <a:endParaRPr/>
          </a:p>
        </p:txBody>
      </p:sp>
      <p:sp>
        <p:nvSpPr>
          <p:cNvPr id="781" name=""/>
          <p:cNvSpPr/>
          <p:nvPr/>
        </p:nvSpPr>
        <p:spPr>
          <a:xfrm rot="0" flipH="0" flipV="0">
            <a:off x="6838950" y="2581275"/>
            <a:ext cx="4972050" cy="571500"/>
          </a:xfrm>
          <a:prstGeom prst="roundRect">
            <a:avLst>
              <a:gd name="adj" fmla="val 1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82" name=""/>
          <p:cNvSpPr/>
          <p:nvPr/>
        </p:nvSpPr>
        <p:spPr>
          <a:xfrm rot="0" flipH="0" flipV="0">
            <a:off x="6991350" y="269557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77075" y="2781300"/>
            <a:ext cx="171450" cy="171450"/>
          </a:xfrm>
          <a:prstGeom prst="rect">
            <a:avLst/>
          </a:prstGeom>
          <a:ln/>
        </p:spPr>
      </p:pic>
      <p:sp>
        <p:nvSpPr>
          <p:cNvPr id="784" name="" descr="{&quot;isTemplate&quot;:true,&quot;type&quot;:&quot;text&quot;}"/>
          <p:cNvSpPr txBox="1"/>
          <p:nvPr/>
        </p:nvSpPr>
        <p:spPr>
          <a:xfrm rot="0" flipH="0" flipV="0">
            <a:off x="7448550" y="2705100"/>
            <a:ext cx="18764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Team charter</a:t>
            </a:r>
            <a:endParaRPr/>
          </a:p>
        </p:txBody>
      </p:sp>
      <p:sp>
        <p:nvSpPr>
          <p:cNvPr id="785" name="" descr="{&quot;isTemplate&quot;:true,&quot;type&quot;:&quot;text&quot;}"/>
          <p:cNvSpPr txBox="1"/>
          <p:nvPr/>
        </p:nvSpPr>
        <p:spPr>
          <a:xfrm rot="0" flipH="0" flipV="0">
            <a:off x="7448550" y="2886075"/>
            <a:ext cx="1876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Name, roles, communication rules</a:t>
            </a:r>
            <a:endParaRPr/>
          </a:p>
        </p:txBody>
      </p:sp>
      <p:sp>
        <p:nvSpPr>
          <p:cNvPr id="786" name=""/>
          <p:cNvSpPr/>
          <p:nvPr/>
        </p:nvSpPr>
        <p:spPr>
          <a:xfrm rot="0" flipH="0" flipV="0">
            <a:off x="6838950" y="3248025"/>
            <a:ext cx="4972050" cy="571500"/>
          </a:xfrm>
          <a:prstGeom prst="roundRect">
            <a:avLst>
              <a:gd name="adj" fmla="val 1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87" name=""/>
          <p:cNvSpPr/>
          <p:nvPr/>
        </p:nvSpPr>
        <p:spPr>
          <a:xfrm rot="0" flipH="0" flipV="0">
            <a:off x="6991350" y="336232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8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77075" y="3448050"/>
            <a:ext cx="171450" cy="171450"/>
          </a:xfrm>
          <a:prstGeom prst="rect">
            <a:avLst/>
          </a:prstGeom>
          <a:ln/>
        </p:spPr>
      </p:pic>
      <p:sp>
        <p:nvSpPr>
          <p:cNvPr id="789" name="" descr="{&quot;isTemplate&quot;:true,&quot;type&quot;:&quot;text&quot;}"/>
          <p:cNvSpPr txBox="1"/>
          <p:nvPr/>
        </p:nvSpPr>
        <p:spPr>
          <a:xfrm rot="0" flipH="0" flipV="0">
            <a:off x="7448550" y="3371850"/>
            <a:ext cx="171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Stakeholder list</a:t>
            </a:r>
            <a:endParaRPr/>
          </a:p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7448550" y="3552825"/>
            <a:ext cx="1714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Who cares about CampusBites</a:t>
            </a:r>
            <a:endParaRPr/>
          </a:p>
        </p:txBody>
      </p:sp>
      <p:sp>
        <p:nvSpPr>
          <p:cNvPr id="791" name=""/>
          <p:cNvSpPr/>
          <p:nvPr/>
        </p:nvSpPr>
        <p:spPr>
          <a:xfrm rot="0" flipH="0" flipV="0">
            <a:off x="6838950" y="3914775"/>
            <a:ext cx="4972050" cy="571500"/>
          </a:xfrm>
          <a:prstGeom prst="roundRect">
            <a:avLst>
              <a:gd name="adj" fmla="val 1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92" name=""/>
          <p:cNvSpPr/>
          <p:nvPr/>
        </p:nvSpPr>
        <p:spPr>
          <a:xfrm rot="0" flipH="0" flipV="0">
            <a:off x="6991350" y="402907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077075" y="4114800"/>
            <a:ext cx="171450" cy="171450"/>
          </a:xfrm>
          <a:prstGeom prst="rect">
            <a:avLst/>
          </a:prstGeom>
          <a:ln/>
        </p:spPr>
      </p:pic>
      <p:sp>
        <p:nvSpPr>
          <p:cNvPr id="794" name="" descr="{&quot;isTemplate&quot;:true,&quot;type&quot;:&quot;text&quot;}"/>
          <p:cNvSpPr txBox="1"/>
          <p:nvPr/>
        </p:nvSpPr>
        <p:spPr>
          <a:xfrm rot="0" flipH="0" flipV="0">
            <a:off x="7448550" y="4038600"/>
            <a:ext cx="1485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One-paragraph vision</a:t>
            </a:r>
            <a:endParaRPr/>
          </a:p>
        </p:txBody>
      </p:sp>
      <p:sp>
        <p:nvSpPr>
          <p:cNvPr id="795" name="" descr="{&quot;isTemplate&quot;:true,&quot;type&quot;:&quot;text&quot;}"/>
          <p:cNvSpPr txBox="1"/>
          <p:nvPr/>
        </p:nvSpPr>
        <p:spPr>
          <a:xfrm rot="0" flipH="0" flipV="0">
            <a:off x="7448550" y="4219575"/>
            <a:ext cx="14859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What it does, for whom</a:t>
            </a:r>
            <a:endParaRPr/>
          </a:p>
        </p:txBody>
      </p:sp>
      <p:sp>
        <p:nvSpPr>
          <p:cNvPr id="796" name=""/>
          <p:cNvSpPr/>
          <p:nvPr/>
        </p:nvSpPr>
        <p:spPr>
          <a:xfrm rot="0" flipH="0" flipV="0">
            <a:off x="6838950" y="4581525"/>
            <a:ext cx="4972050" cy="571500"/>
          </a:xfrm>
          <a:prstGeom prst="roundRect">
            <a:avLst>
              <a:gd name="adj" fmla="val 1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97" name=""/>
          <p:cNvSpPr/>
          <p:nvPr/>
        </p:nvSpPr>
        <p:spPr>
          <a:xfrm rot="0" flipH="0" flipV="0">
            <a:off x="6991350" y="469582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9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7077075" y="4781550"/>
            <a:ext cx="171450" cy="171450"/>
          </a:xfrm>
          <a:prstGeom prst="rect">
            <a:avLst/>
          </a:prstGeom>
          <a:ln/>
        </p:spPr>
      </p:pic>
      <p:sp>
        <p:nvSpPr>
          <p:cNvPr id="799" name="" descr="{&quot;isTemplate&quot;:true,&quot;type&quot;:&quot;text&quot;}"/>
          <p:cNvSpPr txBox="1"/>
          <p:nvPr/>
        </p:nvSpPr>
        <p:spPr>
          <a:xfrm rot="0" flipH="0" flipV="0">
            <a:off x="7448550" y="47053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Repository registered</a:t>
            </a:r>
            <a:endParaRPr/>
          </a:p>
        </p:txBody>
      </p:sp>
      <p:sp>
        <p:nvSpPr>
          <p:cNvPr id="800" name="" descr="{&quot;isTemplate&quot;:true,&quot;type&quot;:&quot;text&quot;}"/>
          <p:cNvSpPr txBox="1"/>
          <p:nvPr/>
        </p:nvSpPr>
        <p:spPr>
          <a:xfrm rot="0" flipH="0" flipV="0">
            <a:off x="7448550" y="4886325"/>
            <a:ext cx="1514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Create repo, invite klausren</a:t>
            </a:r>
            <a:endParaRPr/>
          </a:p>
        </p:txBody>
      </p:sp>
      <p:sp>
        <p:nvSpPr>
          <p:cNvPr id="801" name=""/>
          <p:cNvSpPr/>
          <p:nvPr/>
        </p:nvSpPr>
        <p:spPr>
          <a:xfrm rot="0" flipH="0" flipV="0">
            <a:off x="6867525" y="5286375"/>
            <a:ext cx="4972050" cy="371475"/>
          </a:xfrm>
          <a:prstGeom prst="roundRect">
            <a:avLst>
              <a:gd name="adj" fmla="val 2307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802" name=""/>
          <p:cNvSpPr/>
          <p:nvPr/>
        </p:nvSpPr>
        <p:spPr>
          <a:xfrm rot="0" flipH="0" flipV="0">
            <a:off x="6867525" y="5286375"/>
            <a:ext cx="4972050" cy="371475"/>
          </a:xfrm>
          <a:custGeom>
            <a:pathLst>
              <a:path w="522" h="39">
                <a:moveTo>
                  <a:pt x="8" y="0"/>
                </a:moveTo>
                <a:cubicBezTo>
                  <a:pt x="5" y="0"/>
                  <a:pt x="3" y="3"/>
                  <a:pt x="3" y="6"/>
                </a:cubicBezTo>
                <a:lnTo>
                  <a:pt x="3" y="33"/>
                </a:lnTo>
                <a:cubicBezTo>
                  <a:pt x="3" y="36"/>
                  <a:pt x="5" y="38"/>
                  <a:pt x="8" y="39"/>
                </a:cubicBezTo>
                <a:cubicBezTo>
                  <a:pt x="3" y="38"/>
                  <a:pt x="0" y="34"/>
                  <a:pt x="0" y="30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03" name="" descr="{&quot;isTemplate&quot;:true,&quot;type&quot;:&quot;text&quot;}"/>
          <p:cNvSpPr txBox="1"/>
          <p:nvPr/>
        </p:nvSpPr>
        <p:spPr>
          <a:xfrm rot="0" flipH="0" flipV="0">
            <a:off x="7019925" y="5391150"/>
            <a:ext cx="4638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D9534F"/>
                </a:solidFill>
                <a:latin typeface="Microsoft YaHei"/>
                <a:ea typeface="Microsoft YaHei"/>
              </a:rPr>
              <a:t>One team of four. You settle the roles in this week's lab.</a:t>
            </a:r>
            <a:endParaRPr/>
          </a:p>
        </p:txBody>
      </p:sp>
      <p:sp>
        <p:nvSpPr>
          <p:cNvPr id="80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886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Full brief: Project Guidebook · Deadline Schedule §4</a:t>
            </a:r>
            <a:endParaRPr/>
          </a:p>
        </p:txBody>
      </p:sp>
      <p:sp>
        <p:nvSpPr>
          <p:cNvPr id="80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06 / 38</a:t>
            </a:r>
            <a:endParaRPr/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806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2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Objects&lt;br /&gt;Everywhere&lt;/Text&gt;&#10;      &lt;Box style={{ width: 64, height: 4, background: '#FFC107', marginTop: 26, marginBottom: 26 }} /&gt;&#10;      &lt;Box style={{ flexDirection: 'column', gap: 12 }}&gt;&#10;        {[&#10;          'From things in the world to things in code',&#10;          'State, behaviour, identity — the three parts',&#10;          'Class is the mould; object is what you pour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08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809" name="" descr="{&quot;isTemplate&quot;:true,&quot;type&quot;:&quot;text&quot;}"/>
          <p:cNvSpPr txBox="1"/>
          <p:nvPr/>
        </p:nvSpPr>
        <p:spPr>
          <a:xfrm rot="0" flipH="0" flipV="0">
            <a:off x="28575" y="2171700"/>
            <a:ext cx="27908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810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811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Objects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Everywhere</a:t>
            </a:r>
            <a:endParaRPr/>
          </a:p>
        </p:txBody>
      </p:sp>
      <p:sp>
        <p:nvSpPr>
          <p:cNvPr id="812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13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4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34766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From things in the world to things in code</a:t>
            </a:r>
            <a:endParaRPr/>
          </a:p>
        </p:txBody>
      </p:sp>
      <p:sp>
        <p:nvSpPr>
          <p:cNvPr id="815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6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3619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State, behaviour, identity — the three parts</a:t>
            </a:r>
            <a:endParaRPr/>
          </a:p>
        </p:txBody>
      </p:sp>
      <p:sp>
        <p:nvSpPr>
          <p:cNvPr id="817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8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3619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Class is the mould; object is what you pour</a:t>
            </a:r>
            <a:endParaRPr/>
          </a:p>
        </p:txBody>
      </p:sp>
      <p:sp>
        <p:nvSpPr>
          <p:cNvPr id="81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2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OBJECTS&lt;/Text&gt;&#10;  &lt;/Box&gt;&#10;  &lt;Box style={{ padding: '22px 40px 0 40px' }}&gt;&#10;    &lt;Text style={{ fontSize: 34, fontWeight: 'bold', color: '#0E3F8C' }}&gt;From Real Objects to Software Objects&lt;/Text&gt;&#10;  &lt;/Box&gt;&#10;  &lt;Box style={{ flex: 1, padding: '14px 40px 0 40px', flexDirection: 'row', gap: 26 }}&gt;&#10;    &lt;Box style={{ flex: 5, justifyContent: 'center', alignItems: 'center' }}&gt;&#10;      &lt;svg width={580} height={340} viewBox='0 0 580 340'&gt;&#10;        &lt;text x='140' y='30' textAnchor='middle' fill='#8B97A8' fontSize='15' letterSpacing='1'&gt;IN THE WORLD&lt;/text&gt;&#10;        &lt;text x='440' y='30' textAnchor='middle' fill='#8B97A8' fontSize='15' letterSpacing='1'&gt;IN CODE&lt;/text&gt;&#10;        &lt;rect x='30' y='48' width='220' height='52' rx='10' fill='#E8EFF8' stroke='#3D7BD9' strokeWidth='2' /&gt;&#10;        &lt;text x='140' y='80' textAnchor='middle' fill='#1A2230' fontSize='17'&gt;A real order on a tray&lt;/text&gt;&#10;        &lt;rect x='30' y='112' width='220' height='52' rx='10' fill='#E8EFF8' stroke='#3D7BD9' strokeWidth='2' /&gt;&#10;        &lt;text x='140' y='144' textAnchor='middle' fill='#1A2230' fontSize='17'&gt;Its items, its total&lt;/text&gt;&#10;        &lt;rect x='30' y='176' width='220' height='52' rx='10' fill='#E8EFF8' stroke='#3D7BD9' strokeWidth='2' /&gt;&#10;        &lt;text x='140' y='208' textAnchor='middle' fill='#1A2230' fontSize='17'&gt;It can be paid, cancelled&lt;/text&gt;&#10;        &lt;rect x='30' y='240' width='220' height='52' rx='10' fill='#E8EFF8' stroke='#3D7BD9' strokeWidth='2' /&gt;&#10;        &lt;text x='140' y='272' textAnchor='middle' fill='#1A2230' fontSize='17'&gt;This order, not that one&lt;/text&gt;&#10;        &lt;line x1='256' y1='74' x2='324' y2='74' stroke='#3D7BD9' strokeWidth='2' markerEnd='url(#arrow08)' /&gt;&#10;        &lt;line x1='256' y1='138' x2='324' y2='138' stroke='#3D7BD9' strokeWidth='2' markerEnd='url(#arrow08)' /&gt;&#10;        &lt;line x1='256' y1='202' x2='324' y2='202' stroke='#3D7BD9' strokeWidth='2' markerEnd='url(#arrow08)' /&gt;&#10;        &lt;line x1='256' y1='266' x2='324' y2='266' stroke='#3D7BD9' strokeWidth='2' markerEnd='url(#arrow08)' /&gt;&#10;        &lt;rect x='330' y='48' width='220' height='52' rx='10' fill='#F0F5FC' stroke='#1E4FA8' strokeWidth='2' /&gt;&#10;        &lt;text x='440' y='80' textAnchor='middle' fill='#0E3F8C' fontSize='17' fontWeight='bold'&gt;Order order = new Order();&lt;/text&gt;&#10;        &lt;rect x='330' y='112' width='220' height='52' rx='10' fill='#F0F5FC' stroke='#1E4FA8' strokeWidth='2' /&gt;&#10;        &lt;text x='440' y='144' textAnchor='middle' fill='#0E3F8C' fontSize='17' fontWeight='bold'&gt;fields: lines, status&lt;/text&gt;&#10;        &lt;rect x='330' y='176' width='220' height='52' rx='10' fill='#F0F5FC' stroke='#1E4FA8' strokeWidth='2' /&gt;&#10;        &lt;text x='440' y='208' textAnchor='middle' fill='#0E3F8C' fontSize='17' fontWeight='bold'&gt;methods: pay(), cancel()&lt;/text&gt;&#10;        &lt;rect x='330' y='240' width='220' height='52' rx='10' fill='#F0F5FC' stroke='#1E4FA8' strokeWidth='2' /&gt;&#10;        &lt;text x='440' y='272' textAnchor='middle' fill='#0E3F8C' fontSize='17' fontWeight='bold'&gt;a distinct reference&lt;/text&gt;&#10;        &lt;defs&gt;&#10;          &lt;marker id='arrow08' markerWidth='9' markerHeight='9' refX='8' refY='4.5' orient='auto'&gt;&#10;            &lt;path d='M0,0 L9,4.5 L0,9 z' fill='#3D7BD9' /&gt;&#10;          &lt;/marker&gt;&#10;        &lt;/defs&gt;&#10;        &lt;text x='290' y='322' textAnchor='middle' fill='#4A5568' fontSize='15'&gt;Attributes become fields. Things it can do become methods.&lt;/text&gt;&#10;      &lt;/svg&gt;&#10;    &lt;/Box&gt;&#10;    &lt;Box style={{ flex: 4, flexDirection: 'column', gap: 12, justifyContent: 'center' }}&gt;&#10;      &lt;Box style={{ padding: '18px 20px', background: '#F0F5FC', borderRadius: 10, borderLeft: '4px solid #1E4FA8' }}&gt;&#10;        &lt;Text style={{ fontSize: 17, fontWeight: 'bold', color: '#0E3F8C', lineHeight: 1.4 }}&gt;We model the part of the world the system cares about.&lt;/Text&gt;&#10;      &lt;/Box&gt;&#10;      &lt;Box style={{ padding: '18px 20px', background: '#F7F9FC', borderRadius: 10, border: '1px solid #E5E7EB' }}&gt;&#10;        &lt;Text style={{ fontSize: 16, color: '#4A5568', lineHeight: 1.55 }}&gt;A customer has a name, a phone and a dorm — but CampusBites only stores what the delivery needs.&lt;/Text&gt;&#10;      &lt;/Box&gt;&#10;      &lt;Box style={{ padding: '18px 20px', background: '#FDF3F3', borderRadius: 10, borderLeft: '4px solid #D9534F' }}&gt;&#10;        &lt;Text style={{ fontSize: 16, color: '#4A5568', lineHeight: 1.55 }}&gt;&lt;Text style={{ fontWeight: 'bold', color: '#D9534F' }}&gt;Choosing what to leave out&lt;/Text&gt; is the analyst's first real decision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8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2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2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24" name="" descr="{&quot;isTemplate&quot;:true,&quot;type&quot;:&quot;text&quot;}"/>
          <p:cNvSpPr txBox="1"/>
          <p:nvPr/>
        </p:nvSpPr>
        <p:spPr>
          <a:xfrm rot="0" flipH="0" flipV="0">
            <a:off x="10725150" y="257175"/>
            <a:ext cx="1085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OBJECTS</a:t>
            </a:r>
            <a:endParaRPr/>
          </a:p>
        </p:txBody>
      </p:sp>
      <p:sp>
        <p:nvSpPr>
          <p:cNvPr id="825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From Real Objects to Software Objects</a:t>
            </a:r>
            <a:endParaRPr/>
          </a:p>
        </p:txBody>
      </p:sp>
      <p:pic>
        <p:nvPicPr>
          <p:cNvPr id="8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23900" y="2333625"/>
            <a:ext cx="5524500" cy="3238500"/>
          </a:xfrm>
          <a:prstGeom prst="rect">
            <a:avLst/>
          </a:prstGeom>
          <a:ln/>
        </p:spPr>
      </p:pic>
      <p:sp>
        <p:nvSpPr>
          <p:cNvPr id="827" name=""/>
          <p:cNvSpPr/>
          <p:nvPr/>
        </p:nvSpPr>
        <p:spPr>
          <a:xfrm rot="0" flipH="0" flipV="0">
            <a:off x="6877050" y="2752725"/>
            <a:ext cx="4972050" cy="619125"/>
          </a:xfrm>
          <a:prstGeom prst="roundRect">
            <a:avLst>
              <a:gd name="adj" fmla="val 1538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28" name=""/>
          <p:cNvSpPr/>
          <p:nvPr/>
        </p:nvSpPr>
        <p:spPr>
          <a:xfrm rot="0" flipH="0" flipV="0">
            <a:off x="6877050" y="2752725"/>
            <a:ext cx="4972050" cy="619125"/>
          </a:xfrm>
          <a:custGeom>
            <a:pathLst>
              <a:path w="522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29" name="" descr="{&quot;isTemplate&quot;:true,&quot;type&quot;:&quot;text&quot;}"/>
          <p:cNvSpPr txBox="1"/>
          <p:nvPr/>
        </p:nvSpPr>
        <p:spPr>
          <a:xfrm rot="0" flipH="0" flipV="0">
            <a:off x="7067550" y="2924175"/>
            <a:ext cx="455295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We model the part of the world the system cares about.</a:t>
            </a:r>
            <a:endParaRPr/>
          </a:p>
        </p:txBody>
      </p:sp>
      <p:sp>
        <p:nvSpPr>
          <p:cNvPr id="830" name=""/>
          <p:cNvSpPr/>
          <p:nvPr/>
        </p:nvSpPr>
        <p:spPr>
          <a:xfrm rot="0" flipH="0" flipV="0">
            <a:off x="6838950" y="3486150"/>
            <a:ext cx="4972050" cy="914400"/>
          </a:xfrm>
          <a:prstGeom prst="roundRect">
            <a:avLst>
              <a:gd name="adj" fmla="val 104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31" name="" descr="{&quot;isTemplate&quot;:true,&quot;type&quot;:&quot;text&quot;}"/>
          <p:cNvSpPr txBox="1"/>
          <p:nvPr/>
        </p:nvSpPr>
        <p:spPr>
          <a:xfrm rot="0" flipH="0" flipV="0">
            <a:off x="7029450" y="3657600"/>
            <a:ext cx="45910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A customer has a name, a phone and a dorm — but CampusBites only stores what the delivery needs.</a:t>
            </a:r>
            <a:endParaRPr/>
          </a:p>
        </p:txBody>
      </p:sp>
      <p:sp>
        <p:nvSpPr>
          <p:cNvPr id="832" name=""/>
          <p:cNvSpPr/>
          <p:nvPr/>
        </p:nvSpPr>
        <p:spPr>
          <a:xfrm rot="0" flipH="0" flipV="0">
            <a:off x="6877050" y="4514850"/>
            <a:ext cx="4972050" cy="628650"/>
          </a:xfrm>
          <a:prstGeom prst="roundRect">
            <a:avLst>
              <a:gd name="adj" fmla="val 15152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833" name=""/>
          <p:cNvSpPr/>
          <p:nvPr/>
        </p:nvSpPr>
        <p:spPr>
          <a:xfrm rot="0" flipH="0" flipV="0">
            <a:off x="6877050" y="4514850"/>
            <a:ext cx="4972050" cy="628650"/>
          </a:xfrm>
          <a:custGeom>
            <a:pathLst>
              <a:path w="522" h="66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0"/>
                </a:lnTo>
                <a:cubicBezTo>
                  <a:pt x="4" y="63"/>
                  <a:pt x="6" y="65"/>
                  <a:pt x="9" y="66"/>
                </a:cubicBezTo>
                <a:cubicBezTo>
                  <a:pt x="4" y="65"/>
                  <a:pt x="0" y="61"/>
                  <a:pt x="0" y="5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834" name="" descr="{&quot;isTemplate&quot;:true,&quot;type&quot;:&quot;text&quot;}"/>
          <p:cNvSpPr txBox="1"/>
          <p:nvPr/>
        </p:nvSpPr>
        <p:spPr>
          <a:xfrm rot="0" flipH="0" flipV="0">
            <a:off x="7067550" y="4686300"/>
            <a:ext cx="4552950" cy="2857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Choosing what to leave out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is the analyst's first real decision.</a:t>
            </a:r>
            <a:endParaRPr/>
          </a:p>
        </p:txBody>
      </p:sp>
      <p:sp>
        <p:nvSpPr>
          <p:cNvPr id="835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836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08 / 38</a:t>
            </a:r>
            <a:endParaRPr/>
          </a:p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37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Anatomy of an Object&lt;/Text&gt;&#10;    &lt;Text style={{ fontSize: 14, color: '#1E4FA8', fontWeight: 'bold' }}&gt;09 / 38&lt;/Text&gt;&#10;  &lt;/Box&gt;&#10;  &lt;Box style={{ flex: 1, padding: '8px 40px 0 40px', justifyContent: 'center', alignItems: 'center' }}&gt;&#10;    &lt;svg width={1180} height={430} viewBox='0 0 1180 430'&gt;&#10;      &lt;rect x='60' y='40' width='470' height='80' rx='8' fill='#0E3F8C' /&gt;&#10;      &lt;text x='295' y='76' textAnchor='middle' fill='#FFFFFF' fontSize='26' fontWeight='bold'&gt;Order #A-1024&lt;/text&gt;&#10;      &lt;text x='295' y='104' textAnchor='middle' fill='#FFC107' fontSize='16'&gt;identity — this order, not another&lt;/text&gt;&#10;      &lt;rect x='60' y='120' width='470' height='132' rx='8' fill='#E8EFF8' stroke='#3D7BD9' strokeWidth='2' /&gt;&#10;      &lt;text x='82' y='150' fill='#0E3F8C' fontSize='17' fontWeight='bold'&gt;state&lt;/text&gt;&#10;      &lt;text x='82' y='178' fill='#1A2230' fontSize='16'&gt;lines: List&amp;amp;lt;OrderLine&amp;amp;gt;&lt;/text&gt;&#10;      &lt;text x='82' y='204' fill='#1A2230' fontSize='16'&gt;status: OrderStatus&lt;/text&gt;&#10;      &lt;text x='82' y='230' fill='#1A2230' fontSize='16'&gt;placedAt: LocalDateTime&lt;/text&gt;&#10;      &lt;rect x='60' y='252' width='470' height='132' rx='8' fill='#F0F5FC' stroke='#1E4FA8' strokeWidth='2' /&gt;&#10;      &lt;text x='82' y='282' fill='#0E3F8C' fontSize='17' fontWeight='bold'&gt;behaviour&lt;/text&gt;&#10;      &lt;text x='82' y='310' fill='#1A2230' fontSize='16'&gt;addItem(item, qty)&lt;/text&gt;&#10;      &lt;text x='82' y='336' fill='#1A2230' fontSize='16'&gt;pay(method)&lt;/text&gt;&#10;      &lt;text x='82' y='362' fill='#1A2230' fontSize='16'&gt;cancel(reason)&lt;/text&gt;&#10;      &lt;rect x='640' y='40' width='470' height='86' rx='12' fill='#F7F9FC' stroke='#D6DCE5' strokeWidth='1' /&gt;&#10;      &lt;text x='668' y='76' fill='#0E3F8C' fontSize='20' fontWeight='bold'&gt;Identity&lt;/text&gt;&#10;      &lt;text x='668' y='106' fill='#4A5568' fontSize='16'&gt;Two objects with identical state are still two objects.&lt;/text&gt;&#10;      &lt;rect x='640' y='142' width='470' height='86' rx='12' fill='#F7F9FC' stroke='#D6DCE5' strokeWidth='1' /&gt;&#10;      &lt;text x='668' y='178' fill='#0E3F8C' fontSize='20' fontWeight='bold'&gt;State&lt;/text&gt;&#10;      &lt;text x='668' y='208' fill='#4A5568' fontSize='16'&gt;What the object remembers right now.&lt;/text&gt;&#10;      &lt;rect x='640' y='244' width='470' height='86' rx='12' fill='#F7F9FC' stroke='#D6DCE5' strokeWidth='1' /&gt;&#10;      &lt;text x='668' y='280' fill='#0E3F8C' fontSize='20' fontWeight='bold'&gt;Behaviour&lt;/text&gt;&#10;      &lt;text x='668' y='310' fill='#4A5568' fontSize='16'&gt;What the object can be asked to do.&lt;/text&gt;&#10;      &lt;rect x='640' y='346' width='470' height='38' rx='10' fill='#0E3F8C' /&gt;&#10;      &lt;text x='875' y='372' textAnchor='middle' fill='#FFC107' fontSize='16' fontWeight='bold'&gt;This three-part box is a UML class. Week 03.&lt;/text&gt;&#10;    &lt;/svg&gt;&#10;  &lt;/Box&gt;&#10;  &lt;Box style={{ height: 56, background: '#0E3F8C', padding: '0 40px', flexDirection: 'row', alignItems: 'center', justifyContent: 'center' }}&gt;&#10;    &lt;Text style={{ fontSize: 18, color: '#FFFFFF', fontWeight: '600' }}&gt;State alone is a data record. State plus behaviour is an object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39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3352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Anatomy of an Object</a:t>
            </a:r>
            <a:endParaRPr/>
          </a:p>
        </p:txBody>
      </p:sp>
      <p:sp>
        <p:nvSpPr>
          <p:cNvPr id="840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09 / 38</a:t>
            </a:r>
            <a:endParaRPr/>
          </a:p>
        </p:txBody>
      </p:sp>
      <p:pic>
        <p:nvPicPr>
          <p:cNvPr id="8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514475"/>
            <a:ext cx="11239500" cy="4095750"/>
          </a:xfrm>
          <a:prstGeom prst="rect">
            <a:avLst/>
          </a:prstGeom>
          <a:ln/>
        </p:spPr>
      </p:pic>
      <p:sp>
        <p:nvSpPr>
          <p:cNvPr id="842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43" name="" descr="{&quot;isTemplate&quot;:true,&quot;type&quot;:&quot;text&quot;}"/>
          <p:cNvSpPr txBox="1"/>
          <p:nvPr/>
        </p:nvSpPr>
        <p:spPr>
          <a:xfrm rot="0" flipH="0" flipV="0">
            <a:off x="3571875" y="6486525"/>
            <a:ext cx="5057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State alone is a data record. State plus behaviour is an object.</a:t>
            </a:r>
            <a:endParaRPr/>
          </a:p>
        </p:txBody>
      </p:sp>
    </p:spTree>
  </p:cSld>
</p:sld>
</file>

<file path=ppt/slides/slide1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OBJECTS&lt;/Text&gt;&#10;  &lt;/Box&gt;&#10;  &lt;Box style={{ padding: '22px 40px 0 40px' }}&gt;&#10;    &lt;Text style={{ fontSize: 34, fontWeight: 'bold', color: '#0E3F8C' }}&gt;Objects vs. Classes&lt;/Text&gt;&#10;  &lt;/Box&gt;&#10;  &lt;Box style={{ flex: 1, padding: '18px 40px 0 40px', flexDirection: 'row', gap: 28 }}&gt;&#10;    &lt;Box style={{ flex: 3, flexDirection: 'column', gap: 14, justifyContent: 'center' }}&gt;&#10;      &lt;Box style={{ padding: '20px 22px', background: '#E8EFF8', borderRadius: 12, borderLeft: '4px solid #0E3F8C' }}&gt;&#10;        &lt;Text style={{ fontSize: 19, fontWeight: 'bold', color: '#0E3F8C', marginBottom: 6 }}&gt;Class — the mould&lt;/Text&gt;&#10;        &lt;Text style={{ fontSize: 16, color: '#4A5568', lineHeight: 1.5 }}&gt;Written once. Declares what fields and methods every instance will have. Lives in source code.&lt;/Text&gt;&#10;      &lt;/Box&gt;&#10;      &lt;Box style={{ padding: '20px 22px', background: '#F0F5FC', borderRadius: 12, borderLeft: '4px solid #3D7BD9' }}&gt;&#10;        &lt;Text style={{ fontSize: 19, fontWeight: 'bold', color: '#0E3F8C', marginBottom: 6 }}&gt;Object — what you pour&lt;/Text&gt;&#10;        &lt;Text style={{ fontSize: 16, color: '#4A5568', lineHeight: 1.5 }}&gt;Created at runtime, many times over. Each one owns its own state, shares the same behaviour.&lt;/Text&gt;&#10;      &lt;/Box&gt;&#10;      &lt;Box style={{ padding: '14px 18px', background: '#FFFFFF', borderRadius: 10, border: '1px dashed #D6DCE5' }}&gt;&#10;        &lt;Text style={{ fontSize: 15, color: '#8B97A8', lineHeight: 1.5 }}&gt;One &lt;Text style={{ fontWeight: 'bold', color: '#1A2230' }}&gt;Order&lt;/Text&gt; class. Thousands of orders at lunchtime.&lt;/Text&gt;&#10;      &lt;/Box&gt;&#10;    &lt;/Box&gt;&#10;    &lt;Box style={{ flex: 2, padding: '28px 26px', background: '#0E3F8C', borderRadius: 12, flexDirection: 'column', justifyContent: 'center', gap: 16 }}&gt;&#10;      &lt;FAIcon name='layer-group' style={{ fill: '#FFC107', width: 34, height: 34 }} /&gt;&#10;      &lt;Text style={{ fontSize: 22, fontWeight: 'bold', color: '#FFFFFF', lineHeight: 1.35 }}&gt;A class is a blueprint. An object is a house.&lt;/Text&gt;&#10;      &lt;Text style={{ fontSize: 16, color: '#C5D4EA', lineHeight: 1.55 }}&gt;The blueprint is not the house — you cannot cook in it. But every house built from it has the same rooms.&lt;/Text&gt;&#10;      &lt;Box style={{ padding: '12px 16px', background: '#1E4FA8', borderRadius: 8 }}&gt;&#10;        &lt;Text style={{ fontSize: 15, color: '#B9CDF0', lineHeight: 1.45 }}&gt;In analysis we mostly draw &lt;Text style={{ fontWeight: 'bold', color: '#FFFFFF' }}&gt;classes&lt;/Text&gt;. At runtime the system is full of &lt;Text style={{ fontWeight: 'bold', color: '#FFFFFF' }}&gt;objects&lt;/Text&gt;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0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0725150" y="257175"/>
            <a:ext cx="1085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OBJECTS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Objects vs. Classes</a:t>
            </a:r>
            <a:endParaRPr/>
          </a:p>
        </p:txBody>
      </p:sp>
      <p:sp>
        <p:nvSpPr>
          <p:cNvPr id="21" name=""/>
          <p:cNvSpPr/>
          <p:nvPr/>
        </p:nvSpPr>
        <p:spPr>
          <a:xfrm rot="0" flipH="0" flipV="0">
            <a:off x="419100" y="2362200"/>
            <a:ext cx="6696075" cy="1209675"/>
          </a:xfrm>
          <a:prstGeom prst="roundRect">
            <a:avLst>
              <a:gd name="adj" fmla="val 944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2" name=""/>
          <p:cNvSpPr/>
          <p:nvPr/>
        </p:nvSpPr>
        <p:spPr>
          <a:xfrm rot="0" flipH="0" flipV="0">
            <a:off x="419100" y="2362200"/>
            <a:ext cx="6696075" cy="1209675"/>
          </a:xfrm>
          <a:custGeom>
            <a:pathLst>
              <a:path w="703" h="127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119"/>
                </a:lnTo>
                <a:cubicBezTo>
                  <a:pt x="4" y="123"/>
                  <a:pt x="7" y="126"/>
                  <a:pt x="10" y="127"/>
                </a:cubicBezTo>
                <a:cubicBezTo>
                  <a:pt x="4" y="126"/>
                  <a:pt x="0" y="121"/>
                  <a:pt x="0" y="115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628650" y="2552700"/>
            <a:ext cx="6238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Class — the mould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628650" y="2828925"/>
            <a:ext cx="62388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Written once. Declares what fields and methods every instance will have. Lives in source code.</a:t>
            </a:r>
            <a:endParaRPr/>
          </a:p>
        </p:txBody>
      </p:sp>
      <p:sp>
        <p:nvSpPr>
          <p:cNvPr id="25" name=""/>
          <p:cNvSpPr/>
          <p:nvPr/>
        </p:nvSpPr>
        <p:spPr>
          <a:xfrm rot="0" flipH="0" flipV="0">
            <a:off x="419100" y="3705225"/>
            <a:ext cx="6696075" cy="1209675"/>
          </a:xfrm>
          <a:prstGeom prst="roundRect">
            <a:avLst>
              <a:gd name="adj" fmla="val 944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6" name=""/>
          <p:cNvSpPr/>
          <p:nvPr/>
        </p:nvSpPr>
        <p:spPr>
          <a:xfrm rot="0" flipH="0" flipV="0">
            <a:off x="419100" y="3705225"/>
            <a:ext cx="6696075" cy="1209675"/>
          </a:xfrm>
          <a:custGeom>
            <a:pathLst>
              <a:path w="703" h="127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119"/>
                </a:lnTo>
                <a:cubicBezTo>
                  <a:pt x="4" y="123"/>
                  <a:pt x="7" y="126"/>
                  <a:pt x="10" y="127"/>
                </a:cubicBezTo>
                <a:cubicBezTo>
                  <a:pt x="4" y="126"/>
                  <a:pt x="0" y="121"/>
                  <a:pt x="0" y="115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628650" y="3895725"/>
            <a:ext cx="6238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Object — what you pour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628650" y="4171950"/>
            <a:ext cx="62388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Created at runtime, many times over. Each one owns its own state, shares the same behaviour.</a:t>
            </a:r>
            <a:endParaRPr/>
          </a:p>
        </p:txBody>
      </p:sp>
      <p:sp>
        <p:nvSpPr>
          <p:cNvPr id="29" name=""/>
          <p:cNvSpPr/>
          <p:nvPr/>
        </p:nvSpPr>
        <p:spPr>
          <a:xfrm rot="0" flipH="0" flipV="0">
            <a:off x="381000" y="5048250"/>
            <a:ext cx="6696075" cy="523875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dash"/>
          </a:ln>
        </p:spPr>
        <p:txBody>
          <a:bodyPr/>
          <a:p/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552450" y="5181600"/>
            <a:ext cx="63531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One 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Order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 class. Thousands of orders at lunchtime.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7343775" y="1457325"/>
            <a:ext cx="4467225" cy="501967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591425" y="2581275"/>
            <a:ext cx="323850" cy="323850"/>
          </a:xfrm>
          <a:prstGeom prst="rect">
            <a:avLst/>
          </a:prstGeom>
          <a:ln/>
        </p:spPr>
      </p:pic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7591425" y="3057525"/>
            <a:ext cx="3971925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A class is a blueprint. An object is a house.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7591425" y="3895725"/>
            <a:ext cx="39719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The blueprint is not the house — you cannot cook in it. But every house built from it has the same rooms.</a:t>
            </a:r>
            <a:endParaRPr/>
          </a:p>
        </p:txBody>
      </p:sp>
      <p:sp>
        <p:nvSpPr>
          <p:cNvPr id="35" name=""/>
          <p:cNvSpPr/>
          <p:nvPr/>
        </p:nvSpPr>
        <p:spPr>
          <a:xfrm rot="0" flipH="0" flipV="0">
            <a:off x="7591425" y="4619625"/>
            <a:ext cx="3971925" cy="733425"/>
          </a:xfrm>
          <a:prstGeom prst="roundRect">
            <a:avLst>
              <a:gd name="adj" fmla="val 1039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7743825" y="4733925"/>
            <a:ext cx="3667125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In analysis we mostly draw </a:t>
            </a: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classes</a:t>
            </a: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. At runtime the system is full of </a:t>
            </a: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objects</a:t>
            </a: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10 / 38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OBJECTS&lt;/Text&gt;&#10;  &lt;/Box&gt;&#10;  &lt;Box style={{ padding: '22px 40px 0 40px' }}&gt;&#10;    &lt;Text style={{ fontSize: 34, fontWeight: 'bold', color: '#0E3F8C' }}&gt;Three Objects in CampusBites&lt;/Text&gt;&#10;  &lt;/Box&gt;&#10;  &lt;Box style={{ flex: 1, padding: '22px 40px 0 40px', flexDirection: 'row', gap: 24, alignItems: 'stretch' }}&gt;&#10;    {[&#10;      { icon: 'receipt', name: 'Order', state: 'lines, status, total', behav: 'addItem(), pay(), cancel()' },&#10;      { icon: 'book-open', name: 'MenuItem', state: 'name, price, available', behav: 'applyDiscount(), markSoldOut()' },&#10;      { icon: 'motorcycle', name: 'Rider', state: 'location, onDuty, load', behav: 'acceptDelivery(), reportArrival()' },&#10;    ].map((c) =&gt; (&#10;      &lt;Box key={c.name} style={{ flex: 1, padding: '24px 22px', background: '#F7F9FC', borderRadius: 12, border: '1px solid #E5E7EB', flexDirection: 'column', gap: 12 }}&gt;&#10;        &lt;Box style={{ flexDirection: 'row', alignItems: 'center', gap: 12 }}&gt;&#10;          &lt;Box style={{ width: 48, height: 48, borderRadius: 10, background: '#1E4FA8', justifyContent: 'center', alignItems: 'center' }}&gt;&#10;            &lt;FAIcon name={c.icon} style={{ fill: '#FFFFFF', width: 24, height: 24 }} /&gt;&#10;          &lt;/Box&gt;&#10;          &lt;Text style={{ fontSize: 24, fontWeight: 'bold', color: '#0E3F8C' }}&gt;{c.name}&lt;/Text&gt;&#10;        &lt;/Box&gt;&#10;        &lt;Box style={{ padding: '12px 14px', background: '#E8EFF8', borderRadius: 8 }}&gt;&#10;          &lt;Text style={{ fontSize: 13, color: '#3D7BD9', fontWeight: 'bold', letterSpacing: 1 }}&gt;STATE&lt;/Text&gt;&#10;          &lt;Text style={{ fontSize: 15, color: '#1A2230', marginTop: 5 }}&gt;{c.state}&lt;/Text&gt;&#10;        &lt;/Box&gt;&#10;        &lt;Box style={{ padding: '12px 14px', background: '#F0F5FC', borderRadius: 8 }}&gt;&#10;          &lt;Text style={{ fontSize: 13, color: '#1E4FA8', fontWeight: 'bold', letterSpacing: 1 }}&gt;BEHAVIOUR&lt;/Text&gt;&#10;          &lt;Text style={{ fontSize: 15, color: '#1A2230', marginTop: 5 }}&gt;{c.behav}&lt;/Text&gt;&#10;        &lt;/Box&gt;&#10;      &lt;/Box&gt;&#10;    ))}&#10;  &lt;/Box&gt;&#10;  &lt;Box style={{ height: 52, padding: '0 40px', flexDirection: 'row', alignItems: 'center', gap: 14 }}&gt;&#10;    &lt;FAIcon name='lightbulb' style={{ fill: '#FFC107', width: 22, height: 22 }} /&gt;&#10;    &lt;Text style={{ fontSize: 17, color: '#4A5568' }}&gt;Notice: behaviour sits with the object that owns the data. That is not an accident — it is the whole point.&lt;/Text&gt;&#10;    &lt;Text style={{ fontSize: 14, color: '#1E4FA8', fontWeight: 'bold', marginLeft: 'auto' }}&gt;1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10725150" y="257175"/>
            <a:ext cx="1085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OBJECTS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Three Objects in CampusBites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381000" y="1495425"/>
            <a:ext cx="3657600" cy="48672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6" name=""/>
          <p:cNvSpPr/>
          <p:nvPr/>
        </p:nvSpPr>
        <p:spPr>
          <a:xfrm rot="0" flipH="0" flipV="0">
            <a:off x="590550" y="1724025"/>
            <a:ext cx="457200" cy="457200"/>
          </a:xfrm>
          <a:prstGeom prst="roundRect">
            <a:avLst>
              <a:gd name="adj" fmla="val 20833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4850" y="1838325"/>
            <a:ext cx="228600" cy="228600"/>
          </a:xfrm>
          <a:prstGeom prst="rect">
            <a:avLst/>
          </a:prstGeom>
          <a:ln/>
        </p:spPr>
      </p:pic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1162050" y="1819275"/>
            <a:ext cx="6286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E3F8C"/>
                </a:solidFill>
                <a:latin typeface="Microsoft YaHei"/>
                <a:ea typeface="Microsoft YaHei"/>
              </a:rPr>
              <a:t>Order</a:t>
            </a:r>
            <a:endParaRPr/>
          </a:p>
        </p:txBody>
      </p:sp>
      <p:sp>
        <p:nvSpPr>
          <p:cNvPr id="49" name=""/>
          <p:cNvSpPr/>
          <p:nvPr/>
        </p:nvSpPr>
        <p:spPr>
          <a:xfrm rot="0" flipH="0" flipV="0">
            <a:off x="590550" y="2295525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723900" y="2409825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STATE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723900" y="2609850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lines, status, total</a:t>
            </a:r>
            <a:endParaRPr/>
          </a:p>
        </p:txBody>
      </p:sp>
      <p:sp>
        <p:nvSpPr>
          <p:cNvPr id="52" name=""/>
          <p:cNvSpPr/>
          <p:nvPr/>
        </p:nvSpPr>
        <p:spPr>
          <a:xfrm rot="0" flipH="0" flipV="0">
            <a:off x="590550" y="3009900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723900" y="3124200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1E4FA8"/>
                </a:solidFill>
                <a:latin typeface="Microsoft YaHei"/>
                <a:ea typeface="Microsoft YaHei"/>
              </a:rPr>
              <a:t>BEHAVIOUR</a:t>
            </a:r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723900" y="3324225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addItem(), pay(), cancel()</a:t>
            </a:r>
            <a:endParaRPr/>
          </a:p>
        </p:txBody>
      </p:sp>
      <p:sp>
        <p:nvSpPr>
          <p:cNvPr id="55" name=""/>
          <p:cNvSpPr/>
          <p:nvPr/>
        </p:nvSpPr>
        <p:spPr>
          <a:xfrm rot="0" flipH="0" flipV="0">
            <a:off x="4267200" y="1495425"/>
            <a:ext cx="3657600" cy="48672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6" name=""/>
          <p:cNvSpPr/>
          <p:nvPr/>
        </p:nvSpPr>
        <p:spPr>
          <a:xfrm rot="0" flipH="0" flipV="0">
            <a:off x="4476750" y="1724025"/>
            <a:ext cx="457200" cy="457200"/>
          </a:xfrm>
          <a:prstGeom prst="roundRect">
            <a:avLst>
              <a:gd name="adj" fmla="val 20833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591050" y="1838325"/>
            <a:ext cx="228600" cy="228600"/>
          </a:xfrm>
          <a:prstGeom prst="rect">
            <a:avLst/>
          </a:prstGeom>
          <a:ln/>
        </p:spPr>
      </p:pic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5048250" y="1819275"/>
            <a:ext cx="10763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E3F8C"/>
                </a:solidFill>
                <a:latin typeface="Microsoft YaHei"/>
                <a:ea typeface="Microsoft YaHei"/>
              </a:rPr>
              <a:t>MenuItem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4476750" y="2295525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4610100" y="2409825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STATE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4610100" y="2609850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name, price, available</a:t>
            </a:r>
            <a:endParaRPr/>
          </a:p>
        </p:txBody>
      </p:sp>
      <p:sp>
        <p:nvSpPr>
          <p:cNvPr id="62" name=""/>
          <p:cNvSpPr/>
          <p:nvPr/>
        </p:nvSpPr>
        <p:spPr>
          <a:xfrm rot="0" flipH="0" flipV="0">
            <a:off x="4476750" y="3009900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4610100" y="3124200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1E4FA8"/>
                </a:solidFill>
                <a:latin typeface="Microsoft YaHei"/>
                <a:ea typeface="Microsoft YaHei"/>
              </a:rPr>
              <a:t>BEHAVIOUR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4610100" y="3324225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applyDiscount(), markSoldOut()</a:t>
            </a:r>
            <a:endParaRPr/>
          </a:p>
        </p:txBody>
      </p:sp>
      <p:sp>
        <p:nvSpPr>
          <p:cNvPr id="65" name=""/>
          <p:cNvSpPr/>
          <p:nvPr/>
        </p:nvSpPr>
        <p:spPr>
          <a:xfrm rot="0" flipH="0" flipV="0">
            <a:off x="8153400" y="1495425"/>
            <a:ext cx="3657600" cy="48672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6" name=""/>
          <p:cNvSpPr/>
          <p:nvPr/>
        </p:nvSpPr>
        <p:spPr>
          <a:xfrm rot="0" flipH="0" flipV="0">
            <a:off x="8362950" y="1724025"/>
            <a:ext cx="457200" cy="457200"/>
          </a:xfrm>
          <a:prstGeom prst="roundRect">
            <a:avLst>
              <a:gd name="adj" fmla="val 20833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477250" y="1838325"/>
            <a:ext cx="228600" cy="228600"/>
          </a:xfrm>
          <a:prstGeom prst="rect">
            <a:avLst/>
          </a:prstGeom>
          <a:ln/>
        </p:spPr>
      </p:pic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8934450" y="1819275"/>
            <a:ext cx="5905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E3F8C"/>
                </a:solidFill>
                <a:latin typeface="Microsoft YaHei"/>
                <a:ea typeface="Microsoft YaHei"/>
              </a:rPr>
              <a:t>Rider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8362950" y="2295525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8496300" y="2409825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STATE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8496300" y="2609850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location, onDuty, load</a:t>
            </a:r>
            <a:endParaRPr/>
          </a:p>
        </p:txBody>
      </p:sp>
      <p:sp>
        <p:nvSpPr>
          <p:cNvPr id="72" name=""/>
          <p:cNvSpPr/>
          <p:nvPr/>
        </p:nvSpPr>
        <p:spPr>
          <a:xfrm rot="0" flipH="0" flipV="0">
            <a:off x="8362950" y="3009900"/>
            <a:ext cx="3238500" cy="600075"/>
          </a:xfrm>
          <a:prstGeom prst="roundRect">
            <a:avLst>
              <a:gd name="adj" fmla="val 1269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8496300" y="3124200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1E4FA8"/>
                </a:solidFill>
                <a:latin typeface="Microsoft YaHei"/>
                <a:ea typeface="Microsoft YaHei"/>
              </a:rPr>
              <a:t>BEHAVIOUR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8496300" y="3324225"/>
            <a:ext cx="2971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acceptDelivery(), reportArrival()</a:t>
            </a:r>
            <a:endParaRPr/>
          </a:p>
        </p:txBody>
      </p:sp>
      <p:pic>
        <p:nvPicPr>
          <p:cNvPr id="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81000" y="6505575"/>
            <a:ext cx="209550" cy="209550"/>
          </a:xfrm>
          <a:prstGeom prst="rect">
            <a:avLst/>
          </a:prstGeom>
          <a:ln/>
        </p:spPr>
      </p:pic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723900" y="6515100"/>
            <a:ext cx="7391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Notice: behaviour sits with the object that owns the data. That is not an accident — it is the whole point.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11401425" y="65341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11 / 38</a:t>
            </a:r>
            <a:endParaRPr/>
          </a:p>
        </p:txBody>
      </p:sp>
    </p:spTree>
  </p:cSld>
</p:sld>
</file>

<file path=ppt/slides/slide12.xml><?xml version="1.0" encoding="utf-8"?>
<p:sld xmlns:a="http://schemas.openxmlformats.org/drawingml/2006/main" xmlns:p="http://schemas.openxmlformats.org/presentationml/2006/main">
  <p:cSld>
    <p:spTree>
      <p:nvGrpSpPr>
        <p:cNvPr id="78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3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Encapsulation&lt;/Text&gt;&#10;      &lt;Box style={{ width: 64, height: 4, background: '#FFC107', marginTop: 26, marginBottom: 26 }} /&gt;&#10;      &lt;Box style={{ flexDirection: 'column', gap: 12 }}&gt;&#10;        {[&#10;          'Hide the state; expose the behaviour',&#10;          'Private fields, guarded public methods',&#10;          'Why hiding state protects your rules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0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38100" y="2171700"/>
            <a:ext cx="278130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467100" y="22098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3467100" y="2552700"/>
            <a:ext cx="8115300" cy="6477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Encapsulation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3467100" y="34480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5" name=""/>
          <p:cNvSpPr/>
          <p:nvPr/>
        </p:nvSpPr>
        <p:spPr>
          <a:xfrm rot="0" flipH="0" flipV="0">
            <a:off x="3467100" y="38100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3657600" y="3733800"/>
            <a:ext cx="3105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Hide the state; expose the behaviour</a:t>
            </a:r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3467100" y="4152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3657600" y="4076700"/>
            <a:ext cx="3238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Private fields, guarded public methods</a:t>
            </a:r>
            <a:endParaRPr/>
          </a:p>
        </p:txBody>
      </p:sp>
      <p:sp>
        <p:nvSpPr>
          <p:cNvPr id="89" name=""/>
          <p:cNvSpPr/>
          <p:nvPr/>
        </p:nvSpPr>
        <p:spPr>
          <a:xfrm rot="0" flipH="0" flipV="0">
            <a:off x="3467100" y="4495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3657600" y="4419600"/>
            <a:ext cx="30289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Why hiding state protects your rules</a:t>
            </a:r>
            <a:endParaRPr/>
          </a:p>
        </p:txBody>
      </p:sp>
      <p:sp>
        <p:nvSpPr>
          <p:cNvPr id="9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ENCAPSULATION&lt;/Text&gt;&#10;  &lt;/Box&gt;&#10;  &lt;Box style={{ padding: '22px 40px 0 40px' }}&gt;&#10;    &lt;Text style={{ fontSize: 34, fontWeight: 'bold', color: '#0E3F8C' }}&gt;What Encapsulation Means&lt;/Text&gt;&#10;  &lt;/Box&gt;&#10;  &lt;Box style={{ flex: 1, padding: '20px 40px 0 40px', flexDirection: 'row', gap: 28 }}&gt;&#10;    &lt;Box style={{ flex: 1, flexDirection: 'column', gap: 12, justifyContent: 'center' }}&gt;&#10;      {[&#10;        ['shield-alt', 'Information hiding', 'The object keeps its data private and decides for itself how that data changes.'],&#10;        ['door-closed', 'A public interface', 'Only a small set of methods is visible from outside — the object\'s contract.'],&#10;        ['exchange-alt', 'Change without breaking', 'Internals can be rewritten as long as the public methods behave the same.'],&#10;      ].map(([icon, t, d]) =&gt; (&#10;        &lt;Box key={t} style={{ flexDirection: 'row', gap: 14, alignItems: 'flex-start', padding: '16px 18px', background: '#F7F9FC', borderRadius: 10, border: '1px solid #E5E7EB' }}&gt;&#10;          &lt;Box style={{ width: 44, height: 44, borderRadius: 10, background: '#E8EFF8', justifyContent: 'center', alignItems: 'center' }}&gt;&#10;            &lt;FAIcon name={icon} style={{ fill: '#1E4FA8', width: 22, height: 22 }} /&gt;&#10;          &lt;/Box&gt;&#10;          &lt;Box style={{ flex: 1, flexDirection: 'column', gap: 4 }}&gt;&#10;            &lt;Text style={{ fontSize: 18, fontWeight: 'bold', color: '#1A2230' }}&gt;{t}&lt;/Text&gt;&#10;            &lt;Text style={{ fontSize: 15, color: '#4A5568', lineHeight: 1.5 }}&gt;{d}&lt;/Text&gt;&#10;          &lt;/Box&gt;&#10;        &lt;/Box&gt;&#10;      ))}&#10;    &lt;/Box&gt;&#10;    &lt;Box style={{ width: 340, padding: '28px 26px', background: '#0E3F8C', borderRadius: 12, flexDirection: 'column', justifyContent: 'center', gap: 14 }}&gt;&#10;      &lt;Text style={{ fontSize: 16, color: '#7FA2D6', letterSpacing: 1 }}&gt;IN ONE SENTENCE&lt;/Text&gt;&#10;      &lt;Text style={{ fontSize: 24, fontWeight: 'bold', color: '#FFFFFF', lineHeight: 1.35 }}&gt;Tell an object what to do. Never reach in and do it for it.&lt;/Text&gt;&#10;      &lt;Box style={{ width: 48, height: 4, background: '#FFC107' }} /&gt;&#10;      &lt;Text style={{ fontSize: 16, color: '#C5D4EA', lineHeight: 1.55 }}&gt;This is the &quot;tell, don't ask&quot; rule. It is the seed of almost every design principle we meet later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3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10191750" y="257175"/>
            <a:ext cx="1619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ENCAPSULATION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What Encapsulation Means</a:t>
            </a:r>
            <a:endParaRPr/>
          </a:p>
        </p:txBody>
      </p:sp>
      <p:sp>
        <p:nvSpPr>
          <p:cNvPr id="98" name=""/>
          <p:cNvSpPr/>
          <p:nvPr/>
        </p:nvSpPr>
        <p:spPr>
          <a:xfrm rot="0" flipH="0" flipV="0">
            <a:off x="381000" y="2647950"/>
            <a:ext cx="7924800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9" name=""/>
          <p:cNvSpPr/>
          <p:nvPr/>
        </p:nvSpPr>
        <p:spPr>
          <a:xfrm rot="0" flipH="0" flipV="0">
            <a:off x="552450" y="280035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57225" y="2905125"/>
            <a:ext cx="209550" cy="209550"/>
          </a:xfrm>
          <a:prstGeom prst="rect">
            <a:avLst/>
          </a:prstGeom>
          <a:ln/>
        </p:spPr>
      </p:pic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1104900" y="2800350"/>
            <a:ext cx="7029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Information hiding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1104900" y="3048000"/>
            <a:ext cx="7029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object keeps its data private and decides for itself how that data changes.</a:t>
            </a:r>
            <a:endParaRPr/>
          </a:p>
        </p:txBody>
      </p:sp>
      <p:sp>
        <p:nvSpPr>
          <p:cNvPr id="103" name=""/>
          <p:cNvSpPr/>
          <p:nvPr/>
        </p:nvSpPr>
        <p:spPr>
          <a:xfrm rot="0" flipH="0" flipV="0">
            <a:off x="381000" y="3571875"/>
            <a:ext cx="7924800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4" name=""/>
          <p:cNvSpPr/>
          <p:nvPr/>
        </p:nvSpPr>
        <p:spPr>
          <a:xfrm rot="0" flipH="0" flipV="0">
            <a:off x="552450" y="37242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57225" y="3829050"/>
            <a:ext cx="209550" cy="209550"/>
          </a:xfrm>
          <a:prstGeom prst="rect">
            <a:avLst/>
          </a:prstGeom>
          <a:ln/>
        </p:spPr>
      </p:pic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1104900" y="3724275"/>
            <a:ext cx="7029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A public interface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1104900" y="3971925"/>
            <a:ext cx="7029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Only a small set of methods is visible from outside — the object's contract.</a:t>
            </a:r>
            <a:endParaRPr/>
          </a:p>
        </p:txBody>
      </p:sp>
      <p:sp>
        <p:nvSpPr>
          <p:cNvPr id="108" name=""/>
          <p:cNvSpPr/>
          <p:nvPr/>
        </p:nvSpPr>
        <p:spPr>
          <a:xfrm rot="0" flipH="0" flipV="0">
            <a:off x="381000" y="4495800"/>
            <a:ext cx="7924800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9" name=""/>
          <p:cNvSpPr/>
          <p:nvPr/>
        </p:nvSpPr>
        <p:spPr>
          <a:xfrm rot="0" flipH="0" flipV="0">
            <a:off x="552450" y="464820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1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57225" y="4752975"/>
            <a:ext cx="209550" cy="209550"/>
          </a:xfrm>
          <a:prstGeom prst="rect">
            <a:avLst/>
          </a:prstGeom>
          <a:ln/>
        </p:spPr>
      </p:pic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1104900" y="4648200"/>
            <a:ext cx="7029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Change without breaking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1104900" y="4895850"/>
            <a:ext cx="70294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Internals can be rewritten as long as the public methods behave the same.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8572500" y="1476375"/>
            <a:ext cx="3238500" cy="5000625"/>
          </a:xfrm>
          <a:prstGeom prst="roundRect">
            <a:avLst>
              <a:gd name="adj" fmla="val 35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8820150" y="2676525"/>
            <a:ext cx="274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IN ONE SENTENCE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8820150" y="3000375"/>
            <a:ext cx="2743200" cy="1114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Tell an object what to do. Never reach in and do it for it.</a:t>
            </a:r>
            <a:endParaRPr/>
          </a:p>
        </p:txBody>
      </p:sp>
      <p:sp>
        <p:nvSpPr>
          <p:cNvPr id="116" name=""/>
          <p:cNvSpPr/>
          <p:nvPr/>
        </p:nvSpPr>
        <p:spPr>
          <a:xfrm rot="0" flipH="0" flipV="0">
            <a:off x="8820150" y="4248150"/>
            <a:ext cx="4572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8820150" y="4419600"/>
            <a:ext cx="27432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This is the "tell, don't ask" rule. It is the seed of almost every design principle we meet later.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13 / 38</a:t>
            </a:r>
            <a:endParaRPr/>
          </a:p>
        </p:txBody>
      </p:sp>
    </p:spTree>
  </p:cSld>
</p:sld>
</file>

<file path=ppt/slides/slide1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2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ENCAPSULATION&lt;/Text&gt;&#10;  &lt;/Box&gt;&#10;  &lt;Box style={{ padding: '20px 40px 0 40px' }}&gt;&#10;    &lt;Text style={{ fontSize: 32, fontWeight: 'bold', color: '#0E3F8C' }}&gt;Encapsulation in Java&lt;/Text&gt;&#10;  &lt;/Box&gt;&#10;  &lt;Box style={{ flex: 1, padding: '16px 40px 0 40px', flexDirection: 'row', gap: 26 }}&gt;&#10;    &lt;Box style={{ flex: 3, justifyContent: 'center' }}&gt;&#10;      &lt;CodeBlock code={`public class Order {&#10;    private final List lines = new ArrayList();&#10;    private OrderStatus status = OrderStatus.DRAFT;&#10;&#10;    public void addItem(MenuItem item, int qty) {&#10;        if (status != OrderStatus.DRAFT) {&#10;            throw new IllegalStateException(&#10;                &quot;Order already placed&quot;);&#10;        }&#10;        lines.add(new OrderLine(item, qty));&#10;    }&#10;&#10;    public Money total() {&#10;        Money sum = Money.ZERO;&#10;        for (OrderLine l : lines) {&#10;            sum = sum.plus(l.subtotal());&#10;        }&#10;        return sum;&#10;    }&#10;}`} language='java' width={580} fontSize={13} /&gt;&#10;    &lt;/Box&gt;&#10;    &lt;Box style={{ flex: 2, flexDirection: 'column', gap: 11, justifyContent: 'center' }}&gt;&#10;      {[&#10;        ['lock', 'private fields', 'Nobody outside can set status to a nonsense value.'],&#10;        ['user-check', 'guarded method', 'addItem() refuses once the order is placed.'],&#10;        ['calculator', 'computed, not stored', 'total() is derived — there is no stale copy to drift.'],&#10;      ].map(([icon, t, d]) =&gt; (&#10;        &lt;Box key={t} style={{ flexDirection: 'row', gap: 12, alignItems: 'flex-start', padding: '14px 16px', background: '#F7F9FC', borderRadius: 10, border: '1px solid #E5E7EB' }}&gt;&#10;          &lt;Box style={{ width: 38, height: 38, borderRadius: 9, background: '#E8EFF8', justifyContent: 'center', alignItems: 'center' }}&gt;&#10;            &lt;FAIcon name={icon} style={{ fill: '#1E4FA8', width: 19, height: 19 }} /&gt;&#10;          &lt;/Box&gt;&#10;          &lt;Box style={{ flex: 1, flexDirection: 'column', gap: 2 }}&gt;&#10;            &lt;Text style={{ fontSize: 16, fontWeight: 'bold', color: '#0E3F8C' }}&gt;{t}&lt;/Text&gt;&#10;            &lt;Text style={{ fontSize: 14, color: '#4A5568', lineHeight: 1.4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Generic types omitted for slide width; your lab code uses List&amp;lt;OrderLine&amp;gt;.&lt;/Text&gt;&#10;    &lt;Text style={{ fontSize: 14, color: '#1E4FA8', fontWeight: 'bold' }}&gt;1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2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10191750" y="257175"/>
            <a:ext cx="1619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ENCAPSULATION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Encapsulation in Java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7334250" y="2762250"/>
            <a:ext cx="447675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27" name=""/>
          <p:cNvSpPr/>
          <p:nvPr/>
        </p:nvSpPr>
        <p:spPr>
          <a:xfrm rot="0" flipH="0" flipV="0">
            <a:off x="7486650" y="28956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581900" y="2990850"/>
            <a:ext cx="180975" cy="180975"/>
          </a:xfrm>
          <a:prstGeom prst="rect">
            <a:avLst/>
          </a:prstGeom>
          <a:ln/>
        </p:spPr>
      </p:pic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7962900" y="2895600"/>
            <a:ext cx="3695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private fields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7962900" y="3105150"/>
            <a:ext cx="36957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Nobody outside can set status to a nonsense value.</a:t>
            </a:r>
            <a:endParaRPr/>
          </a:p>
        </p:txBody>
      </p:sp>
      <p:sp>
        <p:nvSpPr>
          <p:cNvPr id="131" name=""/>
          <p:cNvSpPr/>
          <p:nvPr/>
        </p:nvSpPr>
        <p:spPr>
          <a:xfrm rot="0" flipH="0" flipV="0">
            <a:off x="7334250" y="3581400"/>
            <a:ext cx="447675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2" name=""/>
          <p:cNvSpPr/>
          <p:nvPr/>
        </p:nvSpPr>
        <p:spPr>
          <a:xfrm rot="0" flipH="0" flipV="0">
            <a:off x="7486650" y="371475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81900" y="3810000"/>
            <a:ext cx="180975" cy="180975"/>
          </a:xfrm>
          <a:prstGeom prst="rect">
            <a:avLst/>
          </a:prstGeom>
          <a:ln/>
        </p:spPr>
      </p:pic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7962900" y="3714750"/>
            <a:ext cx="3695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guarded method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7962900" y="3924300"/>
            <a:ext cx="36957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addItem() refuses once the order is placed.</a:t>
            </a:r>
            <a:endParaRPr/>
          </a:p>
        </p:txBody>
      </p:sp>
      <p:sp>
        <p:nvSpPr>
          <p:cNvPr id="136" name=""/>
          <p:cNvSpPr/>
          <p:nvPr/>
        </p:nvSpPr>
        <p:spPr>
          <a:xfrm rot="0" flipH="0" flipV="0">
            <a:off x="7334250" y="4400550"/>
            <a:ext cx="447675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7" name=""/>
          <p:cNvSpPr/>
          <p:nvPr/>
        </p:nvSpPr>
        <p:spPr>
          <a:xfrm rot="0" flipH="0" flipV="0">
            <a:off x="7486650" y="4533900"/>
            <a:ext cx="361950" cy="361950"/>
          </a:xfrm>
          <a:prstGeom prst="roundRect">
            <a:avLst>
              <a:gd name="adj" fmla="val 23684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581900" y="4629150"/>
            <a:ext cx="180975" cy="180975"/>
          </a:xfrm>
          <a:prstGeom prst="rect">
            <a:avLst/>
          </a:prstGeom>
          <a:ln/>
        </p:spPr>
      </p:pic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7962900" y="4533900"/>
            <a:ext cx="36957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computed, not stored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7962900" y="4743450"/>
            <a:ext cx="36957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total() is derived — there is no stale copy to drift.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4067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Generic types omitted for slide width; your lab code uses List&lt;OrderLine&gt;.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14 / 38</a:t>
            </a:r>
            <a:endParaRPr/>
          </a:p>
        </p:txBody>
      </p:sp>
      <p:sp>
        <p:nvSpPr>
          <p:cNvPr id="143" name=""/>
          <p:cNvSpPr/>
          <p:nvPr/>
        </p:nvSpPr>
        <p:spPr>
          <a:xfrm rot="0" flipH="0" flipV="0">
            <a:off x="381000" y="1724025"/>
            <a:ext cx="6705600" cy="4429125"/>
          </a:xfrm>
          <a:prstGeom prst="roundRect">
            <a:avLst>
              <a:gd name="adj" fmla="val 1720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144" name=""/>
          <p:cNvSpPr txBox="1"/>
          <p:nvPr/>
        </p:nvSpPr>
        <p:spPr>
          <a:xfrm rot="0" flipH="0" flipV="0">
            <a:off x="533400" y="1857375"/>
            <a:ext cx="6400800" cy="4162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Order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private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final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List lines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new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ArrayList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private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OrderStatus status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OrderStatus.DRAFT;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addItem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(MenuItem </a:t>
            </a:r>
            <a:r>
              <a:rPr sz="975">
                <a:solidFill>
                  <a:srgbClr val="E36209"/>
                </a:solidFill>
                <a:latin typeface="Menlo"/>
                <a:ea typeface="Menlo"/>
              </a:rPr>
              <a:t>item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,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int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E36209"/>
                </a:solidFill>
                <a:latin typeface="Menlo"/>
                <a:ea typeface="Menlo"/>
              </a:rPr>
              <a:t>qty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)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(status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!=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OrderStatus.DRAFT)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       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throw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new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IllegalStateException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            </a:t>
            </a:r>
            <a:r>
              <a:rPr sz="975">
                <a:solidFill>
                  <a:srgbClr val="032F62"/>
                </a:solidFill>
                <a:latin typeface="Menlo"/>
                <a:ea typeface="Menlo"/>
              </a:rPr>
              <a:t>"Order already placed"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    }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    lines.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add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new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OrderLine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(item, qty));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}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Money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total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()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    Money sum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Money.ZERO;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for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(OrderLine l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: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lines)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        sum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sum.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plus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(l.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subtotal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());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    }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return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sum;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}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</p:txBody>
      </p:sp>
    </p:spTree>
  </p:cSld>
</p:sld>
</file>

<file path=ppt/slides/slide1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4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ENCAPSULATION&lt;/Text&gt;&#10;  &lt;/Box&gt;&#10;  &lt;Box style={{ padding: '20px 40px 0 40px' }}&gt;&#10;    &lt;Text style={{ fontSize: 32, fontWeight: 'bold', color: '#0E3F8C' }}&gt;The Getter / Setter Debate&lt;/Text&gt;&#10;  &lt;/Box&gt;&#10;  &lt;Box style={{ flex: 1, padding: '16px 40px 0 40px', flexDirection: 'row', gap: 26 }}&gt;&#10;    &lt;Box style={{ flex: 3, flexDirection: 'column', gap: 12 }}&gt;&#10;      &lt;Box style={{ flex: 1, padding: '16px 18px', background: '#FDF3F3', borderRadius: 12, border: '1px solid #D9534F', flexDirection: 'column' }}&gt;&#10;        &lt;Box style={{ flexDirection: 'row', alignItems: 'center', gap: 10, marginBottom: 8 }}&gt;&#10;          &lt;FAIcon name='times-circle' style={{ fill: '#D9534F', width: 20, height: 20 }} /&gt;&#10;          &lt;Text style={{ fontSize: 16, fontWeight: 'bold', color: '#D9534F' }}&gt;Expose the fields — every caller re-implements the rule&lt;/Text&gt;&#10;        &lt;/Box&gt;&#10;        &lt;CodeBlock code={`public class Order {&#10;    public List lines;&#10;    public OrderStatus status;&#10;}&#10;&#10;// caller must know the rule — every time&#10;if (order.status == OrderStatus.DRAFT) {&#10;    order.lines.add(new OrderLine(item, qty));&#10;}&#10;// one caller forgets the check.&#10;// now the order is wrong.`} language='java' width={520} fontSize={12} /&gt;&#10;      &lt;/Box&gt;&#10;    &lt;/Box&gt;&#10;    &lt;Box style={{ flex: 2, flexDirection: 'column', gap: 12 }}&gt;&#10;      &lt;Box style={{ padding: '16px 18px', background: '#F0F5FC', borderRadius: 12, border: '1px solid #3D7BD9', flexDirection: 'column' }}&gt;&#10;        &lt;Box style={{ flexDirection: 'row', alignItems: 'center', gap: 10, marginBottom: 8 }}&gt;&#10;          &lt;FAIcon name='check-circle' style={{ fill: '#1E4FA8', width: 20, height: 20 }} /&gt;&#10;          &lt;Text style={{ fontSize: 16, fontWeight: 'bold', color: '#0E3F8C' }}&gt;Ask the object — the rule has one home&lt;/Text&gt;&#10;        &lt;/Box&gt;&#10;        &lt;CodeBlock code={`// the rule lives with the data&#10;order.addItem(item, qty);`} language='java' width={330} fontSize={12} /&gt;&#10;      &lt;/Box&gt;&#10;      &lt;Box style={{ flex: 1, padding: '20px 22px', background: '#0E3F8C', borderRadius: 12, flexDirection: 'column', justifyContent: 'center', gap: 12 }}&gt;&#10;        &lt;Text style={{ fontSize: 20, fontWeight: 'bold', color: '#FFFFFF', lineHeight: 1.35 }}&gt;A getter for everything is just public fields with extra steps.&lt;/Text&gt;&#10;        &lt;Text style={{ fontSize: 15, color: '#C5D4EA', lineHeight: 1.5 }}&gt;Ask what the object should &lt;Text style={{ fontWeight: 'bold', color: '#FFC107' }}&gt;do&lt;/Text&gt;, not what it should &lt;Text style={{ fontWeight: 'bold', color: '#FFC107' }}&gt;reveal&lt;/Text&gt;.&lt;/Text&gt;&#10;      &lt;/Box&gt;&#10;    &lt;/Box&gt;&#10;  &lt;/Box&gt;&#10;  &lt;Box style={{ height: 40, padding: '0 40px', flexDirection: 'row', alignItems: 'center', justifyContent: 'space-between' }}&gt;&#10;    &lt;Text style={{ fontSize: 13, color: '#8B97A8' }}&gt;Getters for reporting are fine. Getters that let callers enforce rules are not.&lt;/Text&gt;&#10;    &lt;Text style={{ fontSize: 14, color: '#1E4FA8', fontWeight: 'bold' }}&gt;1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10191750" y="257175"/>
            <a:ext cx="1619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ENCAPSULATION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The Getter / Setter Debate</a:t>
            </a:r>
            <a:endParaRPr/>
          </a:p>
        </p:txBody>
      </p:sp>
      <p:sp>
        <p:nvSpPr>
          <p:cNvPr id="151" name=""/>
          <p:cNvSpPr/>
          <p:nvPr/>
        </p:nvSpPr>
        <p:spPr>
          <a:xfrm rot="0" flipH="0" flipV="0">
            <a:off x="381000" y="1400175"/>
            <a:ext cx="6705600" cy="5076825"/>
          </a:xfrm>
          <a:prstGeom prst="roundRect">
            <a:avLst>
              <a:gd name="adj" fmla="val 2251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/>
        </p:txBody>
      </p:sp>
      <p:pic>
        <p:nvPicPr>
          <p:cNvPr id="15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52450" y="1552575"/>
            <a:ext cx="190500" cy="190500"/>
          </a:xfrm>
          <a:prstGeom prst="rect">
            <a:avLst/>
          </a:prstGeom>
          <a:ln/>
        </p:spPr>
      </p:pic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838200" y="1552575"/>
            <a:ext cx="4010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Expose the fields — every caller re-implements the rule</a:t>
            </a:r>
            <a:endParaRPr/>
          </a:p>
        </p:txBody>
      </p:sp>
      <p:sp>
        <p:nvSpPr>
          <p:cNvPr id="154" name=""/>
          <p:cNvSpPr/>
          <p:nvPr/>
        </p:nvSpPr>
        <p:spPr>
          <a:xfrm rot="0" flipH="0" flipV="0">
            <a:off x="7334250" y="1400175"/>
            <a:ext cx="4476750" cy="1228725"/>
          </a:xfrm>
          <a:prstGeom prst="roundRect">
            <a:avLst>
              <a:gd name="adj" fmla="val 9302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pic>
        <p:nvPicPr>
          <p:cNvPr id="1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05700" y="1552575"/>
            <a:ext cx="190500" cy="190500"/>
          </a:xfrm>
          <a:prstGeom prst="rect">
            <a:avLst/>
          </a:prstGeom>
          <a:ln/>
        </p:spPr>
      </p:pic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7791450" y="1552575"/>
            <a:ext cx="2905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Ask the object — the rule has one home</a:t>
            </a:r>
            <a:endParaRPr/>
          </a:p>
        </p:txBody>
      </p:sp>
      <p:sp>
        <p:nvSpPr>
          <p:cNvPr id="157" name=""/>
          <p:cNvSpPr/>
          <p:nvPr/>
        </p:nvSpPr>
        <p:spPr>
          <a:xfrm rot="0" flipH="0" flipV="0">
            <a:off x="7334250" y="2743200"/>
            <a:ext cx="4476750" cy="3733800"/>
          </a:xfrm>
          <a:prstGeom prst="roundRect">
            <a:avLst>
              <a:gd name="adj" fmla="val 306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7543800" y="4114800"/>
            <a:ext cx="405765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A getter for everything is just public fields with extra steps.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7543800" y="4848225"/>
            <a:ext cx="40576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Ask what the object should </a:t>
            </a: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do</a:t>
            </a: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, not what it should </a:t>
            </a: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reveal</a:t>
            </a: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4038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Getters for reporting are fine. Getters that let callers enforce rules are not.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15 / 38</a:t>
            </a:r>
            <a:endParaRPr/>
          </a:p>
        </p:txBody>
      </p:sp>
      <p:sp>
        <p:nvSpPr>
          <p:cNvPr id="162" name=""/>
          <p:cNvSpPr/>
          <p:nvPr/>
        </p:nvSpPr>
        <p:spPr>
          <a:xfrm rot="0" flipH="0" flipV="0">
            <a:off x="552450" y="1819275"/>
            <a:ext cx="6362700" cy="2381250"/>
          </a:xfrm>
          <a:prstGeom prst="roundRect">
            <a:avLst>
              <a:gd name="adj" fmla="val 3200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163" name=""/>
          <p:cNvSpPr txBox="1"/>
          <p:nvPr/>
        </p:nvSpPr>
        <p:spPr>
          <a:xfrm rot="0" flipH="0" flipV="0">
            <a:off x="704850" y="1952625"/>
            <a:ext cx="6057900" cy="2114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Order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List lines;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OrderStatus status;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caller must know the rule — every time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(order.status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==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OrderStatus.DRAFT)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order.lines.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add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new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OrderLine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(item, qty));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one caller forgets the check.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now the order is wrong.</a:t>
            </a:r>
            <a:endParaRPr/>
          </a:p>
        </p:txBody>
      </p:sp>
      <p:sp>
        <p:nvSpPr>
          <p:cNvPr id="164" name=""/>
          <p:cNvSpPr/>
          <p:nvPr/>
        </p:nvSpPr>
        <p:spPr>
          <a:xfrm rot="0" flipH="0" flipV="0">
            <a:off x="7505700" y="1819275"/>
            <a:ext cx="4133850" cy="657225"/>
          </a:xfrm>
          <a:prstGeom prst="roundRect">
            <a:avLst>
              <a:gd name="adj" fmla="val 11594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165" name=""/>
          <p:cNvSpPr txBox="1"/>
          <p:nvPr/>
        </p:nvSpPr>
        <p:spPr>
          <a:xfrm rot="0" flipH="0" flipV="0">
            <a:off x="7658100" y="1952625"/>
            <a:ext cx="3829050" cy="390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the rule lives with the data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order.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addItem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(item, qty);</a:t>
            </a:r>
            <a:endParaRPr/>
          </a:p>
        </p:txBody>
      </p:sp>
    </p:spTree>
  </p:cSld>
</p:sld>
</file>

<file path=ppt/slides/slide1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6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ENCAPSULATION&lt;/Text&gt;&#10;  &lt;/Box&gt;&#10;  &lt;Box style={{ padding: '22px 40px 0 40px' }}&gt;&#10;    &lt;Text style={{ fontSize: 32, fontWeight: 'bold', color: '#0E3F8C' }}&gt;Why Hiding State Matters&lt;/Text&gt;&#10;  &lt;/Box&gt;&#10;  &lt;Box style={{ flex: 1, padding: '14px 40px 0 40px', flexDirection: 'row', gap: 26 }}&gt;&#10;    &lt;Box style={{ flex: 5, justifyContent: 'center', alignItems: 'center' }}&gt;&#10;      &lt;svg width={600} height={340} viewBox='0 0 600 340'&gt;&#10;        &lt;text x='300' y='26' textAnchor='middle' fill='#0E3F8C' fontSize='19' fontWeight='bold'&gt;An invariant the object must protect&lt;/text&gt;&#10;        &lt;text x='300' y='52' textAnchor='middle' fill='#8B97A8' fontSize='15'&gt;&quot;A placed order can no longer accept new items.&quot;&lt;/text&gt;&#10;        &lt;rect x='30' y='78' width='250' height='118' rx='12' fill='#FDF3F3' stroke='#D9534F' strokeWidth='2' /&gt;&#10;        &lt;text x='155' y='108' textAnchor='middle' fill='#D9534F' fontSize='17' fontWeight='bold'&gt;public fields&lt;/text&gt;&#10;        &lt;text x='155' y='136' textAnchor='middle' fill='#4A5568' fontSize='14'&gt;order.status = PLACED;&lt;/text&gt;&#10;        &lt;text x='155' y='158' textAnchor='middle' fill='#4A5568' fontSize='14'&gt;order.lines.add(...)&lt;/text&gt;&#10;        &lt;text x='155' y='184' textAnchor='middle' fill='#D9534F' fontSize='14' fontWeight='bold'&gt;invariant broken&lt;/text&gt;&#10;        &lt;rect x='320' y='78' width='250' height='118' rx='12' fill='#E8EFF8' stroke='#1E4FA8' strokeWidth='2' /&gt;&#10;        &lt;text x='445' y='108' textAnchor='middle' fill='#0E3F8C' fontSize='17' fontWeight='bold'&gt;private + guard&lt;/text&gt;&#10;        &lt;text x='445' y='136' textAnchor='middle' fill='#4A5568' fontSize='14'&gt;order.addItem(...)&lt;/text&gt;&#10;        &lt;text x='445' y='158' textAnchor='middle' fill='#4A5568' fontSize='14'&gt;→ IllegalStateException&lt;/text&gt;&#10;        &lt;text x='445' y='184' textAnchor='middle' fill='#1E4FA8' fontSize='14' fontWeight='bold'&gt;invariant held&lt;/text&gt;&#10;        &lt;line x1='155' y1='196' x2='155' y2='228' stroke='#D9534F' strokeWidth='2' /&gt;&#10;        &lt;line x1='445' y1='196' x2='445' y2='228' stroke='#1E4FA8' strokeWidth='2' /&gt;&#10;        &lt;rect x='30' y='228' width='540' height='86' rx='12' fill='#0E3F8C' /&gt;&#10;        &lt;text x='300' y='258' textAnchor='middle' fill='#FFFFFF' fontSize='17' fontWeight='bold'&gt;Encapsulation is not politeness.&lt;/text&gt;&#10;        &lt;text x='300' y='286' textAnchor='middle' fill='#C5D4EA' fontSize='15'&gt;It is the only place a business rule can be enforced once.&lt;/text&gt;&#10;        &lt;text x='300' y='306' textAnchor='middle' fill='#FFC107' fontSize='14'&gt;Ask yourself: who is allowed to change this field?&lt;/text&gt;&#10;      &lt;/svg&gt;&#10;    &lt;/Box&gt;&#10;    &lt;Box style={{ flex: 4, flexDirection: 'column', gap: 12, justifyContent: 'center' }}&gt;&#10;      {[&#10;        ['balance-scale', 'Invariant', 'A rule that must hold at every moment — not just after a good call.'],&#10;        ['search', 'One place to look', 'When a rule can only be broken in one method, debugging is short.'],&#10;        ['code-branch', 'Safe to refactor', 'Callers depend on the method, never on the fields behind it.'],&#10;      ].map(([icon, t, d]) =&gt; (&#10;        &lt;Box key={t} style={{ flexDirection: 'row', gap: 13, alignItems: 'flex-start', padding: '15px 17px', background: '#F7F9FC', borderRadius: 10, border: '1px solid #E5E7EB' }}&gt;&#10;          &lt;Box style={{ width: 40, height: 40, borderRadius: 9, background: '#E8EFF8', justifyContent: 'center', alignItems: 'center' }}&gt;&#10;            &lt;FAIcon name={icon} style={{ fill: '#1E4FA8', width: 20, height: 20 }} /&gt;&#10;          &lt;/Box&gt;&#10;          &lt;Box style={{ flex: 1,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10191750" y="257175"/>
            <a:ext cx="1619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ENCAPSULATION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Why Hiding State Matters</a:t>
            </a:r>
            <a:endParaRPr/>
          </a:p>
        </p:txBody>
      </p:sp>
      <p:pic>
        <p:nvPicPr>
          <p:cNvPr id="17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8650" y="2324100"/>
            <a:ext cx="5715000" cy="3238500"/>
          </a:xfrm>
          <a:prstGeom prst="rect">
            <a:avLst/>
          </a:prstGeom>
          <a:ln/>
        </p:spPr>
      </p:pic>
      <p:sp>
        <p:nvSpPr>
          <p:cNvPr id="173" name=""/>
          <p:cNvSpPr/>
          <p:nvPr/>
        </p:nvSpPr>
        <p:spPr>
          <a:xfrm rot="0" flipH="0" flipV="0">
            <a:off x="6838950" y="2686050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74" name=""/>
          <p:cNvSpPr/>
          <p:nvPr/>
        </p:nvSpPr>
        <p:spPr>
          <a:xfrm rot="0" flipH="0" flipV="0">
            <a:off x="7000875" y="28289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96125" y="2924175"/>
            <a:ext cx="190500" cy="190500"/>
          </a:xfrm>
          <a:prstGeom prst="rect">
            <a:avLst/>
          </a:prstGeom>
          <a:ln/>
        </p:spPr>
      </p:pic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7505700" y="2828925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Invariant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7505700" y="3057525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 rule that must hold at every moment — not just after a good call.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6838950" y="3562350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79" name=""/>
          <p:cNvSpPr/>
          <p:nvPr/>
        </p:nvSpPr>
        <p:spPr>
          <a:xfrm rot="0" flipH="0" flipV="0">
            <a:off x="7000875" y="37052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96125" y="3800475"/>
            <a:ext cx="190500" cy="190500"/>
          </a:xfrm>
          <a:prstGeom prst="rect">
            <a:avLst/>
          </a:prstGeom>
          <a:ln/>
        </p:spPr>
      </p:pic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7505700" y="3705225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One place to look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7505700" y="3933825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When a rule can only be broken in one method, debugging is short.</a:t>
            </a:r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6838950" y="4438650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84" name=""/>
          <p:cNvSpPr/>
          <p:nvPr/>
        </p:nvSpPr>
        <p:spPr>
          <a:xfrm rot="0" flipH="0" flipV="0">
            <a:off x="7000875" y="458152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8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096125" y="4676775"/>
            <a:ext cx="190500" cy="190500"/>
          </a:xfrm>
          <a:prstGeom prst="rect">
            <a:avLst/>
          </a:prstGeom>
          <a:ln/>
        </p:spPr>
      </p:pic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7505700" y="4581525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Safe to refactor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7505700" y="4810125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Callers depend on the method, never on the fields behind it.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</p:spTree>
  </p:cSld>
</p:sld>
</file>

<file path=ppt/slides/slide17.xml><?xml version="1.0" encoding="utf-8"?>
<p:sld xmlns:a="http://schemas.openxmlformats.org/drawingml/2006/main" xmlns:p="http://schemas.openxmlformats.org/presentationml/2006/main">
  <p:cSld>
    <p:spTree>
      <p:nvGrpSpPr>
        <p:cNvPr id="190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4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6, fontWeight: 'bold', color: '#FFFFFF', lineHeight: 1.18 }}&gt;Inheritance vs.&lt;br /&gt;Composition&lt;/Text&gt;&#10;      &lt;Box style={{ width: 64, height: 4, background: '#FFC107', marginTop: 26, marginBottom: 26 }} /&gt;&#10;      &lt;Box style={{ flexDirection: 'column', gap: 12 }}&gt;&#10;        {[&#10;          'The two ways to reuse someone else\'s code',&#10;          'The circle–ellipse trap — a classic mistake',&#10;          'Why the textbook says: favour composition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92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3845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04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Inheritance vs.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Composition</a:t>
            </a:r>
            <a:endParaRPr/>
          </a:p>
        </p:txBody>
      </p:sp>
      <p:sp>
        <p:nvSpPr>
          <p:cNvPr id="196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97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37433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two ways to reuse someone else's code</a:t>
            </a:r>
            <a:endParaRPr/>
          </a:p>
        </p:txBody>
      </p:sp>
      <p:sp>
        <p:nvSpPr>
          <p:cNvPr id="199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35909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circle–ellipse trap — a classic mistake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3629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Why the textbook says: favour composition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0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REUSE&lt;/Text&gt;&#10;  &lt;/Box&gt;&#10;  &lt;Box style={{ padding: '20px 40px 0 40px' }}&gt;&#10;    &lt;Text style={{ fontSize: 32, fontWeight: 'bold', color: '#0E3F8C' }}&gt;Two Ways to Reuse&lt;/Text&gt;&#10;  &lt;/Box&gt;&#10;  &lt;Box style={{ flex: 1, padding: '18px 40px 0 40px', flexDirection: 'row', gap: 26 }}&gt;&#10;    &lt;Box style={{ flex: 3, padding: '22px 24px', background: '#E8EFF8', borderRadius: 12, borderLeft: '5px solid #3D7BD9', flexDirection: 'column', gap: 12 }}&gt;&#10;      &lt;Box style={{ flexDirection: 'row', alignItems: 'center', gap: 11 }}&gt;&#10;        &lt;FAIcon name='sitemap' style={{ fill: '#1E4FA8', width: 24, height: 24 }} /&gt;&#10;        &lt;Text style={{ fontSize: 22, fontWeight: 'bold', color: '#0E3F8C' }}&gt;Inheritance&lt;/Text&gt;&#10;      &lt;/Box&gt;&#10;      &lt;Text style={{ fontSize: 16, color: '#4A5568', lineHeight: 1.55 }}&gt;A subclass extends a superclass and inherits its methods. The subclass &lt;Text style={{ fontWeight: 'bold', color: '#1A2230' }}&gt;is a&lt;/Text&gt; kind of the parent.&lt;/Text&gt;&#10;      &lt;Box style={{ padding: '12px 15px', background: '#FFFFFF', borderRadius: 8 }}&gt;&#10;        &lt;Text style={{ fontSize: 15, color: '#1A2230' }}&gt;class Wallet extends PaymentMethod&lt;/Text&gt;&#10;      &lt;/Box&gt;&#10;      &lt;Box style={{ flexDirection: 'column', gap: 6 }}&gt;&#10;        &lt;Text style={{ fontSize: 15, color: '#4A5568', lineHeight: 1.45 }}&gt;+ Reuse is automatic, no wiring needed&lt;/Text&gt;&#10;        &lt;Text style={{ fontSize: 15, color: '#4A5568', lineHeight: 1.45 }}&gt;+ Substitutability comes for free&lt;/Text&gt;&#10;        &lt;Text style={{ fontSize: 15, color: '#D9534F', lineHeight: 1.45 }}&gt;− White-box: the parent's internals leak in&lt;/Text&gt;&#10;        &lt;Text style={{ fontSize: 15, color: '#D9534F', lineHeight: 1.45 }}&gt;− Fixed at compile time; hard to change&lt;/Text&gt;&#10;      &lt;/Box&gt;&#10;    &lt;/Box&gt;&#10;    &lt;Box style={{ flex: 3, padding: '22px 24px', background: '#F0F5FC', borderRadius: 12, borderLeft: '5px solid #0E3F8C', flexDirection: 'column', gap: 12 }}&gt;&#10;      &lt;Box style={{ flexDirection: 'row', alignItems: 'center', gap: 11 }}&gt;&#10;        &lt;FAIcon name='cubes' style={{ fill: '#0E3F8C', width: 24, height: 24 }} /&gt;&#10;        &lt;Text style={{ fontSize: 22, fontWeight: 'bold', color: '#0E3F8C' }}&gt;Composition&lt;/Text&gt;&#10;      &lt;/Box&gt;&#10;      &lt;Text style={{ fontSize: 16, color: '#4A5568', lineHeight: 1.55 }}&gt;An object &lt;Text style={{ fontWeight: 'bold', color: '#1A2230' }}&gt;holds a reference&lt;/Text&gt; to another and forwards work to it. It &lt;Text style={{ fontWeight: 'bold', color: '#1A2230' }}&gt;has a&lt;/Text&gt; collaborator.&lt;/Text&gt;&#10;      &lt;Box style={{ padding: '12px 15px', background: '#FFFFFF', borderRadius: 8 }}&gt;&#10;        &lt;Text style={{ fontSize: 15, color: '#1A2230' }}&gt;private PaymentMethod payment;   // a field inside Order&lt;/Text&gt;&#10;      &lt;/Box&gt;&#10;      &lt;Box style={{ flexDirection: 'column', gap: 6 }}&gt;&#10;        &lt;Text style={{ fontSize: 15, color: '#4A5568', lineHeight: 1.45 }}&gt;+ Black-box: only the interface is visible&lt;/Text&gt;&#10;        &lt;Text style={{ fontSize: 15, color: '#4A5568', lineHeight: 1.45 }}&gt;+ Can be swapped at runtime&lt;/Text&gt;&#10;        &lt;Text style={{ fontSize: 15, color: '#D9534F', lineHeight: 1.45 }}&gt;− Needs an interface to be worthwhile&lt;/Text&gt;&#10;        &lt;Text style={{ fontSize: 15, color: '#D9534F', lineHeight: 1.45 }}&gt;− Slightly more wiring code up front&lt;/Text&gt;&#10;      &lt;/Box&gt;&#10;    &lt;/Box&gt;&#10;  &lt;/Box&gt;&#10;  &lt;Box style={{ height: 40, padding: '0 40px', flexDirection: 'row', alignItems: 'center', justifyContent: 'space-between' }}&gt;&#10;    &lt;Text style={{ fontSize: 13, color: '#8B97A8' }}&gt;Both are legitimate. The skill is knowing which one the situation calls for.&lt;/Text&gt;&#10;    &lt;Text style={{ fontSize: 14, color: '#1E4FA8', fontWeight: 'bold' }}&gt;18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REUSE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Two Ways to Reuse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428625" y="1419225"/>
            <a:ext cx="5591175" cy="5057775"/>
          </a:xfrm>
          <a:prstGeom prst="roundRect">
            <a:avLst>
              <a:gd name="adj" fmla="val 226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11" name=""/>
          <p:cNvSpPr/>
          <p:nvPr/>
        </p:nvSpPr>
        <p:spPr>
          <a:xfrm rot="0" flipH="0" flipV="0">
            <a:off x="428625" y="1419225"/>
            <a:ext cx="5591175" cy="5057775"/>
          </a:xfrm>
          <a:custGeom>
            <a:pathLst>
              <a:path w="587" h="531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524"/>
                </a:lnTo>
                <a:cubicBezTo>
                  <a:pt x="5" y="527"/>
                  <a:pt x="7" y="530"/>
                  <a:pt x="10" y="531"/>
                </a:cubicBezTo>
                <a:cubicBezTo>
                  <a:pt x="4" y="530"/>
                  <a:pt x="0" y="525"/>
                  <a:pt x="0" y="519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pic>
        <p:nvPicPr>
          <p:cNvPr id="2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57225" y="1647825"/>
            <a:ext cx="228600" cy="228600"/>
          </a:xfrm>
          <a:prstGeom prst="rect">
            <a:avLst/>
          </a:prstGeom>
          <a:ln/>
        </p:spPr>
      </p:pic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990600" y="1628775"/>
            <a:ext cx="11239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Inheritance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657225" y="2000250"/>
            <a:ext cx="50863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A subclass extends a superclass and inherits its methods. The subclass 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is a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kind of the parent.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657225" y="2686050"/>
            <a:ext cx="50863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800100" y="2800350"/>
            <a:ext cx="4800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class Wallet extends PaymentMethod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657225" y="3200400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+ Reuse is automatic, no wiring needed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657225" y="3514725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+ Substitutability comes for free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657225" y="3829050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D9534F"/>
                </a:solidFill>
                <a:latin typeface="Microsoft YaHei"/>
                <a:ea typeface="Microsoft YaHei"/>
              </a:rPr>
              <a:t>− White-box: the parent's internals leak in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657225" y="4143375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D9534F"/>
                </a:solidFill>
                <a:latin typeface="Microsoft YaHei"/>
                <a:ea typeface="Microsoft YaHei"/>
              </a:rPr>
              <a:t>− Fixed at compile time; hard to change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6267450" y="1419225"/>
            <a:ext cx="5591175" cy="5057775"/>
          </a:xfrm>
          <a:prstGeom prst="roundRect">
            <a:avLst>
              <a:gd name="adj" fmla="val 226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22" name=""/>
          <p:cNvSpPr/>
          <p:nvPr/>
        </p:nvSpPr>
        <p:spPr>
          <a:xfrm rot="0" flipH="0" flipV="0">
            <a:off x="6267450" y="1419225"/>
            <a:ext cx="5591175" cy="5057775"/>
          </a:xfrm>
          <a:custGeom>
            <a:pathLst>
              <a:path w="587" h="531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524"/>
                </a:lnTo>
                <a:cubicBezTo>
                  <a:pt x="5" y="527"/>
                  <a:pt x="7" y="530"/>
                  <a:pt x="10" y="531"/>
                </a:cubicBezTo>
                <a:cubicBezTo>
                  <a:pt x="4" y="530"/>
                  <a:pt x="0" y="525"/>
                  <a:pt x="0" y="519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2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496050" y="1647825"/>
            <a:ext cx="228600" cy="228600"/>
          </a:xfrm>
          <a:prstGeom prst="rect">
            <a:avLst/>
          </a:prstGeom>
          <a:ln/>
        </p:spPr>
      </p:pic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6829425" y="1628775"/>
            <a:ext cx="12858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Composition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6496050" y="2000250"/>
            <a:ext cx="50863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An object 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holds a reference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to another and forwards work to it. It 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has a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collaborator.</a:t>
            </a:r>
            <a:endParaRPr/>
          </a:p>
        </p:txBody>
      </p:sp>
      <p:sp>
        <p:nvSpPr>
          <p:cNvPr id="226" name=""/>
          <p:cNvSpPr/>
          <p:nvPr/>
        </p:nvSpPr>
        <p:spPr>
          <a:xfrm rot="0" flipH="0" flipV="0">
            <a:off x="6496050" y="2686050"/>
            <a:ext cx="508635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6638925" y="2800350"/>
            <a:ext cx="4800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private PaymentMethod payment;   // a field inside Order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6496050" y="3200400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+ Black-box: only the interface is visible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6496050" y="3514725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+ Can be swapped at runtime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6496050" y="3829050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D9534F"/>
                </a:solidFill>
                <a:latin typeface="Microsoft YaHei"/>
                <a:ea typeface="Microsoft YaHei"/>
              </a:rPr>
              <a:t>− Needs an interface to be worthwhile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6496050" y="4143375"/>
            <a:ext cx="5086350" cy="2571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125">
                <a:solidFill>
                  <a:srgbClr val="D9534F"/>
                </a:solidFill>
                <a:latin typeface="Microsoft YaHei"/>
                <a:ea typeface="Microsoft YaHei"/>
              </a:rPr>
              <a:t>− Slightly more wiring code up front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952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Both are legitimate. The skill is knowing which one the situation calls for.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18 / 38</a:t>
            </a:r>
            <a:endParaRPr/>
          </a:p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34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Is-a or Has-a? Ask Two Questions&lt;/Text&gt;&#10;    &lt;Text style={{ fontSize: 14, color: '#1E4FA8', fontWeight: 'bold' }}&gt;19 / 38&lt;/Text&gt;&#10;  &lt;/Box&gt;&#10;  &lt;Box style={{ flex: 1, padding: '6px 40px 0 40px', justifyContent: 'center', alignItems: 'center' }}&gt;&#10;    &lt;svg width={1180} height={420} viewBox='0 0 1180 420'&gt;&#10;      &lt;rect x='430' y='16' width='320' height='54' rx='10' fill='#0E3F8C' /&gt;&#10;      &lt;text x='590' y='50' textAnchor='middle' fill='#FFFFFF' fontSize='20' fontWeight='bold'&gt;Is X a kind of Y?&lt;/text&gt;&#10;      &lt;line x1='520' y1='70' x2='340' y2='104' stroke='#3D7BD9' strokeWidth='2' /&gt;&#10;      &lt;text x='404' y='94' fill='#3D7BD9' fontSize='16' fontWeight='bold'&gt;YES&lt;/text&gt;&#10;      &lt;line x1='660' y1='70' x2='840' y2='104' stroke='#1E4FA8' strokeWidth='2' /&gt;&#10;      &lt;text x='780' y='94' fill='#1E4FA8' fontSize='16' fontWeight='bold'&gt;NO&lt;/text&gt;&#10;      &lt;rect x='150' y='104' width='380' height='104' rx='12' fill='#E8EFF8' stroke='#3D7BD9' strokeWidth='2' /&gt;&#10;      &lt;text x='340' y='140' textAnchor='middle' fill='#0E3F8C' fontSize='22' fontWeight='bold'&gt;Inheritance — is-a&lt;/text&gt;&#10;      &lt;text x='340' y='168' textAnchor='middle' fill='#4A5568' fontSize='15'&gt;X inherits the interface and behaviour of Y&lt;/text&gt;&#10;      &lt;text x='340' y='192' textAnchor='middle' fill='#8B97A8' fontSize='14'&gt;CampusCard is a PaymentMethod&lt;/text&gt;&#10;      &lt;rect x='650' y='104' width='380' height='52' rx='10' fill='#F7F9FC' stroke='#D6DCE5' strokeWidth='2' /&gt;&#10;      &lt;text x='840' y='138' textAnchor='middle' fill='#1A2230' fontSize='17'&gt;Does X have a Y?&lt;/text&gt;&#10;      &lt;line x1='840' y1='156' x2='840' y2='194' stroke='#1E4FA8' strokeWidth='2' /&gt;&#10;      &lt;text x='852' y='180' fill='#1E4FA8' fontSize='15' fontWeight='bold'&gt;YES&lt;/text&gt;&#10;      &lt;rect x='650' y='194' width='380' height='104' rx='12' fill='#F0F5FC' stroke='#1E4FA8' strokeWidth='2' /&gt;&#10;      &lt;text x='840' y='230' textAnchor='middle' fill='#0E3F8C' fontSize='22' fontWeight='bold'&gt;Composition — has-a&lt;/text&gt;&#10;      &lt;text x='840' y='258' textAnchor='middle' fill='#4A5568' fontSize='15'&gt;X holds a reference and delegates to it&lt;/text&gt;&#10;      &lt;text x='840' y='282' textAnchor='middle' fill='#8B97A8' fontSize='14'&gt;Order has a PaymentMethod&lt;/text&gt;&#10;      &lt;rect x='60' y='336' width='340' height='66' rx='10' fill='#F7F9FC' stroke='#D6DCE5' strokeWidth='1' /&gt;&#10;      &lt;text x='230' y='362' textAnchor='middle' fill='#0E3F8C' fontSize='16' fontWeight='bold'&gt;Wallet IS-A PaymentMethod&lt;/text&gt;&#10;      &lt;text x='230' y='386' textAnchor='middle' fill='#8B97A8' fontSize='14'&gt;it can be used anywhere one is expected&lt;/text&gt;&#10;      &lt;rect x='420' y='336' width='340' height='66' rx='10' fill='#F7F9FC' stroke='#D6DCE5' strokeWidth='1' /&gt;&#10;      &lt;text x='590' y='362' textAnchor='middle' fill='#0E3F8C' fontSize='16' fontWeight='bold'&gt;Order HAS-A PaymentMethod&lt;/text&gt;&#10;      &lt;text x='590' y='386' textAnchor='middle' fill='#8B97A8' fontSize='14'&gt;swappable: card today, cash tomorrow&lt;/text&gt;&#10;      &lt;rect x='780' y='336' width='340' height='66' rx='10' fill='#F7F9FC' stroke='#D6DCE5' strokeWidth='1' /&gt;&#10;      &lt;text x='950' y='362' textAnchor='middle' fill='#0E3F8C' fontSize='16' fontWeight='bold'&gt;Order HAS-A list of lines&lt;/text&gt;&#10;      &lt;text x='950' y='386' textAnchor='middle' fill='#8B97A8' fontSize='14'&gt;an order is not a kind of list&lt;/text&gt;&#10;    &lt;/svg&gt;&#10;  &lt;/Box&gt;&#10;  &lt;Box style={{ height: 56, background: '#0E3F8C', padding: '0 40px', flexDirection: 'row', alignItems: 'center', justifyContent: 'center' }}&gt;&#10;    &lt;Text style={{ fontSize: 18, color: '#FFFFFF', fontWeight: '600' }}&gt;Say the sentence out loud. If &quot;is a kind of&quot; sounds wrong, it is not inheritanc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2197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Is-a or Has-a? Ask Two Questions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19 / 38</a:t>
            </a:r>
            <a:endParaRPr/>
          </a:p>
        </p:txBody>
      </p:sp>
      <p:pic>
        <p:nvPicPr>
          <p:cNvPr id="2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552575"/>
            <a:ext cx="11239500" cy="4000500"/>
          </a:xfrm>
          <a:prstGeom prst="rect">
            <a:avLst/>
          </a:prstGeom>
          <a:ln/>
        </p:spPr>
      </p:pic>
      <p:sp>
        <p:nvSpPr>
          <p:cNvPr id="239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2914650" y="6486525"/>
            <a:ext cx="63722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Say the sentence out loud. If "is a kind of" sounds wrong, it is not inheritance.</a:t>
            </a:r>
            <a:endParaRPr/>
          </a:p>
        </p:txBody>
      </p:sp>
    </p:spTree>
  </p:cSld>
</p:sld>
</file>

<file path=ppt/slides/slide2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7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REUSE&lt;/Text&gt;&#10;  &lt;/Box&gt;&#10;  &lt;Box style={{ padding: '20px 40px 0 40px' }}&gt;&#10;    &lt;Text style={{ fontSize: 32, fontWeight: 'bold', color: '#0E3F8C' }}&gt;The Circle–Ellipse Trap&lt;/Text&gt;&#10;  &lt;/Box&gt;&#10;  &lt;Box style={{ flex: 1, padding: '14px 40px 0 40px', flexDirection: 'row', gap: 26 }}&gt;&#10;    &lt;Box style={{ flex: 3, justifyContent: 'center' }}&gt;&#10;      &lt;CodeBlock code={`class Ellipse {&#10;    void setMajorAxis(double a) { ... }&#10;    void setMinorAxis(double b) { ... }&#10;}&#10;&#10;// In geometry, a circle IS an ellipse.&#10;class Circle extends Ellipse {&#10;    void setMajorAxis(double a) {&#10;        super.setMajorAxis(a);&#10;        super.setMinorAxis(a);   // stay round&#10;    }&#10;    void setMinorAxis(double b) {&#10;        throw new UnsupportedOperationException();&#10;    }&#10;}&#10;&#10;// ...so why does this break?&#10;Ellipse e = new Circle();&#10;e.setMinorAxis(3.0);      // crashes`} language='java' width={560} fontSize={12} /&gt;&#10;    &lt;/Box&gt;&#10;    &lt;Box style={{ flex: 2, flexDirection: 'column', gap: 11, justifyContent: 'center' }}&gt;&#10;      &lt;Box style={{ padding: '16px 18px', background: '#FDF3F3', borderRadius: 10, borderLeft: '4px solid #D9534F' }}&gt;&#10;        &lt;Text style={{ fontSize: 17, fontWeight: 'bold', color: '#D9534F', marginBottom: 5 }}&gt;What went wrong&lt;/Text&gt;&#10;        &lt;Text style={{ fontSize: 15, color: '#4A5568', lineHeight: 1.5 }}&gt;The subclass &lt;Text style={{ fontWeight: 'bold', color: '#1A2230' }}&gt;refuses&lt;/Text&gt; a method the parent promises. Code written against Ellipse now breaks on a Circle.&lt;/Text&gt;&#10;      &lt;/Box&gt;&#10;      {[&#10;        ['shapes', 'True in maths, false in code', 'A circle has fewer degrees of freedom than an ellipse.'],&#10;        ['unlink', 'Substitutability is the real test', 'Not &quot;is it a kind of&quot; but &quot;can it stand in anywhere?&quot;'],&#10;        ['clock', 'Liskov, Week 12', 'This has a name: the Liskov Substitution Principle.'],&#10;      ].map(([icon, t, d]) =&gt; (&#10;        &lt;Box key={t} style={{ flexDirection: 'row', gap: 12, alignItems: 'flex-start', padding: '13px 16px', background: '#F7F9FC', borderRadius: 10, border: '1px solid #E5E7EB' }}&gt;&#10;          &lt;Box style={{ width: 36, height: 36, borderRadius: 9, background: '#E8EFF8', justifyContent: 'center', alignItems: 'center' }}&gt;&#10;            &lt;FAIcon name={icon} style={{ fill: '#1E4FA8', width: 18, height: 18 }} /&gt;&#10;          &lt;/Box&gt;&#10;          &lt;Box style={{ flex: 1, flexDirection: 'column', gap: 2 }}&gt;&#10;            &lt;Text style={{ fontSize: 15, fontWeight: 'bold', color: '#1A2230' }}&gt;{t}&lt;/Text&gt;&#10;            &lt;Text style={{ fontSize: 13, color: '#4A5568', lineHeight: 1.4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Full treatment in Week 12 (LSP). Today: notice that &quot;is-a&quot; is not enough.&lt;/Text&gt;&#10;    &lt;Text style={{ fontSize: 14, color: '#1E4FA8', fontWeight: 'bold' }}&gt;20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REUSE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The Circle–Ellipse Trap</a:t>
            </a:r>
            <a:endParaRPr/>
          </a:p>
        </p:txBody>
      </p:sp>
      <p:sp>
        <p:nvSpPr>
          <p:cNvPr id="284" name=""/>
          <p:cNvSpPr/>
          <p:nvPr/>
        </p:nvSpPr>
        <p:spPr>
          <a:xfrm rot="0" flipH="0" flipV="0">
            <a:off x="7372350" y="2257425"/>
            <a:ext cx="4476750" cy="1066800"/>
          </a:xfrm>
          <a:prstGeom prst="roundRect">
            <a:avLst>
              <a:gd name="adj" fmla="val 8929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285" name=""/>
          <p:cNvSpPr/>
          <p:nvPr/>
        </p:nvSpPr>
        <p:spPr>
          <a:xfrm rot="0" flipH="0" flipV="0">
            <a:off x="7372350" y="2257425"/>
            <a:ext cx="4476750" cy="1066800"/>
          </a:xfrm>
          <a:custGeom>
            <a:pathLst>
              <a:path w="470" h="112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06"/>
                </a:lnTo>
                <a:cubicBezTo>
                  <a:pt x="4" y="109"/>
                  <a:pt x="6" y="111"/>
                  <a:pt x="9" y="112"/>
                </a:cubicBezTo>
                <a:cubicBezTo>
                  <a:pt x="4" y="111"/>
                  <a:pt x="0" y="107"/>
                  <a:pt x="0" y="102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7543800" y="2409825"/>
            <a:ext cx="4095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D9534F"/>
                </a:solidFill>
                <a:latin typeface="Microsoft YaHei"/>
                <a:ea typeface="Microsoft YaHei"/>
              </a:rPr>
              <a:t>What went wrong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7543800" y="2657475"/>
            <a:ext cx="40957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subclass 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refuses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a method the parent promises. Code written against Ellipse now breaks on a Circle.</a:t>
            </a:r>
            <a:endParaRPr/>
          </a:p>
        </p:txBody>
      </p:sp>
      <p:sp>
        <p:nvSpPr>
          <p:cNvPr id="288" name=""/>
          <p:cNvSpPr/>
          <p:nvPr/>
        </p:nvSpPr>
        <p:spPr>
          <a:xfrm rot="0" flipH="0" flipV="0">
            <a:off x="7334250" y="3429000"/>
            <a:ext cx="4476750" cy="657225"/>
          </a:xfrm>
          <a:prstGeom prst="roundRect">
            <a:avLst>
              <a:gd name="adj" fmla="val 144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89" name=""/>
          <p:cNvSpPr/>
          <p:nvPr/>
        </p:nvSpPr>
        <p:spPr>
          <a:xfrm rot="0" flipH="0" flipV="0">
            <a:off x="7486650" y="35528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29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572375" y="3638550"/>
            <a:ext cx="171450" cy="171450"/>
          </a:xfrm>
          <a:prstGeom prst="rect">
            <a:avLst/>
          </a:prstGeom>
          <a:ln/>
        </p:spPr>
      </p:pic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7943850" y="3552825"/>
            <a:ext cx="3714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True in maths, false in code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7943850" y="3743325"/>
            <a:ext cx="3714750" cy="2190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A circle has fewer degrees of freedom than an ellipse.</a:t>
            </a:r>
            <a:endParaRPr/>
          </a:p>
        </p:txBody>
      </p:sp>
      <p:sp>
        <p:nvSpPr>
          <p:cNvPr id="293" name=""/>
          <p:cNvSpPr/>
          <p:nvPr/>
        </p:nvSpPr>
        <p:spPr>
          <a:xfrm rot="0" flipH="0" flipV="0">
            <a:off x="7334250" y="4191000"/>
            <a:ext cx="4476750" cy="657225"/>
          </a:xfrm>
          <a:prstGeom prst="roundRect">
            <a:avLst>
              <a:gd name="adj" fmla="val 144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4" name=""/>
          <p:cNvSpPr/>
          <p:nvPr/>
        </p:nvSpPr>
        <p:spPr>
          <a:xfrm rot="0" flipH="0" flipV="0">
            <a:off x="7486650" y="43148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29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72375" y="4400550"/>
            <a:ext cx="171450" cy="171450"/>
          </a:xfrm>
          <a:prstGeom prst="rect">
            <a:avLst/>
          </a:prstGeom>
          <a:ln/>
        </p:spPr>
      </p:pic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7943850" y="4314825"/>
            <a:ext cx="3714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Substitutability is the real test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7943850" y="4505325"/>
            <a:ext cx="3714750" cy="2190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Not "is it a kind of" but "can it stand in anywhere?"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7334250" y="4953000"/>
            <a:ext cx="4476750" cy="657225"/>
          </a:xfrm>
          <a:prstGeom prst="roundRect">
            <a:avLst>
              <a:gd name="adj" fmla="val 144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9" name=""/>
          <p:cNvSpPr/>
          <p:nvPr/>
        </p:nvSpPr>
        <p:spPr>
          <a:xfrm rot="0" flipH="0" flipV="0">
            <a:off x="7486650" y="5076825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0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572375" y="5162550"/>
            <a:ext cx="171450" cy="171450"/>
          </a:xfrm>
          <a:prstGeom prst="rect">
            <a:avLst/>
          </a:prstGeom>
          <a:ln/>
        </p:spPr>
      </p:pic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7943850" y="5076825"/>
            <a:ext cx="3714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Liskov, Week 12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7943850" y="5267325"/>
            <a:ext cx="3714750" cy="2190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This has a name: the Liskov Substitution Principle.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933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Full treatment in Week 12 (LSP). Today: notice that "is-a" is not enough.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20 / 38</a:t>
            </a:r>
            <a:endParaRPr/>
          </a:p>
        </p:txBody>
      </p:sp>
      <p:sp>
        <p:nvSpPr>
          <p:cNvPr id="305" name=""/>
          <p:cNvSpPr/>
          <p:nvPr/>
        </p:nvSpPr>
        <p:spPr>
          <a:xfrm rot="0" flipH="0" flipV="0">
            <a:off x="381000" y="1971675"/>
            <a:ext cx="6705600" cy="3924300"/>
          </a:xfrm>
          <a:prstGeom prst="roundRect">
            <a:avLst>
              <a:gd name="adj" fmla="val 1942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306" name=""/>
          <p:cNvSpPr txBox="1"/>
          <p:nvPr/>
        </p:nvSpPr>
        <p:spPr>
          <a:xfrm rot="0" flipH="0" flipV="0">
            <a:off x="533400" y="2105025"/>
            <a:ext cx="6400800" cy="3657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Ellipse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setMajorAxis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double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a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) { ...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setMinorAxis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double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b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) { ...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In geometry, a circle IS an ellipse.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Circle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extends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Ellipse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setMajorAxis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double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a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)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900">
                <a:solidFill>
                  <a:srgbClr val="005CC5"/>
                </a:solidFill>
                <a:latin typeface="Menlo"/>
                <a:ea typeface="Menlo"/>
              </a:rPr>
              <a:t>super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setMajorAxis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(a);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900">
                <a:solidFill>
                  <a:srgbClr val="005CC5"/>
                </a:solidFill>
                <a:latin typeface="Menlo"/>
                <a:ea typeface="Menlo"/>
              </a:rPr>
              <a:t>super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setMinorAxis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(a);   </a:t>
            </a: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stay round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setMinorAxis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double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b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)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throw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new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UnsupportedOperationException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...so why does this break?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Ellipse e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new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Circle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e.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setMinorAxis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00">
                <a:solidFill>
                  <a:srgbClr val="005CC5"/>
                </a:solidFill>
                <a:latin typeface="Menlo"/>
                <a:ea typeface="Menlo"/>
              </a:rPr>
              <a:t>3.0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);      </a:t>
            </a: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crashes</a:t>
            </a:r>
            <a:endParaRPr/>
          </a:p>
        </p:txBody>
      </p:sp>
    </p:spTree>
  </p:cSld>
</p:sld>
</file>

<file path=ppt/slides/slide2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0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REUSE&lt;/Text&gt;&#10;  &lt;/Box&gt;&#10;  &lt;Box style={{ flex: 1, padding: '26px 60px 0 60px', flexDirection: 'column', alignItems: 'center', justifyContent: 'center', gap: 20 }}&gt;&#10;    &lt;Box style={{ padding: '6px 18px', background: '#E8EFF8', borderRadius: 16 }}&gt;&#10;      &lt;Text style={{ fontSize: 15, color: '#1E4FA8', fontWeight: 'bold', letterSpacing: 2 }}&gt;PRINCIPLE · FIRST OF THE SEMESTER&lt;/Text&gt;&#10;    &lt;/Box&gt;&#10;    &lt;Text style={{ fontSize: 40, fontWeight: 'bold', color: '#0E3F8C', textAlign: 'center', lineHeight: 1.25, fontFamily: 'Georgia, serif' }}&gt;&#10;      Favour composition&lt;br /&gt;over class inheritance.&#10;    &lt;/Text&gt;&#10;    &lt;Box style={{ width: 72, height: 4, background: '#FFC107' }} /&gt;&#10;    &lt;Box style={{ flexDirection: 'row', gap: 16, marginTop: 4 }}&gt;&#10;      {[&#10;        ['unlock', 'Loose coupling', 'The parent\'s changes cannot silently break the subclass.'],&#10;        ['random', 'Runtime swap', 'Behaviour can be replaced without recompiling.'],&#10;        ['eye-slash', 'Black box', 'You depend on what it does, not how it is built.'],&#10;      ].map(([icon, t, d]) =&gt; (&#10;        &lt;Box key={t} style={{ flex: 1, padding: '20px 20px', background: '#F7F9FC', borderRadius: 12, border: '1px solid #E5E7EB', flexDirection: 'column', gap: 9, alignItems: 'center' }}&gt;&#10;          &lt;Box style={{ width: 50, height: 50, borderRadius: 25, background: '#E8EFF8', justifyContent: 'center', alignItems: 'center' }}&gt;&#10;            &lt;FAIcon name={icon} style={{ fill: '#1E4FA8', width: 24, height: 24 }} /&gt;&#10;          &lt;/Box&gt;&#10;          &lt;Text style={{ fontSize: 18, fontWeight: 'bold', color: '#0E3F8C', textAlign: 'center' }}&gt;{t}&lt;/Text&gt;&#10;          &lt;Text style={{ fontSize: 14, color: '#4A5568', lineHeight: 1.5, textAlign: 'center' }}&gt;{d}&lt;/Text&gt;&#10;        &lt;/Box&gt;&#10;      ))}&#10;    &lt;/Box&gt;&#10;  &lt;/Box&gt;&#10;  &lt;Box style={{ height: 50, padding: '0 60px', flexDirection: 'row', alignItems: 'center', justifyContent: 'center', gap: 12 }}&gt;&#10;    &lt;FAIcon name='exclamation-triangle' style={{ fill: '#FFC107', width: 20, height: 20 }} /&gt;&#10;    &lt;Text style={{ fontSize: 16, color: '#4A5568' }}&gt;Favour, not forbid. Inheritance is right when substitution genuinely holds.&lt;/Text&gt;&#10;    &lt;Text style={{ fontSize: 14, color: '#1E4FA8', fontWeight: 'bold', marginLeft: 'auto' }}&gt;2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0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REUSE</a:t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4267200" y="1762125"/>
            <a:ext cx="3667125" cy="285750"/>
          </a:xfrm>
          <a:prstGeom prst="roundRect">
            <a:avLst>
              <a:gd name="adj" fmla="val 5333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4438650" y="1819275"/>
            <a:ext cx="3324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150">
                <a:solidFill>
                  <a:srgbClr val="1E4FA8"/>
                </a:solidFill>
                <a:latin typeface="Microsoft YaHei"/>
                <a:ea typeface="Microsoft YaHei"/>
              </a:rPr>
              <a:t>PRINCIPLE · FIRST OF THE SEMESTER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3886200" y="2238375"/>
            <a:ext cx="4419600" cy="1143000"/>
          </a:xfrm>
          <a:prstGeom prst="rect"/>
        </p:spPr>
        <p:txBody>
          <a:bodyPr wrap="none" lIns="0" tIns="0" rIns="0" bIns="0"/>
          <a:p>
            <a:pPr algn="ctr">
              <a:lnSpc>
                <a:spcPct val="125000"/>
              </a:lnSpc>
            </a:pPr>
            <a:r>
              <a:rPr lang="en-US" sz="3000" b="1">
                <a:solidFill>
                  <a:srgbClr val="0E3F8C"/>
                </a:solidFill>
                <a:latin typeface="Georgia"/>
                <a:ea typeface="Georgia"/>
              </a:rPr>
              <a:t>Favour composition</a:t>
            </a:r>
            <a:endParaRPr/>
          </a:p>
          <a:p>
            <a:pPr algn="ctr">
              <a:lnSpc>
                <a:spcPct val="125000"/>
              </a:lnSpc>
            </a:pPr>
            <a:r>
              <a:rPr lang="en-US" sz="3000" b="1">
                <a:solidFill>
                  <a:srgbClr val="0E3F8C"/>
                </a:solidFill>
                <a:latin typeface="Georgia"/>
                <a:ea typeface="Georgia"/>
              </a:rPr>
              <a:t>over class inheritance.</a:t>
            </a:r>
            <a:endParaRPr/>
          </a:p>
        </p:txBody>
      </p:sp>
      <p:sp>
        <p:nvSpPr>
          <p:cNvPr id="315" name=""/>
          <p:cNvSpPr/>
          <p:nvPr/>
        </p:nvSpPr>
        <p:spPr>
          <a:xfrm rot="0" flipH="0" flipV="0">
            <a:off x="5753100" y="3571875"/>
            <a:ext cx="6858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16" name=""/>
          <p:cNvSpPr/>
          <p:nvPr/>
        </p:nvSpPr>
        <p:spPr>
          <a:xfrm rot="0" flipH="0" flipV="0">
            <a:off x="571500" y="3838575"/>
            <a:ext cx="3581400" cy="1724025"/>
          </a:xfrm>
          <a:prstGeom prst="roundRect">
            <a:avLst>
              <a:gd name="adj" fmla="val 663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17" name=""/>
          <p:cNvSpPr/>
          <p:nvPr/>
        </p:nvSpPr>
        <p:spPr>
          <a:xfrm rot="0" flipH="0" flipV="0">
            <a:off x="2124075" y="4029075"/>
            <a:ext cx="476250" cy="47625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1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247900" y="4152900"/>
            <a:ext cx="228600" cy="228600"/>
          </a:xfrm>
          <a:prstGeom prst="rect">
            <a:avLst/>
          </a:prstGeom>
          <a:ln/>
        </p:spPr>
      </p:pic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1733550" y="4591050"/>
            <a:ext cx="126682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Loose coupling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762000" y="4886325"/>
            <a:ext cx="3200400" cy="48577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The parent's changes cannot silently break the subclass.</a:t>
            </a:r>
            <a:endParaRPr/>
          </a:p>
        </p:txBody>
      </p:sp>
      <p:sp>
        <p:nvSpPr>
          <p:cNvPr id="321" name=""/>
          <p:cNvSpPr/>
          <p:nvPr/>
        </p:nvSpPr>
        <p:spPr>
          <a:xfrm rot="0" flipH="0" flipV="0">
            <a:off x="4305300" y="3838575"/>
            <a:ext cx="3581400" cy="1724025"/>
          </a:xfrm>
          <a:prstGeom prst="roundRect">
            <a:avLst>
              <a:gd name="adj" fmla="val 663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22" name=""/>
          <p:cNvSpPr/>
          <p:nvPr/>
        </p:nvSpPr>
        <p:spPr>
          <a:xfrm rot="0" flipH="0" flipV="0">
            <a:off x="5857875" y="4029075"/>
            <a:ext cx="476250" cy="47625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981700" y="4152900"/>
            <a:ext cx="228600" cy="228600"/>
          </a:xfrm>
          <a:prstGeom prst="rect">
            <a:avLst/>
          </a:prstGeom>
          <a:ln/>
        </p:spPr>
      </p:pic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5514975" y="4591050"/>
            <a:ext cx="117157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Runtime swap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4695825" y="4886325"/>
            <a:ext cx="2809875" cy="24765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Behaviour can be replaced without recompiling.</a:t>
            </a:r>
            <a:endParaRPr/>
          </a:p>
        </p:txBody>
      </p:sp>
      <p:sp>
        <p:nvSpPr>
          <p:cNvPr id="326" name=""/>
          <p:cNvSpPr/>
          <p:nvPr/>
        </p:nvSpPr>
        <p:spPr>
          <a:xfrm rot="0" flipH="0" flipV="0">
            <a:off x="8039100" y="3838575"/>
            <a:ext cx="3581400" cy="1724025"/>
          </a:xfrm>
          <a:prstGeom prst="roundRect">
            <a:avLst>
              <a:gd name="adj" fmla="val 663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27" name=""/>
          <p:cNvSpPr/>
          <p:nvPr/>
        </p:nvSpPr>
        <p:spPr>
          <a:xfrm rot="0" flipH="0" flipV="0">
            <a:off x="9591675" y="4029075"/>
            <a:ext cx="476250" cy="47625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9715500" y="4152900"/>
            <a:ext cx="228600" cy="228600"/>
          </a:xfrm>
          <a:prstGeom prst="rect">
            <a:avLst/>
          </a:prstGeom>
          <a:ln/>
        </p:spPr>
      </p:pic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9420225" y="4591050"/>
            <a:ext cx="819150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Black box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8458200" y="4886325"/>
            <a:ext cx="2743200" cy="24765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You depend on what it does, not how it is built.</a:t>
            </a:r>
            <a:endParaRPr/>
          </a:p>
        </p:txBody>
      </p:sp>
      <p:pic>
        <p:nvPicPr>
          <p:cNvPr id="33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571500" y="6524625"/>
            <a:ext cx="190500" cy="190500"/>
          </a:xfrm>
          <a:prstGeom prst="rect">
            <a:avLst/>
          </a:prstGeom>
          <a:ln/>
        </p:spPr>
      </p:pic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876300" y="6524625"/>
            <a:ext cx="4886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Favour, not forbid. Inheritance is right when substitution genuinely holds.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11210925" y="65436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</p:spTree>
  </p:cSld>
</p:sld>
</file>

<file path=ppt/slides/slide2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3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REUSE&lt;/Text&gt;&#10;  &lt;/Box&gt;&#10;  &lt;Box style={{ padding: '20px 40px 0 40px' }}&gt;&#10;    &lt;Text style={{ fontSize: 32, fontWeight: 'bold', color: '#0E3F8C' }}&gt;Composition in Java&lt;/Text&gt;&#10;  &lt;/Box&gt;&#10;  &lt;Box style={{ flex: 1, padding: '14px 40px 0 40px', flexDirection: 'row', gap: 26 }}&gt;&#10;    &lt;Box style={{ flex: 1, flexDirection: 'column', gap: 10 }}&gt;&#10;      &lt;Box style={{ flexDirection: 'row', alignItems: 'center', gap: 9 }}&gt;&#10;        &lt;FAIcon name='times-circle' style={{ fill: '#D9534F', width: 19, height: 19 }} /&gt;&#10;        &lt;Text style={{ fontSize: 16, fontWeight: 'bold', color: '#D9534F' }}&gt;Inheriting for convenience&lt;/Text&gt;&#10;      &lt;/Box&gt;&#10;      &lt;CodeBlock code={`// &quot;an order is just a list of lines&quot;&#10;class Order extends ArrayList {&#10;    void place() { ... }&#10;}&#10;&#10;// now Order inherits 20+ list methods&#10;// that make no sense for an order&#10;order.sort(...);&#10;order.clear();      // wipes a paid order&#10;order.addAll(...);  // bypasses the guard`} language='java' width={520} fontSize={12} /&gt;&#10;    &lt;/Box&gt;&#10;    &lt;Box style={{ flex: 1, flexDirection: 'column', gap: 10 }}&gt;&#10;      &lt;Box style={{ flexDirection: 'row', alignItems: 'center', gap: 9 }}&gt;&#10;        &lt;FAIcon name='check-circle' style={{ fill: '#1E4FA8', width: 19, height: 19 }} /&gt;&#10;        &lt;Text style={{ fontSize: 16, fontWeight: 'bold', color: '#0E3F8C' }}&gt;Composing with collaborators&lt;/Text&gt;&#10;      &lt;/Box&gt;&#10;      &lt;CodeBlock code={`class Order {&#10;    private final List lines = new ArrayList();&#10;    private PaymentMethod payment;&#10;    private DeliveryRoute route;&#10;&#10;    public Money total() { ... }&#10;    public Receipt pay() {&#10;        return payment.pay(total());&#10;    }&#10;}&#10;&#10;// Order exposes only what an order does&#10;order.pay();        // yes&#10;order.clear();      // no such method`} language='java' width={520} fontSize={12} /&gt;&#10;    &lt;/Box&gt;&#10;  &lt;/Box&gt;&#10;  &lt;Box style={{ height: 44, background: '#0E3F8C', padding: '0 40px', flexDirection: 'row', alignItems: 'center', justifyContent: 'center' }}&gt;&#10;    &lt;Text style={{ fontSize: 17, color: '#FFFFFF', fontWeight: '600' }}&gt;Inheritance reuses everything — including the parts that make no sense. Composition lets you choos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10896600" y="257175"/>
            <a:ext cx="91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REUSE</a:t>
            </a:r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Composition in Java</a:t>
            </a:r>
            <a:endParaRPr/>
          </a:p>
        </p:txBody>
      </p:sp>
      <p:pic>
        <p:nvPicPr>
          <p:cNvPr id="3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1390650"/>
            <a:ext cx="180975" cy="180975"/>
          </a:xfrm>
          <a:prstGeom prst="rect">
            <a:avLst/>
          </a:prstGeom>
          <a:ln/>
        </p:spPr>
      </p:pic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647700" y="1381125"/>
            <a:ext cx="19145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Inheriting for convenience</a:t>
            </a:r>
            <a:endParaRPr/>
          </a:p>
        </p:txBody>
      </p:sp>
      <p:pic>
        <p:nvPicPr>
          <p:cNvPr id="34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219825" y="1390650"/>
            <a:ext cx="180975" cy="180975"/>
          </a:xfrm>
          <a:prstGeom prst="rect">
            <a:avLst/>
          </a:prstGeom>
          <a:ln/>
        </p:spPr>
      </p:pic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6486525" y="1381125"/>
            <a:ext cx="2200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Composing with collaborators</a:t>
            </a:r>
            <a:endParaRPr/>
          </a:p>
        </p:txBody>
      </p:sp>
      <p:sp>
        <p:nvSpPr>
          <p:cNvPr id="344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2124075" y="6553200"/>
            <a:ext cx="7943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Inheritance reuses everything — including the parts that make no sense. Composition lets you choose.</a:t>
            </a:r>
            <a:endParaRPr/>
          </a:p>
        </p:txBody>
      </p:sp>
      <p:sp>
        <p:nvSpPr>
          <p:cNvPr id="346" name=""/>
          <p:cNvSpPr/>
          <p:nvPr/>
        </p:nvSpPr>
        <p:spPr>
          <a:xfrm rot="0" flipH="0" flipV="0">
            <a:off x="381000" y="1666875"/>
            <a:ext cx="5591175" cy="2190750"/>
          </a:xfrm>
          <a:prstGeom prst="roundRect">
            <a:avLst>
              <a:gd name="adj" fmla="val 3478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347" name=""/>
          <p:cNvSpPr txBox="1"/>
          <p:nvPr/>
        </p:nvSpPr>
        <p:spPr>
          <a:xfrm rot="0" flipH="0" flipV="0">
            <a:off x="533400" y="1800225"/>
            <a:ext cx="5286375" cy="1924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"an order is just a list of lines"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Order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extends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ArrayList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place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 { ...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now Order inherits 20+ list methods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that make no sense for an order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order.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sort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(...);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order.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clear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();      </a:t>
            </a: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wipes a paid order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order.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addAll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(...);  </a:t>
            </a: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bypasses the guard</a:t>
            </a:r>
            <a:endParaRPr/>
          </a:p>
        </p:txBody>
      </p:sp>
      <p:sp>
        <p:nvSpPr>
          <p:cNvPr id="348" name=""/>
          <p:cNvSpPr/>
          <p:nvPr/>
        </p:nvSpPr>
        <p:spPr>
          <a:xfrm rot="0" flipH="0" flipV="0">
            <a:off x="6219825" y="1666875"/>
            <a:ext cx="5591175" cy="2962275"/>
          </a:xfrm>
          <a:prstGeom prst="roundRect">
            <a:avLst>
              <a:gd name="adj" fmla="val 2572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349" name=""/>
          <p:cNvSpPr txBox="1"/>
          <p:nvPr/>
        </p:nvSpPr>
        <p:spPr>
          <a:xfrm rot="0" flipH="0" flipV="0">
            <a:off x="6372225" y="1800225"/>
            <a:ext cx="5286375" cy="2695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Order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private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final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List lines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new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ArrayList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private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PaymentMethod payment;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private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DeliveryRoute route;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Money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total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 { ...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Receipt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return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payment.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total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());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Order exposes only what an order does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order.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();        </a:t>
            </a: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yes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order.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clear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();      </a:t>
            </a: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no such method</a:t>
            </a:r>
            <a:endParaRPr/>
          </a:p>
        </p:txBody>
      </p:sp>
    </p:spTree>
  </p:cSld>
</p:sld>
</file>

<file path=ppt/slides/slide23.xml><?xml version="1.0" encoding="utf-8"?>
<p:sld xmlns:a="http://schemas.openxmlformats.org/drawingml/2006/main" xmlns:p="http://schemas.openxmlformats.org/presentationml/2006/main">
  <p:cSld>
    <p:spTree>
      <p:nvGrpSpPr>
        <p:cNvPr id="350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5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6, fontWeight: 'bold', color: '#FFFFFF', lineHeight: 1.18 }}&gt;Polymorphism &amp;amp;&lt;br /&gt;Interfaces&lt;/Text&gt;&#10;      &lt;Box style={{ width: 64, height: 4, background: '#FFC107', marginTop: 26, marginBottom: 26 }} /&gt;&#10;      &lt;Box style={{ flexDirection: 'column', gap: 12 }}&gt;&#10;        {[&#10;          'One message, many behaviours',&#10;          'PaymentMethod: the CampusBites worked example',&#10;          'Program to an interface, not an implementation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52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57150" y="2171700"/>
            <a:ext cx="27336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05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Polymorphism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Interfaces</a:t>
            </a:r>
            <a:endParaRPr/>
          </a:p>
        </p:txBody>
      </p:sp>
      <p:sp>
        <p:nvSpPr>
          <p:cNvPr id="356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57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2743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One message, many behaviours</a:t>
            </a:r>
            <a:endParaRPr/>
          </a:p>
        </p:txBody>
      </p:sp>
      <p:sp>
        <p:nvSpPr>
          <p:cNvPr id="359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4391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PaymentMethod: the CampusBites worked example</a:t>
            </a:r>
            <a:endParaRPr/>
          </a:p>
        </p:txBody>
      </p:sp>
      <p:sp>
        <p:nvSpPr>
          <p:cNvPr id="361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39719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Program to an interface, not an implementation</a:t>
            </a:r>
            <a:endParaRPr/>
          </a:p>
        </p:txBody>
      </p:sp>
      <p:sp>
        <p:nvSpPr>
          <p:cNvPr id="363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2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6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POLYMORPHISM&lt;/Text&gt;&#10;  &lt;/Box&gt;&#10;  &lt;Box style={{ padding: '20px 40px 0 40px' }}&gt;&#10;    &lt;Text style={{ fontSize: 32, fontWeight: 'bold', color: '#0E3F8C' }}&gt;Same Message, Different Behaviour&lt;/Text&gt;&#10;  &lt;/Box&gt;&#10;  &lt;Box style={{ flex: 1, padding: '12px 40px 0 40px', flexDirection: 'row', gap: 26 }}&gt;&#10;    &lt;Box style={{ flex: 5, justifyContent: 'center', alignItems: 'center' }}&gt;&#10;      &lt;svg width={600} height={350} viewBox='0 0 600 350'&gt;&#10;        &lt;rect x='215' y='16' width='170' height='52' rx='10' fill='#0E3F8C' /&gt;&#10;        &lt;text x='300' y='48' textAnchor='middle' fill='#FFFFFF' fontSize='19' fontWeight='bold'&gt;pay(amount)&lt;/text&gt;&#10;        &lt;text x='300' y='92' textAnchor='middle' fill='#8B97A8' fontSize='14'&gt;one message, sent once&lt;/text&gt;&#10;        &lt;line x1='300' y1='100' x2='300' y2='124' stroke='#3D7BD9' strokeWidth='2' /&gt;&#10;        &lt;line x1='96' y1='124' x2='504' y2='124' stroke='#3D7BD9' strokeWidth='2' /&gt;&#10;        &lt;line x1='96' y1='124' x2='96' y2='152' stroke='#3D7BD9' strokeWidth='2' /&gt;&#10;        &lt;line x1='300' y1='124' x2='300' y2='152' stroke='#3D7BD9' strokeWidth='2' /&gt;&#10;        &lt;line x1='504' y1='124' x2='504' y2='152' stroke='#3D7BD9' strokeWidth='2' /&gt;&#10;        &lt;rect x='20' y='152' width='152' height='104' rx='12' fill='#E8EFF8' stroke='#3D7BD9' strokeWidth='2' /&gt;&#10;        &lt;text x='96' y='188' textAnchor='middle' fill='#0E3F8C' fontSize='18' fontWeight='bold'&gt;CampusCard&lt;/text&gt;&#10;        &lt;text x='96' y='214' textAnchor='middle' fill='#4A5568' fontSize='14'&gt;deduct from&lt;/text&gt;&#10;        &lt;text x='96' y='236' textAnchor='middle' fill='#4A5568' fontSize='14'&gt;the meal card&lt;/text&gt;&#10;        &lt;rect x='224' y='152' width='152' height='104' rx='12' fill='#E8EFF8' stroke='#3D7BD9' strokeWidth='2' /&gt;&#10;        &lt;text x='300' y='188' textAnchor='middle' fill='#0E3F8C' fontSize='18' fontWeight='bold'&gt;Wallet&lt;/text&gt;&#10;        &lt;text x='300' y='214' textAnchor='middle' fill='#4A5568' fontSize='14'&gt;debit the&lt;/text&gt;&#10;        &lt;text x='300' y='236' textAnchor='middle' fill='#4A5568' fontSize='14'&gt;in-app balance&lt;/text&gt;&#10;        &lt;rect x='428' y='152' width='152' height='104' rx='12' fill='#E8EFF8' stroke='#3D7BD9' strokeWidth='2' /&gt;&#10;        &lt;text x='504' y='188' textAnchor='middle' fill='#0E3F8C' fontSize='18' fontWeight='bold'&gt;Cash&lt;/text&gt;&#10;        &lt;text x='504' y='214' textAnchor='middle' fill='#4A5568' fontSize='14'&gt;mark as&lt;/text&gt;&#10;        &lt;text x='504' y='236' textAnchor='middle' fill='#4A5568' fontSize='14'&gt;pay on delivery&lt;/text&gt;&#10;        &lt;rect x='60' y='284' width='480' height='52' rx='10' fill='#F0F5FC' stroke='#1E4FA8' strokeWidth='2' /&gt;&#10;        &lt;text x='300' y='316' textAnchor='middle' fill='#0E3F8C' fontSize='16' fontWeight='bold'&gt;The caller never asks which one it holds.&lt;/text&gt;&#10;      &lt;/svg&gt;&#10;    &lt;/Box&gt;&#10;    &lt;Box style={{ flex: 4, flexDirection: 'column', gap: 12, justifyContent: 'center' }}&gt;&#10;      {[&#10;        ['comments', 'Poly = many, morph = form', 'One call site, many possible shapes of behaviour.'],&#10;        ['bolt', 'Dynamic binding', 'Which method runs is decided at runtime, not compile time.'],&#10;        ['exchange-alt', 'Substitutability', 'Any implementation can stand in — if the contract holds.'],&#10;      ].map(([icon, t, d]) =&gt; (&#10;        &lt;Box key={t} style={{ flexDirection: 'row', gap: 13, alignItems: 'flex-start', padding: '15px 17px', background: '#F7F9FC', borderRadius: 10, border: '1px solid #E5E7EB' }}&gt;&#10;          &lt;Box style={{ width: 40, height: 40, borderRadius: 9, background: '#E8EFF8', justifyContent: 'center', alignItems: 'center' }}&gt;&#10;            &lt;FAIcon name={icon} style={{ fill: '#1E4FA8', width: 20, height: 20 }} /&gt;&#10;          &lt;/Box&gt;&#10;          &lt;Box style={{ flex: 1,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  &lt;Box style={{ padding: '13px 16px', background: '#0E3F8C', borderRadius: 10 }}&gt;&#10;        &lt;Text style={{ fontSize: 15, color: '#FFFFFF', lineHeight: 1.5 }}&gt;This is why &lt;Text style={{ fontWeight: 'bold', color: '#FFC107' }}&gt;Order&lt;/Text&gt; does not need to know how you pay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10229850" y="257175"/>
            <a:ext cx="1581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POLYMORPHISM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Same Message, Different Behaviour</a:t>
            </a:r>
            <a:endParaRPr/>
          </a:p>
        </p:txBody>
      </p:sp>
      <p:pic>
        <p:nvPicPr>
          <p:cNvPr id="37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8650" y="2257425"/>
            <a:ext cx="5715000" cy="3333750"/>
          </a:xfrm>
          <a:prstGeom prst="rect">
            <a:avLst/>
          </a:prstGeom>
          <a:ln/>
        </p:spPr>
      </p:pic>
      <p:sp>
        <p:nvSpPr>
          <p:cNvPr id="371" name=""/>
          <p:cNvSpPr/>
          <p:nvPr/>
        </p:nvSpPr>
        <p:spPr>
          <a:xfrm rot="0" flipH="0" flipV="0">
            <a:off x="6838950" y="2352675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72" name=""/>
          <p:cNvSpPr/>
          <p:nvPr/>
        </p:nvSpPr>
        <p:spPr>
          <a:xfrm rot="0" flipH="0" flipV="0">
            <a:off x="7000875" y="2495550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7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96125" y="2590800"/>
            <a:ext cx="190500" cy="190500"/>
          </a:xfrm>
          <a:prstGeom prst="rect">
            <a:avLst/>
          </a:prstGeom>
          <a:ln/>
        </p:spPr>
      </p:pic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7505700" y="2495550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Poly = many, morph = form</a:t>
            </a:r>
            <a:endParaRPr/>
          </a:p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7505700" y="2724150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One call site, many possible shapes of behaviour.</a:t>
            </a:r>
            <a:endParaRPr/>
          </a:p>
        </p:txBody>
      </p:sp>
      <p:sp>
        <p:nvSpPr>
          <p:cNvPr id="376" name=""/>
          <p:cNvSpPr/>
          <p:nvPr/>
        </p:nvSpPr>
        <p:spPr>
          <a:xfrm rot="0" flipH="0" flipV="0">
            <a:off x="6838950" y="3228975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77" name=""/>
          <p:cNvSpPr/>
          <p:nvPr/>
        </p:nvSpPr>
        <p:spPr>
          <a:xfrm rot="0" flipH="0" flipV="0">
            <a:off x="7000875" y="3371850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7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96125" y="3467100"/>
            <a:ext cx="190500" cy="190500"/>
          </a:xfrm>
          <a:prstGeom prst="rect">
            <a:avLst/>
          </a:prstGeom>
          <a:ln/>
        </p:spPr>
      </p:pic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7505700" y="3371850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Dynamic binding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7505700" y="3600450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Which method runs is decided at runtime, not compile time.</a:t>
            </a:r>
            <a:endParaRPr/>
          </a:p>
        </p:txBody>
      </p:sp>
      <p:sp>
        <p:nvSpPr>
          <p:cNvPr id="381" name=""/>
          <p:cNvSpPr/>
          <p:nvPr/>
        </p:nvSpPr>
        <p:spPr>
          <a:xfrm rot="0" flipH="0" flipV="0">
            <a:off x="6838950" y="4105275"/>
            <a:ext cx="497205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82" name=""/>
          <p:cNvSpPr/>
          <p:nvPr/>
        </p:nvSpPr>
        <p:spPr>
          <a:xfrm rot="0" flipH="0" flipV="0">
            <a:off x="7000875" y="4248150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096125" y="4343400"/>
            <a:ext cx="190500" cy="190500"/>
          </a:xfrm>
          <a:prstGeom prst="rect">
            <a:avLst/>
          </a:prstGeom>
          <a:ln/>
        </p:spPr>
      </p:pic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7505700" y="4248150"/>
            <a:ext cx="41433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Substitutability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7505700" y="4476750"/>
            <a:ext cx="41433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Any implementation can stand in — if the contract holds.</a:t>
            </a:r>
            <a:endParaRPr/>
          </a:p>
        </p:txBody>
      </p:sp>
      <p:sp>
        <p:nvSpPr>
          <p:cNvPr id="386" name=""/>
          <p:cNvSpPr/>
          <p:nvPr/>
        </p:nvSpPr>
        <p:spPr>
          <a:xfrm rot="0" flipH="0" flipV="0">
            <a:off x="6838950" y="4981575"/>
            <a:ext cx="4972050" cy="504825"/>
          </a:xfrm>
          <a:prstGeom prst="roundRect">
            <a:avLst>
              <a:gd name="adj" fmla="val 18868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6991350" y="5105400"/>
            <a:ext cx="46672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>This is why </a:t>
            </a: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>Order</a:t>
            </a:r>
            <a:r>
              <a:rPr lang="en-US" sz="1125">
                <a:solidFill>
                  <a:srgbClr val="FFFFFF"/>
                </a:solidFill>
                <a:latin typeface="Microsoft YaHei"/>
                <a:ea typeface="Microsoft YaHei"/>
              </a:rPr>
              <a:t> does not need to know how you pay.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24 / 38</a:t>
            </a:r>
            <a:endParaRPr/>
          </a:p>
        </p:txBody>
      </p:sp>
    </p:spTree>
  </p:cSld>
</p:sld>
</file>

<file path=ppt/slides/slide25.xml><?xml version="1.0" encoding="utf-8"?>
<p:sld xmlns:a="http://schemas.openxmlformats.org/drawingml/2006/main" xmlns:p="http://schemas.openxmlformats.org/presentationml/2006/main">
  <p:cSld>
    <p:spTree>
      <p:nvGrpSpPr>
        <p:cNvPr id="390" name="" descr="&lt;Slide style={{ background: '#FFFFFF', padding: 0 }}&gt;&#10;  &lt;Box style={{ padding: '22px 40px 6px 40px', flexDirection: 'row', alignItems: 'center', justifyContent: 'space-between' }}&gt;&#10;    &lt;Text style={{ fontSize: 33, fontWeight: 'bold', color: '#0E3F8C' }}&gt;PaymentMethod — Polymorphism in Java&lt;/Text&gt;&#10;    &lt;Text style={{ fontSize: 14, color: '#1E4FA8', fontWeight: 'bold' }}&gt;25 / 38&lt;/Text&gt;&#10;  &lt;/Box&gt;&#10;  &lt;Box style={{ flex: 1, padding: '10px 40px 0 40px', flexDirection: 'row', gap: 26 }}&gt;&#10;    &lt;Box style={{ flex: 3, justifyContent: 'center' }}&gt;&#10;      &lt;CodeBlock code={`public interface PaymentMethod {&#10;    Receipt pay(Money amount);&#10;}&#10;&#10;public class CampusCard implements PaymentMethod {&#10;    public Receipt pay(Money amount) {&#10;        return cardTerminal.deduct(amount);&#10;    }&#10;}&#10;&#10;public class Wallet implements PaymentMethod {&#10;    public Receipt pay(Money amount) {&#10;        return balance.debit(amount);&#10;    }&#10;}&#10;&#10;public class Cash implements PaymentMethod {&#10;    public Receipt pay(Money amount) {&#10;        return Receipt.payOnDelivery(amount);&#10;    }&#10;}&#10;&#10;// the call site — one stable line&#10;Receipt r = method.pay(order.total());`} language='java' width={580} fontSize={11} /&gt;&#10;    &lt;/Box&gt;&#10;    &lt;Box style={{ flex: 2, flexDirection: 'column', gap: 12, justifyContent: 'center' }}&gt;&#10;      &lt;Box style={{ padding: '20px 22px', background: '#0E3F8C', borderRadius: 12, flexDirection: 'column', gap: 12 }}&gt;&#10;        &lt;Text style={{ fontSize: 16, color: '#7FA2D6', letterSpacing: 1 }}&gt;THE ONE LINE THAT MATTERS&lt;/Text&gt;&#10;        &lt;Text style={{ fontSize: 17, color: '#FFFFFF', lineHeight: 1.4, fontWeight: 'bold' }}&gt;method.pay(order.total())&lt;/Text&gt;&#10;        &lt;Box style={{ width: 44, height: 4, background: '#FFC107' }} /&gt;&#10;        &lt;Text style={{ fontSize: 15, color: '#C5D4EA', lineHeight: 1.5 }}&gt;It does not say which payment type. It does not need to. Adding a fourth method changes nothing here.&lt;/Text&gt;&#10;      &lt;/Box&gt;&#10;      &lt;Box style={{ padding: '14px 17px', background: '#F0F5FC', borderRadius: 10, border: '1px solid #3D7BD9' }}&gt;&#10;        &lt;Text style={{ fontSize: 15, color: '#4A5568', lineHeight: 1.5 }}&gt;&lt;Text style={{ fontWeight: 'bold', color: '#0E3F8C' }}&gt;The interface is the contract.&lt;/Text&gt; Each class decides how to honour it.&lt;/Text&gt;&#10;      &lt;/Box&gt;&#10;      &lt;Box style={{ padding: '14px 17px', background: '#FDF3F3', borderRadius: 10, borderLeft: '4px solid #D9534F' }}&gt;&#10;        &lt;Text style={{ fontSize: 15, color: '#4A5568', lineHeight: 1.5 }}&gt;No &lt;Text style={{ fontWeight: 'bold', color: '#D9534F' }}&gt;if&lt;/Text&gt; and no &lt;Text style={{ fontWeight: 'bold', color: '#D9534F' }}&gt;switch&lt;/Text&gt; anywhere in Order.&lt;/Text&gt;&#10;      &lt;/Box&gt;&#10;    &lt;/Box&gt;&#10;  &lt;/Box&gt;&#10;  &lt;Box style={{ height: 44, background: '#0E3F8C', padding: '0 40px', flexDirection: 'row', alignItems: 'center', justifyContent: 'center' }}&gt;&#10;    &lt;Text style={{ fontSize: 17, color: '#FFFFFF', fontWeight: '600' }}&gt;CampusBites uses this exact shape. Your M1 models will too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6257925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PaymentMethod — Polymorphism in Java</a:t>
            </a:r>
            <a:endParaRPr/>
          </a:p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11401425" y="3238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 / 38</a:t>
            </a:r>
            <a:endParaRPr/>
          </a:p>
        </p:txBody>
      </p:sp>
      <p:sp>
        <p:nvSpPr>
          <p:cNvPr id="394" name=""/>
          <p:cNvSpPr/>
          <p:nvPr/>
        </p:nvSpPr>
        <p:spPr>
          <a:xfrm rot="0" flipH="0" flipV="0">
            <a:off x="7334250" y="1952625"/>
            <a:ext cx="4476750" cy="1743075"/>
          </a:xfrm>
          <a:prstGeom prst="roundRect">
            <a:avLst>
              <a:gd name="adj" fmla="val 655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7543800" y="2143125"/>
            <a:ext cx="4057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THE ONE LINE THAT MATTERS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7543800" y="2447925"/>
            <a:ext cx="405765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method.pay(order.total())</a:t>
            </a:r>
            <a:endParaRPr/>
          </a:p>
        </p:txBody>
      </p:sp>
      <p:sp>
        <p:nvSpPr>
          <p:cNvPr id="397" name=""/>
          <p:cNvSpPr/>
          <p:nvPr/>
        </p:nvSpPr>
        <p:spPr>
          <a:xfrm rot="0" flipH="0" flipV="0">
            <a:off x="7543800" y="2838450"/>
            <a:ext cx="4191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7543800" y="2990850"/>
            <a:ext cx="40576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It does not say which payment type. It does not need to. Adding a fourth method changes nothing here.</a:t>
            </a:r>
            <a:endParaRPr/>
          </a:p>
        </p:txBody>
      </p:sp>
      <p:sp>
        <p:nvSpPr>
          <p:cNvPr id="399" name=""/>
          <p:cNvSpPr/>
          <p:nvPr/>
        </p:nvSpPr>
        <p:spPr>
          <a:xfrm rot="0" flipH="0" flipV="0">
            <a:off x="7334250" y="3810000"/>
            <a:ext cx="4476750" cy="781050"/>
          </a:xfrm>
          <a:prstGeom prst="roundRect">
            <a:avLst>
              <a:gd name="adj" fmla="val 12195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7496175" y="3943350"/>
            <a:ext cx="4152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interface is the contract.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Each class decides how to honour it.</a:t>
            </a:r>
            <a:endParaRPr/>
          </a:p>
        </p:txBody>
      </p:sp>
      <p:sp>
        <p:nvSpPr>
          <p:cNvPr id="401" name=""/>
          <p:cNvSpPr/>
          <p:nvPr/>
        </p:nvSpPr>
        <p:spPr>
          <a:xfrm rot="0" flipH="0" flipV="0">
            <a:off x="7372350" y="4705350"/>
            <a:ext cx="4476750" cy="523875"/>
          </a:xfrm>
          <a:prstGeom prst="roundRect">
            <a:avLst>
              <a:gd name="adj" fmla="val 18182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402" name=""/>
          <p:cNvSpPr/>
          <p:nvPr/>
        </p:nvSpPr>
        <p:spPr>
          <a:xfrm rot="0" flipH="0" flipV="0">
            <a:off x="7372350" y="4705350"/>
            <a:ext cx="4476750" cy="523875"/>
          </a:xfrm>
          <a:custGeom>
            <a:pathLst>
              <a:path w="470" h="5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49"/>
                </a:lnTo>
                <a:cubicBezTo>
                  <a:pt x="4" y="52"/>
                  <a:pt x="6" y="54"/>
                  <a:pt x="9" y="55"/>
                </a:cubicBezTo>
                <a:cubicBezTo>
                  <a:pt x="4" y="54"/>
                  <a:pt x="0" y="50"/>
                  <a:pt x="0" y="4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7534275" y="4838700"/>
            <a:ext cx="4114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No 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if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and no 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switch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anywhere in Order.</a:t>
            </a:r>
            <a:endParaRPr/>
          </a:p>
        </p:txBody>
      </p:sp>
      <p:sp>
        <p:nvSpPr>
          <p:cNvPr id="404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3733800" y="6553200"/>
            <a:ext cx="47339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CampusBites uses this exact shape. Your M1 models will too.</a:t>
            </a:r>
            <a:endParaRPr/>
          </a:p>
        </p:txBody>
      </p:sp>
      <p:sp>
        <p:nvSpPr>
          <p:cNvPr id="406" name=""/>
          <p:cNvSpPr/>
          <p:nvPr/>
        </p:nvSpPr>
        <p:spPr>
          <a:xfrm rot="0" flipH="0" flipV="0">
            <a:off x="381000" y="1343025"/>
            <a:ext cx="6705600" cy="4495800"/>
          </a:xfrm>
          <a:prstGeom prst="roundRect">
            <a:avLst>
              <a:gd name="adj" fmla="val 1695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07" name=""/>
          <p:cNvSpPr txBox="1"/>
          <p:nvPr/>
        </p:nvSpPr>
        <p:spPr>
          <a:xfrm rot="0" flipH="0" flipV="0">
            <a:off x="533400" y="1476375"/>
            <a:ext cx="6400800" cy="422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interface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PaymentMethod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Receipt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(Money </a:t>
            </a:r>
            <a:r>
              <a:rPr sz="825">
                <a:solidFill>
                  <a:srgbClr val="E36209"/>
                </a:solidFill>
                <a:latin typeface="Menlo"/>
                <a:ea typeface="Menlo"/>
              </a:rPr>
              <a:t>amount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);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CampusCard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implements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PaymentMethod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Receipt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(Money </a:t>
            </a:r>
            <a:r>
              <a:rPr sz="825">
                <a:solidFill>
                  <a:srgbClr val="E36209"/>
                </a:solidFill>
                <a:latin typeface="Menlo"/>
                <a:ea typeface="Menlo"/>
              </a:rPr>
              <a:t>amount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)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return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cardTerminal.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deduct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(amount);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}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Wallet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implements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PaymentMethod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Receipt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(Money </a:t>
            </a:r>
            <a:r>
              <a:rPr sz="825">
                <a:solidFill>
                  <a:srgbClr val="E36209"/>
                </a:solidFill>
                <a:latin typeface="Menlo"/>
                <a:ea typeface="Menlo"/>
              </a:rPr>
              <a:t>amount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)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return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balance.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debit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(amount);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}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Cash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implements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PaymentMethod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Receipt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(Money </a:t>
            </a:r>
            <a:r>
              <a:rPr sz="825">
                <a:solidFill>
                  <a:srgbClr val="E36209"/>
                </a:solidFill>
                <a:latin typeface="Menlo"/>
                <a:ea typeface="Menlo"/>
              </a:rPr>
              <a:t>amount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)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return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Receipt.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payOnDelivery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(amount);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}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6A737D"/>
                </a:solidFill>
                <a:latin typeface="Menlo"/>
                <a:ea typeface="Menlo"/>
              </a:rPr>
              <a:t>// the call site — one stable line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Receipt r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method.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(order.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total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());</a:t>
            </a:r>
            <a:endParaRPr/>
          </a:p>
        </p:txBody>
      </p:sp>
    </p:spTree>
  </p:cSld>
</p:sld>
</file>

<file path=ppt/slides/slide26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40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INTERFACES&lt;/Text&gt;&#10;  &lt;/Box&gt;&#10;  &lt;Box style={{ padding: '20px 40px 4px 40px', flexDirection: 'row', alignItems: 'center', justifyContent: 'space-between' }}&gt;&#10;    &lt;Text style={{ fontSize: 32, fontWeight: 'bold', color: '#0E3F8C' }}&gt;Interface or Abstract Class?&lt;/Text&gt;&#10;    &lt;Text style={{ fontSize: 14, color: '#1E4FA8', fontWeight: 'bold' }}&gt;26 / 38&lt;/Text&gt;&#10;  &lt;/Box&gt;&#10;  &lt;Box style={{ flex: 1, padding: '12px 40px 8px 40px' }}&gt;&#10;    &lt;Table&#10;      style={{ width: '100%', height: '100%' }}&#10;      defaultTextStyle={{ fontSize: 14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Question', textStyle: { bold: true, color: '#FFFFFF', textAlign: 'left' }, cellStyle: { background: { color: '#0E3F8C' } } },&#10;          { text: 'Interface', textStyle: { bold: true, color: '#FFFFFF', textAlign: 'left' }, cellStyle: { background: { color: '#1E4FA8' } } },&#10;          { text: 'Abstract class', textStyle: { bold: true, color: '#FFFFFF', textAlign: 'left' }, cellStyle: { background: { color: '#3D7BD9' } } },&#10;        ],&#10;        [&#10;          { text: 'Can a class take several?', textStyle: { bold: true, color: '#0E3F8C' }, cellStyle: { background: { color: '#F7F9FC' } } },&#10;          { text: 'Yes — implement many', textStyle: { color: '#4A5568' }, cellStyle: { background: { color: '#F7F9FC' } } },&#10;          { text: 'No — extend only one', textStyle: { color: '#4A5568' }, cellStyle: { background: { color: '#F7F9FC' } } },&#10;        ],&#10;        [&#10;          { text: 'Holds state (fields)?', textStyle: { bold: true, color: '#0E3F8C' } },&#10;          { text: 'No — constants only', textStyle: { color: '#4A5568' } },&#10;          { text: 'Yes — shared fields', textStyle: { color: '#4A5568' } },&#10;        ],&#10;        [&#10;          { text: 'Ships working code?', textStyle: { bold: true, color: '#0E3F8C' }, cellStyle: { background: { color: '#F7F9FC' } } },&#10;          { text: 'No — signatures only (mostly)', textStyle: { color: '#4A5568' }, cellStyle: { background: { color: '#F7F9FC' } } },&#10;          { text: 'Yes — concrete methods inherited', textStyle: { color: '#4A5568' }, cellStyle: { background: { color: '#F7F9FC' } } },&#10;        ],&#10;        [&#10;          { text: 'What it expresses', textStyle: { bold: true, color: '#0E3F8C' } },&#10;          { text: 'A capability: &quot;can be paid with&quot;', textStyle: { color: '#4A5568' } },&#10;          { text: 'A family: &quot;is a kind of&quot;', textStyle: { color: '#4A5568' } },&#10;        ],&#10;        [&#10;          { text: 'Coupling', textStyle: { bold: true, color: '#0E3F8C' }, cellStyle: { background: { color: '#F7F9FC' } } },&#10;          { text: 'Loose — pure contract', textStyle: { color: '#1E4FA8', bold: true }, cellStyle: { background: { color: '#F7F9FC' } } },&#10;          { text: 'Tighter — shares implementation', textStyle: { color: '#4A5568' }, cellStyle: { background: { color: '#F7F9FC' } } },&#10;        ],&#10;        [&#10;          { text: 'Use it when…', textStyle: { bold: true, color: '#0E3F8C' } },&#10;          { text: 'Unrelated classes share one ability', textStyle: { color: '#4A5568' } },&#10;          { text: 'Close relatives share real code', textStyle: { color: '#4A5568' } },&#10;        ],&#10;      ]}&#10;    /&gt;&#10;  &lt;/Box&gt;&#10;  &lt;Box style={{ height: 46, background: '#0E3F8C', padding: '0 40px', flexDirection: 'row', alignItems: 'center', justifyContent: 'center' }}&gt;&#10;    &lt;Text style={{ fontSize: 17, color: '#FFFFFF', fontWeight: '600' }}&gt;Default: reach for the interface. Move to an abstract class only when you must share cod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10487025" y="257175"/>
            <a:ext cx="1323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INTERFACES</a:t>
            </a:r>
            <a:endParaRPr/>
          </a:p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406717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Interface or Abstract Class?</a:t>
            </a:r>
            <a:endParaRPr/>
          </a:p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11401425" y="9810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26 / 38</a:t>
            </a:r>
            <a:endParaRPr/>
          </a:p>
        </p:txBody>
      </p:sp>
      <p:graphicFrame>
        <p:nvGraphicFramePr>
          <p:cNvPr id="415" name=""/>
          <p:cNvGraphicFramePr/>
          <p:nvPr/>
        </p:nvGraphicFramePr>
        <p:xfrm rot="0" flipH="0" flipV="0">
          <a:off x="381000" y="1400175"/>
          <a:ext cx="11430000" cy="4943475"/>
        </p:xfrm>
        <a:graphic>
          <a:graphicData uri="http://schemas.openxmlformats.org/drawingml/2006/table">
            <a:tbl>
              <a:tblGrid>
                <a:gridCol w="3254325">
                  <a:extLst>
                    <a:ext uri="{9D8B030D-6E8A-4147-A177-3AD203B41FA5}">
                      <a16:colId val="1"/>
                    </a:ext>
                  </a:extLst>
                </a:gridCol>
                <a:gridCol w="4124077">
                  <a:extLst>
                    <a:ext uri="{9D8B030D-6E8A-4147-A177-3AD203B41FA5}">
                      <a16:colId val="2"/>
                    </a:ext>
                  </a:extLst>
                </a:gridCol>
                <a:gridCol w="4051598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Question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Interface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Abstract class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D7BD9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Can a class take several?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Yes — implement many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 — extend only one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Holds state (fields)?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 — constants only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Yes — shared fields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Ships working code?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No — signatures only (mostly)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Yes — concrete methods inherited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What it expresses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capability: "can be paid with"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 family: "is a kind of"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Coupling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Loose — pure contract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Tighter — shares implementation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706211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Use it when…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Unrelated classes share one ability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Close relatives share real code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416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17" name="" descr="{&quot;isTemplate&quot;:true,&quot;type&quot;:&quot;text&quot;}"/>
          <p:cNvSpPr txBox="1"/>
          <p:nvPr/>
        </p:nvSpPr>
        <p:spPr>
          <a:xfrm rot="0" flipH="0" flipV="0">
            <a:off x="2619375" y="6543675"/>
            <a:ext cx="6962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Default: reach for the interface. Move to an abstract class only when you must share code.</a:t>
            </a:r>
            <a:endParaRPr/>
          </a:p>
        </p:txBody>
      </p:sp>
    </p:spTree>
  </p:cSld>
</p:sld>
</file>

<file path=ppt/slides/slide2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1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INTERFACES&lt;/Text&gt;&#10;  &lt;/Box&gt;&#10;  &lt;Box style={{ padding: '22px 40px 0 40px' }}&gt;&#10;    &lt;Text style={{ fontSize: 32, fontWeight: 'bold', color: '#0E3F8C' }}&gt;Program to an Interface&lt;/Text&gt;&#10;  &lt;/Box&gt;&#10;  &lt;Box style={{ flex: 1, padding: '18px 40px 0 40px', flexDirection: 'row', gap: 26 }}&gt;&#10;    &lt;Box style={{ flex: 3, flexDirection: 'column', gap: 12 }}&gt;&#10;      &lt;Box style={{ flex: 1, padding: '16px 18px', background: '#FDF3F3', borderRadius: 12, border: '1px solid #D9534F', flexDirection: 'column' }}&gt;&#10;        &lt;Box style={{ flexDirection: 'row', alignItems: 'center', gap: 10, marginBottom: 8 }}&gt;&#10;          &lt;FAIcon name='times-circle' style={{ fill: '#D9534F', width: 20, height: 20 }} /&gt;&#10;          &lt;Text style={{ fontSize: 16, fontWeight: 'bold', color: '#D9534F' }}&gt;Dependent on a concrete class&lt;/Text&gt;&#10;        &lt;/Box&gt;&#10;        &lt;CodeBlock code={`class OrderService {&#10;    private CampusCard card;   // one type only&#10;&#10;    void checkout(Order o) {&#10;        card.pay(o.total());&#10;    }&#10;}&#10;// adding Wallet means editing OrderService&#10;// and re-testing everything`} language='java' width={520} fontSize={12} /&gt;&#10;      &lt;/Box&gt;&#10;    &lt;/Box&gt;&#10;    &lt;Box style={{ flex: 3, flexDirection: 'column', gap: 12 }}&gt;&#10;      &lt;Box style={{ flex: 1, padding: '16px 18px', background: '#F0F5FC', borderRadius: 12, border: '1px solid #1E4FA8', flexDirection: 'column' }}&gt;&#10;        &lt;Box style={{ flexDirection: 'row', alignItems: 'center', gap: 10, marginBottom: 8 }}&gt;&#10;          &lt;FAIcon name='check-circle' style={{ fill: '#1E4FA8', width: 20, height: 20 }} /&gt;&#10;          &lt;Text style={{ fontSize: 16, fontWeight: 'bold', color: '#0E3F8C' }}&gt;Dependent on an interface&lt;/Text&gt;&#10;        &lt;/Box&gt;&#10;        &lt;CodeBlock code={`class OrderService {&#10;    private PaymentMethod method;   // any type&#10;&#10;    void checkout(Order o) {&#10;        method.pay(o.total());&#10;    }&#10;}&#10;// adding Wallet changes nothing here.&#10;// new class, same contract.`} language='java' width={520} fontSize={12} /&gt;&#10;      &lt;/Box&gt;&#10;    &lt;/Box&gt;&#10;  &lt;/Box&gt;&#10;  &lt;Box style={{ height: 52, padding: '0 40px', flexDirection: 'row', alignItems: 'center', gap: 14 }}&gt;&#10;    &lt;FAIcon name='lightbulb' style={{ fill: '#FFC107', width: 22, height: 22 }} /&gt;&#10;    &lt;Text style={{ fontSize: 17, color: '#4A5568' }}&gt;Declare the variable by what it must &lt;Text style={{ fontWeight: 'bold', color: '#0E3F8C' }}&gt;do&lt;/Text&gt;, not by what it &lt;Text style={{ fontWeight: 'bold', color: '#0E3F8C' }}&gt;is&lt;/Text&gt;.&lt;/Text&gt;&#10;    &lt;Text style={{ fontSize: 14, color: '#1E4FA8', fontWeight: 'bold', marginLeft: 'auto' }}&gt;2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10487025" y="257175"/>
            <a:ext cx="1323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INTERFACES</a:t>
            </a:r>
            <a:endParaRPr/>
          </a:p>
        </p:txBody>
      </p:sp>
      <p:sp>
        <p:nvSpPr>
          <p:cNvPr id="423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Program to an Interface</a:t>
            </a:r>
            <a:endParaRPr/>
          </a:p>
        </p:txBody>
      </p:sp>
      <p:sp>
        <p:nvSpPr>
          <p:cNvPr id="424" name=""/>
          <p:cNvSpPr/>
          <p:nvPr/>
        </p:nvSpPr>
        <p:spPr>
          <a:xfrm rot="0" flipH="0" flipV="0">
            <a:off x="381000" y="1438275"/>
            <a:ext cx="5591175" cy="4924425"/>
          </a:xfrm>
          <a:prstGeom prst="roundRect">
            <a:avLst>
              <a:gd name="adj" fmla="val 2321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/>
        </p:txBody>
      </p:sp>
      <p:pic>
        <p:nvPicPr>
          <p:cNvPr id="4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52450" y="1590675"/>
            <a:ext cx="190500" cy="190500"/>
          </a:xfrm>
          <a:prstGeom prst="rect">
            <a:avLst/>
          </a:prstGeom>
          <a:ln/>
        </p:spPr>
      </p:pic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838200" y="1590675"/>
            <a:ext cx="2247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Dependent on a concrete class</a:t>
            </a:r>
            <a:endParaRPr/>
          </a:p>
        </p:txBody>
      </p:sp>
      <p:sp>
        <p:nvSpPr>
          <p:cNvPr id="427" name=""/>
          <p:cNvSpPr/>
          <p:nvPr/>
        </p:nvSpPr>
        <p:spPr>
          <a:xfrm rot="0" flipH="0" flipV="0">
            <a:off x="6219825" y="1438275"/>
            <a:ext cx="5591175" cy="4924425"/>
          </a:xfrm>
          <a:prstGeom prst="roundRect">
            <a:avLst>
              <a:gd name="adj" fmla="val 2321"/>
            </a:avLst>
          </a:prstGeom>
          <a:solidFill>
            <a:srgbClr val="F0F5FC"/>
          </a:solidFill>
          <a:ln w="12700">
            <a:solidFill>
              <a:srgbClr val="1E4FA8"/>
            </a:solidFill>
            <a:prstDash val="solid"/>
          </a:ln>
        </p:spPr>
        <p:txBody>
          <a:bodyPr/>
          <a:p/>
        </p:txBody>
      </p:sp>
      <p:pic>
        <p:nvPicPr>
          <p:cNvPr id="4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391275" y="1590675"/>
            <a:ext cx="190500" cy="190500"/>
          </a:xfrm>
          <a:prstGeom prst="rect">
            <a:avLst/>
          </a:prstGeom>
          <a:ln/>
        </p:spPr>
      </p:pic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6677025" y="1590675"/>
            <a:ext cx="19145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Dependent on an interface</a:t>
            </a:r>
            <a:endParaRPr/>
          </a:p>
        </p:txBody>
      </p:sp>
      <p:pic>
        <p:nvPicPr>
          <p:cNvPr id="4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81000" y="6505575"/>
            <a:ext cx="209550" cy="209550"/>
          </a:xfrm>
          <a:prstGeom prst="rect">
            <a:avLst/>
          </a:prstGeom>
          <a:ln/>
        </p:spPr>
      </p:pic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723900" y="6515100"/>
            <a:ext cx="40481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Declare the variable by what it must 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do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, not by what it 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is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11401425" y="65341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27 / 38</a:t>
            </a:r>
            <a:endParaRPr/>
          </a:p>
        </p:txBody>
      </p:sp>
      <p:sp>
        <p:nvSpPr>
          <p:cNvPr id="433" name=""/>
          <p:cNvSpPr/>
          <p:nvPr/>
        </p:nvSpPr>
        <p:spPr>
          <a:xfrm rot="0" flipH="0" flipV="0">
            <a:off x="552450" y="1857375"/>
            <a:ext cx="5248275" cy="2000250"/>
          </a:xfrm>
          <a:prstGeom prst="roundRect">
            <a:avLst>
              <a:gd name="adj" fmla="val 3810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34" name=""/>
          <p:cNvSpPr txBox="1"/>
          <p:nvPr/>
        </p:nvSpPr>
        <p:spPr>
          <a:xfrm rot="0" flipH="0" flipV="0">
            <a:off x="704850" y="1990725"/>
            <a:ext cx="4943475" cy="1733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OrderService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private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CampusCard card;   </a:t>
            </a: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one type only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checkout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(Order 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o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)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    card.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(o.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total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());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adding Wallet means editing OrderService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and re-testing everything</a:t>
            </a:r>
            <a:endParaRPr/>
          </a:p>
        </p:txBody>
      </p:sp>
      <p:sp>
        <p:nvSpPr>
          <p:cNvPr id="435" name=""/>
          <p:cNvSpPr/>
          <p:nvPr/>
        </p:nvSpPr>
        <p:spPr>
          <a:xfrm rot="0" flipH="0" flipV="0">
            <a:off x="6391275" y="1857375"/>
            <a:ext cx="5248275" cy="2000250"/>
          </a:xfrm>
          <a:prstGeom prst="roundRect">
            <a:avLst>
              <a:gd name="adj" fmla="val 3810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36" name=""/>
          <p:cNvSpPr txBox="1"/>
          <p:nvPr/>
        </p:nvSpPr>
        <p:spPr>
          <a:xfrm rot="0" flipH="0" flipV="0">
            <a:off x="6543675" y="1990725"/>
            <a:ext cx="4943475" cy="1733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OrderService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private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PaymentMethod method;   </a:t>
            </a: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any type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checkout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(Order </a:t>
            </a:r>
            <a:r>
              <a:rPr sz="900">
                <a:solidFill>
                  <a:srgbClr val="E36209"/>
                </a:solidFill>
                <a:latin typeface="Menlo"/>
                <a:ea typeface="Menlo"/>
              </a:rPr>
              <a:t>o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)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    method.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(o.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total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());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adding Wallet changes nothing here.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6A737D"/>
                </a:solidFill>
                <a:latin typeface="Menlo"/>
                <a:ea typeface="Menlo"/>
              </a:rPr>
              <a:t>// new class, same contract.</a:t>
            </a:r>
            <a:endParaRPr/>
          </a:p>
        </p:txBody>
      </p:sp>
    </p:spTree>
  </p:cSld>
</p:sld>
</file>

<file path=ppt/slides/slide2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3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PAYOFF&lt;/Text&gt;&#10;  &lt;/Box&gt;&#10;  &lt;Box style={{ padding: '20px 40px 0 40px', flexDirection: 'row', alignItems: 'center', justifyContent: 'space-between' }}&gt;&#10;    &lt;Text style={{ fontSize: 32, fontWeight: 'bold', color: '#0E3F8C' }}&gt;Closing the Loop from Week 01&lt;/Text&gt;&#10;    &lt;Box style={{ padding: '5px 14px', background: '#E8EFF8', borderRadius: 14 }}&gt;&#10;      &lt;Text style={{ fontSize: 13, color: '#1E4FA8', fontWeight: 'bold' }}&gt;W01 PROBLEM → W02 TOOL&lt;/Text&gt;&#10;    &lt;/Box&gt;&#10;  &lt;/Box&gt;&#10;  &lt;Box style={{ flex: 1, padding: '14px 40px 0 40px', flexDirection: 'row', gap: 22 }}&gt;&#10;    &lt;Box style={{ flex: 1, flexDirection: 'column', gap: 9 }}&gt;&#10;      &lt;Box style={{ flexDirection: 'row', alignItems: 'center', gap: 9 }}&gt;&#10;        &lt;FAIcon name='times-circle' style={{ fill: '#D9534F', width: 18, height: 18 }} /&gt;&#10;        &lt;Text style={{ fontSize: 16, fontWeight: 'bold', color: '#D9534F' }}&gt;Last week: the smell&lt;/Text&gt;&#10;      &lt;/Box&gt;&#10;      &lt;CodeBlock code={`if (type.equals(&quot;CARD&quot;)) {&#10;    chargeCard(order);&#10;} else if (type.equals(&quot;WECHAT&quot;)) {&#10;    chargeWechat(order);&#10;} else if (type.equals(&quot;ALIPAY&quot;)) {&#10;    chargeAlipay(order);&#10;} else {&#10;    throw new UnsupportedException();&#10;}&#10;&#10;// every new type = edit this method&#10;// and re-test every branch`} language='java' width={500} fontSize={11} /&gt;&#10;    &lt;/Box&gt;&#10;    &lt;Box style={{ width: 52, justifyContent: 'center', alignItems: 'center' }}&gt;&#10;      &lt;FAIcon name='long-arrow-alt-right' style={{ fill: '#3D7BD9', width: 34, height: 34 }} /&gt;&#10;    &lt;/Box&gt;&#10;    &lt;Box style={{ flex: 1, flexDirection: 'column', gap: 9 }}&gt;&#10;      &lt;Box style={{ flexDirection: 'row', alignItems: 'center', gap: 9 }}&gt;&#10;        &lt;FAIcon name='check-circle' style={{ fill: '#1E4FA8', width: 18, height: 18 }} /&gt;&#10;        &lt;Text style={{ fontSize: 16, fontWeight: 'bold', color: '#0E3F8C' }}&gt;This week: the tool&lt;/Text&gt;&#10;      &lt;/Box&gt;&#10;      &lt;CodeBlock code={`Receipt r = method.pay(order.total());&#10;&#10;// a new payment type?&#10;class Bursary implements PaymentMethod {&#10;    public Receipt pay(Money amount) {&#10;        return award.deduct(amount);&#10;    }&#10;}&#10;&#10;// no existing line edited.&#10;// no existing test rewritten.`} language='java' width={500} fontSize={11} /&gt;&#10;    &lt;/Box&gt;&#10;  &lt;/Box&gt;&#10;  &lt;Box style={{ height: 48, background: '#0E3F8C', padding: '0 40px', flexDirection: 'row', alignItems: 'center', justifyContent: 'center' }}&gt;&#10;    &lt;Text style={{ fontSize: 17, color: '#FFFFFF', fontWeight: '600' }}&gt;Same problem, one week apart. That gap is what this course is training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10839450" y="257175"/>
            <a:ext cx="971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PAYOFF</a:t>
            </a:r>
            <a:endParaRPr/>
          </a:p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45529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Closing the Loop from Week 01</a:t>
            </a:r>
            <a:endParaRPr/>
          </a:p>
        </p:txBody>
      </p:sp>
      <p:sp>
        <p:nvSpPr>
          <p:cNvPr id="443" name=""/>
          <p:cNvSpPr/>
          <p:nvPr/>
        </p:nvSpPr>
        <p:spPr>
          <a:xfrm rot="0" flipH="0" flipV="0">
            <a:off x="9810750" y="942975"/>
            <a:ext cx="2000250" cy="247650"/>
          </a:xfrm>
          <a:prstGeom prst="roundRect">
            <a:avLst>
              <a:gd name="adj" fmla="val 53846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9944100" y="990600"/>
            <a:ext cx="1733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Microsoft YaHei"/>
                <a:ea typeface="Microsoft YaHei"/>
              </a:rPr>
              <a:t>W01 PROBLEM → W02 TOOL</a:t>
            </a:r>
            <a:endParaRPr/>
          </a:p>
        </p:txBody>
      </p:sp>
      <p:pic>
        <p:nvPicPr>
          <p:cNvPr id="44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1000" y="1390650"/>
            <a:ext cx="171450" cy="171450"/>
          </a:xfrm>
          <a:prstGeom prst="rect">
            <a:avLst/>
          </a:prstGeom>
          <a:ln/>
        </p:spPr>
      </p:pic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638175" y="1381125"/>
            <a:ext cx="1485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D9534F"/>
                </a:solidFill>
                <a:latin typeface="Microsoft YaHei"/>
                <a:ea typeface="Microsoft YaHei"/>
              </a:rPr>
              <a:t>Last week: the smell</a:t>
            </a:r>
            <a:endParaRPr/>
          </a:p>
        </p:txBody>
      </p:sp>
      <p:pic>
        <p:nvPicPr>
          <p:cNvPr id="4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934075" y="3733800"/>
            <a:ext cx="323850" cy="323850"/>
          </a:xfrm>
          <a:prstGeom prst="rect">
            <a:avLst/>
          </a:prstGeom>
          <a:ln/>
        </p:spPr>
      </p:pic>
      <p:pic>
        <p:nvPicPr>
          <p:cNvPr id="4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553200" y="1390650"/>
            <a:ext cx="171450" cy="171450"/>
          </a:xfrm>
          <a:prstGeom prst="rect">
            <a:avLst/>
          </a:prstGeom>
          <a:ln/>
        </p:spPr>
      </p:pic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6810375" y="1381125"/>
            <a:ext cx="1381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This week: the tool</a:t>
            </a:r>
            <a:endParaRPr/>
          </a:p>
        </p:txBody>
      </p:sp>
      <p:sp>
        <p:nvSpPr>
          <p:cNvPr id="450" name=""/>
          <p:cNvSpPr/>
          <p:nvPr/>
        </p:nvSpPr>
        <p:spPr>
          <a:xfrm rot="0" flipH="0" flipV="0">
            <a:off x="0" y="6400800"/>
            <a:ext cx="12192000" cy="4572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3343275" y="6534150"/>
            <a:ext cx="5514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Same problem, one week apart. That gap is what this course is training.</a:t>
            </a:r>
            <a:endParaRPr/>
          </a:p>
        </p:txBody>
      </p:sp>
      <p:sp>
        <p:nvSpPr>
          <p:cNvPr id="452" name=""/>
          <p:cNvSpPr/>
          <p:nvPr/>
        </p:nvSpPr>
        <p:spPr>
          <a:xfrm rot="0" flipH="0" flipV="0">
            <a:off x="381000" y="1657350"/>
            <a:ext cx="5257800" cy="2381250"/>
          </a:xfrm>
          <a:prstGeom prst="roundRect">
            <a:avLst>
              <a:gd name="adj" fmla="val 3200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53" name=""/>
          <p:cNvSpPr txBox="1"/>
          <p:nvPr/>
        </p:nvSpPr>
        <p:spPr>
          <a:xfrm rot="0" flipH="0" flipV="0">
            <a:off x="533400" y="1790700"/>
            <a:ext cx="4953000" cy="2114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(type.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equals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825">
                <a:solidFill>
                  <a:srgbClr val="032F62"/>
                </a:solidFill>
                <a:latin typeface="Menlo"/>
                <a:ea typeface="Menlo"/>
              </a:rPr>
              <a:t>"CARD"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))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chargeCard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(order);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}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else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(type.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equals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825">
                <a:solidFill>
                  <a:srgbClr val="032F62"/>
                </a:solidFill>
                <a:latin typeface="Menlo"/>
                <a:ea typeface="Menlo"/>
              </a:rPr>
              <a:t>"WECHAT"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))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chargeWechat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(order);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}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else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(type.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equals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825">
                <a:solidFill>
                  <a:srgbClr val="032F62"/>
                </a:solidFill>
                <a:latin typeface="Menlo"/>
                <a:ea typeface="Menlo"/>
              </a:rPr>
              <a:t>"ALIPAY"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))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chargeAlipay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(order);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}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else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throw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new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UnsupportedException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();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6A737D"/>
                </a:solidFill>
                <a:latin typeface="Menlo"/>
                <a:ea typeface="Menlo"/>
              </a:rPr>
              <a:t>// every new type = edit this method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6A737D"/>
                </a:solidFill>
                <a:latin typeface="Menlo"/>
                <a:ea typeface="Menlo"/>
              </a:rPr>
              <a:t>// and re-test every branch</a:t>
            </a:r>
            <a:endParaRPr/>
          </a:p>
        </p:txBody>
      </p:sp>
      <p:sp>
        <p:nvSpPr>
          <p:cNvPr id="454" name=""/>
          <p:cNvSpPr/>
          <p:nvPr/>
        </p:nvSpPr>
        <p:spPr>
          <a:xfrm rot="0" flipH="0" flipV="0">
            <a:off x="6553200" y="1657350"/>
            <a:ext cx="5257800" cy="2209800"/>
          </a:xfrm>
          <a:prstGeom prst="roundRect">
            <a:avLst>
              <a:gd name="adj" fmla="val 3448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455" name=""/>
          <p:cNvSpPr txBox="1"/>
          <p:nvPr/>
        </p:nvSpPr>
        <p:spPr>
          <a:xfrm rot="0" flipH="0" flipV="0">
            <a:off x="6705600" y="1790700"/>
            <a:ext cx="4953000" cy="1943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Receipt r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=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method.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(order.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total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());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6A737D"/>
                </a:solidFill>
                <a:latin typeface="Menlo"/>
                <a:ea typeface="Menlo"/>
              </a:rPr>
              <a:t>// a new payment type?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Bursary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implements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PaymentMethod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Receipt 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pay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(Money </a:t>
            </a:r>
            <a:r>
              <a:rPr sz="825">
                <a:solidFill>
                  <a:srgbClr val="E36209"/>
                </a:solidFill>
                <a:latin typeface="Menlo"/>
                <a:ea typeface="Menlo"/>
              </a:rPr>
              <a:t>amount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) {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    </a:t>
            </a:r>
            <a:r>
              <a:rPr sz="825">
                <a:solidFill>
                  <a:srgbClr val="D73A49"/>
                </a:solidFill>
                <a:latin typeface="Menlo"/>
                <a:ea typeface="Menlo"/>
              </a:rPr>
              <a:t>return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award.</a:t>
            </a:r>
            <a:r>
              <a:rPr sz="825">
                <a:solidFill>
                  <a:srgbClr val="6F42C1"/>
                </a:solidFill>
                <a:latin typeface="Menlo"/>
                <a:ea typeface="Menlo"/>
              </a:rPr>
              <a:t>deduct</a:t>
            </a: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(amount);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    }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E5E7EB"/>
                </a:solidFill>
                <a:latin typeface="Menlo"/>
                <a:ea typeface="Menlo"/>
              </a:rPr>
              <a:t> 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6A737D"/>
                </a:solidFill>
                <a:latin typeface="Menlo"/>
                <a:ea typeface="Menlo"/>
              </a:rPr>
              <a:t>// no existing line edited.</a:t>
            </a:r>
            <a:endParaRPr/>
          </a:p>
          <a:p>
            <a:pPr>
              <a:lnSpc>
                <a:spcPct val="140000"/>
              </a:lnSpc>
            </a:pPr>
            <a:r>
              <a:rPr sz="825">
                <a:solidFill>
                  <a:srgbClr val="6A737D"/>
                </a:solidFill>
                <a:latin typeface="Menlo"/>
                <a:ea typeface="Menlo"/>
              </a:rPr>
              <a:t>// no existing test rewritten.</a:t>
            </a:r>
            <a:endParaRPr/>
          </a:p>
        </p:txBody>
      </p:sp>
    </p:spTree>
  </p:cSld>
</p:sld>
</file>

<file path=ppt/slides/slide29.xml><?xml version="1.0" encoding="utf-8"?>
<p:sld xmlns:a="http://schemas.openxmlformats.org/drawingml/2006/main" xmlns:p="http://schemas.openxmlformats.org/presentationml/2006/main">
  <p:cSld>
    <p:spTree>
      <p:nvGrpSpPr>
        <p:cNvPr id="456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6&lt;/Text&gt;&#10;    &lt;/Box&gt;&#10;    &lt;Box style={{ flex: 1, padding: '70px 64px', flexDirection: 'column', justifyContent: 'center' }}&gt;&#10;      &lt;Text style={{ fontSize: 15, color: '#7FA2D6', letterSpacing: 2, marginBottom: 18 }}&gt;PART 2 · LAB · 2 HOURS&lt;/Text&gt;&#10;      &lt;Text style={{ fontSize: 46, fontWeight: 'bold', color: '#FFFFFF', lineHeight: 1.18 }}&gt;OO Analysis &amp;amp;&lt;br /&gt;M0 Kickoff&lt;/Text&gt;&#10;      &lt;Box style={{ width: 64, height: 4, background: '#FFC107', marginTop: 26, marginBottom: 26 }} /&gt;&#10;      &lt;Box style={{ flexDirection: 'column', gap: 12 }}&gt;&#10;        {[&#10;          'Exercise 2.1 — the class that does everything',&#10;          'From objects to responsibilities',&#10;          'Then: form your team and deliver M0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58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289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06</a:t>
            </a:r>
            <a:endParaRPr/>
          </a:p>
        </p:txBody>
      </p:sp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3467100" y="1914525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2 · LAB · 2 HOURS</a:t>
            </a:r>
            <a:endParaRPr/>
          </a:p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3467100" y="2257425"/>
            <a:ext cx="8115300" cy="1247775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OO Analysis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>M0 Kickoff</a:t>
            </a:r>
            <a:endParaRPr/>
          </a:p>
        </p:txBody>
      </p:sp>
      <p:sp>
        <p:nvSpPr>
          <p:cNvPr id="462" name=""/>
          <p:cNvSpPr/>
          <p:nvPr/>
        </p:nvSpPr>
        <p:spPr>
          <a:xfrm rot="0" flipH="0" flipV="0">
            <a:off x="3467100" y="37528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63" name=""/>
          <p:cNvSpPr/>
          <p:nvPr/>
        </p:nvSpPr>
        <p:spPr>
          <a:xfrm rot="0" flipH="0" flipV="0">
            <a:off x="3467100" y="411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3657600" y="4038600"/>
            <a:ext cx="3867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Exercise 2.1 — the class that does everything</a:t>
            </a:r>
            <a:endParaRPr/>
          </a:p>
        </p:txBody>
      </p:sp>
      <p:sp>
        <p:nvSpPr>
          <p:cNvPr id="465" name=""/>
          <p:cNvSpPr/>
          <p:nvPr/>
        </p:nvSpPr>
        <p:spPr>
          <a:xfrm rot="0" flipH="0" flipV="0">
            <a:off x="3467100" y="44577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3657600" y="4381500"/>
            <a:ext cx="26193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From objects to responsibilities</a:t>
            </a:r>
            <a:endParaRPr/>
          </a:p>
        </p:txBody>
      </p:sp>
      <p:sp>
        <p:nvSpPr>
          <p:cNvPr id="467" name=""/>
          <p:cNvSpPr/>
          <p:nvPr/>
        </p:nvSpPr>
        <p:spPr>
          <a:xfrm rot="0" flipH="0" flipV="0">
            <a:off x="3467100" y="4800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3657600" y="4724400"/>
            <a:ext cx="3124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Then: form your team and deliver M0</a:t>
            </a:r>
            <a:endParaRPr/>
          </a:p>
        </p:txBody>
      </p:sp>
      <p:sp>
        <p:nvSpPr>
          <p:cNvPr id="46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30.xml><?xml version="1.0" encoding="utf-8"?>
<p:sld xmlns:a="http://schemas.openxmlformats.org/drawingml/2006/main" xmlns:p="http://schemas.openxmlformats.org/presentationml/2006/main">
  <p:cSld>
    <p:spTree>
      <p:nvGrpSpPr>
        <p:cNvPr id="484" name="" descr="&lt;Slide style={{ background: '#FFFFFF', padding: 0 }}&gt;&#10;  &lt;Box style={{ padding: '22px 40px 6px 40px', flexDirection: 'row', alignItems: 'center', justifyContent: 'space-between' }}&gt;&#10;    &lt;Text style={{ fontSize: 32, fontWeight: 'bold', color: '#0E3F8C' }}&gt;Exercise 2.1 — The Class That Does Everything&lt;/Text&gt;&#10;    &lt;Text style={{ fontSize: 14, color: '#1E4FA8', fontWeight: 'bold' }}&gt;30 / 38&lt;/Text&gt;&#10;  &lt;/Box&gt;&#10;  &lt;Box style={{ flex: 1, padding: '10px 40px 0 40px', flexDirection: 'row', gap: 26 }}&gt;&#10;    &lt;Box style={{ flex: 3, flexDirection: 'column', gap: 9 }}&gt;&#10;      &lt;Box style={{ flexDirection: 'row', alignItems: 'center', gap: 9 }}&gt;&#10;        &lt;Box style={{ padding: '4px 12px', background: '#D9534F', borderRadius: 6 }}&gt;&#10;          &lt;Text style={{ fontSize: 13, color: '#FFFFFF', fontWeight: 'bold' }}&gt;BEFORE&lt;/Text&gt;&#10;        &lt;/Box&gt;&#10;        &lt;Text style={{ fontSize: 16, color: '#4A5568' }}&gt;One class, six unrelated reasons to change.&lt;/Text&gt;&#10;      &lt;/Box&gt;&#10;      &lt;CodeBlock code={`public class Order {&#10;    void placeOrder()      { ... }&#10;    void chargeCustomer()  { ... }&#10;    void notifyRider()     { ... }&#10;    void printReceipt()    { ... }&#10;    void updateInventory() { ... }&#10;    void sendSms()         { ... }&#10;    void applyDiscount()   { ... }&#10;}`} language='java' width={540} fontSize={12} /&gt;&#10;      &lt;Box style={{ padding: '12px 16px', background: '#FDF3F3', borderRadius: 9, borderLeft: '4px solid #D9534F' }}&gt;&#10;        &lt;Text style={{ fontSize: 15, color: '#4A5568', lineHeight: 1.5 }}&gt;Your task: &lt;Text style={{ fontWeight: 'bold', color: '#D9534F' }}&gt;list the distinct responsibilities&lt;/Text&gt; — not the methods.&lt;/Text&gt;&#10;      &lt;/Box&gt;&#10;    &lt;/Box&gt;&#10;    &lt;Box style={{ flex: 2, flexDirection: 'column', gap: 12, justifyContent: 'center' }}&gt;&#10;      &lt;Box style={{ padding: '20px 22px', background: '#0E3F8C', borderRadius: 12, flexDirection: 'column', gap: 12 }}&gt;&#10;        &lt;Text style={{ fontSize: 15, color: '#7FA2D6', letterSpacing: 1 }}&gt;A HINT YOU WILL NEED LATER&lt;/Text&gt;&#10;        &lt;Text style={{ fontSize: 20, fontWeight: 'bold', color: '#FFFFFF', lineHeight: 1.35 }}&gt;A responsibility is a reason to change.&lt;/Text&gt;&#10;        &lt;Text style={{ fontSize: 15, color: '#C5D4EA', lineHeight: 1.5 }}&gt;Two methods that change for the same reason belong together. Two that change for different reasons do not.&lt;/Text&gt;&#10;      &lt;/Box&gt;&#10;      &lt;Box style={{ padding: '14px 17px', background: '#F7F9FC', borderRadius: 10, border: '1px dashed #D9534F' }}&gt;&#10;        &lt;Text style={{ fontSize: 15, color: '#4A5568', lineHeight: 1.5 }}&gt;&lt;Text style={{ fontWeight: 'bold', color: '#D9534F' }}&gt;Remember this class.&lt;/Text&gt; We meet it again in Week 11, when GRASP tells us how to fix it properly.&lt;/Text&gt;&#10;      &lt;/Box&gt;&#10;    &lt;/Box&gt;&#10;  &lt;/Box&gt;&#10;  &lt;Box style={{ height: 44, background: '#0E3F8C', padding: '0 40px', flexDirection: 'row', alignItems: 'center', justifyContent: 'center' }}&gt;&#10;    &lt;Text style={{ fontSize: 17, color: '#FFFFFF', fontWeight: '600' }}&gt;90 minutes. Work in pairs first, then report back as a group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68961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Exercise 2.1 — The Class That Does Everything</a:t>
            </a:r>
            <a:endParaRPr/>
          </a:p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11401425" y="31432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30 / 38</a:t>
            </a:r>
            <a:endParaRPr/>
          </a:p>
        </p:txBody>
      </p:sp>
      <p:sp>
        <p:nvSpPr>
          <p:cNvPr id="488" name=""/>
          <p:cNvSpPr/>
          <p:nvPr/>
        </p:nvSpPr>
        <p:spPr>
          <a:xfrm rot="0" flipH="0" flipV="0">
            <a:off x="381000" y="733425"/>
            <a:ext cx="752475" cy="228600"/>
          </a:xfrm>
          <a:prstGeom prst="roundRect">
            <a:avLst>
              <a:gd name="adj" fmla="val 25000"/>
            </a:avLst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489" name="" descr="{&quot;isTemplate&quot;:true,&quot;type&quot;:&quot;text&quot;}"/>
          <p:cNvSpPr txBox="1"/>
          <p:nvPr/>
        </p:nvSpPr>
        <p:spPr>
          <a:xfrm rot="0" flipH="0" flipV="0">
            <a:off x="495300" y="771525"/>
            <a:ext cx="523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BEFORE</a:t>
            </a:r>
            <a:endParaRPr/>
          </a:p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1219200" y="752475"/>
            <a:ext cx="2971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One class, six unrelated reasons to change.</a:t>
            </a:r>
            <a:endParaRPr/>
          </a:p>
        </p:txBody>
      </p:sp>
      <p:sp>
        <p:nvSpPr>
          <p:cNvPr id="491" name=""/>
          <p:cNvSpPr/>
          <p:nvPr/>
        </p:nvSpPr>
        <p:spPr>
          <a:xfrm rot="0" flipH="0" flipV="0">
            <a:off x="419100" y="3133725"/>
            <a:ext cx="6705600" cy="485775"/>
          </a:xfrm>
          <a:prstGeom prst="roundRect">
            <a:avLst>
              <a:gd name="adj" fmla="val 17647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492" name=""/>
          <p:cNvSpPr/>
          <p:nvPr/>
        </p:nvSpPr>
        <p:spPr>
          <a:xfrm rot="0" flipH="0" flipV="0">
            <a:off x="419100" y="3133725"/>
            <a:ext cx="6705600" cy="485775"/>
          </a:xfrm>
          <a:custGeom>
            <a:pathLst>
              <a:path w="704" h="51">
                <a:moveTo>
                  <a:pt x="9" y="0"/>
                </a:moveTo>
                <a:cubicBezTo>
                  <a:pt x="6" y="0"/>
                  <a:pt x="4" y="2"/>
                  <a:pt x="4" y="5"/>
                </a:cubicBezTo>
                <a:lnTo>
                  <a:pt x="4" y="46"/>
                </a:lnTo>
                <a:cubicBezTo>
                  <a:pt x="4" y="48"/>
                  <a:pt x="6" y="50"/>
                  <a:pt x="8" y="51"/>
                </a:cubicBezTo>
                <a:cubicBezTo>
                  <a:pt x="4" y="51"/>
                  <a:pt x="0" y="47"/>
                  <a:pt x="0" y="42"/>
                </a:cubicBezTo>
                <a:lnTo>
                  <a:pt x="0" y="9"/>
                </a:lnTo>
                <a:cubicBezTo>
                  <a:pt x="0" y="4"/>
                  <a:pt x="4" y="0"/>
                  <a:pt x="9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493" name="" descr="{&quot;isTemplate&quot;:true,&quot;type&quot;:&quot;text&quot;}"/>
          <p:cNvSpPr txBox="1"/>
          <p:nvPr/>
        </p:nvSpPr>
        <p:spPr>
          <a:xfrm rot="0" flipH="0" flipV="0">
            <a:off x="571500" y="3248025"/>
            <a:ext cx="63627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Your task: 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list the distinct responsibilities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— not the methods.</a:t>
            </a:r>
            <a:endParaRPr/>
          </a:p>
        </p:txBody>
      </p:sp>
      <p:sp>
        <p:nvSpPr>
          <p:cNvPr id="494" name=""/>
          <p:cNvSpPr/>
          <p:nvPr/>
        </p:nvSpPr>
        <p:spPr>
          <a:xfrm rot="0" flipH="0" flipV="0">
            <a:off x="7334250" y="2333625"/>
            <a:ext cx="4476750" cy="1609725"/>
          </a:xfrm>
          <a:prstGeom prst="roundRect">
            <a:avLst>
              <a:gd name="adj" fmla="val 710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95" name="" descr="{&quot;isTemplate&quot;:true,&quot;type&quot;:&quot;text&quot;}"/>
          <p:cNvSpPr txBox="1"/>
          <p:nvPr/>
        </p:nvSpPr>
        <p:spPr>
          <a:xfrm rot="0" flipH="0" flipV="0">
            <a:off x="7543800" y="2524125"/>
            <a:ext cx="4057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7FA2D6"/>
                </a:solidFill>
                <a:latin typeface="Microsoft YaHei"/>
                <a:ea typeface="Microsoft YaHei"/>
              </a:rPr>
              <a:t>A HINT YOU WILL NEED LATER</a:t>
            </a:r>
            <a:endParaRPr/>
          </a:p>
        </p:txBody>
      </p:sp>
      <p:sp>
        <p:nvSpPr>
          <p:cNvPr id="496" name="" descr="{&quot;isTemplate&quot;:true,&quot;type&quot;:&quot;text&quot;}"/>
          <p:cNvSpPr txBox="1"/>
          <p:nvPr/>
        </p:nvSpPr>
        <p:spPr>
          <a:xfrm rot="0" flipH="0" flipV="0">
            <a:off x="7543800" y="2809875"/>
            <a:ext cx="4057650" cy="3143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A responsibility is a reason to change.</a:t>
            </a:r>
            <a:endParaRPr/>
          </a:p>
        </p:txBody>
      </p:sp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7543800" y="3238500"/>
            <a:ext cx="40576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Two methods that change for the same reason belong together. Two that change for different reasons do not.</a:t>
            </a:r>
            <a:endParaRPr/>
          </a:p>
        </p:txBody>
      </p:sp>
      <p:sp>
        <p:nvSpPr>
          <p:cNvPr id="498" name=""/>
          <p:cNvSpPr/>
          <p:nvPr/>
        </p:nvSpPr>
        <p:spPr>
          <a:xfrm rot="0" flipH="0" flipV="0">
            <a:off x="7334250" y="4057650"/>
            <a:ext cx="4476750" cy="781050"/>
          </a:xfrm>
          <a:prstGeom prst="roundRect">
            <a:avLst>
              <a:gd name="adj" fmla="val 12195"/>
            </a:avLst>
          </a:prstGeom>
          <a:solidFill>
            <a:srgbClr val="F7F9FC"/>
          </a:solidFill>
          <a:ln w="12700">
            <a:solidFill>
              <a:srgbClr val="D9534F"/>
            </a:solidFill>
            <a:prstDash val="dash"/>
          </a:ln>
        </p:spPr>
        <p:txBody>
          <a:bodyPr/>
          <a:p/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7496175" y="4191000"/>
            <a:ext cx="4152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Remember this class.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We meet it again in Week 11, when GRASP tells us how to fix it properly.</a:t>
            </a:r>
            <a:endParaRPr/>
          </a:p>
        </p:txBody>
      </p:sp>
      <p:sp>
        <p:nvSpPr>
          <p:cNvPr id="500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01" name="" descr="{&quot;isTemplate&quot;:true,&quot;type&quot;:&quot;text&quot;}"/>
          <p:cNvSpPr txBox="1"/>
          <p:nvPr/>
        </p:nvSpPr>
        <p:spPr>
          <a:xfrm rot="0" flipH="0" flipV="0">
            <a:off x="3810000" y="6553200"/>
            <a:ext cx="45815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90 minutes. Work in pairs first, then report back as a group.</a:t>
            </a:r>
            <a:endParaRPr/>
          </a:p>
        </p:txBody>
      </p:sp>
      <p:sp>
        <p:nvSpPr>
          <p:cNvPr id="502" name=""/>
          <p:cNvSpPr/>
          <p:nvPr/>
        </p:nvSpPr>
        <p:spPr>
          <a:xfrm rot="0" flipH="0" flipV="0">
            <a:off x="381000" y="1047750"/>
            <a:ext cx="6705600" cy="2000250"/>
          </a:xfrm>
          <a:prstGeom prst="roundRect">
            <a:avLst>
              <a:gd name="adj" fmla="val 3810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503" name=""/>
          <p:cNvSpPr txBox="1"/>
          <p:nvPr/>
        </p:nvSpPr>
        <p:spPr>
          <a:xfrm rot="0" flipH="0" flipV="0">
            <a:off x="533400" y="1181100"/>
            <a:ext cx="6400800" cy="1733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public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class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Order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placeOrder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      { ...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chargeCustomer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  { ...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notifyRider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     { ...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printReceipt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    { ...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updateInventory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 { ...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sendSms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         { ...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00">
                <a:solidFill>
                  <a:srgbClr val="D73A49"/>
                </a:solidFill>
                <a:latin typeface="Menlo"/>
                <a:ea typeface="Menlo"/>
              </a:rPr>
              <a:t>void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00">
                <a:solidFill>
                  <a:srgbClr val="6F42C1"/>
                </a:solidFill>
                <a:latin typeface="Menlo"/>
                <a:ea typeface="Menlo"/>
              </a:rPr>
              <a:t>applyDiscount</a:t>
            </a: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()   { ... }</a:t>
            </a:r>
            <a:endParaRPr/>
          </a:p>
          <a:p>
            <a:pPr>
              <a:lnSpc>
                <a:spcPct val="140000"/>
              </a:lnSpc>
            </a:pPr>
            <a:r>
              <a:rPr sz="900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</p:txBody>
      </p:sp>
    </p:spTree>
  </p:cSld>
</p:sld>
</file>

<file path=ppt/slides/slide3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0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LAB 2.1&lt;/Text&gt;&#10;  &lt;/Box&gt;&#10;  &lt;Box style={{ padding: '22px 40px 0 40px' }}&gt;&#10;    &lt;Text style={{ fontSize: 32, fontWeight: 'bold', color: '#0E3F8C' }}&gt;Listing Its Responsibilities&lt;/Text&gt;&#10;  &lt;/Box&gt;&#10;  &lt;Box style={{ flex: 1, padding: '22px 40px 0 40px', flexDirection: 'row', gap: 22, alignItems: 'stretch' }}&gt;&#10;    {[&#10;      { icon: 'calculator', n: '01', name: 'Know the money', methods: 'total() · applyDiscount()', why: 'changes when pricing rules change', color: '#1E4FA8' },&#10;      { icon: 'credit-card', n: '02', name: 'Take the payment', methods: 'chargeCustomer()', why: 'changes when a payment type appears', color: '#0E3F8C' },&#10;      { icon: 'bell', n: '03', name: 'Tell people things', methods: 'notifyRider() · sendSms() · printReceipt()', why: 'changes when a channel is added', color: '#3D7BD9' },&#10;    ].map((c) =&gt; (&#10;      &lt;Box key={c.n} style={{ flex: 1, padding: '22px 20px', background: '#F7F9FC', borderRadius: 12, border: '1px solid #E5E7EB', flexDirection: 'column', gap: 12 }}&gt;&#10;        &lt;Box style={{ flexDirection: 'row', alignItems: 'center', gap: 11 }}&gt;&#10;          &lt;Box style={{ width: 46, height: 46, borderRadius: 10, background: c.color, justifyContent: 'center', alignItems: 'center' }}&gt;&#10;            &lt;FAIcon name={c.icon} style={{ fill: '#FFFFFF', width: 22, height: 22 }} /&gt;&#10;          &lt;/Box&gt;&#10;          &lt;Text style={{ fontSize: 26, fontWeight: 'bold', color: '#E8EFF8', fontFamily: 'Georgia, serif' }}&gt;{c.n}&lt;/Text&gt;&#10;        &lt;/Box&gt;&#10;        &lt;Text style={{ fontSize: 20, fontWeight: 'bold', color: '#0E3F8C', lineHeight: 1.3 }}&gt;{c.name}&lt;/Text&gt;&#10;        &lt;Box style={{ padding: '11px 13px', background: '#FFFFFF', borderRadius: 8, border: '1px solid #E5E7EB' }}&gt;&#10;          &lt;Text style={{ fontSize: 14, color: '#1A2230', lineHeight: 1.45 }}&gt;{c.methods}&lt;/Text&gt;&#10;        &lt;/Box&gt;&#10;        &lt;Box style={{ padding: '11px 13px', background: '#E8EFF8', borderRadius: 8 }}&gt;&#10;          &lt;Text style={{ fontSize: 13, color: '#3D7BD9', fontWeight: 'bold', letterSpacing: 1, marginBottom: 4 }}&gt;REASON TO CHANGE&lt;/Text&gt;&#10;          &lt;Text style={{ fontSize: 14, color: '#4A5568', lineHeight: 1.45 }}&gt;{c.why}&lt;/Text&gt;&#10;        &lt;/Box&gt;&#10;      &lt;/Box&gt;&#10;    ))}&#10;  &lt;/Box&gt;&#10;  &lt;Box style={{ height: 50, padding: '0 40px', flexDirection: 'row', alignItems: 'center', gap: 14 }}&gt;&#10;    &lt;FAIcon name='lightbulb' style={{ fill: '#FFC107', width: 21, height: 21 }} /&gt;&#10;    &lt;Text style={{ fontSize: 17, color: '#4A5568' }}&gt;Three responsibilities, three separate reasons. One class holding all three is doing three jobs.&lt;/Text&gt;&#10;    &lt;Text style={{ fontSize: 14, color: '#1E4FA8', fontWeight: 'bold', marginLeft: 'auto' }}&gt;3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0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08" name="" descr="{&quot;isTemplate&quot;:true,&quot;type&quot;:&quot;text&quot;}"/>
          <p:cNvSpPr txBox="1"/>
          <p:nvPr/>
        </p:nvSpPr>
        <p:spPr>
          <a:xfrm rot="0" flipH="0" flipV="0">
            <a:off x="10877550" y="257175"/>
            <a:ext cx="933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LAB 2.1</a:t>
            </a:r>
            <a:endParaRPr/>
          </a:p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Listing Its Responsibilities</a:t>
            </a:r>
            <a:endParaRPr/>
          </a:p>
        </p:txBody>
      </p:sp>
      <p:sp>
        <p:nvSpPr>
          <p:cNvPr id="510" name=""/>
          <p:cNvSpPr/>
          <p:nvPr/>
        </p:nvSpPr>
        <p:spPr>
          <a:xfrm rot="0" flipH="0" flipV="0">
            <a:off x="381000" y="1476375"/>
            <a:ext cx="3667125" cy="4905375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11" name=""/>
          <p:cNvSpPr/>
          <p:nvPr/>
        </p:nvSpPr>
        <p:spPr>
          <a:xfrm rot="0" flipH="0" flipV="0">
            <a:off x="571500" y="16859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85800" y="1800225"/>
            <a:ext cx="209550" cy="209550"/>
          </a:xfrm>
          <a:prstGeom prst="rect">
            <a:avLst/>
          </a:prstGeom>
          <a:ln/>
        </p:spPr>
      </p:pic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1114425" y="1752600"/>
            <a:ext cx="2952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E8EFF8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571500" y="2238375"/>
            <a:ext cx="3286125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Know the money</a:t>
            </a:r>
            <a:endParaRPr/>
          </a:p>
        </p:txBody>
      </p:sp>
      <p:sp>
        <p:nvSpPr>
          <p:cNvPr id="515" name=""/>
          <p:cNvSpPr/>
          <p:nvPr/>
        </p:nvSpPr>
        <p:spPr>
          <a:xfrm rot="0" flipH="0" flipV="0">
            <a:off x="571500" y="2657475"/>
            <a:ext cx="3286125" cy="447675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695325" y="2762250"/>
            <a:ext cx="3038475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total() · applyDiscount()</a:t>
            </a:r>
            <a:endParaRPr/>
          </a:p>
        </p:txBody>
      </p:sp>
      <p:sp>
        <p:nvSpPr>
          <p:cNvPr id="517" name=""/>
          <p:cNvSpPr/>
          <p:nvPr/>
        </p:nvSpPr>
        <p:spPr>
          <a:xfrm rot="0" flipH="0" flipV="0">
            <a:off x="571500" y="3219450"/>
            <a:ext cx="3286125" cy="638175"/>
          </a:xfrm>
          <a:prstGeom prst="roundRect">
            <a:avLst>
              <a:gd name="adj" fmla="val 1194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695325" y="3324225"/>
            <a:ext cx="3038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REASON TO CHANGE</a:t>
            </a:r>
            <a:endParaRPr/>
          </a:p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695325" y="3514725"/>
            <a:ext cx="3038475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changes when pricing rules change</a:t>
            </a:r>
            <a:endParaRPr/>
          </a:p>
        </p:txBody>
      </p:sp>
      <p:sp>
        <p:nvSpPr>
          <p:cNvPr id="520" name=""/>
          <p:cNvSpPr/>
          <p:nvPr/>
        </p:nvSpPr>
        <p:spPr>
          <a:xfrm rot="0" flipH="0" flipV="0">
            <a:off x="4257675" y="1476375"/>
            <a:ext cx="3676650" cy="4905375"/>
          </a:xfrm>
          <a:prstGeom prst="roundRect">
            <a:avLst>
              <a:gd name="adj" fmla="val 310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21" name=""/>
          <p:cNvSpPr/>
          <p:nvPr/>
        </p:nvSpPr>
        <p:spPr>
          <a:xfrm rot="0" flipH="0" flipV="0">
            <a:off x="4448175" y="16859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5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562475" y="1800225"/>
            <a:ext cx="209550" cy="209550"/>
          </a:xfrm>
          <a:prstGeom prst="rect">
            <a:avLst/>
          </a:prstGeom>
          <a:ln/>
        </p:spPr>
      </p:pic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4991100" y="1752600"/>
            <a:ext cx="333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E8EFF8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4448175" y="2238375"/>
            <a:ext cx="329565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Take the payment</a:t>
            </a:r>
            <a:endParaRPr/>
          </a:p>
        </p:txBody>
      </p:sp>
      <p:sp>
        <p:nvSpPr>
          <p:cNvPr id="525" name=""/>
          <p:cNvSpPr/>
          <p:nvPr/>
        </p:nvSpPr>
        <p:spPr>
          <a:xfrm rot="0" flipH="0" flipV="0">
            <a:off x="4448175" y="2657475"/>
            <a:ext cx="3295650" cy="447675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4572000" y="2762250"/>
            <a:ext cx="30480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chargeCustomer()</a:t>
            </a:r>
            <a:endParaRPr/>
          </a:p>
        </p:txBody>
      </p:sp>
      <p:sp>
        <p:nvSpPr>
          <p:cNvPr id="527" name=""/>
          <p:cNvSpPr/>
          <p:nvPr/>
        </p:nvSpPr>
        <p:spPr>
          <a:xfrm rot="0" flipH="0" flipV="0">
            <a:off x="4448175" y="3219450"/>
            <a:ext cx="3295650" cy="638175"/>
          </a:xfrm>
          <a:prstGeom prst="roundRect">
            <a:avLst>
              <a:gd name="adj" fmla="val 1194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4572000" y="3324225"/>
            <a:ext cx="30480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REASON TO CHANGE</a:t>
            </a:r>
            <a:endParaRPr/>
          </a:p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4572000" y="3514725"/>
            <a:ext cx="30480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changes when a payment type appears</a:t>
            </a:r>
            <a:endParaRPr/>
          </a:p>
        </p:txBody>
      </p:sp>
      <p:sp>
        <p:nvSpPr>
          <p:cNvPr id="530" name=""/>
          <p:cNvSpPr/>
          <p:nvPr/>
        </p:nvSpPr>
        <p:spPr>
          <a:xfrm rot="0" flipH="0" flipV="0">
            <a:off x="8143875" y="1476375"/>
            <a:ext cx="3667125" cy="4905375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31" name=""/>
          <p:cNvSpPr/>
          <p:nvPr/>
        </p:nvSpPr>
        <p:spPr>
          <a:xfrm rot="0" flipH="0" flipV="0">
            <a:off x="8334375" y="1685925"/>
            <a:ext cx="438150" cy="438150"/>
          </a:xfrm>
          <a:prstGeom prst="roundRect">
            <a:avLst>
              <a:gd name="adj" fmla="val 21739"/>
            </a:avLst>
          </a:prstGeom>
          <a:solidFill>
            <a:srgbClr val="3D7BD9"/>
          </a:solidFill>
          <a:ln/>
        </p:spPr>
        <p:txBody>
          <a:bodyPr/>
          <a:p/>
        </p:txBody>
      </p:sp>
      <p:pic>
        <p:nvPicPr>
          <p:cNvPr id="5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448675" y="1800225"/>
            <a:ext cx="209550" cy="209550"/>
          </a:xfrm>
          <a:prstGeom prst="rect">
            <a:avLst/>
          </a:prstGeom>
          <a:ln/>
        </p:spPr>
      </p:pic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8877300" y="1752600"/>
            <a:ext cx="333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E8EFF8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8334375" y="2238375"/>
            <a:ext cx="3286125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Tell people things</a:t>
            </a:r>
            <a:endParaRPr/>
          </a:p>
        </p:txBody>
      </p:sp>
      <p:sp>
        <p:nvSpPr>
          <p:cNvPr id="535" name=""/>
          <p:cNvSpPr/>
          <p:nvPr/>
        </p:nvSpPr>
        <p:spPr>
          <a:xfrm rot="0" flipH="0" flipV="0">
            <a:off x="8334375" y="2657475"/>
            <a:ext cx="3286125" cy="447675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36" name="" descr="{&quot;isTemplate&quot;:true,&quot;type&quot;:&quot;text&quot;}"/>
          <p:cNvSpPr txBox="1"/>
          <p:nvPr/>
        </p:nvSpPr>
        <p:spPr>
          <a:xfrm rot="0" flipH="0" flipV="0">
            <a:off x="8458200" y="2762250"/>
            <a:ext cx="3038475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notifyRider() · sendSms() · printReceipt()</a:t>
            </a:r>
            <a:endParaRPr/>
          </a:p>
        </p:txBody>
      </p:sp>
      <p:sp>
        <p:nvSpPr>
          <p:cNvPr id="537" name=""/>
          <p:cNvSpPr/>
          <p:nvPr/>
        </p:nvSpPr>
        <p:spPr>
          <a:xfrm rot="0" flipH="0" flipV="0">
            <a:off x="8334375" y="3219450"/>
            <a:ext cx="3286125" cy="638175"/>
          </a:xfrm>
          <a:prstGeom prst="roundRect">
            <a:avLst>
              <a:gd name="adj" fmla="val 1194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38" name="" descr="{&quot;isTemplate&quot;:true,&quot;type&quot;:&quot;text&quot;}"/>
          <p:cNvSpPr txBox="1"/>
          <p:nvPr/>
        </p:nvSpPr>
        <p:spPr>
          <a:xfrm rot="0" flipH="0" flipV="0">
            <a:off x="8458200" y="3324225"/>
            <a:ext cx="3038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 spc="75">
                <a:solidFill>
                  <a:srgbClr val="3D7BD9"/>
                </a:solidFill>
                <a:latin typeface="Microsoft YaHei"/>
                <a:ea typeface="Microsoft YaHei"/>
              </a:rPr>
              <a:t>REASON TO CHANGE</a:t>
            </a:r>
            <a:endParaRPr/>
          </a:p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8458200" y="3514725"/>
            <a:ext cx="3038475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changes when a channel is added</a:t>
            </a:r>
            <a:endParaRPr/>
          </a:p>
        </p:txBody>
      </p:sp>
      <p:pic>
        <p:nvPicPr>
          <p:cNvPr id="5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81000" y="6524625"/>
            <a:ext cx="200025" cy="200025"/>
          </a:xfrm>
          <a:prstGeom prst="rect">
            <a:avLst/>
          </a:prstGeom>
          <a:ln/>
        </p:spPr>
      </p:pic>
      <p:sp>
        <p:nvSpPr>
          <p:cNvPr id="541" name="" descr="{&quot;isTemplate&quot;:true,&quot;type&quot;:&quot;text&quot;}"/>
          <p:cNvSpPr txBox="1"/>
          <p:nvPr/>
        </p:nvSpPr>
        <p:spPr>
          <a:xfrm rot="0" flipH="0" flipV="0">
            <a:off x="714375" y="6524625"/>
            <a:ext cx="6696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Three responsibilities, three separate reasons. One class holding all three is doing three jobs.</a:t>
            </a:r>
            <a:endParaRPr/>
          </a:p>
        </p:txBody>
      </p:sp>
      <p:sp>
        <p:nvSpPr>
          <p:cNvPr id="542" name="" descr="{&quot;isTemplate&quot;:true,&quot;type&quot;:&quot;text&quot;}"/>
          <p:cNvSpPr txBox="1"/>
          <p:nvPr/>
        </p:nvSpPr>
        <p:spPr>
          <a:xfrm rot="0" flipH="0" flipV="0">
            <a:off x="11401425" y="65436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31 / 38</a:t>
            </a:r>
            <a:endParaRPr/>
          </a:p>
        </p:txBody>
      </p:sp>
    </p:spTree>
  </p:cSld>
</p:sld>
</file>

<file path=ppt/slides/slide3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43" name="" descr="&lt;Slide style={{ background: '#FFFFFF', padding: 0 }}&gt;&#10;  &lt;Box style={{ padding: '26px 40px 8px 40px', flexDirection: 'row', alignItems: 'center', justifyContent: 'space-between' }}&gt;&#10;    &lt;Text style={{ fontSize: 33, fontWeight: 'bold', color: '#0E3F8C' }}&gt;OO Analysis Is About Responsibilities&lt;/Text&gt;&#10;    &lt;Text style={{ fontSize: 14, color: '#1E4FA8', fontWeight: 'bold' }}&gt;32 / 38&lt;/Text&gt;&#10;  &lt;/Box&gt;&#10;  &lt;Box style={{ flex: 1, padding: '6px 40px 0 40px', justifyContent: 'center', alignItems: 'center' }}&gt;&#10;    &lt;svg width={1180} height={420} viewBox='0 0 1180 420'&gt;&#10;      &lt;rect x='50' y='40' width='400' height='300' rx='14' fill='#FDF3F3' stroke='#D9534F' strokeWidth='2' /&gt;&#10;      &lt;text x='250' y='74' textAnchor='middle' fill='#D9534F' fontSize='19' fontWeight='bold'&gt;Order — 7 methods, 3 jobs&lt;/text&gt;&#10;      &lt;text x='250' y='98' textAnchor='middle' fill='#8B97A8' fontSize='14'&gt;one class, three reasons to change&lt;/text&gt;&#10;      &lt;text x='80' y='134' fill='#4A5568' fontSize='15'&gt;placeOrder()      — coordinating&lt;/text&gt;&#10;      &lt;text x='80' y='164' fill='#4A5568' fontSize='15'&gt;total()           — money&lt;/text&gt;&#10;      &lt;text x='80' y='194' fill='#4A5568' fontSize='15'&gt;applyDiscount()   — money&lt;/text&gt;&#10;      &lt;text x='80' y='224' fill='#4A5568' fontSize='15'&gt;chargeCustomer()  — payment&lt;/text&gt;&#10;      &lt;text x='80' y='254' fill='#4A5568' fontSize='15'&gt;notifyRider()     — telling people&lt;/text&gt;&#10;      &lt;text x='80' y='284' fill='#4A5568' fontSize='15'&gt;sendSms()         — telling people&lt;/text&gt;&#10;      &lt;text x='80' y='314' fill='#4A5568' fontSize='15'&gt;printReceipt()    — telling people&lt;/text&gt;&#10;      &lt;line x1='460' y1='190' x2='556' y2='190' stroke='#3D7BD9' strokeWidth='3' markerEnd='url(#arrow32)' /&gt;&#10;      &lt;text x='508' y='176' textAnchor='middle' fill='#3D7BD9' fontSize='14' fontWeight='bold'&gt;assign&lt;/text&gt;&#10;      &lt;text x='508' y='216' textAnchor='middle' fill='#3D7BD9' fontSize='14' fontWeight='bold'&gt;responsibilities&lt;/text&gt;&#10;      &lt;defs&gt;&#10;        &lt;marker id='arrow32' markerWidth='10' markerHeight='10' refX='9' refY='5' orient='auto'&gt;&#10;          &lt;path d='M0,0 L10,5 L0,10 z' fill='#3D7BD9' /&gt;&#10;        &lt;/marker&gt;&#10;      &lt;/defs&gt;&#10;      &lt;rect x='566' y='40' width='560' height='88' rx='12' fill='#E8EFF8' stroke='#3D7BD9' strokeWidth='2' /&gt;&#10;      &lt;text x='594' y='74' fill='#0E3F8C' fontSize='18' fontWeight='bold'&gt;Order&lt;/text&gt;&#10;      &lt;text x='594' y='100' fill='#4A5568' fontSize='14'&gt;knows the items and the money&lt;/text&gt;&#10;      &lt;text x='1078' y='92' textAnchor='end' fill='#3D7BD9' fontSize='13' fontWeight='bold'&gt;1 reason: pricing&lt;/text&gt;&#10;      &lt;rect x='566' y='146' width='560' height='88' rx='12' fill='#F0F5FC' stroke='#1E4FA8' strokeWidth='2' /&gt;&#10;      &lt;text x='594' y='180' fill='#0E3F8C' fontSize='18' fontWeight='bold'&gt;PaymentService&lt;/text&gt;&#10;      &lt;text x='594' y='206' fill='#4A5568' fontSize='14'&gt;takes the payment via an interface&lt;/text&gt;&#10;      &lt;text x='1078' y='198' textAnchor='end' fill='#1E4FA8' fontSize='13' fontWeight='bold'&gt;1 reason: payment types&lt;/text&gt;&#10;      &lt;rect x='566' y='252' width='560' height='88' rx='12' fill='#F7F9FC' stroke='#3D7BD9' strokeWidth='2' /&gt;&#10;      &lt;text x='594' y='286' fill='#0E3F8C' fontSize='18' fontWeight='bold'&gt;NotificationService&lt;/text&gt;&#10;      &lt;text x='594' y='312' fill='#4A5568' fontSize='14'&gt;tells the rider, the shop, the student&lt;/text&gt;&#10;      &lt;text x='1078' y='304' textAnchor='end' fill='#3D7BD9' fontSize='13' fontWeight='bold'&gt;1 reason: channels&lt;/text&gt;&#10;      &lt;text x='846' y='380' textAnchor='middle' fill='#8B97A8' fontSize='14'&gt;Each object keeps the data its own job needs. That is cohesion.&lt;/text&gt;&#10;    &lt;/svg&gt;&#10;  &lt;/Box&gt;&#10;  &lt;Box style={{ height: 52, background: '#0E3F8C', padding: '0 40px', flexDirection: 'row', alignItems: 'center', justifyContent: 'center' }}&gt;&#10;    &lt;Text style={{ fontSize: 18, color: '#FFFFFF', fontWeight: '600' }}&gt;Syntax was the warm-up. Deciding who is responsible — that is analysis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7150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OO Analysis Is About Responsibilities</a:t>
            </a:r>
            <a:endParaRPr/>
          </a:p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32 / 38</a:t>
            </a:r>
            <a:endParaRPr/>
          </a:p>
        </p:txBody>
      </p:sp>
      <p:pic>
        <p:nvPicPr>
          <p:cNvPr id="5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562100"/>
            <a:ext cx="11239500" cy="4000500"/>
          </a:xfrm>
          <a:prstGeom prst="rect">
            <a:avLst/>
          </a:prstGeom>
          <a:ln/>
        </p:spPr>
      </p:pic>
      <p:sp>
        <p:nvSpPr>
          <p:cNvPr id="548" name=""/>
          <p:cNvSpPr/>
          <p:nvPr/>
        </p:nvSpPr>
        <p:spPr>
          <a:xfrm rot="0" flipH="0" flipV="0">
            <a:off x="0" y="6362700"/>
            <a:ext cx="12192000" cy="495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9" name="" descr="{&quot;isTemplate&quot;:true,&quot;type&quot;:&quot;text&quot;}"/>
          <p:cNvSpPr txBox="1"/>
          <p:nvPr/>
        </p:nvSpPr>
        <p:spPr>
          <a:xfrm rot="0" flipH="0" flipV="0">
            <a:off x="3114675" y="6505575"/>
            <a:ext cx="5962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Syntax was the warm-up. Deciding who is responsible — that is analysis.</a:t>
            </a:r>
            <a:endParaRPr/>
          </a:p>
        </p:txBody>
      </p:sp>
    </p:spTree>
  </p:cSld>
</p:sld>
</file>

<file path=ppt/slides/slide33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5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MILESTONE M0&lt;/Text&gt;&#10;  &lt;/Box&gt;&#10;  &lt;Box style={{ padding: '20px 40px 0 40px', flexDirection: 'row', alignItems: 'center', justifyContent: 'space-between' }}&gt;&#10;    &lt;Text style={{ fontSize: 32, fontWeight: 'bold', color: '#0E3F8C' }}&gt;Project M0 — What Is Due&lt;/Text&gt;&#10;    &lt;Box style={{ padding: '6px 16px', background: '#D9534F', borderRadius: 6 }}&gt;&#10;      &lt;Text style={{ fontSize: 15, color: '#FFFFFF', fontWeight: 'bold' }}&gt;DUE FRI SEP 11&lt;/Text&gt;&#10;    &lt;/Box&gt;&#10;  &lt;/Box&gt;&#10;  &lt;Box style={{ flex: 1, padding: '18px 40px 0 40px', flexDirection: 'column', gap: 11, justifyContent: 'center' }}&gt;&#10;    {[&#10;      ['file-signature', 'Team charter', 'Team name, member roles, communication rules, role rotation plan.', 'Guidebook Appendix A'],&#10;      ['users', 'Stakeholder list', 'Everyone with an interest in CampusBites — name them and say why.', '5–8 is a good range'],&#10;      ['eye', 'One-paragraph vision', 'What it does, for whom, and why it beats the current way.', '150 words or fewer'],&#10;      ['code-branch', 'Repository registered', 'Create the team repo, invite klausren, push one README.', 'Deadline Schedule §4'],&#10;    ].map(([icon, t, d, tag]) =&gt; (&#10;      &lt;Box key={t} style={{ flexDirection: 'row', gap: 16, alignItems: 'center', padding: '15px 20px', background: '#F7F9FC', borderRadius: 10, border: '1px solid #E5E7EB' }}&gt;&#10;        &lt;Box style={{ width: 44, height: 44, borderRadius: 10, background: '#E8EFF8', justifyContent: 'center', alignItems: 'center' }}&gt;&#10;          &lt;FAIcon name={icon} style={{ fill: '#1E4FA8', width: 22, height: 22 }} /&gt;&#10;        &lt;/Box&gt;&#10;        &lt;Box style={{ flex: 1, flexDirection: 'column', gap: 3 }}&gt;&#10;          &lt;Text style={{ fontSize: 18, fontWeight: 'bold', color: '#1A2230' }}&gt;{t}&lt;/Text&gt;&#10;          &lt;Text style={{ fontSize: 14, color: '#4A5568', lineHeight: 1.45 }}&gt;{d}&lt;/Text&gt;&#10;        &lt;/Box&gt;&#10;        &lt;Box style={{ padding: '6px 13px', background: '#F0F5FC', borderRadius: 14 }}&gt;&#10;          &lt;Text style={{ fontSize: 13, color: '#1E4FA8', fontWeight: 'bold' }}&gt;{tag}&lt;/Text&gt;&#10;        &lt;/Box&gt;&#10;      &lt;/Box&gt;&#10;    ))}&#10;  &lt;/Box&gt;&#10;  &lt;Box style={{ height: 46, background: '#0E3F8C', padding: '0 40px', flexDirection: 'row', alignItems: 'center', justifyContent: 'center', gap: 12 }}&gt;&#10;    &lt;FAIcon name='info-circle' style={{ fill: '#FFC107', width: 20, height: 20 }} /&gt;&#10;    &lt;Text style={{ fontSize: 17, color: '#FFFFFF', fontWeight: '600' }}&gt;M0 is pass / fail — but a failed M0 blocks nothing yet. It is your rehearsal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54" name="" descr="{&quot;isTemplate&quot;:true,&quot;type&quot;:&quot;text&quot;}"/>
          <p:cNvSpPr txBox="1"/>
          <p:nvPr/>
        </p:nvSpPr>
        <p:spPr>
          <a:xfrm rot="0" flipH="0" flipV="0">
            <a:off x="10325100" y="257175"/>
            <a:ext cx="1485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MILESTONE M0</a:t>
            </a:r>
            <a:endParaRPr/>
          </a:p>
        </p:txBody>
      </p:sp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376237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Project M0 — What Is Due</a:t>
            </a:r>
            <a:endParaRPr/>
          </a:p>
        </p:txBody>
      </p:sp>
      <p:sp>
        <p:nvSpPr>
          <p:cNvPr id="556" name=""/>
          <p:cNvSpPr/>
          <p:nvPr/>
        </p:nvSpPr>
        <p:spPr>
          <a:xfrm rot="0" flipH="0" flipV="0">
            <a:off x="10410825" y="923925"/>
            <a:ext cx="1400175" cy="285750"/>
          </a:xfrm>
          <a:prstGeom prst="roundRect">
            <a:avLst>
              <a:gd name="adj" fmla="val 20000"/>
            </a:avLst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557" name="" descr="{&quot;isTemplate&quot;:true,&quot;type&quot;:&quot;text&quot;}"/>
          <p:cNvSpPr txBox="1"/>
          <p:nvPr/>
        </p:nvSpPr>
        <p:spPr>
          <a:xfrm rot="0" flipH="0" flipV="0">
            <a:off x="10563225" y="981075"/>
            <a:ext cx="1095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DUE FRI SEP 11</a:t>
            </a:r>
            <a:endParaRPr/>
          </a:p>
        </p:txBody>
      </p:sp>
      <p:sp>
        <p:nvSpPr>
          <p:cNvPr id="558" name=""/>
          <p:cNvSpPr/>
          <p:nvPr/>
        </p:nvSpPr>
        <p:spPr>
          <a:xfrm rot="0" flipH="0" flipV="0">
            <a:off x="381000" y="2238375"/>
            <a:ext cx="114300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59" name=""/>
          <p:cNvSpPr/>
          <p:nvPr/>
        </p:nvSpPr>
        <p:spPr>
          <a:xfrm rot="0" flipH="0" flipV="0">
            <a:off x="571500" y="24098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6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76275" y="2514600"/>
            <a:ext cx="209550" cy="209550"/>
          </a:xfrm>
          <a:prstGeom prst="rect">
            <a:avLst/>
          </a:prstGeom>
          <a:ln/>
        </p:spPr>
      </p:pic>
      <p:sp>
        <p:nvSpPr>
          <p:cNvPr id="561" name="" descr="{&quot;isTemplate&quot;:true,&quot;type&quot;:&quot;text&quot;}"/>
          <p:cNvSpPr txBox="1"/>
          <p:nvPr/>
        </p:nvSpPr>
        <p:spPr>
          <a:xfrm rot="0" flipH="0" flipV="0">
            <a:off x="1143000" y="2381250"/>
            <a:ext cx="8705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Team charter</a:t>
            </a:r>
            <a:endParaRPr/>
          </a:p>
        </p:txBody>
      </p:sp>
      <p:sp>
        <p:nvSpPr>
          <p:cNvPr id="562" name="" descr="{&quot;isTemplate&quot;:true,&quot;type&quot;:&quot;text&quot;}"/>
          <p:cNvSpPr txBox="1"/>
          <p:nvPr/>
        </p:nvSpPr>
        <p:spPr>
          <a:xfrm rot="0" flipH="0" flipV="0">
            <a:off x="1143000" y="2619375"/>
            <a:ext cx="87058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Team name, member roles, communication rules, role rotation plan.</a:t>
            </a:r>
            <a:endParaRPr/>
          </a:p>
        </p:txBody>
      </p:sp>
      <p:sp>
        <p:nvSpPr>
          <p:cNvPr id="563" name=""/>
          <p:cNvSpPr/>
          <p:nvPr/>
        </p:nvSpPr>
        <p:spPr>
          <a:xfrm rot="0" flipH="0" flipV="0">
            <a:off x="10001250" y="2486025"/>
            <a:ext cx="1619250" cy="2667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10125075" y="2543175"/>
            <a:ext cx="1371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Microsoft YaHei"/>
                <a:ea typeface="Microsoft YaHei"/>
              </a:rPr>
              <a:t>Guidebook Appendix A</a:t>
            </a:r>
            <a:endParaRPr/>
          </a:p>
        </p:txBody>
      </p:sp>
      <p:sp>
        <p:nvSpPr>
          <p:cNvPr id="565" name=""/>
          <p:cNvSpPr/>
          <p:nvPr/>
        </p:nvSpPr>
        <p:spPr>
          <a:xfrm rot="0" flipH="0" flipV="0">
            <a:off x="381000" y="3105150"/>
            <a:ext cx="114300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66" name=""/>
          <p:cNvSpPr/>
          <p:nvPr/>
        </p:nvSpPr>
        <p:spPr>
          <a:xfrm rot="0" flipH="0" flipV="0">
            <a:off x="571500" y="327660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76275" y="3381375"/>
            <a:ext cx="209550" cy="209550"/>
          </a:xfrm>
          <a:prstGeom prst="rect">
            <a:avLst/>
          </a:prstGeom>
          <a:ln/>
        </p:spPr>
      </p:pic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1143000" y="3248025"/>
            <a:ext cx="89154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Stakeholder list</a:t>
            </a:r>
            <a:endParaRPr/>
          </a:p>
        </p:txBody>
      </p:sp>
      <p:sp>
        <p:nvSpPr>
          <p:cNvPr id="569" name="" descr="{&quot;isTemplate&quot;:true,&quot;type&quot;:&quot;text&quot;}"/>
          <p:cNvSpPr txBox="1"/>
          <p:nvPr/>
        </p:nvSpPr>
        <p:spPr>
          <a:xfrm rot="0" flipH="0" flipV="0">
            <a:off x="1143000" y="3486150"/>
            <a:ext cx="89154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Everyone with an interest in CampusBites — name them and say why.</a:t>
            </a:r>
            <a:endParaRPr/>
          </a:p>
        </p:txBody>
      </p:sp>
      <p:sp>
        <p:nvSpPr>
          <p:cNvPr id="570" name=""/>
          <p:cNvSpPr/>
          <p:nvPr/>
        </p:nvSpPr>
        <p:spPr>
          <a:xfrm rot="0" flipH="0" flipV="0">
            <a:off x="10210800" y="3352800"/>
            <a:ext cx="1409700" cy="2667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71" name="" descr="{&quot;isTemplate&quot;:true,&quot;type&quot;:&quot;text&quot;}"/>
          <p:cNvSpPr txBox="1"/>
          <p:nvPr/>
        </p:nvSpPr>
        <p:spPr>
          <a:xfrm rot="0" flipH="0" flipV="0">
            <a:off x="10334625" y="3409950"/>
            <a:ext cx="1162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Microsoft YaHei"/>
                <a:ea typeface="Microsoft YaHei"/>
              </a:rPr>
              <a:t>5–8 is a good range</a:t>
            </a:r>
            <a:endParaRPr/>
          </a:p>
        </p:txBody>
      </p:sp>
      <p:sp>
        <p:nvSpPr>
          <p:cNvPr id="572" name=""/>
          <p:cNvSpPr/>
          <p:nvPr/>
        </p:nvSpPr>
        <p:spPr>
          <a:xfrm rot="0" flipH="0" flipV="0">
            <a:off x="381000" y="3971925"/>
            <a:ext cx="114300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73" name=""/>
          <p:cNvSpPr/>
          <p:nvPr/>
        </p:nvSpPr>
        <p:spPr>
          <a:xfrm rot="0" flipH="0" flipV="0">
            <a:off x="571500" y="41433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76275" y="4248150"/>
            <a:ext cx="209550" cy="209550"/>
          </a:xfrm>
          <a:prstGeom prst="rect">
            <a:avLst/>
          </a:prstGeom>
          <a:ln/>
        </p:spPr>
      </p:pic>
      <p:sp>
        <p:nvSpPr>
          <p:cNvPr id="575" name="" descr="{&quot;isTemplate&quot;:true,&quot;type&quot;:&quot;text&quot;}"/>
          <p:cNvSpPr txBox="1"/>
          <p:nvPr/>
        </p:nvSpPr>
        <p:spPr>
          <a:xfrm rot="0" flipH="0" flipV="0">
            <a:off x="1143000" y="4114800"/>
            <a:ext cx="8953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One-paragraph vision</a:t>
            </a:r>
            <a:endParaRPr/>
          </a:p>
        </p:txBody>
      </p:sp>
      <p:sp>
        <p:nvSpPr>
          <p:cNvPr id="576" name="" descr="{&quot;isTemplate&quot;:true,&quot;type&quot;:&quot;text&quot;}"/>
          <p:cNvSpPr txBox="1"/>
          <p:nvPr/>
        </p:nvSpPr>
        <p:spPr>
          <a:xfrm rot="0" flipH="0" flipV="0">
            <a:off x="1143000" y="4352925"/>
            <a:ext cx="89535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What it does, for whom, and why it beats the current way.</a:t>
            </a:r>
            <a:endParaRPr/>
          </a:p>
        </p:txBody>
      </p:sp>
      <p:sp>
        <p:nvSpPr>
          <p:cNvPr id="577" name=""/>
          <p:cNvSpPr/>
          <p:nvPr/>
        </p:nvSpPr>
        <p:spPr>
          <a:xfrm rot="0" flipH="0" flipV="0">
            <a:off x="10248900" y="4219575"/>
            <a:ext cx="1371600" cy="2667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78" name="" descr="{&quot;isTemplate&quot;:true,&quot;type&quot;:&quot;text&quot;}"/>
          <p:cNvSpPr txBox="1"/>
          <p:nvPr/>
        </p:nvSpPr>
        <p:spPr>
          <a:xfrm rot="0" flipH="0" flipV="0">
            <a:off x="10372725" y="4276725"/>
            <a:ext cx="11239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Microsoft YaHei"/>
                <a:ea typeface="Microsoft YaHei"/>
              </a:rPr>
              <a:t>150 words or fewer</a:t>
            </a:r>
            <a:endParaRPr/>
          </a:p>
        </p:txBody>
      </p:sp>
      <p:sp>
        <p:nvSpPr>
          <p:cNvPr id="579" name=""/>
          <p:cNvSpPr/>
          <p:nvPr/>
        </p:nvSpPr>
        <p:spPr>
          <a:xfrm rot="0" flipH="0" flipV="0">
            <a:off x="381000" y="4838700"/>
            <a:ext cx="11430000" cy="762000"/>
          </a:xfrm>
          <a:prstGeom prst="roundRect">
            <a:avLst>
              <a:gd name="adj" fmla="val 125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80" name=""/>
          <p:cNvSpPr/>
          <p:nvPr/>
        </p:nvSpPr>
        <p:spPr>
          <a:xfrm rot="0" flipH="0" flipV="0">
            <a:off x="571500" y="501015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8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76275" y="5114925"/>
            <a:ext cx="209550" cy="209550"/>
          </a:xfrm>
          <a:prstGeom prst="rect">
            <a:avLst/>
          </a:prstGeom>
          <a:ln/>
        </p:spPr>
      </p:pic>
      <p:sp>
        <p:nvSpPr>
          <p:cNvPr id="582" name="" descr="{&quot;isTemplate&quot;:true,&quot;type&quot;:&quot;text&quot;}"/>
          <p:cNvSpPr txBox="1"/>
          <p:nvPr/>
        </p:nvSpPr>
        <p:spPr>
          <a:xfrm rot="0" flipH="0" flipV="0">
            <a:off x="1143000" y="4981575"/>
            <a:ext cx="8801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Repository registered</a:t>
            </a:r>
            <a:endParaRPr/>
          </a:p>
        </p:txBody>
      </p:sp>
      <p:sp>
        <p:nvSpPr>
          <p:cNvPr id="583" name="" descr="{&quot;isTemplate&quot;:true,&quot;type&quot;:&quot;text&quot;}"/>
          <p:cNvSpPr txBox="1"/>
          <p:nvPr/>
        </p:nvSpPr>
        <p:spPr>
          <a:xfrm rot="0" flipH="0" flipV="0">
            <a:off x="1143000" y="5219700"/>
            <a:ext cx="88011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Create the team repo, invite klausren, push one README.</a:t>
            </a:r>
            <a:endParaRPr/>
          </a:p>
        </p:txBody>
      </p:sp>
      <p:sp>
        <p:nvSpPr>
          <p:cNvPr id="584" name=""/>
          <p:cNvSpPr/>
          <p:nvPr/>
        </p:nvSpPr>
        <p:spPr>
          <a:xfrm rot="0" flipH="0" flipV="0">
            <a:off x="10096500" y="5086350"/>
            <a:ext cx="1524000" cy="2667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85" name="" descr="{&quot;isTemplate&quot;:true,&quot;type&quot;:&quot;text&quot;}"/>
          <p:cNvSpPr txBox="1"/>
          <p:nvPr/>
        </p:nvSpPr>
        <p:spPr>
          <a:xfrm rot="0" flipH="0" flipV="0">
            <a:off x="10220325" y="5143500"/>
            <a:ext cx="12763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1E4FA8"/>
                </a:solidFill>
                <a:latin typeface="Microsoft YaHei"/>
                <a:ea typeface="Microsoft YaHei"/>
              </a:rPr>
              <a:t>Deadline Schedule §4</a:t>
            </a:r>
            <a:endParaRPr/>
          </a:p>
        </p:txBody>
      </p:sp>
      <p:sp>
        <p:nvSpPr>
          <p:cNvPr id="586" name=""/>
          <p:cNvSpPr/>
          <p:nvPr/>
        </p:nvSpPr>
        <p:spPr>
          <a:xfrm rot="0" flipH="0" flipV="0">
            <a:off x="0" y="6419850"/>
            <a:ext cx="12192000" cy="4381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5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3133725" y="6543675"/>
            <a:ext cx="190500" cy="190500"/>
          </a:xfrm>
          <a:prstGeom prst="rect">
            <a:avLst/>
          </a:prstGeom>
          <a:ln/>
        </p:spPr>
      </p:pic>
      <p:sp>
        <p:nvSpPr>
          <p:cNvPr id="588" name="" descr="{&quot;isTemplate&quot;:true,&quot;type&quot;:&quot;text&quot;}"/>
          <p:cNvSpPr txBox="1"/>
          <p:nvPr/>
        </p:nvSpPr>
        <p:spPr>
          <a:xfrm rot="0" flipH="0" flipV="0">
            <a:off x="3438525" y="6543675"/>
            <a:ext cx="5619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M0 is pass / fail — but a failed M0 blocks nothing yet. It is your rehearsal.</a:t>
            </a:r>
            <a:endParaRPr/>
          </a:p>
        </p:txBody>
      </p:sp>
    </p:spTree>
  </p:cSld>
</p:sld>
</file>

<file path=ppt/slides/slide3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89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M0 · CHARTER&lt;/Text&gt;&#10;  &lt;/Box&gt;&#10;  &lt;Box style={{ padding: '20px 40px 0 40px' }}&gt;&#10;    &lt;Text style={{ fontSize: 32, fontWeight: 'bold', color: '#0E3F8C' }}&gt;Team Charter Essentials&lt;/Text&gt;&#10;  &lt;/Box&gt;&#10;  &lt;Box style={{ flex: 1, padding: '18px 40px 0 40px', flexDirection: 'row', gap: 26 }}&gt;&#10;    &lt;Box style={{ flex: 3, flexDirection: 'column', gap: 10, justifyContent: 'center' }}&gt;&#10;      {[&#10;        ['tag', 'Team name', 'One line. You will be called this all semester.'],&#10;        ['user-tag', 'Roles', 'Team Lead, Recorder, Reviewer — write down who starts in which.'],&#10;        ['comments', 'Communication rules', 'Where you talk, how fast you reply, what counts as an emergency.'],&#10;        ['sync', 'Role rotation', 'Rotate every milestone so nobody owns one job all term.'],&#10;        ['gavel', 'Conflict rule', 'What you do when two members disagree — decide now, not at 23:59.'],&#10;      ].map(([icon, t, d]) =&gt; (&#10;        &lt;Box key={t} style={{ flexDirection: 'row', gap: 13, alignItems: 'center', padding: '13px 17px', background: '#F7F9FC', borderRadius: 10, border: '1px solid #E5E7EB' }}&gt;&#10;          &lt;Box style={{ width: 40, height: 40, borderRadius: 9, background: '#E8EFF8', justifyContent: 'center', alignItems: 'center' }}&gt;&#10;            &lt;FAIcon name={icon} style={{ fill: '#1E4FA8', width: 20, height: 20 }} /&gt;&#10;          &lt;/Box&gt;&#10;          &lt;Box style={{ flex: 1, flexDirection: 'column', gap: 2 }}&gt;&#10;            &lt;Text style={{ fontSize: 16, fontWeight: 'bold', color: '#1A2230' }}&gt;{t}&lt;/Text&gt;&#10;            &lt;Text style={{ fontSize: 13, color: '#4A5568', lineHeight: 1.4 }}&gt;{d}&lt;/Text&gt;&#10;          &lt;/Box&gt;&#10;        &lt;/Box&gt;&#10;      ))}&#10;    &lt;/Box&gt;&#10;    &lt;Box style={{ flex: 2, padding: '26px 24px', background: '#0E3F8C', borderRadius: 12, flexDirection: 'column', justifyContent: 'center', gap: 14 }}&gt;&#10;      &lt;FAIcon name='handshake' style={{ fill: '#FFC107', width: 32, height: 32 }} /&gt;&#10;      &lt;Text style={{ fontSize: 21, fontWeight: 'bold', color: '#FFFFFF', lineHeight: 1.35 }}&gt;The charter is a contract between the four of you.&lt;/Text&gt;&#10;      &lt;Text style={{ fontSize: 15, color: '#C5D4EA', lineHeight: 1.55 }}&gt;Not with me. When a milestone slips, this document is what you point at.&lt;/Text&gt;&#10;      &lt;Box style={{ padding: '13px 16px', background: '#1E4FA8', borderRadius: 8 }}&gt;&#10;        &lt;Text style={{ fontSize: 14, color: '#B9CDF0', lineHeight: 1.45 }}&gt;Template: &lt;Text style={{ fontWeight: 'bold', color: '#FFFFFF' }}&gt;Project Guidebook, Appendix A&lt;/Text&gt;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9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2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93" name="" descr="{&quot;isTemplate&quot;:true,&quot;type&quot;:&quot;text&quot;}"/>
          <p:cNvSpPr txBox="1"/>
          <p:nvPr/>
        </p:nvSpPr>
        <p:spPr>
          <a:xfrm rot="0" flipH="0" flipV="0">
            <a:off x="10372725" y="257175"/>
            <a:ext cx="1438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M0 · CHARTER</a:t>
            </a:r>
            <a:endParaRPr/>
          </a:p>
        </p:txBody>
      </p:sp>
      <p:sp>
        <p:nvSpPr>
          <p:cNvPr id="594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114300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Team Charter Essentials</a:t>
            </a:r>
            <a:endParaRPr/>
          </a:p>
        </p:txBody>
      </p:sp>
      <p:sp>
        <p:nvSpPr>
          <p:cNvPr id="595" name=""/>
          <p:cNvSpPr/>
          <p:nvPr/>
        </p:nvSpPr>
        <p:spPr>
          <a:xfrm rot="0" flipH="0" flipV="0">
            <a:off x="381000" y="2095500"/>
            <a:ext cx="67056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96" name=""/>
          <p:cNvSpPr/>
          <p:nvPr/>
        </p:nvSpPr>
        <p:spPr>
          <a:xfrm rot="0" flipH="0" flipV="0">
            <a:off x="542925" y="223837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9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38175" y="2333625"/>
            <a:ext cx="190500" cy="190500"/>
          </a:xfrm>
          <a:prstGeom prst="rect">
            <a:avLst/>
          </a:prstGeom>
          <a:ln/>
        </p:spPr>
      </p:pic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1047750" y="2219325"/>
            <a:ext cx="5876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Team name</a:t>
            </a:r>
            <a:endParaRPr/>
          </a:p>
        </p:txBody>
      </p:sp>
      <p:sp>
        <p:nvSpPr>
          <p:cNvPr id="599" name="" descr="{&quot;isTemplate&quot;:true,&quot;type&quot;:&quot;text&quot;}"/>
          <p:cNvSpPr txBox="1"/>
          <p:nvPr/>
        </p:nvSpPr>
        <p:spPr>
          <a:xfrm rot="0" flipH="0" flipV="0">
            <a:off x="1047750" y="2428875"/>
            <a:ext cx="58769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One line. You will be called this all semester.</a:t>
            </a:r>
            <a:endParaRPr/>
          </a:p>
        </p:txBody>
      </p:sp>
      <p:sp>
        <p:nvSpPr>
          <p:cNvPr id="600" name=""/>
          <p:cNvSpPr/>
          <p:nvPr/>
        </p:nvSpPr>
        <p:spPr>
          <a:xfrm rot="0" flipH="0" flipV="0">
            <a:off x="381000" y="2857500"/>
            <a:ext cx="67056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1" name=""/>
          <p:cNvSpPr/>
          <p:nvPr/>
        </p:nvSpPr>
        <p:spPr>
          <a:xfrm rot="0" flipH="0" flipV="0">
            <a:off x="542925" y="300037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0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38175" y="3095625"/>
            <a:ext cx="190500" cy="190500"/>
          </a:xfrm>
          <a:prstGeom prst="rect">
            <a:avLst/>
          </a:prstGeom>
          <a:ln/>
        </p:spPr>
      </p:pic>
      <p:sp>
        <p:nvSpPr>
          <p:cNvPr id="603" name="" descr="{&quot;isTemplate&quot;:true,&quot;type&quot;:&quot;text&quot;}"/>
          <p:cNvSpPr txBox="1"/>
          <p:nvPr/>
        </p:nvSpPr>
        <p:spPr>
          <a:xfrm rot="0" flipH="0" flipV="0">
            <a:off x="1047750" y="2981325"/>
            <a:ext cx="5876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Roles</a:t>
            </a:r>
            <a:endParaRPr/>
          </a:p>
        </p:txBody>
      </p:sp>
      <p:sp>
        <p:nvSpPr>
          <p:cNvPr id="604" name="" descr="{&quot;isTemplate&quot;:true,&quot;type&quot;:&quot;text&quot;}"/>
          <p:cNvSpPr txBox="1"/>
          <p:nvPr/>
        </p:nvSpPr>
        <p:spPr>
          <a:xfrm rot="0" flipH="0" flipV="0">
            <a:off x="1047750" y="3190875"/>
            <a:ext cx="58769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Team Lead, Recorder, Reviewer — write down who starts in which.</a:t>
            </a:r>
            <a:endParaRPr/>
          </a:p>
        </p:txBody>
      </p:sp>
      <p:sp>
        <p:nvSpPr>
          <p:cNvPr id="605" name=""/>
          <p:cNvSpPr/>
          <p:nvPr/>
        </p:nvSpPr>
        <p:spPr>
          <a:xfrm rot="0" flipH="0" flipV="0">
            <a:off x="381000" y="3619500"/>
            <a:ext cx="67056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6" name=""/>
          <p:cNvSpPr/>
          <p:nvPr/>
        </p:nvSpPr>
        <p:spPr>
          <a:xfrm rot="0" flipH="0" flipV="0">
            <a:off x="542925" y="376237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0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38175" y="3857625"/>
            <a:ext cx="190500" cy="190500"/>
          </a:xfrm>
          <a:prstGeom prst="rect">
            <a:avLst/>
          </a:prstGeom>
          <a:ln/>
        </p:spPr>
      </p:pic>
      <p:sp>
        <p:nvSpPr>
          <p:cNvPr id="608" name="" descr="{&quot;isTemplate&quot;:true,&quot;type&quot;:&quot;text&quot;}"/>
          <p:cNvSpPr txBox="1"/>
          <p:nvPr/>
        </p:nvSpPr>
        <p:spPr>
          <a:xfrm rot="0" flipH="0" flipV="0">
            <a:off x="1047750" y="3743325"/>
            <a:ext cx="5876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Communication rules</a:t>
            </a:r>
            <a:endParaRPr/>
          </a:p>
        </p:txBody>
      </p:sp>
      <p:sp>
        <p:nvSpPr>
          <p:cNvPr id="609" name="" descr="{&quot;isTemplate&quot;:true,&quot;type&quot;:&quot;text&quot;}"/>
          <p:cNvSpPr txBox="1"/>
          <p:nvPr/>
        </p:nvSpPr>
        <p:spPr>
          <a:xfrm rot="0" flipH="0" flipV="0">
            <a:off x="1047750" y="3952875"/>
            <a:ext cx="58769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Where you talk, how fast you reply, what counts as an emergency.</a:t>
            </a:r>
            <a:endParaRPr/>
          </a:p>
        </p:txBody>
      </p:sp>
      <p:sp>
        <p:nvSpPr>
          <p:cNvPr id="610" name=""/>
          <p:cNvSpPr/>
          <p:nvPr/>
        </p:nvSpPr>
        <p:spPr>
          <a:xfrm rot="0" flipH="0" flipV="0">
            <a:off x="381000" y="4381500"/>
            <a:ext cx="67056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11" name=""/>
          <p:cNvSpPr/>
          <p:nvPr/>
        </p:nvSpPr>
        <p:spPr>
          <a:xfrm rot="0" flipH="0" flipV="0">
            <a:off x="542925" y="452437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1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38175" y="4619625"/>
            <a:ext cx="190500" cy="190500"/>
          </a:xfrm>
          <a:prstGeom prst="rect">
            <a:avLst/>
          </a:prstGeom>
          <a:ln/>
        </p:spPr>
      </p:pic>
      <p:sp>
        <p:nvSpPr>
          <p:cNvPr id="613" name="" descr="{&quot;isTemplate&quot;:true,&quot;type&quot;:&quot;text&quot;}"/>
          <p:cNvSpPr txBox="1"/>
          <p:nvPr/>
        </p:nvSpPr>
        <p:spPr>
          <a:xfrm rot="0" flipH="0" flipV="0">
            <a:off x="1047750" y="4505325"/>
            <a:ext cx="5876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Role rotation</a:t>
            </a:r>
            <a:endParaRPr/>
          </a:p>
        </p:txBody>
      </p:sp>
      <p:sp>
        <p:nvSpPr>
          <p:cNvPr id="614" name="" descr="{&quot;isTemplate&quot;:true,&quot;type&quot;:&quot;text&quot;}"/>
          <p:cNvSpPr txBox="1"/>
          <p:nvPr/>
        </p:nvSpPr>
        <p:spPr>
          <a:xfrm rot="0" flipH="0" flipV="0">
            <a:off x="1047750" y="4714875"/>
            <a:ext cx="58769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Rotate every milestone so nobody owns one job all term.</a:t>
            </a:r>
            <a:endParaRPr/>
          </a:p>
        </p:txBody>
      </p:sp>
      <p:sp>
        <p:nvSpPr>
          <p:cNvPr id="615" name=""/>
          <p:cNvSpPr/>
          <p:nvPr/>
        </p:nvSpPr>
        <p:spPr>
          <a:xfrm rot="0" flipH="0" flipV="0">
            <a:off x="381000" y="5143500"/>
            <a:ext cx="6705600" cy="666750"/>
          </a:xfrm>
          <a:prstGeom prst="roundRect">
            <a:avLst>
              <a:gd name="adj" fmla="val 14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16" name=""/>
          <p:cNvSpPr/>
          <p:nvPr/>
        </p:nvSpPr>
        <p:spPr>
          <a:xfrm rot="0" flipH="0" flipV="0">
            <a:off x="542925" y="5286375"/>
            <a:ext cx="381000" cy="381000"/>
          </a:xfrm>
          <a:prstGeom prst="roundRect">
            <a:avLst>
              <a:gd name="adj" fmla="val 225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38175" y="5381625"/>
            <a:ext cx="190500" cy="190500"/>
          </a:xfrm>
          <a:prstGeom prst="rect">
            <a:avLst/>
          </a:prstGeom>
          <a:ln/>
        </p:spPr>
      </p:pic>
      <p:sp>
        <p:nvSpPr>
          <p:cNvPr id="618" name="" descr="{&quot;isTemplate&quot;:true,&quot;type&quot;:&quot;text&quot;}"/>
          <p:cNvSpPr txBox="1"/>
          <p:nvPr/>
        </p:nvSpPr>
        <p:spPr>
          <a:xfrm rot="0" flipH="0" flipV="0">
            <a:off x="1047750" y="5267325"/>
            <a:ext cx="5876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Conflict rule</a:t>
            </a:r>
            <a:endParaRPr/>
          </a:p>
        </p:txBody>
      </p:sp>
      <p:sp>
        <p:nvSpPr>
          <p:cNvPr id="619" name="" descr="{&quot;isTemplate&quot;:true,&quot;type&quot;:&quot;text&quot;}"/>
          <p:cNvSpPr txBox="1"/>
          <p:nvPr/>
        </p:nvSpPr>
        <p:spPr>
          <a:xfrm rot="0" flipH="0" flipV="0">
            <a:off x="1047750" y="5476875"/>
            <a:ext cx="58769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What you do when two members disagree — decide now, not at 23:59.</a:t>
            </a:r>
            <a:endParaRPr/>
          </a:p>
        </p:txBody>
      </p:sp>
      <p:sp>
        <p:nvSpPr>
          <p:cNvPr id="620" name=""/>
          <p:cNvSpPr/>
          <p:nvPr/>
        </p:nvSpPr>
        <p:spPr>
          <a:xfrm rot="0" flipH="0" flipV="0">
            <a:off x="7334250" y="1419225"/>
            <a:ext cx="4476750" cy="5057775"/>
          </a:xfrm>
          <a:prstGeom prst="roundRect">
            <a:avLst>
              <a:gd name="adj" fmla="val 2553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6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7562850" y="2762250"/>
            <a:ext cx="304800" cy="304800"/>
          </a:xfrm>
          <a:prstGeom prst="rect">
            <a:avLst/>
          </a:prstGeom>
          <a:ln/>
        </p:spPr>
      </p:pic>
      <p:sp>
        <p:nvSpPr>
          <p:cNvPr id="622" name="" descr="{&quot;isTemplate&quot;:true,&quot;type&quot;:&quot;text&quot;}"/>
          <p:cNvSpPr txBox="1"/>
          <p:nvPr/>
        </p:nvSpPr>
        <p:spPr>
          <a:xfrm rot="0" flipH="0" flipV="0">
            <a:off x="7562850" y="3200400"/>
            <a:ext cx="401955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The charter is a contract between the four of you.</a:t>
            </a:r>
            <a:endParaRPr/>
          </a:p>
        </p:txBody>
      </p:sp>
      <p:sp>
        <p:nvSpPr>
          <p:cNvPr id="623" name="" descr="{&quot;isTemplate&quot;:true,&quot;type&quot;:&quot;text&quot;}"/>
          <p:cNvSpPr txBox="1"/>
          <p:nvPr/>
        </p:nvSpPr>
        <p:spPr>
          <a:xfrm rot="0" flipH="0" flipV="0">
            <a:off x="7562850" y="3990975"/>
            <a:ext cx="40195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Not with me. When a milestone slips, this document is what you point at.</a:t>
            </a:r>
            <a:endParaRPr/>
          </a:p>
        </p:txBody>
      </p:sp>
      <p:sp>
        <p:nvSpPr>
          <p:cNvPr id="624" name=""/>
          <p:cNvSpPr/>
          <p:nvPr/>
        </p:nvSpPr>
        <p:spPr>
          <a:xfrm rot="0" flipH="0" flipV="0">
            <a:off x="7562850" y="4657725"/>
            <a:ext cx="4019550" cy="485775"/>
          </a:xfrm>
          <a:prstGeom prst="roundRect">
            <a:avLst>
              <a:gd name="adj" fmla="val 1568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25" name="" descr="{&quot;isTemplate&quot;:true,&quot;type&quot;:&quot;text&quot;}"/>
          <p:cNvSpPr txBox="1"/>
          <p:nvPr/>
        </p:nvSpPr>
        <p:spPr>
          <a:xfrm rot="0" flipH="0" flipV="0">
            <a:off x="7715250" y="4781550"/>
            <a:ext cx="37147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B9CDF0"/>
                </a:solidFill>
                <a:latin typeface="Microsoft YaHei"/>
                <a:ea typeface="Microsoft YaHei"/>
              </a:rPr>
              <a:t>Template: </a:t>
            </a:r>
            <a:r>
              <a:rPr lang="en-US" sz="1050">
                <a:solidFill>
                  <a:srgbClr val="B9CDF0"/>
                </a:solidFill>
                <a:latin typeface="Microsoft YaHei"/>
                <a:ea typeface="Microsoft YaHei"/>
              </a:rPr>
              <a:t>Project Guidebook, Appendix A</a:t>
            </a:r>
            <a:endParaRPr/>
          </a:p>
        </p:txBody>
      </p:sp>
      <p:sp>
        <p:nvSpPr>
          <p:cNvPr id="626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27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34 / 38</a:t>
            </a:r>
            <a:endParaRPr/>
          </a:p>
        </p:txBody>
      </p:sp>
    </p:spTree>
  </p:cSld>
</p:sld>
</file>

<file path=ppt/slides/slide3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28" name="" descr="&lt;Slide style={{ background: '#FFFFFF', padding: 0 }}&gt;&#10;  &lt;Box style={{ padding: '24px 40px 6px 40px', flexDirection: 'row', alignItems: 'center', justifyContent: 'space-between' }}&gt;&#10;    &lt;Text style={{ fontSize: 32, fontWeight: 'bold', color: '#0E3F8C' }}&gt;Stakeholders &amp;amp; Vision&lt;/Text&gt;&#10;    &lt;Text style={{ fontSize: 14, color: '#1E4FA8', fontWeight: 'bold' }}&gt;35 / 38&lt;/Text&gt;&#10;  &lt;/Box&gt;&#10;  &lt;Box style={{ flex: 1, padding: '8px 40px 0 40px', flexDirection: 'row', gap: 26 }}&gt;&#10;    &lt;Box style={{ flex: 5, justifyContent: 'center', alignItems: 'center' }}&gt;&#10;      &lt;svg width={600} height={350} viewBox='0 0 600 350'&gt;&#10;        &lt;rect x='215' y='18' width='170' height='56' rx='12' fill='#0E3F8C' /&gt;&#10;        &lt;text x='300' y='42' textAnchor='middle' fill='#FFFFFF' fontSize='18' fontWeight='bold'&gt;CampusBites&lt;/text&gt;&#10;        &lt;text x='300' y='64' textAnchor='middle' fill='#FFC107' fontSize='14'&gt;the system&lt;/text&gt;&#10;        &lt;line x1='240' y1='74' x2='90' y2='112' stroke='#3D7BD9' strokeWidth='2' /&gt;&#10;        &lt;line x1='360' y1='74' x2='510' y2='112' stroke='#3D7BD9' strokeWidth='2' /&gt;&#10;        &lt;line x1='300' y1='74' x2='300' y2='118' stroke='#3D7BD9' strokeWidth='2' /&gt;&#10;        &lt;rect x='10' y='118' width='170' height='76' rx='12' fill='#E8EFF8' stroke='#3D7BD9' strokeWidth='2' /&gt;&#10;        &lt;text x='95' y='146' textAnchor='middle' fill='#0E3F8C' fontSize='16' fontWeight='bold'&gt;Students&lt;/text&gt;&#10;        &lt;text x='95' y='168' textAnchor='middle' fill='#4A5568' fontSize='13'&gt;want food fast,&lt;/text&gt;&#10;        &lt;text x='95' y='186' textAnchor='middle' fill='#4A5568' fontSize='13'&gt;want to track it&lt;/text&gt;&#10;        &lt;rect x='215' y='118' width='170' height='76' rx='12' fill='#E8EFF8' stroke='#3D7BD9' strokeWidth='2' /&gt;&#10;        &lt;text x='300' y='146' textAnchor='middle' fill='#0E3F8C' fontSize='16' fontWeight='bold'&gt;Restaurants&lt;/text&gt;&#10;        &lt;text x='300' y='168' textAnchor='middle' fill='#4A5568' fontSize='13'&gt;want more orders,&lt;/text&gt;&#10;        &lt;text x='300' y='186' textAnchor='middle' fill='#4A5568' fontSize='13'&gt;fewer errors&lt;/text&gt;&#10;        &lt;rect x='420' y='118' width='170' height='76' rx='12' fill='#E8EFF8' stroke='#3D7BD9' strokeWidth='2' /&gt;&#10;        &lt;text x='505' y='146' textAnchor='middle' fill='#0E3F8C' fontSize='16' fontWeight='bold'&gt;Riders&lt;/text&gt;&#10;        &lt;text x='505' y='168' textAnchor='middle' fill='#4A5568' fontSize='13'&gt;want clear routes,&lt;/text&gt;&#10;        &lt;text x='505' y='186' textAnchor='middle' fill='#4A5568' fontSize='13'&gt;fair pay&lt;/text&gt;&#10;        &lt;rect x='10' y='216' width='170' height='66' rx='12' fill='#F7F9FC' stroke='#D6DCE5' strokeWidth='1' /&gt;&#10;        &lt;text x='95' y='244' textAnchor='middle' fill='#0E3F8C' fontSize='15' fontWeight='bold'&gt;Canteen admin&lt;/text&gt;&#10;        &lt;text x='95' y='266' textAnchor='middle' fill='#8B97A8' fontSize='13'&gt;compliance, reports&lt;/text&gt;&#10;        &lt;rect x='215' y='216' width='170' height='66' rx='12' fill='#F7F9FC' stroke='#D6DCE5' strokeWidth='1' /&gt;&#10;        &lt;text x='300' y='244' textAnchor='middle' fill='#0E3F8C' fontSize='15' fontWeight='bold'&gt;IT services&lt;/text&gt;&#10;        &lt;text x='300' y='266' textAnchor='middle' fill='#8B97A8' fontSize='13'&gt;runs and maintains it&lt;/text&gt;&#10;        &lt;rect x='420' y='216' width='170' height='66' rx='12' fill='#F7F9FC' stroke='#D6DCE5' strokeWidth='1' /&gt;&#10;        &lt;text x='505' y='244' textAnchor='middle' fill='#0E3F8C' fontSize='15' fontWeight='bold'&gt;Dorm supervisors&lt;/text&gt;&#10;        &lt;text x='505' y='266' textAnchor='middle' fill='#8B97A8' fontSize='13'&gt;delivery hand-off&lt;/text&gt;&#10;        &lt;text x='300' y='312' textAnchor='middle' fill='#4A5568' fontSize='14'&gt;A stakeholder is anyone who can affect — or is affected by — the system.&lt;/text&gt;&#10;        &lt;text x='300' y='334' textAnchor='middle' fill='#8B97A8' fontSize='13'&gt;You will add more in Week 4.&lt;/text&gt;&#10;      &lt;/svg&gt;&#10;    &lt;/Box&gt;&#10;    &lt;Box style={{ flex: 4, flexDirection: 'column', gap: 12, justifyContent: 'center' }}&gt;&#10;      &lt;Text style={{ fontSize: 17, fontWeight: 'bold', color: '#0E3F8C' }}&gt;The vision paragraph&lt;/Text&gt;&#10;      &lt;Box style={{ padding: '18px 20px', background: '#F0F5FC', borderRadius: 10, borderLeft: '4px solid #1E4FA8' }}&gt;&#10;        &lt;Text style={{ fontSize: 16, color: '#1A2230', lineHeight: 1.6, fontStyle: 'italic' }}&gt;&quot;For students and staff who want hot food delivered across campus, CampusBites is a mobile ordering platform that connects dorm kitchens and canteens with student riders. Unlike messaging a seller directly, it tracks every order from kitchen to door.&quot;&lt;/Text&gt;&#10;      &lt;/Box&gt;&#10;      &lt;Box style={{ flexDirection: 'column', gap: 7 }}&gt;&#10;        &lt;Text style={{ fontSize: 15, color: '#4A5568', lineHeight: 1.5 }}&gt;&lt;Text style={{ fontWeight: 'bold', color: '#0E3F8C' }}&gt;For…&lt;/Text&gt; who has the problem&lt;/Text&gt;&#10;        &lt;Text style={{ fontSize: 15, color: '#4A5568', lineHeight: 1.5 }}&gt;&lt;Text style={{ fontWeight: 'bold', color: '#0E3F8C' }}&gt;…is a…&lt;/Text&gt; what it is, in one noun phrase&lt;/Text&gt;&#10;        &lt;Text style={{ fontSize: 15, color: '#4A5568', lineHeight: 1.5 }}&gt;&lt;Text style={{ fontWeight: 'bold', color: '#0E3F8C' }}&gt;Unlike…&lt;/Text&gt; what makes it worth building&lt;/Text&gt;&#10;      &lt;/Box&gt;&#10;    &lt;/Box&gt;&#10;  &lt;/Box&gt;&#10;  &lt;Box style={{ height: 42, padding: '0 40px', flexDirection: 'row', alignItems: 'center', gap: 12 }}&gt;&#10;    &lt;FAIcon name='exclamation-triangle' style={{ fill: '#FFC107', width: 19, height: 19 }} /&gt;&#10;    &lt;Text style={{ fontSize: 16, color: '#4A5568' }}&gt;Stakeholder ≠ user. Someone can be affected without ever logging in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30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32194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Stakeholders &amp; Vision</a:t>
            </a:r>
            <a:endParaRPr/>
          </a:p>
        </p:txBody>
      </p:sp>
      <p:sp>
        <p:nvSpPr>
          <p:cNvPr id="631" name="" descr="{&quot;isTemplate&quot;:true,&quot;type&quot;:&quot;text&quot;}"/>
          <p:cNvSpPr txBox="1"/>
          <p:nvPr/>
        </p:nvSpPr>
        <p:spPr>
          <a:xfrm rot="0" flipH="0" flipV="0">
            <a:off x="11401425" y="3333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35 / 38</a:t>
            </a:r>
            <a:endParaRPr/>
          </a:p>
        </p:txBody>
      </p:sp>
      <p:pic>
        <p:nvPicPr>
          <p:cNvPr id="6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8650" y="1933575"/>
            <a:ext cx="5715000" cy="3333750"/>
          </a:xfrm>
          <a:prstGeom prst="rect">
            <a:avLst/>
          </a:prstGeom>
          <a:ln/>
        </p:spPr>
      </p:pic>
      <p:sp>
        <p:nvSpPr>
          <p:cNvPr id="633" name="" descr="{&quot;isTemplate&quot;:true,&quot;type&quot;:&quot;text&quot;}"/>
          <p:cNvSpPr txBox="1"/>
          <p:nvPr/>
        </p:nvSpPr>
        <p:spPr>
          <a:xfrm rot="0" flipH="0" flipV="0">
            <a:off x="6838950" y="2171700"/>
            <a:ext cx="49720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The vision paragraph</a:t>
            </a:r>
            <a:endParaRPr/>
          </a:p>
        </p:txBody>
      </p:sp>
      <p:sp>
        <p:nvSpPr>
          <p:cNvPr id="634" name=""/>
          <p:cNvSpPr/>
          <p:nvPr/>
        </p:nvSpPr>
        <p:spPr>
          <a:xfrm rot="0" flipH="0" flipV="0">
            <a:off x="6877050" y="2486025"/>
            <a:ext cx="4972050" cy="1514475"/>
          </a:xfrm>
          <a:prstGeom prst="roundRect">
            <a:avLst>
              <a:gd name="adj" fmla="val 62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35" name=""/>
          <p:cNvSpPr/>
          <p:nvPr/>
        </p:nvSpPr>
        <p:spPr>
          <a:xfrm rot="0" flipH="0" flipV="0">
            <a:off x="6877050" y="2486025"/>
            <a:ext cx="4972050" cy="1514475"/>
          </a:xfrm>
          <a:custGeom>
            <a:pathLst>
              <a:path w="522" h="159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153"/>
                </a:lnTo>
                <a:cubicBezTo>
                  <a:pt x="4" y="156"/>
                  <a:pt x="6" y="158"/>
                  <a:pt x="9" y="159"/>
                </a:cubicBezTo>
                <a:cubicBezTo>
                  <a:pt x="4" y="158"/>
                  <a:pt x="0" y="154"/>
                  <a:pt x="0" y="14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6" name="" descr="{&quot;isTemplate&quot;:true,&quot;type&quot;:&quot;text&quot;}"/>
          <p:cNvSpPr txBox="1"/>
          <p:nvPr/>
        </p:nvSpPr>
        <p:spPr>
          <a:xfrm rot="0" flipH="0" flipV="0">
            <a:off x="7067550" y="2657475"/>
            <a:ext cx="4552950" cy="1171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 i="1">
                <a:solidFill>
                  <a:srgbClr val="1A2230"/>
                </a:solidFill>
                <a:latin typeface="Microsoft YaHei"/>
                <a:ea typeface="Microsoft YaHei"/>
              </a:rPr>
              <a:t>"For students and staff who want hot food delivered across campus, CampusBites is a mobile ordering platform that connects dorm kitchens and canteens with student riders. Unlike messaging a seller directly, it tracks every order from kitchen to door."</a:t>
            </a:r>
            <a:endParaRPr/>
          </a:p>
        </p:txBody>
      </p:sp>
      <p:sp>
        <p:nvSpPr>
          <p:cNvPr id="637" name="" descr="{&quot;isTemplate&quot;:true,&quot;type&quot;:&quot;text&quot;}"/>
          <p:cNvSpPr txBox="1"/>
          <p:nvPr/>
        </p:nvSpPr>
        <p:spPr>
          <a:xfrm rot="0" flipH="0" flipV="0">
            <a:off x="6838950" y="4114800"/>
            <a:ext cx="49720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For…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who has the problem</a:t>
            </a:r>
            <a:endParaRPr/>
          </a:p>
        </p:txBody>
      </p:sp>
      <p:sp>
        <p:nvSpPr>
          <p:cNvPr id="638" name="" descr="{&quot;isTemplate&quot;:true,&quot;type&quot;:&quot;text&quot;}"/>
          <p:cNvSpPr txBox="1"/>
          <p:nvPr/>
        </p:nvSpPr>
        <p:spPr>
          <a:xfrm rot="0" flipH="0" flipV="0">
            <a:off x="6838950" y="4438650"/>
            <a:ext cx="49720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…is a…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what it is, in one noun phrase</a:t>
            </a:r>
            <a:endParaRPr/>
          </a:p>
        </p:txBody>
      </p:sp>
      <p:sp>
        <p:nvSpPr>
          <p:cNvPr id="639" name="" descr="{&quot;isTemplate&quot;:true,&quot;type&quot;:&quot;text&quot;}"/>
          <p:cNvSpPr txBox="1"/>
          <p:nvPr/>
        </p:nvSpPr>
        <p:spPr>
          <a:xfrm rot="0" flipH="0" flipV="0">
            <a:off x="6838950" y="4762500"/>
            <a:ext cx="49720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Unlike…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what makes it worth building</a:t>
            </a:r>
            <a:endParaRPr/>
          </a:p>
        </p:txBody>
      </p:sp>
      <p:pic>
        <p:nvPicPr>
          <p:cNvPr id="6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1000" y="6572250"/>
            <a:ext cx="180975" cy="180975"/>
          </a:xfrm>
          <a:prstGeom prst="rect">
            <a:avLst/>
          </a:prstGeom>
          <a:ln/>
        </p:spPr>
      </p:pic>
      <p:sp>
        <p:nvSpPr>
          <p:cNvPr id="641" name="" descr="{&quot;isTemplate&quot;:true,&quot;type&quot;:&quot;text&quot;}"/>
          <p:cNvSpPr txBox="1"/>
          <p:nvPr/>
        </p:nvSpPr>
        <p:spPr>
          <a:xfrm rot="0" flipH="0" flipV="0">
            <a:off x="676275" y="6562725"/>
            <a:ext cx="4695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Stakeholder ≠ user. Someone can be affected without ever logging in.</a:t>
            </a:r>
            <a:endParaRPr/>
          </a:p>
        </p:txBody>
      </p:sp>
    </p:spTree>
  </p:cSld>
</p:sld>
</file>

<file path=ppt/slides/slide3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4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2 · HOMEWORK&lt;/Text&gt;&#10;  &lt;/Box&gt;&#10;  &lt;Box style={{ padding: '22px 40px 0 40px' }}&gt;&#10;    &lt;Text style={{ fontSize: 33, fontWeight: 'bold', color: '#0E3F8C' }}&gt;Homework for Week 2&lt;/Text&gt;&#10;  &lt;/Box&gt;&#10;  &lt;Box style={{ flex: 1, padding: '18px 40px 0 40px', flexDirection: 'row', gap: 28 }}&gt;&#10;    &lt;Box style={{ width: 300, padding: '28px 24px', background: '#0E3F8C', borderRadius: 12, flexDirection: 'column', justifyContent: 'center', gap: 14 }}&gt;&#10;      &lt;Text style={{ fontSize: 22, fontWeight: 'bold', color: '#FFFFFF', lineHeight: 1.35 }}&gt;Read a little. Write a little code.&lt;/Text&gt;&#10;      &lt;Text style={{ fontSize: 16, color: '#C5D4EA', lineHeight: 1.55 }}&gt;Both tasks feed next week's UML work. Do the code task before Friday.&lt;/Text&gt;&#10;    &lt;/Box&gt;&#10;    &lt;Box style={{ flex: 1, flexDirection: 'column', gap: 12, justifyContent: 'center' }}&gt;&#10;      {[&#10;        ['book', 'Read Larman on OO basics', 'Chapters as assigned. Skim for vocabulary, not for mastery.'],&#10;        ['code', 'Refactor the Order class', 'Extract one interface and two implementations from the messy version.'],&#10;        ['terminal', 'Push it to your team repo', 'A commit history is your contribution evidence. Start it now.'],&#10;        ['edit', 'Draft your vision paragraph', 'Bring a first draft to the lab on Friday.'],&#10;      ].map(([icon, t, d]) =&gt; (&#10;        &lt;Box key={t} style={{ flexDirection: 'row', gap: 14, alignItems: 'center', padding: '14px 18px', background: '#F7F9FC', borderRadius: 10, border: '1px solid #E5E7EB' }}&gt;&#10;          &lt;Box style={{ width: 44, height: 44, borderRadius: 10, background: '#E8EFF8', justifyContent: 'center', alignItems: 'center' }}&gt;&#10;            &lt;FAIcon name={icon} style={{ fill: '#1E4FA8', width: 22, height: 22 }} /&gt;&#10;          &lt;/Box&gt;&#10;          &lt;Box style={{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&lt;/Box&gt;&#10;  &lt;/Box&gt;&#10;  &lt;Box style={{ height: 44, padding: '0 40px', flexDirection: 'row', alignItems: 'center', justifyContent: 'space-between' }}&gt;&#10;    &lt;Text style={{ fontSize: 13, color: '#8B97A8' }}&gt;Stuck on the refactor? Bring the broken version to Friday's lab — that is a better question than no question.&lt;/Text&gt;&#10;    &lt;Text style={{ fontSize: 14, color: '#1E4FA8', fontWeight: 'bold' }}&gt;3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4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46" name="" descr="{&quot;isTemplate&quot;:true,&quot;type&quot;:&quot;text&quot;}"/>
          <p:cNvSpPr txBox="1"/>
          <p:nvPr/>
        </p:nvSpPr>
        <p:spPr>
          <a:xfrm rot="0" flipH="0" flipV="0">
            <a:off x="10515600" y="257175"/>
            <a:ext cx="1295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W02 · HOMEWORK</a:t>
            </a:r>
            <a:endParaRPr/>
          </a:p>
        </p:txBody>
      </p:sp>
      <p:sp>
        <p:nvSpPr>
          <p:cNvPr id="647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Homework for Week 2</a:t>
            </a:r>
            <a:endParaRPr/>
          </a:p>
        </p:txBody>
      </p:sp>
      <p:sp>
        <p:nvSpPr>
          <p:cNvPr id="648" name=""/>
          <p:cNvSpPr/>
          <p:nvPr/>
        </p:nvSpPr>
        <p:spPr>
          <a:xfrm rot="0" flipH="0" flipV="0">
            <a:off x="381000" y="1447800"/>
            <a:ext cx="2857500" cy="4991100"/>
          </a:xfrm>
          <a:prstGeom prst="roundRect">
            <a:avLst>
              <a:gd name="adj" fmla="val 4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49" name="" descr="{&quot;isTemplate&quot;:true,&quot;type&quot;:&quot;text&quot;}"/>
          <p:cNvSpPr txBox="1"/>
          <p:nvPr/>
        </p:nvSpPr>
        <p:spPr>
          <a:xfrm rot="0" flipH="0" flipV="0">
            <a:off x="609600" y="3105150"/>
            <a:ext cx="24003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Read a little. Write a little code.</a:t>
            </a:r>
            <a:endParaRPr/>
          </a:p>
        </p:txBody>
      </p:sp>
      <p:sp>
        <p:nvSpPr>
          <p:cNvPr id="650" name="" descr="{&quot;isTemplate&quot;:true,&quot;type&quot;:&quot;text&quot;}"/>
          <p:cNvSpPr txBox="1"/>
          <p:nvPr/>
        </p:nvSpPr>
        <p:spPr>
          <a:xfrm rot="0" flipH="0" flipV="0">
            <a:off x="609600" y="3924300"/>
            <a:ext cx="24003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Both tasks feed next week's UML work. Do the code task before Friday.</a:t>
            </a:r>
            <a:endParaRPr/>
          </a:p>
        </p:txBody>
      </p:sp>
      <p:sp>
        <p:nvSpPr>
          <p:cNvPr id="651" name=""/>
          <p:cNvSpPr/>
          <p:nvPr/>
        </p:nvSpPr>
        <p:spPr>
          <a:xfrm rot="0" flipH="0" flipV="0">
            <a:off x="3505200" y="228600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52" name=""/>
          <p:cNvSpPr/>
          <p:nvPr/>
        </p:nvSpPr>
        <p:spPr>
          <a:xfrm rot="0" flipH="0" flipV="0">
            <a:off x="3676650" y="24479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781425" y="2552700"/>
            <a:ext cx="209550" cy="209550"/>
          </a:xfrm>
          <a:prstGeom prst="rect">
            <a:avLst/>
          </a:prstGeom>
          <a:ln/>
        </p:spPr>
      </p:pic>
      <p:sp>
        <p:nvSpPr>
          <p:cNvPr id="654" name="" descr="{&quot;isTemplate&quot;:true,&quot;type&quot;:&quot;text&quot;}"/>
          <p:cNvSpPr txBox="1"/>
          <p:nvPr/>
        </p:nvSpPr>
        <p:spPr>
          <a:xfrm rot="0" flipH="0" flipV="0">
            <a:off x="4229100" y="2419350"/>
            <a:ext cx="3524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Read Larman on OO basics</a:t>
            </a:r>
            <a:endParaRPr/>
          </a:p>
        </p:txBody>
      </p:sp>
      <p:sp>
        <p:nvSpPr>
          <p:cNvPr id="655" name="" descr="{&quot;isTemplate&quot;:true,&quot;type&quot;:&quot;text&quot;}"/>
          <p:cNvSpPr txBox="1"/>
          <p:nvPr/>
        </p:nvSpPr>
        <p:spPr>
          <a:xfrm rot="0" flipH="0" flipV="0">
            <a:off x="4229100" y="2647950"/>
            <a:ext cx="35242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Chapters as assigned. Skim for vocabulary, not for mastery.</a:t>
            </a:r>
            <a:endParaRPr/>
          </a:p>
        </p:txBody>
      </p:sp>
      <p:sp>
        <p:nvSpPr>
          <p:cNvPr id="656" name=""/>
          <p:cNvSpPr/>
          <p:nvPr/>
        </p:nvSpPr>
        <p:spPr>
          <a:xfrm rot="0" flipH="0" flipV="0">
            <a:off x="3505200" y="314325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57" name=""/>
          <p:cNvSpPr/>
          <p:nvPr/>
        </p:nvSpPr>
        <p:spPr>
          <a:xfrm rot="0" flipH="0" flipV="0">
            <a:off x="3676650" y="33051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5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81425" y="3409950"/>
            <a:ext cx="209550" cy="209550"/>
          </a:xfrm>
          <a:prstGeom prst="rect">
            <a:avLst/>
          </a:prstGeom>
          <a:ln/>
        </p:spPr>
      </p:pic>
      <p:sp>
        <p:nvSpPr>
          <p:cNvPr id="659" name="" descr="{&quot;isTemplate&quot;:true,&quot;type&quot;:&quot;text&quot;}"/>
          <p:cNvSpPr txBox="1"/>
          <p:nvPr/>
        </p:nvSpPr>
        <p:spPr>
          <a:xfrm rot="0" flipH="0" flipV="0">
            <a:off x="4229100" y="3276600"/>
            <a:ext cx="4191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Refactor the Order class</a:t>
            </a:r>
            <a:endParaRPr/>
          </a:p>
        </p:txBody>
      </p:sp>
      <p:sp>
        <p:nvSpPr>
          <p:cNvPr id="660" name="" descr="{&quot;isTemplate&quot;:true,&quot;type&quot;:&quot;text&quot;}"/>
          <p:cNvSpPr txBox="1"/>
          <p:nvPr/>
        </p:nvSpPr>
        <p:spPr>
          <a:xfrm rot="0" flipH="0" flipV="0">
            <a:off x="4229100" y="3505200"/>
            <a:ext cx="41910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Extract one interface and two implementations from the messy version.</a:t>
            </a:r>
            <a:endParaRPr/>
          </a:p>
        </p:txBody>
      </p:sp>
      <p:sp>
        <p:nvSpPr>
          <p:cNvPr id="661" name=""/>
          <p:cNvSpPr/>
          <p:nvPr/>
        </p:nvSpPr>
        <p:spPr>
          <a:xfrm rot="0" flipH="0" flipV="0">
            <a:off x="3505200" y="400050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62" name=""/>
          <p:cNvSpPr/>
          <p:nvPr/>
        </p:nvSpPr>
        <p:spPr>
          <a:xfrm rot="0" flipH="0" flipV="0">
            <a:off x="3676650" y="41624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6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781425" y="4267200"/>
            <a:ext cx="209550" cy="209550"/>
          </a:xfrm>
          <a:prstGeom prst="rect">
            <a:avLst/>
          </a:prstGeom>
          <a:ln/>
        </p:spPr>
      </p:pic>
      <p:sp>
        <p:nvSpPr>
          <p:cNvPr id="664" name="" descr="{&quot;isTemplate&quot;:true,&quot;type&quot;:&quot;text&quot;}"/>
          <p:cNvSpPr txBox="1"/>
          <p:nvPr/>
        </p:nvSpPr>
        <p:spPr>
          <a:xfrm rot="0" flipH="0" flipV="0">
            <a:off x="4229100" y="4133850"/>
            <a:ext cx="3486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Push it to your team repo</a:t>
            </a:r>
            <a:endParaRPr/>
          </a:p>
        </p:txBody>
      </p:sp>
      <p:sp>
        <p:nvSpPr>
          <p:cNvPr id="665" name="" descr="{&quot;isTemplate&quot;:true,&quot;type&quot;:&quot;text&quot;}"/>
          <p:cNvSpPr txBox="1"/>
          <p:nvPr/>
        </p:nvSpPr>
        <p:spPr>
          <a:xfrm rot="0" flipH="0" flipV="0">
            <a:off x="4229100" y="4362450"/>
            <a:ext cx="34861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 commit history is your contribution evidence. Start it now.</a:t>
            </a:r>
            <a:endParaRPr/>
          </a:p>
        </p:txBody>
      </p:sp>
      <p:sp>
        <p:nvSpPr>
          <p:cNvPr id="666" name=""/>
          <p:cNvSpPr/>
          <p:nvPr/>
        </p:nvSpPr>
        <p:spPr>
          <a:xfrm rot="0" flipH="0" flipV="0">
            <a:off x="3505200" y="485775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67" name=""/>
          <p:cNvSpPr/>
          <p:nvPr/>
        </p:nvSpPr>
        <p:spPr>
          <a:xfrm rot="0" flipH="0" flipV="0">
            <a:off x="3676650" y="50196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66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781425" y="5124450"/>
            <a:ext cx="209550" cy="209550"/>
          </a:xfrm>
          <a:prstGeom prst="rect">
            <a:avLst/>
          </a:prstGeom>
          <a:ln/>
        </p:spPr>
      </p:pic>
      <p:sp>
        <p:nvSpPr>
          <p:cNvPr id="669" name="" descr="{&quot;isTemplate&quot;:true,&quot;type&quot;:&quot;text&quot;}"/>
          <p:cNvSpPr txBox="1"/>
          <p:nvPr/>
        </p:nvSpPr>
        <p:spPr>
          <a:xfrm rot="0" flipH="0" flipV="0">
            <a:off x="4229100" y="4991100"/>
            <a:ext cx="2190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Draft your vision paragraph</a:t>
            </a:r>
            <a:endParaRPr/>
          </a:p>
        </p:txBody>
      </p:sp>
      <p:sp>
        <p:nvSpPr>
          <p:cNvPr id="670" name="" descr="{&quot;isTemplate&quot;:true,&quot;type&quot;:&quot;text&quot;}"/>
          <p:cNvSpPr txBox="1"/>
          <p:nvPr/>
        </p:nvSpPr>
        <p:spPr>
          <a:xfrm rot="0" flipH="0" flipV="0">
            <a:off x="4229100" y="5219700"/>
            <a:ext cx="21907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Bring a first draft to the lab on Friday.</a:t>
            </a:r>
            <a:endParaRPr/>
          </a:p>
        </p:txBody>
      </p:sp>
      <p:sp>
        <p:nvSpPr>
          <p:cNvPr id="671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5857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Stuck on the refactor? Bring the broken version to Friday's lab — that is a better question than no question.</a:t>
            </a:r>
            <a:endParaRPr/>
          </a:p>
        </p:txBody>
      </p:sp>
      <p:sp>
        <p:nvSpPr>
          <p:cNvPr id="672" name="" descr="{&quot;isTemplate&quot;:true,&quot;type&quot;:&quot;text&quot;}"/>
          <p:cNvSpPr txBox="1"/>
          <p:nvPr/>
        </p:nvSpPr>
        <p:spPr>
          <a:xfrm rot="0" flipH="0" flipV="0">
            <a:off x="11401425" y="65722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</p:spTree>
  </p:cSld>
</p:sld>
</file>

<file path=ppt/slides/slide3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73" name="" descr="&lt;Slide style={{ background: '#FFFFFF', padding: 0 }}&gt;&#10;  &lt;Box style={{ padding: '24px 40px 6px 40px', flexDirection: 'row', alignItems: 'center', justifyContent: 'space-between' }}&gt;&#10;    &lt;Text style={{ fontSize: 32, fontWeight: 'bold', color: '#0E3F8C' }}&gt;Getting Ready for M0&lt;/Text&gt;&#10;    &lt;Text style={{ fontSize: 14, color: '#1E4FA8', fontWeight: 'bold' }}&gt;37 / 38&lt;/Text&gt;&#10;  &lt;/Box&gt;&#10;  &lt;Box style={{ flex: 1, padding: '10px 40px 0 40px', flexDirection: 'row', gap: 26 }}&gt;&#10;    &lt;Box style={{ flex: 3, justifyContent: 'center', alignItems: 'center' }}&gt;&#10;      &lt;svg width={560} height={330} viewBox='0 0 560 330'&gt;&#10;        &lt;line x1='60' y1='60' x2='60' y2='286' stroke='#D6DCE5' strokeWidth='3' /&gt;&#10;        &lt;circle cx='60' cy='60' r='9' fill='#3D7BD9' /&gt;&#10;        &lt;text x='86' y='56' fill='#0E3F8C' fontSize='16' fontWeight='bold'&gt;Today — in the lab&lt;/text&gt;&#10;        &lt;text x='86' y='78' fill='#4A5568' fontSize='14'&gt;Form the team. Appoint the Lead. Draft the charter.&lt;/text&gt;&#10;        &lt;circle cx='60' cy='130' r='9' fill='#3D7BD9' /&gt;&#10;        &lt;text x='86' y='126' fill='#0E3F8C' fontSize='16' fontWeight='bold'&gt;Wed Sep 09&lt;/text&gt;&#10;        &lt;text x='86' y='148' fill='#4A5568' fontSize='14'&gt;Stakeholder list. Vision paragraph, first draft.&lt;/text&gt;&#10;        &lt;circle cx='60' cy='200' r='9' fill='#3D7BD9' /&gt;&#10;        &lt;text x='86' y='196' fill='#0E3F8C' fontSize='16' fontWeight='bold'&gt;Thu Sep 10&lt;/text&gt;&#10;        &lt;text x='86' y='218' fill='#4A5568' fontSize='14'&gt;Create the repo. Invite klausren. Push the README.&lt;/text&gt;&#10;        &lt;circle cx='60' cy='270' r='11' fill='#D9534F' /&gt;&#10;        &lt;text x='86' y='266' fill='#D9534F' fontSize='17' fontWeight='bold'&gt;Fri Sep 11 · 23:59&lt;/text&gt;&#10;        &lt;text x='86' y='288' fill='#4A5568' fontSize='14'&gt;Tag m0 and push the tag. This is the submission.&lt;/text&gt;&#10;        &lt;rect x='40' y='304' width='480' height='4' rx='2' fill='#FFC107' /&gt;&#10;      &lt;/svg&gt;&#10;    &lt;/Box&gt;&#10;    &lt;Box style={{ flex: 2, flexDirection: 'column', gap: 12, justifyContent: 'center' }}&gt;&#10;      &lt;Text style={{ fontSize: 17, fontWeight: 'bold', color: '#0E3F8C' }}&gt;The one rule that trips people&lt;/Text&gt;&#10;      &lt;Box style={{ padding: '16px 18px', background: '#FDF3F3', borderRadius: 10, borderLeft: '4px solid #D9534F' }}&gt;&#10;        &lt;Text style={{ fontSize: 16, color: '#4A5568', lineHeight: 1.5 }}&gt;A milestone is &lt;Text style={{ fontWeight: 'bold', color: '#D9534F' }}&gt;only submitted when the tag is pushed&lt;/Text&gt;. A commit on Friday is not enough.&lt;/Text&gt;&#10;      &lt;/Box&gt;&#10;      &lt;Box style={{ padding: '14px 16px', background: '#F7F9FC', borderRadius: 9, border: '1px solid #E5E7EB' }}&gt;&#10;        &lt;Text style={{ fontSize: 14, color: '#4A5568', lineHeight: 1.5 }}&gt;git tag m0&lt;br /&gt;git push origin m0&lt;/Text&gt;&#10;      &lt;/Box&gt;&#10;      &lt;Box style={{ padding: '14px 16px', background: '#F0F5FC', borderRadius: 9 }}&gt;&#10;        &lt;Text style={{ fontSize: 14, color: '#4A5568', lineHeight: 1.5 }}&gt;Full protocol and the zip fallback: &lt;Text style={{ fontWeight: 'bold', color: '#0E3F8C' }}&gt;Deadline Schedule §4&lt;/Text&gt;&lt;/Text&gt;&#10;      &lt;/Box&gt;&#10;    &lt;/Box&gt;&#10;  &lt;/Box&gt;&#10;  &lt;Box style={{ height: 44, background: '#0E3F8C', padding: '0 40px', flexDirection: 'row', alignItems: 'center', justifyContent: 'center' }}&gt;&#10;    &lt;Text style={{ fontSize: 17, color: '#FFFFFF', fontWeight: '600' }}&gt;M0 is small on purpose. It exists to test your pipeline before anything is graded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75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30670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>Getting Ready for M0</a:t>
            </a:r>
            <a:endParaRPr/>
          </a:p>
        </p:txBody>
      </p:sp>
      <p:sp>
        <p:nvSpPr>
          <p:cNvPr id="676" name="" descr="{&quot;isTemplate&quot;:true,&quot;type&quot;:&quot;text&quot;}"/>
          <p:cNvSpPr txBox="1"/>
          <p:nvPr/>
        </p:nvSpPr>
        <p:spPr>
          <a:xfrm rot="0" flipH="0" flipV="0">
            <a:off x="11401425" y="333375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37 / 38</a:t>
            </a:r>
            <a:endParaRPr/>
          </a:p>
        </p:txBody>
      </p:sp>
      <p:pic>
        <p:nvPicPr>
          <p:cNvPr id="67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028825"/>
            <a:ext cx="5334000" cy="3143250"/>
          </a:xfrm>
          <a:prstGeom prst="rect">
            <a:avLst/>
          </a:prstGeom>
          <a:ln/>
        </p:spPr>
      </p:pic>
      <p:sp>
        <p:nvSpPr>
          <p:cNvPr id="678" name="" descr="{&quot;isTemplate&quot;:true,&quot;type&quot;:&quot;text&quot;}"/>
          <p:cNvSpPr txBox="1"/>
          <p:nvPr/>
        </p:nvSpPr>
        <p:spPr>
          <a:xfrm rot="0" flipH="0" flipV="0">
            <a:off x="7334250" y="2266950"/>
            <a:ext cx="447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The one rule that trips people</a:t>
            </a:r>
            <a:endParaRPr/>
          </a:p>
        </p:txBody>
      </p:sp>
      <p:sp>
        <p:nvSpPr>
          <p:cNvPr id="679" name=""/>
          <p:cNvSpPr/>
          <p:nvPr/>
        </p:nvSpPr>
        <p:spPr>
          <a:xfrm rot="0" flipH="0" flipV="0">
            <a:off x="7372350" y="2581275"/>
            <a:ext cx="4476750" cy="857250"/>
          </a:xfrm>
          <a:prstGeom prst="roundRect">
            <a:avLst>
              <a:gd name="adj" fmla="val 11111"/>
            </a:avLst>
          </a:prstGeom>
          <a:solidFill>
            <a:srgbClr val="FDF3F3"/>
          </a:solidFill>
          <a:ln/>
        </p:spPr>
        <p:txBody>
          <a:bodyPr/>
          <a:p/>
        </p:txBody>
      </p:sp>
      <p:sp>
        <p:nvSpPr>
          <p:cNvPr id="680" name=""/>
          <p:cNvSpPr/>
          <p:nvPr/>
        </p:nvSpPr>
        <p:spPr>
          <a:xfrm rot="0" flipH="0" flipV="0">
            <a:off x="7372350" y="2581275"/>
            <a:ext cx="4476750" cy="857250"/>
          </a:xfrm>
          <a:custGeom>
            <a:pathLst>
              <a:path w="470" h="90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84"/>
                </a:lnTo>
                <a:cubicBezTo>
                  <a:pt x="4" y="87"/>
                  <a:pt x="6" y="89"/>
                  <a:pt x="9" y="90"/>
                </a:cubicBezTo>
                <a:cubicBezTo>
                  <a:pt x="4" y="89"/>
                  <a:pt x="0" y="85"/>
                  <a:pt x="0" y="80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681" name="" descr="{&quot;isTemplate&quot;:true,&quot;type&quot;:&quot;text&quot;}"/>
          <p:cNvSpPr txBox="1"/>
          <p:nvPr/>
        </p:nvSpPr>
        <p:spPr>
          <a:xfrm rot="0" flipH="0" flipV="0">
            <a:off x="7543800" y="2733675"/>
            <a:ext cx="40957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A milestone is 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only submitted when the tag is pushed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. A commit on Friday is not enough.</a:t>
            </a:r>
            <a:endParaRPr/>
          </a:p>
        </p:txBody>
      </p:sp>
      <p:sp>
        <p:nvSpPr>
          <p:cNvPr id="682" name=""/>
          <p:cNvSpPr/>
          <p:nvPr/>
        </p:nvSpPr>
        <p:spPr>
          <a:xfrm rot="0" flipH="0" flipV="0">
            <a:off x="7334250" y="3552825"/>
            <a:ext cx="4476750" cy="752475"/>
          </a:xfrm>
          <a:prstGeom prst="roundRect">
            <a:avLst>
              <a:gd name="adj" fmla="val 1139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83" name="" descr="{&quot;isTemplate&quot;:true,&quot;type&quot;:&quot;text&quot;}"/>
          <p:cNvSpPr txBox="1"/>
          <p:nvPr/>
        </p:nvSpPr>
        <p:spPr>
          <a:xfrm rot="0" flipH="0" flipV="0">
            <a:off x="7486650" y="3686175"/>
            <a:ext cx="4171950" cy="4857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git tag m0</a:t>
            </a:r>
            <a:endParaRPr/>
          </a:p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git push origin m0</a:t>
            </a:r>
            <a:endParaRPr/>
          </a:p>
        </p:txBody>
      </p:sp>
      <p:sp>
        <p:nvSpPr>
          <p:cNvPr id="684" name=""/>
          <p:cNvSpPr/>
          <p:nvPr/>
        </p:nvSpPr>
        <p:spPr>
          <a:xfrm rot="0" flipH="0" flipV="0">
            <a:off x="7334250" y="4419600"/>
            <a:ext cx="4476750" cy="514350"/>
          </a:xfrm>
          <a:prstGeom prst="roundRect">
            <a:avLst>
              <a:gd name="adj" fmla="val 1666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85" name="" descr="{&quot;isTemplate&quot;:true,&quot;type&quot;:&quot;text&quot;}"/>
          <p:cNvSpPr txBox="1"/>
          <p:nvPr/>
        </p:nvSpPr>
        <p:spPr>
          <a:xfrm rot="0" flipH="0" flipV="0">
            <a:off x="7486650" y="4552950"/>
            <a:ext cx="41719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Full protocol and the zip fallback: 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Deadline Schedule §4</a:t>
            </a:r>
            <a:endParaRPr/>
          </a:p>
        </p:txBody>
      </p:sp>
      <p:sp>
        <p:nvSpPr>
          <p:cNvPr id="686" name=""/>
          <p:cNvSpPr/>
          <p:nvPr/>
        </p:nvSpPr>
        <p:spPr>
          <a:xfrm rot="0" flipH="0" flipV="0">
            <a:off x="0" y="6438900"/>
            <a:ext cx="12192000" cy="4191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87" name="" descr="{&quot;isTemplate&quot;:true,&quot;type&quot;:&quot;text&quot;}"/>
          <p:cNvSpPr txBox="1"/>
          <p:nvPr/>
        </p:nvSpPr>
        <p:spPr>
          <a:xfrm rot="0" flipH="0" flipV="0">
            <a:off x="3028950" y="6553200"/>
            <a:ext cx="6143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M0 is small on purpose. It exists to test your pipeline before anything is graded.</a:t>
            </a:r>
            <a:endParaRPr/>
          </a:p>
        </p:txBody>
      </p:sp>
    </p:spTree>
  </p:cSld>
</p:sld>
</file>

<file path=ppt/slides/slide38.xml><?xml version="1.0" encoding="utf-8"?>
<p:sld xmlns:a="http://schemas.openxmlformats.org/drawingml/2006/main" xmlns:p="http://schemas.openxmlformats.org/presentationml/2006/main">
  <p:cSld>
    <p:spTree>
      <p:nvGrpSpPr>
        <p:cNvPr id="688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Box style={{ position: 'absolute', top: 8, left: 0, right: 0, height: 2, background: '#3D7BD9' }} /&gt;&#10;    &lt;Text style={{ fontSize: 15, color: '#7FA2D6', letterSpacing: 2, marginBottom: 20 }}&gt;WEEK 02 · WRAP-UP&lt;/Text&gt;&#10;    &lt;Text style={{ fontSize: 46, fontWeight: 'bold', color: '#FFFFFF', fontFamily: 'Georgia, serif', lineHeight: 1.15 }}&gt;&#10;      Four pillars.&lt;br /&gt;One idea.&#10;    &lt;/Text&gt;&#10;    &lt;Box style={{ width: 76, height: 4, background: '#FFC107', marginTop: 24, marginBottom: 24 }} /&gt;&#10;    &lt;Box style={{ flexDirection: 'row', gap: 14, marginBottom: 26 }}&gt;&#10;      {[&#10;        ['Objects', 'state · behaviour · identity'],&#10;        ['Encapsulation', 'hide state, expose behaviour'],&#10;        ['Composition', 'has-a beats is-a, usually'],&#10;        ['Interfaces', 'depend on what it does'],&#10;      ].map(([t, d]) =&gt; (&#10;        &lt;Box key={t} style={{ flex: 1, padding: '16px 16px', background: '#1E4FA8', borderRadius: 10, flexDirection: 'column', gap: 5 }}&gt;&#10;          &lt;Text style={{ fontSize: 17, fontWeight: 'bold', color: '#FFFFFF' }}&gt;{t}&lt;/Text&gt;&#10;          &lt;Text style={{ fontSize: 13, color: '#B9CDF0', lineHeight: 1.4 }}&gt;{d}&lt;/Text&gt;&#10;        &lt;/Box&gt;&#10;      ))}&#10;    &lt;/Box&gt;&#10;    &lt;Text style={{ fontSize: 21, color: '#C5D4EA', lineHeight: 1.5 }}&gt;&#10;      All four serve one purpose: &lt;Text style={{ fontWeight: 'bold', color: '#FFC107' }}&gt;put each responsibility in the right place.&lt;/Text&gt;&#10;    &lt;/Text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Next week — UML Essentials: the diagrams you will draw all term.&lt;/Text&gt;&#10;      &lt;Text style={{ fontSize: 17, color: '#FFC107', fontWeight: 'bold' }}&gt;Questions?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90" name="" descr="{&quot;isTemplate&quot;:true,&quot;type&quot;:&quot;text&quot;}"/>
          <p:cNvSpPr txBox="1"/>
          <p:nvPr/>
        </p:nvSpPr>
        <p:spPr>
          <a:xfrm rot="0" flipH="0" flipV="0">
            <a:off x="762000" y="1714500"/>
            <a:ext cx="10668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WEEK 02 · WRAP-UP</a:t>
            </a:r>
            <a:endParaRPr/>
          </a:p>
        </p:txBody>
      </p:sp>
      <p:sp>
        <p:nvSpPr>
          <p:cNvPr id="691" name="" descr="{&quot;isTemplate&quot;:true,&quot;type&quot;:&quot;text&quot;}"/>
          <p:cNvSpPr txBox="1"/>
          <p:nvPr/>
        </p:nvSpPr>
        <p:spPr>
          <a:xfrm rot="0" flipH="0" flipV="0">
            <a:off x="762000" y="2076450"/>
            <a:ext cx="10668000" cy="12096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Four pillars.</a:t>
            </a:r>
            <a:endParaRPr/>
          </a:p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One idea.</a:t>
            </a:r>
            <a:endParaRPr/>
          </a:p>
        </p:txBody>
      </p:sp>
      <p:sp>
        <p:nvSpPr>
          <p:cNvPr id="692" name=""/>
          <p:cNvSpPr/>
          <p:nvPr/>
        </p:nvSpPr>
        <p:spPr>
          <a:xfrm rot="0" flipH="0" flipV="0">
            <a:off x="762000" y="3514725"/>
            <a:ext cx="7239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693" name=""/>
          <p:cNvSpPr/>
          <p:nvPr/>
        </p:nvSpPr>
        <p:spPr>
          <a:xfrm rot="0" flipH="0" flipV="0">
            <a:off x="762000" y="3781425"/>
            <a:ext cx="2571750" cy="7620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94" name="" descr="{&quot;isTemplate&quot;:true,&quot;type&quot;:&quot;text&quot;}"/>
          <p:cNvSpPr txBox="1"/>
          <p:nvPr/>
        </p:nvSpPr>
        <p:spPr>
          <a:xfrm rot="0" flipH="0" flipV="0">
            <a:off x="914400" y="3933825"/>
            <a:ext cx="22669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Objects</a:t>
            </a:r>
            <a:endParaRPr/>
          </a:p>
        </p:txBody>
      </p:sp>
      <p:sp>
        <p:nvSpPr>
          <p:cNvPr id="695" name="" descr="{&quot;isTemplate&quot;:true,&quot;type&quot;:&quot;text&quot;}"/>
          <p:cNvSpPr txBox="1"/>
          <p:nvPr/>
        </p:nvSpPr>
        <p:spPr>
          <a:xfrm rot="0" flipH="0" flipV="0">
            <a:off x="914400" y="4181475"/>
            <a:ext cx="22669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state · behaviour · identity</a:t>
            </a:r>
            <a:endParaRPr/>
          </a:p>
        </p:txBody>
      </p:sp>
      <p:sp>
        <p:nvSpPr>
          <p:cNvPr id="696" name=""/>
          <p:cNvSpPr/>
          <p:nvPr/>
        </p:nvSpPr>
        <p:spPr>
          <a:xfrm rot="0" flipH="0" flipV="0">
            <a:off x="3467100" y="3781425"/>
            <a:ext cx="2562225" cy="7620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97" name="" descr="{&quot;isTemplate&quot;:true,&quot;type&quot;:&quot;text&quot;}"/>
          <p:cNvSpPr txBox="1"/>
          <p:nvPr/>
        </p:nvSpPr>
        <p:spPr>
          <a:xfrm rot="0" flipH="0" flipV="0">
            <a:off x="3619500" y="3933825"/>
            <a:ext cx="2257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Encapsulation</a:t>
            </a:r>
            <a:endParaRPr/>
          </a:p>
        </p:txBody>
      </p:sp>
      <p:sp>
        <p:nvSpPr>
          <p:cNvPr id="698" name="" descr="{&quot;isTemplate&quot;:true,&quot;type&quot;:&quot;text&quot;}"/>
          <p:cNvSpPr txBox="1"/>
          <p:nvPr/>
        </p:nvSpPr>
        <p:spPr>
          <a:xfrm rot="0" flipH="0" flipV="0">
            <a:off x="3619500" y="4181475"/>
            <a:ext cx="22574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hide state, expose behaviour</a:t>
            </a:r>
            <a:endParaRPr/>
          </a:p>
        </p:txBody>
      </p:sp>
      <p:sp>
        <p:nvSpPr>
          <p:cNvPr id="699" name=""/>
          <p:cNvSpPr/>
          <p:nvPr/>
        </p:nvSpPr>
        <p:spPr>
          <a:xfrm rot="0" flipH="0" flipV="0">
            <a:off x="6162675" y="3781425"/>
            <a:ext cx="2571750" cy="7620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0" name="" descr="{&quot;isTemplate&quot;:true,&quot;type&quot;:&quot;text&quot;}"/>
          <p:cNvSpPr txBox="1"/>
          <p:nvPr/>
        </p:nvSpPr>
        <p:spPr>
          <a:xfrm rot="0" flipH="0" flipV="0">
            <a:off x="6315075" y="3933825"/>
            <a:ext cx="22669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Composition</a:t>
            </a:r>
            <a:endParaRPr/>
          </a:p>
        </p:txBody>
      </p:sp>
      <p:sp>
        <p:nvSpPr>
          <p:cNvPr id="701" name="" descr="{&quot;isTemplate&quot;:true,&quot;type&quot;:&quot;text&quot;}"/>
          <p:cNvSpPr txBox="1"/>
          <p:nvPr/>
        </p:nvSpPr>
        <p:spPr>
          <a:xfrm rot="0" flipH="0" flipV="0">
            <a:off x="6315075" y="4181475"/>
            <a:ext cx="226695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has-a beats is-a, usually</a:t>
            </a:r>
            <a:endParaRPr/>
          </a:p>
        </p:txBody>
      </p:sp>
      <p:sp>
        <p:nvSpPr>
          <p:cNvPr id="702" name=""/>
          <p:cNvSpPr/>
          <p:nvPr/>
        </p:nvSpPr>
        <p:spPr>
          <a:xfrm rot="0" flipH="0" flipV="0">
            <a:off x="8867775" y="3781425"/>
            <a:ext cx="2562225" cy="7620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3" name="" descr="{&quot;isTemplate&quot;:true,&quot;type&quot;:&quot;text&quot;}"/>
          <p:cNvSpPr txBox="1"/>
          <p:nvPr/>
        </p:nvSpPr>
        <p:spPr>
          <a:xfrm rot="0" flipH="0" flipV="0">
            <a:off x="9020175" y="3933825"/>
            <a:ext cx="2257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Interfaces</a:t>
            </a:r>
            <a:endParaRPr/>
          </a:p>
        </p:txBody>
      </p:sp>
      <p:sp>
        <p:nvSpPr>
          <p:cNvPr id="704" name="" descr="{&quot;isTemplate&quot;:true,&quot;type&quot;:&quot;text&quot;}"/>
          <p:cNvSpPr txBox="1"/>
          <p:nvPr/>
        </p:nvSpPr>
        <p:spPr>
          <a:xfrm rot="0" flipH="0" flipV="0">
            <a:off x="9020175" y="4181475"/>
            <a:ext cx="22574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depend on what it does</a:t>
            </a:r>
            <a:endParaRPr/>
          </a:p>
        </p:txBody>
      </p:sp>
      <p:sp>
        <p:nvSpPr>
          <p:cNvPr id="705" name="" descr="{&quot;isTemplate&quot;:true,&quot;type&quot;:&quot;text&quot;}"/>
          <p:cNvSpPr txBox="1"/>
          <p:nvPr/>
        </p:nvSpPr>
        <p:spPr>
          <a:xfrm rot="0" flipH="0" flipV="0">
            <a:off x="762000" y="4791075"/>
            <a:ext cx="10668000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575">
                <a:solidFill>
                  <a:srgbClr val="C5D4EA"/>
                </a:solidFill>
                <a:latin typeface="Microsoft YaHei"/>
                <a:ea typeface="Microsoft YaHei"/>
              </a:rPr>
              <a:t>All four serve one purpose: </a:t>
            </a:r>
            <a:r>
              <a:rPr lang="en-US" sz="1575">
                <a:solidFill>
                  <a:srgbClr val="C5D4EA"/>
                </a:solidFill>
                <a:latin typeface="Microsoft YaHei"/>
                <a:ea typeface="Microsoft YaHei"/>
              </a:rPr>
              <a:t>put each responsibility in the right place.</a:t>
            </a:r>
            <a:endParaRPr/>
          </a:p>
        </p:txBody>
      </p:sp>
      <p:sp>
        <p:nvSpPr>
          <p:cNvPr id="70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7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08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09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47529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Next week — UML Essentials: the diagrams you will draw all term.</a:t>
            </a:r>
            <a:endParaRPr/>
          </a:p>
        </p:txBody>
      </p:sp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10534650" y="6219825"/>
            <a:ext cx="895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C107"/>
                </a:solidFill>
                <a:latin typeface="Microsoft YaHei"/>
                <a:ea typeface="Microsoft YaHei"/>
              </a:rPr>
              <a:t>Questions?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2026-09-09T14:35:33Z</dcterms:created>
  <dcterms:modified xsi:type="dcterms:W3CDTF">2026-09-09T14:35:33Z</dcterms:modified>
</cp:coreProperties>
</file>
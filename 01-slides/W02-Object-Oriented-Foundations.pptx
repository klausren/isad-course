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19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3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34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theme/theme1.xml" ContentType="application/vnd.openxmlformats-officedocument.them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40" Type="http://schemas.openxmlformats.org/officeDocument/2006/relationships/presProps" Target="presProps.xml" /><Relationship Id="rId39" Type="http://schemas.openxmlformats.org/officeDocument/2006/relationships/notesMaster" Target="notesMasters/notesMaster1.xml" /><Relationship Id="rId42" Type="http://schemas.openxmlformats.org/officeDocument/2006/relationships/viewProps" Target="viewProps.xml" /><Relationship Id="rId41" Type="http://schemas.openxmlformats.org/officeDocument/2006/relationships/tableStyles" Target="tableStyles.xml" /><Relationship Id="rId37" Type="http://schemas.openxmlformats.org/officeDocument/2006/relationships/slide" Target="slides/slide37.xml" /><Relationship Id="rId35" Type="http://schemas.openxmlformats.org/officeDocument/2006/relationships/slide" Target="slides/slide35.xml" /><Relationship Id="rId33" Type="http://schemas.openxmlformats.org/officeDocument/2006/relationships/slide" Target="slides/slide33.xml" /><Relationship Id="rId38" Type="http://schemas.openxmlformats.org/officeDocument/2006/relationships/slide" Target="slides/slide38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36" Type="http://schemas.openxmlformats.org/officeDocument/2006/relationships/slide" Target="slides/slide36.xml" /><Relationship Id="rId3" Type="http://schemas.openxmlformats.org/officeDocument/2006/relationships/slide" Target="slides/slide3.xml" /><Relationship Id="rId6" Type="http://schemas.openxmlformats.org/officeDocument/2006/relationships/slide" Target="slides/slide6.xml" /><Relationship Id="rId28" Type="http://schemas.openxmlformats.org/officeDocument/2006/relationships/slide" Target="slides/slide28.xml" /><Relationship Id="rId27" Type="http://schemas.openxmlformats.org/officeDocument/2006/relationships/slide" Target="slides/slide27.xml" /><Relationship Id="rId26" Type="http://schemas.openxmlformats.org/officeDocument/2006/relationships/slide" Target="slides/slide26.xml" /><Relationship Id="rId7" Type="http://schemas.openxmlformats.org/officeDocument/2006/relationships/slide" Target="slides/slide7.xml" /><Relationship Id="rId30" Type="http://schemas.openxmlformats.org/officeDocument/2006/relationships/slide" Target="slides/slide30.xml" /><Relationship Id="rId24" Type="http://schemas.openxmlformats.org/officeDocument/2006/relationships/slide" Target="slides/slide24.xml" /><Relationship Id="rId13" Type="http://schemas.openxmlformats.org/officeDocument/2006/relationships/slide" Target="slides/slide13.xml" /><Relationship Id="rId22" Type="http://schemas.openxmlformats.org/officeDocument/2006/relationships/slide" Target="slides/slide22.xml" /><Relationship Id="rId15" Type="http://schemas.openxmlformats.org/officeDocument/2006/relationships/slide" Target="slides/slide15.xml" /><Relationship Id="rId21" Type="http://schemas.openxmlformats.org/officeDocument/2006/relationships/slide" Target="slides/slide21.xml" /><Relationship Id="rId14" Type="http://schemas.openxmlformats.org/officeDocument/2006/relationships/slide" Target="slides/slide14.xml" /><Relationship Id="rId20" Type="http://schemas.openxmlformats.org/officeDocument/2006/relationships/slide" Target="slides/slide20.xml" /><Relationship Id="rId34" Type="http://schemas.openxmlformats.org/officeDocument/2006/relationships/slide" Target="slides/slide34.xml" /><Relationship Id="rId17" Type="http://schemas.openxmlformats.org/officeDocument/2006/relationships/slide" Target="slides/slide17.xml" /><Relationship Id="rId4" Type="http://schemas.openxmlformats.org/officeDocument/2006/relationships/slide" Target="slides/slide4.xml" /><Relationship Id="rId25" Type="http://schemas.openxmlformats.org/officeDocument/2006/relationships/slide" Target="slides/slide25.xml" /><Relationship Id="rId16" Type="http://schemas.openxmlformats.org/officeDocument/2006/relationships/slide" Target="slides/slide16.xml" /><Relationship Id="rId18" Type="http://schemas.openxmlformats.org/officeDocument/2006/relationships/slide" Target="slides/slide18.xml" /><Relationship Id="rId1" Type="http://schemas.openxmlformats.org/officeDocument/2006/relationships/slide" Target="slides/slide1.xml" /><Relationship Id="rId23" Type="http://schemas.openxmlformats.org/officeDocument/2006/relationships/slide" Target="slides/slide23.xml" /><Relationship Id="rId5" Type="http://schemas.openxmlformats.org/officeDocument/2006/relationships/slide" Target="slides/slide5.xml" /><Relationship Id="rId19" Type="http://schemas.openxmlformats.org/officeDocument/2006/relationships/slide" Target="slides/slide19.xml" /><Relationship Id="rId12" Type="http://schemas.openxmlformats.org/officeDocument/2006/relationships/slide" Target="slides/slide12.xml" /><Relationship Id="rId8" Type="http://schemas.openxmlformats.org/officeDocument/2006/relationships/slide" Target="slides/slide8.xml" /><Relationship Id="rId11" Type="http://schemas.openxmlformats.org/officeDocument/2006/relationships/slide" Target="slides/slide11.xml" /><Relationship Id="rId2" Type="http://schemas.openxmlformats.org/officeDocument/2006/relationships/slide" Target="slides/slide2.xml" /><Relationship Id="rId10" Type="http://schemas.openxmlformats.org/officeDocument/2006/relationships/slide" Target="slides/slide10.xml" /><Relationship Id="rId29" Type="http://schemas.openxmlformats.org/officeDocument/2006/relationships/slide" Target="slides/slide29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2" Type="http://schemas.openxmlformats.org/officeDocument/2006/relationships/image" Target="media/image52.svg" /><Relationship Id="rId3" Type="http://schemas.openxmlformats.org/officeDocument/2006/relationships/image" Target="media/image53.svg" /><Relationship Id="rId1" Type="http://schemas.openxmlformats.org/officeDocument/2006/relationships/image" Target="media/image51.svg" /><Relationship Id="rId4" Type="http://schemas.openxmlformats.org/officeDocument/2006/relationships/image" Target="media/image54.svg" /><Relationship Id="rId5" Type="http://schemas.openxmlformats.org/officeDocument/2006/relationships/image" Target="media/image55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5" Type="http://schemas.openxmlformats.org/officeDocument/2006/relationships/image" Target="media/image17.svg" /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37.svg" /><Relationship Id="rId4" Type="http://schemas.openxmlformats.org/officeDocument/2006/relationships/image" Target="media/image38.svg" /><Relationship Id="rId2" Type="http://schemas.openxmlformats.org/officeDocument/2006/relationships/image" Target="media/image36.svg" /><Relationship Id="rId1" Type="http://schemas.openxmlformats.org/officeDocument/2006/relationships/image" Target="media/image56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5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58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4" Type="http://schemas.openxmlformats.org/officeDocument/2006/relationships/image" Target="media/image5.svg" /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3" Type="http://schemas.openxmlformats.org/officeDocument/2006/relationships/image" Target="media/image8.svg" /><Relationship Id="rId2" Type="http://schemas.openxmlformats.org/officeDocument/2006/relationships/image" Target="media/image7.svg" /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3" Type="http://schemas.openxmlformats.org/officeDocument/2006/relationships/image" Target="media/image11.svg" /><Relationship Id="rId2" Type="http://schemas.openxmlformats.org/officeDocument/2006/relationships/image" Target="media/image10.svg" /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4" Type="http://schemas.openxmlformats.org/officeDocument/2006/relationships/image" Target="media/image17.svg" /><Relationship Id="rId2" Type="http://schemas.openxmlformats.org/officeDocument/2006/relationships/image" Target="media/image15.svg" /><Relationship Id="rId3" Type="http://schemas.openxmlformats.org/officeDocument/2006/relationships/image" Target="media/image16.svg" /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3" Type="http://schemas.openxmlformats.org/officeDocument/2006/relationships/image" Target="media/image23.svg" /><Relationship Id="rId2" Type="http://schemas.openxmlformats.org/officeDocument/2006/relationships/image" Target="media/image22.svg" /><Relationship Id="rId1" Type="http://schemas.openxmlformats.org/officeDocument/2006/relationships/image" Target="media/image21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2" Type="http://schemas.openxmlformats.org/officeDocument/2006/relationships/image" Target="media/image25.svg" /><Relationship Id="rId3" Type="http://schemas.openxmlformats.org/officeDocument/2006/relationships/image" Target="media/image26.svg" /><Relationship Id="rId1" Type="http://schemas.openxmlformats.org/officeDocument/2006/relationships/image" Target="media/image24.svg" /><Relationship Id="rId4" Type="http://schemas.openxmlformats.org/officeDocument/2006/relationships/image" Target="media/image27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3" Type="http://schemas.openxmlformats.org/officeDocument/2006/relationships/image" Target="media/image30.svg" /><Relationship Id="rId2" Type="http://schemas.openxmlformats.org/officeDocument/2006/relationships/image" Target="media/image29.svg" /><Relationship Id="rId1" Type="http://schemas.openxmlformats.org/officeDocument/2006/relationships/image" Target="media/image28.svg" /><Relationship Id="rId4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3" Type="http://schemas.openxmlformats.org/officeDocument/2006/relationships/image" Target="media/image5.svg" /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13.svg" /><Relationship Id="rId2" Type="http://schemas.openxmlformats.org/officeDocument/2006/relationships/image" Target="media/image31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2" Type="http://schemas.openxmlformats.org/officeDocument/2006/relationships/image" Target="media/image33.svg" /><Relationship Id="rId4" Type="http://schemas.openxmlformats.org/officeDocument/2006/relationships/image" Target="media/image5.svg" /><Relationship Id="rId3" Type="http://schemas.openxmlformats.org/officeDocument/2006/relationships/image" Target="media/image34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4" Type="http://schemas.openxmlformats.org/officeDocument/2006/relationships/image" Target="media/image17.svg" /><Relationship Id="rId3" Type="http://schemas.openxmlformats.org/officeDocument/2006/relationships/image" Target="media/image38.svg" /><Relationship Id="rId2" Type="http://schemas.openxmlformats.org/officeDocument/2006/relationships/image" Target="media/image37.svg" /><Relationship Id="rId5" Type="http://schemas.openxmlformats.org/officeDocument/2006/relationships/image" Target="media/image39.svg" /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6" Type="http://schemas.openxmlformats.org/officeDocument/2006/relationships/image" Target="media/image44.svg" /><Relationship Id="rId5" Type="http://schemas.openxmlformats.org/officeDocument/2006/relationships/image" Target="media/image43.svg" /><Relationship Id="rId4" Type="http://schemas.openxmlformats.org/officeDocument/2006/relationships/image" Target="media/image42.svg" /><Relationship Id="rId3" Type="http://schemas.openxmlformats.org/officeDocument/2006/relationships/image" Target="media/image29.svg" /><Relationship Id="rId2" Type="http://schemas.openxmlformats.org/officeDocument/2006/relationships/image" Target="media/image41.svg" /><Relationship Id="rId1" Type="http://schemas.openxmlformats.org/officeDocument/2006/relationships/image" Target="media/image40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45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3" Type="http://schemas.openxmlformats.org/officeDocument/2006/relationships/image" Target="media/image48.svg" /><Relationship Id="rId2" Type="http://schemas.openxmlformats.org/officeDocument/2006/relationships/image" Target="media/image47.svg" /><Relationship Id="rId1" Type="http://schemas.openxmlformats.org/officeDocument/2006/relationships/image" Target="media/image46.svg" /><Relationship Id="rId4" Type="http://schemas.openxmlformats.org/officeDocument/2006/relationships/image" Target="media/image49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2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Object-Oriented&#10;      &lt;br /&gt;&#10;      Foundations&#10;    &lt;/Text&gt;&#10;    &lt;Box style={{ width: 88, height: 5, background: '#FFC107', marginTop: 28, marginBottom: 22 }} /&gt;&#10;    &lt;Text style={{ fontSize: 26, color: '#B9CDF0', lineHeight: 1.45 }}&gt;&#10;      Objects, Encapsulation, Reuse &amp;amp; Polymorphis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02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Object-Oriented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Foundations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Objects, Encapsulation, Reuse &amp; Polymorphism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41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2 · ROADMAP&lt;/Text&gt;&#10;      &lt;/Box&gt;&#10;      &lt;Text style={{ fontSize: 15, color: '#5B84C4', lineHeight: 1.5 }}&gt;Object-Oriented&lt;br /&gt;Foundations&lt;/Text&gt;&#10;    &lt;/Box&gt;&#10;    &lt;Box style={{ flex: 1, padding: '56px 56px', flexDirection: 'column', gap: 18 }}&gt;&#10;      {[&#10;        { n: '01', t: 'Recap &amp;amp; CampusBites Kickoff', p: '03' },&#10;        { n: '02', t: 'Objects Everywhere', p: '07' },&#10;        { n: '03', t: 'Encapsulation', p: '12' },&#10;        { n: '04', t: 'Inheritance vs. Composition', p: '17' },&#10;        { n: '05', t: 'Polymorphism &amp;amp; Interfaces', p: '23' },&#10;        { n: '06', t: 'Lab — OO Analysis &amp;amp; M0 Kickoff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02 · ROADMAP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Object-Oriented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Foundations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CampusBites Kickoff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Objects Everywhere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12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Inheritance vs. Composition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17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Polymorphism &amp;amp; Interfaces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4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OO Analysis &amp;amp; M0 Kickoff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7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CampusBites Kickoff&lt;/Text&gt;&#10;      &lt;Box style={{ width: 64, height: 4, background: '#FFC107', marginTop: 26, marginBottom: 26 }} /&gt;&#10;      &lt;Box style={{ flexDirection: 'column', gap: 12 }}&gt;&#10;        {[&#10;          'Where Week 01 left us — and what plugs in here',&#10;          'The four pillars we cover this week',&#10;          'CampusBites starts today; M0 due Fri Sep 11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CampusBites Kickoff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77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43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Where Week 01 left us — and what plugs in here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924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pillars we cover this week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838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CampusBites starts today; M0 due Fri Sep 11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CAP&lt;/Text&gt;&#10;  &lt;/Box&gt;&#10;  &lt;Box style={{ padding: '24px 40px 0 40px' }}&gt;&#10;    &lt;Text style={{ fontSize: 34, fontWeight: 'bold', color: '#0E3F8C' }}&gt;Where We Left Off&lt;/Text&gt;&#10;  &lt;/Box&gt;&#10;  &lt;Box style={{ flex: 1, padding: '20px 40px 0 40px', flexDirection: 'row', gap: 28 }}&gt;&#10;    &lt;Box style={{ flex: 3, flexDirection: 'column', gap: 10, justifyContent: 'center' }}&gt;&#10;      {[&#10;        ['info-circle', 'An information system is People + Process + Data + Technology', 'Not just software.'],&#10;        ['user-tie', 'The analyst translates between business and technology', 'W01, Part 3.'],&#10;        ['stream', 'Analysis asks what; design asks how', 'W01, Part 4.'],&#10;        ['map', 'Roadmap: models → principles → patterns → architecture', 'W01, Part 5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plug' style={{ fill: '#FFC107', width: 32, height: 32 }} /&gt;&#10;      &lt;Text style={{ fontSize: 21, fontWeight: 'bold', color: '#FFFFFF', lineHeight: 1.35 }}&gt;The missing piece: what an object actually is.&lt;/Text&gt;&#10;      &lt;Text style={{ fontSize: 16, color: '#C5D4EA', lineHeight: 1.55 }}&gt;Last week we said this course is about objects. This week we get precise — before any diagram, before any patter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RECAP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 Left Off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4657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information system is People + Process + Data + Technology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4657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Not just software.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413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The analyst translates between business and technology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413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3.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2714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Analysis asks what; design asks how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2714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4.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3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4229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Roadmap: models → principles → patterns → architecture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422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5.</a:t>
            </a:r>
            <a:endParaRPr/>
          </a:p>
        </p:txBody>
      </p:sp>
      <p:sp>
        <p:nvSpPr>
          <p:cNvPr id="737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72375" y="3086100"/>
            <a:ext cx="304800" cy="304800"/>
          </a:xfrm>
          <a:prstGeom prst="rect">
            <a:avLst/>
          </a:prstGeom>
          <a:ln/>
        </p:spPr>
      </p:pic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7572375" y="3524250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missing piece: what an object actually is.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7572375" y="43148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Last week we said this course is about objects. This week we get precise — before any diagram, before any pattern.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74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THIS WEEK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4&lt;/Text&gt;&#10;      &lt;Text style={{ fontSize: 20, fontWeight: 'bold', color: '#1E4FA8', letterSpacing: 2, marginTop: 6 }}&gt;PILLARS&lt;/Text&gt;&#10;      &lt;Box style={{ width: 56, height: 4, background: '#FFC107', marginTop: 12 }} /&gt;&#10;    &lt;/Box&gt;&#10;    &lt;Box style={{ flex: 1, flexDirection: 'column', gap: 13 }}&gt;&#10;      {[&#10;        { n: '01', t: 'Objects', d: 'State, behaviour, identity — what an object is made of.' },&#10;        { n: '02', t: 'Encapsulation', d: 'Hide the state; expose behaviour. Guard your invariants.' },&#10;        { n: '03', t: 'Reuse', d: 'Inheritance vs. composition — and why one is preferred.' },&#10;        { n: '04', t: 'Polymorphism', d: 'One message, many behaviours. Program to an interface.' },&#10;      ].map((item) =&gt; (&#10;        &lt;Box key={item.n} style={{ flexDirection: 'row', alignItems: 'center', gap: 18, padding: '14px 20px', background: '#F0F5FC', borderRadius: 10, borderLeft: '4px solid #3D7BD9' }}&gt;&#10;          &lt;Text style={{ fontSize: 24, fontWeight: 'bold', color: '#3D7BD9', fontFamily: 'Georgia, serif' }}&gt;{item.n}&lt;/Text&gt;&#10;          &lt;Box style={{ flexDirection: 'column', gap: 2 }}&gt;&#10;            &lt;Text style={{ fontSize: 19, fontWeight: 'bold', color: '#0E3F8C' }}&gt;{item.t}&lt;/Text&gt;&#10;            &lt;Text style={{ fontSize: 14, color: '#4A5568', lineHeight: 1.4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These four are the grammar. Design patterns (Weeks 13–15) are the literature built on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4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601325" y="257175"/>
            <a:ext cx="1209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THIS WEEK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123950" y="2200275"/>
            <a:ext cx="1181100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4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238250" y="4429125"/>
            <a:ext cx="95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PILLARS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3467100" y="183832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2" name=""/>
          <p:cNvSpPr/>
          <p:nvPr/>
        </p:nvSpPr>
        <p:spPr>
          <a:xfrm rot="0" flipH="0" flipV="0">
            <a:off x="3467100" y="183832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657600" y="2076450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4105275" y="1971675"/>
            <a:ext cx="3219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105275" y="2209800"/>
            <a:ext cx="32194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State, behaviour, identity — what an object is made of.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3467100" y="270510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3467100" y="270510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3657600" y="2943225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133850" y="2838450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4133850" y="3076575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Hide the state; expose behaviour. Guard your invariants.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3467100" y="357187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3467100" y="357187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3657600" y="3810000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4133850" y="3705225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Reuse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4133850" y="3943350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Inheritance vs. composition — and why one is preferred.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3467100" y="443865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3467100" y="443865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3657600" y="4676775"/>
            <a:ext cx="314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4143375" y="4572000"/>
            <a:ext cx="3429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Polymorphism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4143375" y="4810125"/>
            <a:ext cx="3429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message, many behaviours. Program to an interface.</a:t>
            </a:r>
            <a:endParaRPr/>
          </a:p>
        </p:txBody>
      </p:sp>
      <p:sp>
        <p:nvSpPr>
          <p:cNvPr id="771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2533650" y="6486525"/>
            <a:ext cx="7134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These four are the grammar. Design patterns (Weeks 13–15) are the literature built on it.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KICKOFF&lt;/Text&gt;&#10;  &lt;/Box&gt;&#10;  &lt;Box style={{ padding: '22px 40px 0 40px' }}&gt;&#10;    &lt;Text style={{ fontSize: 34, fontWeight: 'bold', color: '#0E3F8C' }}&gt;CampusBites Starts Today&lt;/Text&gt;&#10;  &lt;/Box&gt;&#10;  &lt;Box style={{ flex: 1, padding: '16px 40px 0 40px', flexDirection: 'row', gap: 26 }}&gt;&#10;    &lt;Box style={{ flex: 5, justifyContent: 'center', alignItems: 'center' }}&gt;&#10;      &lt;svg width={560} height={360} viewBox='0 0 560 360'&gt;&#10;        &lt;rect x='30' y='150' width='140' height='78' rx='12' fill='#E8EFF8' stroke='#3D7BD9' strokeWidth='2' /&gt;&#10;        &lt;text x='100' y='182' textAnchor='middle' fill='#0E3F8C' fontSize='19' fontWeight='bold'&gt;Student&lt;/text&gt;&#10;        &lt;text x='100' y='206' textAnchor='middle' fill='#8B97A8' fontSize='14'&gt;places the order&lt;/text&gt;&#10;        &lt;rect x='125' y='34' width='150' height='66' rx='12' fill='#E8EFF8' stroke='#3D7BD9' strokeWidth='2' /&gt;&#10;        &lt;text x='200' y='62' textAnchor='middle' fill='#0E3F8C' fontSize='19' fontWeight='bold'&gt;Restaurant&lt;/text&gt;&#10;        &lt;text x='200' y='84' textAnchor='middle' fill='#8B97A8' fontSize='14'&gt;prepares the food&lt;/text&gt;&#10;        &lt;rect x='125' y='266' width='150' height='66' rx='12' fill='#E8EFF8' stroke='#3D7BD9' strokeWidth='2' /&gt;&#10;        &lt;text x='200' y='294' textAnchor='middle' fill='#0E3F8C' fontSize='19' fontWeight='bold'&gt;Rider&lt;/text&gt;&#10;        &lt;text x='200' y='316' textAnchor='middle' fill='#8B97A8' fontSize='14'&gt;delivers to campus&lt;/text&gt;&#10;        &lt;rect x='360' y='150' width='160' height='78' rx='12' fill='#0E3F8C' /&gt;&#10;        &lt;text x='440' y='182' textAnchor='middle' fill='#FFFFFF' fontSize='19' fontWeight='bold'&gt;Order&lt;/text&gt;&#10;        &lt;text x='440' y='206' textAnchor='middle' fill='#FFC107' fontSize='15'&gt;state + payment&lt;/text&gt;&#10;        &lt;line x1='170' y1='168' x2='358' y2='178' stroke='#3D7BD9' strokeWidth='2' /&gt;&#10;        &lt;line x1='212' y1='100' x2='400' y2='172' stroke='#3D7BD9' strokeWidth='2' /&gt;&#10;        &lt;line x1='212' y1='266' x2='400' y2='212' stroke='#3D7BD9' strokeWidth='2' /&gt;&#10;        &lt;text x='440' y='268' textAnchor='middle' fill='#8B97A8' fontSize='14'&gt;campus food delivery&lt;/text&gt;&#10;      &lt;/svg&gt;&#10;    &lt;/Box&gt;&#10;    &lt;Box style={{ flex: 4, flexDirection: 'column', gap: 10, justifyContent: 'center' }}&gt;&#10;      &lt;Text style={{ fontSize: 17, fontWeight: 'bold', color: '#0E3F8C', marginBottom: 2 }}&gt;M0 — due Fri Sep 11 (pass / fail)&lt;/Text&gt;&#10;      {[&#10;        ['file-signature', 'Team charter', 'Name, roles, communication rules'],&#10;        ['users', 'Stakeholder list', 'Who cares about CampusBites'],&#10;        ['eye', 'One-paragraph vision', 'What it does, for whom'],&#10;        ['code-branch', 'Repository registered', 'Create repo, invite klausren'],&#10;      ].map(([icon, t, d]) =&gt; (&#10;        &lt;Box key={t} style={{ flexDirection: 'row', gap: 12, alignItems: 'center', padding: '12px 16px', background: '#F7F9FC', borderRadius: 9, border: '1px solid #E5E7EB' }}&gt;&#10;          &lt;Box style={{ width: 36, height: 36, borderRadius: 8, background: '#E8EFF8', justifyContent: 'center', alignItems: 'center' }}&gt;&#10;            &lt;FAIcon name={icon} style={{ fill: '#1E4FA8', width: 18, height: 18 }} /&gt;&#10;          &lt;/Box&gt;&#10;          &lt;Box style={{ flexDirection: 'column', gap: 1 }}&gt;&#10;            &lt;Text style={{ fontSize: 15, fontWeight: 'bold', color: '#1A2230' }}&gt;{t}&lt;/Text&gt;&#10;            &lt;Text style={{ fontSize: 13, color: '#4A5568' }}&gt;{d}&lt;/Text&gt;&#10;          &lt;/Box&gt;&#10;        &lt;/Box&gt;&#10;      ))}&#10;      &lt;Box style={{ marginTop: 4, padding: '11px 16px', background: '#FDF3F3', borderRadius: 9, borderLeft: '3px solid #D9534F' }}&gt;&#10;        &lt;Text style={{ fontSize: 14, color: '#D9534F', fontWeight: 'bold' }}&gt;2 teams × 3 students. You form them in this week's lab.&lt;/Text&gt;&#10;      &lt;/Box&gt;&#10;    &lt;/Box&gt;&#10;  &lt;/Box&gt;&#10;  &lt;Box style={{ height: 40, padding: '0 40px', flexDirection: 'row', alignItems: 'center', justifyContent: 'space-between' }}&gt;&#10;    &lt;Text style={{ fontSize: 13, color: '#8B97A8' }}&gt;Full brief: Project Guidebook · Deadline Schedule §4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0763250" y="2571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KICKOFF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CampusBites Starts Today</a:t>
            </a:r>
            <a:endParaRPr/>
          </a:p>
        </p:txBody>
      </p:sp>
      <p:pic>
        <p:nvPicPr>
          <p:cNvPr id="7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247900"/>
            <a:ext cx="5334000" cy="3429000"/>
          </a:xfrm>
          <a:prstGeom prst="rect">
            <a:avLst/>
          </a:prstGeom>
          <a:ln/>
        </p:spPr>
      </p:pic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6838950" y="226695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M0 — due Fri Sep 11 (pass / fail)</a:t>
            </a:r>
            <a:endParaRPr/>
          </a:p>
        </p:txBody>
      </p:sp>
      <p:sp>
        <p:nvSpPr>
          <p:cNvPr id="781" name=""/>
          <p:cNvSpPr/>
          <p:nvPr/>
        </p:nvSpPr>
        <p:spPr>
          <a:xfrm rot="0" flipH="0" flipV="0">
            <a:off x="6838950" y="25812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6991350" y="26955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2781300"/>
            <a:ext cx="171450" cy="171450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7448550" y="2705100"/>
            <a:ext cx="1876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7448550" y="288607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Name, roles, communication rules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6838950" y="32480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7" name=""/>
          <p:cNvSpPr/>
          <p:nvPr/>
        </p:nvSpPr>
        <p:spPr>
          <a:xfrm rot="0" flipH="0" flipV="0">
            <a:off x="6991350" y="33623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3448050"/>
            <a:ext cx="171450" cy="171450"/>
          </a:xfrm>
          <a:prstGeom prst="rect">
            <a:avLst/>
          </a:prstGeom>
          <a:ln/>
        </p:spPr>
      </p:pic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7448550" y="33718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48550" y="355282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Who cares about CampusBites</a:t>
            </a:r>
            <a:endParaRPr/>
          </a:p>
        </p:txBody>
      </p:sp>
      <p:sp>
        <p:nvSpPr>
          <p:cNvPr id="791" name=""/>
          <p:cNvSpPr/>
          <p:nvPr/>
        </p:nvSpPr>
        <p:spPr>
          <a:xfrm rot="0" flipH="0" flipV="0">
            <a:off x="6838950" y="39147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2" name=""/>
          <p:cNvSpPr/>
          <p:nvPr/>
        </p:nvSpPr>
        <p:spPr>
          <a:xfrm rot="0" flipH="0" flipV="0">
            <a:off x="6991350" y="4029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77075" y="4114800"/>
            <a:ext cx="171450" cy="171450"/>
          </a:xfrm>
          <a:prstGeom prst="rect">
            <a:avLst/>
          </a:prstGeom>
          <a:ln/>
        </p:spPr>
      </p:pic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48550" y="4038600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448550" y="4219575"/>
            <a:ext cx="1485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it does, for whom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838950" y="45815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991350" y="46958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77075" y="4781550"/>
            <a:ext cx="171450" cy="171450"/>
          </a:xfrm>
          <a:prstGeom prst="rect">
            <a:avLst/>
          </a:prstGeom>
          <a:ln/>
        </p:spPr>
      </p:pic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448550" y="47053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448550" y="48863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Create repo, invite klausren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6867525" y="5286375"/>
            <a:ext cx="4972050" cy="371475"/>
          </a:xfrm>
          <a:prstGeom prst="roundRect">
            <a:avLst>
              <a:gd name="adj" fmla="val 2307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02" name=""/>
          <p:cNvSpPr/>
          <p:nvPr/>
        </p:nvSpPr>
        <p:spPr>
          <a:xfrm rot="0" flipH="0" flipV="0">
            <a:off x="6867525" y="5286375"/>
            <a:ext cx="4972050" cy="371475"/>
          </a:xfrm>
          <a:custGeom>
            <a:pathLst>
              <a:path w="522" h="39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33"/>
                </a:lnTo>
                <a:cubicBezTo>
                  <a:pt x="3" y="36"/>
                  <a:pt x="5" y="38"/>
                  <a:pt x="8" y="39"/>
                </a:cubicBezTo>
                <a:cubicBezTo>
                  <a:pt x="3" y="38"/>
                  <a:pt x="0" y="34"/>
                  <a:pt x="0" y="30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019925" y="5391150"/>
            <a:ext cx="463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D9534F"/>
                </a:solidFill>
                <a:latin typeface="Microsoft YaHei"/>
                <a:ea typeface="Microsoft YaHei"/>
              </a:rPr>
              <a:t>2 teams × 3 students. You form them in this week's lab.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886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brief: Project Guidebook · Deadline Schedule §4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0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Objects&lt;br /&gt;Everywhere&lt;/Text&gt;&#10;      &lt;Box style={{ width: 64, height: 4, background: '#FFC107', marginTop: 26, marginBottom: 26 }} /&gt;&#10;      &lt;Box style={{ flexDirection: 'column', gap: 12 }}&gt;&#10;        {[&#10;          'From things in the world to things in code',&#10;          'State, behaviour, identity — the three parts',&#10;          'Class is the mould; object is what you pou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Everywhere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76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things in the world to things in code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State, behaviour, identity — the three parts</a:t>
            </a:r>
            <a:endParaRPr/>
          </a:p>
        </p:txBody>
      </p:sp>
      <p:sp>
        <p:nvSpPr>
          <p:cNvPr id="81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Class is the mould; object is what you pour</a:t>
            </a:r>
            <a:endParaRPr/>
          </a:p>
        </p:txBody>
      </p:sp>
      <p:sp>
        <p:nvSpPr>
          <p:cNvPr id="8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From Real Objects to Software Objects&lt;/Text&gt;&#10;  &lt;/Box&gt;&#10;  &lt;Box style={{ flex: 1, padding: '14px 40px 0 40px', flexDirection: 'row', gap: 26 }}&gt;&#10;    &lt;Box style={{ flex: 5, justifyContent: 'center', alignItems: 'center' }}&gt;&#10;      &lt;svg width={580} height={340} viewBox='0 0 580 340'&gt;&#10;        &lt;text x='140' y='30' textAnchor='middle' fill='#8B97A8' fontSize='15' letterSpacing='1'&gt;IN THE WORLD&lt;/text&gt;&#10;        &lt;text x='440' y='30' textAnchor='middle' fill='#8B97A8' fontSize='15' letterSpacing='1'&gt;IN CODE&lt;/text&gt;&#10;        &lt;rect x='30' y='48' width='220' height='52' rx='10' fill='#E8EFF8' stroke='#3D7BD9' strokeWidth='2' /&gt;&#10;        &lt;text x='140' y='80' textAnchor='middle' fill='#1A2230' fontSize='17'&gt;A real order on a tray&lt;/text&gt;&#10;        &lt;rect x='30' y='112' width='220' height='52' rx='10' fill='#E8EFF8' stroke='#3D7BD9' strokeWidth='2' /&gt;&#10;        &lt;text x='140' y='144' textAnchor='middle' fill='#1A2230' fontSize='17'&gt;Its items, its total&lt;/text&gt;&#10;        &lt;rect x='30' y='176' width='220' height='52' rx='10' fill='#E8EFF8' stroke='#3D7BD9' strokeWidth='2' /&gt;&#10;        &lt;text x='140' y='208' textAnchor='middle' fill='#1A2230' fontSize='17'&gt;It can be paid, cancelled&lt;/text&gt;&#10;        &lt;rect x='30' y='240' width='220' height='52' rx='10' fill='#E8EFF8' stroke='#3D7BD9' strokeWidth='2' /&gt;&#10;        &lt;text x='140' y='272' textAnchor='middle' fill='#1A2230' fontSize='17'&gt;This order, not that one&lt;/text&gt;&#10;        &lt;line x1='256' y1='74' x2='324' y2='74' stroke='#3D7BD9' strokeWidth='2' markerEnd='url(#arrow08)' /&gt;&#10;        &lt;line x1='256' y1='138' x2='324' y2='138' stroke='#3D7BD9' strokeWidth='2' markerEnd='url(#arrow08)' /&gt;&#10;        &lt;line x1='256' y1='202' x2='324' y2='202' stroke='#3D7BD9' strokeWidth='2' markerEnd='url(#arrow08)' /&gt;&#10;        &lt;line x1='256' y1='266' x2='324' y2='266' stroke='#3D7BD9' strokeWidth='2' markerEnd='url(#arrow08)' /&gt;&#10;        &lt;rect x='330' y='48' width='220' height='52' rx='10' fill='#F0F5FC' stroke='#1E4FA8' strokeWidth='2' /&gt;&#10;        &lt;text x='440' y='80' textAnchor='middle' fill='#0E3F8C' fontSize='17' fontWeight='bold'&gt;Order order = new Order();&lt;/text&gt;&#10;        &lt;rect x='330' y='112' width='220' height='52' rx='10' fill='#F0F5FC' stroke='#1E4FA8' strokeWidth='2' /&gt;&#10;        &lt;text x='440' y='144' textAnchor='middle' fill='#0E3F8C' fontSize='17' fontWeight='bold'&gt;fields: lines, status&lt;/text&gt;&#10;        &lt;rect x='330' y='176' width='220' height='52' rx='10' fill='#F0F5FC' stroke='#1E4FA8' strokeWidth='2' /&gt;&#10;        &lt;text x='440' y='208' textAnchor='middle' fill='#0E3F8C' fontSize='17' fontWeight='bold'&gt;methods: pay(), cancel()&lt;/text&gt;&#10;        &lt;rect x='330' y='240' width='220' height='52' rx='10' fill='#F0F5FC' stroke='#1E4FA8' strokeWidth='2' /&gt;&#10;        &lt;text x='440' y='272' textAnchor='middle' fill='#0E3F8C' fontSize='17' fontWeight='bold'&gt;a distinct reference&lt;/text&gt;&#10;        &lt;defs&gt;&#10;          &lt;marker id='arrow08' markerWidth='9' markerHeight='9' refX='8' refY='4.5' orient='auto'&gt;&#10;            &lt;path d='M0,0 L9,4.5 L0,9 z' fill='#3D7BD9' /&gt;&#10;          &lt;/marker&gt;&#10;        &lt;/defs&gt;&#10;        &lt;text x='290' y='322' textAnchor='middle' fill='#4A5568' fontSize='15'&gt;Attributes become fields. Things it can do become methods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7, fontWeight: 'bold', color: '#0E3F8C', lineHeight: 1.4 }}&gt;We model the part of the world the system cares about.&lt;/Text&gt;&#10;      &lt;/Box&gt;&#10;      &lt;Box style={{ padding: '18px 20px', background: '#F7F9FC', borderRadius: 10, border: '1px solid #E5E7EB' }}&gt;&#10;        &lt;Text style={{ fontSize: 16, color: '#4A5568', lineHeight: 1.55 }}&gt;A customer has a name, a phone and a dorm — but CampusBites only stores what the delivery needs.&lt;/Text&gt;&#10;      &lt;/Box&gt;&#10;      &lt;Box style={{ padding: '18px 20px', background: '#FDF3F3', borderRadius: 10, borderLeft: '4px solid #D9534F' }}&gt;&#10;        &lt;Text style={{ fontSize: 16, color: '#4A5568', lineHeight: 1.55 }}&gt;&lt;Text style={{ fontWeight: 'bold', color: '#D9534F' }}&gt;Choosing what to leave out&lt;/Text&gt; is the analyst's first real decision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Real Objects to Software Objects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3900" y="2333625"/>
            <a:ext cx="5524500" cy="3238500"/>
          </a:xfrm>
          <a:prstGeom prst="rect">
            <a:avLst/>
          </a:prstGeom>
          <a:ln/>
        </p:spPr>
      </p:pic>
      <p:sp>
        <p:nvSpPr>
          <p:cNvPr id="827" name=""/>
          <p:cNvSpPr/>
          <p:nvPr/>
        </p:nvSpPr>
        <p:spPr>
          <a:xfrm rot="0" flipH="0" flipV="0">
            <a:off x="6877050" y="2752725"/>
            <a:ext cx="4972050" cy="619125"/>
          </a:xfrm>
          <a:prstGeom prst="roundRect">
            <a:avLst>
              <a:gd name="adj" fmla="val 1538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8" name=""/>
          <p:cNvSpPr/>
          <p:nvPr/>
        </p:nvSpPr>
        <p:spPr>
          <a:xfrm rot="0" flipH="0" flipV="0">
            <a:off x="6877050" y="2752725"/>
            <a:ext cx="4972050" cy="619125"/>
          </a:xfrm>
          <a:custGeom>
            <a:pathLst>
              <a:path w="522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7067550" y="29241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We model the part of the world the system cares about.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6838950" y="3486150"/>
            <a:ext cx="4972050" cy="914400"/>
          </a:xfrm>
          <a:prstGeom prst="roundRect">
            <a:avLst>
              <a:gd name="adj" fmla="val 104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7029450" y="3657600"/>
            <a:ext cx="45910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customer has a name, a phone and a dorm — but CampusBites only stores what the delivery needs.</a:t>
            </a:r>
            <a:endParaRPr/>
          </a:p>
        </p:txBody>
      </p:sp>
      <p:sp>
        <p:nvSpPr>
          <p:cNvPr id="832" name=""/>
          <p:cNvSpPr/>
          <p:nvPr/>
        </p:nvSpPr>
        <p:spPr>
          <a:xfrm rot="0" flipH="0" flipV="0">
            <a:off x="6877050" y="4514850"/>
            <a:ext cx="4972050" cy="628650"/>
          </a:xfrm>
          <a:prstGeom prst="roundRect">
            <a:avLst>
              <a:gd name="adj" fmla="val 1515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6877050" y="4514850"/>
            <a:ext cx="4972050" cy="628650"/>
          </a:xfrm>
          <a:custGeom>
            <a:pathLst>
              <a:path w="522" h="6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0"/>
                </a:lnTo>
                <a:cubicBezTo>
                  <a:pt x="4" y="63"/>
                  <a:pt x="6" y="65"/>
                  <a:pt x="9" y="66"/>
                </a:cubicBezTo>
                <a:cubicBezTo>
                  <a:pt x="4" y="65"/>
                  <a:pt x="0" y="61"/>
                  <a:pt x="0" y="5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7067550" y="4686300"/>
            <a:ext cx="455295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Choosing what to leave out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is the analyst's first real decision.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37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natomy of an Object&lt;/Text&gt;&#10;    &lt;Text style={{ fontSize: 14, color: '#1E4FA8', fontWeight: 'bold' }}&gt;09 / 38&lt;/Text&gt;&#10;  &lt;/Box&gt;&#10;  &lt;Box style={{ flex: 1, padding: '8px 40px 0 40px', justifyContent: 'center', alignItems: 'center' }}&gt;&#10;    &lt;svg width={1180} height={430} viewBox='0 0 1180 430'&gt;&#10;      &lt;rect x='60' y='40' width='470' height='80' rx='8' fill='#0E3F8C' /&gt;&#10;      &lt;text x='295' y='76' textAnchor='middle' fill='#FFFFFF' fontSize='26' fontWeight='bold'&gt;Order #A-1024&lt;/text&gt;&#10;      &lt;text x='295' y='104' textAnchor='middle' fill='#FFC107' fontSize='16'&gt;identity — this order, not another&lt;/text&gt;&#10;      &lt;rect x='60' y='120' width='470' height='132' rx='8' fill='#E8EFF8' stroke='#3D7BD9' strokeWidth='2' /&gt;&#10;      &lt;text x='82' y='150' fill='#0E3F8C' fontSize='17' fontWeight='bold'&gt;state&lt;/text&gt;&#10;      &lt;text x='82' y='178' fill='#1A2230' fontSize='16'&gt;lines: List&amp;amp;lt;OrderLine&amp;amp;gt;&lt;/text&gt;&#10;      &lt;text x='82' y='204' fill='#1A2230' fontSize='16'&gt;status: OrderStatus&lt;/text&gt;&#10;      &lt;text x='82' y='230' fill='#1A2230' fontSize='16'&gt;placedAt: LocalDateTime&lt;/text&gt;&#10;      &lt;rect x='60' y='252' width='470' height='132' rx='8' fill='#F0F5FC' stroke='#1E4FA8' strokeWidth='2' /&gt;&#10;      &lt;text x='82' y='282' fill='#0E3F8C' fontSize='17' fontWeight='bold'&gt;behaviour&lt;/text&gt;&#10;      &lt;text x='82' y='310' fill='#1A2230' fontSize='16'&gt;addItem(item, qty)&lt;/text&gt;&#10;      &lt;text x='82' y='336' fill='#1A2230' fontSize='16'&gt;pay(method)&lt;/text&gt;&#10;      &lt;text x='82' y='362' fill='#1A2230' fontSize='16'&gt;cancel(reason)&lt;/text&gt;&#10;      &lt;rect x='640' y='40' width='470' height='86' rx='12' fill='#F7F9FC' stroke='#D6DCE5' strokeWidth='1' /&gt;&#10;      &lt;text x='668' y='76' fill='#0E3F8C' fontSize='20' fontWeight='bold'&gt;Identity&lt;/text&gt;&#10;      &lt;text x='668' y='106' fill='#4A5568' fontSize='16'&gt;Two objects with identical state are still two objects.&lt;/text&gt;&#10;      &lt;rect x='640' y='142' width='470' height='86' rx='12' fill='#F7F9FC' stroke='#D6DCE5' strokeWidth='1' /&gt;&#10;      &lt;text x='668' y='178' fill='#0E3F8C' fontSize='20' fontWeight='bold'&gt;State&lt;/text&gt;&#10;      &lt;text x='668' y='208' fill='#4A5568' fontSize='16'&gt;What the object remembers right now.&lt;/text&gt;&#10;      &lt;rect x='640' y='244' width='470' height='86' rx='12' fill='#F7F9FC' stroke='#D6DCE5' strokeWidth='1' /&gt;&#10;      &lt;text x='668' y='280' fill='#0E3F8C' fontSize='20' fontWeight='bold'&gt;Behaviour&lt;/text&gt;&#10;      &lt;text x='668' y='310' fill='#4A5568' fontSize='16'&gt;What the object can be asked to do.&lt;/text&gt;&#10;      &lt;rect x='640' y='346' width='470' height='38' rx='10' fill='#0E3F8C' /&gt;&#10;      &lt;text x='875' y='372' textAnchor='middle' fill='#FFC107' fontSize='16' fontWeight='bold'&gt;This three-part box is a UML class. Week 03.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tate alone is a data record. State plus behaviour is an objec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35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Anatomy of an Object</a:t>
            </a:r>
            <a:endParaRPr/>
          </a:p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14475"/>
            <a:ext cx="11239500" cy="4095750"/>
          </a:xfrm>
          <a:prstGeom prst="rect">
            <a:avLst/>
          </a:prstGeom>
          <a:ln/>
        </p:spPr>
      </p:pic>
      <p:sp>
        <p:nvSpPr>
          <p:cNvPr id="842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3571875" y="6486525"/>
            <a:ext cx="5057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State alone is a data record. State plus behaviour is an object.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Objects vs. Classes&lt;/Text&gt;&#10;  &lt;/Box&gt;&#10;  &lt;Box style={{ flex: 1, padding: '18px 40px 0 40px', flexDirection: 'row', gap: 28 }}&gt;&#10;    &lt;Box style={{ flex: 3, flexDirection: 'column', gap: 14, justifyContent: 'center' }}&gt;&#10;      &lt;Box style={{ padding: '20px 22px', background: '#E8EFF8', borderRadius: 12, borderLeft: '4px solid #0E3F8C' }}&gt;&#10;        &lt;Text style={{ fontSize: 19, fontWeight: 'bold', color: '#0E3F8C', marginBottom: 6 }}&gt;Class — the mould&lt;/Text&gt;&#10;        &lt;Text style={{ fontSize: 16, color: '#4A5568', lineHeight: 1.5 }}&gt;Written once. Declares what fields and methods every instance will have. Lives in source code.&lt;/Text&gt;&#10;      &lt;/Box&gt;&#10;      &lt;Box style={{ padding: '20px 22px', background: '#F0F5FC', borderRadius: 12, borderLeft: '4px solid #3D7BD9' }}&gt;&#10;        &lt;Text style={{ fontSize: 19, fontWeight: 'bold', color: '#0E3F8C', marginBottom: 6 }}&gt;Object — what you pour&lt;/Text&gt;&#10;        &lt;Text style={{ fontSize: 16, color: '#4A5568', lineHeight: 1.5 }}&gt;Created at runtime, many times over. Each one owns its own state, shares the same behaviour.&lt;/Text&gt;&#10;      &lt;/Box&gt;&#10;      &lt;Box style={{ padding: '14px 18px', background: '#FFFFFF', borderRadius: 10, border: '1px dashed #D6DCE5' }}&gt;&#10;        &lt;Text style={{ fontSize: 15, color: '#8B97A8', lineHeight: 1.5 }}&gt;One &lt;Text style={{ fontWeight: 'bold', color: '#1A2230' }}&gt;Order&lt;/Text&gt; class. Thousands of orders at lunchtime.&lt;/Text&gt;&#10;      &lt;/Box&gt;&#10;    &lt;/Box&gt;&#10;    &lt;Box style={{ flex: 2, padding: '28px 26px', background: '#0E3F8C', borderRadius: 12, flexDirection: 'column', justifyContent: 'center', gap: 16 }}&gt;&#10;      &lt;FAIcon name='layer-group' style={{ fill: '#FFC107', width: 34, height: 34 }} /&gt;&#10;      &lt;Text style={{ fontSize: 22, fontWeight: 'bold', color: '#FFFFFF', lineHeight: 1.35 }}&gt;A class is a blueprint. An object is a house.&lt;/Text&gt;&#10;      &lt;Text style={{ fontSize: 16, color: '#C5D4EA', lineHeight: 1.55 }}&gt;The blueprint is not the house — you cannot cook in it. But every house built from it has the same rooms.&lt;/Text&gt;&#10;      &lt;Box style={{ padding: '12px 16px', background: '#1E4FA8', borderRadius: 8 }}&gt;&#10;        &lt;Text style={{ fontSize: 15, color: '#B9CDF0', lineHeight: 1.45 }}&gt;In analysis we mostly draw &lt;Text style={{ fontWeight: 'bold', color: '#FFFFFF' }}&gt;classes&lt;/Text&gt;. At runtime the system is full of &lt;Text style={{ fontWeight: 'bold', color: '#FFFFFF' }}&gt;objects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Objects vs. Classes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419100" y="2362200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419100" y="2362200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28650" y="2552700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Class — the mould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28650" y="2828925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Written once. Declares what fields and methods every instance will have. Lives in source code.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419100" y="3705225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" name=""/>
          <p:cNvSpPr/>
          <p:nvPr/>
        </p:nvSpPr>
        <p:spPr>
          <a:xfrm rot="0" flipH="0" flipV="0">
            <a:off x="419100" y="3705225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28650" y="3895725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 — what you pour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28650" y="4171950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Created at runtime, many times over. Each one owns its own state, shares the same behaviour.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381000" y="5048250"/>
            <a:ext cx="6696075" cy="523875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52450" y="5181600"/>
            <a:ext cx="63531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One 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class. Thousands of orders at lunchtime.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343775" y="1457325"/>
            <a:ext cx="4467225" cy="50196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91425" y="2581275"/>
            <a:ext cx="323850" cy="3238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591425" y="3057525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class is a blueprint. An object is a house.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591425" y="3895725"/>
            <a:ext cx="39719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blueprint is not the house — you cannot cook in it. But every house built from it has the same rooms.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591425" y="4619625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743825" y="4733925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In analysis we mostly draw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classes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 At runtime the system is full of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objects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Three Objects in CampusBites&lt;/Text&gt;&#10;  &lt;/Box&gt;&#10;  &lt;Box style={{ flex: 1, padding: '22px 40px 0 40px', flexDirection: 'row', gap: 24, alignItems: 'stretch' }}&gt;&#10;    {[&#10;      { icon: 'receipt', name: 'Order', state: 'lines, status, total', behav: 'addItem(), pay(), cancel()' },&#10;      { icon: 'book-open', name: 'MenuItem', state: 'name, price, available', behav: 'applyDiscount(), markSoldOut()' },&#10;      { icon: 'motorcycle', name: 'Rider', state: 'location, onDuty, load', behav: 'acceptDelivery(), reportArrival()' },&#10;    ].map((c) =&gt; (&#10;      &lt;Box key={c.name} style={{ flex: 1, padding: '24px 22px', background: '#F7F9FC', borderRadius: 12, border: '1px solid #E5E7EB', flexDirection: 'column', gap: 12 }}&gt;&#10;        &lt;Box style={{ flexDirection: 'row', alignItems: 'center', gap: 12 }}&gt;&#10;          &lt;Box style={{ width: 48, height: 48, borderRadius: 10, background: '#1E4FA8', justifyContent: 'center', alignItems: 'center' }}&gt;&#10;            &lt;FAIcon name={c.icon} style={{ fill: '#FFFFFF', width: 24, height: 24 }} /&gt;&#10;          &lt;/Box&gt;&#10;          &lt;Text style={{ fontSize: 24, fontWeight: 'bold', color: '#0E3F8C' }}&gt;{c.name}&lt;/Text&gt;&#10;        &lt;/Box&gt;&#10;        &lt;Box style={{ padding: '12px 14px', background: '#E8EFF8', borderRadius: 8 }}&gt;&#10;          &lt;Text style={{ fontSize: 13, color: '#3D7BD9', fontWeight: 'bold', letterSpacing: 1 }}&gt;STATE&lt;/Text&gt;&#10;          &lt;Text style={{ fontSize: 15, color: '#1A2230', marginTop: 5 }}&gt;{c.state}&lt;/Text&gt;&#10;        &lt;/Box&gt;&#10;        &lt;Box style={{ padding: '12px 14px', background: '#F0F5FC', borderRadius: 8 }}&gt;&#10;          &lt;Text style={{ fontSize: 13, color: '#1E4FA8', fontWeight: 'bold', letterSpacing: 1 }}&gt;BEHAVIOUR&lt;/Text&gt;&#10;          &lt;Text style={{ fontSize: 15, color: '#1A2230', marginTop: 5 }}&gt;{c.behav}&lt;/Text&gt;&#10;        &lt;/Box&gt;&#10;      &lt;/Box&gt;&#10;    ))}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Notice: behaviour sits with the object that owns the data. That is not an accident — it is the whole point.&lt;/Text&gt;&#10;    &lt;Text style={{ fontSize: 14, color: '#1E4FA8', fontWeight: 'bold', marginLeft: 'auto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Three Objects in CampusBites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5905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4850" y="1838325"/>
            <a:ext cx="228600" cy="228600"/>
          </a:xfrm>
          <a:prstGeom prst="rect">
            <a:avLst/>
          </a:prstGeom>
          <a:ln/>
        </p:spPr>
      </p:pic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62050" y="1819275"/>
            <a:ext cx="6286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5905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239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239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lines, status, total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5905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239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addItem(), pay(), cancel()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42672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44767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91050" y="1838325"/>
            <a:ext cx="228600" cy="22860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048250" y="1819275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4767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46101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6101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name, price, available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4767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46101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46101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applyDiscount(), markSoldOut()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81534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83629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1838325"/>
            <a:ext cx="228600" cy="2286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8934450" y="1819275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Rider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3629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4963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4963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location, onDuty, load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83629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4963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4963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acceptDelivery(), reportArrival()</a:t>
            </a:r>
            <a:endParaRPr/>
          </a:p>
        </p:txBody>
      </p:sp>
      <p:pic>
        <p:nvPicPr>
          <p:cNvPr id="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7391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Notice: behaviour sits with the object that owns the data. That is not an accident — it is the whole point.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7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Encapsulation&lt;/Text&gt;&#10;      &lt;Box style={{ width: 64, height: 4, background: '#FFC107', marginTop: 26, marginBottom: 26 }} /&gt;&#10;      &lt;Box style={{ flexDirection: 'column', gap: 12 }}&gt;&#10;        {[&#10;          'Hide the state; expose the behaviour',&#10;          'Private fields, guarded public methods',&#10;          'Why hiding state protects your rul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Hide the state; expose the behaviour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238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Private fields, guarded public methods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028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hiding state protects your rules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4, fontWeight: 'bold', color: '#0E3F8C' }}&gt;What Encapsulation Means&lt;/Text&gt;&#10;  &lt;/Box&gt;&#10;  &lt;Box style={{ flex: 1, padding: '20px 40px 0 40px', flexDirection: 'row', gap: 28 }}&gt;&#10;    &lt;Box style={{ flex: 1, flexDirection: 'column', gap: 12, justifyContent: 'center' }}&gt;&#10;      {[&#10;        ['shield-alt', 'Information hiding', 'The object keeps its data private and decides for itself how that data changes.'],&#10;        ['door-closed', 'A public interface', 'Only a small set of methods is visible from outside — the object\'s contract.'],&#10;        ['exchange-alt', 'Change without breaking', 'Internals can be rewritten as long as the public methods behave the same.'],&#10;      ].map(([icon, t, d]) =&gt; (&#10;        &lt;Box key={t} style={{ flexDirection: 'row', gap: 14, alignItems: 'flex-start', padding: '16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: 1, flexDirection: 'column', gap: 4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width: 340, padding: '28px 26px', background: '#0E3F8C', borderRadius: 12, flexDirection: 'column', justifyContent: 'center', gap: 14 }}&gt;&#10;      &lt;Text style={{ fontSize: 16, color: '#7FA2D6', letterSpacing: 1 }}&gt;IN ONE SENTENCE&lt;/Text&gt;&#10;      &lt;Text style={{ fontSize: 24, fontWeight: 'bold', color: '#FFFFFF', lineHeight: 1.35 }}&gt;Tell an object what to do. Never reach in and do it for it.&lt;/Text&gt;&#10;      &lt;Box style={{ width: 48, height: 4, background: '#FFC107' }} /&gt;&#10;      &lt;Text style={{ fontSize: 16, color: '#C5D4EA', lineHeight: 1.55 }}&gt;This is the &quot;tell, don't ask&quot; rule. It is the seed of almost every design principle we meet later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Encapsulation Means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264795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552450" y="28003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2905125"/>
            <a:ext cx="209550" cy="209550"/>
          </a:xfrm>
          <a:prstGeom prst="rect">
            <a:avLst/>
          </a:prstGeom>
          <a:ln/>
        </p:spPr>
      </p:pic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04900" y="280035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Information hiding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04900" y="304800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object keeps its data private and decides for itself how that data changes.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81000" y="3571875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552450" y="37242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7225" y="3829050"/>
            <a:ext cx="209550" cy="209550"/>
          </a:xfrm>
          <a:prstGeom prst="rect">
            <a:avLst/>
          </a:prstGeom>
          <a:ln/>
        </p:spPr>
      </p:pic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04900" y="3724275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A public interface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04900" y="3971925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Only a small set of methods is visible from outside — the object's contract.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381000" y="449580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552450" y="46482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7225" y="4752975"/>
            <a:ext cx="209550" cy="209550"/>
          </a:xfrm>
          <a:prstGeom prst="rect">
            <a:avLst/>
          </a:prstGeom>
          <a:ln/>
        </p:spPr>
      </p:pic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104900" y="464820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Change without breaking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4900" y="489585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Internals can be rewritten as long as the public methods behave the same.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8572500" y="1476375"/>
            <a:ext cx="3238500" cy="5000625"/>
          </a:xfrm>
          <a:prstGeom prst="roundRect">
            <a:avLst>
              <a:gd name="adj" fmla="val 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820150" y="2676525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IN ONE SENTENCE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820150" y="3000375"/>
            <a:ext cx="2743200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Tell an object what to do. Never reach in and do it for it.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8820150" y="424815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8820150" y="4419600"/>
            <a:ext cx="27432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This is the "tell, don't ask" rule. It is the seed of almost every design principle we meet later.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Encapsulation in Java&lt;/Text&gt;&#10;  &lt;/Box&gt;&#10;  &lt;Box style={{ flex: 1, padding: '16px 40px 0 40px', flexDirection: 'row', gap: 26 }}&gt;&#10;    &lt;Box style={{ flex: 3, justifyContent: 'center' }}&gt;&#10;      &lt;CodeBlock code={`public class Order {&#10;    private final List lines = new ArrayList();&#10;    private OrderStatus status = OrderStatus.DRAFT;&#10;&#10;    public void addItem(MenuItem item, int qty) {&#10;        if (status != OrderStatus.DRAFT) {&#10;            throw new IllegalStateException(&#10;                &quot;Order already placed&quot;);&#10;        }&#10;        lines.add(new OrderLine(item, qty));&#10;    }&#10;&#10;    public Money total() {&#10;        Money sum = Money.ZERO;&#10;        for (OrderLine l : lines) {&#10;            sum = sum.plus(l.subtotal());&#10;        }&#10;        return sum;&#10;    }&#10;}`} language='java' width={580} fontSize={13} /&gt;&#10;    &lt;/Box&gt;&#10;    &lt;Box style={{ flex: 2, flexDirection: 'column', gap: 11, justifyContent: 'center' }}&gt;&#10;      {[&#10;        ['lock', 'private fields', 'Nobody outside can set status to a nonsense value.'],&#10;        ['user-check', 'guarded method', 'addItem() refuses once the order is placed.'],&#10;        ['calculator', 'computed, not stored', 'total() is derived — there is no stale copy to drift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9, height: 19 }} /&gt;&#10;          &lt;/Box&gt;&#10;          &lt;Box style={{ flex: 1, flexDirection: 'column', gap: 2 }}&gt;&#10;            &lt;Text style={{ fontSize: 16, fontWeight: 'bold', color: '#0E3F8C' }}&gt;{t}&lt;/Text&gt;&#10;            &lt;Text style={{ fontSize: 14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Generic types omitted for slide width; your lab code uses List&amp;lt;OrderLine&amp;gt;.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Encapsulation in Java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7334250" y="27622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7486650" y="2895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81900" y="2990850"/>
            <a:ext cx="180975" cy="180975"/>
          </a:xfrm>
          <a:prstGeom prst="rect">
            <a:avLst/>
          </a:prstGeom>
          <a:ln/>
        </p:spPr>
      </p:pic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962900" y="28956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private fields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7962900" y="31051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Nobody outside can set status to a nonsense value.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7334250" y="358140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7486650" y="3714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81900" y="3810000"/>
            <a:ext cx="180975" cy="180975"/>
          </a:xfrm>
          <a:prstGeom prst="rect">
            <a:avLst/>
          </a:prstGeom>
          <a:ln/>
        </p:spPr>
      </p:pic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7962900" y="371475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guarded method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962900" y="392430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addItem() refuses once the order is placed.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7334250" y="44005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7486650" y="4533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81900" y="4629150"/>
            <a:ext cx="180975" cy="180975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962900" y="45339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computed, not stored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962900" y="47434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total() is derived — there is no stale copy to drift.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Generic types omitted for slide width; your lab code uses List&lt;OrderLine&gt;.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81000" y="1724025"/>
            <a:ext cx="6705600" cy="4429125"/>
          </a:xfrm>
          <a:prstGeom prst="roundRect">
            <a:avLst>
              <a:gd name="adj" fmla="val 172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44" name=""/>
          <p:cNvSpPr txBox="1"/>
          <p:nvPr/>
        </p:nvSpPr>
        <p:spPr>
          <a:xfrm rot="0" flipH="0" flipV="0">
            <a:off x="533400" y="1857375"/>
            <a:ext cx="6400800" cy="4162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final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List lines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ArrayList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OrderStatus status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OrderStatus.DRAFT;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addItem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(MenuItem </a:t>
            </a:r>
            <a:r>
              <a:rPr sz="975">
                <a:solidFill>
                  <a:srgbClr val="E36209"/>
                </a:solidFill>
                <a:latin typeface="Menlo"/>
                <a:ea typeface="Menlo"/>
              </a:rPr>
              <a:t>item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,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int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E36209"/>
                </a:solidFill>
                <a:latin typeface="Menlo"/>
                <a:ea typeface="Menlo"/>
              </a:rPr>
              <a:t>qty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(status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!=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OrderStatus.DRAFT)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IllegalStateException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        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"Order already placed"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lines.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add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OrderLine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(item, qty));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Money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Money sum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Money.ZERO;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for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(OrderLine l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lines)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    sum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sum.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plus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(l.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subtotal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sum;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The Getter / Setter Debate&lt;/Text&gt;&#10;  &lt;/Box&gt;&#10;  &lt;Box style={{ flex: 1, padding: '16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Expose the fields — every caller re-implements the rule&lt;/Text&gt;&#10;        &lt;/Box&gt;&#10;        &lt;CodeBlock code={`public class Order {&#10;    public List lines;&#10;    public OrderStatus status;&#10;}&#10;&#10;// caller must know the rule — every time&#10;if (order.status == OrderStatus.DRAFT) {&#10;    order.lines.add(new OrderLine(item, qty));&#10;}&#10;// one caller forgets the check.&#10;// now the order is wrong.`} language='java' width={520} fontSize={12} /&gt;&#10;      &lt;/Box&gt;&#10;    &lt;/Box&gt;&#10;    &lt;Box style={{ flex: 2, flexDirection: 'column', gap: 12 }}&gt;&#10;      &lt;Box style={{ padding: '16px 18px', background: '#F0F5FC', borderRadius: 12, border: '1px solid #3D7BD9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Ask the object — the rule has one home&lt;/Text&gt;&#10;        &lt;/Box&gt;&#10;        &lt;CodeBlock code={`// the rule lives with the data&#10;order.addItem(item, qty);`} language='java' width={330} fontSize={12} /&gt;&#10;      &lt;/Box&gt;&#10;      &lt;Box style={{ flex: 1, padding: '20px 22px', background: '#0E3F8C', borderRadius: 12, flexDirection: 'column', justifyContent: 'center', gap: 12 }}&gt;&#10;        &lt;Text style={{ fontSize: 20, fontWeight: 'bold', color: '#FFFFFF', lineHeight: 1.35 }}&gt;A getter for everything is just public fields with extra steps.&lt;/Text&gt;&#10;        &lt;Text style={{ fontSize: 15, color: '#C5D4EA', lineHeight: 1.5 }}&gt;Ask what the object should &lt;Text style={{ fontWeight: 'bold', color: '#FFC107' }}&gt;do&lt;/Text&gt;, not what it should &lt;Text style={{ fontWeight: 'bold', color: '#FFC107' }}&gt;reveal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Getters for reporting are fine. Getters that let callers enforce rules are not.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Getter / Setter Debate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381000" y="1400175"/>
            <a:ext cx="6705600" cy="5076825"/>
          </a:xfrm>
          <a:prstGeom prst="roundRect">
            <a:avLst>
              <a:gd name="adj" fmla="val 225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1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52575"/>
            <a:ext cx="190500" cy="190500"/>
          </a:xfrm>
          <a:prstGeom prst="rect">
            <a:avLst/>
          </a:prstGeom>
          <a:ln/>
        </p:spPr>
      </p:pic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38200" y="15525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Expose the fields — every caller re-implements the rule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7334250" y="1400175"/>
            <a:ext cx="4476750" cy="1228725"/>
          </a:xfrm>
          <a:prstGeom prst="roundRect">
            <a:avLst>
              <a:gd name="adj" fmla="val 9302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1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05700" y="1552575"/>
            <a:ext cx="190500" cy="190500"/>
          </a:xfrm>
          <a:prstGeom prst="rect">
            <a:avLst/>
          </a:prstGeom>
          <a:ln/>
        </p:spPr>
      </p:pic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7791450" y="155257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Ask the object — the rule has one home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7334250" y="2743200"/>
            <a:ext cx="4476750" cy="3733800"/>
          </a:xfrm>
          <a:prstGeom prst="roundRect">
            <a:avLst>
              <a:gd name="adj" fmla="val 306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543800" y="4114800"/>
            <a:ext cx="405765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getter for everything is just public fields with extra steps.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543800" y="484822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Ask what the object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do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, not what it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reveal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38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Getters for reporting are fine. Getters that let callers enforce rules are not.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552450" y="1819275"/>
            <a:ext cx="6362700" cy="238125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3" name=""/>
          <p:cNvSpPr txBox="1"/>
          <p:nvPr/>
        </p:nvSpPr>
        <p:spPr>
          <a:xfrm rot="0" flipH="0" flipV="0">
            <a:off x="704850" y="1952625"/>
            <a:ext cx="6057900" cy="2114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List lines;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OrderStatus status;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caller must know the rule — every time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(order.status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==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OrderStatus.DRAFT)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order.lines.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OrderLine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(item, qty));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one caller forgets the check.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now the order is wrong.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7505700" y="1819275"/>
            <a:ext cx="4133850" cy="657225"/>
          </a:xfrm>
          <a:prstGeom prst="roundRect">
            <a:avLst>
              <a:gd name="adj" fmla="val 11594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5" name=""/>
          <p:cNvSpPr txBox="1"/>
          <p:nvPr/>
        </p:nvSpPr>
        <p:spPr>
          <a:xfrm rot="0" flipH="0" flipV="0">
            <a:off x="7658100" y="1952625"/>
            <a:ext cx="38290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the rule lives with the data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addItem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(item, qty);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2, fontWeight: 'bold', color: '#0E3F8C' }}&gt;Why Hiding State Matters&lt;/Text&gt;&#10;  &lt;/Box&gt;&#10;  &lt;Box style={{ flex: 1, padding: '14px 40px 0 40px', flexDirection: 'row', gap: 26 }}&gt;&#10;    &lt;Box style={{ flex: 5, justifyContent: 'center', alignItems: 'center' }}&gt;&#10;      &lt;svg width={600} height={340} viewBox='0 0 600 340'&gt;&#10;        &lt;text x='300' y='26' textAnchor='middle' fill='#0E3F8C' fontSize='19' fontWeight='bold'&gt;An invariant the object must protect&lt;/text&gt;&#10;        &lt;text x='300' y='52' textAnchor='middle' fill='#8B97A8' fontSize='15'&gt;&quot;A placed order can no longer accept new items.&quot;&lt;/text&gt;&#10;        &lt;rect x='30' y='78' width='250' height='118' rx='12' fill='#FDF3F3' stroke='#D9534F' strokeWidth='2' /&gt;&#10;        &lt;text x='155' y='108' textAnchor='middle' fill='#D9534F' fontSize='17' fontWeight='bold'&gt;public fields&lt;/text&gt;&#10;        &lt;text x='155' y='136' textAnchor='middle' fill='#4A5568' fontSize='14'&gt;order.status = PLACED;&lt;/text&gt;&#10;        &lt;text x='155' y='158' textAnchor='middle' fill='#4A5568' fontSize='14'&gt;order.lines.add(...)&lt;/text&gt;&#10;        &lt;text x='155' y='184' textAnchor='middle' fill='#D9534F' fontSize='14' fontWeight='bold'&gt;invariant broken&lt;/text&gt;&#10;        &lt;rect x='320' y='78' width='250' height='118' rx='12' fill='#E8EFF8' stroke='#1E4FA8' strokeWidth='2' /&gt;&#10;        &lt;text x='445' y='108' textAnchor='middle' fill='#0E3F8C' fontSize='17' fontWeight='bold'&gt;private + guard&lt;/text&gt;&#10;        &lt;text x='445' y='136' textAnchor='middle' fill='#4A5568' fontSize='14'&gt;order.addItem(...)&lt;/text&gt;&#10;        &lt;text x='445' y='158' textAnchor='middle' fill='#4A5568' fontSize='14'&gt;→ IllegalStateException&lt;/text&gt;&#10;        &lt;text x='445' y='184' textAnchor='middle' fill='#1E4FA8' fontSize='14' fontWeight='bold'&gt;invariant held&lt;/text&gt;&#10;        &lt;line x1='155' y1='196' x2='155' y2='228' stroke='#D9534F' strokeWidth='2' /&gt;&#10;        &lt;line x1='445' y1='196' x2='445' y2='228' stroke='#1E4FA8' strokeWidth='2' /&gt;&#10;        &lt;rect x='30' y='228' width='540' height='86' rx='12' fill='#0E3F8C' /&gt;&#10;        &lt;text x='300' y='258' textAnchor='middle' fill='#FFFFFF' fontSize='17' fontWeight='bold'&gt;Encapsulation is not politeness.&lt;/text&gt;&#10;        &lt;text x='300' y='286' textAnchor='middle' fill='#C5D4EA' fontSize='15'&gt;It is the only place a business rule can be enforced once.&lt;/text&gt;&#10;        &lt;text x='300' y='306' textAnchor='middle' fill='#FFC107' fontSize='14'&gt;Ask yourself: who is allowed to change this field?&lt;/text&gt;&#10;      &lt;/svg&gt;&#10;    &lt;/Box&gt;&#10;    &lt;Box style={{ flex: 4, flexDirection: 'column', gap: 12, justifyContent: 'center' }}&gt;&#10;      {[&#10;        ['balance-scale', 'Invariant', 'A rule that must hold at every moment — not just after a good call.'],&#10;        ['search', 'One place to look', 'When a rule can only be broken in one method, debugging is short.'],&#10;        ['code-branch', 'Safe to refactor', 'Callers depend on the method, never on the fields behind it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Why Hiding State Matters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324100"/>
            <a:ext cx="5715000" cy="32385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26860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7000875" y="28289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924175"/>
            <a:ext cx="190500" cy="19050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505700" y="28289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Invariant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505700" y="30575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rule that must hold at every moment — not just after a good call.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35623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7000875" y="37052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800475"/>
            <a:ext cx="190500" cy="19050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05700" y="37052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One place to look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505700" y="39338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When a rule can only be broken in one method, debugging is short.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44386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7000875" y="4581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676775"/>
            <a:ext cx="190500" cy="19050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05700" y="45815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Safe to refactor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505700" y="48101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Callers depend on the method, never on the fields behind it.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heritance vs.&lt;br /&gt;Composition&lt;/Text&gt;&#10;      &lt;Box style={{ width: 64, height: 4, background: '#FFC107', marginTop: 26, marginBottom: 26 }} /&gt;&#10;      &lt;Box style={{ flexDirection: 'column', gap: 12 }}&gt;&#10;        {[&#10;          'The two ways to reuse someone else\'s code',&#10;          'The circle–ellipse trap — a classic mistake',&#10;          'Why the textbook says: favour composi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Inheritance vs.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743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two ways to reuse someone else's code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circle–ellipse trap — a classic mistake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629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the textbook says: favour composition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wo Ways to Reuse&lt;/Text&gt;&#10;  &lt;/Box&gt;&#10;  &lt;Box style={{ flex: 1, padding: '18px 40px 0 40px', flexDirection: 'row', gap: 26 }}&gt;&#10;    &lt;Box style={{ flex: 3, padding: '22px 24px', background: '#E8EFF8', borderRadius: 12, borderLeft: '5px solid #3D7BD9', flexDirection: 'column', gap: 12 }}&gt;&#10;      &lt;Box style={{ flexDirection: 'row', alignItems: 'center', gap: 11 }}&gt;&#10;        &lt;FAIcon name='sitemap' style={{ fill: '#1E4FA8', width: 24, height: 24 }} /&gt;&#10;        &lt;Text style={{ fontSize: 22, fontWeight: 'bold', color: '#0E3F8C' }}&gt;Inheritance&lt;/Text&gt;&#10;      &lt;/Box&gt;&#10;      &lt;Text style={{ fontSize: 16, color: '#4A5568', lineHeight: 1.55 }}&gt;A subclass extends a superclass and inherits its methods. The subclass &lt;Text style={{ fontWeight: 'bold', color: '#1A2230' }}&gt;is a&lt;/Text&gt; kind of the parent.&lt;/Text&gt;&#10;      &lt;Box style={{ padding: '12px 15px', background: '#FFFFFF', borderRadius: 8 }}&gt;&#10;        &lt;Text style={{ fontSize: 15, color: '#1A2230' }}&gt;class Wallet extends PaymentMethod&lt;/Text&gt;&#10;      &lt;/Box&gt;&#10;      &lt;Box style={{ flexDirection: 'column', gap: 6 }}&gt;&#10;        &lt;Text style={{ fontSize: 15, color: '#4A5568', lineHeight: 1.45 }}&gt;+ Reuse is automatic, no wiring needed&lt;/Text&gt;&#10;        &lt;Text style={{ fontSize: 15, color: '#4A5568', lineHeight: 1.45 }}&gt;+ Substitutability comes for free&lt;/Text&gt;&#10;        &lt;Text style={{ fontSize: 15, color: '#D9534F', lineHeight: 1.45 }}&gt;− White-box: the parent's internals leak in&lt;/Text&gt;&#10;        &lt;Text style={{ fontSize: 15, color: '#D9534F', lineHeight: 1.45 }}&gt;− Fixed at compile time; hard to change&lt;/Text&gt;&#10;      &lt;/Box&gt;&#10;    &lt;/Box&gt;&#10;    &lt;Box style={{ flex: 3, padding: '22px 24px', background: '#F0F5FC', borderRadius: 12, borderLeft: '5px solid #0E3F8C', flexDirection: 'column', gap: 12 }}&gt;&#10;      &lt;Box style={{ flexDirection: 'row', alignItems: 'center', gap: 11 }}&gt;&#10;        &lt;FAIcon name='cubes' style={{ fill: '#0E3F8C', width: 24, height: 24 }} /&gt;&#10;        &lt;Text style={{ fontSize: 22, fontWeight: 'bold', color: '#0E3F8C' }}&gt;Composition&lt;/Text&gt;&#10;      &lt;/Box&gt;&#10;      &lt;Text style={{ fontSize: 16, color: '#4A5568', lineHeight: 1.55 }}&gt;An object &lt;Text style={{ fontWeight: 'bold', color: '#1A2230' }}&gt;holds a reference&lt;/Text&gt; to another and forwards work to it. It &lt;Text style={{ fontWeight: 'bold', color: '#1A2230' }}&gt;has a&lt;/Text&gt; collaborator.&lt;/Text&gt;&#10;      &lt;Box style={{ padding: '12px 15px', background: '#FFFFFF', borderRadius: 8 }}&gt;&#10;        &lt;Text style={{ fontSize: 15, color: '#1A2230' }}&gt;private PaymentMethod payment;   // a field inside Order&lt;/Text&gt;&#10;      &lt;/Box&gt;&#10;      &lt;Box style={{ flexDirection: 'column', gap: 6 }}&gt;&#10;        &lt;Text style={{ fontSize: 15, color: '#4A5568', lineHeight: 1.45 }}&gt;+ Black-box: only the interface is visible&lt;/Text&gt;&#10;        &lt;Text style={{ fontSize: 15, color: '#4A5568', lineHeight: 1.45 }}&gt;+ Can be swapped at runtime&lt;/Text&gt;&#10;        &lt;Text style={{ fontSize: 15, color: '#D9534F', lineHeight: 1.45 }}&gt;− Needs an interface to be worthwhile&lt;/Text&gt;&#10;        &lt;Text style={{ fontSize: 15, color: '#D9534F', lineHeight: 1.45 }}&gt;− Slightly more wiring code up front&lt;/Text&gt;&#10;      &lt;/Box&gt;&#10;    &lt;/Box&gt;&#10;  &lt;/Box&gt;&#10;  &lt;Box style={{ height: 40, padding: '0 40px', flexDirection: 'row', alignItems: 'center', justifyContent: 'space-between' }}&gt;&#10;    &lt;Text style={{ fontSize: 13, color: '#8B97A8' }}&gt;Both are legitimate. The skill is knowing which one the situation calls for.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Two Ways to Reuse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8625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428625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1647825"/>
            <a:ext cx="228600" cy="22860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90600" y="1628775"/>
            <a:ext cx="1123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Inheritance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7225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subclass extends a superclass and inherits its methods. The subclass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kind of the parent.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57225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00100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class Wallet extends PaymentMethod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7225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Reuse is automatic, no wiring needed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7225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Substitutability comes for free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57225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White-box: the parent's internals leak in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57225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Fixed at compile time; hard to change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267450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267450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2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96050" y="1647825"/>
            <a:ext cx="228600" cy="228600"/>
          </a:xfrm>
          <a:prstGeom prst="rect">
            <a:avLst/>
          </a:prstGeom>
          <a:ln/>
        </p:spPr>
      </p:pic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829425" y="1628775"/>
            <a:ext cx="1285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496050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An object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holds a reference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to another and forwards work to it. It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has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collaborator.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496050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638925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private PaymentMethod payment;   // a field inside Order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496050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Black-box: only the interface is visible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496050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Can be swapped at runtime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496050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Needs an interface to be worthwhile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496050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Slightly more wiring code up front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Both are legitimate. The skill is knowing which one the situation calls for.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4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Is-a or Has-a? Ask Two Questions&lt;/Text&gt;&#10;    &lt;Text style={{ fontSize: 14, color: '#1E4FA8', fontWeight: 'bold' }}&gt;19 / 38&lt;/Text&gt;&#10;  &lt;/Box&gt;&#10;  &lt;Box style={{ flex: 1, padding: '6px 40px 0 40px', justifyContent: 'center', alignItems: 'center' }}&gt;&#10;    &lt;svg width={1180} height={420} viewBox='0 0 1180 420'&gt;&#10;      &lt;rect x='430' y='16' width='320' height='54' rx='10' fill='#0E3F8C' /&gt;&#10;      &lt;text x='590' y='50' textAnchor='middle' fill='#FFFFFF' fontSize='20' fontWeight='bold'&gt;Is X a kind of Y?&lt;/text&gt;&#10;      &lt;line x1='520' y1='70' x2='340' y2='104' stroke='#3D7BD9' strokeWidth='2' /&gt;&#10;      &lt;text x='404' y='94' fill='#3D7BD9' fontSize='16' fontWeight='bold'&gt;YES&lt;/text&gt;&#10;      &lt;line x1='660' y1='70' x2='840' y2='104' stroke='#1E4FA8' strokeWidth='2' /&gt;&#10;      &lt;text x='780' y='94' fill='#1E4FA8' fontSize='16' fontWeight='bold'&gt;NO&lt;/text&gt;&#10;      &lt;rect x='150' y='104' width='380' height='104' rx='12' fill='#E8EFF8' stroke='#3D7BD9' strokeWidth='2' /&gt;&#10;      &lt;text x='340' y='140' textAnchor='middle' fill='#0E3F8C' fontSize='22' fontWeight='bold'&gt;Inheritance — is-a&lt;/text&gt;&#10;      &lt;text x='340' y='168' textAnchor='middle' fill='#4A5568' fontSize='15'&gt;X inherits the interface and behaviour of Y&lt;/text&gt;&#10;      &lt;text x='340' y='192' textAnchor='middle' fill='#8B97A8' fontSize='14'&gt;CampusCard is a PaymentMethod&lt;/text&gt;&#10;      &lt;rect x='650' y='104' width='380' height='52' rx='10' fill='#F7F9FC' stroke='#D6DCE5' strokeWidth='2' /&gt;&#10;      &lt;text x='840' y='138' textAnchor='middle' fill='#1A2230' fontSize='17'&gt;Does X have a Y?&lt;/text&gt;&#10;      &lt;line x1='840' y1='156' x2='840' y2='194' stroke='#1E4FA8' strokeWidth='2' /&gt;&#10;      &lt;text x='852' y='180' fill='#1E4FA8' fontSize='15' fontWeight='bold'&gt;YES&lt;/text&gt;&#10;      &lt;rect x='650' y='194' width='380' height='104' rx='12' fill='#F0F5FC' stroke='#1E4FA8' strokeWidth='2' /&gt;&#10;      &lt;text x='840' y='230' textAnchor='middle' fill='#0E3F8C' fontSize='22' fontWeight='bold'&gt;Composition — has-a&lt;/text&gt;&#10;      &lt;text x='840' y='258' textAnchor='middle' fill='#4A5568' fontSize='15'&gt;X holds a reference and delegates to it&lt;/text&gt;&#10;      &lt;text x='840' y='282' textAnchor='middle' fill='#8B97A8' fontSize='14'&gt;Order has a PaymentMethod&lt;/text&gt;&#10;      &lt;rect x='60' y='336' width='340' height='66' rx='10' fill='#F7F9FC' stroke='#D6DCE5' strokeWidth='1' /&gt;&#10;      &lt;text x='230' y='362' textAnchor='middle' fill='#0E3F8C' fontSize='16' fontWeight='bold'&gt;Wallet IS-A PaymentMethod&lt;/text&gt;&#10;      &lt;text x='230' y='386' textAnchor='middle' fill='#8B97A8' fontSize='14'&gt;it can be used anywhere one is expected&lt;/text&gt;&#10;      &lt;rect x='420' y='336' width='340' height='66' rx='10' fill='#F7F9FC' stroke='#D6DCE5' strokeWidth='1' /&gt;&#10;      &lt;text x='590' y='362' textAnchor='middle' fill='#0E3F8C' fontSize='16' fontWeight='bold'&gt;Order HAS-A PaymentMethod&lt;/text&gt;&#10;      &lt;text x='590' y='386' textAnchor='middle' fill='#8B97A8' fontSize='14'&gt;swappable: card today, cash tomorrow&lt;/text&gt;&#10;      &lt;rect x='780' y='336' width='340' height='66' rx='10' fill='#F7F9FC' stroke='#D6DCE5' strokeWidth='1' /&gt;&#10;      &lt;text x='950' y='362' textAnchor='middle' fill='#0E3F8C' fontSize='16' fontWeight='bold'&gt;Order HAS-A list of lines&lt;/text&gt;&#10;      &lt;text x='950' y='386' textAnchor='middle' fill='#8B97A8' fontSize='14'&gt;an order is not a kind of list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ay the sentence out loud. If &quot;is a kind of&quot; sounds wrong, it is not inheritan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19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Is-a or Has-a? Ask Two Questions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pic>
        <p:nvPicPr>
          <p:cNvPr id="2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52575"/>
            <a:ext cx="11239500" cy="4000500"/>
          </a:xfrm>
          <a:prstGeom prst="rect">
            <a:avLst/>
          </a:prstGeom>
          <a:ln/>
        </p:spPr>
      </p:pic>
      <p:sp>
        <p:nvSpPr>
          <p:cNvPr id="239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2914650" y="6486525"/>
            <a:ext cx="6372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Say the sentence out loud. If "is a kind of" sounds wrong, it is not inheritance.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he Circle–Ellipse Trap&lt;/Text&gt;&#10;  &lt;/Box&gt;&#10;  &lt;Box style={{ flex: 1, padding: '14px 40px 0 40px', flexDirection: 'row', gap: 26 }}&gt;&#10;    &lt;Box style={{ flex: 3, justifyContent: 'center' }}&gt;&#10;      &lt;CodeBlock code={`class Ellipse {&#10;    void setMajorAxis(double a) { ... }&#10;    void setMinorAxis(double b) { ... }&#10;}&#10;&#10;// In geometry, a circle IS an ellipse.&#10;class Circle extends Ellipse {&#10;    void setMajorAxis(double a) {&#10;        super.setMajorAxis(a);&#10;        super.setMinorAxis(a);   // stay round&#10;    }&#10;    void setMinorAxis(double b) {&#10;        throw new UnsupportedOperationException();&#10;    }&#10;}&#10;&#10;// ...so why does this break?&#10;Ellipse e = new Circle();&#10;e.setMinorAxis(3.0);      // crashes`} language='java' width={560} fontSize={12} /&gt;&#10;    &lt;/Box&gt;&#10;    &lt;Box style={{ flex: 2, flexDirection: 'column', gap: 11, justifyContent: 'center' }}&gt;&#10;      &lt;Box style={{ padding: '16px 18px', background: '#FDF3F3', borderRadius: 10, borderLeft: '4px solid #D9534F' }}&gt;&#10;        &lt;Text style={{ fontSize: 17, fontWeight: 'bold', color: '#D9534F', marginBottom: 5 }}&gt;What went wrong&lt;/Text&gt;&#10;        &lt;Text style={{ fontSize: 15, color: '#4A5568', lineHeight: 1.5 }}&gt;The subclass &lt;Text style={{ fontWeight: 'bold', color: '#1A2230' }}&gt;refuses&lt;/Text&gt; a method the parent promises. Code written against Ellipse now breaks on a Circle.&lt;/Text&gt;&#10;      &lt;/Box&gt;&#10;      {[&#10;        ['shapes', 'True in maths, false in code', 'A circle has fewer degrees of freedom than an ellipse.'],&#10;        ['unlink', 'Substitutability is the real test', 'Not &quot;is it a kind of&quot; but &quot;can it stand in anywhere?&quot;'],&#10;        ['clock', 'Liskov, Week 12', 'This has a name: the Liskov Substitution Principle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5, fontWeight: 'bold', color: '#1A2230' }}&gt;{t}&lt;/Text&gt;&#10;            &lt;Text style={{ fontSize: 13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Full treatment in Week 12 (LSP). Today: notice that &quot;is-a&quot; is not enough.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Circle–Ellipse Trap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7372350" y="2257425"/>
            <a:ext cx="4476750" cy="1066800"/>
          </a:xfrm>
          <a:prstGeom prst="roundRect">
            <a:avLst>
              <a:gd name="adj" fmla="val 89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7372350" y="2257425"/>
            <a:ext cx="4476750" cy="1066800"/>
          </a:xfrm>
          <a:custGeom>
            <a:pathLst>
              <a:path w="470" h="11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6"/>
                </a:lnTo>
                <a:cubicBezTo>
                  <a:pt x="4" y="109"/>
                  <a:pt x="6" y="111"/>
                  <a:pt x="9" y="112"/>
                </a:cubicBezTo>
                <a:cubicBezTo>
                  <a:pt x="4" y="111"/>
                  <a:pt x="0" y="107"/>
                  <a:pt x="0" y="10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543800" y="2409825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What went wrong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543800" y="2657475"/>
            <a:ext cx="40957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subclass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refuses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 method the parent promises. Code written against Ellipse now breaks on a Circle.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7334250" y="3429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7486650" y="3552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72375" y="3638550"/>
            <a:ext cx="171450" cy="171450"/>
          </a:xfrm>
          <a:prstGeom prst="rect">
            <a:avLst/>
          </a:prstGeom>
          <a:ln/>
        </p:spPr>
      </p:pic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943850" y="3552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True in maths, false in code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943850" y="3743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circle has fewer degrees of freedom than an ellipse.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7334250" y="4191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7486650" y="4314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4400550"/>
            <a:ext cx="171450" cy="171450"/>
          </a:xfrm>
          <a:prstGeom prst="rect">
            <a:avLst/>
          </a:prstGeom>
          <a:ln/>
        </p:spPr>
      </p:pic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943850" y="4314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Substitutability is the real test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943850" y="4505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"is it a kind of" but "can it stand in anywhere?"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334250" y="4953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7486650" y="5076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72375" y="5162550"/>
            <a:ext cx="171450" cy="171450"/>
          </a:xfrm>
          <a:prstGeom prst="rect">
            <a:avLst/>
          </a:prstGeom>
          <a:ln/>
        </p:spPr>
      </p:pic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43850" y="5076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Liskov, Week 12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7943850" y="5267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This has a name: the Liskov Substitution Principle.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3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 12 (LSP). Today: notice that "is-a" is not enough.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81000" y="1971675"/>
            <a:ext cx="6705600" cy="3924300"/>
          </a:xfrm>
          <a:prstGeom prst="roundRect">
            <a:avLst>
              <a:gd name="adj" fmla="val 194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06" name=""/>
          <p:cNvSpPr txBox="1"/>
          <p:nvPr/>
        </p:nvSpPr>
        <p:spPr>
          <a:xfrm rot="0" flipH="0" flipV="0">
            <a:off x="533400" y="2105025"/>
            <a:ext cx="6400800" cy="3657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Ellipse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setMajorAxis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a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In geometry, a circle IS an ellipse.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Circle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extends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Ellipse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setMajorAxis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a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005CC5"/>
                </a:solidFill>
                <a:latin typeface="Menlo"/>
                <a:ea typeface="Menlo"/>
              </a:rPr>
              <a:t>super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setMajorAxis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(a);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005CC5"/>
                </a:solidFill>
                <a:latin typeface="Menlo"/>
                <a:ea typeface="Menlo"/>
              </a:rPr>
              <a:t>super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(a);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stay round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UnsupportedOperationException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...so why does this break?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Ellipse 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Circle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e.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005CC5"/>
                </a:solidFill>
                <a:latin typeface="Menlo"/>
                <a:ea typeface="Menlo"/>
              </a:rPr>
              <a:t>3.0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);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crashes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flex: 1, padding: '26px 60px 0 60px', flexDirection: 'column', alignItems: 'center', justifyContent: 'center', gap: 20 }}&gt;&#10;    &lt;Box style={{ padding: '6px 18px', background: '#E8EFF8', borderRadius: 16 }}&gt;&#10;      &lt;Text style={{ fontSize: 15, color: '#1E4FA8', fontWeight: 'bold', letterSpacing: 2 }}&gt;PRINCIPLE · FIRST OF THE SEMESTER&lt;/Text&gt;&#10;    &lt;/Box&gt;&#10;    &lt;Text style={{ fontSize: 40, fontWeight: 'bold', color: '#0E3F8C', textAlign: 'center', lineHeight: 1.25, fontFamily: 'Georgia, serif' }}&gt;&#10;      Favour composition&lt;br /&gt;over class inheritance.&#10;    &lt;/Text&gt;&#10;    &lt;Box style={{ width: 72, height: 4, background: '#FFC107' }} /&gt;&#10;    &lt;Box style={{ flexDirection: 'row', gap: 16, marginTop: 4 }}&gt;&#10;      {[&#10;        ['unlock', 'Loose coupling', 'The parent\'s changes cannot silently break the subclass.'],&#10;        ['random', 'Runtime swap', 'Behaviour can be replaced without recompiling.'],&#10;        ['eye-slash', 'Black box', 'You depend on what it does, not how it is built.'],&#10;      ].map(([icon, t, d]) =&gt; (&#10;        &lt;Box key={t} style={{ flex: 1, padding: '20px 20px', background: '#F7F9FC', borderRadius: 12, border: '1px solid #E5E7EB', flexDirection: 'column', gap: 9, alignItems: 'center' }}&gt;&#10;          &lt;Box style={{ width: 50, height: 50, borderRadius: 25, background: '#E8EFF8', justifyContent: 'center', alignItems: 'center' }}&gt;&#10;            &lt;FAIcon name={icon} style={{ fill: '#1E4FA8', width: 24, height: 24 }} /&gt;&#10;          &lt;/Box&gt;&#10;          &lt;Text style={{ fontSize: 18, fontWeight: 'bold', color: '#0E3F8C', textAlign: 'center' }}&gt;{t}&lt;/Text&gt;&#10;          &lt;Text style={{ fontSize: 14, color: '#4A5568', lineHeight: 1.5, textAlign: 'center' }}&gt;{d}&lt;/Text&gt;&#10;        &lt;/Box&gt;&#10;      ))}&#10;    &lt;/Box&gt;&#10;  &lt;/Box&gt;&#10;  &lt;Box style={{ height: 50, padding: '0 60px', flexDirection: 'row', alignItems: 'center', justifyContent: 'center', gap: 12 }}&gt;&#10;    &lt;FAIcon name='exclamation-triangle' style={{ fill: '#FFC107', width: 20, height: 20 }} /&gt;&#10;    &lt;Text style={{ fontSize: 16, color: '#4A5568' }}&gt;Favour, not forbid. Inheritance is right when substitution genuinely holds.&lt;/Text&gt;&#10;    &lt;Text style={{ fontSize: 14, color: '#1E4FA8', fontWeight: 'bold', marginLeft: 'auto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4267200" y="1762125"/>
            <a:ext cx="3667125" cy="285750"/>
          </a:xfrm>
          <a:prstGeom prst="roundRect">
            <a:avLst>
              <a:gd name="adj" fmla="val 5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438650" y="1819275"/>
            <a:ext cx="3324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1E4FA8"/>
                </a:solidFill>
                <a:latin typeface="Microsoft YaHei"/>
                <a:ea typeface="Microsoft YaHei"/>
              </a:rPr>
              <a:t>PRINCIPLE · FIRST OF THE SEMESTER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886200" y="2238375"/>
            <a:ext cx="4419600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Favour composition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over class inheritance.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5753100" y="357187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6" name=""/>
          <p:cNvSpPr/>
          <p:nvPr/>
        </p:nvSpPr>
        <p:spPr>
          <a:xfrm rot="0" flipH="0" flipV="0">
            <a:off x="5715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21240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247900" y="4152900"/>
            <a:ext cx="228600" cy="228600"/>
          </a:xfrm>
          <a:prstGeom prst="rect">
            <a:avLst/>
          </a:prstGeom>
          <a:ln/>
        </p:spPr>
      </p:pic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733550" y="4591050"/>
            <a:ext cx="12668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Loose coupling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62000" y="4886325"/>
            <a:ext cx="3200400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parent's changes cannot silently break the subclass.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43053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58578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81700" y="4152900"/>
            <a:ext cx="228600" cy="228600"/>
          </a:xfrm>
          <a:prstGeom prst="rect">
            <a:avLst/>
          </a:prstGeom>
          <a:ln/>
        </p:spPr>
      </p:pic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5514975" y="4591050"/>
            <a:ext cx="117157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Runtime swap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695825" y="4886325"/>
            <a:ext cx="28098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Behaviour can be replaced without recompiling.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80391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95916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715500" y="4152900"/>
            <a:ext cx="228600" cy="228600"/>
          </a:xfrm>
          <a:prstGeom prst="rect">
            <a:avLst/>
          </a:prstGeom>
          <a:ln/>
        </p:spPr>
      </p:pic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9420225" y="4591050"/>
            <a:ext cx="8191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Black box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458200" y="4886325"/>
            <a:ext cx="274320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You depend on what it does, not how it is built.</a:t>
            </a:r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1500" y="6524625"/>
            <a:ext cx="190500" cy="190500"/>
          </a:xfrm>
          <a:prstGeom prst="rect">
            <a:avLst/>
          </a:prstGeom>
          <a:ln/>
        </p:spPr>
      </p:pic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76300" y="6524625"/>
            <a:ext cx="4886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Favour, not forbid. Inheritance is right when substitution genuinely holds.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2109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Composition in Java&lt;/Text&gt;&#10;  &lt;/Box&gt;&#10;  &lt;Box style={{ flex: 1, padding: '14px 40px 0 40px', flexDirection: 'row', gap: 26 }}&gt;&#10;    &lt;Box style={{ flex: 1, flexDirection: 'column', gap: 10 }}&gt;&#10;      &lt;Box style={{ flexDirection: 'row', alignItems: 'center', gap: 9 }}&gt;&#10;        &lt;FAIcon name='times-circle' style={{ fill: '#D9534F', width: 19, height: 19 }} /&gt;&#10;        &lt;Text style={{ fontSize: 16, fontWeight: 'bold', color: '#D9534F' }}&gt;Inheriting for convenience&lt;/Text&gt;&#10;      &lt;/Box&gt;&#10;      &lt;CodeBlock code={`// &quot;an order is just a list of lines&quot;&#10;class Order extends ArrayList {&#10;    void place() { ... }&#10;}&#10;&#10;// now Order inherits 20+ list methods&#10;// that make no sense for an order&#10;order.sort(...);&#10;order.clear();      // wipes a paid order&#10;order.addAll(...);  // bypasses the guard`} language='java' width={520} fontSize={12} /&gt;&#10;    &lt;/Box&gt;&#10;    &lt;Box style={{ flex: 1, flexDirection: 'column', gap: 10 }}&gt;&#10;      &lt;Box style={{ flexDirection: 'row', alignItems: 'center', gap: 9 }}&gt;&#10;        &lt;FAIcon name='check-circle' style={{ fill: '#1E4FA8', width: 19, height: 19 }} /&gt;&#10;        &lt;Text style={{ fontSize: 16, fontWeight: 'bold', color: '#0E3F8C' }}&gt;Composing with collaborators&lt;/Text&gt;&#10;      &lt;/Box&gt;&#10;      &lt;CodeBlock code={`class Order {&#10;    private final List lines = new ArrayList();&#10;    private PaymentMethod payment;&#10;    private DeliveryRoute route;&#10;&#10;    public Money total() { ... }&#10;    public Receipt pay() {&#10;        return payment.pay(total());&#10;    }&#10;}&#10;&#10;// Order exposes only what an order does&#10;order.pay();        // yes&#10;order.clear();      // no such method`} language='java' width={520} fontSize={12} /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Inheritance reuses everything — including the parts that make no sense. Composition lets you choo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Composition in Java</a:t>
            </a:r>
            <a:endParaRPr/>
          </a:p>
        </p:txBody>
      </p:sp>
      <p:pic>
        <p:nvPicPr>
          <p:cNvPr id="3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80975" cy="180975"/>
          </a:xfrm>
          <a:prstGeom prst="rect">
            <a:avLst/>
          </a:prstGeom>
          <a:ln/>
        </p:spPr>
      </p:pic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47700" y="13811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Inheriting for convenience</a:t>
            </a:r>
            <a:endParaRPr/>
          </a:p>
        </p:txBody>
      </p:sp>
      <p:pic>
        <p:nvPicPr>
          <p:cNvPr id="3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19825" y="1390650"/>
            <a:ext cx="180975" cy="180975"/>
          </a:xfrm>
          <a:prstGeom prst="rect">
            <a:avLst/>
          </a:prstGeom>
          <a:ln/>
        </p:spPr>
      </p:pic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486525" y="138112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Composing with collaborators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2124075" y="6553200"/>
            <a:ext cx="794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Inheritance reuses everything — including the parts that make no sense. Composition lets you choose.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381000" y="1666875"/>
            <a:ext cx="5591175" cy="2190750"/>
          </a:xfrm>
          <a:prstGeom prst="roundRect">
            <a:avLst>
              <a:gd name="adj" fmla="val 3478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7" name=""/>
          <p:cNvSpPr txBox="1"/>
          <p:nvPr/>
        </p:nvSpPr>
        <p:spPr>
          <a:xfrm rot="0" flipH="0" flipV="0">
            <a:off x="533400" y="1800225"/>
            <a:ext cx="5286375" cy="1924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"an order is just a list of lines"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extends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ArrayList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place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now Order inherits 20+ list methods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that make no sense for an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sort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(...);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clear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wipes a paid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addAll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(...);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bypasses the guard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219825" y="1666875"/>
            <a:ext cx="5591175" cy="2962275"/>
          </a:xfrm>
          <a:prstGeom prst="roundRect">
            <a:avLst>
              <a:gd name="adj" fmla="val 257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9" name=""/>
          <p:cNvSpPr txBox="1"/>
          <p:nvPr/>
        </p:nvSpPr>
        <p:spPr>
          <a:xfrm rot="0" flipH="0" flipV="0">
            <a:off x="6372225" y="1800225"/>
            <a:ext cx="5286375" cy="2695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final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List lines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ArrayList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PaymentMethod payment;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DeliveryRoute route;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Money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payment.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Order exposes only what an order does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  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yes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clear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no such method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35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Polymorphism &amp;amp;&lt;br /&gt;Interfaces&lt;/Text&gt;&#10;      &lt;Box style={{ width: 64, height: 4, background: '#FFC107', marginTop: 26, marginBottom: 26 }} /&gt;&#10;      &lt;Box style={{ flexDirection: 'column', gap: 12 }}&gt;&#10;        {[&#10;          'One message, many behaviours',&#10;          'PaymentMethod: the CampusBites worked example',&#10;          'Program to an interface, not an implementa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Polymorphism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One message, many behaviours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91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PaymentMethod: the CampusBites worked example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971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Program to an interface, not an implementation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OLYMORPHISM&lt;/Text&gt;&#10;  &lt;/Box&gt;&#10;  &lt;Box style={{ padding: '20px 40px 0 40px' }}&gt;&#10;    &lt;Text style={{ fontSize: 32, fontWeight: 'bold', color: '#0E3F8C' }}&gt;Same Message, Different Behaviour&lt;/Text&gt;&#10;  &lt;/Box&gt;&#10;  &lt;Box style={{ flex: 1, padding: '12px 40px 0 40px', flexDirection: 'row', gap: 26 }}&gt;&#10;    &lt;Box style={{ flex: 5, justifyContent: 'center', alignItems: 'center' }}&gt;&#10;      &lt;svg width={600} height={350} viewBox='0 0 600 350'&gt;&#10;        &lt;rect x='215' y='16' width='170' height='52' rx='10' fill='#0E3F8C' /&gt;&#10;        &lt;text x='300' y='48' textAnchor='middle' fill='#FFFFFF' fontSize='19' fontWeight='bold'&gt;pay(amount)&lt;/text&gt;&#10;        &lt;text x='300' y='92' textAnchor='middle' fill='#8B97A8' fontSize='14'&gt;one message, sent once&lt;/text&gt;&#10;        &lt;line x1='300' y1='100' x2='300' y2='124' stroke='#3D7BD9' strokeWidth='2' /&gt;&#10;        &lt;line x1='96' y1='124' x2='504' y2='124' stroke='#3D7BD9' strokeWidth='2' /&gt;&#10;        &lt;line x1='96' y1='124' x2='96' y2='152' stroke='#3D7BD9' strokeWidth='2' /&gt;&#10;        &lt;line x1='300' y1='124' x2='300' y2='152' stroke='#3D7BD9' strokeWidth='2' /&gt;&#10;        &lt;line x1='504' y1='124' x2='504' y2='152' stroke='#3D7BD9' strokeWidth='2' /&gt;&#10;        &lt;rect x='20' y='152' width='152' height='104' rx='12' fill='#E8EFF8' stroke='#3D7BD9' strokeWidth='2' /&gt;&#10;        &lt;text x='96' y='188' textAnchor='middle' fill='#0E3F8C' fontSize='18' fontWeight='bold'&gt;CampusCard&lt;/text&gt;&#10;        &lt;text x='96' y='214' textAnchor='middle' fill='#4A5568' fontSize='14'&gt;deduct from&lt;/text&gt;&#10;        &lt;text x='96' y='236' textAnchor='middle' fill='#4A5568' fontSize='14'&gt;the meal card&lt;/text&gt;&#10;        &lt;rect x='224' y='152' width='152' height='104' rx='12' fill='#E8EFF8' stroke='#3D7BD9' strokeWidth='2' /&gt;&#10;        &lt;text x='300' y='188' textAnchor='middle' fill='#0E3F8C' fontSize='18' fontWeight='bold'&gt;Wallet&lt;/text&gt;&#10;        &lt;text x='300' y='214' textAnchor='middle' fill='#4A5568' fontSize='14'&gt;debit the&lt;/text&gt;&#10;        &lt;text x='300' y='236' textAnchor='middle' fill='#4A5568' fontSize='14'&gt;in-app balance&lt;/text&gt;&#10;        &lt;rect x='428' y='152' width='152' height='104' rx='12' fill='#E8EFF8' stroke='#3D7BD9' strokeWidth='2' /&gt;&#10;        &lt;text x='504' y='188' textAnchor='middle' fill='#0E3F8C' fontSize='18' fontWeight='bold'&gt;Cash&lt;/text&gt;&#10;        &lt;text x='504' y='214' textAnchor='middle' fill='#4A5568' fontSize='14'&gt;mark as&lt;/text&gt;&#10;        &lt;text x='504' y='236' textAnchor='middle' fill='#4A5568' fontSize='14'&gt;pay on delivery&lt;/text&gt;&#10;        &lt;rect x='60' y='284' width='480' height='52' rx='10' fill='#F0F5FC' stroke='#1E4FA8' strokeWidth='2' /&gt;&#10;        &lt;text x='300' y='316' textAnchor='middle' fill='#0E3F8C' fontSize='16' fontWeight='bold'&gt;The caller never asks which one it holds.&lt;/text&gt;&#10;      &lt;/svg&gt;&#10;    &lt;/Box&gt;&#10;    &lt;Box style={{ flex: 4, flexDirection: 'column', gap: 12, justifyContent: 'center' }}&gt;&#10;      {[&#10;        ['comments', 'Poly = many, morph = form', 'One call site, many possible shapes of behaviour.'],&#10;        ['bolt', 'Dynamic binding', 'Which method runs is decided at runtime, not compile time.'],&#10;        ['exchange-alt', 'Substitutability', 'Any implementation can stand in — if the contract holds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  &lt;Box style={{ padding: '13px 16px', background: '#0E3F8C', borderRadius: 10 }}&gt;&#10;        &lt;Text style={{ fontSize: 15, color: '#FFFFFF', lineHeight: 1.5 }}&gt;This is why &lt;Text style={{ fontWeight: 'bold', color: '#FFC107' }}&gt;Order&lt;/Text&gt; does not need to know how you p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POLYMORPHISM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Same Message, Different Behaviour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257425"/>
            <a:ext cx="5715000" cy="333375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838950" y="23526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2" name=""/>
          <p:cNvSpPr/>
          <p:nvPr/>
        </p:nvSpPr>
        <p:spPr>
          <a:xfrm rot="0" flipH="0" flipV="0">
            <a:off x="7000875" y="24955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590800"/>
            <a:ext cx="190500" cy="190500"/>
          </a:xfrm>
          <a:prstGeom prst="rect">
            <a:avLst/>
          </a:prstGeom>
          <a:ln/>
        </p:spPr>
      </p:pic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505700" y="24955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Poly = many, morph = form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505700" y="27241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call site, many possible shapes of behaviour.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838950" y="32289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7000875" y="33718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467100"/>
            <a:ext cx="190500" cy="190500"/>
          </a:xfrm>
          <a:prstGeom prst="rect">
            <a:avLst/>
          </a:prstGeom>
          <a:ln/>
        </p:spPr>
      </p:pic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505700" y="33718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Dynamic binding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7505700" y="36004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Which method runs is decided at runtime, not compile time.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838950" y="41052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7000875" y="42481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343400"/>
            <a:ext cx="190500" cy="1905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7505700" y="42481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Substitutability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7505700" y="44767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Any implementation can stand in — if the contract holds.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838950" y="4981575"/>
            <a:ext cx="4972050" cy="504825"/>
          </a:xfrm>
          <a:prstGeom prst="roundRect">
            <a:avLst>
              <a:gd name="adj" fmla="val 1886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991350" y="5105400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This is why 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 does not need to know how you pay.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90" name="" descr="&lt;Slide style={{ background: '#FFFFFF', padding: 0 }}&gt;&#10;  &lt;Box style={{ padding: '22px 40px 6px 40px', flexDirection: 'row', alignItems: 'center', justifyContent: 'space-between' }}&gt;&#10;    &lt;Text style={{ fontSize: 33, fontWeight: 'bold', color: '#0E3F8C' }}&gt;PaymentMethod — Polymorphism in Java&lt;/Text&gt;&#10;    &lt;Text style={{ fontSize: 14, color: '#1E4FA8', fontWeight: 'bold' }}&gt;25 / 38&lt;/Text&gt;&#10;  &lt;/Box&gt;&#10;  &lt;Box style={{ flex: 1, padding: '10px 40px 0 40px', flexDirection: 'row', gap: 26 }}&gt;&#10;    &lt;Box style={{ flex: 3, justifyContent: 'center' }}&gt;&#10;      &lt;CodeBlock code={`public interface PaymentMethod {&#10;    Receipt pay(Money amount);&#10;}&#10;&#10;public class CampusCard implements PaymentMethod {&#10;    public Receipt pay(Money amount) {&#10;        return cardTerminal.deduct(amount);&#10;    }&#10;}&#10;&#10;public class Wallet implements PaymentMethod {&#10;    public Receipt pay(Money amount) {&#10;        return balance.debit(amount);&#10;    }&#10;}&#10;&#10;public class Cash implements PaymentMethod {&#10;    public Receipt pay(Money amount) {&#10;        return Receipt.payOnDelivery(amount);&#10;    }&#10;}&#10;&#10;// the call site — one stable line&#10;Receipt r = method.pay(order.total());`} language='java' width={580} fontSize={11} /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6, color: '#7FA2D6', letterSpacing: 1 }}&gt;THE ONE LINE THAT MATTERS&lt;/Text&gt;&#10;        &lt;Text style={{ fontSize: 17, color: '#FFFFFF', lineHeight: 1.4, fontWeight: 'bold' }}&gt;method.pay(order.total())&lt;/Text&gt;&#10;        &lt;Box style={{ width: 44, height: 4, background: '#FFC107' }} /&gt;&#10;        &lt;Text style={{ fontSize: 15, color: '#C5D4EA', lineHeight: 1.5 }}&gt;It does not say which payment type. It does not need to. Adding a fourth method changes nothing here.&lt;/Text&gt;&#10;      &lt;/Box&gt;&#10;      &lt;Box style={{ padding: '14px 17px', background: '#F0F5FC', borderRadius: 10, border: '1px solid #3D7BD9' }}&gt;&#10;        &lt;Text style={{ fontSize: 15, color: '#4A5568', lineHeight: 1.5 }}&gt;&lt;Text style={{ fontWeight: 'bold', color: '#0E3F8C' }}&gt;The interface is the contract.&lt;/Text&gt; Each class decides how to honour it.&lt;/Text&gt;&#10;      &lt;/Box&gt;&#10;      &lt;Box style={{ padding: '14px 17px', background: '#FDF3F3', borderRadius: 10, borderLeft: '4px solid #D9534F' }}&gt;&#10;        &lt;Text style={{ fontSize: 15, color: '#4A5568', lineHeight: 1.5 }}&gt;No &lt;Text style={{ fontWeight: 'bold', color: '#D9534F' }}&gt;if&lt;/Text&gt; and no &lt;Text style={{ fontWeight: 'bold', color: '#D9534F' }}&gt;switch&lt;/Text&gt; anywhere in Order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CampusBites uses this exact shape. Your M1 models will too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2579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PaymentMethod — Polymorphism in Java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11401425" y="3238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7334250" y="1952625"/>
            <a:ext cx="4476750" cy="1743075"/>
          </a:xfrm>
          <a:prstGeom prst="roundRect">
            <a:avLst>
              <a:gd name="adj" fmla="val 655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543800" y="2143125"/>
            <a:ext cx="405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THE ONE LINE THAT MATTERS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543800" y="2447925"/>
            <a:ext cx="40576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method.pay(order.total())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7543800" y="2838450"/>
            <a:ext cx="4191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543800" y="299085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It does not say which payment type. It does not need to. Adding a fourth method changes nothing here.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7334250" y="381000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496175" y="394335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interface is the contract.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Each class decides how to honour it.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7372350" y="4705350"/>
            <a:ext cx="4476750" cy="523875"/>
          </a:xfrm>
          <a:prstGeom prst="roundRect">
            <a:avLst>
              <a:gd name="adj" fmla="val 1818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02" name=""/>
          <p:cNvSpPr/>
          <p:nvPr/>
        </p:nvSpPr>
        <p:spPr>
          <a:xfrm rot="0" flipH="0" flipV="0">
            <a:off x="7372350" y="4705350"/>
            <a:ext cx="4476750" cy="523875"/>
          </a:xfrm>
          <a:custGeom>
            <a:pathLst>
              <a:path w="470" h="5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9"/>
                </a:lnTo>
                <a:cubicBezTo>
                  <a:pt x="4" y="52"/>
                  <a:pt x="6" y="54"/>
                  <a:pt x="9" y="55"/>
                </a:cubicBezTo>
                <a:cubicBezTo>
                  <a:pt x="4" y="54"/>
                  <a:pt x="0" y="50"/>
                  <a:pt x="0" y="4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534275" y="4838700"/>
            <a:ext cx="4114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if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and 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switch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anywhere in Order.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733800" y="6553200"/>
            <a:ext cx="4733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CampusBites uses this exact shape. Your M1 models will too.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381000" y="1343025"/>
            <a:ext cx="6705600" cy="4495800"/>
          </a:xfrm>
          <a:prstGeom prst="roundRect">
            <a:avLst>
              <a:gd name="adj" fmla="val 16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07" name=""/>
          <p:cNvSpPr txBox="1"/>
          <p:nvPr/>
        </p:nvSpPr>
        <p:spPr>
          <a:xfrm rot="0" flipH="0" flipV="0">
            <a:off x="533400" y="1476375"/>
            <a:ext cx="6400800" cy="422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interface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CampusCard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cardTerminal.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deduct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Wallet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balance.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debit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Cash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payOnDelivery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the call site — one stable line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Receipt r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method.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0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0px 40px 4px 40px', flexDirection: 'row', alignItems: 'center', justifyContent: 'space-between' }}&gt;&#10;    &lt;Text style={{ fontSize: 32, fontWeight: 'bold', color: '#0E3F8C' }}&gt;Interface or Abstract Class?&lt;/Text&gt;&#10;    &lt;Text style={{ fontSize: 14, color: '#1E4FA8', fontWeight: 'bold' }}&gt;26 / 38&lt;/Text&gt;&#10;  &lt;/Box&gt;&#10;  &lt;Box style={{ flex: 1, padding: '12px 40px 8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Question', textStyle: { bold: true, color: '#FFFFFF', textAlign: 'left' }, cellStyle: { background: { color: '#0E3F8C' } } },&#10;          { text: 'Interface', textStyle: { bold: true, color: '#FFFFFF', textAlign: 'left' }, cellStyle: { background: { color: '#1E4FA8' } } },&#10;          { text: 'Abstract class', textStyle: { bold: true, color: '#FFFFFF', textAlign: 'left' }, cellStyle: { background: { color: '#3D7BD9' } } },&#10;        ],&#10;        [&#10;          { text: 'Can a class take several?', textStyle: { bold: true, color: '#0E3F8C' }, cellStyle: { background: { color: '#F7F9FC' } } },&#10;          { text: 'Yes — implement many', textStyle: { color: '#4A5568' }, cellStyle: { background: { color: '#F7F9FC' } } },&#10;          { text: 'No — extend only one', textStyle: { color: '#4A5568' }, cellStyle: { background: { color: '#F7F9FC' } } },&#10;        ],&#10;        [&#10;          { text: 'Holds state (fields)?', textStyle: { bold: true, color: '#0E3F8C' } },&#10;          { text: 'No — constants only', textStyle: { color: '#4A5568' } },&#10;          { text: 'Yes — shared fields', textStyle: { color: '#4A5568' } },&#10;        ],&#10;        [&#10;          { text: 'Ships working code?', textStyle: { bold: true, color: '#0E3F8C' }, cellStyle: { background: { color: '#F7F9FC' } } },&#10;          { text: 'No — signatures only (mostly)', textStyle: { color: '#4A5568' }, cellStyle: { background: { color: '#F7F9FC' } } },&#10;          { text: 'Yes — concrete methods inherited', textStyle: { color: '#4A5568' }, cellStyle: { background: { color: '#F7F9FC' } } },&#10;        ],&#10;        [&#10;          { text: 'What it expresses', textStyle: { bold: true, color: '#0E3F8C' } },&#10;          { text: 'A capability: &quot;can be paid with&quot;', textStyle: { color: '#4A5568' } },&#10;          { text: 'A family: &quot;is a kind of&quot;', textStyle: { color: '#4A5568' } },&#10;        ],&#10;        [&#10;          { text: 'Coupling', textStyle: { bold: true, color: '#0E3F8C' }, cellStyle: { background: { color: '#F7F9FC' } } },&#10;          { text: 'Loose — pure contract', textStyle: { color: '#1E4FA8', bold: true }, cellStyle: { background: { color: '#F7F9FC' } } },&#10;          { text: 'Tighter — shares implementation', textStyle: { color: '#4A5568' }, cellStyle: { background: { color: '#F7F9FC' } } },&#10;        ],&#10;        [&#10;          { text: 'Use it when…', textStyle: { bold: true, color: '#0E3F8C' } },&#10;          { text: 'Unrelated classes share one ability', textStyle: { color: '#4A5568' } },&#10;          { text: 'Close relatives share real code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Default: reach for the interface. Move to an abstract class only when you must share cod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0671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Interface or Abstract Class?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11401425" y="9810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15" name=""/>
          <p:cNvGraphicFramePr/>
          <p:nvPr/>
        </p:nvGraphicFramePr>
        <p:xfrm rot="0" flipH="0" flipV="0">
          <a:off x="381000" y="1400175"/>
          <a:ext cx="11430000" cy="4943475"/>
        </p:xfrm>
        <a:graphic>
          <a:graphicData uri="http://schemas.openxmlformats.org/drawingml/2006/table">
            <a:tbl>
              <a:tblGrid>
                <a:gridCol w="3254325">
                  <a:extLst>
                    <a:ext uri="{9D8B030D-6E8A-4147-A177-3AD203B41FA5}">
                      <a16:colId val="1"/>
                    </a:ext>
                  </a:extLst>
                </a:gridCol>
                <a:gridCol w="4124077">
                  <a:extLst>
                    <a:ext uri="{9D8B030D-6E8A-4147-A177-3AD203B41FA5}">
                      <a16:colId val="2"/>
                    </a:ext>
                  </a:extLst>
                </a:gridCol>
                <a:gridCol w="405159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Interface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Abstract class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a class take several?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implement many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extend only 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Holds state (fields)?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constants only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shared fields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Ships working code?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signatures only (mostly)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concrete methods inherited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expresses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capability: "can be paid with"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family: "is a kind of"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Coupling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Loose — pure contract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Tighter — shares implementation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it when…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Unrelated classes share one ability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relatives share real code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1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2619375" y="6543675"/>
            <a:ext cx="6962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Default: reach for the interface. Move to an abstract class only when you must share code.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2px 40px 0 40px' }}&gt;&#10;    &lt;Text style={{ fontSize: 32, fontWeight: 'bold', color: '#0E3F8C' }}&gt;Program to an Interface&lt;/Text&gt;&#10;  &lt;/Box&gt;&#10;  &lt;Box style={{ flex: 1, padding: '18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Dependent on a concrete class&lt;/Text&gt;&#10;        &lt;/Box&gt;&#10;        &lt;CodeBlock code={`class OrderService {&#10;    private CampusCard card;   // one type only&#10;&#10;    void checkout(Order o) {&#10;        card.pay(o.total());&#10;    }&#10;}&#10;// adding Wallet means editing OrderService&#10;// and re-testing everything`} language='java' width={520} fontSize={12} /&gt;&#10;      &lt;/Box&gt;&#10;    &lt;/Box&gt;&#10;    &lt;Box style={{ flex: 3, flexDirection: 'column', gap: 12 }}&gt;&#10;      &lt;Box style={{ flex: 1, padding: '16px 18px', background: '#F0F5FC', borderRadius: 12, border: '1px solid #1E4FA8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Dependent on an interface&lt;/Text&gt;&#10;        &lt;/Box&gt;&#10;        &lt;CodeBlock code={`class OrderService {&#10;    private PaymentMethod method;   // any type&#10;&#10;    void checkout(Order o) {&#10;        method.pay(o.total());&#10;    }&#10;}&#10;// adding Wallet changes nothing here.&#10;// new class, same contract.`} language='java' width={520} fontSize={12} /&gt;&#10;      &lt;/Box&gt;&#10;    &lt;/Box&gt;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Declare the variable by what it must &lt;Text style={{ fontWeight: 'bold', color: '#0E3F8C' }}&gt;do&lt;/Text&gt;, not by what it &lt;Text style={{ fontWeight: 'bold', color: '#0E3F8C' }}&gt;is&lt;/Text&gt;.&lt;/Text&gt;&#10;    &lt;Text style={{ fontSize: 14, color: '#1E4FA8', fontWeight: 'bold', marginLeft: 'auto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Program to an Interface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90675"/>
            <a:ext cx="190500" cy="190500"/>
          </a:xfrm>
          <a:prstGeom prst="rect">
            <a:avLst/>
          </a:prstGeom>
          <a:ln/>
        </p:spPr>
      </p:pic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838200" y="1590675"/>
            <a:ext cx="224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Dependent on a concrete class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6219825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91275" y="1590675"/>
            <a:ext cx="190500" cy="190500"/>
          </a:xfrm>
          <a:prstGeom prst="rect">
            <a:avLst/>
          </a:prstGeom>
          <a:ln/>
        </p:spPr>
      </p:pic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677025" y="159067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Dependent on an interface</a:t>
            </a:r>
            <a:endParaRPr/>
          </a:p>
        </p:txBody>
      </p:sp>
      <p:pic>
        <p:nvPicPr>
          <p:cNvPr id="4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404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Declare the variable by what it must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do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, not by what it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is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552450" y="1857375"/>
            <a:ext cx="5248275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4" name=""/>
          <p:cNvSpPr txBox="1"/>
          <p:nvPr/>
        </p:nvSpPr>
        <p:spPr>
          <a:xfrm rot="0" flipH="0" flipV="0">
            <a:off x="704850" y="1990725"/>
            <a:ext cx="4943475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OrderService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CampusCard card;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one type only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checkout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(Order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o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card.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adding Wallet means editing OrderService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and re-testing everything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6391275" y="1857375"/>
            <a:ext cx="5248275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6" name=""/>
          <p:cNvSpPr txBox="1"/>
          <p:nvPr/>
        </p:nvSpPr>
        <p:spPr>
          <a:xfrm rot="0" flipH="0" flipV="0">
            <a:off x="6543675" y="1990725"/>
            <a:ext cx="4943475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OrderService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PaymentMethod method;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any type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checkout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(Order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o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method.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adding Wallet changes nothing here.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new class, same contract.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AYOFF&lt;/Text&gt;&#10;  &lt;/Box&gt;&#10;  &lt;Box style={{ padding: '20px 40px 0 40px', flexDirection: 'row', alignItems: 'center', justifyContent: 'space-between' }}&gt;&#10;    &lt;Text style={{ fontSize: 32, fontWeight: 'bold', color: '#0E3F8C' }}&gt;Closing the Loop from Week 01&lt;/Text&gt;&#10;    &lt;Box style={{ padding: '5px 14px', background: '#E8EFF8', borderRadius: 14 }}&gt;&#10;      &lt;Text style={{ fontSize: 13, color: '#1E4FA8', fontWeight: 'bold' }}&gt;W01 PROBLEM → W02 TOOL&lt;/Text&gt;&#10;    &lt;/Box&gt;&#10;  &lt;/Box&gt;&#10;  &lt;Box style={{ flex: 1, padding: '14px 40px 0 40px', flexDirection: 'row', gap: 22 }}&gt;&#10;    &lt;Box style={{ flex: 1, flexDirection: 'column', gap: 9 }}&gt;&#10;      &lt;Box style={{ flexDirection: 'row', alignItems: 'center', gap: 9 }}&gt;&#10;        &lt;FAIcon name='times-circle' style={{ fill: '#D9534F', width: 18, height: 18 }} /&gt;&#10;        &lt;Text style={{ fontSize: 16, fontWeight: 'bold', color: '#D9534F' }}&gt;Last week: the smell&lt;/Text&gt;&#10;      &lt;/Box&gt;&#10;      &lt;CodeBlock code={`if (type.equals(&quot;CARD&quot;)) {&#10;    chargeCard(order);&#10;} else if (type.equals(&quot;WECHAT&quot;)) {&#10;    chargeWechat(order);&#10;} else if (type.equals(&quot;ALIPAY&quot;)) {&#10;    chargeAlipay(order);&#10;} else {&#10;    throw new UnsupportedException();&#10;}&#10;&#10;// every new type = edit this method&#10;// and re-test every branch`} language='java' width={500} fontSize={11} /&gt;&#10;    &lt;/Box&gt;&#10;    &lt;Box style={{ width: 52, justifyContent: 'center', alignItems: 'center' }}&gt;&#10;      &lt;FAIcon name='long-arrow-alt-right' style={{ fill: '#3D7BD9', width: 34, height: 34 }} /&gt;&#10;    &lt;/Box&gt;&#10;    &lt;Box style={{ flex: 1, flexDirection: 'column', gap: 9 }}&gt;&#10;      &lt;Box style={{ flexDirection: 'row', alignItems: 'center', gap: 9 }}&gt;&#10;        &lt;FAIcon name='check-circle' style={{ fill: '#1E4FA8', width: 18, height: 18 }} /&gt;&#10;        &lt;Text style={{ fontSize: 16, fontWeight: 'bold', color: '#0E3F8C' }}&gt;This week: the tool&lt;/Text&gt;&#10;      &lt;/Box&gt;&#10;      &lt;CodeBlock code={`Receipt r = method.pay(order.total());&#10;&#10;// a new payment type?&#10;class Bursary implements PaymentMethod {&#10;    public Receipt pay(Money amount) {&#10;        return award.deduct(amount);&#10;    }&#10;}&#10;&#10;// no existing line edited.&#10;// no existing test rewritten.`} language='java' width={500} fontSize={11} /&gt;&#10;    &lt;/Box&gt;&#10;  &lt;/Box&gt;&#10;  &lt;Box style={{ height: 48, background: '#0E3F8C', padding: '0 40px', flexDirection: 'row', alignItems: 'center', justifyContent: 'center' }}&gt;&#10;    &lt;Text style={{ fontSize: 17, color: '#FFFFFF', fontWeight: '600' }}&gt;Same problem, one week apart. That gap is what this course is training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10839450" y="257175"/>
            <a:ext cx="971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PAYOFF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552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Closing the Loop from Week 01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9810750" y="942975"/>
            <a:ext cx="2000250" cy="247650"/>
          </a:xfrm>
          <a:prstGeom prst="roundRect">
            <a:avLst>
              <a:gd name="adj" fmla="val 5384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9944100" y="990600"/>
            <a:ext cx="173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W01 PROBLEM → W02 TOOL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71450" cy="17145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38175" y="1381125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Last week: the smell</a:t>
            </a:r>
            <a:endParaRPr/>
          </a:p>
        </p:txBody>
      </p:sp>
      <p:pic>
        <p:nvPicPr>
          <p:cNvPr id="4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34075" y="3733800"/>
            <a:ext cx="323850" cy="323850"/>
          </a:xfrm>
          <a:prstGeom prst="rect">
            <a:avLst/>
          </a:prstGeom>
          <a:ln/>
        </p:spPr>
      </p:pic>
      <p:pic>
        <p:nvPicPr>
          <p:cNvPr id="4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390650"/>
            <a:ext cx="171450" cy="171450"/>
          </a:xfrm>
          <a:prstGeom prst="rect">
            <a:avLst/>
          </a:prstGeom>
          <a:ln/>
        </p:spPr>
      </p:pic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810375" y="1381125"/>
            <a:ext cx="1381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This week: the tool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343275" y="6534150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Same problem, one week apart. That gap is what this course is training.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381000" y="1657350"/>
            <a:ext cx="5257800" cy="238125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3" name=""/>
          <p:cNvSpPr txBox="1"/>
          <p:nvPr/>
        </p:nvSpPr>
        <p:spPr>
          <a:xfrm rot="0" flipH="0" flipV="0">
            <a:off x="533400" y="1790700"/>
            <a:ext cx="4953000" cy="2114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2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2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2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every new type = edit this 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and re-test every branch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553200" y="1657350"/>
            <a:ext cx="5257800" cy="2209800"/>
          </a:xfrm>
          <a:prstGeom prst="roundRect">
            <a:avLst>
              <a:gd name="adj" fmla="val 3448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5" name=""/>
          <p:cNvSpPr txBox="1"/>
          <p:nvPr/>
        </p:nvSpPr>
        <p:spPr>
          <a:xfrm rot="0" flipH="0" flipV="0">
            <a:off x="6705600" y="1790700"/>
            <a:ext cx="4953000" cy="1943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Receipt r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method.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a new payment type?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Bursary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award.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deduct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no existing line edited.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no existing test rewritten.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4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2 HOURS&lt;/Text&gt;&#10;      &lt;Text style={{ fontSize: 46, fontWeight: 'bold', color: '#FFFFFF', lineHeight: 1.18 }}&gt;OO Analysis &amp;amp;&lt;br /&gt;M0 Kickoff&lt;/Text&gt;&#10;      &lt;Box style={{ width: 64, height: 4, background: '#FFC107', marginTop: 26, marginBottom: 26 }} /&gt;&#10;      &lt;Box style={{ flexDirection: 'column', gap: 12 }}&gt;&#10;        {[&#10;          'Exercise 2.1 — the class that does everything',&#10;          'From objects to responsibilities',&#10;          'Then: form your team and deliver M0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2 HOURS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OO Analysis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M0 Kickoff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67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619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objects to responsibilities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124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form your team and deliver M0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484" name="" descr="&lt;Slide style={{ background: '#FFFFFF', padding: 0 }}&gt;&#10;  &lt;Box style={{ padding: '22px 40px 6px 40px', flexDirection: 'row', alignItems: 'center', justifyContent: 'space-between' }}&gt;&#10;    &lt;Text style={{ fontSize: 32, fontWeight: 'bold', color: '#0E3F8C' }}&gt;Exercise 2.1 — The Class That Does Everything&lt;/Text&gt;&#10;    &lt;Text style={{ fontSize: 14, color: '#1E4FA8', fontWeight: 'bold' }}&gt;30 / 38&lt;/Text&gt;&#10;  &lt;/Box&gt;&#10;  &lt;Box style={{ flex: 1, padding: '10px 40px 0 40px', flexDirection: 'row', gap: 26 }}&gt;&#10;    &lt;Box style={{ flex: 3, flexDirection: 'column', gap: 9 }}&gt;&#10;      &lt;Box style={{ flexDirection: 'row', alignItems: 'center', gap: 9 }}&gt;&#10;        &lt;Box style={{ padding: '4px 12px', background: '#D9534F', borderRadius: 6 }}&gt;&#10;          &lt;Text style={{ fontSize: 13, color: '#FFFFFF', fontWeight: 'bold' }}&gt;BEFORE&lt;/Text&gt;&#10;        &lt;/Box&gt;&#10;        &lt;Text style={{ fontSize: 16, color: '#4A5568' }}&gt;One class, six unrelated reasons to change.&lt;/Text&gt;&#10;      &lt;/Box&gt;&#10;      &lt;CodeBlock code={`public class Order {&#10;    void placeOrder()      { ... }&#10;    void chargeCustomer()  { ... }&#10;    void notifyRider()     { ... }&#10;    void printReceipt()    { ... }&#10;    void updateInventory() { ... }&#10;    void sendSms()         { ... }&#10;    void applyDiscount()   { ... }&#10;}`} language='java' width={540} fontSize={12} /&gt;&#10;      &lt;Box style={{ padding: '12px 16px', background: '#FDF3F3', borderRadius: 9, borderLeft: '4px solid #D9534F' }}&gt;&#10;        &lt;Text style={{ fontSize: 15, color: '#4A5568', lineHeight: 1.5 }}&gt;Your task: &lt;Text style={{ fontWeight: 'bold', color: '#D9534F' }}&gt;list the distinct responsibilities&lt;/Text&gt; — not the methods.&lt;/Text&gt;&#10;      &lt;/Box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5, color: '#7FA2D6', letterSpacing: 1 }}&gt;A HINT YOU WILL NEED LATER&lt;/Text&gt;&#10;        &lt;Text style={{ fontSize: 20, fontWeight: 'bold', color: '#FFFFFF', lineHeight: 1.35 }}&gt;A responsibility is a reason to change.&lt;/Text&gt;&#10;        &lt;Text style={{ fontSize: 15, color: '#C5D4EA', lineHeight: 1.5 }}&gt;Two methods that change for the same reason belong together. Two that change for different reasons do not.&lt;/Text&gt;&#10;      &lt;/Box&gt;&#10;      &lt;Box style={{ padding: '14px 17px', background: '#F7F9FC', borderRadius: 10, border: '1px dashed #D9534F' }}&gt;&#10;        &lt;Text style={{ fontSize: 15, color: '#4A5568', lineHeight: 1.5 }}&gt;&lt;Text style={{ fontWeight: 'bold', color: '#D9534F' }}&gt;Remember this class.&lt;/Text&gt; We meet it again in Week 11, when GRASP tells us how to fix it properly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90 minutes. Work in pairs first, then report back as a grou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896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81000" y="733425"/>
            <a:ext cx="752475" cy="228600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95300" y="771525"/>
            <a:ext cx="523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BEFORE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1219200" y="752475"/>
            <a:ext cx="2971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One class, six unrelated reasons to change.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19100" y="3133725"/>
            <a:ext cx="6705600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92" name=""/>
          <p:cNvSpPr/>
          <p:nvPr/>
        </p:nvSpPr>
        <p:spPr>
          <a:xfrm rot="0" flipH="0" flipV="0">
            <a:off x="419100" y="3133725"/>
            <a:ext cx="6705600" cy="485775"/>
          </a:xfrm>
          <a:custGeom>
            <a:pathLst>
              <a:path w="704" h="51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6"/>
                </a:lnTo>
                <a:cubicBezTo>
                  <a:pt x="4" y="48"/>
                  <a:pt x="6" y="50"/>
                  <a:pt x="8" y="51"/>
                </a:cubicBezTo>
                <a:cubicBezTo>
                  <a:pt x="4" y="51"/>
                  <a:pt x="0" y="47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571500" y="3248025"/>
            <a:ext cx="63627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Your task: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 the distinct responsibilities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— not the methods.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7334250" y="2333625"/>
            <a:ext cx="4476750" cy="1609725"/>
          </a:xfrm>
          <a:prstGeom prst="roundRect">
            <a:avLst>
              <a:gd name="adj" fmla="val 71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7543800" y="252412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7FA2D6"/>
                </a:solidFill>
                <a:latin typeface="Microsoft YaHei"/>
                <a:ea typeface="Microsoft YaHei"/>
              </a:rPr>
              <a:t>A HINT YOU WILL NEED LATER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7543800" y="2809875"/>
            <a:ext cx="4057650" cy="3143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responsibility is a reason to change.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7543800" y="323850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Two methods that change for the same reason belong together. Two that change for different reasons do not.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7334250" y="405765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9534F"/>
            </a:solidFill>
            <a:prstDash val="dash"/>
          </a:ln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7496175" y="419100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Remember this class.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We meet it again in Week 11, when GRASP tells us how to fix it properly.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810000" y="6553200"/>
            <a:ext cx="4581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90 minutes. Work in pairs first, then report back as a group.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381000" y="1047750"/>
            <a:ext cx="6705600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503" name=""/>
          <p:cNvSpPr txBox="1"/>
          <p:nvPr/>
        </p:nvSpPr>
        <p:spPr>
          <a:xfrm rot="0" flipH="0" flipV="0">
            <a:off x="533400" y="1181100"/>
            <a:ext cx="6400800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placeOrder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chargeCustomer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notifyRider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printReceipt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updateInventory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sendSms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 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applyDiscount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LAB 2.1&lt;/Text&gt;&#10;  &lt;/Box&gt;&#10;  &lt;Box style={{ padding: '22px 40px 0 40px' }}&gt;&#10;    &lt;Text style={{ fontSize: 32, fontWeight: 'bold', color: '#0E3F8C' }}&gt;Listing Its Responsibilities&lt;/Text&gt;&#10;  &lt;/Box&gt;&#10;  &lt;Box style={{ flex: 1, padding: '22px 40px 0 40px', flexDirection: 'row', gap: 22, alignItems: 'stretch' }}&gt;&#10;    {[&#10;      { icon: 'calculator', n: '01', name: 'Know the money', methods: 'total() · applyDiscount()', why: 'changes when pricing rules change', color: '#1E4FA8' },&#10;      { icon: 'credit-card', n: '02', name: 'Take the payment', methods: 'chargeCustomer()', why: 'changes when a payment type appears', color: '#0E3F8C' },&#10;      { icon: 'bell', n: '03', name: 'Tell people things', methods: 'notifyRider() · sendSms() · printReceipt()', why: 'changes when a channel is added', color: '#3D7BD9' },&#10;    ].map((c) =&gt; (&#10;      &lt;Box key={c.n} style={{ flex: 1, padding: '22px 20px', background: '#F7F9FC', borderRadius: 12, border: '1px solid #E5E7EB', flexDirection: 'column', gap: 12 }}&gt;&#10;        &lt;Box style={{ flexDirection: 'row', alignItems: 'center', gap: 11 }}&gt;&#10;          &lt;Box style={{ width: 46, height: 46, borderRadius: 10, background: c.color, justifyContent: 'center', alignItems: 'center' }}&gt;&#10;            &lt;FAIcon name={c.icon} style={{ fill: '#FFFFFF', width: 22, height: 22 }} /&gt;&#10;          &lt;/Box&gt;&#10;          &lt;Text style={{ fontSize: 26, fontWeight: 'bold', color: '#E8EFF8', fontFamily: 'Georgia, serif' }}&gt;{c.n}&lt;/Text&gt;&#10;        &lt;/Box&gt;&#10;        &lt;Text style={{ fontSize: 20, fontWeight: 'bold', color: '#0E3F8C', lineHeight: 1.3 }}&gt;{c.name}&lt;/Text&gt;&#10;        &lt;Box style={{ padding: '11px 13px', background: '#FFFFFF', borderRadius: 8, border: '1px solid #E5E7EB' }}&gt;&#10;          &lt;Text style={{ fontSize: 14, color: '#1A2230', lineHeight: 1.45 }}&gt;{c.methods}&lt;/Text&gt;&#10;        &lt;/Box&gt;&#10;        &lt;Box style={{ padding: '11px 13px', background: '#E8EFF8', borderRadius: 8 }}&gt;&#10;          &lt;Text style={{ fontSize: 13, color: '#3D7BD9', fontWeight: 'bold', letterSpacing: 1, marginBottom: 4 }}&gt;REASON TO CHANGE&lt;/Text&gt;&#10;          &lt;Text style={{ fontSize: 14, color: '#4A5568', lineHeight: 1.45 }}&gt;{c.why}&lt;/Text&gt;&#10;        &lt;/Box&gt;&#10;      &lt;/Box&gt;&#10;    ))}&#10;  &lt;/Box&gt;&#10;  &lt;Box style={{ height: 50, padding: '0 40px', flexDirection: 'row', alignItems: 'center', gap: 14 }}&gt;&#10;    &lt;FAIcon name='lightbulb' style={{ fill: '#FFC107', width: 21, height: 21 }} /&gt;&#10;    &lt;Text style={{ fontSize: 17, color: '#4A5568' }}&gt;Three responsibilities, three separate reasons. One class holding all three is doing three jobs.&lt;/Text&gt;&#10;    &lt;Text style={{ fontSize: 14, color: '#1E4FA8', fontWeight: 'bold', marginLeft: 'auto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10877550" y="257175"/>
            <a:ext cx="933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LAB 2.1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Listing Its Responsibilities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381000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571500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1800225"/>
            <a:ext cx="209550" cy="209550"/>
          </a:xfrm>
          <a:prstGeom prst="rect">
            <a:avLst/>
          </a:prstGeom>
          <a:ln/>
        </p:spPr>
      </p:pic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114425" y="17526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571500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Know the money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571500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95325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total() · applyDiscount()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571500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695325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95325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pricing rules change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4257675" y="1476375"/>
            <a:ext cx="3676650" cy="49053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44481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62475" y="1800225"/>
            <a:ext cx="209550" cy="209550"/>
          </a:xfrm>
          <a:prstGeom prst="rect">
            <a:avLst/>
          </a:prstGeom>
          <a:ln/>
        </p:spPr>
      </p:pic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9911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448175" y="2238375"/>
            <a:ext cx="329565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Take the payment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4448175" y="2657475"/>
            <a:ext cx="3295650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72000" y="2762250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chargeCustomer()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4448175" y="3219450"/>
            <a:ext cx="3295650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72000" y="33242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572000" y="3514725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payment type appears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8143875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83343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48675" y="1800225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8773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334375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Tell people things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8334375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458200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notifyRider() · sendSms() · printReceipt()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8334375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8458200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458200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channel is added</a:t>
            </a:r>
            <a:endParaRPr/>
          </a:p>
        </p:txBody>
      </p:sp>
      <p:pic>
        <p:nvPicPr>
          <p:cNvPr id="5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24625"/>
            <a:ext cx="200025" cy="200025"/>
          </a:xfrm>
          <a:prstGeom prst="rect">
            <a:avLst/>
          </a:prstGeom>
          <a:ln/>
        </p:spPr>
      </p:pic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714375" y="6524625"/>
            <a:ext cx="6696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Three responsibilities, three separate reasons. One class holding all three is doing three jobs.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114014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3" name="" descr="&lt;Slide style={{ background: '#FFFFFF', padding: 0 }}&gt;&#10;  &lt;Box style={{ padding: '26px 40px 8px 40px', flexDirection: 'row', alignItems: 'center', justifyContent: 'space-between' }}&gt;&#10;    &lt;Text style={{ fontSize: 33, fontWeight: 'bold', color: '#0E3F8C' }}&gt;OO Analysis Is About Responsibilities&lt;/Text&gt;&#10;    &lt;Text style={{ fontSize: 14, color: '#1E4FA8', fontWeight: 'bold' }}&gt;32 / 38&lt;/Text&gt;&#10;  &lt;/Box&gt;&#10;  &lt;Box style={{ flex: 1, padding: '6px 40px 0 40px', justifyContent: 'center', alignItems: 'center' }}&gt;&#10;    &lt;svg width={1180} height={420} viewBox='0 0 1180 420'&gt;&#10;      &lt;rect x='50' y='40' width='400' height='300' rx='14' fill='#FDF3F3' stroke='#D9534F' strokeWidth='2' /&gt;&#10;      &lt;text x='250' y='74' textAnchor='middle' fill='#D9534F' fontSize='19' fontWeight='bold'&gt;Order — 7 methods, 3 jobs&lt;/text&gt;&#10;      &lt;text x='250' y='98' textAnchor='middle' fill='#8B97A8' fontSize='14'&gt;one class, three reasons to change&lt;/text&gt;&#10;      &lt;text x='80' y='134' fill='#4A5568' fontSize='15'&gt;placeOrder()      — coordinating&lt;/text&gt;&#10;      &lt;text x='80' y='164' fill='#4A5568' fontSize='15'&gt;total()           — money&lt;/text&gt;&#10;      &lt;text x='80' y='194' fill='#4A5568' fontSize='15'&gt;applyDiscount()   — money&lt;/text&gt;&#10;      &lt;text x='80' y='224' fill='#4A5568' fontSize='15'&gt;chargeCustomer()  — payment&lt;/text&gt;&#10;      &lt;text x='80' y='254' fill='#4A5568' fontSize='15'&gt;notifyRider()     — telling people&lt;/text&gt;&#10;      &lt;text x='80' y='284' fill='#4A5568' fontSize='15'&gt;sendSms()         — telling people&lt;/text&gt;&#10;      &lt;text x='80' y='314' fill='#4A5568' fontSize='15'&gt;printReceipt()    — telling people&lt;/text&gt;&#10;      &lt;line x1='460' y1='190' x2='556' y2='190' stroke='#3D7BD9' strokeWidth='3' markerEnd='url(#arrow32)' /&gt;&#10;      &lt;text x='508' y='176' textAnchor='middle' fill='#3D7BD9' fontSize='14' fontWeight='bold'&gt;assign&lt;/text&gt;&#10;      &lt;text x='508' y='216' textAnchor='middle' fill='#3D7BD9' fontSize='14' fontWeight='bold'&gt;responsibilities&lt;/text&gt;&#10;      &lt;defs&gt;&#10;        &lt;marker id='arrow32' markerWidth='10' markerHeight='10' refX='9' refY='5' orient='auto'&gt;&#10;          &lt;path d='M0,0 L10,5 L0,10 z' fill='#3D7BD9' /&gt;&#10;        &lt;/marker&gt;&#10;      &lt;/defs&gt;&#10;      &lt;rect x='566' y='40' width='560' height='88' rx='12' fill='#E8EFF8' stroke='#3D7BD9' strokeWidth='2' /&gt;&#10;      &lt;text x='594' y='74' fill='#0E3F8C' fontSize='18' fontWeight='bold'&gt;Order&lt;/text&gt;&#10;      &lt;text x='594' y='100' fill='#4A5568' fontSize='14'&gt;knows the items and the money&lt;/text&gt;&#10;      &lt;text x='1078' y='92' textAnchor='end' fill='#3D7BD9' fontSize='13' fontWeight='bold'&gt;1 reason: pricing&lt;/text&gt;&#10;      &lt;rect x='566' y='146' width='560' height='88' rx='12' fill='#F0F5FC' stroke='#1E4FA8' strokeWidth='2' /&gt;&#10;      &lt;text x='594' y='180' fill='#0E3F8C' fontSize='18' fontWeight='bold'&gt;PaymentService&lt;/text&gt;&#10;      &lt;text x='594' y='206' fill='#4A5568' fontSize='14'&gt;takes the payment via an interface&lt;/text&gt;&#10;      &lt;text x='1078' y='198' textAnchor='end' fill='#1E4FA8' fontSize='13' fontWeight='bold'&gt;1 reason: payment types&lt;/text&gt;&#10;      &lt;rect x='566' y='252' width='560' height='88' rx='12' fill='#F7F9FC' stroke='#3D7BD9' strokeWidth='2' /&gt;&#10;      &lt;text x='594' y='286' fill='#0E3F8C' fontSize='18' fontWeight='bold'&gt;NotificationService&lt;/text&gt;&#10;      &lt;text x='594' y='312' fill='#4A5568' fontSize='14'&gt;tells the rider, the shop, the student&lt;/text&gt;&#10;      &lt;text x='1078' y='304' textAnchor='end' fill='#3D7BD9' fontSize='13' fontWeight='bold'&gt;1 reason: channels&lt;/text&gt;&#10;      &lt;text x='846' y='380' textAnchor='middle' fill='#8B97A8' fontSize='14'&gt;Each object keeps the data its own job needs. That is cohesion.&lt;/text&gt;&#10;    &lt;/svg&gt;&#10;  &lt;/Box&gt;&#10;  &lt;Box style={{ height: 52, background: '#0E3F8C', padding: '0 40px', flexDirection: 'row', alignItems: 'center', justifyContent: 'center' }}&gt;&#10;    &lt;Text style={{ fontSize: 18, color: '#FFFFFF', fontWeight: '600' }}&gt;Syntax was the warm-up. Deciding who is responsible — that is analysi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715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OO Analysis Is About Responsibilities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pic>
        <p:nvPicPr>
          <p:cNvPr id="5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62100"/>
            <a:ext cx="11239500" cy="4000500"/>
          </a:xfrm>
          <a:prstGeom prst="rect">
            <a:avLst/>
          </a:prstGeom>
          <a:ln/>
        </p:spPr>
      </p:pic>
      <p:sp>
        <p:nvSpPr>
          <p:cNvPr id="54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3114675" y="6505575"/>
            <a:ext cx="5962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Syntax was the warm-up. Deciding who is responsible — that is analysis.</a:t>
            </a:r>
            <a:endParaRPr/>
          </a:p>
        </p:txBody>
      </p:sp>
    </p:spTree>
  </p:cSld>
</p:sld>
</file>

<file path=ppt/slides/slide3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ILESTONE M0&lt;/Text&gt;&#10;  &lt;/Box&gt;&#10;  &lt;Box style={{ padding: '20px 40px 0 40px', flexDirection: 'row', alignItems: 'center', justifyContent: 'space-between' }}&gt;&#10;    &lt;Text style={{ fontSize: 32, fontWeight: 'bold', color: '#0E3F8C' }}&gt;Project M0 — What Is Due&lt;/Text&gt;&#10;    &lt;Box style={{ padding: '6px 16px', background: '#D9534F', borderRadius: 6 }}&gt;&#10;      &lt;Text style={{ fontSize: 15, color: '#FFFFFF', fontWeight: 'bold' }}&gt;DUE FRI SEP 11&lt;/Text&gt;&#10;    &lt;/Box&gt;&#10;  &lt;/Box&gt;&#10;  &lt;Box style={{ flex: 1, padding: '18px 40px 0 40px', flexDirection: 'column', gap: 11, justifyContent: 'center' }}&gt;&#10;    {[&#10;      ['file-signature', 'Team charter', 'Team name, member roles, communication rules, role rotation plan.', 'Guidebook Appendix A'],&#10;      ['users', 'Stakeholder list', 'Everyone with an interest in CampusBites — name them and say why.', '5–8 is a good range'],&#10;      ['eye', 'One-paragraph vision', 'What it does, for whom, and why it beats the current way.', '150 words or fewer'],&#10;      ['code-branch', 'Repository registered', 'Create the team repo, invite klausren, push one README.', 'Deadline Schedule §4'],&#10;    ].map(([icon, t, d, tag]) =&gt; (&#10;      &lt;Box key={t} style={{ flexDirection: 'row', gap: 16, alignItems: 'center', padding: '15px 20px', background: '#F7F9FC', borderRadius: 10, border: '1px solid #E5E7EB' }}&gt;&#10;        &lt;Box style={{ width: 44, height: 44, borderRadius: 10, background: '#E8EFF8', justifyContent: 'center', alignItems: 'center' }}&gt;&#10;          &lt;FAIcon name={icon} style={{ fill: '#1E4FA8', width: 22, height: 22 }} /&gt;&#10;        &lt;/Box&gt;&#10;        &lt;Box style={{ flex: 1, flexDirection: 'column', gap: 3 }}&gt;&#10;          &lt;Text style={{ fontSize: 18, fontWeight: 'bold', color: '#1A2230' }}&gt;{t}&lt;/Text&gt;&#10;          &lt;Text style={{ fontSize: 14, color: '#4A5568', lineHeight: 1.45 }}&gt;{d}&lt;/Text&gt;&#10;        &lt;/Box&gt;&#10;        &lt;Box style={{ padding: '6px 13px', background: '#F0F5FC', borderRadius: 14 }}&gt;&#10;          &lt;Text style={{ fontSize: 13, color: '#1E4FA8', fontWeight: 'bold' }}&gt;{tag}&lt;/Text&gt;&#10;        &lt;/Box&gt;&#10;      &lt;/Box&gt;&#10;    ))}&#10;  &lt;/Box&gt;&#10;  &lt;Box style={{ height: 46, background: '#0E3F8C', padding: '0 40px', flexDirection: 'row', alignItems: 'center', justifyContent: 'center', gap: 12 }}&gt;&#10;    &lt;FAIcon name='info-circle' style={{ fill: '#FFC107', width: 20, height: 20 }} /&gt;&#10;    &lt;Text style={{ fontSize: 17, color: '#FFFFFF', fontWeight: '600' }}&gt;M0 is pass / fail — but a failed M0 blocks nothing yet. It is your rehearsa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0325100" y="257175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MILESTONE M0</a:t>
            </a:r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37623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Project M0 — What Is Due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10410825" y="923925"/>
            <a:ext cx="1400175" cy="285750"/>
          </a:xfrm>
          <a:prstGeom prst="roundRect">
            <a:avLst>
              <a:gd name="adj" fmla="val 2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10563225" y="9810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DUE FRI SEP 11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381000" y="223837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571500" y="24098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76275" y="2514600"/>
            <a:ext cx="209550" cy="209550"/>
          </a:xfrm>
          <a:prstGeom prst="rect">
            <a:avLst/>
          </a:prstGeom>
          <a:ln/>
        </p:spPr>
      </p:pic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3000" y="2381250"/>
            <a:ext cx="8705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1143000" y="2619375"/>
            <a:ext cx="87058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Team name, member roles, communication rules, role rotation plan.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10001250" y="2486025"/>
            <a:ext cx="161925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10125075" y="2543175"/>
            <a:ext cx="1371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Guidebook Appendix A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81000" y="310515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571500" y="32766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6275" y="3381375"/>
            <a:ext cx="209550" cy="209550"/>
          </a:xfrm>
          <a:prstGeom prst="rect">
            <a:avLst/>
          </a:prstGeom>
          <a:ln/>
        </p:spPr>
      </p:pic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143000" y="3248025"/>
            <a:ext cx="8915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1143000" y="3486150"/>
            <a:ext cx="89154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Everyone with an interest in CampusBites — name them and say why.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10210800" y="3352800"/>
            <a:ext cx="14097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10334625" y="3409950"/>
            <a:ext cx="1162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5–8 is a good range</a:t>
            </a:r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381000" y="397192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571500" y="41433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76275" y="4248150"/>
            <a:ext cx="209550" cy="209550"/>
          </a:xfrm>
          <a:prstGeom prst="rect">
            <a:avLst/>
          </a:prstGeom>
          <a:ln/>
        </p:spPr>
      </p:pic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143000" y="4114800"/>
            <a:ext cx="895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1143000" y="4352925"/>
            <a:ext cx="89535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it does, for whom, and why it beats the current way.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10248900" y="4219575"/>
            <a:ext cx="13716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372725" y="4276725"/>
            <a:ext cx="1123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150 words or fewer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381000" y="483870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571500" y="50101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76275" y="5114925"/>
            <a:ext cx="209550" cy="209550"/>
          </a:xfrm>
          <a:prstGeom prst="rect">
            <a:avLst/>
          </a:prstGeom>
          <a:ln/>
        </p:spPr>
      </p:pic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1143000" y="4981575"/>
            <a:ext cx="880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143000" y="5219700"/>
            <a:ext cx="88011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Create the team repo, invite klausren, push one README.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10096500" y="5086350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10220325" y="5143500"/>
            <a:ext cx="127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33725" y="6543675"/>
            <a:ext cx="190500" cy="19050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3438525" y="6543675"/>
            <a:ext cx="5619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pass / fail — but a failed M0 blocks nothing yet. It is your rehearsal.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0 · CHARTER&lt;/Text&gt;&#10;  &lt;/Box&gt;&#10;  &lt;Box style={{ padding: '20px 40px 0 40px' }}&gt;&#10;    &lt;Text style={{ fontSize: 32, fontWeight: 'bold', color: '#0E3F8C' }}&gt;Team Charter Essentials&lt;/Text&gt;&#10;  &lt;/Box&gt;&#10;  &lt;Box style={{ flex: 1, padding: '18px 40px 0 40px', flexDirection: 'row', gap: 26 }}&gt;&#10;    &lt;Box style={{ flex: 3, flexDirection: 'column', gap: 10, justifyContent: 'center' }}&gt;&#10;      {[&#10;        ['tag', 'Team name', 'One line. You will be called this all semester.'],&#10;        ['user-tag', 'Roles', 'Team Lead, Recorder, Reviewer — write down who starts in which.'],&#10;        ['comments', 'Communication rules', 'Where you talk, how fast you reply, what counts as an emergency.'],&#10;        ['sync', 'Role rotation', 'Rotate every milestone so nobody owns one job all term.'],&#10;        ['gavel', 'Conflict rule', 'What you do when two members disagree — decide now, not at 23:59.'],&#10;      ].map(([icon, t, d]) =&gt; (&#10;        &lt;Box key={t} style={{ flexDirection: 'row', gap: 13, alignItems: 'center', padding: '13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2 }}&gt;&#10;            &lt;Text style={{ fontSize: 16, fontWeight: 'bold', color: '#1A2230' }}&gt;{t}&lt;/Text&gt;&#10;            &lt;Text style={{ fontSize: 13, color: '#4A5568', lineHeight: 1.4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handshake' style={{ fill: '#FFC107', width: 32, height: 32 }} /&gt;&#10;      &lt;Text style={{ fontSize: 21, fontWeight: 'bold', color: '#FFFFFF', lineHeight: 1.35 }}&gt;The charter is a contract between the three of you.&lt;/Text&gt;&#10;      &lt;Text style={{ fontSize: 15, color: '#C5D4EA', lineHeight: 1.55 }}&gt;Not with me. When a milestone slips, this document is what you point at.&lt;/Text&gt;&#10;      &lt;Box style={{ padding: '13px 16px', background: '#1E4FA8', borderRadius: 8 }}&gt;&#10;        &lt;Text style={{ fontSize: 14, color: '#B9CDF0', lineHeight: 1.45 }}&gt;Template: &lt;Text style={{ fontWeight: 'bold', color: '#FFFFFF' }}&gt;Project Guidebook, Appendix A&lt;/Text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10372725" y="257175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M0 · CHARTER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Team Charter Essentials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381000" y="2095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42925" y="2238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38175" y="2333625"/>
            <a:ext cx="190500" cy="190500"/>
          </a:xfrm>
          <a:prstGeom prst="rect">
            <a:avLst/>
          </a:prstGeom>
          <a:ln/>
        </p:spPr>
      </p:pic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47750" y="2219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Team name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1047750" y="2428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line. You will be called this all semester.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81000" y="2857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542925" y="3000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" y="3095625"/>
            <a:ext cx="190500" cy="190500"/>
          </a:xfrm>
          <a:prstGeom prst="rect">
            <a:avLst/>
          </a:prstGeom>
          <a:ln/>
        </p:spPr>
      </p:pic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1047750" y="2981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Roles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1047750" y="3190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Team Lead, Recorder, Reviewer — write down who starts in which.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381000" y="3619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542925" y="3762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" y="3857625"/>
            <a:ext cx="190500" cy="190500"/>
          </a:xfrm>
          <a:prstGeom prst="rect">
            <a:avLst/>
          </a:prstGeom>
          <a:ln/>
        </p:spPr>
      </p:pic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1047750" y="3743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Communication rules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047750" y="3952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Where you talk, how fast you reply, what counts as an emergency.</a:t>
            </a:r>
            <a:endParaRPr/>
          </a:p>
        </p:txBody>
      </p:sp>
      <p:sp>
        <p:nvSpPr>
          <p:cNvPr id="610" name=""/>
          <p:cNvSpPr/>
          <p:nvPr/>
        </p:nvSpPr>
        <p:spPr>
          <a:xfrm rot="0" flipH="0" flipV="0">
            <a:off x="381000" y="4381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1" name=""/>
          <p:cNvSpPr/>
          <p:nvPr/>
        </p:nvSpPr>
        <p:spPr>
          <a:xfrm rot="0" flipH="0" flipV="0">
            <a:off x="542925" y="4524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38175" y="4619625"/>
            <a:ext cx="190500" cy="190500"/>
          </a:xfrm>
          <a:prstGeom prst="rect">
            <a:avLst/>
          </a:prstGeom>
          <a:ln/>
        </p:spPr>
      </p:pic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1047750" y="4505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 rotation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047750" y="4714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Rotate every milestone so nobody owns one job all term.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43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42925" y="5286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38175" y="5381625"/>
            <a:ext cx="190500" cy="190500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47750" y="5267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Conflict rule</a:t>
            </a:r>
            <a:endParaRPr/>
          </a:p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1047750" y="5476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you do when two members disagree — decide now, not at 23:59.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7334250" y="1419225"/>
            <a:ext cx="4476750" cy="5057775"/>
          </a:xfrm>
          <a:prstGeom prst="roundRect">
            <a:avLst>
              <a:gd name="adj" fmla="val 255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562850" y="2762250"/>
            <a:ext cx="304800" cy="304800"/>
          </a:xfrm>
          <a:prstGeom prst="rect">
            <a:avLst/>
          </a:prstGeom>
          <a:ln/>
        </p:spPr>
      </p:pic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62850" y="3200400"/>
            <a:ext cx="40195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charter is a contract between the three of you.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7562850" y="3990975"/>
            <a:ext cx="4019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Not with me. When a milestone slips, this document is what you point at.</a:t>
            </a:r>
            <a:endParaRPr/>
          </a:p>
        </p:txBody>
      </p:sp>
      <p:sp>
        <p:nvSpPr>
          <p:cNvPr id="624" name=""/>
          <p:cNvSpPr/>
          <p:nvPr/>
        </p:nvSpPr>
        <p:spPr>
          <a:xfrm rot="0" flipH="0" flipV="0">
            <a:off x="7562850" y="4657725"/>
            <a:ext cx="4019550" cy="485775"/>
          </a:xfrm>
          <a:prstGeom prst="roundRect">
            <a:avLst>
              <a:gd name="adj" fmla="val 156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7715250" y="4781550"/>
            <a:ext cx="3714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Template: </a:t>
            </a: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Project Guidebook, Appendix A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8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Stakeholders &amp;amp; Vis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, alignItems: 'center' }}&gt;&#10;      &lt;svg width={600} height={350} viewBox='0 0 600 350'&gt;&#10;        &lt;rect x='215' y='18' width='170' height='56' rx='12' fill='#0E3F8C' /&gt;&#10;        &lt;text x='300' y='42' textAnchor='middle' fill='#FFFFFF' fontSize='18' fontWeight='bold'&gt;CampusBites&lt;/text&gt;&#10;        &lt;text x='300' y='64' textAnchor='middle' fill='#FFC107' fontSize='14'&gt;the system&lt;/text&gt;&#10;        &lt;line x1='240' y1='74' x2='90' y2='112' stroke='#3D7BD9' strokeWidth='2' /&gt;&#10;        &lt;line x1='360' y1='74' x2='510' y2='112' stroke='#3D7BD9' strokeWidth='2' /&gt;&#10;        &lt;line x1='300' y1='74' x2='300' y2='118' stroke='#3D7BD9' strokeWidth='2' /&gt;&#10;        &lt;rect x='10' y='118' width='170' height='76' rx='12' fill='#E8EFF8' stroke='#3D7BD9' strokeWidth='2' /&gt;&#10;        &lt;text x='95' y='146' textAnchor='middle' fill='#0E3F8C' fontSize='16' fontWeight='bold'&gt;Students&lt;/text&gt;&#10;        &lt;text x='95' y='168' textAnchor='middle' fill='#4A5568' fontSize='13'&gt;want food fast,&lt;/text&gt;&#10;        &lt;text x='95' y='186' textAnchor='middle' fill='#4A5568' fontSize='13'&gt;want to track it&lt;/text&gt;&#10;        &lt;rect x='215' y='118' width='170' height='76' rx='12' fill='#E8EFF8' stroke='#3D7BD9' strokeWidth='2' /&gt;&#10;        &lt;text x='300' y='146' textAnchor='middle' fill='#0E3F8C' fontSize='16' fontWeight='bold'&gt;Restaurants&lt;/text&gt;&#10;        &lt;text x='300' y='168' textAnchor='middle' fill='#4A5568' fontSize='13'&gt;want more orders,&lt;/text&gt;&#10;        &lt;text x='300' y='186' textAnchor='middle' fill='#4A5568' fontSize='13'&gt;fewer errors&lt;/text&gt;&#10;        &lt;rect x='420' y='118' width='170' height='76' rx='12' fill='#E8EFF8' stroke='#3D7BD9' strokeWidth='2' /&gt;&#10;        &lt;text x='505' y='146' textAnchor='middle' fill='#0E3F8C' fontSize='16' fontWeight='bold'&gt;Riders&lt;/text&gt;&#10;        &lt;text x='505' y='168' textAnchor='middle' fill='#4A5568' fontSize='13'&gt;want clear routes,&lt;/text&gt;&#10;        &lt;text x='505' y='186' textAnchor='middle' fill='#4A5568' fontSize='13'&gt;fair pay&lt;/text&gt;&#10;        &lt;rect x='10' y='216' width='170' height='66' rx='12' fill='#F7F9FC' stroke='#D6DCE5' strokeWidth='1' /&gt;&#10;        &lt;text x='95' y='244' textAnchor='middle' fill='#0E3F8C' fontSize='15' fontWeight='bold'&gt;Canteen admin&lt;/text&gt;&#10;        &lt;text x='95' y='266' textAnchor='middle' fill='#8B97A8' fontSize='13'&gt;compliance, reports&lt;/text&gt;&#10;        &lt;rect x='215' y='216' width='170' height='66' rx='12' fill='#F7F9FC' stroke='#D6DCE5' strokeWidth='1' /&gt;&#10;        &lt;text x='300' y='244' textAnchor='middle' fill='#0E3F8C' fontSize='15' fontWeight='bold'&gt;IT services&lt;/text&gt;&#10;        &lt;text x='300' y='266' textAnchor='middle' fill='#8B97A8' fontSize='13'&gt;runs and maintains it&lt;/text&gt;&#10;        &lt;rect x='420' y='216' width='170' height='66' rx='12' fill='#F7F9FC' stroke='#D6DCE5' strokeWidth='1' /&gt;&#10;        &lt;text x='505' y='244' textAnchor='middle' fill='#0E3F8C' fontSize='15' fontWeight='bold'&gt;Dorm supervisors&lt;/text&gt;&#10;        &lt;text x='505' y='266' textAnchor='middle' fill='#8B97A8' fontSize='13'&gt;delivery hand-off&lt;/text&gt;&#10;        &lt;text x='300' y='312' textAnchor='middle' fill='#4A5568' fontSize='14'&gt;A stakeholder is anyone who can affect — or is affected by — the system.&lt;/text&gt;&#10;        &lt;text x='300' y='334' textAnchor='middle' fill='#8B97A8' fontSize='13'&gt;You will add more in Week 4.&lt;/text&gt;&#10;      &lt;/svg&gt;&#10;    &lt;/Box&gt;&#10;    &lt;Box style={{ flex: 4, flexDirection: 'column', gap: 12, justifyContent: 'center' }}&gt;&#10;      &lt;Text style={{ fontSize: 17, fontWeight: 'bold', color: '#0E3F8C' }}&gt;The vision paragraph&lt;/Text&gt;&#10;      &lt;Box style={{ padding: '18px 20px', background: '#F0F5FC', borderRadius: 10, borderLeft: '4px solid #1E4FA8' }}&gt;&#10;        &lt;Text style={{ fontSize: 16, color: '#1A2230', lineHeight: 1.6, fontStyle: 'italic' }}&gt;&quot;For students and staff who want hot food delivered across campus, CampusBites is a mobile ordering platform that connects dorm kitchens and canteens with student riders. Unlike messaging a seller directly, it tracks every order from kitchen to door.&quot;&lt;/Text&gt;&#10;      &lt;/Box&gt;&#10;      &lt;Box style={{ flexDirection: 'column', gap: 7 }}&gt;&#10;        &lt;Text style={{ fontSize: 15, color: '#4A5568', lineHeight: 1.5 }}&gt;&lt;Text style={{ fontWeight: 'bold', color: '#0E3F8C' }}&gt;For…&lt;/Text&gt; who has the problem&lt;/Text&gt;&#10;        &lt;Text style={{ fontSize: 15, color: '#4A5568', lineHeight: 1.5 }}&gt;&lt;Text style={{ fontWeight: 'bold', color: '#0E3F8C' }}&gt;…is a…&lt;/Text&gt; what it is, in one noun phrase&lt;/Text&gt;&#10;        &lt;Text style={{ fontSize: 15, color: '#4A5568', lineHeight: 1.5 }}&gt;&lt;Text style={{ fontWeight: 'bold', color: '#0E3F8C' }}&gt;Unlike…&lt;/Text&gt; what makes it worth building&lt;/Text&gt;&#10;      &lt;/Box&gt;&#10;    &lt;/Box&gt;&#10;  &lt;/Box&gt;&#10;  &lt;Box style={{ height: 42, padding: '0 40px', flexDirection: 'row', alignItems: 'center', gap: 12 }}&gt;&#10;    &lt;FAIcon name='exclamation-triangle' style={{ fill: '#FFC107', width: 19, height: 19 }} /&gt;&#10;    &lt;Text style={{ fontSize: 16, color: '#4A5568' }}&gt;Stakeholder ≠ user. Someone can be affected without ever logging 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2194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Stakeholders &amp; Vision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pic>
        <p:nvPicPr>
          <p:cNvPr id="6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933575"/>
            <a:ext cx="5715000" cy="3333750"/>
          </a:xfrm>
          <a:prstGeom prst="rect">
            <a:avLst/>
          </a:prstGeom>
          <a:ln/>
        </p:spPr>
      </p:pic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6838950" y="217170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vision paragraph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6877050" y="2486025"/>
            <a:ext cx="4972050" cy="1514475"/>
          </a:xfrm>
          <a:prstGeom prst="roundRect">
            <a:avLst>
              <a:gd name="adj" fmla="val 62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5" name=""/>
          <p:cNvSpPr/>
          <p:nvPr/>
        </p:nvSpPr>
        <p:spPr>
          <a:xfrm rot="0" flipH="0" flipV="0">
            <a:off x="6877050" y="2486025"/>
            <a:ext cx="4972050" cy="1514475"/>
          </a:xfrm>
          <a:custGeom>
            <a:pathLst>
              <a:path w="522" h="15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53"/>
                </a:lnTo>
                <a:cubicBezTo>
                  <a:pt x="4" y="156"/>
                  <a:pt x="6" y="158"/>
                  <a:pt x="9" y="159"/>
                </a:cubicBezTo>
                <a:cubicBezTo>
                  <a:pt x="4" y="158"/>
                  <a:pt x="0" y="154"/>
                  <a:pt x="0" y="1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455295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i="1">
                <a:solidFill>
                  <a:srgbClr val="1A2230"/>
                </a:solidFill>
                <a:latin typeface="Microsoft YaHei"/>
                <a:ea typeface="Microsoft YaHei"/>
              </a:rPr>
              <a:t>"For students and staff who want hot food delivered across campus, CampusBites is a mobile ordering platform that connects dorm kitchens and canteens with student riders. Unlike messaging a seller directly, it tracks every order from kitchen to door."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6838950" y="41148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For…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who has the problem</a:t>
            </a:r>
            <a:endParaRPr/>
          </a:p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6838950" y="443865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…is a…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it is, in one noun phrase</a:t>
            </a:r>
            <a:endParaRPr/>
          </a:p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6838950" y="47625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Unlike…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makes it worth building</a:t>
            </a:r>
            <a:endParaRPr/>
          </a:p>
        </p:txBody>
      </p:sp>
      <p:pic>
        <p:nvPicPr>
          <p:cNvPr id="6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6572250"/>
            <a:ext cx="180975" cy="180975"/>
          </a:xfrm>
          <a:prstGeom prst="rect">
            <a:avLst/>
          </a:prstGeom>
          <a:ln/>
        </p:spPr>
      </p:pic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676275" y="6562725"/>
            <a:ext cx="4695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Stakeholder ≠ user. Someone can be affected without ever logging in.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HOMEWORK&lt;/Text&gt;&#10;  &lt;/Box&gt;&#10;  &lt;Box style={{ padding: '22px 40px 0 40px' }}&gt;&#10;    &lt;Text style={{ fontSize: 33, fontWeight: 'bold', color: '#0E3F8C' }}&gt;Homework for Week 2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a little. Write a little code.&lt;/Text&gt;&#10;      &lt;Text style={{ fontSize: 16, color: '#C5D4EA', lineHeight: 1.55 }}&gt;Both tasks feed next week's UML work. Do the code task before Friday.&lt;/Text&gt;&#10;    &lt;/Box&gt;&#10;    &lt;Box style={{ flex: 1, flexDirection: 'column', gap: 12, justifyContent: 'center' }}&gt;&#10;      {[&#10;        ['book', 'Read Larman on OO basics', 'Chapters as assigned. Skim for vocabulary, not for mastery.'],&#10;        ['code', 'Refactor the Order class', 'Extract one interface and two implementations from the messy version.'],&#10;        ['terminal', 'Push it to your team repo', 'A commit history is your contribution evidence. Start it now.'],&#10;        ['edit', 'Draft your vision paragraph', 'Bring a first draft to the lab on Friday.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4, padding: '0 40px', flexDirection: 'row', alignItems: 'center', justifyContent: 'space-between' }}&gt;&#10;    &lt;Text style={{ fontSize: 13, color: '#8B97A8' }}&gt;Stuck on the refactor? Bring the broken version to Friday's lab — that is a better question than no question.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HOMEWORK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Homework for Week 2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47800"/>
            <a:ext cx="2857500" cy="4991100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609600" y="3105150"/>
            <a:ext cx="24003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a little. Write a little code.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609600" y="3924300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Both tasks feed next week's UML work. Do the code task before Friday.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3505200" y="22860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3676650" y="24479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81425" y="2552700"/>
            <a:ext cx="209550" cy="209550"/>
          </a:xfrm>
          <a:prstGeom prst="rect">
            <a:avLst/>
          </a:prstGeom>
          <a:ln/>
        </p:spPr>
      </p:pic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4229100" y="2419350"/>
            <a:ext cx="3524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on OO basics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42291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Chapters as assigned. Skim for vocabulary, not for mastery.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505200" y="31432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3676650" y="33051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3409950"/>
            <a:ext cx="209550" cy="209550"/>
          </a:xfrm>
          <a:prstGeom prst="rect">
            <a:avLst/>
          </a:prstGeom>
          <a:ln/>
        </p:spPr>
      </p:pic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229100" y="3276600"/>
            <a:ext cx="419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Refactor the Order class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229100" y="3505200"/>
            <a:ext cx="41910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Extract one interface and two implementations from the messy version.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3505200" y="40005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2" name=""/>
          <p:cNvSpPr/>
          <p:nvPr/>
        </p:nvSpPr>
        <p:spPr>
          <a:xfrm rot="0" flipH="0" flipV="0">
            <a:off x="3676650" y="41624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4267200"/>
            <a:ext cx="209550" cy="209550"/>
          </a:xfrm>
          <a:prstGeom prst="rect">
            <a:avLst/>
          </a:prstGeom>
          <a:ln/>
        </p:spPr>
      </p:pic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4229100" y="4133850"/>
            <a:ext cx="3486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Push it to your team repo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4229100" y="4362450"/>
            <a:ext cx="34861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commit history is your contribution evidence. Start it now.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3505200" y="48577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3676650" y="50196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5124450"/>
            <a:ext cx="209550" cy="20955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4229100" y="4991100"/>
            <a:ext cx="2190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Draft your vision paragraph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4229100" y="5219700"/>
            <a:ext cx="21907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Bring a first draft to the lab on Friday.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585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the refactor? Bring the broken version to Friday's lab — that is a better question than no question.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3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Getting Ready for M0&lt;/Text&gt;&#10;    &lt;Text style={{ fontSize: 14, color: '#1E4FA8', fontWeight: 'bold' }}&gt;37 / 38&lt;/Text&gt;&#10;  &lt;/Box&gt;&#10;  &lt;Box style={{ flex: 1, padding: '10px 40px 0 40px', flexDirection: 'row', gap: 26 }}&gt;&#10;    &lt;Box style={{ flex: 3, justifyContent: 'center', alignItems: 'center' }}&gt;&#10;      &lt;svg width={560} height={330} viewBox='0 0 560 330'&gt;&#10;        &lt;line x1='60' y1='60' x2='60' y2='286' stroke='#D6DCE5' strokeWidth='3' /&gt;&#10;        &lt;circle cx='60' cy='60' r='9' fill='#3D7BD9' /&gt;&#10;        &lt;text x='86' y='56' fill='#0E3F8C' fontSize='16' fontWeight='bold'&gt;Today — in the lab&lt;/text&gt;&#10;        &lt;text x='86' y='78' fill='#4A5568' fontSize='14'&gt;Form the team. Appoint the Lead. Draft the charter.&lt;/text&gt;&#10;        &lt;circle cx='60' cy='130' r='9' fill='#3D7BD9' /&gt;&#10;        &lt;text x='86' y='126' fill='#0E3F8C' fontSize='16' fontWeight='bold'&gt;Wed Sep 09&lt;/text&gt;&#10;        &lt;text x='86' y='148' fill='#4A5568' fontSize='14'&gt;Stakeholder list. Vision paragraph, first draft.&lt;/text&gt;&#10;        &lt;circle cx='60' cy='200' r='9' fill='#3D7BD9' /&gt;&#10;        &lt;text x='86' y='196' fill='#0E3F8C' fontSize='16' fontWeight='bold'&gt;Thu Sep 10&lt;/text&gt;&#10;        &lt;text x='86' y='218' fill='#4A5568' fontSize='14'&gt;Create the repo. Invite klausren. Push the README.&lt;/text&gt;&#10;        &lt;circle cx='60' cy='270' r='11' fill='#D9534F' /&gt;&#10;        &lt;text x='86' y='266' fill='#D9534F' fontSize='17' fontWeight='bold'&gt;Fri Sep 11 · 23:59&lt;/text&gt;&#10;        &lt;text x='86' y='288' fill='#4A5568' fontSize='14'&gt;Tag m0 and push the tag. This is the submission.&lt;/text&gt;&#10;        &lt;rect x='40' y='304' width='480' height='4' rx='2' fill='#FFC107' /&gt;&#10;      &lt;/svg&gt;&#10;    &lt;/Box&gt;&#10;    &lt;Box style={{ flex: 2, flexDirection: 'column', gap: 12, justifyContent: 'center' }}&gt;&#10;      &lt;Text style={{ fontSize: 17, fontWeight: 'bold', color: '#0E3F8C' }}&gt;The one rule that trips people&lt;/Text&gt;&#10;      &lt;Box style={{ padding: '16px 18px', background: '#FDF3F3', borderRadius: 10, borderLeft: '4px solid #D9534F' }}&gt;&#10;        &lt;Text style={{ fontSize: 16, color: '#4A5568', lineHeight: 1.5 }}&gt;A milestone is &lt;Text style={{ fontWeight: 'bold', color: '#D9534F' }}&gt;only submitted when the tag is pushed&lt;/Text&gt;. A commit on Friday is not enough.&lt;/Text&gt;&#10;      &lt;/Box&gt;&#10;      &lt;Box style={{ padding: '14px 16px', background: '#F7F9FC', borderRadius: 9, border: '1px solid #E5E7EB' }}&gt;&#10;        &lt;Text style={{ fontSize: 14, color: '#4A5568', lineHeight: 1.5 }}&gt;git tag m0&lt;br /&gt;git push origin m0&lt;/Text&gt;&#10;      &lt;/Box&gt;&#10;      &lt;Box style={{ padding: '14px 16px', background: '#F0F5FC', borderRadius: 9 }}&gt;&#10;        &lt;Text style={{ fontSize: 14, color: '#4A5568', lineHeight: 1.5 }}&gt;Full protocol and the zip fallback: &lt;Text style={{ fontWeight: 'bold', color: '#0E3F8C' }}&gt;Deadline Schedule §4&lt;/Text&gt;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M0 is small on purpose. It exists to test your pipeline before anything is grade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0670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28825"/>
            <a:ext cx="5334000" cy="3143250"/>
          </a:xfrm>
          <a:prstGeom prst="rect">
            <a:avLst/>
          </a:prstGeom>
          <a:ln/>
        </p:spPr>
      </p:pic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7334250" y="2266950"/>
            <a:ext cx="447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one rule that trips people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7372350" y="2581275"/>
            <a:ext cx="4476750" cy="857250"/>
          </a:xfrm>
          <a:prstGeom prst="roundRect">
            <a:avLst>
              <a:gd name="adj" fmla="val 111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80" name=""/>
          <p:cNvSpPr/>
          <p:nvPr/>
        </p:nvSpPr>
        <p:spPr>
          <a:xfrm rot="0" flipH="0" flipV="0">
            <a:off x="7372350" y="2581275"/>
            <a:ext cx="4476750" cy="857250"/>
          </a:xfrm>
          <a:custGeom>
            <a:pathLst>
              <a:path w="470" h="9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4"/>
                </a:lnTo>
                <a:cubicBezTo>
                  <a:pt x="4" y="87"/>
                  <a:pt x="6" y="89"/>
                  <a:pt x="9" y="90"/>
                </a:cubicBezTo>
                <a:cubicBezTo>
                  <a:pt x="4" y="89"/>
                  <a:pt x="0" y="85"/>
                  <a:pt x="0" y="8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543800" y="2733675"/>
            <a:ext cx="4095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milestone is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only submitted when the tag is pushed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. A commit on Friday is not enough.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7334250" y="3552825"/>
            <a:ext cx="4476750" cy="752475"/>
          </a:xfrm>
          <a:prstGeom prst="roundRect">
            <a:avLst>
              <a:gd name="adj" fmla="val 1139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7486650" y="3686175"/>
            <a:ext cx="41719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tag m0</a:t>
            </a:r>
            <a:endParaRPr/>
          </a:p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push origin m0</a:t>
            </a:r>
            <a:endParaRPr/>
          </a:p>
        </p:txBody>
      </p:sp>
      <p:sp>
        <p:nvSpPr>
          <p:cNvPr id="684" name=""/>
          <p:cNvSpPr/>
          <p:nvPr/>
        </p:nvSpPr>
        <p:spPr>
          <a:xfrm rot="0" flipH="0" flipV="0">
            <a:off x="7334250" y="4419600"/>
            <a:ext cx="44767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486650" y="4552950"/>
            <a:ext cx="41719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Full protocol and the zip fallback: 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686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3028950" y="6553200"/>
            <a:ext cx="6143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small on purpose. It exists to test your pipeline before anything is graded.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8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2 · WRAP-UP&lt;/Text&gt;&#10;    &lt;Text style={{ fontSize: 46, fontWeight: 'bold', color: '#FFFFFF', fontFamily: 'Georgia, serif', lineHeight: 1.15 }}&gt;&#10;      Four pillars.&lt;br /&gt;One idea.&#10;    &lt;/Text&gt;&#10;    &lt;Box style={{ width: 76, height: 4, background: '#FFC107', marginTop: 24, marginBottom: 24 }} /&gt;&#10;    &lt;Box style={{ flexDirection: 'row', gap: 14, marginBottom: 26 }}&gt;&#10;      {[&#10;        ['Objects', 'state · behaviour · identity'],&#10;        ['Encapsulation', 'hide state, expose behaviour'],&#10;        ['Composition', 'has-a beats is-a, usually'],&#10;        ['Interfaces', 'depend on what it does'],&#10;      ].map(([t, d]) =&gt; (&#10;        &lt;Box key={t} style={{ flex: 1, padding: '16px 16px', background: '#1E4FA8', borderRadius: 10, flexDirection: 'column', gap: 5 }}&gt;&#10;          &lt;Text style={{ fontSize: 17, fontWeight: 'bold', color: '#FFFFFF' }}&gt;{t}&lt;/Text&gt;&#10;          &lt;Text style={{ fontSize: 13, color: '#B9CDF0', lineHeight: 1.4 }}&gt;{d}&lt;/Text&gt;&#10;        &lt;/Box&gt;&#10;      ))}&#10;    &lt;/Box&gt;&#10;    &lt;Text style={{ fontSize: 21, color: '#C5D4EA', lineHeight: 1.5 }}&gt;&#10;      All four serve one purpose: &lt;Text style={{ fontWeight: 'bold', color: '#FFC107' }}&gt;put each responsibility in the right place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UML Essentials: the diagrams you will draw all term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762000" y="17145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02 · WRAP-UP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762000" y="20764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Four pillars.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idea.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762000" y="35147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93" name=""/>
          <p:cNvSpPr/>
          <p:nvPr/>
        </p:nvSpPr>
        <p:spPr>
          <a:xfrm rot="0" flipH="0" flipV="0">
            <a:off x="762000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14400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914400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state · behaviour · identity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3467100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3619500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3619500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hide state, expose behaviour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6162675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6315075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6315075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has-a beats is-a, usually</a:t>
            </a:r>
            <a:endParaRPr/>
          </a:p>
        </p:txBody>
      </p:sp>
      <p:sp>
        <p:nvSpPr>
          <p:cNvPr id="702" name=""/>
          <p:cNvSpPr/>
          <p:nvPr/>
        </p:nvSpPr>
        <p:spPr>
          <a:xfrm rot="0" flipH="0" flipV="0">
            <a:off x="8867775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9020175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9020175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depend on what it does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762000" y="47910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All four serve one purpose: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put each responsibility in the right place.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08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4752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UML Essentials: the diagrams you will draw all term.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2026-09-09T13:58:25Z</dcterms:created>
  <dcterms:modified xsi:type="dcterms:W3CDTF">2026-09-09T13:58:25Z</dcterms:modified>
</cp:coreProperties>
</file>
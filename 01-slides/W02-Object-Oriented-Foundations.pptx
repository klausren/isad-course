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7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22.xml" ContentType="application/vnd.openxmlformats-officedocument.presentationml.slide+xml"/>
  <Override PartName="/ppt/slides/slide29.xml" ContentType="application/vnd.openxmlformats-officedocument.presentationml.slide+xml"/>
  <Override PartName="/ppt/slides/slide6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36.xml" ContentType="application/vnd.openxmlformats-officedocument.presentationml.slide+xml"/>
  <Override PartName="/ppt/presentation.xml" ContentType="application/vnd.openxmlformats-officedocument.presentationml.presentation.main+xml"/>
  <Override PartName="/ppt/slides/slide32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s/slide15.xml" ContentType="application/vnd.openxmlformats-officedocument.presentationml.slide+xml"/>
  <Override PartName="/ppt/slides/slide34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3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41" Type="http://schemas.openxmlformats.org/officeDocument/2006/relationships/tableStyles" Target="tableStyles.xml" /><Relationship Id="rId40" Type="http://schemas.openxmlformats.org/officeDocument/2006/relationships/presProps" Target="presProps.xml" /><Relationship Id="rId4" Type="http://schemas.openxmlformats.org/officeDocument/2006/relationships/slide" Target="slides/slide4.xml" /><Relationship Id="rId39" Type="http://schemas.openxmlformats.org/officeDocument/2006/relationships/notesMaster" Target="notesMasters/notesMaster1.xml" /><Relationship Id="rId38" Type="http://schemas.openxmlformats.org/officeDocument/2006/relationships/slide" Target="slides/slide38.xml" /><Relationship Id="rId36" Type="http://schemas.openxmlformats.org/officeDocument/2006/relationships/slide" Target="slides/slide36.xml" /><Relationship Id="rId8" Type="http://schemas.openxmlformats.org/officeDocument/2006/relationships/slide" Target="slides/slide8.xml" /><Relationship Id="rId32" Type="http://schemas.openxmlformats.org/officeDocument/2006/relationships/slide" Target="slides/slide32.xml" /><Relationship Id="rId5" Type="http://schemas.openxmlformats.org/officeDocument/2006/relationships/slide" Target="slides/slide5.xml" /><Relationship Id="rId31" Type="http://schemas.openxmlformats.org/officeDocument/2006/relationships/slide" Target="slides/slide31.xml" /><Relationship Id="rId7" Type="http://schemas.openxmlformats.org/officeDocument/2006/relationships/slide" Target="slides/slide7.xml" /><Relationship Id="rId35" Type="http://schemas.openxmlformats.org/officeDocument/2006/relationships/slide" Target="slides/slide35.xml" /><Relationship Id="rId30" Type="http://schemas.openxmlformats.org/officeDocument/2006/relationships/slide" Target="slides/slide30.xml" /><Relationship Id="rId23" Type="http://schemas.openxmlformats.org/officeDocument/2006/relationships/slide" Target="slides/slide23.xml" /><Relationship Id="rId29" Type="http://schemas.openxmlformats.org/officeDocument/2006/relationships/slide" Target="slides/slide29.xml" /><Relationship Id="rId42" Type="http://schemas.openxmlformats.org/officeDocument/2006/relationships/viewProps" Target="viewProps.xml" /><Relationship Id="rId27" Type="http://schemas.openxmlformats.org/officeDocument/2006/relationships/slide" Target="slides/slide27.xml" /><Relationship Id="rId24" Type="http://schemas.openxmlformats.org/officeDocument/2006/relationships/slide" Target="slides/slide24.xml" /><Relationship Id="rId28" Type="http://schemas.openxmlformats.org/officeDocument/2006/relationships/slide" Target="slides/slide28.xml" /><Relationship Id="rId6" Type="http://schemas.openxmlformats.org/officeDocument/2006/relationships/slide" Target="slides/slide6.xml" /><Relationship Id="rId22" Type="http://schemas.openxmlformats.org/officeDocument/2006/relationships/slide" Target="slides/slide22.xml" /><Relationship Id="rId34" Type="http://schemas.openxmlformats.org/officeDocument/2006/relationships/slide" Target="slides/slide34.xml" /><Relationship Id="rId33" Type="http://schemas.openxmlformats.org/officeDocument/2006/relationships/slide" Target="slides/slide33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9" Type="http://schemas.openxmlformats.org/officeDocument/2006/relationships/slide" Target="slides/slide19.xml" /><Relationship Id="rId26" Type="http://schemas.openxmlformats.org/officeDocument/2006/relationships/slide" Target="slides/slide26.xml" /><Relationship Id="rId37" Type="http://schemas.openxmlformats.org/officeDocument/2006/relationships/slide" Target="slides/slide37.xml" /><Relationship Id="rId17" Type="http://schemas.openxmlformats.org/officeDocument/2006/relationships/slide" Target="slides/slide17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25" Type="http://schemas.openxmlformats.org/officeDocument/2006/relationships/slide" Target="slides/slide25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5" Type="http://schemas.openxmlformats.org/officeDocument/2006/relationships/image" Target="media/image55.svg" /><Relationship Id="rId1" Type="http://schemas.openxmlformats.org/officeDocument/2006/relationships/image" Target="media/image51.svg" /><Relationship Id="rId4" Type="http://schemas.openxmlformats.org/officeDocument/2006/relationships/image" Target="media/image54.svg" /><Relationship Id="rId3" Type="http://schemas.openxmlformats.org/officeDocument/2006/relationships/image" Target="media/image53.svg" /><Relationship Id="rId2" Type="http://schemas.openxmlformats.org/officeDocument/2006/relationships/image" Target="media/image52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5" Type="http://schemas.openxmlformats.org/officeDocument/2006/relationships/image" Target="media/image17.svg" /><Relationship Id="rId3" Type="http://schemas.openxmlformats.org/officeDocument/2006/relationships/image" Target="media/image37.svg" /><Relationship Id="rId2" Type="http://schemas.openxmlformats.org/officeDocument/2006/relationships/image" Target="media/image36.svg" /><Relationship Id="rId4" Type="http://schemas.openxmlformats.org/officeDocument/2006/relationships/image" Target="media/image38.svg" /><Relationship Id="rId1" Type="http://schemas.openxmlformats.org/officeDocument/2006/relationships/image" Target="media/image56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57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58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4" Type="http://schemas.openxmlformats.org/officeDocument/2006/relationships/image" Target="media/image5.svg" /><Relationship Id="rId3" Type="http://schemas.openxmlformats.org/officeDocument/2006/relationships/image" Target="media/image4.svg" /><Relationship Id="rId1" Type="http://schemas.openxmlformats.org/officeDocument/2006/relationships/image" Target="media/image2.svg" /><Relationship Id="rId2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7.svg" /><Relationship Id="rId3" Type="http://schemas.openxmlformats.org/officeDocument/2006/relationships/image" Target="media/image8.svg" /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image" Target="media/image11.svg" /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media/image13.svg" /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4" Type="http://schemas.openxmlformats.org/officeDocument/2006/relationships/image" Target="media/image17.svg" /><Relationship Id="rId2" Type="http://schemas.openxmlformats.org/officeDocument/2006/relationships/image" Target="media/image15.svg" /><Relationship Id="rId3" Type="http://schemas.openxmlformats.org/officeDocument/2006/relationships/image" Target="media/image16.svg" /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image" Target="media/image19.svg" /><Relationship Id="rId1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3" Type="http://schemas.openxmlformats.org/officeDocument/2006/relationships/image" Target="media/image23.svg" /><Relationship Id="rId2" Type="http://schemas.openxmlformats.org/officeDocument/2006/relationships/image" Target="media/image22.svg" /><Relationship Id="rId1" Type="http://schemas.openxmlformats.org/officeDocument/2006/relationships/image" Target="media/image21.sv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4" Type="http://schemas.openxmlformats.org/officeDocument/2006/relationships/image" Target="media/image27.svg" /><Relationship Id="rId3" Type="http://schemas.openxmlformats.org/officeDocument/2006/relationships/image" Target="media/image26.svg" /><Relationship Id="rId2" Type="http://schemas.openxmlformats.org/officeDocument/2006/relationships/image" Target="media/image25.svg" /><Relationship Id="rId1" Type="http://schemas.openxmlformats.org/officeDocument/2006/relationships/image" Target="media/image24.sv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13.svg" /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4" Type="http://schemas.openxmlformats.org/officeDocument/2006/relationships/image" Target="media/image8.svg" /><Relationship Id="rId2" Type="http://schemas.openxmlformats.org/officeDocument/2006/relationships/image" Target="media/image29.svg" /><Relationship Id="rId1" Type="http://schemas.openxmlformats.org/officeDocument/2006/relationships/image" Target="media/image28.svg" /><Relationship Id="rId3" Type="http://schemas.openxmlformats.org/officeDocument/2006/relationships/image" Target="media/image30.sv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3" Type="http://schemas.openxmlformats.org/officeDocument/2006/relationships/image" Target="media/image5.svg" /><Relationship Id="rId2" Type="http://schemas.openxmlformats.org/officeDocument/2006/relationships/image" Target="media/image13.svg" /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2" Type="http://schemas.openxmlformats.org/officeDocument/2006/relationships/image" Target="media/image31.svg" /><Relationship Id="rId3" Type="http://schemas.openxmlformats.org/officeDocument/2006/relationships/image" Target="media/image13.svg" /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4" Type="http://schemas.openxmlformats.org/officeDocument/2006/relationships/image" Target="media/image5.svg" /><Relationship Id="rId3" Type="http://schemas.openxmlformats.org/officeDocument/2006/relationships/image" Target="media/image34.svg" /><Relationship Id="rId2" Type="http://schemas.openxmlformats.org/officeDocument/2006/relationships/image" Target="media/image33.svg" /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35.sv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5" Type="http://schemas.openxmlformats.org/officeDocument/2006/relationships/image" Target="media/image39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7.svg" /><Relationship Id="rId3" Type="http://schemas.openxmlformats.org/officeDocument/2006/relationships/image" Target="media/image38.svg" /><Relationship Id="rId2" Type="http://schemas.openxmlformats.org/officeDocument/2006/relationships/image" Target="media/image37.svg" /><Relationship Id="rId1" Type="http://schemas.openxmlformats.org/officeDocument/2006/relationships/image" Target="media/image36.svg" /></Relationships>
</file>

<file path=ppt/slides/_rels/slide34.xml.rels><?xml version="1.0" encoding="UTF-8" standalone="yes"?><Relationships xmlns="http://schemas.openxmlformats.org/package/2006/relationships"><Relationship Id="rId6" Type="http://schemas.openxmlformats.org/officeDocument/2006/relationships/image" Target="media/image44.svg" /><Relationship Id="rId5" Type="http://schemas.openxmlformats.org/officeDocument/2006/relationships/image" Target="media/image43.svg" /><Relationship Id="rId4" Type="http://schemas.openxmlformats.org/officeDocument/2006/relationships/image" Target="media/image42.svg" /><Relationship Id="rId2" Type="http://schemas.openxmlformats.org/officeDocument/2006/relationships/image" Target="media/image41.svg" /><Relationship Id="rId3" Type="http://schemas.openxmlformats.org/officeDocument/2006/relationships/image" Target="media/image29.svg" /><Relationship Id="rId1" Type="http://schemas.openxmlformats.org/officeDocument/2006/relationships/image" Target="media/image40.sv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2" Type="http://schemas.openxmlformats.org/officeDocument/2006/relationships/image" Target="media/image27.svg" /><Relationship Id="rId1" Type="http://schemas.openxmlformats.org/officeDocument/2006/relationships/image" Target="media/image45.svg" /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46.svg" /><Relationship Id="rId4" Type="http://schemas.openxmlformats.org/officeDocument/2006/relationships/image" Target="media/image49.svg" /><Relationship Id="rId3" Type="http://schemas.openxmlformats.org/officeDocument/2006/relationships/image" Target="media/image48.svg" /><Relationship Id="rId2" Type="http://schemas.openxmlformats.org/officeDocument/2006/relationships/image" Target="media/image47.svg" /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50.svg" /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762000" y="1905000"/>
            <a:ext cx="1781175" cy="323850"/>
          </a:xfrm>
          <a:prstGeom prst="roundRect">
            <a:avLst>
              <a:gd name="adj" fmla="val 52941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33450" y="1971675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ISAD · WEEK 02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2676525" y="2066925"/>
            <a:ext cx="533400" cy="9525"/>
          </a:xfrm>
          <a:prstGeom prst="rect">
            <a:avLst/>
          </a:prstGeom>
          <a:solidFill>
            <a:srgbClr val="5B84C4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343275" y="1971675"/>
            <a:ext cx="2257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MODULE A · FOUNDATIONS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5146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350" b="1">
                <a:solidFill>
                  <a:srgbClr val="FFFFFF"/>
                </a:solidFill>
                <a:latin typeface="Georgia"/>
                <a:ea typeface="Georgia"/>
              </a:rPr>
              <a:t>Object-Oriented</a:t>
            </a:r>
            <a:endParaRPr/>
          </a:p>
          <a:p>
            <a:pPr>
              <a:lnSpc>
                <a:spcPct val="112000"/>
              </a:lnSpc>
            </a:pPr>
            <a:r>
              <a:rPr lang="en-US" sz="4350" b="1">
                <a:solidFill>
                  <a:srgbClr val="FFFFFF"/>
                </a:solidFill>
                <a:latin typeface="Georgia"/>
                <a:ea typeface="Georgia"/>
              </a:rPr>
              <a:t>Foundations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426720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524375"/>
            <a:ext cx="106680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950">
                <a:solidFill>
                  <a:srgbClr val="B9CDF0"/>
                </a:solidFill>
                <a:latin typeface="Microsoft YaHei"/>
                <a:ea typeface="Microsoft YaHei"/>
              </a:rPr>
              <a:t>Objects, Encapsulation, Reuse &amp; Polymorphism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Ren Zheng · School of Software Engineering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763250" y="6219825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Fall 2026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41" name="" descr="&lt;Slide style={{ background: '#FFFFFF', padding: 0 }}&gt;&#10;  &lt;Box style={{ flexDirection: 'row', height: '100%' }}&gt;&#10;    &lt;Box style={{ width: 320, background: '#0E3F8C', padding: '60px 44px', flexDirection: 'column', justifyContent: 'space-between' }}&gt;&#10;      &lt;Box&gt;&#10;        &lt;Box style={{ width: 40, height: 4, background: '#FFC107', marginBottom: 24 }} /&gt;&#10;        &lt;Text style={{ fontSize: 46, fontWeight: 'bold', color: '#FFFFFF', fontFamily: 'Georgia, serif', lineHeight: 1.15 }}&gt;Contents&lt;/Text&gt;&#10;        &lt;Text style={{ fontSize: 16, color: '#7FA2D6', marginTop: 18, letterSpacing: 1 }}&gt;WEEK 02 · ROADMAP&lt;/Text&gt;&#10;      &lt;/Box&gt;&#10;      &lt;Text style={{ fontSize: 15, color: '#5B84C4', lineHeight: 1.5 }}&gt;Object-Oriented&lt;br /&gt;Foundations&lt;/Text&gt;&#10;    &lt;/Box&gt;&#10;    &lt;Box style={{ flex: 1, padding: '56px 56px', flexDirection: 'column', gap: 18 }}&gt;&#10;      {[&#10;        { n: '01', t: 'Recap &amp; CampusBites Kickoff', p: '03' },&#10;        { n: '02', t: 'Objects Everywhere', p: '07' },&#10;        { n: '03', t: 'Encapsulation', p: '12' },&#10;        { n: '04', t: 'Inheritance vs. Composition', p: '17' },&#10;        { n: '05', t: 'Polymorphism &amp; Interfaces', p: '23' },&#10;        { n: '06', t: 'Lab — OO Analysis &amp; M0 Kickoff', p: '29' },&#10;      ].map((item) =&gt; (&#10;        &lt;Box key={item.n} style={{ flexDirection: 'row', alignItems: 'center', gap: 20, padding: '16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{item.n}&lt;/Text&gt;&#10;          &lt;/Box&gt;&#10;          &lt;Text style={{ flex: 1, fontSize: 21, color: '#1A2230', fontWeight: '600' }}&gt;{item.t}&lt;/Text&gt;&#10;          &lt;Text style={{ fontSize: 20, color: '#8B97A8', fontWeight: 'bold' }}&gt;{item.p}&lt;/Text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419100" y="571500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19100" y="838200"/>
            <a:ext cx="22098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19100" y="16192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WEEK 02 · ROADMAP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19100" y="57721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Object-Oriented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Foundations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581400" y="5334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3771900" y="6858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905250" y="8096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457700" y="8096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Recap &amp; CampusBites Kickoff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249025" y="8191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3581400" y="15049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3771900" y="16573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905250" y="17811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457700" y="17811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Objects Everywhere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249025" y="17907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3581400" y="24765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3771900" y="26289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905250" y="27527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457700" y="27527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Encapsulation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249025" y="27622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581400" y="34480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3771900" y="36004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905250" y="37242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457700" y="37242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Inheritance vs. Composition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249025" y="37338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581400" y="44196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3771900" y="45720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3905250" y="46958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457700" y="46958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Polymorphism &amp; Interfaces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249025" y="47053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23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3581400" y="53911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3771900" y="55435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905250" y="56673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457700" y="56673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Lab — OO Analysis &amp; M0 Kickoff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249025" y="56769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29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71450" y="2171700"/>
            <a:ext cx="25050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Recap &amp;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CampusBites Kickoff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4143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Where Week 01 left us — and what plugs in here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2924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four pillars we cover this week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3838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CampusBites starts today; M0 due Fri Sep 11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10896600" y="2571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RECAP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Where We Left Off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381000" y="25908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552450" y="27146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" y="2809875"/>
            <a:ext cx="190500" cy="190500"/>
          </a:xfrm>
          <a:prstGeom prst="rect">
            <a:avLst/>
          </a:prstGeom>
          <a:ln/>
        </p:spPr>
      </p:pic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066800" y="2724150"/>
            <a:ext cx="465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An information system is People + Process + Data + Technology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066800" y="2933700"/>
            <a:ext cx="465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Not just software.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381000" y="33147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552450" y="34385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7700" y="3533775"/>
            <a:ext cx="190500" cy="190500"/>
          </a:xfrm>
          <a:prstGeom prst="rect">
            <a:avLst/>
          </a:prstGeom>
          <a:ln/>
        </p:spPr>
      </p:pic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1066800" y="344805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The analyst translates between business and technology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066800" y="3657600"/>
            <a:ext cx="4133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W01, Part 3.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381000" y="40386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552450" y="41624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7700" y="4257675"/>
            <a:ext cx="190500" cy="190500"/>
          </a:xfrm>
          <a:prstGeom prst="rect">
            <a:avLst/>
          </a:prstGeom>
          <a:ln/>
        </p:spPr>
      </p:pic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1066800" y="4171950"/>
            <a:ext cx="2714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Analysis asks what; design asks how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1066800" y="4381500"/>
            <a:ext cx="2714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W01, Part 4.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381000" y="47625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552450" y="48863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7700" y="4981575"/>
            <a:ext cx="190500" cy="190500"/>
          </a:xfrm>
          <a:prstGeom prst="rect">
            <a:avLst/>
          </a:prstGeom>
          <a:ln/>
        </p:spPr>
      </p:pic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1066800" y="4895850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Roadmap: models → principles → patterns → architecture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1066800" y="5105400"/>
            <a:ext cx="422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W01, Part 5.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7343775" y="1495425"/>
            <a:ext cx="4467225" cy="498157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572375" y="3086100"/>
            <a:ext cx="304800" cy="304800"/>
          </a:xfrm>
          <a:prstGeom prst="rect">
            <a:avLst/>
          </a:prstGeom>
          <a:ln/>
        </p:spPr>
      </p:pic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572375" y="3524250"/>
            <a:ext cx="401002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The missing piece: what an object actually is.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572375" y="4314825"/>
            <a:ext cx="40100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Last week we said this course is about objects. This week we get precise — before any diagram, before any pattern.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7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0601325" y="257175"/>
            <a:ext cx="1209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THIS WEEK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1123950" y="2200275"/>
            <a:ext cx="118110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Georgia"/>
                <a:ea typeface="Georgia"/>
              </a:rPr>
              <a:t>4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1238250" y="442912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1E4FA8"/>
                </a:solidFill>
                <a:latin typeface="Microsoft YaHei"/>
                <a:ea typeface="Microsoft YaHei"/>
              </a:rPr>
              <a:t>PILLARS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1447800" y="477202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3467100" y="1838325"/>
            <a:ext cx="83820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3467100" y="1838325"/>
            <a:ext cx="8382000" cy="742950"/>
          </a:xfrm>
          <a:custGeom>
            <a:pathLst>
              <a:path w="880" h="7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2"/>
                </a:lnTo>
                <a:cubicBezTo>
                  <a:pt x="4" y="75"/>
                  <a:pt x="6" y="77"/>
                  <a:pt x="9" y="78"/>
                </a:cubicBezTo>
                <a:cubicBezTo>
                  <a:pt x="4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3657600" y="2076450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4105275" y="197167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Objects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4105275" y="2209800"/>
            <a:ext cx="3219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State, behaviour, identity — what an object is made of.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3467100" y="2705100"/>
            <a:ext cx="83820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3467100" y="2705100"/>
            <a:ext cx="8382000" cy="742950"/>
          </a:xfrm>
          <a:custGeom>
            <a:pathLst>
              <a:path w="880" h="7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2"/>
                </a:lnTo>
                <a:cubicBezTo>
                  <a:pt x="4" y="75"/>
                  <a:pt x="6" y="77"/>
                  <a:pt x="9" y="78"/>
                </a:cubicBezTo>
                <a:cubicBezTo>
                  <a:pt x="4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657600" y="2943225"/>
            <a:ext cx="304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4133850" y="2838450"/>
            <a:ext cx="3333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Encapsulation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4133850" y="3076575"/>
            <a:ext cx="33337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Hide the state; expose behaviour. Guard your invariants.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3467100" y="3571875"/>
            <a:ext cx="83820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3467100" y="3571875"/>
            <a:ext cx="8382000" cy="742950"/>
          </a:xfrm>
          <a:custGeom>
            <a:pathLst>
              <a:path w="880" h="7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2"/>
                </a:lnTo>
                <a:cubicBezTo>
                  <a:pt x="4" y="75"/>
                  <a:pt x="6" y="77"/>
                  <a:pt x="9" y="78"/>
                </a:cubicBezTo>
                <a:cubicBezTo>
                  <a:pt x="4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3657600" y="3810000"/>
            <a:ext cx="304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133850" y="3705225"/>
            <a:ext cx="3333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Reuse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4133850" y="3943350"/>
            <a:ext cx="33337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Inheritance vs. composition — and why one is preferred.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3467100" y="4438650"/>
            <a:ext cx="83820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3467100" y="4438650"/>
            <a:ext cx="8382000" cy="742950"/>
          </a:xfrm>
          <a:custGeom>
            <a:pathLst>
              <a:path w="880" h="7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2"/>
                </a:lnTo>
                <a:cubicBezTo>
                  <a:pt x="4" y="75"/>
                  <a:pt x="6" y="77"/>
                  <a:pt x="9" y="78"/>
                </a:cubicBezTo>
                <a:cubicBezTo>
                  <a:pt x="4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3657600" y="4676775"/>
            <a:ext cx="314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D7BD9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4143375" y="4572000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Polymorphism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4143375" y="4810125"/>
            <a:ext cx="3429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One message, many behaviours. Program to an interface.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2533650" y="6486525"/>
            <a:ext cx="7134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These four are the grammar. Design patterns (Weeks 13–15) are the literature built on it.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10763250" y="2571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KICKOFF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CampusBites Starts Today</a:t>
            </a:r>
            <a:endParaRPr/>
          </a:p>
        </p:txBody>
      </p:sp>
      <p:pic>
        <p:nvPicPr>
          <p:cNvPr id="7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247900"/>
            <a:ext cx="5334000" cy="3429000"/>
          </a:xfrm>
          <a:prstGeom prst="rect">
            <a:avLst/>
          </a:prstGeom>
          <a:ln/>
        </p:spPr>
      </p:pic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6838950" y="2266950"/>
            <a:ext cx="497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M0 — due Fri Sep 11 (pass / fail)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6838950" y="2581275"/>
            <a:ext cx="4972050" cy="57150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991350" y="26955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77075" y="2781300"/>
            <a:ext cx="171450" cy="171450"/>
          </a:xfrm>
          <a:prstGeom prst="rect">
            <a:avLst/>
          </a:prstGeom>
          <a:ln/>
        </p:spPr>
      </p:pic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7448550" y="2705100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Team charter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7448550" y="2886075"/>
            <a:ext cx="1876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Name, roles, communication rules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6838950" y="3248025"/>
            <a:ext cx="4972050" cy="57150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6991350" y="33623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77075" y="3448050"/>
            <a:ext cx="171450" cy="171450"/>
          </a:xfrm>
          <a:prstGeom prst="rect">
            <a:avLst/>
          </a:prstGeom>
          <a:ln/>
        </p:spPr>
      </p:pic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448550" y="33718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Stakeholder list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7448550" y="355282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Who cares about CampusBites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6838950" y="3914775"/>
            <a:ext cx="4972050" cy="57150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6991350" y="4029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77075" y="4114800"/>
            <a:ext cx="171450" cy="171450"/>
          </a:xfrm>
          <a:prstGeom prst="rect">
            <a:avLst/>
          </a:prstGeom>
          <a:ln/>
        </p:spPr>
      </p:pic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7448550" y="40386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One-paragraph vision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7448550" y="4219575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What it does, for whom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6838950" y="4581525"/>
            <a:ext cx="4972050" cy="57150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6991350" y="46958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77075" y="4781550"/>
            <a:ext cx="171450" cy="171450"/>
          </a:xfrm>
          <a:prstGeom prst="rect">
            <a:avLst/>
          </a:prstGeom>
          <a:ln/>
        </p:spPr>
      </p:pic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7448550" y="47053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Repository registered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7448550" y="4886325"/>
            <a:ext cx="1514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Create repo, invite klausren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6867525" y="5286375"/>
            <a:ext cx="4972050" cy="371475"/>
          </a:xfrm>
          <a:prstGeom prst="roundRect">
            <a:avLst>
              <a:gd name="adj" fmla="val 23077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6867525" y="5286375"/>
            <a:ext cx="4972050" cy="371475"/>
          </a:xfrm>
          <a:custGeom>
            <a:pathLst>
              <a:path w="522" h="39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33"/>
                </a:lnTo>
                <a:cubicBezTo>
                  <a:pt x="3" y="36"/>
                  <a:pt x="5" y="38"/>
                  <a:pt x="8" y="39"/>
                </a:cubicBezTo>
                <a:cubicBezTo>
                  <a:pt x="3" y="38"/>
                  <a:pt x="0" y="34"/>
                  <a:pt x="0" y="30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7019925" y="5391150"/>
            <a:ext cx="463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Microsoft YaHei"/>
                <a:ea typeface="Microsoft YaHei"/>
              </a:rPr>
              <a:t>One team of four. You settle the roles in this week's lab.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886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Full brief: Project Guidebook · Deadline Schedule §4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8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28575" y="2171700"/>
            <a:ext cx="27908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Objects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Everywhere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3476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From things in the world to things in code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State, behaviour, identity — the three parts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Class is the mould; object is what you pour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10725150" y="257175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OBJECTS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From Real Objects to Software Objects</a:t>
            </a:r>
            <a:endParaRPr/>
          </a:p>
        </p:txBody>
      </p:sp>
      <p:pic>
        <p:nvPicPr>
          <p:cNvPr id="8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2333625"/>
            <a:ext cx="5524500" cy="3238500"/>
          </a:xfrm>
          <a:prstGeom prst="rect">
            <a:avLst/>
          </a:prstGeom>
          <a:ln/>
        </p:spPr>
      </p:pic>
      <p:sp>
        <p:nvSpPr>
          <p:cNvPr id="827" name=""/>
          <p:cNvSpPr/>
          <p:nvPr/>
        </p:nvSpPr>
        <p:spPr>
          <a:xfrm rot="0" flipH="0" flipV="0">
            <a:off x="6877050" y="2752725"/>
            <a:ext cx="4972050" cy="619125"/>
          </a:xfrm>
          <a:prstGeom prst="roundRect">
            <a:avLst>
              <a:gd name="adj" fmla="val 1538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6877050" y="2752725"/>
            <a:ext cx="4972050" cy="619125"/>
          </a:xfrm>
          <a:custGeom>
            <a:pathLst>
              <a:path w="52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7067550" y="2924175"/>
            <a:ext cx="45529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We model the part of the world the system cares about.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6838950" y="3486150"/>
            <a:ext cx="4972050" cy="914400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7029450" y="3657600"/>
            <a:ext cx="45910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 customer has a name, a phone and a dorm — but CampusBites only stores what the delivery needs.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6877050" y="4514850"/>
            <a:ext cx="4972050" cy="628650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6877050" y="4514850"/>
            <a:ext cx="4972050" cy="628650"/>
          </a:xfrm>
          <a:custGeom>
            <a:pathLst>
              <a:path w="522" h="6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0"/>
                </a:lnTo>
                <a:cubicBezTo>
                  <a:pt x="4" y="63"/>
                  <a:pt x="6" y="65"/>
                  <a:pt x="9" y="66"/>
                </a:cubicBezTo>
                <a:cubicBezTo>
                  <a:pt x="4" y="65"/>
                  <a:pt x="0" y="61"/>
                  <a:pt x="0" y="5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7067550" y="4686300"/>
            <a:ext cx="45529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Choosing what to leave out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is the analyst's first real decision.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35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Anatomy of an Object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11401425" y="3619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38</a:t>
            </a:r>
            <a:endParaRPr/>
          </a:p>
        </p:txBody>
      </p:sp>
      <p:pic>
        <p:nvPicPr>
          <p:cNvPr id="8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514475"/>
            <a:ext cx="11239500" cy="4095750"/>
          </a:xfrm>
          <a:prstGeom prst="rect">
            <a:avLst/>
          </a:prstGeom>
          <a:ln/>
        </p:spPr>
      </p:pic>
      <p:sp>
        <p:nvSpPr>
          <p:cNvPr id="842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3571875" y="6486525"/>
            <a:ext cx="5057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State alone is a data record. State plus behaviour is an object.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725150" y="257175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OBJECTS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Objects vs. Classes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419100" y="2362200"/>
            <a:ext cx="6696075" cy="1209675"/>
          </a:xfrm>
          <a:prstGeom prst="roundRect">
            <a:avLst>
              <a:gd name="adj" fmla="val 944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19100" y="2362200"/>
            <a:ext cx="6696075" cy="1209675"/>
          </a:xfrm>
          <a:custGeom>
            <a:pathLst>
              <a:path w="703" h="12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9"/>
                </a:lnTo>
                <a:cubicBezTo>
                  <a:pt x="4" y="123"/>
                  <a:pt x="7" y="126"/>
                  <a:pt x="10" y="127"/>
                </a:cubicBezTo>
                <a:cubicBezTo>
                  <a:pt x="4" y="126"/>
                  <a:pt x="0" y="121"/>
                  <a:pt x="0" y="11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28650" y="2552700"/>
            <a:ext cx="6238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Class — the mould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28650" y="2828925"/>
            <a:ext cx="62388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Written once. Declares what fields and methods every instance will have. Lives in source code.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19100" y="3705225"/>
            <a:ext cx="6696075" cy="1209675"/>
          </a:xfrm>
          <a:prstGeom prst="roundRect">
            <a:avLst>
              <a:gd name="adj" fmla="val 9449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19100" y="3705225"/>
            <a:ext cx="6696075" cy="1209675"/>
          </a:xfrm>
          <a:custGeom>
            <a:pathLst>
              <a:path w="703" h="12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9"/>
                </a:lnTo>
                <a:cubicBezTo>
                  <a:pt x="4" y="123"/>
                  <a:pt x="7" y="126"/>
                  <a:pt x="10" y="127"/>
                </a:cubicBezTo>
                <a:cubicBezTo>
                  <a:pt x="4" y="126"/>
                  <a:pt x="0" y="121"/>
                  <a:pt x="0" y="11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28650" y="3895725"/>
            <a:ext cx="6238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Object — what you pour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28650" y="4171950"/>
            <a:ext cx="62388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Created at runtime, many times over. Each one owns its own state, shares the same behaviour.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81000" y="5048250"/>
            <a:ext cx="6696075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52450" y="5181600"/>
            <a:ext cx="63531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One 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Order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class. Thousands of orders at lunchtime.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343775" y="1457325"/>
            <a:ext cx="4467225" cy="501967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91425" y="2581275"/>
            <a:ext cx="323850" cy="323850"/>
          </a:xfrm>
          <a:prstGeom prst="rect">
            <a:avLst/>
          </a:prstGeom>
          <a:ln/>
        </p:spPr>
      </p:pic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591425" y="3057525"/>
            <a:ext cx="39719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 class is a blueprint. An object is a house.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591425" y="3895725"/>
            <a:ext cx="39719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The blueprint is not the house — you cannot cook in it. But every house built from it has the same rooms.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591425" y="4619625"/>
            <a:ext cx="3971925" cy="733425"/>
          </a:xfrm>
          <a:prstGeom prst="roundRect">
            <a:avLst>
              <a:gd name="adj" fmla="val 1039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743825" y="4733925"/>
            <a:ext cx="36671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In analysis we mostly draw </a:t>
            </a: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classes</a:t>
            </a: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. At runtime the system is full of </a:t>
            </a: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objects</a:t>
            </a: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725150" y="257175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OBJECTS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Three Objects in CampusBites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81000" y="1495425"/>
            <a:ext cx="3657600" cy="4867275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90550" y="1724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838325"/>
            <a:ext cx="228600" cy="228600"/>
          </a:xfrm>
          <a:prstGeom prst="rect">
            <a:avLst/>
          </a:prstGeom>
          <a:ln/>
        </p:spPr>
      </p:pic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62050" y="1819275"/>
            <a:ext cx="628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Order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90550" y="2295525"/>
            <a:ext cx="3238500" cy="600075"/>
          </a:xfrm>
          <a:prstGeom prst="roundRect">
            <a:avLst>
              <a:gd name="adj" fmla="val 12698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23900" y="2409825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D7BD9"/>
                </a:solidFill>
                <a:latin typeface="Microsoft YaHei"/>
                <a:ea typeface="Microsoft YaHei"/>
              </a:rPr>
              <a:t>STATE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23900" y="26098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lines, status, total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90550" y="3009900"/>
            <a:ext cx="3238500" cy="600075"/>
          </a:xfrm>
          <a:prstGeom prst="roundRect">
            <a:avLst>
              <a:gd name="adj" fmla="val 1269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23900" y="3124200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1E4FA8"/>
                </a:solidFill>
                <a:latin typeface="Microsoft YaHei"/>
                <a:ea typeface="Microsoft YaHei"/>
              </a:rPr>
              <a:t>BEHAVIOUR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23900" y="33242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addItem(), pay(), cancel()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267200" y="1495425"/>
            <a:ext cx="3657600" cy="4867275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476750" y="1724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91050" y="1838325"/>
            <a:ext cx="228600" cy="228600"/>
          </a:xfrm>
          <a:prstGeom prst="rect">
            <a:avLst/>
          </a:prstGeom>
          <a:ln/>
        </p:spPr>
      </p:pic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048250" y="1819275"/>
            <a:ext cx="1076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MenuItem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476750" y="2295525"/>
            <a:ext cx="3238500" cy="600075"/>
          </a:xfrm>
          <a:prstGeom prst="roundRect">
            <a:avLst>
              <a:gd name="adj" fmla="val 12698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610100" y="2409825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D7BD9"/>
                </a:solidFill>
                <a:latin typeface="Microsoft YaHei"/>
                <a:ea typeface="Microsoft YaHei"/>
              </a:rPr>
              <a:t>STATE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610100" y="26098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name, price, available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476750" y="3009900"/>
            <a:ext cx="3238500" cy="600075"/>
          </a:xfrm>
          <a:prstGeom prst="roundRect">
            <a:avLst>
              <a:gd name="adj" fmla="val 1269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610100" y="3124200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1E4FA8"/>
                </a:solidFill>
                <a:latin typeface="Microsoft YaHei"/>
                <a:ea typeface="Microsoft YaHei"/>
              </a:rPr>
              <a:t>BEHAVIOUR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610100" y="33242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applyDiscount(), markSoldOut()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153400" y="1495425"/>
            <a:ext cx="3657600" cy="4867275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8362950" y="1724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77250" y="1838325"/>
            <a:ext cx="228600" cy="2286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934450" y="1819275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Rider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362950" y="2295525"/>
            <a:ext cx="3238500" cy="600075"/>
          </a:xfrm>
          <a:prstGeom prst="roundRect">
            <a:avLst>
              <a:gd name="adj" fmla="val 12698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496300" y="2409825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D7BD9"/>
                </a:solidFill>
                <a:latin typeface="Microsoft YaHei"/>
                <a:ea typeface="Microsoft YaHei"/>
              </a:rPr>
              <a:t>STATE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496300" y="26098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location, onDuty, load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362950" y="3009900"/>
            <a:ext cx="3238500" cy="600075"/>
          </a:xfrm>
          <a:prstGeom prst="roundRect">
            <a:avLst>
              <a:gd name="adj" fmla="val 1269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496300" y="3124200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1E4FA8"/>
                </a:solidFill>
                <a:latin typeface="Microsoft YaHei"/>
                <a:ea typeface="Microsoft YaHei"/>
              </a:rPr>
              <a:t>BEHAVIOUR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496300" y="33242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acceptDelivery(), reportArrival()</a:t>
            </a:r>
            <a:endParaRPr/>
          </a:p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81000" y="6505575"/>
            <a:ext cx="209550" cy="20955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3900" y="6515100"/>
            <a:ext cx="739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Notice: behaviour sits with the object that owns the data. That is not an accident — it is the whole point.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401425" y="65341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8100" y="2171700"/>
            <a:ext cx="27813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467100" y="220980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467100" y="2552700"/>
            <a:ext cx="8115300" cy="6477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Encapsulation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3467100" y="34480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467100" y="3810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657600" y="3733800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Hide the state; expose the behaviour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467100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657600" y="4076700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Private fields, guarded public methods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3467100" y="4495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657600" y="4419600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Why hiding state protects your rules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191750" y="2571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ENCAPSULATION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What Encapsulation Means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2647950"/>
            <a:ext cx="7924800" cy="809625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552450" y="28003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57225" y="2905125"/>
            <a:ext cx="209550" cy="20955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04900" y="2800350"/>
            <a:ext cx="7029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Information hiding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04900" y="3048000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The object keeps its data private and decides for itself how that data changes.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381000" y="3571875"/>
            <a:ext cx="7924800" cy="809625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52450" y="37242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7225" y="3829050"/>
            <a:ext cx="209550" cy="209550"/>
          </a:xfrm>
          <a:prstGeom prst="rect">
            <a:avLst/>
          </a:prstGeom>
          <a:ln/>
        </p:spPr>
      </p:pic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04900" y="3724275"/>
            <a:ext cx="7029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A public interface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04900" y="3971925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Only a small set of methods is visible from outside — the object's contract.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381000" y="4495800"/>
            <a:ext cx="7924800" cy="809625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552450" y="46482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7225" y="4752975"/>
            <a:ext cx="209550" cy="209550"/>
          </a:xfrm>
          <a:prstGeom prst="rect">
            <a:avLst/>
          </a:prstGeom>
          <a:ln/>
        </p:spPr>
      </p:pic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04900" y="4648200"/>
            <a:ext cx="7029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Change without breaking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04900" y="4895850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Internals can be rewritten as long as the public methods behave the same.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572500" y="1476375"/>
            <a:ext cx="3238500" cy="5000625"/>
          </a:xfrm>
          <a:prstGeom prst="roundRect">
            <a:avLst>
              <a:gd name="adj" fmla="val 35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820150" y="26765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IN ONE SENTENCE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820150" y="3000375"/>
            <a:ext cx="27432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Tell an object what to do. Never reach in and do it for it.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820150" y="4248150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820150" y="4419600"/>
            <a:ext cx="27432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This is the "tell, don't ask" rule. It is the seed of almost every design principle we meet later.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38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191750" y="2571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ENCAPSULATION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Encapsulation on Paper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334250" y="2762250"/>
            <a:ext cx="4476750" cy="714375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486650" y="28956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81900" y="2990850"/>
            <a:ext cx="180975" cy="180975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962900" y="289560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private fields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962900" y="3105150"/>
            <a:ext cx="36957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Nobody outside can set status to a nonsense value.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334250" y="3581400"/>
            <a:ext cx="4476750" cy="714375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486650" y="37147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81900" y="3810000"/>
            <a:ext cx="180975" cy="180975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962900" y="371475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guarded method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962900" y="3924300"/>
            <a:ext cx="36957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addItem() refuses once the order is placed.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334250" y="4400550"/>
            <a:ext cx="4476750" cy="714375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7486650" y="45339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581900" y="4629150"/>
            <a:ext cx="180975" cy="180975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962900" y="453390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computed, not stored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962900" y="4743450"/>
            <a:ext cx="36957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total() is derived — there is no stale copy to drift.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06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Generic types omitted for slide width; your lab code uses List&lt;OrderLine&gt;.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38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81000" y="2762250"/>
            <a:ext cx="6705600" cy="2352675"/>
          </a:xfrm>
          <a:prstGeom prst="roundRect">
            <a:avLst>
              <a:gd name="adj" fmla="val 3239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/>
          <p:cNvSpPr txBox="1"/>
          <p:nvPr/>
        </p:nvSpPr>
        <p:spPr>
          <a:xfrm rot="0" flipH="0" flipV="0">
            <a:off x="533400" y="2895600"/>
            <a:ext cx="6400800" cy="20859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Class Order
    - lines : OrderLine[0..*]
    - status : OrderStatus = DRAFT
    + addItem(item, qty)
        if status is not DRAFT
            refuse - order already placed
        lines.add(a new OrderLine(item, qty))
    + total() : Money
        sum = ZERO
        for each line in lines
            sum = sum + line.subtotal()
        return sum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191750" y="2571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ENCAPSULATION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The Getter / Setter Debate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81000" y="1400175"/>
            <a:ext cx="6705600" cy="5076825"/>
          </a:xfrm>
          <a:prstGeom prst="roundRect">
            <a:avLst>
              <a:gd name="adj" fmla="val 2251"/>
            </a:avLst>
          </a:prstGeom>
          <a:solidFill>
            <a:srgbClr val="FDF3F3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552575"/>
            <a:ext cx="190500" cy="19050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38200" y="155257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Expose the fields — every caller re-implements the rule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334250" y="1400175"/>
            <a:ext cx="4476750" cy="1114425"/>
          </a:xfrm>
          <a:prstGeom prst="roundRect">
            <a:avLst>
              <a:gd name="adj" fmla="val 10256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05700" y="1552575"/>
            <a:ext cx="190500" cy="190500"/>
          </a:xfrm>
          <a:prstGeom prst="rect">
            <a:avLst/>
          </a:prstGeom>
          <a:ln/>
        </p:spPr>
      </p:pic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791450" y="1552575"/>
            <a:ext cx="2905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Ask the object — the rule has one home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334250" y="2628900"/>
            <a:ext cx="4476750" cy="3848100"/>
          </a:xfrm>
          <a:prstGeom prst="roundRect">
            <a:avLst>
              <a:gd name="adj" fmla="val 297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543800" y="4057650"/>
            <a:ext cx="40576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 getter for everything is just public fields with extra steps.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543800" y="4791075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Ask what the object should </a:t>
            </a: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do</a:t>
            </a: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, not what it should </a:t>
            </a: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reveal</a:t>
            </a: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038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Getters for reporting are fine. Getters that let callers enforce rules are not.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52450" y="1819275"/>
            <a:ext cx="6362700" cy="1504950"/>
          </a:xfrm>
          <a:prstGeom prst="roundRect">
            <a:avLst>
              <a:gd name="adj" fmla="val 5063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/>
          <p:cNvSpPr txBox="1"/>
          <p:nvPr/>
        </p:nvSpPr>
        <p:spPr>
          <a:xfrm rot="0" flipH="0" flipV="0">
            <a:off x="704850" y="1952625"/>
            <a:ext cx="6057900" cy="123825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Class Order
    + lines : OrderLine[0..*]
    + status : OrderStatus
# every caller must know the rule
if order.status is DRAFT
    order.lines.add(a new OrderLine(item, qty))
# one caller forgets the check.
# now the order is wrong.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505700" y="1819275"/>
            <a:ext cx="4133850" cy="542925"/>
          </a:xfrm>
          <a:prstGeom prst="roundRect">
            <a:avLst>
              <a:gd name="adj" fmla="val 14035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/>
          <p:cNvSpPr txBox="1"/>
          <p:nvPr/>
        </p:nvSpPr>
        <p:spPr>
          <a:xfrm rot="0" flipH="0" flipV="0">
            <a:off x="7658100" y="1952625"/>
            <a:ext cx="3829050" cy="27622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# the rule lives with the data
order.addItem(item, qty)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191750" y="2571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ENCAPSULATION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Why Hiding State Matters</a:t>
            </a:r>
            <a:endParaRPr/>
          </a:p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2324100"/>
            <a:ext cx="5715000" cy="3238500"/>
          </a:xfrm>
          <a:prstGeom prst="rect">
            <a:avLst/>
          </a:prstGeom>
          <a:ln/>
        </p:spPr>
      </p:pic>
      <p:sp>
        <p:nvSpPr>
          <p:cNvPr id="173" name=""/>
          <p:cNvSpPr/>
          <p:nvPr/>
        </p:nvSpPr>
        <p:spPr>
          <a:xfrm rot="0" flipH="0" flipV="0">
            <a:off x="6838950" y="2686050"/>
            <a:ext cx="4972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000875" y="28289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2924175"/>
            <a:ext cx="190500" cy="19050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505700" y="2828925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Invariant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505700" y="3057525"/>
            <a:ext cx="4143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 rule that must hold at every moment — not just after a good call.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38950" y="3562350"/>
            <a:ext cx="4972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000875" y="37052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96125" y="3800475"/>
            <a:ext cx="190500" cy="19050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505700" y="3705225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One place to look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505700" y="3933825"/>
            <a:ext cx="4143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When a rule can only be broken in one method, debugging is short.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838950" y="4438650"/>
            <a:ext cx="4972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000875" y="45815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96125" y="4676775"/>
            <a:ext cx="190500" cy="19050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505700" y="4581525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Safe to refactor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505700" y="4810125"/>
            <a:ext cx="4143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Callers depend on the method, never on the fields behind it.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384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467100" y="19145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467100" y="2257425"/>
            <a:ext cx="8115300" cy="124777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Inheritance vs.</a:t>
            </a:r>
            <a:endParaRPr/>
          </a:p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Composition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467100" y="37528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3467100" y="4114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657600" y="4038600"/>
            <a:ext cx="3743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two ways to reuse someone else's code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3467100" y="4457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657600" y="4381500"/>
            <a:ext cx="3590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circle–ellipse trap — a classic mistake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467100" y="4800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657600" y="4724400"/>
            <a:ext cx="3629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Why the textbook says: favour composition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0896600" y="2571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REUSE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Two Ways to Reuse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28625" y="1419225"/>
            <a:ext cx="5591175" cy="5057775"/>
          </a:xfrm>
          <a:prstGeom prst="roundRect">
            <a:avLst>
              <a:gd name="adj" fmla="val 226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28625" y="1419225"/>
            <a:ext cx="5591175" cy="5057775"/>
          </a:xfrm>
          <a:custGeom>
            <a:pathLst>
              <a:path w="587" h="531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524"/>
                </a:lnTo>
                <a:cubicBezTo>
                  <a:pt x="5" y="527"/>
                  <a:pt x="7" y="530"/>
                  <a:pt x="10" y="531"/>
                </a:cubicBezTo>
                <a:cubicBezTo>
                  <a:pt x="4" y="530"/>
                  <a:pt x="0" y="525"/>
                  <a:pt x="0" y="51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57225" y="1647825"/>
            <a:ext cx="228600" cy="228600"/>
          </a:xfrm>
          <a:prstGeom prst="rect">
            <a:avLst/>
          </a:prstGeom>
          <a:ln/>
        </p:spPr>
      </p:pic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90600" y="16287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Inheritance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57225" y="2000250"/>
            <a:ext cx="5086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 subclass extends a superclass and inherits its methods. The subclass 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is a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kind of the parent.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57225" y="2686050"/>
            <a:ext cx="50863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00100" y="2800350"/>
            <a:ext cx="480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Wallet extends PaymentMethod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57225" y="3200400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+ Reuse is automatic, no wiring needed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57225" y="3514725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+ Substitutability comes for free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57225" y="3829050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D9534F"/>
                </a:solidFill>
                <a:latin typeface="Microsoft YaHei"/>
                <a:ea typeface="Microsoft YaHei"/>
              </a:rPr>
              <a:t>− White-box: the parent's internals leak in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57225" y="4143375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D9534F"/>
                </a:solidFill>
                <a:latin typeface="Microsoft YaHei"/>
                <a:ea typeface="Microsoft YaHei"/>
              </a:rPr>
              <a:t>− Fixed at compile time; hard to change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267450" y="1419225"/>
            <a:ext cx="5591175" cy="5057775"/>
          </a:xfrm>
          <a:prstGeom prst="roundRect">
            <a:avLst>
              <a:gd name="adj" fmla="val 226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267450" y="1419225"/>
            <a:ext cx="5591175" cy="5057775"/>
          </a:xfrm>
          <a:custGeom>
            <a:pathLst>
              <a:path w="587" h="531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524"/>
                </a:lnTo>
                <a:cubicBezTo>
                  <a:pt x="5" y="527"/>
                  <a:pt x="7" y="530"/>
                  <a:pt x="10" y="531"/>
                </a:cubicBezTo>
                <a:cubicBezTo>
                  <a:pt x="4" y="530"/>
                  <a:pt x="0" y="525"/>
                  <a:pt x="0" y="51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96050" y="1647825"/>
            <a:ext cx="228600" cy="22860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829425" y="1628775"/>
            <a:ext cx="1285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Composition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496050" y="2000250"/>
            <a:ext cx="5086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An object 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holds a reference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to another and forwards work to it. It 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has a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collaborator.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496050" y="2686050"/>
            <a:ext cx="50863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638925" y="2800350"/>
            <a:ext cx="480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− payment : PaymentMethod   # a slot inside Order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496050" y="3200400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+ Black-box: only the interface is visible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496050" y="3514725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+ Can be swapped at runtime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496050" y="3829050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D9534F"/>
                </a:solidFill>
                <a:latin typeface="Microsoft YaHei"/>
                <a:ea typeface="Microsoft YaHei"/>
              </a:rPr>
              <a:t>− Needs an interface to be worthwhile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96050" y="4143375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D9534F"/>
                </a:solidFill>
                <a:latin typeface="Microsoft YaHei"/>
                <a:ea typeface="Microsoft YaHei"/>
              </a:rPr>
              <a:t>− Slightly more wiring code up front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395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Both are legitimate. The skill is knowing which one the situation calls for.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219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Is-a or Has-a? Ask Two Questions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401425" y="3619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552575"/>
            <a:ext cx="11239500" cy="4000500"/>
          </a:xfrm>
          <a:prstGeom prst="rect">
            <a:avLst/>
          </a:prstGeom>
          <a:ln/>
        </p:spPr>
      </p:pic>
      <p:sp>
        <p:nvSpPr>
          <p:cNvPr id="239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2914650" y="6486525"/>
            <a:ext cx="6372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Say the sentence out loud. If "is a kind of" sounds wrong, it is not inheritance.</a:t>
            </a:r>
            <a:endParaRPr/>
          </a:p>
        </p:txBody>
      </p:sp>
    </p:spTree>
  </p:cSld>
</p:sld>
</file>

<file path=ppt/slides/slide2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896600" y="2571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REUSE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The Circle–Ellipse Trap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372350" y="2257425"/>
            <a:ext cx="4476750" cy="1066800"/>
          </a:xfrm>
          <a:prstGeom prst="roundRect">
            <a:avLst>
              <a:gd name="adj" fmla="val 8929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7372350" y="2257425"/>
            <a:ext cx="4476750" cy="1066800"/>
          </a:xfrm>
          <a:custGeom>
            <a:pathLst>
              <a:path w="470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543800" y="240982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534F"/>
                </a:solidFill>
                <a:latin typeface="Microsoft YaHei"/>
                <a:ea typeface="Microsoft YaHei"/>
              </a:rPr>
              <a:t>What went wrong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543800" y="2657475"/>
            <a:ext cx="4095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The subclass 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refuses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 method the parent promises. Code written against Ellipse now breaks on a Circle.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334250" y="3429000"/>
            <a:ext cx="4476750" cy="657225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7486650" y="35528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72375" y="3638550"/>
            <a:ext cx="171450" cy="171450"/>
          </a:xfrm>
          <a:prstGeom prst="rect">
            <a:avLst/>
          </a:prstGeom>
          <a:ln/>
        </p:spPr>
      </p:pic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943850" y="35528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True in maths, false in code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943850" y="3743325"/>
            <a:ext cx="3714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circle has fewer degrees of freedom than an ellipse.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7334250" y="4191000"/>
            <a:ext cx="4476750" cy="657225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486650" y="43148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72375" y="4400550"/>
            <a:ext cx="171450" cy="171450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943850" y="43148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Substitutability is the real test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943850" y="4505325"/>
            <a:ext cx="3714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Not "is it a kind of" but "can it stand in anywhere?"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334250" y="4953000"/>
            <a:ext cx="4476750" cy="657225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7486650" y="50768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572375" y="5162550"/>
            <a:ext cx="171450" cy="171450"/>
          </a:xfrm>
          <a:prstGeom prst="rect">
            <a:avLst/>
          </a:prstGeom>
          <a:ln/>
        </p:spPr>
      </p:pic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943850" y="50768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Liskov, Week 12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943850" y="5267325"/>
            <a:ext cx="3714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This has a name: the Liskov Substitution Principle.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393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Full treatment in Week 12 (LSP). Today: notice that "is-a" is not enough.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20 / 38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81000" y="2838450"/>
            <a:ext cx="6705600" cy="2190750"/>
          </a:xfrm>
          <a:prstGeom prst="roundRect">
            <a:avLst>
              <a:gd name="adj" fmla="val 3478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 txBox="1"/>
          <p:nvPr/>
        </p:nvSpPr>
        <p:spPr>
          <a:xfrm rot="0" flipH="0" flipV="0">
            <a:off x="533400" y="2971800"/>
            <a:ext cx="6400800" cy="192405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Class Ellipse
    + setMajorAxis(a)
    + setMinorAxis(b)
# In geometry, a circle IS an ellipse.
Class Circle extends Ellipse
    + setMajorAxis(a)
        set both axes to a        # stay round
    + setMinorAxis(b)
        refuse - a circle cannot  # breaks the promise
# ...so why does this break?
e = a new Circle
e.setMinorAxis(3.0)              # fails</a:t>
            </a:r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896600" y="2571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REUSE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267200" y="1762125"/>
            <a:ext cx="3667125" cy="285750"/>
          </a:xfrm>
          <a:prstGeom prst="roundRect">
            <a:avLst>
              <a:gd name="adj" fmla="val 5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438650" y="18192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1E4FA8"/>
                </a:solidFill>
                <a:latin typeface="Microsoft YaHei"/>
                <a:ea typeface="Microsoft YaHei"/>
              </a:rPr>
              <a:t>PRINCIPLE · FIRST OF THE SEMESTER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886200" y="2238375"/>
            <a:ext cx="4419600" cy="11430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en-US" sz="3000" b="1">
                <a:solidFill>
                  <a:srgbClr val="0E3F8C"/>
                </a:solidFill>
                <a:latin typeface="Georgia"/>
                <a:ea typeface="Georgia"/>
              </a:rPr>
              <a:t>Favour composition</a:t>
            </a:r>
            <a:endParaRPr/>
          </a:p>
          <a:p>
            <a:pPr algn="ctr">
              <a:lnSpc>
                <a:spcPct val="125000"/>
              </a:lnSpc>
            </a:pPr>
            <a:r>
              <a:rPr lang="en-US" sz="3000" b="1">
                <a:solidFill>
                  <a:srgbClr val="0E3F8C"/>
                </a:solidFill>
                <a:latin typeface="Georgia"/>
                <a:ea typeface="Georgia"/>
              </a:rPr>
              <a:t>over class inheritance.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753100" y="3571875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71500" y="3838575"/>
            <a:ext cx="3581400" cy="1724025"/>
          </a:xfrm>
          <a:prstGeom prst="roundRect">
            <a:avLst>
              <a:gd name="adj" fmla="val 663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2124075" y="40290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247900" y="4152900"/>
            <a:ext cx="228600" cy="228600"/>
          </a:xfrm>
          <a:prstGeom prst="rect">
            <a:avLst/>
          </a:prstGeom>
          <a:ln/>
        </p:spPr>
      </p:pic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733550" y="4591050"/>
            <a:ext cx="12668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Loose coupling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62000" y="4886325"/>
            <a:ext cx="3200400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The parent's changes cannot silently break the subclass.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305300" y="3838575"/>
            <a:ext cx="3581400" cy="1724025"/>
          </a:xfrm>
          <a:prstGeom prst="roundRect">
            <a:avLst>
              <a:gd name="adj" fmla="val 663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5857875" y="40290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81700" y="4152900"/>
            <a:ext cx="228600" cy="228600"/>
          </a:xfrm>
          <a:prstGeom prst="rect">
            <a:avLst/>
          </a:prstGeom>
          <a:ln/>
        </p:spPr>
      </p:pic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514975" y="4591050"/>
            <a:ext cx="11715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Runtime swap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695825" y="4886325"/>
            <a:ext cx="280987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Behaviour can be replaced without recompiling.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8039100" y="3838575"/>
            <a:ext cx="3581400" cy="1724025"/>
          </a:xfrm>
          <a:prstGeom prst="roundRect">
            <a:avLst>
              <a:gd name="adj" fmla="val 663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9591675" y="40290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715500" y="4152900"/>
            <a:ext cx="228600" cy="228600"/>
          </a:xfrm>
          <a:prstGeom prst="rect">
            <a:avLst/>
          </a:prstGeom>
          <a:ln/>
        </p:spPr>
      </p:pic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420225" y="4591050"/>
            <a:ext cx="8191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Black box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458200" y="4886325"/>
            <a:ext cx="2743200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You depend on what it does, not how it is built.</a:t>
            </a:r>
            <a:endParaRPr/>
          </a:p>
        </p:txBody>
      </p:sp>
      <p:pic>
        <p:nvPicPr>
          <p:cNvPr id="3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71500" y="6524625"/>
            <a:ext cx="190500" cy="190500"/>
          </a:xfrm>
          <a:prstGeom prst="rect">
            <a:avLst/>
          </a:prstGeom>
          <a:ln/>
        </p:spPr>
      </p:pic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76300" y="6524625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Favour, not forbid. Inheritance is right when substitution genuinely holds.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12109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21 / 38</a:t>
            </a:r>
            <a:endParaRPr/>
          </a:p>
        </p:txBody>
      </p:sp>
    </p:spTree>
  </p:cSld>
</p:sld>
</file>

<file path=ppt/slides/slide2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0896600" y="2571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REUSE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Composition on Paper</a:t>
            </a:r>
            <a:endParaRPr/>
          </a:p>
        </p:txBody>
      </p:sp>
      <p:pic>
        <p:nvPicPr>
          <p:cNvPr id="3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390650"/>
            <a:ext cx="180975" cy="180975"/>
          </a:xfrm>
          <a:prstGeom prst="rect">
            <a:avLst/>
          </a:prstGeom>
          <a:ln/>
        </p:spPr>
      </p:pic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47700" y="1381125"/>
            <a:ext cx="191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Inheriting for convenience</a:t>
            </a:r>
            <a:endParaRPr/>
          </a:p>
        </p:txBody>
      </p:sp>
      <p:pic>
        <p:nvPicPr>
          <p:cNvPr id="3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219825" y="1390650"/>
            <a:ext cx="180975" cy="180975"/>
          </a:xfrm>
          <a:prstGeom prst="rect">
            <a:avLst/>
          </a:prstGeom>
          <a:ln/>
        </p:spPr>
      </p:pic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486525" y="1381125"/>
            <a:ext cx="220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Composing with collaborators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2124075" y="6553200"/>
            <a:ext cx="794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Inheritance reuses everything — including the parts that make no sense. Composition lets you choose.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381000" y="1666875"/>
            <a:ext cx="5591175" cy="1504950"/>
          </a:xfrm>
          <a:prstGeom prst="roundRect">
            <a:avLst>
              <a:gd name="adj" fmla="val 5063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/>
          <p:cNvSpPr txBox="1"/>
          <p:nvPr/>
        </p:nvSpPr>
        <p:spPr>
          <a:xfrm rot="0" flipH="0" flipV="0">
            <a:off x="533400" y="1800225"/>
            <a:ext cx="5286375" cy="123825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# "an order is just a list of lines"
Class Order extends List
    + place()
# now Order inherits 20+ list operations
# that make no sense for an order
order.sort(...)
order.clear()      # wipes a paid order
order.addAll(...)  # bypasses the guard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219825" y="1666875"/>
            <a:ext cx="5591175" cy="1914525"/>
          </a:xfrm>
          <a:prstGeom prst="roundRect">
            <a:avLst>
              <a:gd name="adj" fmla="val 3980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 txBox="1"/>
          <p:nvPr/>
        </p:nvSpPr>
        <p:spPr>
          <a:xfrm rot="0" flipH="0" flipV="0">
            <a:off x="6372225" y="1800225"/>
            <a:ext cx="5286375" cy="164782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Class Order
    - lines : OrderLine[0..*]
    - payment : PaymentMethod
    - route : DeliveryRoute
    + total() : Money
    + pay() : Receipt
        return payment.pay(total())
# Order offers only what an order does
order.pay()        # yes
order.clear()      # no such operation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3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7150" y="2171700"/>
            <a:ext cx="27336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467100" y="19145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467100" y="2257425"/>
            <a:ext cx="8115300" cy="124777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Polymorphism &amp;</a:t>
            </a:r>
            <a:endParaRPr/>
          </a:p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Interfaces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3467100" y="37528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3467100" y="4114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3657600" y="403860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One message, many behaviours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3467100" y="4457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657600" y="4381500"/>
            <a:ext cx="4391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PaymentMethod: the CampusBites worked example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3467100" y="4800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657600" y="4724400"/>
            <a:ext cx="3971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Program to an interface, not an implementation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2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0229850" y="257175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POLYMORPHISM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Same Message, Different Behaviour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2257425"/>
            <a:ext cx="5715000" cy="3333750"/>
          </a:xfrm>
          <a:prstGeom prst="rect">
            <a:avLst/>
          </a:prstGeom>
          <a:ln/>
        </p:spPr>
      </p:pic>
      <p:sp>
        <p:nvSpPr>
          <p:cNvPr id="371" name=""/>
          <p:cNvSpPr/>
          <p:nvPr/>
        </p:nvSpPr>
        <p:spPr>
          <a:xfrm rot="0" flipH="0" flipV="0">
            <a:off x="6838950" y="2352675"/>
            <a:ext cx="4972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7000875" y="24955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2590800"/>
            <a:ext cx="190500" cy="190500"/>
          </a:xfrm>
          <a:prstGeom prst="rect">
            <a:avLst/>
          </a:prstGeom>
          <a:ln/>
        </p:spPr>
      </p:pic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505700" y="2495550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Poly = many, morph = form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505700" y="2724150"/>
            <a:ext cx="4143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One call site, many possible shapes of behaviour.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838950" y="3228975"/>
            <a:ext cx="4972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7000875" y="33718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96125" y="3467100"/>
            <a:ext cx="190500" cy="190500"/>
          </a:xfrm>
          <a:prstGeom prst="rect">
            <a:avLst/>
          </a:prstGeom>
          <a:ln/>
        </p:spPr>
      </p:pic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505700" y="3371850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Dynamic binding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505700" y="3600450"/>
            <a:ext cx="4143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Which method runs is decided at runtime, not compile time.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838950" y="4105275"/>
            <a:ext cx="4972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7000875" y="42481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96125" y="4343400"/>
            <a:ext cx="190500" cy="19050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505700" y="4248150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Substitutability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505700" y="4476750"/>
            <a:ext cx="4143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Any implementation can stand in — if the contract holds.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838950" y="4981575"/>
            <a:ext cx="4972050" cy="504825"/>
          </a:xfrm>
          <a:prstGeom prst="roundRect">
            <a:avLst>
              <a:gd name="adj" fmla="val 18868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991350" y="5105400"/>
            <a:ext cx="4667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This is why 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Order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does not need to know how you pay.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653415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" b="1">
                <a:solidFill>
                  <a:srgbClr val="0E3F8C"/>
                </a:solidFill>
                <a:latin typeface="Microsoft YaHei"/>
                <a:ea typeface="Microsoft YaHei"/>
              </a:rPr>
              <a:t>PaymentMethod — Polymorphism on Paper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401425" y="3238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25 / 38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7334250" y="1952625"/>
            <a:ext cx="4476750" cy="1743075"/>
          </a:xfrm>
          <a:prstGeom prst="roundRect">
            <a:avLst>
              <a:gd name="adj" fmla="val 6557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543800" y="2143125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THE ONE LINE THAT MATTERS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543800" y="2447925"/>
            <a:ext cx="40576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method.pay(order.total())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7543800" y="2838450"/>
            <a:ext cx="4191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543800" y="2990850"/>
            <a:ext cx="4057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It does not say which payment type. It does not need to. Adding a fourth method changes nothing here.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7334250" y="3810000"/>
            <a:ext cx="4476750" cy="781050"/>
          </a:xfrm>
          <a:prstGeom prst="roundRect">
            <a:avLst>
              <a:gd name="adj" fmla="val 12195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496175" y="3943350"/>
            <a:ext cx="4152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The interface is the contract.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Each class decides how to honour it.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7372350" y="4705350"/>
            <a:ext cx="4476750" cy="523875"/>
          </a:xfrm>
          <a:prstGeom prst="roundRect">
            <a:avLst>
              <a:gd name="adj" fmla="val 18182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372350" y="4705350"/>
            <a:ext cx="4476750" cy="523875"/>
          </a:xfrm>
          <a:custGeom>
            <a:pathLst>
              <a:path w="470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534275" y="4838700"/>
            <a:ext cx="4114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No 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if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and no 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switch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anywhere in Order.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3733800" y="6553200"/>
            <a:ext cx="473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CampusBites uses this exact shape. Your M1 models will too.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381000" y="2390775"/>
            <a:ext cx="6705600" cy="2409825"/>
          </a:xfrm>
          <a:prstGeom prst="roundRect">
            <a:avLst>
              <a:gd name="adj" fmla="val 316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/>
          <p:cNvSpPr txBox="1"/>
          <p:nvPr/>
        </p:nvSpPr>
        <p:spPr>
          <a:xfrm rot="0" flipH="0" flipV="0">
            <a:off x="533400" y="2524125"/>
            <a:ext cx="6400800" cy="214312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825">
                <a:solidFill>
                  <a:srgbClr val="E5E7EB"/>
                </a:solidFill>
                <a:latin typeface="Menlo"/>
                <a:ea typeface="Menlo"/>
              </a:rPr>
              <a:t>PaymentMethod (interface)
    + pay(amount) : Receipt
Class CampusCard implements PaymentMethod
    + pay(amount) : Receipt
        return cardTerminal.deduct(amount)
Class Wallet implements PaymentMethod
    + pay(amount) : Receipt
        return balance.debit(amount)
Class Cash implements PaymentMethod
    + pay(amount) : Receipt
        return Receipt.payOnDelivery(amount)
# the call site - one stable line
r = method.pay(order.total())</a:t>
            </a:r>
            <a:endParaRPr/>
          </a:p>
        </p:txBody>
      </p:sp>
    </p:spTree>
  </p:cSld>
</p:sld>
</file>

<file path=ppt/slides/slide26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4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INTERFACES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40671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Interface or Abstract Class?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1401425" y="981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  <p:graphicFrame>
        <p:nvGraphicFramePr>
          <p:cNvPr id="415" name=""/>
          <p:cNvGraphicFramePr/>
          <p:nvPr/>
        </p:nvGraphicFramePr>
        <p:xfrm rot="0" flipH="0" flipV="0">
          <a:off x="381000" y="1400175"/>
          <a:ext cx="11430000" cy="4943475"/>
        </p:xfrm>
        <a:graphic>
          <a:graphicData uri="http://schemas.openxmlformats.org/drawingml/2006/table">
            <a:tbl>
              <a:tblGrid>
                <a:gridCol w="3254325">
                  <a:extLst>
                    <a:ext uri="{9D8B030D-6E8A-4147-A177-3AD203B41FA5}">
                      <a16:colId val="1"/>
                    </a:ext>
                  </a:extLst>
                </a:gridCol>
                <a:gridCol w="4124077">
                  <a:extLst>
                    <a:ext uri="{9D8B030D-6E8A-4147-A177-3AD203B41FA5}">
                      <a16:colId val="2"/>
                    </a:ext>
                  </a:extLst>
                </a:gridCol>
                <a:gridCol w="405159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062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Interface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Abstract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7BD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062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Can a class take several?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implement many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— extend only 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062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Holds state (fields)?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— constants only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shared fields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062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Ships working code?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— signatures only (mostly)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concrete methods inherited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062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What it expresses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capability: "can be paid with"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family: "is a kind of"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062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Coupling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Loose — pure contract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Tighter — shares implementation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7062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Use it when…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Unrelated classes share one ability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Close relatives share real code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416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2619375" y="6543675"/>
            <a:ext cx="6962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Default: reach for the interface. Move to an abstract class only when you must share code.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INTERFACES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Program to an Interface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381000" y="1438275"/>
            <a:ext cx="5591175" cy="4924425"/>
          </a:xfrm>
          <a:prstGeom prst="roundRect">
            <a:avLst>
              <a:gd name="adj" fmla="val 2321"/>
            </a:avLst>
          </a:prstGeom>
          <a:solidFill>
            <a:srgbClr val="FDF3F3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590675"/>
            <a:ext cx="190500" cy="190500"/>
          </a:xfrm>
          <a:prstGeom prst="rect">
            <a:avLst/>
          </a:prstGeom>
          <a:ln/>
        </p:spPr>
      </p:pic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8200" y="1590675"/>
            <a:ext cx="2247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Dependent on a concrete class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219825" y="1438275"/>
            <a:ext cx="5591175" cy="4924425"/>
          </a:xfrm>
          <a:prstGeom prst="roundRect">
            <a:avLst>
              <a:gd name="adj" fmla="val 2321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391275" y="1590675"/>
            <a:ext cx="190500" cy="190500"/>
          </a:xfrm>
          <a:prstGeom prst="rect">
            <a:avLst/>
          </a:prstGeom>
          <a:ln/>
        </p:spPr>
      </p:pic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677025" y="1590675"/>
            <a:ext cx="191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Dependent on an interface</a:t>
            </a:r>
            <a:endParaRPr/>
          </a:p>
        </p:txBody>
      </p:sp>
      <p:pic>
        <p:nvPicPr>
          <p:cNvPr id="4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81000" y="6505575"/>
            <a:ext cx="209550" cy="209550"/>
          </a:xfrm>
          <a:prstGeom prst="rect">
            <a:avLst/>
          </a:prstGeom>
          <a:ln/>
        </p:spPr>
      </p:pic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23900" y="6515100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Declare the variable by what it must 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do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, not by what it 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is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1401425" y="65341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552450" y="1857375"/>
            <a:ext cx="5248275" cy="137160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/>
          <p:cNvSpPr txBox="1"/>
          <p:nvPr/>
        </p:nvSpPr>
        <p:spPr>
          <a:xfrm rot="0" flipH="0" flipV="0">
            <a:off x="704850" y="1990725"/>
            <a:ext cx="4943475" cy="110490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Class OrderService
    - card : CampusCard       # one type only
    + checkout(order)
        card.pay(order.total())
# adding Wallet means editing OrderService
# and re-testing everything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391275" y="1857375"/>
            <a:ext cx="5248275" cy="137160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/>
          <p:cNvSpPr txBox="1"/>
          <p:nvPr/>
        </p:nvSpPr>
        <p:spPr>
          <a:xfrm rot="0" flipH="0" flipV="0">
            <a:off x="6543675" y="1990725"/>
            <a:ext cx="4943475" cy="110490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Class OrderService
    - method : PaymentMethod  # any type
    + checkout(order)
        method.pay(order.total())
# adding Wallet changes nothing here.
# new class, same contract.</a:t>
            </a:r>
            <a:endParaRPr/>
          </a:p>
        </p:txBody>
      </p:sp>
    </p:spTree>
  </p:cSld>
</p:sld>
</file>

<file path=ppt/slides/slide2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0839450" y="257175"/>
            <a:ext cx="97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PAYOFF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4552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Closing the Loop from Week 01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9810750" y="942975"/>
            <a:ext cx="2000250" cy="247650"/>
          </a:xfrm>
          <a:prstGeom prst="roundRect">
            <a:avLst>
              <a:gd name="adj" fmla="val 5384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944100" y="99060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W01 PROBLEM → W02 TOOL</a:t>
            </a:r>
            <a:endParaRPr/>
          </a:p>
        </p:txBody>
      </p:sp>
      <p:pic>
        <p:nvPicPr>
          <p:cNvPr id="4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390650"/>
            <a:ext cx="171450" cy="171450"/>
          </a:xfrm>
          <a:prstGeom prst="rect">
            <a:avLst/>
          </a:prstGeom>
          <a:ln/>
        </p:spPr>
      </p:pic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38175" y="1381125"/>
            <a:ext cx="1485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Last week: the smell</a:t>
            </a:r>
            <a:endParaRPr/>
          </a:p>
        </p:txBody>
      </p:sp>
      <p:pic>
        <p:nvPicPr>
          <p:cNvPr id="4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34075" y="3733800"/>
            <a:ext cx="323850" cy="323850"/>
          </a:xfrm>
          <a:prstGeom prst="rect">
            <a:avLst/>
          </a:prstGeom>
          <a:ln/>
        </p:spPr>
      </p:pic>
      <p:pic>
        <p:nvPicPr>
          <p:cNvPr id="4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53200" y="1390650"/>
            <a:ext cx="171450" cy="171450"/>
          </a:xfrm>
          <a:prstGeom prst="rect">
            <a:avLst/>
          </a:prstGeom>
          <a:ln/>
        </p:spPr>
      </p:pic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810375" y="1381125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This week: the tool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0" y="6400800"/>
            <a:ext cx="12192000" cy="457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3343275" y="6534150"/>
            <a:ext cx="5514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Same problem, one week apart. That gap is what this course is training.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381000" y="1657350"/>
            <a:ext cx="5257800" cy="1152525"/>
          </a:xfrm>
          <a:prstGeom prst="roundRect">
            <a:avLst>
              <a:gd name="adj" fmla="val 661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/>
          <p:cNvSpPr txBox="1"/>
          <p:nvPr/>
        </p:nvSpPr>
        <p:spPr>
          <a:xfrm rot="0" flipH="0" flipV="0">
            <a:off x="533400" y="1790700"/>
            <a:ext cx="4953000" cy="88582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825">
                <a:solidFill>
                  <a:srgbClr val="E5E7EB"/>
                </a:solidFill>
                <a:latin typeface="Menlo"/>
                <a:ea typeface="Menlo"/>
              </a:rPr>
              <a:t>if type = CARD    -&gt; chargeCard(order)
if type = WECHAT  -&gt; chargeWechat(order)
if type = ALIPAY  -&gt; chargeAlipay(order)
otherwise         -&gt; refuse: no such type
# every new type = edit this method
# and re-test every branch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553200" y="1657350"/>
            <a:ext cx="5257800" cy="1400175"/>
          </a:xfrm>
          <a:prstGeom prst="roundRect">
            <a:avLst>
              <a:gd name="adj" fmla="val 544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/>
          <p:cNvSpPr txBox="1"/>
          <p:nvPr/>
        </p:nvSpPr>
        <p:spPr>
          <a:xfrm rot="0" flipH="0" flipV="0">
            <a:off x="6705600" y="1790700"/>
            <a:ext cx="4953000" cy="11334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825">
                <a:solidFill>
                  <a:srgbClr val="E5E7EB"/>
                </a:solidFill>
                <a:latin typeface="Menlo"/>
                <a:ea typeface="Menlo"/>
              </a:rPr>
              <a:t>r = method.pay(order.total())
# a new payment type?
Class Bursary implements PaymentMethod
    + pay(amount) : Receipt
        return award.deduct(amount)
# no existing line edited.
# no existing test rewritten.</a:t>
            </a:r>
            <a:endParaRPr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4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289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06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467100" y="19145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2 · LAB · 2 HOURS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3467100" y="2257425"/>
            <a:ext cx="8115300" cy="124777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OO Analysis &amp;</a:t>
            </a:r>
            <a:endParaRPr/>
          </a:p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M0 Kickoff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3467100" y="37528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467100" y="4114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657600" y="4038600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Exercise 2.1 — the class that does everything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3467100" y="4457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657600" y="4381500"/>
            <a:ext cx="2619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From objects to responsibilities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467100" y="4800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657600" y="472440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Then: form your team and deliver M0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4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6896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Exercise 2.1 — The Class That Does Everything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1401425" y="314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30 / 38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81000" y="733425"/>
            <a:ext cx="752475" cy="228600"/>
          </a:xfrm>
          <a:prstGeom prst="roundRect">
            <a:avLst>
              <a:gd name="adj" fmla="val 25000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495300" y="7715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BEFORE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219200" y="752475"/>
            <a:ext cx="297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One class, six unrelated reasons to change.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419100" y="2505075"/>
            <a:ext cx="6705600" cy="485775"/>
          </a:xfrm>
          <a:prstGeom prst="roundRect">
            <a:avLst>
              <a:gd name="adj" fmla="val 17647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419100" y="2505075"/>
            <a:ext cx="6705600" cy="485775"/>
          </a:xfrm>
          <a:custGeom>
            <a:pathLst>
              <a:path w="704" h="51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46"/>
                </a:lnTo>
                <a:cubicBezTo>
                  <a:pt x="4" y="48"/>
                  <a:pt x="6" y="50"/>
                  <a:pt x="8" y="51"/>
                </a:cubicBezTo>
                <a:cubicBezTo>
                  <a:pt x="4" y="51"/>
                  <a:pt x="0" y="47"/>
                  <a:pt x="0" y="4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571500" y="2619375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Your task: 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list the distinct responsibilities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— not the methods.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7334250" y="2333625"/>
            <a:ext cx="4476750" cy="1609725"/>
          </a:xfrm>
          <a:prstGeom prst="roundRect">
            <a:avLst>
              <a:gd name="adj" fmla="val 710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543800" y="2524125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7FA2D6"/>
                </a:solidFill>
                <a:latin typeface="Microsoft YaHei"/>
                <a:ea typeface="Microsoft YaHei"/>
              </a:rPr>
              <a:t>A HINT YOU WILL NEED LATER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543800" y="2809875"/>
            <a:ext cx="40576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 responsibility is a reason to change.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543800" y="3238500"/>
            <a:ext cx="4057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Two methods that change for the same reason belong together. Two that change for different reasons do not.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7334250" y="4057650"/>
            <a:ext cx="4476750" cy="781050"/>
          </a:xfrm>
          <a:prstGeom prst="roundRect">
            <a:avLst>
              <a:gd name="adj" fmla="val 12195"/>
            </a:avLst>
          </a:prstGeom>
          <a:solidFill>
            <a:srgbClr val="F7F9FC"/>
          </a:solidFill>
          <a:ln w="12700">
            <a:solidFill>
              <a:srgbClr val="D9534F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496175" y="4191000"/>
            <a:ext cx="4152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Remember this class.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We meet it again in Week 11, when GRASP tells us how to fix it properly.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810000" y="6553200"/>
            <a:ext cx="4581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90 minutes. Work in pairs first, then report back as a group.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381000" y="1047750"/>
            <a:ext cx="6705600" cy="137160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03" name=""/>
          <p:cNvSpPr txBox="1"/>
          <p:nvPr/>
        </p:nvSpPr>
        <p:spPr>
          <a:xfrm rot="0" flipH="0" flipV="0">
            <a:off x="533400" y="1181100"/>
            <a:ext cx="6400800" cy="110490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Class Order
    + placeOrder()
    + chargeCustomer()
    + notifyRider()
    + printReceipt()
    + updateInventory()
    + sendSms()
    + applyDiscount()</a:t>
            </a:r>
            <a:endParaRPr/>
          </a:p>
        </p:txBody>
      </p:sp>
    </p:spTree>
  </p:cSld>
</p:sld>
</file>

<file path=ppt/slides/slide3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0877550" y="257175"/>
            <a:ext cx="933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LAB 2.1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Listing Its Responsibilities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81000" y="1476375"/>
            <a:ext cx="3667125" cy="4905375"/>
          </a:xfrm>
          <a:prstGeom prst="roundRect">
            <a:avLst>
              <a:gd name="adj" fmla="val 31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571500" y="16859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800225"/>
            <a:ext cx="209550" cy="209550"/>
          </a:xfrm>
          <a:prstGeom prst="rect">
            <a:avLst/>
          </a:prstGeom>
          <a:ln/>
        </p:spPr>
      </p:pic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114425" y="1752600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EFF8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71500" y="2238375"/>
            <a:ext cx="32861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Know the money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71500" y="2657475"/>
            <a:ext cx="3286125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95325" y="2762250"/>
            <a:ext cx="30384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total() · applyDiscount()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571500" y="3219450"/>
            <a:ext cx="3286125" cy="638175"/>
          </a:xfrm>
          <a:prstGeom prst="roundRect">
            <a:avLst>
              <a:gd name="adj" fmla="val 1194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95325" y="3324225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D7BD9"/>
                </a:solidFill>
                <a:latin typeface="Microsoft YaHei"/>
                <a:ea typeface="Microsoft YaHei"/>
              </a:rPr>
              <a:t>REASON TO CHANGE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95325" y="3514725"/>
            <a:ext cx="30384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changes when pricing rules change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4257675" y="1476375"/>
            <a:ext cx="3676650" cy="4905375"/>
          </a:xfrm>
          <a:prstGeom prst="roundRect">
            <a:avLst>
              <a:gd name="adj" fmla="val 31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448175" y="16859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62475" y="1800225"/>
            <a:ext cx="209550" cy="209550"/>
          </a:xfrm>
          <a:prstGeom prst="rect">
            <a:avLst/>
          </a:prstGeom>
          <a:ln/>
        </p:spPr>
      </p:pic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991100" y="1752600"/>
            <a:ext cx="333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EFF8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448175" y="2238375"/>
            <a:ext cx="3295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Take the payment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4448175" y="2657475"/>
            <a:ext cx="329565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572000" y="2762250"/>
            <a:ext cx="3048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chargeCustomer()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4448175" y="3219450"/>
            <a:ext cx="3295650" cy="638175"/>
          </a:xfrm>
          <a:prstGeom prst="roundRect">
            <a:avLst>
              <a:gd name="adj" fmla="val 1194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572000" y="3324225"/>
            <a:ext cx="304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D7BD9"/>
                </a:solidFill>
                <a:latin typeface="Microsoft YaHei"/>
                <a:ea typeface="Microsoft YaHei"/>
              </a:rPr>
              <a:t>REASON TO CHANGE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572000" y="3514725"/>
            <a:ext cx="3048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changes when a payment type appears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8143875" y="1476375"/>
            <a:ext cx="3667125" cy="4905375"/>
          </a:xfrm>
          <a:prstGeom prst="roundRect">
            <a:avLst>
              <a:gd name="adj" fmla="val 31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8334375" y="16859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48675" y="1800225"/>
            <a:ext cx="209550" cy="209550"/>
          </a:xfrm>
          <a:prstGeom prst="rect">
            <a:avLst/>
          </a:prstGeom>
          <a:ln/>
        </p:spPr>
      </p:pic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877300" y="1752600"/>
            <a:ext cx="333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EFF8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334375" y="2238375"/>
            <a:ext cx="32861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Tell people things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8334375" y="2657475"/>
            <a:ext cx="3286125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458200" y="2762250"/>
            <a:ext cx="30384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notifyRider() · sendSms() · printReceipt()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8334375" y="3219450"/>
            <a:ext cx="3286125" cy="638175"/>
          </a:xfrm>
          <a:prstGeom prst="roundRect">
            <a:avLst>
              <a:gd name="adj" fmla="val 1194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458200" y="3324225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D7BD9"/>
                </a:solidFill>
                <a:latin typeface="Microsoft YaHei"/>
                <a:ea typeface="Microsoft YaHei"/>
              </a:rPr>
              <a:t>REASON TO CHANGE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458200" y="3514725"/>
            <a:ext cx="30384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changes when a channel is added</a:t>
            </a:r>
            <a:endParaRPr/>
          </a:p>
        </p:txBody>
      </p:sp>
      <p:pic>
        <p:nvPicPr>
          <p:cNvPr id="5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81000" y="6524625"/>
            <a:ext cx="200025" cy="200025"/>
          </a:xfrm>
          <a:prstGeom prst="rect">
            <a:avLst/>
          </a:prstGeom>
          <a:ln/>
        </p:spPr>
      </p:pic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14375" y="6524625"/>
            <a:ext cx="6696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Three responsibilities, three separate reasons. One class holding all three is doing three jobs.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4014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</p:spTree>
  </p:cSld>
</p:sld>
</file>

<file path=ppt/slides/slide3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7150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" b="1">
                <a:solidFill>
                  <a:srgbClr val="0E3F8C"/>
                </a:solidFill>
                <a:latin typeface="Microsoft YaHei"/>
                <a:ea typeface="Microsoft YaHei"/>
              </a:rPr>
              <a:t>OO Analysis Is About Responsibilities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401425" y="3619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  <p:pic>
        <p:nvPicPr>
          <p:cNvPr id="5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562100"/>
            <a:ext cx="11239500" cy="4000500"/>
          </a:xfrm>
          <a:prstGeom prst="rect">
            <a:avLst/>
          </a:prstGeom>
          <a:ln/>
        </p:spPr>
      </p:pic>
      <p:sp>
        <p:nvSpPr>
          <p:cNvPr id="548" name=""/>
          <p:cNvSpPr/>
          <p:nvPr/>
        </p:nvSpPr>
        <p:spPr>
          <a:xfrm rot="0" flipH="0" flipV="0">
            <a:off x="0" y="636270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114675" y="6505575"/>
            <a:ext cx="5962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Syntax was the warm-up. Deciding who is responsible — that is analysis.</a:t>
            </a:r>
            <a:endParaRPr/>
          </a:p>
        </p:txBody>
      </p:sp>
    </p:spTree>
  </p:cSld>
</p:sld>
</file>

<file path=ppt/slides/slide3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0325100" y="2571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MILESTONE M0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37623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Project M0 — What Is Due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10410825" y="923925"/>
            <a:ext cx="1400175" cy="285750"/>
          </a:xfrm>
          <a:prstGeom prst="roundRect">
            <a:avLst>
              <a:gd name="adj" fmla="val 20000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0563225" y="9810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DUE FRI SEP 11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381000" y="2238375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571500" y="24098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76275" y="2514600"/>
            <a:ext cx="209550" cy="209550"/>
          </a:xfrm>
          <a:prstGeom prst="rect">
            <a:avLst/>
          </a:prstGeom>
          <a:ln/>
        </p:spPr>
      </p:pic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43000" y="2381250"/>
            <a:ext cx="870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Team charter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143000" y="2619375"/>
            <a:ext cx="87058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Team name, member roles, communication rules, role rotation plan.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10001250" y="2486025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0125075" y="254317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Guidebook Appendix A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381000" y="310515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571500" y="32766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6275" y="3381375"/>
            <a:ext cx="209550" cy="209550"/>
          </a:xfrm>
          <a:prstGeom prst="rect">
            <a:avLst/>
          </a:prstGeom>
          <a:ln/>
        </p:spPr>
      </p:pic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143000" y="3248025"/>
            <a:ext cx="8915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Stakeholder list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143000" y="3486150"/>
            <a:ext cx="8915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Everyone with an interest in CampusBites — name them and say why.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10210800" y="3352800"/>
            <a:ext cx="1409700" cy="26670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0334625" y="34099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5–8 is a good range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381000" y="3971925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571500" y="41433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76275" y="4248150"/>
            <a:ext cx="209550" cy="209550"/>
          </a:xfrm>
          <a:prstGeom prst="rect">
            <a:avLst/>
          </a:prstGeom>
          <a:ln/>
        </p:spPr>
      </p:pic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143000" y="4114800"/>
            <a:ext cx="895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One-paragraph vision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143000" y="4352925"/>
            <a:ext cx="8953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What it does, for whom, and why it beats the current way.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10248900" y="4219575"/>
            <a:ext cx="1371600" cy="26670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0372725" y="42767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150 words or fewer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81000" y="48387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571500" y="50101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76275" y="5114925"/>
            <a:ext cx="209550" cy="209550"/>
          </a:xfrm>
          <a:prstGeom prst="rect">
            <a:avLst/>
          </a:prstGeom>
          <a:ln/>
        </p:spPr>
      </p:pic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43000" y="4981575"/>
            <a:ext cx="880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Repository registered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143000" y="5219700"/>
            <a:ext cx="8801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Create the team repo, invite klausren, push one README.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10096500" y="508635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0220325" y="51435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Deadline Schedule §4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133725" y="6543675"/>
            <a:ext cx="190500" cy="190500"/>
          </a:xfrm>
          <a:prstGeom prst="rect">
            <a:avLst/>
          </a:prstGeom>
          <a:ln/>
        </p:spPr>
      </p:pic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3438525" y="6543675"/>
            <a:ext cx="561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M0 is pass / fail — but a failed M0 blocks nothing yet. It is your rehearsal.</a:t>
            </a:r>
            <a:endParaRPr/>
          </a:p>
        </p:txBody>
      </p:sp>
    </p:spTree>
  </p:cSld>
</p:sld>
</file>

<file path=ppt/slides/slide3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0372725" y="25717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M0 · CHARTER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Team Charter Essentials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81000" y="2095500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542925" y="223837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38175" y="2333625"/>
            <a:ext cx="190500" cy="190500"/>
          </a:xfrm>
          <a:prstGeom prst="rect">
            <a:avLst/>
          </a:prstGeom>
          <a:ln/>
        </p:spPr>
      </p:pic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047750" y="2219325"/>
            <a:ext cx="587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Team name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047750" y="2428875"/>
            <a:ext cx="58769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One line. You will be called this all semester.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381000" y="2857500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542925" y="300037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38175" y="3095625"/>
            <a:ext cx="190500" cy="190500"/>
          </a:xfrm>
          <a:prstGeom prst="rect">
            <a:avLst/>
          </a:prstGeom>
          <a:ln/>
        </p:spPr>
      </p:pic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047750" y="2981325"/>
            <a:ext cx="587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Roles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047750" y="3190875"/>
            <a:ext cx="58769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Team Lead, Recorder, Reviewer — write down who starts in which.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381000" y="3619500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542925" y="376237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8175" y="3857625"/>
            <a:ext cx="190500" cy="190500"/>
          </a:xfrm>
          <a:prstGeom prst="rect">
            <a:avLst/>
          </a:prstGeom>
          <a:ln/>
        </p:spPr>
      </p:pic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1047750" y="3743325"/>
            <a:ext cx="587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Communication rules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047750" y="3952875"/>
            <a:ext cx="58769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Where you talk, how fast you reply, what counts as an emergency.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381000" y="4381500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542925" y="452437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38175" y="4619625"/>
            <a:ext cx="190500" cy="190500"/>
          </a:xfrm>
          <a:prstGeom prst="rect">
            <a:avLst/>
          </a:prstGeom>
          <a:ln/>
        </p:spPr>
      </p:pic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047750" y="4505325"/>
            <a:ext cx="587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Role rotation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047750" y="4714875"/>
            <a:ext cx="58769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Rotate every milestone so nobody owns one job all term.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381000" y="5143500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542925" y="528637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38175" y="5381625"/>
            <a:ext cx="190500" cy="190500"/>
          </a:xfrm>
          <a:prstGeom prst="rect">
            <a:avLst/>
          </a:prstGeom>
          <a:ln/>
        </p:spPr>
      </p:pic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047750" y="5267325"/>
            <a:ext cx="587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Conflict rule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047750" y="5476875"/>
            <a:ext cx="58769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What you do when two members disagree — decide now, not at 23:59.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7334250" y="1419225"/>
            <a:ext cx="4476750" cy="5057775"/>
          </a:xfrm>
          <a:prstGeom prst="roundRect">
            <a:avLst>
              <a:gd name="adj" fmla="val 2553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562850" y="2762250"/>
            <a:ext cx="304800" cy="304800"/>
          </a:xfrm>
          <a:prstGeom prst="rect">
            <a:avLst/>
          </a:prstGeom>
          <a:ln/>
        </p:spPr>
      </p:pic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562850" y="3200400"/>
            <a:ext cx="40195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The charter is a contract between the four of you.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7562850" y="3990975"/>
            <a:ext cx="40195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Not with me. When a milestone slips, this document is what you point at.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7562850" y="4657725"/>
            <a:ext cx="4019550" cy="485775"/>
          </a:xfrm>
          <a:prstGeom prst="roundRect">
            <a:avLst>
              <a:gd name="adj" fmla="val 156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715250" y="4781550"/>
            <a:ext cx="37147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B9CDF0"/>
                </a:solidFill>
                <a:latin typeface="Microsoft YaHei"/>
                <a:ea typeface="Microsoft YaHei"/>
              </a:rPr>
              <a:t>Template: </a:t>
            </a:r>
            <a:r>
              <a:rPr lang="en-US" sz="1050">
                <a:solidFill>
                  <a:srgbClr val="B9CDF0"/>
                </a:solidFill>
                <a:latin typeface="Microsoft YaHei"/>
                <a:ea typeface="Microsoft YaHei"/>
              </a:rPr>
              <a:t>Project Guidebook, Appendix A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</p:spTree>
  </p:cSld>
</p:sld>
</file>

<file path=ppt/slides/slide3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2194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Stakeholders &amp; Vision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1401425" y="333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pic>
        <p:nvPicPr>
          <p:cNvPr id="6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1933575"/>
            <a:ext cx="5715000" cy="3333750"/>
          </a:xfrm>
          <a:prstGeom prst="rect">
            <a:avLst/>
          </a:prstGeom>
          <a:ln/>
        </p:spPr>
      </p:pic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838950" y="2171700"/>
            <a:ext cx="497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The vision paragraph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877050" y="2486025"/>
            <a:ext cx="4972050" cy="1514475"/>
          </a:xfrm>
          <a:prstGeom prst="roundRect">
            <a:avLst>
              <a:gd name="adj" fmla="val 6289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6877050" y="2486025"/>
            <a:ext cx="4972050" cy="1514475"/>
          </a:xfrm>
          <a:custGeom>
            <a:pathLst>
              <a:path w="522" h="15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53"/>
                </a:lnTo>
                <a:cubicBezTo>
                  <a:pt x="4" y="156"/>
                  <a:pt x="6" y="158"/>
                  <a:pt x="9" y="159"/>
                </a:cubicBezTo>
                <a:cubicBezTo>
                  <a:pt x="4" y="158"/>
                  <a:pt x="0" y="154"/>
                  <a:pt x="0" y="14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067550" y="2657475"/>
            <a:ext cx="45529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 i="1">
                <a:solidFill>
                  <a:srgbClr val="1A2230"/>
                </a:solidFill>
                <a:latin typeface="Microsoft YaHei"/>
                <a:ea typeface="Microsoft YaHei"/>
              </a:rPr>
              <a:t>"For students and staff who want hot food delivered across campus, CampusBites is a mobile ordering platform that connects dorm kitchens and canteens with student riders. Unlike messaging a seller directly, it tracks every order from kitchen to door."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838950" y="41148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For…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who has the problem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838950" y="443865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…is a…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what it is, in one noun phrase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838950" y="47625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Unlike…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what makes it worth building</a:t>
            </a:r>
            <a:endParaRPr/>
          </a:p>
        </p:txBody>
      </p:sp>
      <p:pic>
        <p:nvPicPr>
          <p:cNvPr id="6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1000" y="6572250"/>
            <a:ext cx="180975" cy="180975"/>
          </a:xfrm>
          <a:prstGeom prst="rect">
            <a:avLst/>
          </a:prstGeom>
          <a:ln/>
        </p:spPr>
      </p:pic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76275" y="6562725"/>
            <a:ext cx="4695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Stakeholder ≠ user. Someone can be affected without ever logging in.</a:t>
            </a:r>
            <a:endParaRPr/>
          </a:p>
        </p:txBody>
      </p:sp>
    </p:spTree>
  </p:cSld>
</p:sld>
</file>

<file path=ppt/slides/slide3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0515600" y="257175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W02 · HOMEWORK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" b="1">
                <a:solidFill>
                  <a:srgbClr val="0E3F8C"/>
                </a:solidFill>
                <a:latin typeface="Microsoft YaHei"/>
                <a:ea typeface="Microsoft YaHei"/>
              </a:rPr>
              <a:t>Homework for Week 2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81000" y="1447800"/>
            <a:ext cx="2857500" cy="4991100"/>
          </a:xfrm>
          <a:prstGeom prst="roundRect">
            <a:avLst>
              <a:gd name="adj" fmla="val 400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09600" y="3105150"/>
            <a:ext cx="24003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Read a little. Write a little code.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24003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Both tasks feed next week's UML work. Do the code task before Friday.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3505200" y="228600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3676650" y="24479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781425" y="2552700"/>
            <a:ext cx="209550" cy="209550"/>
          </a:xfrm>
          <a:prstGeom prst="rect">
            <a:avLst/>
          </a:prstGeom>
          <a:ln/>
        </p:spPr>
      </p:pic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4229100" y="241935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Read Larman on OO basics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4229100" y="2647950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Chapters as assigned. Skim for vocabulary, not for mastery.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3505200" y="314325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3676650" y="3305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81425" y="3409950"/>
            <a:ext cx="209550" cy="209550"/>
          </a:xfrm>
          <a:prstGeom prst="rect">
            <a:avLst/>
          </a:prstGeom>
          <a:ln/>
        </p:spPr>
      </p:pic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4229100" y="327660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Refactor the Order class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4229100" y="3505200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Extract one interface and two implementations from the messy version.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3505200" y="400050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3676650" y="41624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781425" y="4267200"/>
            <a:ext cx="209550" cy="209550"/>
          </a:xfrm>
          <a:prstGeom prst="rect">
            <a:avLst/>
          </a:prstGeom>
          <a:ln/>
        </p:spPr>
      </p:pic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4229100" y="4133850"/>
            <a:ext cx="3486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Push it to your team repo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4229100" y="4362450"/>
            <a:ext cx="3486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 commit history is your contribution evidence. Start it now.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3505200" y="485775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3676650" y="5019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781425" y="5124450"/>
            <a:ext cx="209550" cy="209550"/>
          </a:xfrm>
          <a:prstGeom prst="rect">
            <a:avLst/>
          </a:prstGeom>
          <a:ln/>
        </p:spPr>
      </p:pic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229100" y="4991100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Draft your vision paragraph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229100" y="521970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Bring a first draft to the lab on Friday.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5857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Stuck on the refactor? Bring the broken version to Friday's lab — that is a better question than no question.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1401425" y="65722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</p:spTree>
  </p:cSld>
</p:sld>
</file>

<file path=ppt/slides/slide3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067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Getting Ready for M0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11401425" y="333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pic>
        <p:nvPicPr>
          <p:cNvPr id="6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2028825"/>
            <a:ext cx="5334000" cy="3143250"/>
          </a:xfrm>
          <a:prstGeom prst="rect">
            <a:avLst/>
          </a:prstGeom>
          <a:ln/>
        </p:spPr>
      </p:pic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334250" y="226695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The one rule that trips people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7372350" y="2581275"/>
            <a:ext cx="4476750" cy="857250"/>
          </a:xfrm>
          <a:prstGeom prst="roundRect">
            <a:avLst>
              <a:gd name="adj" fmla="val 11111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7372350" y="2581275"/>
            <a:ext cx="4476750" cy="857250"/>
          </a:xfrm>
          <a:custGeom>
            <a:pathLst>
              <a:path w="470" h="9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4"/>
                </a:lnTo>
                <a:cubicBezTo>
                  <a:pt x="4" y="87"/>
                  <a:pt x="6" y="89"/>
                  <a:pt x="9" y="90"/>
                </a:cubicBezTo>
                <a:cubicBezTo>
                  <a:pt x="4" y="89"/>
                  <a:pt x="0" y="85"/>
                  <a:pt x="0" y="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543800" y="2733675"/>
            <a:ext cx="4095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 milestone is 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only submitted when the tag is pushed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. A commit on Friday is not enough.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7334250" y="3552825"/>
            <a:ext cx="4476750" cy="752475"/>
          </a:xfrm>
          <a:prstGeom prst="roundRect">
            <a:avLst>
              <a:gd name="adj" fmla="val 1139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486650" y="3686175"/>
            <a:ext cx="417195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git tag m0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git push origin m0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7334250" y="4419600"/>
            <a:ext cx="4476750" cy="51435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7486650" y="45529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Full protocol and the zip fallback: 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Deadline Schedule §4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3028950" y="6553200"/>
            <a:ext cx="6143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M0 is small on purpose. It exists to test your pipeline before anything is graded.</a:t>
            </a:r>
            <a:endParaRPr/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6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WEEK 02 · WRAP-UP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762000" y="2076450"/>
            <a:ext cx="10668000" cy="12096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Four pillars.</a:t>
            </a:r>
            <a:endParaRPr/>
          </a:p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One idea.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762000" y="3514725"/>
            <a:ext cx="7239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762000" y="3781425"/>
            <a:ext cx="2571750" cy="7620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914400" y="393382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Objects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914400" y="4181475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B9CDF0"/>
                </a:solidFill>
                <a:latin typeface="Microsoft YaHei"/>
                <a:ea typeface="Microsoft YaHei"/>
              </a:rPr>
              <a:t>state · behaviour · identity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3467100" y="3781425"/>
            <a:ext cx="2562225" cy="7620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619500" y="393382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Encapsulation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3619500" y="4181475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B9CDF0"/>
                </a:solidFill>
                <a:latin typeface="Microsoft YaHei"/>
                <a:ea typeface="Microsoft YaHei"/>
              </a:rPr>
              <a:t>hide state, expose behaviour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162675" y="3781425"/>
            <a:ext cx="2571750" cy="7620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315075" y="393382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Composition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315075" y="4181475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B9CDF0"/>
                </a:solidFill>
                <a:latin typeface="Microsoft YaHei"/>
                <a:ea typeface="Microsoft YaHei"/>
              </a:rPr>
              <a:t>has-a beats is-a, usually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8867775" y="3781425"/>
            <a:ext cx="2562225" cy="7620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9020175" y="393382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Interfaces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9020175" y="4181475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B9CDF0"/>
                </a:solidFill>
                <a:latin typeface="Microsoft YaHei"/>
                <a:ea typeface="Microsoft YaHei"/>
              </a:rPr>
              <a:t>depend on what it does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62000" y="4791075"/>
            <a:ext cx="10668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C5D4EA"/>
                </a:solidFill>
                <a:latin typeface="Microsoft YaHei"/>
                <a:ea typeface="Microsoft YaHei"/>
              </a:rPr>
              <a:t>All four serve one purpose: </a:t>
            </a:r>
            <a:r>
              <a:rPr lang="en-US" sz="1575">
                <a:solidFill>
                  <a:srgbClr val="C5D4EA"/>
                </a:solidFill>
                <a:latin typeface="Microsoft YaHei"/>
                <a:ea typeface="Microsoft YaHei"/>
              </a:rPr>
              <a:t>put each responsibility in the right place.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475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Next week — UML Essentials: the diagrams you will draw all term.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0534650" y="6219825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>Questions?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2026-09-16T16:32:35Z</dcterms:created>
  <dcterms:modified xsi:type="dcterms:W3CDTF">2026-09-16T16:32:35Z</dcterms:modified>
</cp:coreProperties>
</file>
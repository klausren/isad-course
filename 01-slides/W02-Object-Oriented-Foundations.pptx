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1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36.xml" ContentType="application/vnd.openxmlformats-officedocument.presentationml.slide+xml"/>
  <Override PartName="/ppt/slides/slide32.xml" ContentType="application/vnd.openxmlformats-officedocument.presentationml.slide+xml"/>
  <Override PartName="/ppt/slides/slide9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42" Type="http://schemas.openxmlformats.org/officeDocument/2006/relationships/viewProps" Target="viewProps.xml" /><Relationship Id="rId4" Type="http://schemas.openxmlformats.org/officeDocument/2006/relationships/slide" Target="slides/slide4.xml" /><Relationship Id="rId38" Type="http://schemas.openxmlformats.org/officeDocument/2006/relationships/slide" Target="slides/slide38.xml" /><Relationship Id="rId37" Type="http://schemas.openxmlformats.org/officeDocument/2006/relationships/slide" Target="slides/slide37.xml" /><Relationship Id="rId36" Type="http://schemas.openxmlformats.org/officeDocument/2006/relationships/slide" Target="slides/slide36.xml" /><Relationship Id="rId33" Type="http://schemas.openxmlformats.org/officeDocument/2006/relationships/slide" Target="slides/slide33.xml" /><Relationship Id="rId35" Type="http://schemas.openxmlformats.org/officeDocument/2006/relationships/slide" Target="slides/slide35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10" Type="http://schemas.openxmlformats.org/officeDocument/2006/relationships/slide" Target="slides/slide10.xml" /><Relationship Id="rId28" Type="http://schemas.openxmlformats.org/officeDocument/2006/relationships/slide" Target="slides/slide28.xml" /><Relationship Id="rId13" Type="http://schemas.openxmlformats.org/officeDocument/2006/relationships/slide" Target="slides/slide13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25" Type="http://schemas.openxmlformats.org/officeDocument/2006/relationships/slide" Target="slides/slide25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32" Type="http://schemas.openxmlformats.org/officeDocument/2006/relationships/slide" Target="slides/slide32.xml" /><Relationship Id="rId27" Type="http://schemas.openxmlformats.org/officeDocument/2006/relationships/slide" Target="slides/slide27.xml" /><Relationship Id="rId24" Type="http://schemas.openxmlformats.org/officeDocument/2006/relationships/slide" Target="slides/slide24.xml" /><Relationship Id="rId34" Type="http://schemas.openxmlformats.org/officeDocument/2006/relationships/slide" Target="slides/slide34.xml" /><Relationship Id="rId22" Type="http://schemas.openxmlformats.org/officeDocument/2006/relationships/slide" Target="slides/slide22.xml" /><Relationship Id="rId19" Type="http://schemas.openxmlformats.org/officeDocument/2006/relationships/slide" Target="slides/slide19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9" Type="http://schemas.openxmlformats.org/officeDocument/2006/relationships/slide" Target="slides/slide29.xml" /><Relationship Id="rId41" Type="http://schemas.openxmlformats.org/officeDocument/2006/relationships/tableStyles" Target="tableStyles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18" Type="http://schemas.openxmlformats.org/officeDocument/2006/relationships/slide" Target="slides/slide18.xml" /><Relationship Id="rId26" Type="http://schemas.openxmlformats.org/officeDocument/2006/relationships/slide" Target="slides/slide26.xml" /><Relationship Id="rId12" Type="http://schemas.openxmlformats.org/officeDocument/2006/relationships/slide" Target="slides/slide12.xml" /><Relationship Id="rId23" Type="http://schemas.openxmlformats.org/officeDocument/2006/relationships/slide" Target="slides/slide23.xml" /><Relationship Id="rId39" Type="http://schemas.openxmlformats.org/officeDocument/2006/relationships/notesMaster" Target="notesMasters/notesMaster1.xml" /><Relationship Id="rId17" Type="http://schemas.openxmlformats.org/officeDocument/2006/relationships/slide" Target="slides/slide17.xml" /><Relationship Id="rId40" Type="http://schemas.openxmlformats.org/officeDocument/2006/relationships/presProps" Target="presProps.xml" /><Relationship Id="rId11" Type="http://schemas.openxmlformats.org/officeDocument/2006/relationships/slide" Target="slides/slide1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55.svg" /><Relationship Id="rId4" Type="http://schemas.openxmlformats.org/officeDocument/2006/relationships/image" Target="media/image54.svg" /><Relationship Id="rId3" Type="http://schemas.openxmlformats.org/officeDocument/2006/relationships/image" Target="media/image53.svg" /><Relationship Id="rId2" Type="http://schemas.openxmlformats.org/officeDocument/2006/relationships/image" Target="media/image52.svg" /><Relationship Id="rId1" Type="http://schemas.openxmlformats.org/officeDocument/2006/relationships/image" Target="media/image51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17.svg" /><Relationship Id="rId4" Type="http://schemas.openxmlformats.org/officeDocument/2006/relationships/image" Target="media/image38.svg" /><Relationship Id="rId2" Type="http://schemas.openxmlformats.org/officeDocument/2006/relationships/image" Target="media/image36.svg" /><Relationship Id="rId1" Type="http://schemas.openxmlformats.org/officeDocument/2006/relationships/image" Target="media/image56.svg" /><Relationship Id="rId3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4" Type="http://schemas.openxmlformats.org/officeDocument/2006/relationships/image" Target="media/image5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8.svg" /><Relationship Id="rId1" Type="http://schemas.openxmlformats.org/officeDocument/2006/relationships/image" Target="media/image6.svg" /><Relationship Id="rId2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0.svg" /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media/image15.svg" /><Relationship Id="rId3" Type="http://schemas.openxmlformats.org/officeDocument/2006/relationships/image" Target="media/image16.svg" /><Relationship Id="rId1" Type="http://schemas.openxmlformats.org/officeDocument/2006/relationships/image" Target="media/image14.svg" /><Relationship Id="rId4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image" Target="media/image21.svg" /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4" Type="http://schemas.openxmlformats.org/officeDocument/2006/relationships/image" Target="media/image27.svg" /><Relationship Id="rId3" Type="http://schemas.openxmlformats.org/officeDocument/2006/relationships/image" Target="media/image26.svg" /><Relationship Id="rId2" Type="http://schemas.openxmlformats.org/officeDocument/2006/relationships/image" Target="media/image25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4" Type="http://schemas.openxmlformats.org/officeDocument/2006/relationships/image" Target="media/image8.svg" /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3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1" Type="http://schemas.openxmlformats.org/officeDocument/2006/relationships/image" Target="media/image32.svg" /><Relationship Id="rId2" Type="http://schemas.openxmlformats.org/officeDocument/2006/relationships/image" Target="media/image33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5" Type="http://schemas.openxmlformats.org/officeDocument/2006/relationships/image" Target="media/image39.svg" /><Relationship Id="rId3" Type="http://schemas.openxmlformats.org/officeDocument/2006/relationships/image" Target="media/image38.svg" /><Relationship Id="rId2" Type="http://schemas.openxmlformats.org/officeDocument/2006/relationships/image" Target="media/image37.svg" /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44.svg" /><Relationship Id="rId5" Type="http://schemas.openxmlformats.org/officeDocument/2006/relationships/image" Target="media/image43.svg" /><Relationship Id="rId1" Type="http://schemas.openxmlformats.org/officeDocument/2006/relationships/image" Target="media/image40.svg" /><Relationship Id="rId4" Type="http://schemas.openxmlformats.org/officeDocument/2006/relationships/image" Target="media/image42.svg" /><Relationship Id="rId3" Type="http://schemas.openxmlformats.org/officeDocument/2006/relationships/image" Target="media/image29.svg" /><Relationship Id="rId2" Type="http://schemas.openxmlformats.org/officeDocument/2006/relationships/image" Target="media/image41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4" Type="http://schemas.openxmlformats.org/officeDocument/2006/relationships/image" Target="media/image49.svg" /><Relationship Id="rId3" Type="http://schemas.openxmlformats.org/officeDocument/2006/relationships/image" Target="media/image48.svg" /><Relationship Id="rId2" Type="http://schemas.openxmlformats.org/officeDocument/2006/relationships/image" Target="media/image47.svg" /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One team of four. You settle the roles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One team of four. You settle the roles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= a new Order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amp;lt;OrderLine&amp;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on Paper&lt;/Text&gt;&#10;  &lt;/Box&gt;&#10;  &lt;Box style={{ flex: 1, padding: '16px 40px 0 40px', flexDirection: 'row', gap: 26 }}&gt;&#10;    &lt;Box style={{ flex: 3, justifyContent: 'center' }}&gt;&#10;      &lt;CodeBlock theme='one-dark-pro' code={`Class Order&#10;    - lines : OrderLine[0..*]&#10;    - status : OrderStatus = DRAFT&#10;&#10;    + addItem(item, qty)&#10;        if status is not DRAFT&#10;            refuse - order already placed&#10;        lines.add(a new OrderLine(item, qty))&#10;&#10;    + total() : Money&#10;        sum = ZERO&#10;        for each line in lines&#10;            sum = sum + line.subtotal()&#10;        return sum`} language='text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on Paper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2762250"/>
            <a:ext cx="6705600" cy="2352675"/>
          </a:xfrm>
          <a:prstGeom prst="roundRect">
            <a:avLst>
              <a:gd name="adj" fmla="val 3239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2895600"/>
            <a:ext cx="6400800" cy="208597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Class Order
    - lines : OrderLine[0..*]
    - status : OrderStatus = DRAFT
    + addItem(item, qty)
        if status is not DRAFT
            refuse - order already placed
        lines.add(a new OrderLine(item, qty))
    + total() : Money
        sum = ZERO
        for each line in lines
            sum = sum + line.subtotal()
        return sum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theme='one-dark-pro' code={`Class Order&#10;    + lines : OrderLine[0..*]&#10;    + status : OrderStatus&#10;&#10;# every caller must know the rule&#10;if order.status is DRAFT&#10;    order.lines.add(a new OrderLine(item, qty))&#10;# one caller forgets the check.&#10;# now the order is wrong.`} language='text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theme='one-dark-pro' code={`# the rule lives with the data&#10;order.addItem(item, qty)`} language='text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114425"/>
          </a:xfrm>
          <a:prstGeom prst="roundRect">
            <a:avLst>
              <a:gd name="adj" fmla="val 10256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628900"/>
            <a:ext cx="4476750" cy="3848100"/>
          </a:xfrm>
          <a:prstGeom prst="roundRect">
            <a:avLst>
              <a:gd name="adj" fmla="val 297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05765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79107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1504950"/>
          </a:xfrm>
          <a:prstGeom prst="roundRect">
            <a:avLst>
              <a:gd name="adj" fmla="val 5063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1238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
    + lines : OrderLine[0..*]
    + status : OrderStatus
# every caller must know the rule
if order.status is DRAFT
    order.lines.add(a new OrderLine(item, qty))
# one caller forgets the check.
#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542925"/>
          </a:xfrm>
          <a:prstGeom prst="roundRect">
            <a:avLst>
              <a:gd name="adj" fmla="val 14035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2762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the rule lives with the data
order.addItem(item, qty)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+ fields (open)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&amp;#8722; fields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&amp;#8722; payment : PaymentMethod   # a slot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− payment : PaymentMethod   # a slot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theme='one-dark-pro' code={`Class Ellipse&#10;    + setMajorAxis(a)&#10;    + setMinorAxis(b)&#10;&#10;# In geometry, a circle IS an ellipse.&#10;Class Circle extends Ellipse&#10;    + setMajorAxis(a)&#10;        set both axes to a        # stay round&#10;    + setMinorAxis(b)&#10;        refuse - a circle cannot  # breaks the promise&#10;&#10;# ...so why does this break?&#10;e = a new Circle&#10;e.setMinorAxis(3.0)              # fails`} language='text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2838450"/>
            <a:ext cx="6705600" cy="2190750"/>
          </a:xfrm>
          <a:prstGeom prst="roundRect">
            <a:avLst>
              <a:gd name="adj" fmla="val 3478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971800"/>
            <a:ext cx="6400800" cy="19240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Ellipse
    + setMajorAxis(a)
    + setMinorAxis(b)
# In geometry, a circle IS an ellipse.
Class Circle extends Ellipse
    + setMajorAxis(a)
        set both axes to a        # stay round
    + setMinorAxis(b)
        refuse - a circle cannot  # breaks the promise
# ...so why does this break?
e = a new Circle
e.setMinorAxis(3.0)              # fails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on Paper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theme='one-dark-pro' code={`# &quot;an order is just a list of lines&quot;&#10;Class Order extends List&#10;    + place()&#10;&#10;# now Order inherits 20+ list operations&#10;# that make no sense for an order&#10;order.sort(...)&#10;order.clear()      # wipes a paid order&#10;order.addAll(...)  # bypasses the guard`} language='text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theme='one-dark-pro' code={`Class Order&#10;    - lines : OrderLine[0..*]&#10;    - payment : PaymentMethod&#10;    - route : DeliveryRoute&#10;&#10;    + total() : Money&#10;    + pay() : Receipt&#10;        return payment.pay(total())&#10;&#10;# Order offers only what an order does&#10;order.pay()        # yes&#10;order.clear()      # no such operation`} language='text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on Paper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1504950"/>
          </a:xfrm>
          <a:prstGeom prst="roundRect">
            <a:avLst>
              <a:gd name="adj" fmla="val 5063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238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"an order is just a list of lines"
Class Order extends List
    + place()
# now Order inherits 20+ list operations
# that make no sense for an order
order.sort(...)
order.clear()      # wipes a paid order
order.addAll(...)  #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1914525"/>
          </a:xfrm>
          <a:prstGeom prst="roundRect">
            <a:avLst>
              <a:gd name="adj" fmla="val 3980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16478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
    - lines : OrderLine[0..*]
    - payment : PaymentMethod
    - route : DeliveryRoute
    + total() : Money
    + pay() : Receipt
        return payment.pay(total())
# Order offers only what an order does
order.pay()        # yes
order.clear()      # no such operation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on Paper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theme='one-dark-pro' code={`PaymentMethod (interface)&#10;    + pay(amount) : Receipt&#10;&#10;Class CampusCard implements PaymentMethod&#10;    + pay(amount) : Receipt&#10;        return cardTerminal.deduct(amount)&#10;&#10;Class Wallet implements PaymentMethod&#10;    + pay(amount) : Receipt&#10;        return balance.debit(amount)&#10;&#10;Class Cash implements PaymentMethod&#10;    + pay(amount) : Receipt&#10;        return Receipt.payOnDelivery(amount)&#10;&#10;# the call site - one stable line&#10;r = method.pay(order.total())`} language='text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on Paper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2390775"/>
            <a:ext cx="6705600" cy="2409825"/>
          </a:xfrm>
          <a:prstGeom prst="roundRect">
            <a:avLst>
              <a:gd name="adj" fmla="val 3162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2524125"/>
            <a:ext cx="6400800" cy="21431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PaymentMethod (interface)
    + pay(amount) : Receipt
Class CampusCard implements PaymentMethod
    + pay(amount) : Receipt
        return cardTerminal.deduct(amount)
Class Wallet implements PaymentMethod
    + pay(amount) : Receipt
        return balance.debit(amount)
Class Cash implements PaymentMethod
    + pay(amount) : Receipt
        return Receipt.payOnDelivery(amount)
# the call site - one stable line
r = method.pay(order.total())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theme='one-dark-pro' code={`Class OrderService&#10;    - card : CampusCard       # one type only&#10;&#10;    + checkout(order)&#10;        card.pay(order.total())&#10;&#10;# adding Wallet means editing OrderService&#10;# and re-testing everything`} language='text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theme='one-dark-pro' code={`Class OrderService&#10;    - method : PaymentMethod  # any type&#10;&#10;    + checkout(order)&#10;        method.pay(order.total())&#10;&#10;# adding Wallet changes nothing here.&#10;# new class, same contract.`} language='text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137160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10490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
    - card : CampusCard       # one type only
    + checkout(order)
        card.pay(order.total())
# adding Wallet means editing OrderService
#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137160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10490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
    - method : PaymentMethod  # any type
    + checkout(order)
        method.pay(order.total())
# adding Wallet changes nothing here.
#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theme='one-dark-pro' code={`if type = CARD    -&gt; chargeCard(order)&#10;if type = WECHAT  -&gt; chargeWechat(order)&#10;if type = ALIPAY  -&gt; chargeAlipay(order)&#10;otherwise         -&gt; refuse: no such type&#10;&#10;# every new type = edit this method&#10;# and re-test every branch`} language='text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theme='one-dark-pro' code={`r = method.pay(order.total())&#10;&#10;# a new payment type?&#10;Class Bursary implements PaymentMethod&#10;    + pay(amount) : Receipt&#10;        return award.deduct(amount)&#10;&#10;# no existing line edited.&#10;# no existing test rewritten.`} language='text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1152525"/>
          </a:xfrm>
          <a:prstGeom prst="roundRect">
            <a:avLst>
              <a:gd name="adj" fmla="val 6612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8858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CARD    -&gt; chargeCard(order)
if type = WECHAT  -&gt; chargeWechat(order)
if type = ALIPAY  -&gt; chargeAlipay(order)
otherwise         -&gt; refuse: no such type
# every new type = edit this method
#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1400175"/>
          </a:xfrm>
          <a:prstGeom prst="roundRect">
            <a:avLst>
              <a:gd name="adj" fmla="val 5442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13347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r = method.pay(order.total())
# a new payment type?
Class Bursary implements PaymentMethod
    + pay(amount) : Receipt
        return award.deduct(amount)
# no existing line edited.
#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theme='one-dark-pro' code={`Class Order&#10;    + placeOrder()&#10;    + chargeCustomer()&#10;    + notifyRider()&#10;    + printReceipt()&#10;    + updateInventory()&#10;    + sendSms()&#10;    + applyDiscount()`} language='text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250507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250507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261937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137160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10490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
    + placeOrder()
    + chargeCustomer()
    + notifyRider()
    + printReceipt()
    + updateInventory()
    + sendSms()
    + applyDiscount()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four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four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2026-09-09T16:09:57Z</dcterms:created>
  <dcterms:modified xsi:type="dcterms:W3CDTF">2026-09-09T16:09:57Z</dcterms:modified>
</cp:coreProperties>
</file>
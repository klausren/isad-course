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s/slide13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36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slides/slide33.xml" ContentType="application/vnd.openxmlformats-officedocument.presentationml.slide+xml"/>
  <Override PartName="/ppt/slides/slide25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s/slide19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28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4.xml" ContentType="application/vnd.openxmlformats-officedocument.presentationml.slide+xml"/>
  <Override PartName="/ppt/slides/slide24.xml" ContentType="application/vnd.openxmlformats-officedocument.presentationml.slide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slides/slide30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6" Type="http://schemas.openxmlformats.org/officeDocument/2006/relationships/slide" Target="slides/slide6.xml" /><Relationship Id="rId40" Type="http://schemas.openxmlformats.org/officeDocument/2006/relationships/viewProps" Target="viewProps.xml" /><Relationship Id="rId39" Type="http://schemas.openxmlformats.org/officeDocument/2006/relationships/tableStyles" Target="tableStyles.xml" /><Relationship Id="rId37" Type="http://schemas.openxmlformats.org/officeDocument/2006/relationships/notesMaster" Target="notesMasters/notesMaster1.xml" /><Relationship Id="rId34" Type="http://schemas.openxmlformats.org/officeDocument/2006/relationships/slide" Target="slides/slide34.xml" /><Relationship Id="rId8" Type="http://schemas.openxmlformats.org/officeDocument/2006/relationships/slide" Target="slides/slide8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35" Type="http://schemas.openxmlformats.org/officeDocument/2006/relationships/slide" Target="slides/slide35.xml" /><Relationship Id="rId30" Type="http://schemas.openxmlformats.org/officeDocument/2006/relationships/slide" Target="slides/slide30.xml" /><Relationship Id="rId10" Type="http://schemas.openxmlformats.org/officeDocument/2006/relationships/slide" Target="slides/slide10.xml" /><Relationship Id="rId27" Type="http://schemas.openxmlformats.org/officeDocument/2006/relationships/slide" Target="slides/slide27.xml" /><Relationship Id="rId2" Type="http://schemas.openxmlformats.org/officeDocument/2006/relationships/slide" Target="slides/slide2.xml" /><Relationship Id="rId26" Type="http://schemas.openxmlformats.org/officeDocument/2006/relationships/slide" Target="slides/slide26.xml" /><Relationship Id="rId15" Type="http://schemas.openxmlformats.org/officeDocument/2006/relationships/slide" Target="slides/slide15.xml" /><Relationship Id="rId24" Type="http://schemas.openxmlformats.org/officeDocument/2006/relationships/slide" Target="slides/slide24.xml" /><Relationship Id="rId22" Type="http://schemas.openxmlformats.org/officeDocument/2006/relationships/slide" Target="slides/slide22.xml" /><Relationship Id="rId7" Type="http://schemas.openxmlformats.org/officeDocument/2006/relationships/slide" Target="slides/slide7.xml" /><Relationship Id="rId29" Type="http://schemas.openxmlformats.org/officeDocument/2006/relationships/slide" Target="slides/slide29.xml" /><Relationship Id="rId21" Type="http://schemas.openxmlformats.org/officeDocument/2006/relationships/slide" Target="slides/slide21.xml" /><Relationship Id="rId20" Type="http://schemas.openxmlformats.org/officeDocument/2006/relationships/slide" Target="slides/slide20.xml" /><Relationship Id="rId11" Type="http://schemas.openxmlformats.org/officeDocument/2006/relationships/slide" Target="slides/slide11.xml" /><Relationship Id="rId28" Type="http://schemas.openxmlformats.org/officeDocument/2006/relationships/slide" Target="slides/slide28.xml" /><Relationship Id="rId17" Type="http://schemas.openxmlformats.org/officeDocument/2006/relationships/slide" Target="slides/slide17.xml" /><Relationship Id="rId5" Type="http://schemas.openxmlformats.org/officeDocument/2006/relationships/slide" Target="slides/slide5.xml" /><Relationship Id="rId18" Type="http://schemas.openxmlformats.org/officeDocument/2006/relationships/slide" Target="slides/slide18.xml" /><Relationship Id="rId19" Type="http://schemas.openxmlformats.org/officeDocument/2006/relationships/slide" Target="slides/slide19.xml" /><Relationship Id="rId14" Type="http://schemas.openxmlformats.org/officeDocument/2006/relationships/slide" Target="slides/slide14.xml" /><Relationship Id="rId38" Type="http://schemas.openxmlformats.org/officeDocument/2006/relationships/presProps" Target="presProps.xml" /><Relationship Id="rId33" Type="http://schemas.openxmlformats.org/officeDocument/2006/relationships/slide" Target="slides/slide33.xml" /><Relationship Id="rId1" Type="http://schemas.openxmlformats.org/officeDocument/2006/relationships/slide" Target="slides/slide1.xml" /><Relationship Id="rId23" Type="http://schemas.openxmlformats.org/officeDocument/2006/relationships/slide" Target="slides/slide23.xml" /><Relationship Id="rId36" Type="http://schemas.openxmlformats.org/officeDocument/2006/relationships/slide" Target="slides/slide36.xml" /><Relationship Id="rId3" Type="http://schemas.openxmlformats.org/officeDocument/2006/relationships/slide" Target="slides/slide3.xml" /><Relationship Id="rId12" Type="http://schemas.openxmlformats.org/officeDocument/2006/relationships/slide" Target="slides/slide12.xml" /><Relationship Id="rId4" Type="http://schemas.openxmlformats.org/officeDocument/2006/relationships/slide" Target="slides/slide4.xml" /><Relationship Id="rId16" Type="http://schemas.openxmlformats.org/officeDocument/2006/relationships/slide" Target="slides/slide16.xml" /><Relationship Id="rId13" Type="http://schemas.openxmlformats.org/officeDocument/2006/relationships/slide" Target="slides/slide13.xml" /><Relationship Id="rId25" Type="http://schemas.openxmlformats.org/officeDocument/2006/relationships/slide" Target="slides/slide25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36.svg" /><Relationship Id="rId2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2" Type="http://schemas.openxmlformats.org/officeDocument/2006/relationships/image" Target="media/image31.svg" /><Relationship Id="rId1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3" Type="http://schemas.openxmlformats.org/officeDocument/2006/relationships/image" Target="media/image3.svg" /><Relationship Id="rId2" Type="http://schemas.openxmlformats.org/officeDocument/2006/relationships/image" Target="media/image2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3" Type="http://schemas.openxmlformats.org/officeDocument/2006/relationships/image" Target="media/image9.svg" /><Relationship Id="rId4" Type="http://schemas.openxmlformats.org/officeDocument/2006/relationships/image" Target="media/image10.svg" /><Relationship Id="rId2" Type="http://schemas.openxmlformats.org/officeDocument/2006/relationships/image" Target="media/image8.svg" /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3" Type="http://schemas.openxmlformats.org/officeDocument/2006/relationships/image" Target="media/image10.svg" /><Relationship Id="rId2" Type="http://schemas.openxmlformats.org/officeDocument/2006/relationships/image" Target="media/image12.svg" /><Relationship Id="rId1" Type="http://schemas.openxmlformats.org/officeDocument/2006/relationships/image" Target="media/image11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2" Type="http://schemas.openxmlformats.org/officeDocument/2006/relationships/image" Target="media/image18.svg" /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2" Type="http://schemas.openxmlformats.org/officeDocument/2006/relationships/image" Target="media/image20.svg" /><Relationship Id="rId1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2" Type="http://schemas.openxmlformats.org/officeDocument/2006/relationships/image" Target="media/image22.svg" /><Relationship Id="rId3" Type="http://schemas.openxmlformats.org/officeDocument/2006/relationships/image" Target="media/image23.svg" /><Relationship Id="rId1" Type="http://schemas.openxmlformats.org/officeDocument/2006/relationships/image" Target="media/image21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2" Type="http://schemas.openxmlformats.org/officeDocument/2006/relationships/image" Target="media/image7.svg" /><Relationship Id="rId1" Type="http://schemas.openxmlformats.org/officeDocument/2006/relationships/image" Target="media/image24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2" Type="http://schemas.openxmlformats.org/officeDocument/2006/relationships/image" Target="media/image26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6" Type="http://schemas.openxmlformats.org/officeDocument/2006/relationships/image" Target="media/image30.svg" /><Relationship Id="rId4" Type="http://schemas.openxmlformats.org/officeDocument/2006/relationships/image" Target="media/image12.svg" /><Relationship Id="rId5" Type="http://schemas.openxmlformats.org/officeDocument/2006/relationships/image" Target="media/image11.svg" /><Relationship Id="rId3" Type="http://schemas.openxmlformats.org/officeDocument/2006/relationships/image" Target="media/image29.svg" /><Relationship Id="rId2" Type="http://schemas.openxmlformats.org/officeDocument/2006/relationships/image" Target="media/image28.svg" /><Relationship Id="rId1" Type="http://schemas.openxmlformats.org/officeDocument/2006/relationships/image" Target="media/image27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2" Type="http://schemas.openxmlformats.org/officeDocument/2006/relationships/image" Target="media/image17.svg" /><Relationship Id="rId1" Type="http://schemas.openxmlformats.org/officeDocument/2006/relationships/image" Target="media/image31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3" Type="http://schemas.openxmlformats.org/officeDocument/2006/relationships/image" Target="media/image33.svg" /><Relationship Id="rId4" Type="http://schemas.openxmlformats.org/officeDocument/2006/relationships/image" Target="media/image8.svg" /><Relationship Id="rId2" Type="http://schemas.openxmlformats.org/officeDocument/2006/relationships/image" Target="media/image32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image" Target="media/image34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1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Information Systems&#10;      &lt;br /&gt;&#10;      Analysis &amp;amp; Design&#10;    &lt;/Text&gt;&#10;    &lt;Box style={{ width: 88, height: 5, background: '#FFC107', marginTop: 28, marginBottom: 22 }} /&gt;&#10;    &lt;Text style={{ fontSize: 26, color: '#B9CDF0', lineHeight: 1.45 }}&gt;&#10;      Systems, Analysts &amp;amp; the OOAD Roadmap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01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Information Systems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Analysis &amp; Design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Systems, Analysts &amp; the OOAD Roadmap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09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1 · ROADMAP&lt;/Text&gt;&#10;      &lt;/Box&gt;&#10;      &lt;Text style={{ fontSize: 15, color: '#5B84C4', lineHeight: 1.5 }}&gt;Information Systems&lt;br /&gt;Analysis &amp;amp; Design&lt;/Text&gt;&#10;    &lt;/Box&gt;&#10;    &lt;Box style={{ flex: 1, padding: '56px 56px', flexDirection: 'column', gap: 18 }}&gt;&#10;      {[&#10;        { n: '01', t: 'Welcome &amp;amp; Course Overview', p: '03' },&#10;        { n: '02', t: 'What Is an Information System?', p: '07' },&#10;        { n: '03', t: 'The Systems Analyst', p: '12' },&#10;        { n: '04', t: 'Analysis &amp;amp; Design in the SDLC', p: '17' },&#10;        { n: '05', t: 'The OOAD Roadmap', p: '22' },&#10;        { n: '06', t: 'Lab — Reading UML &amp;amp; Exercises', p: '27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01 · ROADMAP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Information Systems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7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Welcome &amp;amp; Course Overview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What Is an Information System?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7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12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Analysis &amp;amp; Design in the SDLC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17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7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22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2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Reading UML &amp;amp; Exercises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27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21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elcome &amp;amp;&lt;br /&gt;Course Overview&lt;/Text&gt;&#10;      &lt;Box style={{ width: 64, height: 4, background: '#FFC107', marginTop: 26, marginBottom: 26 }} /&gt;&#10;      &lt;Box style={{ flexDirection: 'column', gap: 12 }}&gt;&#10;        {[&#10;          'How this course is organised — 4 hours, 2 blocks',&#10;          'Assessment: project + defense, no written exam',&#10;          'The running project: CampusBit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23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Welcome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Course Overview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71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How this course is organised — 4 hours, 2 blocks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Assessment: project + defense, no written exam</a:t>
            </a:r>
            <a:endParaRPr/>
          </a:p>
        </p:txBody>
      </p:sp>
      <p:sp>
        <p:nvSpPr>
          <p:cNvPr id="432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886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sp>
        <p:nvSpPr>
          <p:cNvPr id="43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Course Logistics&lt;/Text&gt;&#10;  &lt;/Box&gt;&#10;  &lt;Box style={{ flex: 1, padding: '18px 40px 0 40px', flexDirection: 'row', gap: 28 }}&gt;&#10;    &lt;Box style={{ flex: 3, padding: '24px 28px', background: '#F7F9FC', borderRadius: 12, border: '1px solid #E5E7EB', flexDirection: 'column' }}&gt;&#10;      &lt;Box style={{ flexDirection: 'row', alignItems: 'center', gap: 12, marginBottom: 18 }}&gt;&#10;        &lt;FAIcon name='clock' style={{ fill: '#1E4FA8', width: 26, height: 26 }} /&gt;&#10;        &lt;Text style={{ fontSize: 24, fontWeight: 'bold', color: '#1A2230' }}&gt;Four Consecutive Hours / Week&lt;/Text&gt;&#10;      &lt;/Box&gt;&#10;      &lt;Box style={{ flexDirection: 'row', gap: 20 }}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1 · 2H&lt;/Text&gt;&#10;          &lt;/Box&gt;&#10;          &lt;Text style={{ fontSize: 22, fontWeight: 'bold', color: '#0E3F8C' }}&gt;Lecture&lt;/Text&gt;&#10;          &lt;Text style={{ fontSize: 16, color: '#4A5568', lineHeight: 1.55 }}&gt;Concepts, terminology and worked examples. Slides + whiteboard.&lt;/Text&gt;&#10;        &lt;/Box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2 · 2H&lt;/Text&gt;&#10;          &lt;/Box&gt;&#10;          &lt;Text style={{ fontSize: 22, fontWeight: 'bold', color: '#0E3F8C' }}&gt;Lab&lt;/Text&gt;&#10;          &lt;Text style={{ fontSize: 16, color: '#4A5568', lineHeight: 1.55 }}&gt;Guided demo (~25 min) then hands-on lab work (~90 min) tied to CampusBites.&lt;/Text&gt;&#10;        &lt;/Box&gt;&#10;      &lt;/Box&gt;&#10;    &lt;/Box&gt;&#10;    &lt;Box style={{ flex: 2, padding: '24px 24px', background: '#0E3F8C', borderRadius: 12, flexDirection: 'column', gap: 14, justifyContent: 'center' }}&gt;&#10;      &lt;Text style={{ fontSize: 18, fontWeight: 'bold', color: '#FFFFFF', marginBottom: 6 }}&gt;At a Glance&lt;/Text&gt;&#10;      {[&#10;        ['16', 'weeks'],&#10;        ['32 + 32', 'lecture + lab hours'],&#10;        ['EN', 'all materials in English'],&#10;        ['Larman', 'primary textbook'],&#10;      ].map(([v, k]) =&gt; (&#10;        &lt;Box key={k} style={{ flexDirection: 'row', alignItems: 'baseline', gap: 10, borderBottom: '1px solid #2B5793', paddingBottom: 10 }}&gt;&#10;          &lt;Text style={{ fontSize: 24, fontWeight: 'bold', color: '#FFC107' }}&gt;{v}&lt;/Text&gt;&#10;          &lt;Text style={{ fontSize: 16, color: '#C5D4EA' }}&gt;{k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Course Logistics</a:t>
            </a:r>
            <a:endParaRPr/>
          </a:p>
        </p:txBody>
      </p:sp>
      <p:sp>
        <p:nvSpPr>
          <p:cNvPr id="625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6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724025"/>
            <a:ext cx="247650" cy="247650"/>
          </a:xfrm>
          <a:prstGeom prst="rect">
            <a:avLst/>
          </a:prstGeom>
          <a:ln/>
        </p:spPr>
      </p:pic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009650" y="1704975"/>
            <a:ext cx="3438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>Four Consecutive Hours / Week</a:t>
            </a:r>
            <a:endParaRPr/>
          </a:p>
        </p:txBody>
      </p:sp>
      <p:sp>
        <p:nvSpPr>
          <p:cNvPr id="628" name=""/>
          <p:cNvSpPr/>
          <p:nvPr/>
        </p:nvSpPr>
        <p:spPr>
          <a:xfrm rot="0" flipH="0" flipV="0">
            <a:off x="647700" y="2152650"/>
            <a:ext cx="2990850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29" name=""/>
          <p:cNvSpPr/>
          <p:nvPr/>
        </p:nvSpPr>
        <p:spPr>
          <a:xfrm rot="0" flipH="0" flipV="0">
            <a:off x="83820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95250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1 · 2H</a:t>
            </a:r>
            <a:endParaRPr/>
          </a:p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838200" y="2676525"/>
            <a:ext cx="2609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Lecture</a:t>
            </a:r>
            <a:endParaRPr/>
          </a:p>
        </p:txBody>
      </p:sp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838200" y="3028950"/>
            <a:ext cx="2609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Concepts, terminology and worked examples. Slides + whiteboard.</a:t>
            </a:r>
            <a:endParaRPr/>
          </a:p>
        </p:txBody>
      </p:sp>
      <p:sp>
        <p:nvSpPr>
          <p:cNvPr id="633" name=""/>
          <p:cNvSpPr/>
          <p:nvPr/>
        </p:nvSpPr>
        <p:spPr>
          <a:xfrm rot="0" flipH="0" flipV="0">
            <a:off x="3829050" y="2152650"/>
            <a:ext cx="2981325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34" name=""/>
          <p:cNvSpPr/>
          <p:nvPr/>
        </p:nvSpPr>
        <p:spPr>
          <a:xfrm rot="0" flipH="0" flipV="0">
            <a:off x="401955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413385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2 · 2H</a:t>
            </a:r>
            <a:endParaRPr/>
          </a:p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4019550" y="2676525"/>
            <a:ext cx="2600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Lab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4019550" y="3028950"/>
            <a:ext cx="2600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Guided demo (~25 min) then hands-on lab work (~90 min) tied to CampusBites.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7572375" y="2819400"/>
            <a:ext cx="4010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At a Glance</a:t>
            </a:r>
            <a:endParaRPr/>
          </a:p>
        </p:txBody>
      </p:sp>
      <p:sp>
        <p:nvSpPr>
          <p:cNvPr id="640" name=""/>
          <p:cNvSpPr/>
          <p:nvPr/>
        </p:nvSpPr>
        <p:spPr>
          <a:xfrm rot="0" flipH="0" flipV="0">
            <a:off x="7572375" y="32194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7572375" y="32194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7924800" y="3219450"/>
            <a:ext cx="438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weeks</a:t>
            </a:r>
            <a:endParaRPr/>
          </a:p>
        </p:txBody>
      </p:sp>
      <p:sp>
        <p:nvSpPr>
          <p:cNvPr id="643" name=""/>
          <p:cNvSpPr/>
          <p:nvPr/>
        </p:nvSpPr>
        <p:spPr>
          <a:xfrm rot="0" flipH="0" flipV="0">
            <a:off x="7572375" y="37338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7572375" y="3733800"/>
            <a:ext cx="771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32 + 32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8439150" y="3733800"/>
            <a:ext cx="12668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lecture + lab hours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7572375" y="42481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7572375" y="4248150"/>
            <a:ext cx="323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EN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7991475" y="4248150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materials in English</a:t>
            </a:r>
            <a:endParaRPr/>
          </a:p>
        </p:txBody>
      </p:sp>
      <p:sp>
        <p:nvSpPr>
          <p:cNvPr id="649" name=""/>
          <p:cNvSpPr/>
          <p:nvPr/>
        </p:nvSpPr>
        <p:spPr>
          <a:xfrm rot="0" flipH="0" flipV="0">
            <a:off x="7572375" y="47625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7572375" y="4762500"/>
            <a:ext cx="828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Larman</a:t>
            </a:r>
            <a:endParaRPr/>
          </a:p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8496300" y="4762500"/>
            <a:ext cx="1133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primary textbook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36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65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ssessment — No Written Exam&lt;/Text&gt;&#10;  &lt;/Box&gt;&#10;  &lt;Box style={{ flex: 1, padding: '18px 40px 0 40px', flexDirection: 'row', gap: 28, alignItems: 'stretch' }}&gt;&#10;    {[&#10;      { n: '50', pct: '%', t: 'Group Project', d: 'Milestone deliverables M0–M5: requirements, analysis models, design models, pattern catalog. Same grade for the whole team.' },&#10;      { n: '40', pct: '%', t: 'Individual Defense', d: 'Every member explains any part of the work. Contribution logs + Git history as teamwork evidence.' },&#10;      { n: '10', pct: '%', t: 'Bonus', d: 'Exceptional refactoring, extra patterns applied, outstanding English documentation.' },&#10;    ].map((c, i) =&gt; (&#10;      &lt;Box key={c.t} style={{ flex: 1, padding: '24px 22px', background: i === 0 ? '#0E3F8C' : '#F7F9FC', borderRadius: 12, border: i === 0 ? '1px solid #0E3F8C' : '1px solid #E5E7EB', flexDirection: 'column' }}&gt;&#10;        &lt;Box style={{ flexDirection: 'row', alignItems: 'baseline', marginBottom: 12 }}&gt;&#10;          &lt;Text style={{ fontSize: 72, fontWeight: 'bold', color: i === 0 ? '#FFC107' : '#1E4FA8', lineHeight: 1 }}&gt;{c.n}&lt;/Text&gt;&#10;          &lt;Text style={{ fontSize: 30, fontWeight: 'bold', color: i === 0 ? '#FFC107' : '#1E4FA8' }}&gt;{c.pct}&lt;/Text&gt;&#10;        &lt;/Box&gt;&#10;        &lt;Text style={{ fontSize: 22, fontWeight: 'bold', color: i === 0 ? '#FFFFFF' : '#1A2230', marginBottom: 10 }}&gt;{c.t}&lt;/Text&gt;&#10;        &lt;Text style={{ fontSize: 15, color: i === 0 ? '#C5D4EA' : '#4A5568', lineHeight: 1.55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Assessment = project + defense (Group 50 / Individual 40 / Bonus 10)&lt;/Text&gt;&#10;    &lt;Text style={{ fontSize: 14, color: '#1E4FA8', fontWeight: 'bold' }}&gt;05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Assessment — No Written Exam</a:t>
            </a:r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381000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590550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FFC107"/>
                </a:solidFill>
                <a:latin typeface="Microsoft YaHei"/>
                <a:ea typeface="Microsoft YaHei"/>
              </a:rPr>
              <a:t>50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362075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C107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590550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Group Project</a:t>
            </a:r>
            <a:endParaRPr/>
          </a:p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590550" y="300037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Milestone deliverables M0–M5: requirements, analysis models, design models, pattern catalog. Same grade for the whole team.</a:t>
            </a:r>
            <a:endParaRPr/>
          </a:p>
        </p:txBody>
      </p:sp>
      <p:sp>
        <p:nvSpPr>
          <p:cNvPr id="665" name=""/>
          <p:cNvSpPr/>
          <p:nvPr/>
        </p:nvSpPr>
        <p:spPr>
          <a:xfrm rot="0" flipH="0" flipV="0">
            <a:off x="4276725" y="1476375"/>
            <a:ext cx="3638550" cy="5000625"/>
          </a:xfrm>
          <a:prstGeom prst="roundRect">
            <a:avLst>
              <a:gd name="adj" fmla="val 31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448627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525780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4486275" y="2647950"/>
            <a:ext cx="3219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Individual Defense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4486275" y="3000375"/>
            <a:ext cx="32194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member explains any part of the work. Contribution logs + Git history as teamwork evidence.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8181975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839152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916305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8391525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8391525" y="3000375"/>
            <a:ext cx="32099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Exceptional refactoring, extra patterns applied, outstanding English documentation.</a:t>
            </a:r>
            <a:endParaRPr/>
          </a:p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829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Assessment = project + defense (Group 50 / Individual 40 / Bonus 10)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36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Running Project: CampusBites&lt;/Text&gt;&#10;  &lt;/Box&gt;&#10;  &lt;Box style={{ flex: 1, padding: '18px 40px 0 40px', flexDirection: 'row', gap: 30 }}&gt;&#10;    &lt;Box style={{ flex: 3, justifyContent: 'center', alignItems: 'center' }}&gt;&#10;      &lt;svg width={460} height={400} viewBox='0 0 460 400'&gt;&#10;        &lt;line x1='90' y1='91' x2='200' y2='172' stroke='#D6DCE5' strokeWidth='2' /&gt;&#10;        &lt;line x1='370' y1='91' x2='260' y2='172' stroke='#D6DCE5' strokeWidth='2' /&gt;&#10;        &lt;line x1='90' y1='309' x2='200' y2='228' stroke='#D6DCE5' strokeWidth='2' /&gt;&#10;        &lt;line x1='370' y1='309' x2='260' y2='228' stroke='#D6DCE5' strokeWidth='2' /&gt;&#10;        &lt;rect x='180' y='160' width='100' height='80' rx='12' fill='#1E4FA8' /&gt;&#10;        &lt;text x='230' y='196' textAnchor='middle' fill='#FFFFFF' fontSize='17' fontWeight='bold'&gt;CampusBites&lt;/text&gt;&#10;        &lt;text x='230' y='218' textAnchor='middle' fill='#B9CDF0' fontSize='13'&gt;platform&lt;/text&gt;&#10;        &lt;rect x='30' y='35' width='120' height='56' rx='10' fill='#E8EFF8' stroke='#3D7BD9' strokeWidth='2' /&gt;&#10;        &lt;text x='90' y='58' textAnchor='middle' fill='#0E3F8C' fontSize='16' fontWeight='bold'&gt;Student&lt;/text&gt;&#10;        &lt;text x='90' y='78' textAnchor='middle' fill='#4A5568' fontSize='13'&gt;customer&lt;/text&gt;&#10;        &lt;rect x='310' y='35' width='120' height='56' rx='10' fill='#E8EFF8' stroke='#3D7BD9' strokeWidth='2' /&gt;&#10;        &lt;text x='370' y='58' textAnchor='middle' fill='#0E3F8C' fontSize='16' fontWeight='bold'&gt;Restaurant&lt;/text&gt;&#10;        &lt;text x='370' y='78' textAnchor='middle' fill='#4A5568' fontSize='13'&gt;vendor&lt;/text&gt;&#10;        &lt;rect x='30' y='289' width='120' height='56' rx='10' fill='#E8EFF8' stroke='#3D7BD9' strokeWidth='2' /&gt;&#10;        &lt;text x='90' y='312' textAnchor='middle' fill='#0E3F8C' fontSize='16' fontWeight='bold'&gt;Courier&lt;/text&gt;&#10;        &lt;text x='90' y='332' textAnchor='middle' fill='#4A5568' fontSize='13'&gt;rider&lt;/text&gt;&#10;        &lt;rect x='310' y='289' width='120' height='56' rx='10' fill='#E8EFF8' stroke='#3D7BD9' strokeWidth='2' /&gt;&#10;        &lt;text x='370' y='312' textAnchor='middle' fill='#0E3F8C' fontSize='16' fontWeight='bold'&gt;Payment&lt;/text&gt;&#10;        &lt;text x='370' y='332' textAnchor='middle' fill='#4A5568' fontSize='13'&gt;service&lt;/text&gt;&#10;      &lt;/svg&gt;&#10;    &lt;/Box&gt;&#10;    &lt;Box style={{ flex: 2, flexDirection: 'column', gap: 14, justifyContent: 'center' }}&gt;&#10;      &lt;Text style={{ fontSize: 20, color: '#4A5568', lineHeight: 1.5 }}&gt;A campus &lt;span style={{ fontWeight: 'bold', color: '#1A2230' }}&gt;food ordering &amp;amp; delivery&lt;/span&gt; platform you will analyse and design for 16 weeks.&lt;/Text&gt;&#10;      &lt;Box style={{ padding: '16px 18px', background: '#F7F9FC', borderRadius: 10, border: '1px solid #E5E7EB', flexDirection: 'column', gap: 8 }}&gt;&#10;        &lt;Text style={{ fontSize: 15, fontWeight: 'bold', color: '#0E3F8C' }}&gt;Why this domain? It is pattern-rich&lt;/Text&gt;&#10;        &lt;Text style={{ fontSize: 14, color: '#4A5568', lineHeight: 1.55 }}&gt;Order lifecycle → &lt;span style={{ fontWeight: 'bold' }}&gt;State&lt;/span&gt; · Payment → &lt;span style={{ fontWeight: 'bold' }}&gt;Strategy&lt;/span&gt; · Order tracking → &lt;span style={{ fontWeight: 'bold' }}&gt;Observer&lt;/span&gt; · Campus card → &lt;span style={{ fontWeight: 'bold' }}&gt;Adapter&lt;/span&gt; · Toppings → &lt;span style={{ fontWeight: 'bold' }}&gt;Decorator&lt;/span&gt;&lt;/Text&gt;&#10;      &lt;/Box&gt;&#10;      &lt;Box style={{ flexDirection: 'row', alignItems: 'center', gap: 12 }}&gt;&#10;        &lt;FAIcon name='users' style={{ fill: '#1E4FA8', width: 24, height: 24 }} /&gt;&#10;        &lt;Text style={{ fontSize: 16, color: '#1A2230' }}&gt;Two teams of ~3 — &lt;span style={{ fontWeight: 'bold' }}&gt;small cohort, everyone counts&lt;/span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6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pic>
        <p:nvPicPr>
          <p:cNvPr id="6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533525" y="2076450"/>
            <a:ext cx="4381500" cy="3810000"/>
          </a:xfrm>
          <a:prstGeom prst="rect">
            <a:avLst/>
          </a:prstGeom>
          <a:ln/>
        </p:spPr>
      </p:pic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7353300" y="2857500"/>
            <a:ext cx="4457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A campus 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food ordering &amp; delivery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platform you will analyse and design for 16 weeks.</a:t>
            </a:r>
            <a:endParaRPr/>
          </a:p>
        </p:txBody>
      </p:sp>
      <p:sp>
        <p:nvSpPr>
          <p:cNvPr id="685" name=""/>
          <p:cNvSpPr/>
          <p:nvPr/>
        </p:nvSpPr>
        <p:spPr>
          <a:xfrm rot="0" flipH="0" flipV="0">
            <a:off x="7353300" y="3676650"/>
            <a:ext cx="4457700" cy="1057275"/>
          </a:xfrm>
          <a:prstGeom prst="roundRect">
            <a:avLst>
              <a:gd name="adj" fmla="val 90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7524750" y="3829050"/>
            <a:ext cx="411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Why this domain? It is pattern-rich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7524750" y="4076700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Order lifecycle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State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Payment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Strategy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Order tracking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Observer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Campus card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Adapter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Toppings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Decorator</a:t>
            </a:r>
            <a:endParaRPr/>
          </a:p>
        </p:txBody>
      </p:sp>
      <p:pic>
        <p:nvPicPr>
          <p:cNvPr id="6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53300" y="4867275"/>
            <a:ext cx="228600" cy="228600"/>
          </a:xfrm>
          <a:prstGeom prst="rect">
            <a:avLst/>
          </a:prstGeom>
          <a:ln/>
        </p:spPr>
      </p:pic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7696200" y="4886325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Two teams of ~3 —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small cohort, everyone counts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36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692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hat Is an&lt;br /&gt;Information System?&lt;/Text&gt;&#10;      &lt;Box style={{ width: 64, height: 4, background: '#FFC107', marginTop: 26, marginBottom: 26 }} /&gt;&#10;      &lt;Box style={{ flexDirection: 'column', gap: 12 }}&gt;&#10;        {[&#10;          'A definition beyond just software',&#10;          'The four elements: people, process, data, technology',&#10;          'Why information systems fail — and who fixes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What Is an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Information System?</a:t>
            </a:r>
            <a:endParaRPr/>
          </a:p>
        </p:txBody>
      </p:sp>
      <p:sp>
        <p:nvSpPr>
          <p:cNvPr id="69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9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definition beyond just software</a:t>
            </a:r>
            <a:endParaRPr/>
          </a:p>
        </p:txBody>
      </p:sp>
      <p:sp>
        <p:nvSpPr>
          <p:cNvPr id="70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95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elements: people, process, data, technology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362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information systems fail — and who fixes them</a:t>
            </a:r>
            <a:endParaRPr/>
          </a:p>
        </p:txBody>
      </p:sp>
      <p:sp>
        <p:nvSpPr>
          <p:cNvPr id="70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0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Defining an Information System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6 }}&gt;&#10;      &lt;FAIcon name='info-circle' style={{ fill: '#FFC107', width: 40, height: 40 }} /&gt;&#10;      &lt;Text style={{ fontSize: 26, fontWeight: 'bold', color: '#FFFFFF', lineHeight: 1.3 }}&gt;Definition&lt;/Text&gt;&#10;      &lt;Text style={{ fontSize: 17, color: '#C5D4EA', lineHeight: 1.55 }}&gt;An organised combination of people, process, data and technology that collects, processes, stores and distributes information to support a goal.&lt;/Text&gt;&#10;    &lt;/Box&gt;&#10;    &lt;Box style={{ flex: 1, flexDirection: 'column', gap: 16, justifyContent: 'center' }}&gt;&#10;      {[&#10;        ['It is more than software', 'Software is one part. The system also lives in how people work and how information flows.'],&#10;        ['It has a purpose', 'Every information system exists to support a decision or an activity — ordering food, enrolling, booking a room.'],&#10;        ['It transforms data into information', 'Raw data (a list of orders) becomes information (a delivery route for a courier) through processing.'],&#10;      ].map(([t, d]) =&gt; (&#10;        &lt;Box key={t} style={{ flexDirection: 'row', gap: 14, padding: '16px 18px', background: '#F7F9FC', borderRadius: 10, border: '1px solid #E5E7EB', alignItems: 'flex-start' }}&gt;&#10;          &lt;FAIcon name='check-circle' style={{ fill: '#1E4FA8', width: 24, height: 24 }} /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8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Defining an Information System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7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686050"/>
            <a:ext cx="381000" cy="381000"/>
          </a:xfrm>
          <a:prstGeom prst="rect">
            <a:avLst/>
          </a:prstGeom>
          <a:ln/>
        </p:spPr>
      </p:pic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609600" y="32194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Definition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609600" y="3762375"/>
            <a:ext cx="2590800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An organised combination of people, process, data and technology that collects, processes, stores and distributes information to support a goal.</a:t>
            </a:r>
            <a:endParaRPr/>
          </a:p>
        </p:txBody>
      </p:sp>
      <p:sp>
        <p:nvSpPr>
          <p:cNvPr id="716" name=""/>
          <p:cNvSpPr/>
          <p:nvPr/>
        </p:nvSpPr>
        <p:spPr>
          <a:xfrm rot="0" flipH="0" flipV="0">
            <a:off x="3695700" y="26003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7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752725"/>
            <a:ext cx="228600" cy="228600"/>
          </a:xfrm>
          <a:prstGeom prst="rect">
            <a:avLst/>
          </a:prstGeom>
          <a:ln/>
        </p:spPr>
      </p:pic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4229100" y="2752725"/>
            <a:ext cx="5715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is more than software</a:t>
            </a:r>
            <a:endParaRPr/>
          </a:p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4229100" y="300990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Software is one part. The system also lives in how people work and how information flows.</a:t>
            </a:r>
            <a:endParaRPr/>
          </a:p>
        </p:txBody>
      </p:sp>
      <p:sp>
        <p:nvSpPr>
          <p:cNvPr id="720" name=""/>
          <p:cNvSpPr/>
          <p:nvPr/>
        </p:nvSpPr>
        <p:spPr>
          <a:xfrm rot="0" flipH="0" flipV="0">
            <a:off x="3695700" y="357187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7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3724275"/>
            <a:ext cx="228600" cy="228600"/>
          </a:xfrm>
          <a:prstGeom prst="rect">
            <a:avLst/>
          </a:prstGeom>
          <a:ln/>
        </p:spPr>
      </p:pic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4229100" y="3724275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has a purpose</a:t>
            </a:r>
            <a:endParaRPr/>
          </a:p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4229100" y="3981450"/>
            <a:ext cx="7000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information system exists to support a decision or an activity — ordering food, enrolling, booking a room.</a:t>
            </a:r>
            <a:endParaRPr/>
          </a:p>
        </p:txBody>
      </p:sp>
      <p:sp>
        <p:nvSpPr>
          <p:cNvPr id="724" name=""/>
          <p:cNvSpPr/>
          <p:nvPr/>
        </p:nvSpPr>
        <p:spPr>
          <a:xfrm rot="0" flipH="0" flipV="0">
            <a:off x="3695700" y="45434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7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695825"/>
            <a:ext cx="228600" cy="228600"/>
          </a:xfrm>
          <a:prstGeom prst="rect">
            <a:avLst/>
          </a:prstGeom>
          <a:ln/>
        </p:spPr>
      </p:pic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4229100" y="4695825"/>
            <a:ext cx="6210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transforms data into information</a:t>
            </a:r>
            <a:endParaRPr/>
          </a:p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4229100" y="4953000"/>
            <a:ext cx="6210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Raw data (a list of orders) becomes information (a delivery route for a courier) through processing.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36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30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Four Elements That Must Work Together&lt;/Text&gt;&#10;    &lt;Text style={{ fontSize: 14, color: '#1E4FA8', fontWeight: 'bold' }}&gt;09 / 36&lt;/Text&gt;&#10;  &lt;/Box&gt;&#10;  &lt;Box style={{ flex: 1, padding: '8px 40px 0 40px', justifyContent: 'center', alignItems: 'center' }}&gt;&#10;    &lt;svg width={1180} height={440} viewBox='0 0 1180 440'&gt;&#10;      &lt;rect x='40' y='30' width='340' height='170' rx='16' fill='#E8EFF8' stroke='#3D7BD9' strokeWidth='2' /&gt;&#10;      &lt;text x='210' y='82' textAnchor='middle' fill='#0E3F8C' fontSize='30' fontWeight='bold'&gt;People&lt;/text&gt;&#10;      &lt;text x='210' y='120' textAnchor='middle' fill='#4A5568' fontSize='18'&gt;who use and run the system&lt;/text&gt;&#10;      &lt;text x='210' y='152' textAnchor='middle' fill='#8B97A8' fontSize='16'&gt;customers, staff, couriers&lt;/text&gt;&#10;      &lt;rect x='800' y='30' width='340' height='170' rx='16' fill='#E8EFF8' stroke='#3D7BD9' strokeWidth='2' /&gt;&#10;      &lt;text x='970' y='82' textAnchor='middle' fill='#0E3F8C' fontSize='30' fontWeight='bold'&gt;Process&lt;/text&gt;&#10;      &lt;text x='970' y='120' textAnchor='middle' fill='#4A5568' fontSize='18'&gt;the flow of activities&lt;/text&gt;&#10;      &lt;text x='970' y='152' textAnchor='middle' fill='#8B97A8' fontSize='16'&gt;order → cook → deliver&lt;/text&gt;&#10;      &lt;rect x='40' y='240' width='340' height='170' rx='16' fill='#E8EFF8' stroke='#3D7BD9' strokeWidth='2' /&gt;&#10;      &lt;text x='210' y='292' textAnchor='middle' fill='#0E3F8C' fontSize='30' fontWeight='bold'&gt;Data&lt;/text&gt;&#10;      &lt;text x='210' y='330' textAnchor='middle' fill='#4A5568' fontSize='18'&gt;facts and records&lt;/text&gt;&#10;      &lt;text x='210' y='362' textAnchor='middle' fill='#8B97A8' fontSize='16'&gt;orders, menus, payments&lt;/text&gt;&#10;      &lt;rect x='800' y='240' width='340' height='170' rx='16' fill='#E8EFF8' stroke='#3D7BD9' strokeWidth='2' /&gt;&#10;      &lt;text x='970' y='292' textAnchor='middle' fill='#0E3F8C' fontSize='30' fontWeight='bold'&gt;Technology&lt;/text&gt;&#10;      &lt;text x='970' y='330' textAnchor='middle' fill='#4A5568' fontSize='18'&gt;hardware and software&lt;/text&gt;&#10;      &lt;text x='970' y='362' textAnchor='middle' fill='#8B97A8' fontSize='16'&gt;app, server, card reader&lt;/text&gt;&#10;      &lt;circle cx='590' cy='220' r='92' fill='#0E3F8C' /&gt;&#10;      &lt;text x='590' y='210' textAnchor='middle' fill='#FFFFFF' fontSize='26' fontWeight='bold'&gt;Information&lt;/text&gt;&#10;      &lt;text x='590' y='246' textAnchor='middle' fill='#FFC107' fontSize='24' fontWeight='bold'&gt;System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Remove any one element, and the system stops making sen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2198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Four Elements That Must Work Together</a:t>
            </a:r>
            <a:endParaRPr/>
          </a:p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36</a:t>
            </a:r>
            <a:endParaRPr/>
          </a:p>
        </p:txBody>
      </p:sp>
      <p:pic>
        <p:nvPicPr>
          <p:cNvPr id="7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66850"/>
            <a:ext cx="11239500" cy="4191000"/>
          </a:xfrm>
          <a:prstGeom prst="rect">
            <a:avLst/>
          </a:prstGeom>
          <a:ln/>
        </p:spPr>
      </p:pic>
      <p:sp>
        <p:nvSpPr>
          <p:cNvPr id="735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3524250" y="6486525"/>
            <a:ext cx="514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Remove any one element, and the system stops making sense.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Information Systems Around Us&lt;/Text&gt;&#10;  &lt;/Box&gt;&#10;  &lt;Box style={{ flex: 1, padding: '20px 40px 0 40px', flexDirection: 'row', gap: 24 }}&gt;&#10;    {[&#10;      { icon: 'book', t: 'Library System', d: 'People: readers &amp; librarians · Process: borrow / return · Data: catalogue, loans · Tech: kiosk, database' },&#10;      { icon: 'shopping-cart', t: 'Food Delivery', d: 'People: customers, riders · Process: order → cook → deliver · Data: menu, orders · Tech: app, GPS' },&#10;      { icon: 'hospital', t: 'Hospital Registration', d: 'People: patients, staff · Process: register → triage → treat · Data: records, queue · Tech: terminals, HIS' },&#10;    ].map((c) =&gt; (&#10;      &lt;Box key={c.t} style={{ flex: 1, padding: '26px 24px', background: '#F7F9FC', borderRadius: 12, border: '1px solid #E5E7EB', flexDirection: 'column', gap: 14 }}&gt;&#10;        &lt;Box style={{ width: 56, height: 56, borderRadius: 12, background: '#E8EFF8', justifyContent: 'center', alignItems: 'center' }}&gt;&#10;          &lt;FAIcon name={c.icon} style={{ fill: '#1E4FA8', width: 28, height: 28 }} /&gt;&#10;        &lt;/Box&gt;&#10;        &lt;Text style={{ fontSize: 23, fontWeight: 'bold', color: '#0E3F8C' }}&gt;{c.t}&lt;/Text&gt;&#10;        &lt;Text style={{ fontSize: 15, color: '#4A5568', lineHeight: 1.6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Every example has all four elements — people, process, data, technology.&lt;/Text&gt;&#10;    &lt;Text style={{ fontSize: 14, color: '#1E4FA8', fontWeight: 'bold' }}&gt;10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Information Systems Around Us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3810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" name=""/>
          <p:cNvSpPr/>
          <p:nvPr/>
        </p:nvSpPr>
        <p:spPr>
          <a:xfrm rot="0" flipH="0" flipV="0">
            <a:off x="6096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42950" y="1876425"/>
            <a:ext cx="266700" cy="266700"/>
          </a:xfrm>
          <a:prstGeom prst="rect">
            <a:avLst/>
          </a:prstGeom>
          <a:ln/>
        </p:spPr>
      </p:pic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Library System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readers &amp; librarians · Process: borrow / return · Data: catalogue, loans · Tech: kiosk, database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42672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" name=""/>
          <p:cNvSpPr/>
          <p:nvPr/>
        </p:nvSpPr>
        <p:spPr>
          <a:xfrm rot="0" flipH="0" flipV="0">
            <a:off x="44958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29150" y="1876425"/>
            <a:ext cx="266700" cy="266700"/>
          </a:xfrm>
          <a:prstGeom prst="rect">
            <a:avLst/>
          </a:prstGeom>
          <a:ln/>
        </p:spPr>
      </p:pic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44958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Food Delivery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customers, riders · Process: order → cook → deliver · Data: menu, orders · Tech: app, GPS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81534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" name=""/>
          <p:cNvSpPr/>
          <p:nvPr/>
        </p:nvSpPr>
        <p:spPr>
          <a:xfrm rot="0" flipH="0" flipV="0">
            <a:off x="83820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15350" y="1876425"/>
            <a:ext cx="266700" cy="266700"/>
          </a:xfrm>
          <a:prstGeom prst="rect">
            <a:avLst/>
          </a:prstGeom>
          <a:ln/>
        </p:spPr>
      </p:pic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83820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Hospital Registration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83820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patients, staff · Process: register → triage → treat · Data: records, queue · Tech: terminals, HIS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example has all four elements — people, process, data, technology.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36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Information Systems Fail&lt;/Text&gt;&#10;  &lt;/Box&gt;&#10;  &lt;Box style={{ flex: 1, padding: '18px 40px 0 40px', flexDirection: 'row', gap: 28 }}&gt;&#10;    &lt;Box style={{ flex: 3, padding: '20px 24px', background: '#F7F9FC', borderRadius: 12, border: '1px solid #E5E7EB', flexDirection: 'column', gap: 14, justifyContent: 'center' }}&gt;&#10;      {[&#10;        ['Technology-first thinking', 'Building before understanding what people actually need.'],&#10;        ['Misread requirements', 'The team builds the wrong system — perfectly.'],&#10;        ['Broken communication', 'Business people and developers speak different languages.'],&#10;        ['Scope without control', 'The system keeps growing until it collapses under its own weight.'],&#10;      ].map(([t, d]) =&gt; (&#10;        &lt;Box key={t} style={{ flexDirection: 'row', gap: 14, alignItems: 'flex-start' }}&gt;&#10;          &lt;Box style={{ width: 26, height: 26, borderRadius: 6, background: '#D9534F', justifyContent: 'center', alignItems: 'center' }}&gt;&#10;            &lt;FAIcon name='times' style={{ fill: '#FFFFFF', width: 14, height: 14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8px 24px', background: '#0E3F8C', borderRadius: 12, flexDirection: 'column', justifyContent: 'center', gap: 14 }}&gt;&#10;      &lt;FAIcon name='exclamation-circle' style={{ fill: '#FFC107', width: 40, height: 40 }} /&gt;&#10;      &lt;Text style={{ fontSize: 24, fontWeight: 'bold', color: '#FFFFFF', lineHeight: 1.3 }}&gt;Most failures happen before a single line of code.&lt;/Text&gt;&#10;      &lt;Text style={{ fontSize: 17, color: '#C5D4EA', lineHeight: 1.55 }}&gt;They happen in the space where needs are understood and turned into models. That space belongs to the &lt;span style={{ fontWeight: 'bold', color: '#FFFFFF' }}&gt;systems analyst&lt;/span&gt;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1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Information Systems Fail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" name=""/>
          <p:cNvSpPr/>
          <p:nvPr/>
        </p:nvSpPr>
        <p:spPr>
          <a:xfrm rot="0" flipH="0" flipV="0">
            <a:off x="609600" y="27908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847975"/>
            <a:ext cx="133350" cy="133350"/>
          </a:xfrm>
          <a:prstGeom prst="rect">
            <a:avLst/>
          </a:prstGeom>
          <a:ln/>
        </p:spPr>
      </p:pic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90600" y="2790825"/>
            <a:ext cx="3638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Technology-first thinking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990600" y="302895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Building before understanding what people actually need.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609600" y="34194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3476625"/>
            <a:ext cx="133350" cy="133350"/>
          </a:xfrm>
          <a:prstGeom prst="rect">
            <a:avLst/>
          </a:prstGeom>
          <a:ln/>
        </p:spPr>
      </p:pic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990600" y="3419475"/>
            <a:ext cx="297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Misread requirements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990600" y="3657600"/>
            <a:ext cx="2971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team builds the wrong system — perfectly.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09600" y="40481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105275"/>
            <a:ext cx="133350" cy="133350"/>
          </a:xfrm>
          <a:prstGeom prst="rect">
            <a:avLst/>
          </a:prstGeom>
          <a:ln/>
        </p:spPr>
      </p:pic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90600" y="4048125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Broken communication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990600" y="4286250"/>
            <a:ext cx="3781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people and developers speak different languages.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609600" y="46767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733925"/>
            <a:ext cx="133350" cy="133350"/>
          </a:xfrm>
          <a:prstGeom prst="rect">
            <a:avLst/>
          </a:prstGeom>
          <a:ln/>
        </p:spPr>
      </p:pic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990600" y="4676775"/>
            <a:ext cx="413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Scope without control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990600" y="4914900"/>
            <a:ext cx="41338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system keeps growing until it collapses under its own weight.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2847975"/>
            <a:ext cx="381000" cy="381000"/>
          </a:xfrm>
          <a:prstGeom prst="rect">
            <a:avLst/>
          </a:prstGeom>
          <a:ln/>
        </p:spPr>
      </p:pic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7572375" y="3362325"/>
            <a:ext cx="40100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Most failures happen before a single line of code.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They happen in the space where needs are understood and turned into models. That space belongs to the 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systems analyst</a:t>
            </a: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36</a:t>
            </a:r>
            <a:endParaRPr/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6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Systems Analyst&lt;/Text&gt;&#10;      &lt;Box style={{ width: 64, height: 4, background: '#FFC107', marginTop: 26, marginBottom: 26 }} /&gt;&#10;      &lt;Box style={{ flexDirection: 'column', gap: 12 }}&gt;&#10;        {[&#10;          'A bridge between business and technology',&#10;          'What analysts actually do day to day',&#10;          'The three-part skill profil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4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638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bridge between business and technology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What analysts actually do day to day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2152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three-part skill profile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as a Bridge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180' height='320' rx='16' fill='#E8EFF8' stroke='#3D7BD9' strokeWidth='2' /&gt;&#10;        &lt;text x='110' y='80' textAnchor='middle' fill='#0E3F8C' fontSize='26' fontWeight='bold'&gt;Business&lt;/text&gt;&#10;        &lt;text x='110' y='116' textAnchor='middle' fill='#4A5568' fontSize='16'&gt;goals, needs,&lt;/text&gt;&#10;        &lt;text x='110' y='142' textAnchor='middle' fill='#4A5568' fontSize='16'&gt;domain knowledge&lt;/text&gt;&#10;        &lt;text x='110' y='210' textAnchor='middle' fill='#8B97A8' fontSize='15'&gt;“We want faster&lt;/text&gt;&#10;        &lt;text x='110' y='232' textAnchor='middle' fill='#8B97A8' fontSize='15'&gt;order tracking.”&lt;/text&gt;&#10;        &lt;rect x='360' y='30' width='180' height='320' rx='16' fill='#E8EFF8' stroke='#3D7BD9' strokeWidth='2' /&gt;&#10;        &lt;text x='450' y='80' textAnchor='middle' fill='#0E3F8C' fontSize='26' fontWeight='bold'&gt;Technology&lt;/text&gt;&#10;        &lt;text x='450' y='116' textAnchor='middle' fill='#4A5568' fontSize='16'&gt;code, systems,&lt;/text&gt;&#10;        &lt;text x='450' y='142' textAnchor='middle' fill='#4A5568' fontSize='16'&gt;architecture&lt;/text&gt;&#10;        &lt;text x='450' y='210' textAnchor='middle' fill='#8B97A8' fontSize='15'&gt;“Use Observer&lt;/text&gt;&#10;        &lt;text x='450' y='232' textAnchor='middle' fill='#8B97A8' fontSize='15'&gt;for updates.”&lt;/text&gt;&#10;        &lt;rect x='228' y='140' width='104' height='100' rx='14' fill='#1E4FA8' /&gt;&#10;        &lt;text x='280' y='182' textAnchor='middle' fill='#FFFFFF' fontSize='20' fontWeight='bold'&gt;Analyst&lt;/text&gt;&#10;        &lt;text x='280' y='208' textAnchor='middle' fill='#B9CDF0' fontSize='14'&gt;translator&lt;/text&gt;&#10;        &lt;line x1='200' y1='170' x2='228' y2='178' stroke='#3D7BD9' strokeWidth='3' /&gt;&#10;        &lt;line x1='332' y1='178' x2='360' y2='170' stroke='#3D7BD9' strokeWidth='3' /&gt;&#10;        &lt;line x1='200' y1='210' x2='228' y2='202' stroke='#3D7BD9' strokeWidth='3' /&gt;&#10;        &lt;line x1='332' y1='202' x2='360' y2='210' stroke='#3D7BD9' strokeWidth='3' /&gt;&#10;      &lt;/svg&gt;&#10;    &lt;/Box&gt;&#10;    &lt;Box style={{ flex: 2, flexDirection: 'column', gap: 16, justifyContent: 'center' }}&gt;&#10;      &lt;Text style={{ fontSize: 20, color: '#4A5568', lineHeight: 1.55 }}&gt;The analyst turns vague business needs into precise models that developers can build from.&lt;/Text&gt;&#10;      &lt;Box style={{ padding: '16px 18px', background: '#F7F9FC', borderRadius: 10, border: '1px solid #E5E7EB', flexDirection: 'column', gap: 6 }}&gt;&#10;        &lt;Text style={{ fontSize: 16, fontWeight: 'bold', color: '#0E3F8C' }}&gt;Translation in both directions&lt;/Text&gt;&#10;        &lt;Text style={{ fontSize: 15, color: '#4A5568', lineHeight: 1.5 }}&gt;Business language → models → technical language, and back again when questions aris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3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as a Bridge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7343775" y="3009900"/>
            <a:ext cx="44672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The analyst turns vague business needs into precise models that developers can build from.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7343775" y="3876675"/>
            <a:ext cx="446722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7515225" y="4029075"/>
            <a:ext cx="4124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Translation in both directions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515225" y="4276725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language → models → technical language, and back again when questions arise.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13 / 36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at Analysts Actually Do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4, fontWeight: 'bold', color: '#FFFFFF', lineHeight: 1.35 }}&gt;Four recurring activities&lt;/Text&gt;&#10;      &lt;Text style={{ fontSize: 16, color: '#C5D4EA', lineHeight: 1.55 }}&gt;Analysis is not a single event — it is a loop of asking, modelling, checking and communicating.&lt;/Text&gt;&#10;    &lt;/Box&gt;&#10;    &lt;Box style={{ flex: 1, flexDirection: 'column', gap: 14, justifyContent: 'center' }}&gt;&#10;      {[&#10;        ['search', 'Elicit requirements', 'Interview stakeholders, observe workflows, read existing documents.'],&#10;        ['edit', 'Model the system', 'Express findings as use cases, domain models and diagrams.'],&#10;        ['comment', 'Validate with stakeholders', 'Walk models past the people who will actually use the system.'],&#10;        ['users', 'Communicate the design', 'Hand precise models to developers and keep everyone aligned.'],&#10;      ].map(([icon, t, d]) =&gt; (&#10;        &lt;Box key={t} style={{ flexDirection: 'row', gap: 14, alignItems: 'flex-start' }}&gt;&#10;          &lt;Box style={{ width: 42, height: 42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Analysts Actually Do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09600" y="3114675"/>
            <a:ext cx="24003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Four recurring activities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09600" y="3990975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Analysis is not a single event — it is a loop of asking, modelling, checking and communicating.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505200" y="27908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00450" y="2886075"/>
            <a:ext cx="209550" cy="209550"/>
          </a:xfrm>
          <a:prstGeom prst="rect">
            <a:avLst/>
          </a:prstGeom>
          <a:ln/>
        </p:spPr>
      </p:pic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4038600" y="2790825"/>
            <a:ext cx="4352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Elicit requirements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4038600" y="3028950"/>
            <a:ext cx="43529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Interview stakeholders, observe workflows, read existing documents.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505200" y="34194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00450" y="3514725"/>
            <a:ext cx="209550" cy="209550"/>
          </a:xfrm>
          <a:prstGeom prst="rect">
            <a:avLst/>
          </a:prstGeom>
          <a:ln/>
        </p:spPr>
      </p:pic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4038600" y="3419475"/>
            <a:ext cx="392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Model the system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4038600" y="3657600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Express findings as use cases, domain models and diagrams.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3505200" y="40481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600450" y="4143375"/>
            <a:ext cx="209550" cy="209550"/>
          </a:xfrm>
          <a:prstGeom prst="rect">
            <a:avLst/>
          </a:prstGeom>
          <a:ln/>
        </p:spPr>
      </p:pic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038600" y="4048125"/>
            <a:ext cx="3933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Validate with stakeholders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4038600" y="4286250"/>
            <a:ext cx="3933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Walk models past the people who will actually use the system.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3505200" y="46767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600450" y="4772025"/>
            <a:ext cx="209550" cy="209550"/>
          </a:xfrm>
          <a:prstGeom prst="rect">
            <a:avLst/>
          </a:prstGeom>
          <a:ln/>
        </p:spPr>
      </p:pic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038600" y="4676775"/>
            <a:ext cx="4038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Communicate the design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038600" y="4914900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Hand precise models to developers and keep everyone aligned.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36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Skill Profile&lt;/Text&gt;&#10;  &lt;/Box&gt;&#10;  &lt;Box style={{ flex: 1, padding: '18px 40px 0 40px', flexDirection: 'row', gap: 28 }}&gt;&#10;    &lt;Box style={{ flex: 3, flexDirection: 'column', gap: 14, justifyContent: 'center' }}&gt;&#10;      {[&#10;        ['cog', 'Technical skills', 'Understand systems, data and what is feasible — without needing to write every line.'],&#10;        ['briefcase', 'Business skills', 'Understand the domain, the process and the real goal behind each requirement.'],&#10;        ['users', 'Human skills', 'Listen, interview, negotiate and communicate across two very different worlds.'],&#10;      ].map(([icon, t, d]) =&gt; (&#10;        &lt;Box key={t} style={{ flexDirection: 'row', gap: 14, padding: '16px 18px', background: '#F7F9FC', borderRadius: 10, border: '1px solid #E5E7EB', alignItems: 'center' }}&gt;&#10;          &lt;Box style={{ width: 48, height: 48, borderRadius: 12, background: '#E8EFF8', justifyContent: 'center', alignItems: 'center' }}&gt;&#10;            &lt;FAIcon name={icon} style={{ fill: '#1E4FA8', width: 24, height: 24 }} /&gt;&#10;          &lt;/Box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4px 22px', background: '#0E3F8C', borderRadius: 12, flexDirection: 'column', justifyContent: 'center', gap: 12 }}&gt;&#10;      &lt;Text style={{ fontSize: 22, fontWeight: 'bold', color: '#FFFFFF', lineHeight: 1.3 }}&gt;Missing any one, and the bridge collapses.&lt;/Text&gt;&#10;      &lt;Text style={{ fontSize: 16, color: '#C5D4EA', lineHeight: 1.55 }}&gt;All technical and no business = wrong system. All business and no technical = impossible system. No human skills = nobody buys i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5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Skill Profile</a:t>
            </a:r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381000" y="2619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8" name=""/>
          <p:cNvSpPr/>
          <p:nvPr/>
        </p:nvSpPr>
        <p:spPr>
          <a:xfrm rot="0" flipH="0" flipV="0">
            <a:off x="552450" y="2800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914650"/>
            <a:ext cx="228600" cy="228600"/>
          </a:xfrm>
          <a:prstGeom prst="rect">
            <a:avLst/>
          </a:prstGeom>
          <a:ln/>
        </p:spPr>
      </p:pic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43000" y="2771775"/>
            <a:ext cx="5372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Technical skills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1143000" y="3028950"/>
            <a:ext cx="5372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systems, data and what is feasible — without needing to write every line.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381000" y="35718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552450" y="37528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867150"/>
            <a:ext cx="228600" cy="228600"/>
          </a:xfrm>
          <a:prstGeom prst="rect">
            <a:avLst/>
          </a:prstGeom>
          <a:ln/>
        </p:spPr>
      </p:pic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143000" y="3724275"/>
            <a:ext cx="507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Business skills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1143000" y="3981450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domain, the process and the real goal behind each requirement.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381000" y="4524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8" name=""/>
          <p:cNvSpPr/>
          <p:nvPr/>
        </p:nvSpPr>
        <p:spPr>
          <a:xfrm rot="0" flipH="0" flipV="0">
            <a:off x="552450" y="4705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819650"/>
            <a:ext cx="228600" cy="228600"/>
          </a:xfrm>
          <a:prstGeom prst="rect">
            <a:avLst/>
          </a:prstGeom>
          <a:ln/>
        </p:spPr>
      </p:pic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1143000" y="4676775"/>
            <a:ext cx="4933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Human skills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1143000" y="4933950"/>
            <a:ext cx="49339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Listen, interview, negotiate and communicate across two very different worlds.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7553325" y="3162300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Missing any one, and the bridge collapses.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7553325" y="3933825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technical and no business = wrong system. All business and no technical = impossible system. No human skills = nobody buys in.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36</a:t>
            </a:r>
            <a:endParaRPr/>
          </a:p>
        </p:txBody>
      </p:sp>
    </p:spTree>
  </p:cSld>
</p:sld>
</file>

<file path=ppt/slides/slide16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4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t vs. Other Roles&lt;/Text&gt;&#10;  &lt;/Box&gt;&#10;  &lt;Box style={{ flex: 1, padding: '20px 40px 0 40px' }}&gt;&#10;    &lt;Table&#10;      style={{ width: '100%', height: '100%' }}&#10;      defaultTextStyle={{ fontSize: 16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Role', textStyle: { bold: true, color: '#FFFFFF', textAlign: 'left' }, cellStyle: { background: { color: '#0E3F8C' } } },&#10;          { text: 'Primary focus', textStyle: { bold: true, color: '#FFFFFF', textAlign: 'left' }, cellStyle: { background: { color: '#0E3F8C' } } },&#10;          { text: 'Key question', textStyle: { bold: true, color: '#FFFFFF', textAlign: 'left' }, cellStyle: { background: { color: '#0E3F8C' } } },&#10;        ],&#10;        [&#10;          { text: 'Systems Analyst', textStyle: { bold: true, color: '#1E4FA8' }, cellStyle: { background: { color: '#F0F5FC' } } },&#10;          { text: 'Understand needs, build models', textStyle: { color: '#4A5568' }, cellStyle: { background: { color: '#F0F5FC' } } },&#10;          { text: 'What should the system do?', textStyle: { color: '#4A5568' }, cellStyle: { background: { color: '#F0F5FC' } } },&#10;        ],&#10;        [&#10;          { text: 'Developer', textStyle: { bold: true, color: '#1A2230' } },&#10;          { text: 'Build the system', textStyle: { color: '#4A5568' } },&#10;          { text: 'How do we build it?', textStyle: { color: '#4A5568' } },&#10;        ],&#10;        [&#10;          { text: 'Tester', textStyle: { bold: true, color: '#1A2230' }, cellStyle: { background: { color: '#F7F9FC' } } },&#10;          { text: 'Verify quality', textStyle: { color: '#4A5568' }, cellStyle: { background: { color: '#F7F9FC' } } },&#10;          { text: 'Does it work correctly?', textStyle: { color: '#4A5568' }, cellStyle: { background: { color: '#F7F9FC' } } },&#10;        ],&#10;        [&#10;          { text: 'Project Manager', textStyle: { bold: true, color: '#1A2230' } },&#10;          { text: 'Scope, schedule, resources', textStyle: { color: '#4A5568' } },&#10;          { text: 'Are we on track?', textStyle: { color: '#4A5568' } },&#10;        ],&#10;      ]}&#10;    /&gt;&#10;  &lt;/Box&gt;&#10;  &lt;Box style={{ height: 40, padding: '0 40px', flexDirection: 'row', alignItems: 'center', justifyContent: 'space-between' }}&gt;&#10;    &lt;Text style={{ fontSize: 13, color: '#8B97A8' }}&gt;This course trains you for the top row.&lt;/Text&gt;&#10;    &lt;Text style={{ fontSize: 14, color: '#1E4FA8', fontWeight: 'bold' }}&gt;16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Analyst vs. Other Roles</a:t>
            </a:r>
            <a:endParaRPr/>
          </a:p>
        </p:txBody>
      </p:sp>
      <p:graphicFrame>
        <p:nvGraphicFramePr>
          <p:cNvPr id="153" name=""/>
          <p:cNvGraphicFramePr/>
          <p:nvPr/>
        </p:nvGraphicFramePr>
        <p:xfrm rot="0" flipH="0" flipV="0">
          <a:off x="381000" y="1495425"/>
          <a:ext cx="11430000" cy="4981575"/>
        </p:xfrm>
        <a:graphic>
          <a:graphicData uri="http://schemas.openxmlformats.org/drawingml/2006/table">
            <a:tbl>
              <a:tblGrid>
                <a:gridCol w="2685992">
                  <a:extLst>
                    <a:ext uri="{9D8B030D-6E8A-4147-A177-3AD203B41FA5}">
                      <a16:colId val="1"/>
                    </a:ext>
                  </a:extLst>
                </a:gridCol>
                <a:gridCol w="4643316">
                  <a:extLst>
                    <a:ext uri="{9D8B030D-6E8A-4147-A177-3AD203B41FA5}">
                      <a16:colId val="2"/>
                    </a:ext>
                  </a:extLst>
                </a:gridCol>
                <a:gridCol w="4100692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Role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focus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Key 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Systems Analyst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Understand needs, build models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should the system do?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Developer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Build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do we build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Tester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Verify quality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Does it work correctly?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Project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Scope, schedule, resources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Are we on track?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course trains you for the top row.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36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Analysis &amp;amp; Design&lt;br /&gt;in the SDLC&lt;/Text&gt;&#10;      &lt;Box style={{ width: 64, height: 4, background: '#FFC107', marginTop: 26, marginBottom: 26 }} /&gt;&#10;      &lt;Box style={{ flexDirection: 'column', gap: 12 }}&gt;&#10;        {[&#10;          'A quick recap of the software life cycle',&#10;          'Analysis vs. design vs. implementation',&#10;          'Models as abstractions — like map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 the SDLC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248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quick recap of the software life cycle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as abstractions — like maps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Software Life Cycle (SDLC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' y='40' width='150' height='70' rx='12' fill='#E8EFF8' stroke='#3D7BD9' strokeWidth='2' /&gt;&#10;        &lt;text x='95' y='70' textAnchor='middle' fill='#4A5568' fontSize='15'&gt;1 · Requirements&lt;/text&gt;&#10;        &lt;text x='95' y='92' textAnchor='middle' fill='#8B97A8' fontSize='13'&gt;what is needed&lt;/text&gt;&#10;        &lt;rect x='205' y='40' width='150' height='70' rx='12' fill='#1E4FA8' /&gt;&#10;        &lt;text x='280' y='70' textAnchor='middle' fill='#FFFFFF' fontSize='15' fontWeight='bold'&gt;2 · Analysis&lt;/text&gt;&#10;        &lt;text x='280' y='92' textAnchor='middle' fill='#B9CDF0' fontSize='13'&gt;understand the problem&lt;/text&gt;&#10;        &lt;rect x='390' y='40' width='150' height='70' rx='12' fill='#1E4FA8' /&gt;&#10;        &lt;text x='465' y='70' textAnchor='middle' fill='#FFFFFF' fontSize='15' fontWeight='bold'&gt;3 · Design&lt;/text&gt;&#10;        &lt;text x='465' y='92' textAnchor='middle' fill='#B9CDF0' fontSize='13'&gt;plan the solution&lt;/text&gt;&#10;        &lt;rect x='390' y='250' width='150' height='70' rx='12' fill='#E8EFF8' stroke='#3D7BD9' strokeWidth='2' /&gt;&#10;        &lt;text x='465' y='280' textAnchor='middle' fill='#4A5568' fontSize='15'&gt;4 · Implementation&lt;/text&gt;&#10;        &lt;text x='465' y='302' textAnchor='middle' fill='#8B97A8' fontSize='13'&gt;write the code&lt;/text&gt;&#10;        &lt;rect x='205' y='250' width='150' height='70' rx='12' fill='#E8EFF8' stroke='#3D7BD9' strokeWidth='2' /&gt;&#10;        &lt;text x='280' y='280' textAnchor='middle' fill='#4A5568' fontSize='15'&gt;5 · Testing&lt;/text&gt;&#10;        &lt;text x='280' y='302' textAnchor='middle' fill='#8B97A8' fontSize='13'&gt;verify quality&lt;/text&gt;&#10;        &lt;rect x='20' y='250' width='150' height='70' rx='12' fill='#E8EFF8' stroke='#3D7BD9' strokeWidth='2' /&gt;&#10;        &lt;text x='95' y='280' textAnchor='middle' fill='#4A5568' fontSize='15'&gt;6 · Deployment&lt;/text&gt;&#10;        &lt;text x='95' y='302' textAnchor='middle' fill='#8B97A8' fontSize='13'&gt;ship and maintain&lt;/text&gt;&#10;        &lt;line x1='170' y1='75' x2='205' y2='75' stroke='#3D7BD9' strokeWidth='3' /&gt;&#10;        &lt;polygon points='200,70 212,75 200,80' fill='#3D7BD9' /&gt;&#10;        &lt;line x1='355' y1='75' x2='390' y2='75' stroke='#3D7BD9' strokeWidth='3' /&gt;&#10;        &lt;polygon points='385,70 397,75 385,80' fill='#3D7BD9' /&gt;&#10;        &lt;line x1='465' y1='110' x2='465' y2='250' stroke='#3D7BD9' strokeWidth='3' /&gt;&#10;        &lt;polygon points='460,245 465,257 470,245' fill='#3D7BD9' /&gt;&#10;        &lt;line x1='390' y1='285' x2='355' y2='285' stroke='#3D7BD9' strokeWidth='3' /&gt;&#10;        &lt;polygon points='360,280 348,285 360,290' fill='#3D7BD9' /&gt;&#10;        &lt;line x1='205' y1='285' x2='170' y2='285' stroke='#3D7BD9' strokeWidth='3' /&gt;&#10;        &lt;polygon points='175,280 163,285 175,290' fill='#3D7BD9' /&gt;&#10;      &lt;/svg&gt;&#10;    &lt;/Box&gt;&#10;    &lt;Box style={{ flex: 2, flexDirection: 'column', gap: 16, justifyContent: 'center' }}&gt;&#10;      &lt;Box style={{ padding: '18px 20px', background: '#F0F5FC', borderRadius: 10, border: '1px solid #3D7BD9', flexDirection: 'column', gap: 6 }}&gt;&#10;        &lt;Text style={{ fontSize: 17, fontWeight: 'bold', color: '#1E4FA8' }}&gt;This course lives in steps 2 and 3&lt;/Text&gt;&#10;        &lt;Text style={{ fontSize: 15, color: '#4A5568', lineHeight: 1.5 }}&gt;You already saw the whole cycle in SE1. Now we go deep into the two steps where systems are most often made wrong.&lt;/Text&gt;&#10;      &lt;/Box&gt;&#10;      &lt;Text style={{ fontSize: 16, color: '#4A5568', lineHeight: 1.55 }}&gt;In real projects the steps &lt;span style={{ fontWeight: 'bold', color: '#1A2230' }}&gt;overlap and repeat&lt;/span&gt; — we will use an iterative style, not a strict waterfall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8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Software Life Cycle (SDLC)</a:t>
            </a:r>
            <a:endParaRPr/>
          </a:p>
        </p:txBody>
      </p:sp>
      <p:pic>
        <p:nvPicPr>
          <p:cNvPr id="1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177" name=""/>
          <p:cNvSpPr/>
          <p:nvPr/>
        </p:nvSpPr>
        <p:spPr>
          <a:xfrm rot="0" flipH="0" flipV="0">
            <a:off x="7343775" y="3057525"/>
            <a:ext cx="4467225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7534275" y="3228975"/>
            <a:ext cx="4086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This course lives in steps 2 and 3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7534275" y="3486150"/>
            <a:ext cx="40862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 already saw the whole cycle in SE1. Now we go deep into the two steps where systems are most often made wrong.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7343775" y="4324350"/>
            <a:ext cx="4467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In real projects the steps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overlap and repeat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— we will use an iterative style, not a strict waterfall.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36</a:t>
            </a:r>
            <a:endParaRPr/>
          </a:p>
        </p:txBody>
      </p:sp>
    </p:spTree>
  </p:cSld>
</p:sld>
</file>

<file path=ppt/slides/slide19.xml><?xml version="1.0" encoding="utf-8"?>
<p:sld xmlns:a="http://schemas.openxmlformats.org/drawingml/2006/main" xmlns:p="http://schemas.openxmlformats.org/presentationml/2006/main">
  <p:cSld>
    <p:spTree>
      <p:nvGrpSpPr>
        <p:cNvPr id="18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is vs. Design vs. Implementation&lt;/Text&gt;&#10;  &lt;/Box&gt;&#10;  &lt;Box style={{ flex: 1, padding: '18px 40px 0 40px', flexDirection: 'row', gap: 28 }}&gt;&#10;    &lt;Box style={{ flex: 3, flexDirection: 'column', gap: 14, justifyContent: 'center' }}&gt;&#10;      {[&#10;        ['Analysis', 'WHAT', 'Understand the problem — what does the system need to do? Use cases, domain model.', '#1E4FA8'],&#10;        ['Design', 'HOW', 'Plan the solution — how will it work? Design classes, principles, patterns.', '#3D7BD9'],&#10;        ['Implementation', 'BUILD', 'Write the code — turn the plan into working software.', '#8B97A8'],&#10;      ].map(([t, tag, d, color]) =&gt; (&#10;        &lt;Box key={t} style={{ flexDirection: 'row', gap: 16, alignItems: 'center', padding: '16px 20px', background: '#F7F9FC', borderRadius: 10, border: '1px solid #E5E7EB' }}&gt;&#10;          &lt;Box style={{ width: 130, padding: '10px 0', borderRadius: 8, background: color, justifyContent: 'center', alignItems: 'center' }}&gt;&#10;            &lt;Text style={{ fontSize: 20, fontWeight: 'bold', color: '#FFFFFF' }}&gt;{t}&lt;/Text&gt;&#10;          &lt;/Box&gt;&#10;          &lt;Box style={{ width: 70, justifyContent: 'center', alignItems: 'center' }}&gt;&#10;            &lt;Text style={{ fontSize: 15, fontWeight: 'bold', color: color, letterSpacing: 1 }}&gt;{tag}&lt;/Text&gt;&#10;          &lt;/Box&gt;&#10;          &lt;Text style={{ flex: 1, fontSize: 15, color: '#4A5568', lineHeight: 1.5 }}&gt;{d}&lt;/Text&gt;&#10;        &lt;/Box&gt;&#10;      ))}&#10;    &lt;/Box&gt;&#10;    &lt;Box style={{ flex: 2, padding: '26px 24px', background: '#0E3F8C', borderRadius: 12, flexDirection: 'column', justifyContent: 'center', gap: 14 }}&gt;&#10;      &lt;Text style={{ fontSize: 22, fontWeight: 'bold', color: '#FFFFFF', lineHeight: 1.3 }}&gt;A mistake in analysis is the most expensive to fix.&lt;/Text&gt;&#10;      &lt;Text style={{ fontSize: 16, color: '#C5D4EA', lineHeight: 1.55 }}&gt;Wrong requirement → wrong model → wrong design → wrong code. Every later stage only makes the error more expensiv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381000" y="26670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0" name=""/>
          <p:cNvSpPr/>
          <p:nvPr/>
        </p:nvSpPr>
        <p:spPr>
          <a:xfrm rot="0" flipH="0" flipV="0">
            <a:off x="571500" y="28670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800100" y="29622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2066925" y="2990850"/>
            <a:ext cx="46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WHAT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2781300" y="28194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problem — what does the system need to do? Use cases, domain model.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381000" y="36195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5" name=""/>
          <p:cNvSpPr/>
          <p:nvPr/>
        </p:nvSpPr>
        <p:spPr>
          <a:xfrm rot="0" flipH="0" flipV="0">
            <a:off x="571500" y="38195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76300" y="3914775"/>
            <a:ext cx="638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2105025" y="3943350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3D7BD9"/>
                </a:solidFill>
                <a:latin typeface="Microsoft YaHei"/>
                <a:ea typeface="Microsoft YaHei"/>
              </a:rPr>
              <a:t>HOW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2781300" y="37719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Plan the solution — how will it work? Design classes, principles, patterns.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381000" y="4572000"/>
            <a:ext cx="6696075" cy="723900"/>
          </a:xfrm>
          <a:prstGeom prst="roundRect">
            <a:avLst>
              <a:gd name="adj" fmla="val 131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571500" y="4724400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485775" y="481965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Implementation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2057400" y="48482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8B97A8"/>
                </a:solidFill>
                <a:latin typeface="Microsoft YaHei"/>
                <a:ea typeface="Microsoft YaHei"/>
              </a:rPr>
              <a:t>BUILD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2781300" y="4810125"/>
            <a:ext cx="41052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Write the code — turn the plan into working software.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7572375" y="3152775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mistake in analysis is the most expensive to fix.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7572375" y="3943350"/>
            <a:ext cx="40100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Wrong requirement → wrong model → wrong design → wrong code. Every later stage only makes the error more expensive.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36</a:t>
            </a:r>
            <a:endParaRPr/>
          </a:p>
        </p:txBody>
      </p:sp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4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Models as Abstractions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220' height='320' rx='14' fill='#F7F9FC' stroke='#D6DCE5' strokeWidth='2' /&gt;&#10;        &lt;text x='130' y='62' textAnchor='middle' fill='#8B97A8' fontSize='16'&gt;The real city&lt;/text&gt;&#10;        &lt;path d='M40 90 L90 130 L70 180 L140 210 L120 270 L200 300 L180 330' fill='none' stroke='#8B97A8' strokeWidth='2' /&gt;&#10;        &lt;path d='M120 90 L180 140 L150 200 L230 250 L210 320' fill='none' stroke='#8B97A8' strokeWidth='2' /&gt;&#10;        &lt;path d='M60 200 L110 170 L160 240 L130 300' fill='none' stroke='#8B97A8' strokeWidth='2' /&gt;&#10;        &lt;circle cx='90' cy='130' r='6' fill='#8B97A8' /&gt;&#10;        &lt;circle cx='180' cy='140' r='6' fill='#8B97A8' /&gt;&#10;        &lt;circle cx='120' cy='270' r='6' fill='#8B97A8' /&gt;&#10;        &lt;rect x='320' y='30' width='220' height='320' rx='14' fill='#E8EFF8' stroke='#3D7BD9' strokeWidth='2' /&gt;&#10;        &lt;text x='430' y='62' textAnchor='middle' fill='#1E4FA8' fontSize='16' fontWeight='bold'&gt;The map (model)&lt;/text&gt;&#10;        &lt;line x1='350' y1='120' x2='510' y2='120' stroke='#1E4FA8' strokeWidth='4' /&gt;&#10;        &lt;line x1='350' y1='230' x2='510' y2='230' stroke='#1E4FA8' strokeWidth='4' /&gt;&#10;        &lt;line x1='430' y1='100' x2='430' y2='330' stroke='#1E4FA8' strokeWidth='4' /&gt;&#10;        &lt;circle cx='350' cy='120' r='10' fill='#FFC107' /&gt;&#10;        &lt;text x='350' y='100' textAnchor='middle' fill='#4A5568' fontSize='13'&gt;Library&lt;/text&gt;&#10;        &lt;circle cx='510' cy='230' r='10' fill='#FFC107' /&gt;&#10;        &lt;text x='510' y='258' textAnchor='middle' fill='#4A5568' fontSize='13'&gt;Canteen&lt;/text&gt;&#10;        &lt;circle cx='430' cy='330' r='10' fill='#FFC107' /&gt;&#10;        &lt;text x='430' y='356' textAnchor='middle' fill='#4A5568' fontSize='13'&gt;Dorm&lt;/text&gt;&#10;        &lt;polygon points='285,180 300,190 285,200' fill='#3D7BD9' /&gt;&#10;        &lt;line x1='245' y1='190' x2='298' y2='190' stroke='#3D7BD9' strokeWidth='3' /&gt;&#10;      &lt;/svg&gt;&#10;    &lt;/Box&gt;&#10;    &lt;Box style={{ flex: 2, flexDirection: 'column', gap: 16, justifyContent: 'center' }}&gt;&#10;      &lt;Text style={{ fontSize: 22, fontWeight: 'bold', color: '#0E3F8C', lineHeight: 1.35 }}&gt;A model keeps only what matters for a purpose.&lt;/Text&gt;&#10;      &lt;Text style={{ fontSize: 17, color: '#4A5568', lineHeight: 1.6 }}&gt;A map drops buildings and trees to keep roads and landmarks. A class diagram drops code details to keep concepts and relationships.&lt;/Text&gt;&#10;      &lt;Box style={{ padding: '16px 18px', background: '#F7F9FC', borderRadius: 10, border: '1px solid #E5E7EB' }}&gt;&#10;        &lt;Text style={{ fontSize: 15, color: '#4A5568', lineHeight: 1.5 }}&gt;&lt;span style={{ fontWeight: 'bold', color: '#1A2230' }}&gt;Key idea:&lt;/span&gt; there is no &quot;perfect&quot; model — only a model that is useful for the question you are ask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0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Models as Abstractions</a:t>
            </a:r>
            <a:endParaRPr/>
          </a:p>
        </p:txBody>
      </p:sp>
      <p:pic>
        <p:nvPicPr>
          <p:cNvPr id="2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7343775" y="2609850"/>
            <a:ext cx="44672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A model keeps only what matters for a purpose.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7343775" y="3448050"/>
            <a:ext cx="44672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A map drops buildings and trees to keep roads and landmarks. A class diagram drops code details to keep concepts and relationships.</a:t>
            </a:r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7343775" y="4533900"/>
            <a:ext cx="446722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7515225" y="4686300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Key idea: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there is no "perfect" model — only a model that is useful for the question you are asking.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36</a:t>
            </a:r>
            <a:endParaRPr/>
          </a:p>
        </p:txBody>
      </p:sp>
    </p:spTree>
  </p:cSld>
</p:sld>
</file>

<file path=ppt/slides/slide21.xml><?xml version="1.0" encoding="utf-8"?>
<p:sld xmlns:a="http://schemas.openxmlformats.org/drawingml/2006/main" xmlns:p="http://schemas.openxmlformats.org/presentationml/2006/main">
  <p:cSld>
    <p:spTree>
      <p:nvGrpSpPr>
        <p:cNvPr id="25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aterfall vs. Iterative&lt;/Text&gt;&#10;  &lt;/Box&gt;&#10;  &lt;Box style={{ flex: 1, padding: '18px 40px 0 40px', flexDirection: 'row', gap: 28 }}&gt;&#10;    &lt;Box style={{ flex: 3, padding: '22px 24px', background: '#F7F9FC', borderRadius: 12, border: '1px solid #E5E7EB', flexDirection: 'column' }}&gt;&#10;      &lt;Text style={{ fontSize: 20, fontWeight: 'bold', color: '#8B97A8', marginBottom: 12 }}&gt;Waterfall — one long pass&lt;/Text&gt;&#10;      &lt;Box style={{ flexDirection: 'row', alignItems: 'center', gap: 6, flexWrap: 'wrap' }}&gt;&#10;        {['Req', 'Analysis', 'Design', 'Code', 'Test', 'Ship'].map((s, i) =&gt; (&#10;          &lt;Box key={s} style={{ flexDirection: 'row', alignItems: 'center', gap: 6 }}&gt;&#10;            &lt;Box style={{ padding: '10px 14px', borderRadius: 8, background: '#FFFFFF', border: '1px solid #D6DCE5' }}&gt;&#10;              &lt;Text style={{ fontSize: 15, color: '#4A5568', fontWeight: '600' }}&gt;{s}&lt;/Text&gt;&#10;            &lt;/Box&gt;&#10;            {i &lt; 5 ? &lt;Text style={{ fontSize: 18, color: '#8B97A8' }}&gt;→&lt;/Text&gt; : null}&#10;          &lt;/Box&gt;&#10;        ))}&#10;      &lt;/Box&gt;&#10;      &lt;Text style={{ fontSize: 15, color: '#4A5568', lineHeight: 1.55, marginTop: 14 }}&gt;Each step finishes before the next begins. Cheaper to run, but mistakes surface very late.&lt;/Text&gt;&#10;    &lt;/Box&gt;&#10;    &lt;Box style={{ flex: 2, padding: '22px 24px', background: '#0E3F8C', borderRadius: 12, flexDirection: 'column', gap: 12, justifyContent: 'center' }}&gt;&#10;      &lt;Text style={{ fontSize: 20, fontWeight: 'bold', color: '#FFFFFF' }}&gt;Iterative — small loops&lt;/Text&gt;&#10;      &lt;Text style={{ fontSize: 16, color: '#C5D4EA', lineHeight: 1.55 }}&gt;Build a thin slice, get feedback, refine, repeat. Mistakes surface early, while they are cheap.&lt;/Text&gt;&#10;      &lt;Box style={{ padding: '10px 14px', background: '#FFC107', borderRadius: 8, alignSelf: 'flex-start' }}&gt;&#10;        &lt;Text style={{ fontSize: 15, fontWeight: 'bold', color: '#0E3F8C' }}&gt;This course uses this one&lt;/Text&gt;&#10;      &lt;/Box&gt;&#10;    &lt;/Box&gt;&#10;  &lt;/Box&gt;&#10;  &lt;Box style={{ height: 40, padding: '0 40px', flexDirection: 'row', alignItems: 'center', justifyContent: 'space-between' }}&gt;&#10;    &lt;Text style={{ fontSize: 13, color: '#8B97A8' }}&gt;CampusBites will grow milestone by milestone — iteratively.&lt;/Text&gt;&#10;    &lt;Text style={{ fontSize: 14, color: '#1E4FA8', fontWeight: 'bold' }}&gt;21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Waterfall vs. Iterative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09600" y="1685925"/>
            <a:ext cx="6238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Waterfall — one long pass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609600" y="2028825"/>
            <a:ext cx="5429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742950" y="2124075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Req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209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1438275" y="2028825"/>
            <a:ext cx="8572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571625" y="212407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2352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2581275" y="2028825"/>
            <a:ext cx="75247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2714625" y="21240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33909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3619500" y="2028825"/>
            <a:ext cx="6286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3752850" y="2124075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Code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43053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4533900" y="2028825"/>
            <a:ext cx="5524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4667250" y="212407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Test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51435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5372100" y="2028825"/>
            <a:ext cx="5810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5505450" y="2124075"/>
            <a:ext cx="31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Ship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09600" y="2524125"/>
            <a:ext cx="623887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Each step finishes before the next begins. Cheaper to run, but mistakes surface very late.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572375" y="3286125"/>
            <a:ext cx="401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Iterative — small loops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572375" y="36290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Build a thin slice, get feedback, refine, repeat. Mistakes surface early, while they are cheap.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7572375" y="4314825"/>
            <a:ext cx="2028825" cy="361950"/>
          </a:xfrm>
          <a:prstGeom prst="roundRect">
            <a:avLst>
              <a:gd name="adj" fmla="val 21053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7705725" y="4410075"/>
            <a:ext cx="1762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course uses this one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286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CampusBites will grow milestone by milestone — iteratively.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36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92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OOAD Roadmap&lt;/Text&gt;&#10;      &lt;Box style={{ width: 64, height: 4, background: '#FFC107', marginTop: 26, marginBottom: 26 }} /&gt;&#10;      &lt;Box style={{ flexDirection: 'column', gap: 12 }}&gt;&#10;        {[&#10;          'Four modules from foundations to patterns',&#10;          'Models → principles → patterns → architecture',&#10;          'Why patterns matter in the first plac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 modules from foundations to patterns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→ principles → patterns → architecture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patterns matter in the first place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06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The Course Roadmap — Four Modules&lt;/Text&gt;&#10;    &lt;Text style={{ fontSize: 14, color: '#1E4FA8', fontWeight: 'bold' }}&gt;23 / 36&lt;/Text&gt;&#10;  &lt;/Box&gt;&#10;  &lt;Box style={{ flex: 1, padding: '10px 40px 0 40px', justifyContent: 'center', alignItems: 'center' }}&gt;&#10;    &lt;svg width={1180} height={460} viewBox='0 0 1180 460'&gt;&#10;      &lt;rect x='20' y='30' width='250' height='400' rx='16' fill='#E8EFF8' stroke='#3D7BD9' strokeWidth='2' /&gt;&#10;      &lt;text x='145' y='76' textAnchor='middle' fill='#1E4FA8' fontSize='20' fontWeight='bold'&gt;MODULE A&lt;/text&gt;&#10;      &lt;text x='145' y='130' textAnchor='middle' fill='#0E3F8C' fontSize='28' fontWeight='bold'&gt;Foundations&lt;/text&gt;&#10;      &lt;text x='145' y='170' textAnchor='middle' fill='#8B97A8' fontSize='16'&gt;Weeks 1–3&lt;/text&gt;&#10;      &lt;text x='145' y='240' textAnchor='middle' fill='#4A5568' fontSize='17'&gt;OO concepts&lt;/text&gt;&#10;      &lt;text x='145' y='268' textAnchor='middle' fill='#4A5568' fontSize='17'&gt;UML essentials&lt;/text&gt;&#10;      &lt;text x='145' y='296' textAnchor='middle' fill='#4A5568' fontSize='17'&gt;modelling workflow&lt;/text&gt;&#10;      &lt;rect x='310' y='30' width='250' height='400' rx='16' fill='#F0F5FC' stroke='#1E4FA8' strokeWidth='2' /&gt;&#10;      &lt;text x='435' y='76' textAnchor='middle' fill='#1E4FA8' fontSize='20' fontWeight='bold'&gt;MODULE B&lt;/text&gt;&#10;      &lt;text x='435' y='130' textAnchor='middle' fill='#0E3F8C' fontSize='28' fontWeight='bold'&gt;Analysis&lt;/text&gt;&#10;      &lt;text x='435' y='170' textAnchor='middle' fill='#8B97A8' fontSize='16'&gt;Weeks 4–9&lt;/text&gt;&#10;      &lt;text x='435' y='240' textAnchor='middle' fill='#4A5568' fontSize='17'&gt;use cases&lt;/text&gt;&#10;      &lt;text x='435' y='268' textAnchor='middle' fill='#4A5568' fontSize='17'&gt;domain model&lt;/text&gt;&#10;      &lt;text x='435' y='296' textAnchor='middle' fill='#4A5568' fontSize='17'&gt;behavior models&lt;/text&gt;&#10;      &lt;rect x='600' y='30' width='250' height='400' rx='16' fill='#E8EFF8' stroke='#1E4FA8' strokeWidth='2' /&gt;&#10;      &lt;text x='725' y='76' textAnchor='middle' fill='#1E4FA8' fontSize='20' fontWeight='bold'&gt;MODULE C&lt;/text&gt;&#10;      &lt;text x='725' y='130' textAnchor='middle' fill='#0E3F8C' fontSize='28' fontWeight='bold'&gt;Design&lt;/text&gt;&#10;      &lt;text x='725' y='170' textAnchor='middle' fill='#8B97A8' fontSize='16'&gt;Weeks 10–15&lt;/text&gt;&#10;      &lt;text x='725' y='240' textAnchor='middle' fill='#4A5568' fontSize='17'&gt;GRASP &amp;amp; SOLID&lt;/text&gt;&#10;      &lt;text x='725' y='268' textAnchor='middle' fill='#4A5568' fontSize='17'&gt;GoF patterns&lt;/text&gt;&#10;      &lt;text x='725' y='296' textAnchor='middle' fill='#4A5568' fontSize='17'&gt;design class diagram&lt;/text&gt;&#10;      &lt;rect x='890' y='30' width='270' height='400' rx='16' fill='#0E3F8C' /&gt;&#10;      &lt;text x='1025' y='76' textAnchor='middle' fill='#FFC107' fontSize='20' fontWeight='bold'&gt;MODULE D&lt;/text&gt;&#10;      &lt;text x='1025' y='130' textAnchor='middle' fill='#FFFFFF' fontSize='28' fontWeight='bold'&gt;Wrap-up&lt;/text&gt;&#10;      &lt;text x='1025' y='170' textAnchor='middle' fill='#B9CDF0' fontSize='16'&gt;Week 16&lt;/text&gt;&#10;      &lt;text x='1025' y='240' textAnchor='middle' fill='#C5D4EA' fontSize='17'&gt;architecture&lt;/text&gt;&#10;      &lt;text x='1025' y='268' textAnchor='middle' fill='#C5D4EA' fontSize='17'&gt;MVC &amp;amp; layers&lt;/text&gt;&#10;      &lt;text x='1025' y='296' textAnchor='middle' fill='#C5D4EA' fontSize='17'&gt;final defense&lt;/text&gt;&#10;      &lt;polygon points='282,230 300,230 300,215 312,230 300,245 300,230' fill='#3D7BD9' /&gt;&#10;      &lt;polygon points='572,230 590,230 590,215 602,230 590,245 590,230' fill='#3D7BD9' /&gt;&#10;      &lt;polygon points='862,230 880,230 880,215 892,230 880,245 880,230' fill='#3D7BD9' /&gt;&#10;    &lt;/svg&gt;&#10;  &lt;/Box&gt;&#10;  &lt;Box style={{ height: 52, background: '#0E3F8C', padding: '0 40px', flexDirection: 'row', alignItems: 'center', justifyContent: 'center' }}&gt;&#10;    &lt;Text style={{ fontSize: 17, color: '#FFFFFF', fontWeight: '600' }}&gt;Every module feeds the running project CampusBit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981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Course Roadmap — Four Modules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36</a:t>
            </a:r>
            <a:endParaRPr/>
          </a:p>
        </p:txBody>
      </p:sp>
      <p:pic>
        <p:nvPicPr>
          <p:cNvPr id="3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00175"/>
            <a:ext cx="11239500" cy="4381500"/>
          </a:xfrm>
          <a:prstGeom prst="rect">
            <a:avLst/>
          </a:prstGeom>
          <a:ln/>
        </p:spPr>
      </p:pic>
      <p:sp>
        <p:nvSpPr>
          <p:cNvPr id="311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4010025" y="6515100"/>
            <a:ext cx="418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module feeds the running project CampusBites.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1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From Models to Principles to Patterns&lt;/Text&gt;&#10;  &lt;/Box&gt;&#10;  &lt;Box style={{ flex: 1, padding: '18px 40px 0 40px', flexDirection: 'row', gap: 28 }}&gt;&#10;    &lt;Box style={{ flex: 3, justifyContent: 'center', alignItems: 'center' }}&gt;&#10;      &lt;svg width={540} height={420} viewBox='0 0 540 420'&gt;&#10;        &lt;rect x='120' y='20' width='300' height='70' rx='12' fill='#E8EFF8' stroke='#3D7BD9' strokeWidth='2' /&gt;&#10;        &lt;text x='270' y='50' textAnchor='middle' fill='#0E3F8C' fontSize='21' fontWeight='bold'&gt;Analysis Models&lt;/text&gt;&#10;        &lt;text x='270' y='74' textAnchor='middle' fill='#8B97A8' fontSize='14'&gt;describe the problem&lt;/text&gt;&#10;        &lt;line x1='270' y1='90' x2='270' y2='120' stroke='#3D7BD9' strokeWidth='3' /&gt;&#10;        &lt;polygon points='263,115 270,128 277,115' fill='#3D7BD9' /&gt;&#10;        &lt;rect x='120' y='128' width='300' height='70' rx='12' fill='#F0F5FC' stroke='#1E4FA8' strokeWidth='2' /&gt;&#10;        &lt;text x='270' y='158' textAnchor='middle' fill='#0E3F8C' fontSize='21' fontWeight='bold'&gt;GRASP &amp;amp; SOLID&lt;/text&gt;&#10;        &lt;text x='270' y='182' textAnchor='middle' fill='#8B97A8' fontSize='14'&gt;principles for good design&lt;/text&gt;&#10;        &lt;line x1='270' y1='198' x2='270' y2='228' stroke='#3D7BD9' strokeWidth='3' /&gt;&#10;        &lt;polygon points='263,223 270,236 277,223' fill='#3D7BD9' /&gt;&#10;        &lt;rect x='120' y='236' width='300' height='70' rx='12' fill='#E8EFF8' stroke='#1E4FA8' strokeWidth='2' /&gt;&#10;        &lt;text x='270' y='266' textAnchor='middle' fill='#0E3F8C' fontSize='21' fontWeight='bold'&gt;GoF Patterns&lt;/text&gt;&#10;        &lt;text x='270' y='290' textAnchor='middle' fill='#8B97A8' fontSize='14'&gt;reusable solutions&lt;/text&gt;&#10;        &lt;line x1='270' y1='306' x2='270' y2='336' stroke='#3D7BD9' strokeWidth='3' /&gt;&#10;        &lt;polygon points='263,331 270,344 277,331' fill='#3D7BD9' /&gt;&#10;        &lt;rect x='120' y='344' width='300' height='70' rx='12' fill='#0E3F8C' /&gt;&#10;        &lt;text x='270' y='374' textAnchor='middle' fill='#FFFFFF' fontSize='21' fontWeight='bold'&gt;Architecture&lt;/text&gt;&#10;        &lt;text x='270' y='398' textAnchor='middle' fill='#B9CDF0' fontSize='14'&gt;the whole structure&lt;/text&gt;&#10;      &lt;/svg&gt;&#10;    &lt;/Box&gt;&#10;    &lt;Box style={{ flex: 2, flexDirection: 'column', gap: 14, justifyContent: 'center' }}&gt;&#10;      {[&#10;        ['First you describe', 'Analysis models capture what the system must do, in language stakeholders understand.'],&#10;        ['Then you decide', 'Principles (GRASP, SOLID) guide how responsibilities are assigned — not by accident, but by reason.'],&#10;        ['Then you reuse', 'Design patterns are proven answers to recurring problems. You learn to recognise, then apply them.'],&#10;        ['Finally you assemble', 'Architecture puts the pieces together — MVC, layers, and how they talk.'],&#10;      ].map(([t, d], i) =&gt; (&#10;        &lt;Box key={t} style={{ flexDirection: 'row', gap: 12, alignItems: 'flex-start' }}&gt;&#10;          &lt;Box style={{ width: 28, height: 28, borderRadius: 14, background: i === 3 ? '#0E3F8C' : '#E8EFF8', justifyContent: 'center', alignItems: 'center' }}&gt;&#10;            &lt;Text style={{ fontSize: 15, fontWeight: 'bold', color: i === 3 ? '#FFFFFF' : '#1E4FA8' }}&gt;{i + 1}&lt;/Text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4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Models to Principles to Patterns</a:t>
            </a:r>
            <a:endParaRPr/>
          </a:p>
        </p:txBody>
      </p:sp>
      <p:pic>
        <p:nvPicPr>
          <p:cNvPr id="3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62050" y="1981200"/>
            <a:ext cx="5143500" cy="4000500"/>
          </a:xfrm>
          <a:prstGeom prst="rect">
            <a:avLst/>
          </a:prstGeom>
          <a:ln/>
        </p:spPr>
      </p:pic>
      <p:sp>
        <p:nvSpPr>
          <p:cNvPr id="320" name=""/>
          <p:cNvSpPr/>
          <p:nvPr/>
        </p:nvSpPr>
        <p:spPr>
          <a:xfrm rot="0" flipH="0" flipV="0">
            <a:off x="7343775" y="24669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7439025" y="25146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7705725" y="246697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First you describe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7705725" y="269557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 capture what the system must do, in language stakeholders understand.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7343775" y="33147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7439025" y="3362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7705725" y="3314700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decide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7705725" y="3543300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Principles (GRASP, SOLID) guide how responsibilities are assigned — not by accident, but by reason.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7343775" y="41624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7439025" y="42100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7705725" y="416242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reuse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7705725" y="439102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patterns are proven answers to recurring problems. You learn to recognise, then apply them.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7343775" y="50101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7439025" y="50577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7715250" y="5010150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Finally you assemble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715250" y="5238750"/>
            <a:ext cx="40957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Architecture puts the pieces together — MVC, layers, and how they talk.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36</a:t>
            </a:r>
            <a:endParaRPr/>
          </a:p>
        </p:txBody>
      </p:sp>
    </p:spTree>
  </p:cSld>
</p:sld>
</file>

<file path=ppt/slides/slide2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Patterns Matter — A Teaser&lt;/Text&gt;&#10;  &lt;/Box&gt;&#10;  &lt;Box style={{ flex: 1, padding: '18px 40px 0 40px', flexDirection: 'row', gap: 28 }}&gt;&#10;    &lt;Box style={{ flex: 3, flexDirection: 'column', gap: 14 }}&gt;&#10;      &lt;Box style={{ flex: 1, padding: '18px 20px', background: '#FDF3F3', borderRadius: 12, border: '1px solid #D9534F', flexDirection: 'column' }}&gt;&#10;        &lt;Box style={{ flexDirection: 'row', alignItems: 'center', gap: 10, marginBottom: 10 }}&gt;&#10;          &lt;FAIcon name='times-circle' style={{ fill: '#D9534F', width: 22, height: 22 }} /&gt;&#10;          &lt;Text style={{ fontSize: 17, fontWeight: 'bold', color: '#D9534F' }}&gt;Adding a payment type = editing the if-else chain&lt;/Text&gt;&#10;        &lt;/Box&gt;&#10;        &lt;CodeBlock code={`if (type.equals(&quot;CARD&quot;)) {&#10;    chargeCard(order);&#10;} else if (type.equals(&quot;WECHAT&quot;)) {&#10;    chargeWechat(order);&#10;} else if (type.equals(&quot;ALIPAY&quot;)) {&#10;    chargeAlipay(order);&#10;} else {&#10;    throw new UnsupportedException();&#10;}`} language='java' width={440} fontSize={13} /&gt;&#10;      &lt;/Box&gt;&#10;    &lt;/Box&gt;&#10;    &lt;Box style={{ flex: 2, padding: '24px 22px', background: '#0E3F8C', borderRadius: 12, flexDirection: 'column', justifyContent: 'center', gap: 14 }}&gt;&#10;      &lt;FAIcon name='check-circle' style={{ fill: '#FFC107', width: 34, height: 34 }} /&gt;&#10;      &lt;Text style={{ fontSize: 21, fontWeight: 'bold', color: '#FFFFFF', lineHeight: 1.35 }}&gt;A pattern turns &quot;many if-else branches&quot; into &quot;one stable line&quot;.&lt;/Text&gt;&#10;      &lt;Text style={{ fontSize: 16, color: '#C5D4EA', lineHeight: 1.55 }}&gt;New payment types plug in without touching existing code. This is what we train all semester — and it is what employers ask about.&lt;/Text&gt;&#10;    &lt;/Box&gt;&#10;  &lt;/Box&gt;&#10;  &lt;Box style={{ height: 40, padding: '0 40px', flexDirection: 'row', alignItems: 'center', justifyContent: 'space-between' }}&gt;&#10;    &lt;Text style={{ fontSize: 13, color: '#8B97A8' }}&gt;Full treatment in Weeks 13–15. Today we only see the destination.&lt;/Text&gt;&#10;    &lt;Text style={{ fontSize: 14, color: '#1E4FA8', fontWeight: 'bold' }}&gt;25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Patterns Matter — A Teaser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3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647825"/>
            <a:ext cx="209550" cy="209550"/>
          </a:xfrm>
          <a:prstGeom prst="rect">
            <a:avLst/>
          </a:prstGeom>
          <a:ln/>
        </p:spPr>
      </p:pic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876300" y="1657350"/>
            <a:ext cx="377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Adding a payment type = editing the if-else chain</a:t>
            </a:r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53325" y="2924175"/>
            <a:ext cx="323850" cy="323850"/>
          </a:xfrm>
          <a:prstGeom prst="rect">
            <a:avLst/>
          </a:prstGeom>
          <a:ln/>
        </p:spPr>
      </p:pic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7553325" y="3381375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A pattern turns "many if-else branches" into "one stable line".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553325" y="4171950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New payment types plug in without touching existing code. This is what we train all semester — and it is what employers ask about.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648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Weeks 13–15. Today we only see the destination.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36</a:t>
            </a:r>
            <a:endParaRPr/>
          </a:p>
        </p:txBody>
      </p:sp>
      <p:sp>
        <p:nvSpPr>
          <p:cNvPr id="353" name=""/>
          <p:cNvSpPr/>
          <p:nvPr/>
        </p:nvSpPr>
        <p:spPr>
          <a:xfrm rot="0" flipH="0" flipV="0">
            <a:off x="571500" y="1952625"/>
            <a:ext cx="6315075" cy="2143125"/>
          </a:xfrm>
          <a:prstGeom prst="roundRect">
            <a:avLst>
              <a:gd name="adj" fmla="val 3556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54" name=""/>
          <p:cNvSpPr txBox="1"/>
          <p:nvPr/>
        </p:nvSpPr>
        <p:spPr>
          <a:xfrm rot="0" flipH="0" flipV="0">
            <a:off x="723900" y="2085975"/>
            <a:ext cx="6010275" cy="1876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"CARD"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chargeCard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"WECHAT"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chargeWechat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"ALIPAY"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chargeAlipay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UnsupportedException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How This Course Relates to SE1&lt;/Text&gt;&#10;  &lt;/Box&gt;&#10;  &lt;Box style={{ flex: 1, padding: '18px 40px 0 40px', flexDirection: 'column', gap: 16 }}&gt;&#10;    &lt;Box style={{ flex: 1, padding: '20px 24px', background: '#F7F9FC', borderRadius: 12, border: '1px solid #E5E7EB', flexDirection: 'column', gap: 10, justifyContent: 'center' }}&gt;&#10;      &lt;Box style={{ flexDirection: 'row', alignItems: 'center', gap: 10 }}&gt;&#10;        &lt;FAIcon name='book' style={{ fill: '#8B97A8', width: 24, height: 24 }} /&gt;&#10;        &lt;Text style={{ fontSize: 20, fontWeight: 'bold', color: '#4A5568' }}&gt;SE1 — the whole landscape&lt;/Text&gt;&#10;      &lt;/Box&gt;&#10;      &lt;Text style={{ fontSize: 16, color: '#4A5568', lineHeight: 1.55 }}&gt;You walked the full life cycle: process models, agile, requirements, analysis, design, testing, architecture — one overview of everything.&lt;/Text&gt;&#10;    &lt;/Box&gt;&#10;    &lt;Box style={{ flex: 1, padding: '20px 24px', background: '#0E3F8C', borderRadius: 12, flexDirection: 'column', gap: 10, justifyContent: 'center' }}&gt;&#10;      &lt;Box style={{ flexDirection: 'row', alignItems: 'center', gap: 10 }}&gt;&#10;        &lt;FAIcon name='search' style={{ fill: '#FFC107', width: 24, height: 24 }} /&gt;&#10;        &lt;Text style={{ fontSize: 20, fontWeight: 'bold', color: '#FFFFFF' }}&gt;This course — the deep dive&lt;/Text&gt;&#10;      &lt;/Box&gt;&#10;      &lt;Text style={{ fontSize: 16, color: '#C5D4EA', lineHeight: 1.55 }}&gt;We zoom into analysis &amp;amp; design and go deep: use cases, domain models, sequence diagrams, GRASP, SOLID and the GoF patterns — the skills that separate analysts from coders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6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How This Course Relates to SE1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81000" y="1476375"/>
            <a:ext cx="11430000" cy="2286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3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314575"/>
            <a:ext cx="228600" cy="228600"/>
          </a:xfrm>
          <a:prstGeom prst="rect">
            <a:avLst/>
          </a:prstGeom>
          <a:ln/>
        </p:spPr>
      </p:pic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933450" y="2314575"/>
            <a:ext cx="2524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A5568"/>
                </a:solidFill>
                <a:latin typeface="Microsoft YaHei"/>
                <a:ea typeface="Microsoft YaHei"/>
              </a:rPr>
              <a:t>SE1 — the whole landscape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609600" y="2638425"/>
            <a:ext cx="1097280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You walked the full life cycle: process models, agile, requirements, analysis, design, testing, architecture — one overview of everything.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381000" y="3914775"/>
            <a:ext cx="11430000" cy="2562225"/>
          </a:xfrm>
          <a:prstGeom prst="roundRect">
            <a:avLst>
              <a:gd name="adj" fmla="val 446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4752975"/>
            <a:ext cx="228600" cy="228600"/>
          </a:xfrm>
          <a:prstGeom prst="rect">
            <a:avLst/>
          </a:prstGeom>
          <a:ln/>
        </p:spPr>
      </p:pic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933450" y="4752975"/>
            <a:ext cx="2590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This course — the deep dive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609600" y="5076825"/>
            <a:ext cx="10972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 zoom into analysis &amp; design and go deep: use cases, domain models, sequence diagrams, GRASP, SOLID and the GoF patterns — the skills that separate analysts from coders.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36</a:t>
            </a:r>
            <a:endParaRPr/>
          </a:p>
        </p:txBody>
      </p:sp>
    </p:spTree>
  </p:cSld>
</p:sld>
</file>

<file path=ppt/slides/slide27.xml><?xml version="1.0" encoding="utf-8"?>
<p:sld xmlns:a="http://schemas.openxmlformats.org/drawingml/2006/main" xmlns:p="http://schemas.openxmlformats.org/presentationml/2006/main">
  <p:cSld>
    <p:spTree>
      <p:nvGrpSpPr>
        <p:cNvPr id="371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8, fontWeight: 'bold', color: '#FFFFFF', lineHeight: 1.18 }}&gt;Lab — Reading UML&lt;br /&gt;&amp;amp; Exercises&lt;/Text&gt;&#10;      &lt;Box style={{ width: 64, height: 4, background: '#FFC107', marginTop: 26, marginBottom: 26 }} /&gt;&#10;      &lt;Box style={{ flexDirection: 'column', gap: 12 }}&gt;&#10;        {[&#10;          'Guided demo: read a real UML model set',&#10;          'Three hands-on exercises',&#10;          'Homework and M0 kick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73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Lab — Reading UML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&amp; Exercises</a:t>
            </a:r>
            <a:endParaRPr/>
          </a:p>
        </p:txBody>
      </p:sp>
      <p:sp>
        <p:nvSpPr>
          <p:cNvPr id="377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78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95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Guided demo: read a real UML model set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209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hands-on exercises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190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Homework and M0 kickoff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85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 First Look — Three Kinds of UML Models&lt;/Text&gt;&#10;    &lt;Text style={{ fontSize: 14, color: '#1E4FA8', fontWeight: 'bold' }}&gt;28 / 36&lt;/Text&gt;&#10;  &lt;/Box&gt;&#10;  &lt;Box style={{ flex: 1, padding: '10px 40px 0 40px', flexDirection: 'row', gap: 22 }}&gt;&#10;    &lt;Box style={{ flex: 1, padding: '18px 16px', background: '#F7F9FC', borderRadius: 12, border: '1px solid #E5E7EB', flexDirection: 'column', gap: 10 }}&gt;&#10;      &lt;Text style={{ fontSize: 18, fontWeight: 'bold', color: '#0E3F8C', textAlign: 'center' }}&gt;Use Case — what the system does&lt;/Text&gt;&#10;      &lt;svg width={330} height={230} viewBox='0 0 330 230'&gt;&#10;        &lt;circle cx='60' cy='80' r='18' fill='none' stroke='#1E4FA8' strokeWidth='3' /&gt;&#10;        &lt;line x1='60' y1='98' x2='60' y2='160' stroke='#1E4FA8' strokeWidth='3' /&gt;&#10;        &lt;line x1='60' y1='118' x2='28' y2='140' stroke='#1E4FA8' strokeWidth='3' /&gt;&#10;        &lt;line x1='60' y1='118' x2='92' y2='140' stroke='#1E4FA8' strokeWidth='3' /&gt;&#10;        &lt;line x1='60' y1='160' x2='38' y2='195' stroke='#1E4FA8' strokeWidth='3' /&gt;&#10;        &lt;line x1='60' y1='160' x2='82' y2='195' stroke='#1E4FA8' strokeWidth='3' /&gt;&#10;        &lt;text x='60' y='215' textAnchor='middle' fill='#8B97A8' fontSize='14'&gt;Customer&lt;/text&gt;&#10;        &lt;line x1='78' y1='80' x2='130' y2='80' stroke='#3D7BD9' strokeWidth='2' /&gt;&#10;        &lt;ellipse cx='210' cy='80' rx='80' ry='26' fill='#E8EFF8' stroke='#3D7BD9' strokeWidth='2' /&gt;&#10;        &lt;text x='210' y='86' textAnchor='middle' fill='#0E3F8C' fontSize='15' fontWeight='bold'&gt;Place Order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Domain Model — the concepts&lt;/Text&gt;&#10;      &lt;svg width={330} height={230} viewBox='0 0 330 230'&gt;&#10;        &lt;rect x='30' y='60' width='110' height='70' rx='8' fill='#E8EFF8' stroke='#1E4FA8' strokeWidth='2' /&gt;&#10;        &lt;text x='85' y='90' textAnchor='middle' fill='#0E3F8C' fontSize='16' fontWeight='bold'&gt;Order&lt;/text&gt;&#10;        &lt;text x='85' y='112' textAnchor='middle' fill='#8B97A8' fontSize='12'&gt;total, status&lt;/text&gt;&#10;        &lt;rect x='190' y='60' width='110' height='70' rx='8' fill='#E8EFF8' stroke='#1E4FA8' strokeWidth='2' /&gt;&#10;        &lt;text x='245' y='90' textAnchor='middle' fill='#0E3F8C' fontSize='16' fontWeight='bold'&gt;Customer&lt;/text&gt;&#10;        &lt;text x='245' y='112' textAnchor='middle' fill='#8B97A8' fontSize='12'&gt;name, id&lt;/text&gt;&#10;        &lt;line x1='140' y1='95' x2='190' y2='95' stroke='#3D7BD9' strokeWidth='2' /&gt;&#10;        &lt;text x='165' y='88' textAnchor='middle' fill='#3D7BD9' fontSize='12'&gt;1&lt;/text&gt;&#10;        &lt;text x='165' y='118' textAnchor='middle' fill='#3D7BD9' fontSize='12'&gt;*&lt;/text&gt;&#10;        &lt;text x='165' y='150' textAnchor='middle' fill='#8B97A8' fontSize='14'&gt;places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Sequence — how it happens&lt;/Text&gt;&#10;      &lt;svg width={330} height={230} viewBox='0 0 330 230'&gt;&#10;        &lt;line x1='70' y1='40' x2='70' y2='200' stroke='#1E4FA8' strokeWidth='2' /&gt;&#10;        &lt;line x1='250' y1='40' x2='250' y2='200' stroke='#1E4FA8' strokeWidth='2' /&gt;&#10;        &lt;rect x='40' y='20' width='60' height='22' rx='4' fill='#E8EFF8' stroke='#3D7BD9' /&gt;&#10;        &lt;text x='70' y='35' textAnchor='middle' fill='#0E3F8C' fontSize='11'&gt;App&lt;/text&gt;&#10;        &lt;rect x='220' y='20' width='60' height='22' rx='4' fill='#E8EFF8' stroke='#3D7BD9' /&gt;&#10;        &lt;text x='250' y='35' textAnchor='middle' fill='#0E3F8C' fontSize='11'&gt;Server&lt;/text&gt;&#10;        &lt;line x1='70' y1='70' x2='250' y2='70' stroke='#3D7BD9' strokeWidth='2' /&gt;&#10;        &lt;polygon points='245,65 255,70 245,75' fill='#3D7BD9' /&gt;&#10;        &lt;text x='160' y='62' textAnchor='middle' fill='#3D7BD9' fontSize='12'&gt;placeOrder()&lt;/text&gt;&#10;        &lt;line x1='250' y1='110' x2='70' y2='110' stroke='#3D7BD9' strokeWidth='2' strokeDasharray='6 4' /&gt;&#10;        &lt;polygon points='80,105 70,110 80,115' fill='#3D7BD9' /&gt;&#10;        &lt;text x='160' y='102' textAnchor='middle' fill='#3D7BD9' fontSize='12'&gt;order confirmed&lt;/text&gt;&#10;      &lt;/svg&gt;&#10;    &lt;/Box&gt;&#10;  &lt;/Box&gt;&#10;  &lt;Box style={{ height: 52, background: '#0E3F8C', padding: '0 40px', flexDirection: 'row', alignItems: 'center', justifyContent: 'center' }}&gt;&#10;    &lt;Text style={{ fontSize: 17, color: '#FFFFFF', fontWeight: '600' }}&gt;Three views of the same system — each answers a different question. That is the whole tric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657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 First Look — Three Kinds of UML Models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36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381000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533400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— what the system does</a:t>
            </a:r>
            <a:endParaRPr/>
          </a:p>
        </p:txBody>
      </p:sp>
      <p:pic>
        <p:nvPicPr>
          <p:cNvPr id="3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33400" y="1285875"/>
            <a:ext cx="3143250" cy="2190750"/>
          </a:xfrm>
          <a:prstGeom prst="rect">
            <a:avLst/>
          </a:prstGeom>
          <a:ln/>
        </p:spPr>
      </p:pic>
      <p:sp>
        <p:nvSpPr>
          <p:cNvPr id="392" name=""/>
          <p:cNvSpPr/>
          <p:nvPr/>
        </p:nvSpPr>
        <p:spPr>
          <a:xfrm rot="0" flipH="0" flipV="0">
            <a:off x="4257675" y="809625"/>
            <a:ext cx="3676650" cy="55530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4410075" y="981075"/>
            <a:ext cx="33718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Domain Model — the concepts</a:t>
            </a:r>
            <a:endParaRPr/>
          </a:p>
        </p:txBody>
      </p:sp>
      <p:pic>
        <p:nvPicPr>
          <p:cNvPr id="3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410075" y="1285875"/>
            <a:ext cx="3143250" cy="2190750"/>
          </a:xfrm>
          <a:prstGeom prst="rect">
            <a:avLst/>
          </a:prstGeom>
          <a:ln/>
        </p:spPr>
      </p:pic>
      <p:sp>
        <p:nvSpPr>
          <p:cNvPr id="395" name=""/>
          <p:cNvSpPr/>
          <p:nvPr/>
        </p:nvSpPr>
        <p:spPr>
          <a:xfrm rot="0" flipH="0" flipV="0">
            <a:off x="8143875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8296275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 — how it happens</a:t>
            </a:r>
            <a:endParaRPr/>
          </a:p>
        </p:txBody>
      </p:sp>
      <p:pic>
        <p:nvPicPr>
          <p:cNvPr id="3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96275" y="1285875"/>
            <a:ext cx="3143250" cy="2190750"/>
          </a:xfrm>
          <a:prstGeom prst="rect">
            <a:avLst/>
          </a:prstGeom>
          <a:ln/>
        </p:spPr>
      </p:pic>
      <p:sp>
        <p:nvSpPr>
          <p:cNvPr id="39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2514600" y="6515100"/>
            <a:ext cx="7172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Three views of the same system — each answers a different question. That is the whole trick.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0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The Vending Machine (Analysis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10' y='150' width='150' height='90' rx='10' fill='#1E4FA8' /&gt;&#10;        &lt;text x='285' y='186' textAnchor='middle' fill='#FFFFFF' fontSize='18' fontWeight='bold'&gt;VendingMachine&lt;/text&gt;&#10;        &lt;text x='285' y='214' textAnchor='middle' fill='#B9CDF0' fontSize='13'&gt;location, stock&lt;/text&gt;&#10;        &lt;rect x='20' y='150' width='120' height='70' rx='10' fill='#E8EFF8' stroke='#3D7BD9' strokeWidth='2' /&gt;&#10;        &lt;text x='80' y='182' textAnchor='middle' fill='#0E3F8C' fontSize='17' fontWeight='bold'&gt;Product&lt;/text&gt;&#10;        &lt;text x='80' y='204' textAnchor='middle' fill='#8B97A8' fontSize='12'&gt;name, price&lt;/text&gt;&#10;        &lt;rect x='215' y='28' width='140' height='70' rx='10' fill='#E8EFF8' stroke='#3D7BD9' strokeWidth='2' /&gt;&#10;        &lt;text x='285' y='60' textAnchor='middle' fill='#0E3F8C' fontSize='17' fontWeight='bold'&gt;Coin&lt;/text&gt;&#10;        &lt;text x='285' y='82' textAnchor='middle' fill='#8B97A8' fontSize='12'&gt;value&lt;/text&gt;&#10;        &lt;rect x='420' y='150' width='120' height='70' rx='10' fill='#E8EFF8' stroke='#3D7BD9' strokeWidth='2' /&gt;&#10;        &lt;text x='480' y='182' textAnchor='middle' fill='#0E3F8C' fontSize='17' fontWeight='bold'&gt;Transaction&lt;/text&gt;&#10;        &lt;text x='480' y='204' textAnchor='middle' fill='#8B97A8' fontSize='12'&gt;time, change&lt;/text&gt;&#10;        &lt;line x1='140' y1='185' x2='210' y2='185' stroke='#3D7BD9' strokeWidth='2' /&gt;&#10;        &lt;text x='175' y='176' textAnchor='middle' fill='#3D7BD9' fontSize='13'&gt;0..*&lt;/text&gt;&#10;        &lt;text x='175' y='205' textAnchor='middle' fill='#8B97A8' fontSize='13'&gt;stocks&lt;/text&gt;&#10;        &lt;line x1='285' y1='98' x2='285' y2='150' stroke='#3D7BD9' strokeWidth='2' /&gt;&#10;        &lt;text x='300' y='128' textAnchor='middle' fill='#8B97A8' fontSize='13'&gt;accepts&lt;/text&gt;&#10;        &lt;line x1='360' y1='195' x2='420' y2='195' stroke='#3D7BD9' strokeWidth='2' /&gt;&#10;        &lt;text x='390' y='186' textAnchor='middle' fill='#3D7BD9' fontSize='13'&gt;1..*&lt;/text&gt;&#10;        &lt;text x='390' y='215' textAnchor='middle' fill='#8B97A8' fontSize='13'&gt;records&lt;/text&gt;&#10;        &lt;text x='285' y='330' textAnchor='middle' fill='#8B97A8' fontSize='15'&gt;A domain model: concepts + relationships, no code.&lt;/text&gt;&#10;      &lt;/svg&gt;&#10;    &lt;/Box&gt;&#10;    &lt;Box style={{ flex: 2, flexDirection: 'column', gap: 14, justifyContent: 'center' }}&gt;&#10;      &lt;Text style={{ fontSize: 19, fontWeight: 'bold', color: '#0E3F8C', lineHeight: 1.35 }}&gt;How to read it — three questions&lt;/Text&gt;&#10;      {[&#10;        ['1 · What concepts exist?', 'VendingMachine, Product, Coin, Transaction — each is a box.'],&#10;        ['2 · How are they related?', 'The lines and the numbers (1, 0..*) tell you who holds what.'],&#10;        ['3 · What does each hold?', 'The attributes — location, price, value — are what we must remember.'],&#10;      ].map(([t, d]) =&gt; (&#10;        &lt;Box key={t} style={{ flexDirection: 'row', gap: 12, alignItems: 'flex-start' }}&gt;&#10;          &lt;FAIcon name='search' style={{ fill: '#1E4FA8', width: 20, height: 20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Notice:&lt;/span&gt; no methods, no if-else, no &quot;how&quot;. Analysis answers &lt;span style={{ fontWeight: 'bold' }}&gt;what&lt;/span&gt;, not how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9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The Vending Machine (Analysis)</a:t>
            </a:r>
            <a:endParaRPr/>
          </a:p>
        </p:txBody>
      </p:sp>
      <p:pic>
        <p:nvPicPr>
          <p:cNvPr id="4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7343775" y="25050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How to read it — three questions</a:t>
            </a:r>
            <a:endParaRPr/>
          </a:p>
        </p:txBody>
      </p:sp>
      <p:pic>
        <p:nvPicPr>
          <p:cNvPr id="4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933700"/>
            <a:ext cx="190500" cy="190500"/>
          </a:xfrm>
          <a:prstGeom prst="rect">
            <a:avLst/>
          </a:prstGeom>
          <a:ln/>
        </p:spPr>
      </p:pic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7648575" y="2933700"/>
            <a:ext cx="3667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1 · What concepts exist?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7648575" y="3152775"/>
            <a:ext cx="36671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VendingMachine, Product, Coin, Transaction — each is a box.</a:t>
            </a:r>
            <a:endParaRPr/>
          </a:p>
        </p:txBody>
      </p:sp>
      <p:pic>
        <p:nvPicPr>
          <p:cNvPr id="4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533775"/>
            <a:ext cx="190500" cy="190500"/>
          </a:xfrm>
          <a:prstGeom prst="rect">
            <a:avLst/>
          </a:prstGeom>
          <a:ln/>
        </p:spPr>
      </p:pic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7648575" y="3533775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2 · How are they related?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7648575" y="3752850"/>
            <a:ext cx="35147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lines and the numbers (1, 0..*) tell you who holds what.</a:t>
            </a:r>
            <a:endParaRPr/>
          </a:p>
        </p:txBody>
      </p:sp>
      <p:pic>
        <p:nvPicPr>
          <p:cNvPr id="4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133850"/>
            <a:ext cx="190500" cy="190500"/>
          </a:xfrm>
          <a:prstGeom prst="rect">
            <a:avLst/>
          </a:prstGeom>
          <a:ln/>
        </p:spPr>
      </p:pic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7648575" y="4133850"/>
            <a:ext cx="4162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3 · What does each hold?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7648575" y="43529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attributes — location, price, value — are what we must remember.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7343775" y="4733925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7496175" y="48482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Notice: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no methods, no if-else, no "how". Analysis answers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what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, not how.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36</a:t>
            </a:r>
            <a:endParaRPr/>
          </a:p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From Analysis to Design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0' y='90' width='170' height='100' rx='10' fill='#1E4FA8' /&gt;&#10;        &lt;text x='285' y='122' textAnchor='middle' fill='#FFFFFF' fontSize='17' fontWeight='bold'&gt;VendingMachine&lt;/text&gt;&#10;        &lt;text x='285' y='146' textAnchor='middle' fill='#B9CDF0' fontSize='13'&gt;- stock: Map&lt;/text&gt;&#10;        &lt;text x='285' y='168' textAnchor='middle' fill='#B9CDF0' fontSize='13'&gt;+ sellProduct()&lt;/text&gt;&#10;        &lt;rect x='30' y='280' width='150' height='60' rx='10' fill='#E8EFF8' stroke='#3D7BD9' strokeWidth='2' /&gt;&#10;        &lt;text x='105' y='306' textAnchor='middle' fill='#0E3F8C' fontSize='15' fontWeight='bold'&gt;&amp;lt;&amp;lt;interface&amp;gt;&amp;gt;&lt;/text&gt;&#10;        &lt;text x='105' y='326' textAnchor='middle' fill='#0E3F8C' fontSize='15' fontWeight='bold'&gt;Payment&lt;/text&gt;&#10;        &lt;rect x='260' y='300' width='140' height='70' rx='10' fill='#E8EFF8' stroke='#3D7BD9' strokeWidth='2' /&gt;&#10;        &lt;text x='330' y='326' textAnchor='middle' fill='#0E3F8C' fontSize='15' fontWeight='bold'&gt;CardPayment&lt;/text&gt;&#10;        &lt;text x='330' y='348' textAnchor='middle' fill='#8B97A8' fontSize='12'&gt;+ pay()&lt;/text&gt;&#10;        &lt;rect x='420' y='300' width='130' height='70' rx='10' fill='#E8EFF8' stroke='#3D7BD9' strokeWidth='2' /&gt;&#10;        &lt;text x='485' y='326' textAnchor='middle' fill='#0E3F8C' fontSize='15' fontWeight='bold'&gt;CashPayment&lt;/text&gt;&#10;        &lt;text x='485' y='348' textAnchor='middle' fill='#8B97A8' fontSize='12'&gt;+ pay()&lt;/text&gt;&#10;        &lt;line x1='285' y1='190' x2='150' y2='280' stroke='#3D7BD9' strokeWidth='2' strokeDasharray='6 4' /&gt;&#10;        &lt;polygon points='150,278 160,290 158,276' fill='#3D7BD9' /&gt;&#10;        &lt;line x1='160' y1='310' x2='260' y2='318' stroke='#3D7BD9' strokeWidth='2' /&gt;&#10;        &lt;polygon points='258,312 268,319 258,324' fill='#3D7BD9' /&gt;&#10;        &lt;line x1='160' y1='330' x2='420' y2='322' stroke='#3D7BD9' strokeWidth='2' /&gt;&#10;        &lt;polygon points='418,316 428,322 418,328' fill='#3D7BD9' /&gt;&#10;        &lt;text x='200' y='262' textAnchor='middle' fill='#8B97A8' fontSize='14'&gt;depends on (dashed arrow)&lt;/text&gt;&#10;        &lt;text x='340' y='388' textAnchor='middle' fill='#8B97A8' fontSize='14'&gt;Same concepts — now with methods, interfaces, responsibilities.&lt;/text&gt;&#10;      &lt;/svg&gt;&#10;    &lt;/Box&gt;&#10;    &lt;Box style={{ flex: 2, flexDirection: 'column', gap: 14, justifyContent: 'center' }}&gt;&#10;      &lt;Text style={{ fontSize: 19, fontWeight: 'bold', color: '#0E3F8C', lineHeight: 1.35 }}&gt;What changed in the jump&lt;/Text&gt;&#10;      {[&#10;        ['Methods appeared', 'Concepts now have behaviour — sellProduct(), pay().'],&#10;        ['An interface appeared', 'Payment hides &quot;card vs. cash&quot; behind one contract — that is a pattern in the making.'],&#10;        ['Responsibility moved', 'Each class knows its own job; nothing does everything.'],&#10;      ].map(([t, d]) =&gt; (&#10;        &lt;Box key={t} style={{ flexDirection: 'row', gap: 12, alignItems: 'flex-start' }}&gt;&#10;          &lt;FAIcon name='arrow-right' style={{ fill: '#1E4FA8', width: 18, height: 18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The whole course&lt;/span&gt; is this jump — done carefully, with principles and patterns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0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From Analysis to Design</a:t>
            </a:r>
            <a:endParaRPr/>
          </a:p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7343775" y="23907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What changed in the jump</a:t>
            </a:r>
            <a:endParaRPr/>
          </a:p>
        </p:txBody>
      </p:sp>
      <p:pic>
        <p:nvPicPr>
          <p:cNvPr id="4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819400"/>
            <a:ext cx="171450" cy="171450"/>
          </a:xfrm>
          <a:prstGeom prst="rect">
            <a:avLst/>
          </a:prstGeom>
          <a:ln/>
        </p:spPr>
      </p:pic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7629525" y="2819400"/>
            <a:ext cx="3171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Methods appeared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7629525" y="3038475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Concepts now have behaviour — sellProduct(), pay().</a:t>
            </a:r>
            <a:endParaRPr/>
          </a:p>
        </p:txBody>
      </p:sp>
      <p:pic>
        <p:nvPicPr>
          <p:cNvPr id="4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419475"/>
            <a:ext cx="171450" cy="171450"/>
          </a:xfrm>
          <a:prstGeom prst="rect">
            <a:avLst/>
          </a:prstGeom>
          <a:ln/>
        </p:spPr>
      </p:pic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6200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interface appeared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7620000" y="3638550"/>
            <a:ext cx="4191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Payment hides "card vs. cash" behind one contract — that is a pattern in the making.</a:t>
            </a:r>
            <a:endParaRPr/>
          </a:p>
        </p:txBody>
      </p:sp>
      <p:pic>
        <p:nvPicPr>
          <p:cNvPr id="4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257675"/>
            <a:ext cx="171450" cy="171450"/>
          </a:xfrm>
          <a:prstGeom prst="rect">
            <a:avLst/>
          </a:prstGeom>
          <a:ln/>
        </p:spPr>
      </p:pic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7629525" y="4257675"/>
            <a:ext cx="3257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Responsibility moved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7629525" y="4476750"/>
            <a:ext cx="32575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Each class knows its own job; nothing does everything.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7343775" y="4857750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7496175" y="4972050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The whole course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is this jump — done carefully, with principles and patterns.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36</a:t>
            </a:r>
            <a:endParaRPr/>
          </a:p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spTree>
      <p:nvGrpSpPr>
        <p:cNvPr id="45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1 — Analysis or Design?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 }}&gt;Your task&lt;/Text&gt;&#10;      &lt;Text style={{ fontSize: 16, color: '#C5D4EA', lineHeight: 1.55 }}&gt;For each statement, decide: is it an &lt;span style={{ fontWeight: 'bold', color: '#FFC107' }}&gt;analysis&lt;/span&gt; concern (what) or a &lt;span style={{ fontWeight: 'bold', color: '#FFC107' }}&gt;design&lt;/span&gt; concern (how)? Justify in one sentence.&lt;/Text&gt;&#10;      &lt;Box style={{ padding: '12px 16px', background: '#1E4FA8', borderRadius: 8 }}&gt;&#10;        &lt;Text style={{ fontSize: 14, color: '#B9CDF0', lineHeight: 1.5 }}&gt;Rule of thumb: does it talk about the problem, or the solution?&lt;/Text&gt;&#10;      &lt;/Box&gt;&#10;    &lt;/Box&gt;&#10;    &lt;Box style={{ flex: 1, flexDirection: 'column', gap: 12, justifyContent: 'center' }}&gt;&#10;      {[&#10;        'A customer can pay by card or by cash.',&#10;        'We should use the Strategy pattern for payment.',&#10;        'An order has a status that changes over time.',&#10;        'The Order class should expose a cancel() method.',&#10;        'The system must notify the courier when an order is ready.',&#10;      ].map((s, i) =&gt; (&#10;        &lt;Box key={i} style={{ flexDirection: 'row', gap: 14, alignItems: 'center', padding: '13px 18px', background: '#F7F9FC', borderRadius: 10, border: '1px solid #E5E7EB' }}&gt;&#10;          &lt;Box style={{ width: 30, height: 30, borderRadius: 15, background: '#1E4FA8', justifyContent: 'center', alignItems: 'center' }}&gt;&#10;            &lt;Text style={{ fontSize: 15, fontWeight: 'bold', color: '#FFFFFF' }}&gt;{i + 1}&lt;/Text&gt;&#10;          &lt;/Box&gt;&#10;          &lt;Text style={{ flex: 1, fontSize: 16, color: '#1A2230' }}&gt;{s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Answers discussed in class.&lt;/Text&gt;&#10;    &lt;Text style={{ fontSize: 14, color: '#1E4FA8', fontWeight: 'bold' }}&gt;31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1.1 — Analysis or Design?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Your task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609600" y="318135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 statement, decide: is it an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analysis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(what) or a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design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(how)? Justify in one sentence.</a:t>
            </a:r>
            <a:endParaRPr/>
          </a:p>
        </p:txBody>
      </p:sp>
      <p:sp>
        <p:nvSpPr>
          <p:cNvPr id="465" name=""/>
          <p:cNvSpPr/>
          <p:nvPr/>
        </p:nvSpPr>
        <p:spPr>
          <a:xfrm rot="0" flipH="0" flipV="0">
            <a:off x="609600" y="4438650"/>
            <a:ext cx="2590800" cy="714375"/>
          </a:xfrm>
          <a:prstGeom prst="roundRect">
            <a:avLst>
              <a:gd name="adj" fmla="val 10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762000" y="4552950"/>
            <a:ext cx="2286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Rule of thumb: does it talk about the problem, or the solution?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3695700" y="24193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68" name=""/>
          <p:cNvSpPr/>
          <p:nvPr/>
        </p:nvSpPr>
        <p:spPr>
          <a:xfrm rot="0" flipH="0" flipV="0">
            <a:off x="3867150" y="25431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3971925" y="2600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4286250" y="25908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 customer can pay by card or by cash.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3695700" y="30670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3867150" y="31908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3971925" y="3248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4286250" y="32385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We should use the Strategy pattern for payment.</a:t>
            </a:r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3695700" y="37147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6" name=""/>
          <p:cNvSpPr/>
          <p:nvPr/>
        </p:nvSpPr>
        <p:spPr>
          <a:xfrm rot="0" flipH="0" flipV="0">
            <a:off x="3867150" y="38385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3971925" y="3895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4286250" y="38862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An order has a status that changes over time.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695700" y="43624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0" name=""/>
          <p:cNvSpPr/>
          <p:nvPr/>
        </p:nvSpPr>
        <p:spPr>
          <a:xfrm rot="0" flipH="0" flipV="0">
            <a:off x="386715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3971925" y="45434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4286250" y="45339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Order class should expose a cancel() method.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3695700" y="50101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4" name=""/>
          <p:cNvSpPr/>
          <p:nvPr/>
        </p:nvSpPr>
        <p:spPr>
          <a:xfrm rot="0" flipH="0" flipV="0">
            <a:off x="3867150" y="51339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3971925" y="51911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4286250" y="51816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system must notify the courier when an order is ready.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Answers discussed in class.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36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8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2 — Stakeholders of CampusBite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FAIcon name='users' style={{ fill: '#FFC107', width: 36, height: 36 }} /&gt;&#10;      &lt;Text style={{ fontSize: 22, fontWeight: 'bold', color: '#FFFFFF', lineHeight: 1.35 }}&gt;Who has a stake in the food-ordering platform?&lt;/Text&gt;&#10;      &lt;Text style={{ fontSize: 16, color: '#C5D4EA', lineHeight: 1.55 }}&gt;A stakeholder is anyone the system affects — or who affects it. List every group you can think of, then mark which are &lt;span style={{ fontWeight: 'bold', color: '#FFFFFF' }}&gt;users&lt;/span&gt;.&lt;/Text&gt;&#10;    &lt;/Box&gt;&#10;    &lt;Box style={{ flex: 1, flexDirection: 'column', gap: 12, justifyContent: 'center' }}&gt;&#10;      &lt;Box style={{ padding: '14px 18px', background: '#F7F9FC', borderRadius: 10, border: '1px solid #E5E7EB', flexDirection: 'row', alignItems: 'center', gap: 12 }}&gt;&#10;        &lt;FAIcon name='lightbulb' style={{ fill: '#FFC107', width: 22, height: 22 }} /&gt;&#10;        &lt;Text style={{ fontSize: 15, color: '#4A5568', lineHeight: 1.5 }}&gt;Seed the list, then go wider: who is &lt;span style={{ fontWeight: 'bold', color: '#1A2230' }}&gt;indirectly&lt;/span&gt; affected?&lt;/Text&gt;&#10;      &lt;/Box&gt;&#10;      {[&#10;        ['user', 'Students — they order food'],&#10;        ['briefcase', 'Restaurants — they receive and fulfil orders'],&#10;        ['user', 'Couriers — they deliver'],&#10;        ['cog', 'University admin — campus rules and contracts'],&#10;        ['dollar', 'Payment providers — they move the money'],&#10;      ].map(([icon, t]) =&gt; (&#10;        &lt;Box key={t} style={{ flexDirection: 'row', gap: 14, alignItems: 'center', padding: '13px 18px', background: '#F7F9FC', borderRadius: 10, border: '1px solid #E5E7EB' }}&gt;&#10;          &lt;FAIcon name={icon} style={{ fill: '#1E4FA8', width: 22, height: 22 }} /&gt;&#10;          &lt;Text style={{ flex: 1, fontSize: 16, color: '#1A2230' }}&gt;{t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This list becomes your actor list in Week 4.&lt;/Text&gt;&#10;    &lt;Text style={{ fontSize: 14, color: '#1E4FA8', fontWeight: 'bold' }}&gt;32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1.2 — Stakeholders of CampusBites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342900" cy="342900"/>
          </a:xfrm>
          <a:prstGeom prst="rect">
            <a:avLst/>
          </a:prstGeom>
          <a:ln/>
        </p:spPr>
      </p:pic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609600" y="32385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Who has a stake in the food-ordering platform?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609600" y="403860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 stakeholder is anyone the system affects — or who affects it. List every group you can think of, then mark which are 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users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499" name=""/>
          <p:cNvSpPr/>
          <p:nvPr/>
        </p:nvSpPr>
        <p:spPr>
          <a:xfrm rot="0" flipH="0" flipV="0">
            <a:off x="3695700" y="2286000"/>
            <a:ext cx="811530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447925"/>
            <a:ext cx="209550" cy="209550"/>
          </a:xfrm>
          <a:prstGeom prst="rect">
            <a:avLst/>
          </a:prstGeom>
          <a:ln/>
        </p:spPr>
      </p:pic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4191000" y="2419350"/>
            <a:ext cx="3514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Seed the list, then go wider: who is </a:t>
            </a: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indirectly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affected?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3695700" y="2924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3048000"/>
            <a:ext cx="209550" cy="209550"/>
          </a:xfrm>
          <a:prstGeom prst="rect">
            <a:avLst/>
          </a:prstGeom>
          <a:ln/>
        </p:spPr>
      </p:pic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4210050" y="3057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Students — they order food</a:t>
            </a:r>
            <a:endParaRPr/>
          </a:p>
        </p:txBody>
      </p:sp>
      <p:sp>
        <p:nvSpPr>
          <p:cNvPr id="505" name=""/>
          <p:cNvSpPr/>
          <p:nvPr/>
        </p:nvSpPr>
        <p:spPr>
          <a:xfrm rot="0" flipH="0" flipV="0">
            <a:off x="3695700" y="3495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67150" y="3619500"/>
            <a:ext cx="209550" cy="209550"/>
          </a:xfrm>
          <a:prstGeom prst="rect">
            <a:avLst/>
          </a:prstGeom>
          <a:ln/>
        </p:spPr>
      </p:pic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4210050" y="3629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Restaurants — they receive and fulfil orders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3695700" y="4067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4191000"/>
            <a:ext cx="209550" cy="209550"/>
          </a:xfrm>
          <a:prstGeom prst="rect">
            <a:avLst/>
          </a:prstGeom>
          <a:ln/>
        </p:spPr>
      </p:pic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4210050" y="4200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Couriers — they deliver</a:t>
            </a:r>
            <a:endParaRPr/>
          </a:p>
        </p:txBody>
      </p:sp>
      <p:sp>
        <p:nvSpPr>
          <p:cNvPr id="511" name=""/>
          <p:cNvSpPr/>
          <p:nvPr/>
        </p:nvSpPr>
        <p:spPr>
          <a:xfrm rot="0" flipH="0" flipV="0">
            <a:off x="3695700" y="4638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867150" y="4762500"/>
            <a:ext cx="209550" cy="209550"/>
          </a:xfrm>
          <a:prstGeom prst="rect">
            <a:avLst/>
          </a:prstGeom>
          <a:ln/>
        </p:spPr>
      </p:pic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4210050" y="4772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University admin — campus rules and contracts</a:t>
            </a:r>
            <a:endParaRPr/>
          </a:p>
        </p:txBody>
      </p:sp>
      <p:sp>
        <p:nvSpPr>
          <p:cNvPr id="514" name=""/>
          <p:cNvSpPr/>
          <p:nvPr/>
        </p:nvSpPr>
        <p:spPr>
          <a:xfrm rot="0" flipH="0" flipV="0">
            <a:off x="3695700" y="5210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3867150" y="5334000"/>
            <a:ext cx="209550" cy="209550"/>
          </a:xfrm>
          <a:prstGeom prst="rect">
            <a:avLst/>
          </a:prstGeom>
          <a:ln/>
        </p:spPr>
      </p:pic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4210050" y="5343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Payment providers — they move the money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3526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list becomes your actor list in Week 4.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36</a:t>
            </a:r>
            <a:endParaRPr/>
          </a:p>
        </p:txBody>
      </p:sp>
    </p:spTree>
  </p:cSld>
</p:sld>
</file>

<file path=ppt/slides/slide3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3 — Systems Around Your Campu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, lineHeight: 1.35 }}&gt;Which campus processes are information systems — and which are not (yet)?&lt;/Text&gt;&#10;      &lt;Text style={{ fontSize: 16, color: '#C5D4EA', lineHeight: 1.55 }}&gt;For each, check the four elements. If one is missing, it is not yet an IS.&lt;/Text&gt;&#10;    &lt;/Box&gt;&#10;    &lt;Box style={{ flex: 1, flexDirection: 'column', gap: 12, justifyContent: 'center' }}&gt;&#10;      &lt;Box style={{ padding: '14px 18px', background: '#F0F5FC', borderRadius: 10, border: '1px solid #3D7BD9', flexDirection: 'column', gap: 6 }}&gt;&#10;        &lt;Box style={{ flexDirection: 'row', alignItems: 'center', gap: 10 }}&gt;&#10;          &lt;FAIcon name='check-circle' style={{ fill: '#1E4FA8', width: 22, height: 22 }} /&gt;&#10;          &lt;Text style={{ fontSize: 17, fontWeight: 'bold', color: '#0E3F8C' }}&gt;Already information systems&lt;/Text&gt;&#10;        &lt;/Box&gt;&#10;        &lt;Text style={{ fontSize: 15, color: '#4A5568', lineHeight: 1.5 }}&gt;Course registration · library borrowing · campus card top-up · exam timetable.&lt;/Text&gt;&#10;      &lt;/Box&gt;&#10;      &lt;Box style={{ padding: '14px 18px', background: '#FDF3F3', borderRadius: 10, border: '1px solid #D9534F', flexDirection: 'column', gap: 6 }}&gt;&#10;        &lt;Box style={{ flexDirection: 'row', alignItems: 'center', gap: 10 }}&gt;&#10;          &lt;FAIcon name='times-circle' style={{ fill: '#D9534F', width: 22, height: 22 }} /&gt;&#10;          &lt;Text style={{ fontSize: 17, fontWeight: 'bold', color: '#D9534F' }}&gt;Not yet (a gap to analyse)&lt;/Text&gt;&#10;        &lt;/Box&gt;&#10;        &lt;Text style={{ fontSize: 15, color: '#4A5568', lineHeight: 1.5 }}&gt;Canteen queue · lost-and-found · study-room seat grabbing — think of one more from your own d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Every gap is a candidate system someone could build.&lt;/Text&gt;&#10;    &lt;Text style={{ fontSize: 14, color: '#1E4FA8', fontWeight: 'bold' }}&gt;33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1.3 — Systems Around Your Campus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609600" y="2952750"/>
            <a:ext cx="25908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Which campus processes are information systems — and which are not (yet)?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609600" y="4429125"/>
            <a:ext cx="2590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each, check the four elements. If one is missing, it is not yet an IS.</a:t>
            </a:r>
            <a:endParaRPr/>
          </a:p>
        </p:txBody>
      </p:sp>
      <p:sp>
        <p:nvSpPr>
          <p:cNvPr id="528" name=""/>
          <p:cNvSpPr/>
          <p:nvPr/>
        </p:nvSpPr>
        <p:spPr>
          <a:xfrm rot="0" flipH="0" flipV="0">
            <a:off x="3695700" y="3133725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5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67150" y="3267075"/>
            <a:ext cx="209550" cy="209550"/>
          </a:xfrm>
          <a:prstGeom prst="rect">
            <a:avLst/>
          </a:prstGeom>
          <a:ln/>
        </p:spPr>
      </p:pic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171950" y="327660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Already information systems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3867150" y="3533775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Course registration · library borrowing · campus card top-up · exam timetable.</a:t>
            </a:r>
            <a:endParaRPr/>
          </a:p>
        </p:txBody>
      </p:sp>
      <p:sp>
        <p:nvSpPr>
          <p:cNvPr id="532" name=""/>
          <p:cNvSpPr/>
          <p:nvPr/>
        </p:nvSpPr>
        <p:spPr>
          <a:xfrm rot="0" flipH="0" flipV="0">
            <a:off x="3695700" y="4038600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5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171950"/>
            <a:ext cx="209550" cy="209550"/>
          </a:xfrm>
          <a:prstGeom prst="rect">
            <a:avLst/>
          </a:prstGeom>
          <a:ln/>
        </p:spPr>
      </p:pic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4171950" y="4181475"/>
            <a:ext cx="1962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Not yet (a gap to analyse)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3867150" y="4438650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Canteen queue · lost-and-found · study-room seat grabbing — think of one more from your own day.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gap is a candidate system someone could build.</a:t>
            </a:r>
            <a:endParaRPr/>
          </a:p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36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3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HOMEWORK&lt;/Text&gt;&#10;  &lt;/Box&gt;&#10;  &lt;Box style={{ padding: '24px 40px 0 40px' }}&gt;&#10;    &lt;Text style={{ fontSize: 34, fontWeight: 'bold', color: '#0E3F8C' }}&gt;Homework for Week 1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first, then write&lt;/Text&gt;&#10;      &lt;Text style={{ fontSize: 16, color: '#C5D4EA', lineHeight: 1.55 }}&gt;The two project documents define everything that follows. Read them before the next class.&lt;/Text&gt;&#10;    &lt;/Box&gt;&#10;    &lt;Box style={{ flex: 1, flexDirection: 'column', gap: 12, justifyContent: 'center' }}&gt;&#10;      {[&#10;        ['book', 'Read the Project Guidebook', 'Milestones, submission rules, grading — handed out today.'],&#10;        ['calendar', 'Read the Deadline Schedule', 'All hard deadlines with dates. First: M0 due Fri Sep 11.'],&#10;        ['file-text', 'Read Larman Ch. 1–2', 'Skim — it frames the next two weeks.'],&#10;        ['edit', 'Write a 150-word paragraph', '&quot;One information system I use daily, and what would break if the analyst had failed.&quot;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4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HOMEWORK</a:t>
            </a:r>
            <a:endParaRPr/>
          </a:p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Homework for Week 1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609600" y="3314700"/>
            <a:ext cx="2400300" cy="3429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first, then write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609600" y="3790950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two project documents define everything that follows. Read them before the next class.</a:t>
            </a:r>
            <a:endParaRPr/>
          </a:p>
        </p:txBody>
      </p:sp>
      <p:sp>
        <p:nvSpPr>
          <p:cNvPr id="547" name=""/>
          <p:cNvSpPr/>
          <p:nvPr/>
        </p:nvSpPr>
        <p:spPr>
          <a:xfrm rot="0" flipH="0" flipV="0">
            <a:off x="3505200" y="23241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48" name=""/>
          <p:cNvSpPr/>
          <p:nvPr/>
        </p:nvSpPr>
        <p:spPr>
          <a:xfrm rot="0" flipH="0" flipV="0">
            <a:off x="3676650" y="24860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81425" y="2590800"/>
            <a:ext cx="209550" cy="209550"/>
          </a:xfrm>
          <a:prstGeom prst="rect">
            <a:avLst/>
          </a:prstGeom>
          <a:ln/>
        </p:spPr>
      </p:pic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4229100" y="2457450"/>
            <a:ext cx="3495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Project Guidebook</a:t>
            </a:r>
            <a:endParaRPr/>
          </a:p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4229100" y="2686050"/>
            <a:ext cx="34956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Milestones, submission rules, grading — handed out today.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3505200" y="31813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53" name=""/>
          <p:cNvSpPr/>
          <p:nvPr/>
        </p:nvSpPr>
        <p:spPr>
          <a:xfrm rot="0" flipH="0" flipV="0">
            <a:off x="3676650" y="33432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3448050"/>
            <a:ext cx="209550" cy="209550"/>
          </a:xfrm>
          <a:prstGeom prst="rect">
            <a:avLst/>
          </a:prstGeom>
          <a:ln/>
        </p:spPr>
      </p:pic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4229100" y="3314700"/>
            <a:ext cx="3238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Deadline Schedule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4229100" y="3543300"/>
            <a:ext cx="3238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All hard deadlines with dates. First: M0 due Fri Sep 11.</a:t>
            </a:r>
            <a:endParaRPr/>
          </a:p>
        </p:txBody>
      </p:sp>
      <p:sp>
        <p:nvSpPr>
          <p:cNvPr id="557" name=""/>
          <p:cNvSpPr/>
          <p:nvPr/>
        </p:nvSpPr>
        <p:spPr>
          <a:xfrm rot="0" flipH="0" flipV="0">
            <a:off x="3505200" y="40386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3676650" y="42005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4305300"/>
            <a:ext cx="209550" cy="209550"/>
          </a:xfrm>
          <a:prstGeom prst="rect">
            <a:avLst/>
          </a:prstGeom>
          <a:ln/>
        </p:spPr>
      </p:pic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4229100" y="417195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Ch. 1–2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4229100" y="44005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Skim — it frames the next two weeks.</a:t>
            </a:r>
            <a:endParaRPr/>
          </a:p>
        </p:txBody>
      </p:sp>
      <p:sp>
        <p:nvSpPr>
          <p:cNvPr id="562" name=""/>
          <p:cNvSpPr/>
          <p:nvPr/>
        </p:nvSpPr>
        <p:spPr>
          <a:xfrm rot="0" flipH="0" flipV="0">
            <a:off x="3505200" y="48958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3676650" y="50577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5162550"/>
            <a:ext cx="209550" cy="209550"/>
          </a:xfrm>
          <a:prstGeom prst="rect">
            <a:avLst/>
          </a:prstGeom>
          <a:ln/>
        </p:spPr>
      </p:pic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4229100" y="5029200"/>
            <a:ext cx="494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Write a 150-word paragraph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4229100" y="5257800"/>
            <a:ext cx="49434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"One information system I use daily, and what would break if the analyst had failed."</a:t>
            </a:r>
            <a:endParaRPr/>
          </a:p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36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PROJECT&lt;/Text&gt;&#10;  &lt;/Box&gt;&#10;  &lt;Box style={{ padding: '24px 40px 0 40px' }}&gt;&#10;    &lt;Text style={{ fontSize: 34, fontWeight: 'bold', color: '#0E3F8C' }}&gt;Getting Ready for M0 — Kickoff&lt;/Text&gt;&#10;  &lt;/Box&gt;&#10;  &lt;Box style={{ flex: 1, padding: '18px 40px 0 40px', flexDirection: 'row', gap: 28 }}&gt;&#10;    &lt;Box style={{ flex: 3, flexDirection: 'column', gap: 12, justifyContent: 'center' }}&gt;&#10;      &lt;Text style={{ fontSize: 18, fontWeight: 'bold', color: '#1A2230', marginBottom: 4 }}&gt;The M0 checklist (pass / fail)&lt;/Text&gt;&#10;      {[&#10;        'Form a team of ~3 and agree on roles.',&#10;        'Draft a team charter — Appendix A of the Guidebook.',&#10;        'List the stakeholders (from Exercise 1.2).',&#10;        'Write a one-paragraph project vision.',&#10;        'Create a GitHub repo and share it with the instructor.',&#10;      ].map((s, i) =&gt; (&#10;        &lt;Box key={i} style={{ flexDirection: 'row', gap: 14, alignItems: 'center', padding: '13px 18px', background: '#F7F9FC', borderRadius: 10, border: '1px solid #E5E7EB' }}&gt;&#10;          &lt;Box style={{ width: 28, height: 28, borderRadius: 8, background: '#1E4FA8', justifyContent: 'center', alignItems: 'center' }}&gt;&#10;            &lt;FAIcon name='check' style={{ fill: '#FFFFFF', width: 15, height: 15 }} /&gt;&#10;          &lt;/Box&gt;&#10;          &lt;Text style={{ flex: 1, fontSize: 15, color: '#1A2230' }}&gt;{s}&lt;/Text&gt;&#10;        &lt;/Box&gt;&#10;      ))}&#10;    &lt;/Box&gt;&#10;    &lt;Box style={{ flex: 2, padding: '28px 24px', background: '#0E3F8C', borderRadius: 12, flexDirection: 'column', justifyContent: 'center', gap: 12 }}&gt;&#10;      &lt;Text style={{ fontSize: 16, color: '#B9CDF0', letterSpacing: 1 }}&gt;M0 DUE&lt;/Text&gt;&#10;      &lt;Text style={{ fontSize: 44, fontWeight: 'bold', color: '#FFC107', lineHeight: 1.1 }}&gt;Fri, Sep 11&lt;/Text&gt;&#10;      &lt;Text style={{ fontSize: 15, color: '#C5D4EA', lineHeight: 1.5 }}&gt;Submit by pushing to GitHub and tagging the commit &lt;span style={{ fontWeight: 'bold', color: '#FFFFFF' }}&gt;m0&lt;/span&gt;. Full protocol in the Deadline Guid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5 / 36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10715625" y="2571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PROJECT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 — Kickoff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381000" y="2286000"/>
            <a:ext cx="6696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The M0 checklist (pass / fail)</a:t>
            </a:r>
            <a:endParaRPr/>
          </a:p>
        </p:txBody>
      </p:sp>
      <p:sp>
        <p:nvSpPr>
          <p:cNvPr id="576" name=""/>
          <p:cNvSpPr/>
          <p:nvPr/>
        </p:nvSpPr>
        <p:spPr>
          <a:xfrm rot="0" flipH="0" flipV="0">
            <a:off x="381000" y="26479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7" name=""/>
          <p:cNvSpPr/>
          <p:nvPr/>
        </p:nvSpPr>
        <p:spPr>
          <a:xfrm rot="0" flipH="0" flipV="0">
            <a:off x="552450" y="27717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2838450"/>
            <a:ext cx="142875" cy="142875"/>
          </a:xfrm>
          <a:prstGeom prst="rect">
            <a:avLst/>
          </a:prstGeom>
          <a:ln/>
        </p:spPr>
      </p:pic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952500" y="28194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Form a team of ~3 and agree on roles.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381000" y="32766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552450" y="34004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3467100"/>
            <a:ext cx="142875" cy="142875"/>
          </a:xfrm>
          <a:prstGeom prst="rect">
            <a:avLst/>
          </a:prstGeom>
          <a:ln/>
        </p:spPr>
      </p:pic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952500" y="34480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Draft a team charter — Appendix A of the Guidebook.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381000" y="39052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5" name=""/>
          <p:cNvSpPr/>
          <p:nvPr/>
        </p:nvSpPr>
        <p:spPr>
          <a:xfrm rot="0" flipH="0" flipV="0">
            <a:off x="552450" y="40290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095750"/>
            <a:ext cx="142875" cy="142875"/>
          </a:xfrm>
          <a:prstGeom prst="rect">
            <a:avLst/>
          </a:prstGeom>
          <a:ln/>
        </p:spPr>
      </p:pic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952500" y="40767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List the stakeholders (from Exercise 1.2).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381000" y="45339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552450" y="46577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724400"/>
            <a:ext cx="142875" cy="142875"/>
          </a:xfrm>
          <a:prstGeom prst="rect">
            <a:avLst/>
          </a:prstGeom>
          <a:ln/>
        </p:spPr>
      </p:pic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952500" y="47053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Write a one-paragraph project vision.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381000" y="51625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3" name=""/>
          <p:cNvSpPr/>
          <p:nvPr/>
        </p:nvSpPr>
        <p:spPr>
          <a:xfrm rot="0" flipH="0" flipV="0">
            <a:off x="552450" y="52863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5353050"/>
            <a:ext cx="142875" cy="142875"/>
          </a:xfrm>
          <a:prstGeom prst="rect">
            <a:avLst/>
          </a:prstGeom>
          <a:ln/>
        </p:spPr>
      </p:pic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952500" y="53340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Create a GitHub repo and share it with the instructor.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7572375" y="32289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B9CDF0"/>
                </a:solidFill>
                <a:latin typeface="Microsoft YaHei"/>
                <a:ea typeface="Microsoft YaHei"/>
              </a:rPr>
              <a:t>M0 DUE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7572375" y="3533775"/>
            <a:ext cx="4010025" cy="5619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300" b="1">
                <a:solidFill>
                  <a:srgbClr val="FFC107"/>
                </a:solidFill>
                <a:latin typeface="Microsoft YaHei"/>
                <a:ea typeface="Microsoft YaHei"/>
              </a:rPr>
              <a:t>Fri, Sep 11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Submit by pushing to GitHub and tagging the commit 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m0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 Full protocol in the Deadline Guide.</a:t>
            </a:r>
            <a:endParaRPr/>
          </a:p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36</a:t>
            </a:r>
            <a:endParaRPr/>
          </a:p>
        </p:txBody>
      </p:sp>
    </p:spTree>
  </p:cSld>
</p:sld>
</file>

<file path=ppt/slides/slide36.xml><?xml version="1.0" encoding="utf-8"?>
<p:sld xmlns:a="http://schemas.openxmlformats.org/drawingml/2006/main" xmlns:p="http://schemas.openxmlformats.org/presentationml/2006/main">
  <p:cSld>
    <p:spTree>
      <p:nvGrpSpPr>
        <p:cNvPr id="602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Text style={{ fontSize: 15, color: '#7FA2D6', letterSpacing: 2, marginBottom: 22 }}&gt;WEEK 01 · WRAP-UP&lt;/Text&gt;&#10;    &lt;Text style={{ fontSize: 52, fontWeight: 'bold', color: '#FFFFFF', fontFamily: 'Georgia, serif', lineHeight: 1.15 }}&gt;You can now see&lt;br /&gt;where we are going.&lt;/Text&gt;&#10;    &lt;Box style={{ width: 88, height: 5, background: '#FFC107', marginTop: 28, marginBottom: 26 }} /&gt;&#10;    &lt;Box style={{ flexDirection: 'column', gap: 12 }}&gt;&#10;      {[&#10;        'An information system = people + process + data + technology.',&#10;        'The analyst is the bridge between business and technology.',&#10;        'Analysis answers WHAT, design answers HOW — and WHAT comes first.',&#10;        'Next week: object-oriented foundations &amp; the CampusBites kickoff.',&#10;      ].map((t) =&gt; (&#10;        &lt;Box key={t} style={{ flexDirection: 'row', alignItems: 'center', gap: 12 }}&gt;&#10;          &lt;Box style={{ width: 8, height: 8, borderRadius: 4, background: '#3D7BD9' }} /&gt;&#10;          &lt;Text style={{ fontSize: 19, color: '#C5D4EA' }}&gt;{t}&lt;/Text&gt;&#10;        &lt;/Box&gt;&#10;      ))}&#10;    &lt;/Box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Questions? Ask now — or email any time.&lt;/Text&gt;&#10;      &lt;Text style={{ fontSize: 17, color: '#C5D4EA' }}&gt;Ren Zheng · 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762000" y="1666875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01 · WRAP-UP</a:t>
            </a:r>
            <a:endParaRPr/>
          </a:p>
        </p:txBody>
      </p:sp>
      <p:sp>
        <p:nvSpPr>
          <p:cNvPr id="605" name="" descr="{&quot;isTemplate&quot;:true,&quot;type&quot;:&quot;text&quot;}"/>
          <p:cNvSpPr txBox="1"/>
          <p:nvPr/>
        </p:nvSpPr>
        <p:spPr>
          <a:xfrm rot="0" flipH="0" flipV="0">
            <a:off x="762000" y="2047875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You can now see</a:t>
            </a:r>
            <a:endParaRPr/>
          </a:p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where we are going.</a:t>
            </a:r>
            <a:endParaRPr/>
          </a:p>
        </p:txBody>
      </p:sp>
      <p:sp>
        <p:nvSpPr>
          <p:cNvPr id="606" name=""/>
          <p:cNvSpPr/>
          <p:nvPr/>
        </p:nvSpPr>
        <p:spPr>
          <a:xfrm rot="0" flipH="0" flipV="0">
            <a:off x="762000" y="368617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07" name=""/>
          <p:cNvSpPr/>
          <p:nvPr/>
        </p:nvSpPr>
        <p:spPr>
          <a:xfrm rot="0" flipH="0" flipV="0">
            <a:off x="762000" y="4057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952500" y="3981450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 information system = people + process + data + technology.</a:t>
            </a:r>
            <a:endParaRPr/>
          </a:p>
        </p:txBody>
      </p:sp>
      <p:sp>
        <p:nvSpPr>
          <p:cNvPr id="609" name=""/>
          <p:cNvSpPr/>
          <p:nvPr/>
        </p:nvSpPr>
        <p:spPr>
          <a:xfrm rot="0" flipH="0" flipV="0">
            <a:off x="762000" y="4391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952500" y="4314825"/>
            <a:ext cx="4791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The analyst is the bridge between business and technology.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762000" y="4724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952500" y="4648200"/>
            <a:ext cx="5934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Analysis answers WHAT, design answers HOW — and WHAT comes first.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762000" y="5057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952500" y="4981575"/>
            <a:ext cx="5343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Next week: object-oriented foundations &amp; the CampusBites kickoff.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17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00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Questions? Ask now — or email any time.</a:t>
            </a:r>
            <a:endParaRPr/>
          </a:p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9810750" y="6219825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Fall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2026-09-02T09:54:22Z</dcterms:created>
  <dcterms:modified xsi:type="dcterms:W3CDTF">2026-09-02T09:54:22Z</dcterms:modified>
</cp:coreProperties>
</file>
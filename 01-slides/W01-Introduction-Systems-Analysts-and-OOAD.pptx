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3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38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23.xml" ContentType="application/vnd.openxmlformats-officedocument.presentationml.slide+xml"/>
  <Override PartName="/ppt/slides/slide30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27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36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6" Type="http://schemas.openxmlformats.org/officeDocument/2006/relationships/slide" Target="slides/slide6.xml" /><Relationship Id="rId39" Type="http://schemas.openxmlformats.org/officeDocument/2006/relationships/notesMaster" Target="notesMasters/notesMaster1.xml" /><Relationship Id="rId32" Type="http://schemas.openxmlformats.org/officeDocument/2006/relationships/slide" Target="slides/slide32.xml" /><Relationship Id="rId5" Type="http://schemas.openxmlformats.org/officeDocument/2006/relationships/slide" Target="slides/slide5.xml" /><Relationship Id="rId31" Type="http://schemas.openxmlformats.org/officeDocument/2006/relationships/slide" Target="slides/slide31.xml" /><Relationship Id="rId36" Type="http://schemas.openxmlformats.org/officeDocument/2006/relationships/slide" Target="slides/slide36.xml" /><Relationship Id="rId30" Type="http://schemas.openxmlformats.org/officeDocument/2006/relationships/slide" Target="slides/slide30.xml" /><Relationship Id="rId34" Type="http://schemas.openxmlformats.org/officeDocument/2006/relationships/slide" Target="slides/slide34.xml" /><Relationship Id="rId27" Type="http://schemas.openxmlformats.org/officeDocument/2006/relationships/slide" Target="slides/slide27.xml" /><Relationship Id="rId40" Type="http://schemas.openxmlformats.org/officeDocument/2006/relationships/presProps" Target="presProps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24" Type="http://schemas.openxmlformats.org/officeDocument/2006/relationships/slide" Target="slides/slide24.xml" /><Relationship Id="rId17" Type="http://schemas.openxmlformats.org/officeDocument/2006/relationships/slide" Target="slides/slide17.xml" /><Relationship Id="rId23" Type="http://schemas.openxmlformats.org/officeDocument/2006/relationships/slide" Target="slides/slide23.xml" /><Relationship Id="rId3" Type="http://schemas.openxmlformats.org/officeDocument/2006/relationships/slide" Target="slides/slide3.xml" /><Relationship Id="rId21" Type="http://schemas.openxmlformats.org/officeDocument/2006/relationships/slide" Target="slides/slide21.xml" /><Relationship Id="rId25" Type="http://schemas.openxmlformats.org/officeDocument/2006/relationships/slide" Target="slides/slide25.xml" /><Relationship Id="rId15" Type="http://schemas.openxmlformats.org/officeDocument/2006/relationships/slide" Target="slides/slide15.xml" /><Relationship Id="rId22" Type="http://schemas.openxmlformats.org/officeDocument/2006/relationships/slide" Target="slides/slide22.xml" /><Relationship Id="rId4" Type="http://schemas.openxmlformats.org/officeDocument/2006/relationships/slide" Target="slides/slide4.xml" /><Relationship Id="rId38" Type="http://schemas.openxmlformats.org/officeDocument/2006/relationships/slide" Target="slides/slide38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28" Type="http://schemas.openxmlformats.org/officeDocument/2006/relationships/slide" Target="slides/slide28.xml" /><Relationship Id="rId18" Type="http://schemas.openxmlformats.org/officeDocument/2006/relationships/slide" Target="slides/slide18.xml" /><Relationship Id="rId42" Type="http://schemas.openxmlformats.org/officeDocument/2006/relationships/viewProps" Target="viewProps.xml" /><Relationship Id="rId29" Type="http://schemas.openxmlformats.org/officeDocument/2006/relationships/slide" Target="slides/slide29.xml" /><Relationship Id="rId14" Type="http://schemas.openxmlformats.org/officeDocument/2006/relationships/slide" Target="slides/slide14.xml" /><Relationship Id="rId20" Type="http://schemas.openxmlformats.org/officeDocument/2006/relationships/slide" Target="slides/slide20.xml" /><Relationship Id="rId0" Type="http://schemas.openxmlformats.org/officeDocument/2006/relationships/slideMaster" Target="slideMasters/slideMaster1.xml" /><Relationship Id="rId37" Type="http://schemas.openxmlformats.org/officeDocument/2006/relationships/slide" Target="slides/slide37.xml" /><Relationship Id="rId33" Type="http://schemas.openxmlformats.org/officeDocument/2006/relationships/slide" Target="slides/slide33.xml" /><Relationship Id="rId10" Type="http://schemas.openxmlformats.org/officeDocument/2006/relationships/slide" Target="slides/slide10.xml" /><Relationship Id="rId26" Type="http://schemas.openxmlformats.org/officeDocument/2006/relationships/slide" Target="slides/slide26.xml" /><Relationship Id="rId7" Type="http://schemas.openxmlformats.org/officeDocument/2006/relationships/slide" Target="slides/slide7.xml" /><Relationship Id="rId16" Type="http://schemas.openxmlformats.org/officeDocument/2006/relationships/slide" Target="slides/slide16.xml" /><Relationship Id="rId41" Type="http://schemas.openxmlformats.org/officeDocument/2006/relationships/tableStyles" Target="tableStyles.xml" /><Relationship Id="rId35" Type="http://schemas.openxmlformats.org/officeDocument/2006/relationships/slide" Target="slides/slide35.xml" /><Relationship Id="rId1" Type="http://schemas.openxmlformats.org/officeDocument/2006/relationships/slide" Target="slides/slide1.xml" /><Relationship Id="rId11" Type="http://schemas.openxmlformats.org/officeDocument/2006/relationships/slide" Target="slides/slide1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3" Type="http://schemas.openxmlformats.org/officeDocument/2006/relationships/image" Target="media/image11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26.svg" /><Relationship Id="rId2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4" Type="http://schemas.openxmlformats.org/officeDocument/2006/relationships/image" Target="media/image13.svg" /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6" Type="http://schemas.openxmlformats.org/officeDocument/2006/relationships/image" Target="media/image31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4" Type="http://schemas.openxmlformats.org/officeDocument/2006/relationships/image" Target="media/image35.svg" /><Relationship Id="rId3" Type="http://schemas.openxmlformats.org/officeDocument/2006/relationships/image" Target="media/image34.svg" /><Relationship Id="rId2" Type="http://schemas.openxmlformats.org/officeDocument/2006/relationships/image" Target="media/image2.svg" /><Relationship Id="rId5" Type="http://schemas.openxmlformats.org/officeDocument/2006/relationships/image" Target="media/image9.svg" /><Relationship Id="rId1" Type="http://schemas.openxmlformats.org/officeDocument/2006/relationships/image" Target="media/image33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padding: '8px 40px 0 40px' }}&gt;&#10;    &lt;Box style={{ padding: '10px 18px', background: '#E8EFF8', borderRadius: 8 }}&gt;&#10;      &lt;Text style={{ fontSize: 16, color: '#0E3F8C', fontWeight: 'bold' }}&gt;Course grade = Formative assessment (40 points × 100%) + Summative assessment (100 points × 60%)&lt;/Text&gt;&#10;    &lt;/Box&gt;&#10;  &lt;/Box&gt;&#10;  &lt;Box style={{ flex: 1, padding: '18px 40px 0 40px', flexDirection: 'row', gap: 28, alignItems: 'stretch' }}&gt;&#10;    {[&#10;      { n: '40', pct: ' pts', t: 'Formative', d: 'Attendance 0 · Class participation 10 · Level-3 project 20 · Assignments 10. Built all semester long, counted in full.', hl: true },&#10;      { n: '60', pct: ' pts', t: 'Summative', d: 'Final defense in W16, scored out of 100 × 60%: walkthrough 30 · individual Q&amp;A 55 · English 10 · reflection 5.', hl: false },&#10;      { n: '+5', pct: '', t: 'Bonus', d: 'Extra patterns, exceptional refactoring, outstanding documentation. Course total capped at 100.', hl: false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64, fontWeight: 'bold', color: i === 0 ? '#FFC107' : '#1E4FA8', lineHeight: 1 }}&gt;{c.n}&lt;/Text&gt;&#10;          &lt;Text style={{ fontSize: 26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Formative 40 pts counted in full + defense score × 60% — no written exam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381000" y="1381125"/>
            <a:ext cx="1143000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1108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Course grade = Formative assessment (40 points × 100%) + Summative assessment (100 points × 60%)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381000" y="1933575"/>
            <a:ext cx="3629025" cy="45434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590550" y="21621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276350" y="2162175"/>
            <a:ext cx="4476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C107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590550" y="300990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Formative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590550" y="336232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Attendance 0 · Class participation 10 · Level-3 project 20 · Assignments 10. Built all semester long, counted in full.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4276725" y="1933575"/>
            <a:ext cx="3638550" cy="45434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4486275" y="21621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Microsoft YaHei"/>
                <a:ea typeface="Microsoft YaHei"/>
              </a:rPr>
              <a:t>60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172075" y="2162175"/>
            <a:ext cx="4476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1E4FA8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4486275" y="300990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Summative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4486275" y="336232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Final defense in W16, scored out of 100 × 60%: walkthrough 30 · individual Q&amp;A 55 · English 10 · reflection 5.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8181975" y="1933575"/>
            <a:ext cx="3629025" cy="45434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8391525" y="2162175"/>
            <a:ext cx="6953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Microsoft YaHei"/>
                <a:ea typeface="Microsoft YaHei"/>
              </a:rPr>
              <a:t>+5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086850" y="2162175"/>
            <a:ext cx="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8391525" y="300990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8391525" y="336232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Extra patterns, exceptional refactoring, outstanding documentation. Course total capped at 100.</a:t>
            </a:r>
            <a:endParaRPr/>
          </a:p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Formative 40 pts counted in full + defense score × 60% — no written exam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70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40&lt;/Text&gt;&#10;        &lt;Text style={{ fontSize: 20, fontWeight: 'bold', color: '#0E3F8C' }}&gt; pts&lt;/Text&gt;&#10;        &lt;Text style={{ fontSize: 18, fontWeight: 'bold', color: '#1A2230', marginLeft: 10 }}&gt;Formative × 100%&lt;/Text&gt;&#10;      &lt;/Box&gt;&#10;      {[&#10;        ['F1', 'Attendance', '0'],&#10;        ['F2', 'Class participation', '10'],&#10;        ['F3', 'Level-3 project (CampusBites)', '20'],&#10;        ['F4', 'Assignments (5 × 2)', '10'],&#10;      ].map(([id, t, w]) =&gt; (&#10;        &lt;Box key={id} style={{ flexDirection: 'row', alignItems: 'center', gap: 10, padding: '10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F3 = milestones &lt;span style={{ fontWeight: 'bold', color: '#1A2230' }}&gt;14&lt;/span&gt; (M0 1 · M1 3 · M2 4 · M3 3 · M4 3) + &lt;span style={{ fontWeight: 'bold', color: '#1A2230' }}&gt;your own&lt;/span&gt; contribution &amp;amp; Git 6.&lt;/Text&gt;&#10;      &lt;/Box&gt;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100&lt;/Text&gt;&#10;        &lt;Text style={{ fontSize: 20, fontWeight: 'bold', color: '#FFC107' }}&gt; × 60%&lt;/Text&gt;&#10;        &lt;Text style={{ fontSize: 18, fontWeight: 'bold', color: '#FFFFFF', marginLeft: 10 }}&gt;Summative · W16 defense&lt;/Text&gt;&#10;      &lt;/Box&gt;&#10;      {[&#10;        ['S1', 'Portfolio walkthrough (team)', '30'],&#10;        ['S2', 'Individual Q&amp;A', '55'],&#10;        ['S3', 'English communication', '10'],&#10;        ['S4', 'Reflection &amp; contribution report', '5'],&#10;      ].map(([id, t, w]) =&gt; (&#10;        &lt;Box key={id} style={{ flexDirection: 'row', alignItems: 'center', gap: 10, padding: '10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+5&lt;/Text&gt;&#10;        &lt;Text style={{ fontSize: 20, fontWeight: 'bold', color: '#1E4FA8' }}&gt; max&lt;/Text&gt;&#10;        &lt;Text style={{ fontSize: 18, fontWeight: 'bold', color: '#1A2230', marginLeft: 10 }}&gt;Bonus · cap 100&lt;/Text&gt;&#10;      &lt;/Box&gt;&#10;      {[&#10;        ['C1', 'Extra patterns (correct)', '+2'],&#10;        ['C2', 'Refactoring narrative', '+2'],&#10;        ['C3', 'Outstanding docs', '+1'],&#10;      ].map(([id, t, w]) =&gt; (&#10;        &lt;Box key={id} style={{ flexDirection: 'row', alignItems: 'center', gap: 10, padding: '10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feed &lt;span style={{ fontWeight: 'bold', color: '#1A2230' }}&gt;F2 participation&lt;/span&gt; (4 pts) — checked and discussed in class every week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342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1419225" y="1600200"/>
            <a:ext cx="14573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Formative × 100%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552450" y="217170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52450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647700" y="230505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F1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971550" y="229552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Attendance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00475" y="22955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552450" y="258127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647700" y="271462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F2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971550" y="2705100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Class participation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3724275" y="270510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552450" y="299085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647700" y="312420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F3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971550" y="3114675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Level-3 project (CampusBites)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3724275" y="311467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552450" y="340042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34956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647700" y="353377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F4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971550" y="3524250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Assignments (5 × 2)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3724275" y="352425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552450" y="39243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F3 = milestones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14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(M0 1 · M1 3 · M2 4 · M3 3 · M4 3) +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your own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contribution &amp; Git 6.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6191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100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5048250" y="1600200"/>
            <a:ext cx="5715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 × 60%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5715000" y="1600200"/>
            <a:ext cx="20478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Summative · W16 defense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4429125" y="2171700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39" name=""/>
          <p:cNvSpPr/>
          <p:nvPr/>
        </p:nvSpPr>
        <p:spPr>
          <a:xfrm rot="0" flipH="0" flipV="0">
            <a:off x="4429125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4524375" y="230505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S1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4848225" y="229552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Portfolio walkthrough (team)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7610475" y="22955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743" name=""/>
          <p:cNvSpPr/>
          <p:nvPr/>
        </p:nvSpPr>
        <p:spPr>
          <a:xfrm rot="0" flipH="0" flipV="0">
            <a:off x="4429125" y="2581275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4429125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4524375" y="271462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S2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848225" y="2705100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Individual Q&amp;A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7610475" y="270510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55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4429125" y="2990850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4429125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4524375" y="312420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S3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4848225" y="311467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English communication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7610475" y="311467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53" name=""/>
          <p:cNvSpPr/>
          <p:nvPr/>
        </p:nvSpPr>
        <p:spPr>
          <a:xfrm rot="0" flipH="0" flipV="0">
            <a:off x="4429125" y="3400425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4" name=""/>
          <p:cNvSpPr/>
          <p:nvPr/>
        </p:nvSpPr>
        <p:spPr>
          <a:xfrm rot="0" flipH="0" flipV="0">
            <a:off x="4429125" y="34956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524375" y="353377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S4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4848225" y="3524250"/>
            <a:ext cx="2743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Reflection &amp; contribution report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7686675" y="35242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4429125" y="392430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562475" y="403860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38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+5</a:t>
            </a:r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8753475" y="1600200"/>
            <a:ext cx="438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max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9286875" y="1600200"/>
            <a:ext cx="13239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 · cap 100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8315325" y="217170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5" name=""/>
          <p:cNvSpPr/>
          <p:nvPr/>
        </p:nvSpPr>
        <p:spPr>
          <a:xfrm rot="0" flipH="0" flipV="0">
            <a:off x="8315325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401050" y="23050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8734425" y="229552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11496675" y="2295525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</a:t>
            </a:r>
            <a:endParaRPr/>
          </a:p>
        </p:txBody>
      </p:sp>
      <p:sp>
        <p:nvSpPr>
          <p:cNvPr id="769" name=""/>
          <p:cNvSpPr/>
          <p:nvPr/>
        </p:nvSpPr>
        <p:spPr>
          <a:xfrm rot="0" flipH="0" flipV="0">
            <a:off x="8315325" y="258127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8315325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8401050" y="27146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734425" y="2705100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11496675" y="2705100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8315325" y="299085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8315325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8401050" y="31242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734425" y="311467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11496675" y="3114675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+1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8315325" y="3514725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8448675" y="3629025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feed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F2 participation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(4 pts) — checked and discussed in class every week.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One team of four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7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794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7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90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One team of four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01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3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810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81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821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825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829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theme='one-dark-pro' code={`if type = CARD    -&gt; chargeCard(order)&#10;if type = WECHAT  -&gt; chargeWechat(order)&#10;if type = ALIPAY  -&gt; chargeAlipay(order)&#10;otherwise         -&gt; refuse: no such type`} language='text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866775"/>
          </a:xfrm>
          <a:prstGeom prst="roundRect">
            <a:avLst>
              <a:gd name="adj" fmla="val 8791"/>
            </a:avLst>
          </a:prstGeom>
          <a:solidFill>
            <a:srgbClr val="0E1116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600075"/>
          </a:xfrm>
          <a:prstGeom prst="rect"/>
        </p:spPr>
        <p:txBody>
          <a:bodyPr wrap="square" lIns="0" tIns="0" rIns="0" bIns="0">
            <a:normAutofit/>
          </a:bodyPr>
          <a:p>
            <a:pPr/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if type = CARD    -&gt; chargeCard(order)
if type = WECHAT  -&gt; chargeWechat(order)
if type = ALIPAY  -&gt; chargeAlipay(order)
otherwise         -&gt; refuse: no such type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«interface»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padding: '14px 40px 0 40px' }}&gt;&#10;    &lt;Box style={{ flexDirection: 'row', alignItems: 'center', gap: 12, padding: '12px 18px', background: '#E8EFF8', borderRadius: 10, borderLeft: '4px solid #1E4FA8' }}&gt;&#10;      &lt;FAIcon name=&quot;wrench&quot; style={{ fill: '#1E4FA8', width: 20, height: 20 }} /&gt;&#10;      &lt;Text style={{ fontSize: 16, fontWeight: 'bold', color: '#0E3F8C' }}&gt;First: set up your toolchain&lt;/Text&gt;&#10;      &lt;Text style={{ fontSize: 15, color: '#4A5568' }}&gt;draw.io · PlantUML · Git &amp;amp; GitHub · VS Code · Markdown&lt;/Text&gt;&#10;      &lt;Text style={{ fontSize: 14, color: '#1E4FA8', fontWeight: 'bold' }}&gt;Lab Guide §1&lt;/Text&gt;&#10;    &lt;/Box&gt;&#10;  &lt;/Box&gt;&#10;  &lt;Box style={{ flex: 1, padding: '16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project documents and the Lab Guide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19100" y="1438275"/>
            <a:ext cx="114300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419100" y="1438275"/>
            <a:ext cx="11430000" cy="419100"/>
          </a:xfrm>
          <a:custGeom>
            <a:pathLst>
              <a:path w="1200" h="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38"/>
                </a:lnTo>
                <a:cubicBezTo>
                  <a:pt x="4" y="41"/>
                  <a:pt x="6" y="43"/>
                  <a:pt x="9" y="44"/>
                </a:cubicBezTo>
                <a:cubicBezTo>
                  <a:pt x="4" y="43"/>
                  <a:pt x="0" y="39"/>
                  <a:pt x="0" y="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0550" y="1552575"/>
            <a:ext cx="190500" cy="190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95350" y="1552575"/>
            <a:ext cx="1971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First: set up your toolchain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2981325" y="1562100"/>
            <a:ext cx="3629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draw.io · PlantUML · Git &amp; GitHub · VS Code · Markdown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724650" y="1571625"/>
            <a:ext cx="838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Lab Guide §1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81000" y="2009775"/>
            <a:ext cx="2857500" cy="44672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09600" y="3438525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9600" y="3914775"/>
            <a:ext cx="24003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project documents and the Lab Guide define everything that follows. Read them before the next class.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505200" y="25908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76650" y="27527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2857500"/>
            <a:ext cx="209550" cy="20955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27241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4229100" y="29527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505200" y="34480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76650" y="3609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3714750"/>
            <a:ext cx="209550" cy="209550"/>
          </a:xfrm>
          <a:prstGeom prst="rect">
            <a:avLst/>
          </a:prstGeom>
          <a:ln/>
        </p:spPr>
      </p:pic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35814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229100" y="38100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05200" y="43053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676650" y="44672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4572000"/>
            <a:ext cx="209550" cy="209550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44386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4229100" y="46672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505200" y="51625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3676650" y="53244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781425" y="5429250"/>
            <a:ext cx="209550" cy="20955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4229100" y="52959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229100" y="55245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Confirm the team of four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Confirm the team of four and agree on roles.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25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2026-09-09T16:08:49Z</dcterms:created>
  <dcterms:modified xsi:type="dcterms:W3CDTF">2026-09-09T16:08:49Z</dcterms:modified>
</cp:coreProperties>
</file>
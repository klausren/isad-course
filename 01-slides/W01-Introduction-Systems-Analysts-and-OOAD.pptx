
<file path=[Content_Types].xml><?xml version="1.0" encoding="utf-8"?>
<Types xmlns="http://schemas.openxmlformats.org/package/2006/content-types">
  <Default Extension="svg" ContentType="image/svg+xml"/>
  <Default Extension="xml" ContentType="application/xml"/>
  <Default Extension="rels" ContentType="application/vnd.openxmlformats-package.relationship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ppt/theme/theme2.xml" ContentType="application/vnd.openxmlformats-officedocument.theme+xml"/>
  <Override PartName="/ppt/slides/slide23.xml" ContentType="application/vnd.openxmlformats-officedocument.presentationml.slide+xml"/>
  <Override PartName="/ppt/slides/slide11.xml" ContentType="application/vnd.openxmlformats-officedocument.presentationml.slide+xml"/>
  <Override PartName="/ppt/slides/slide38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13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viewProps.xml" ContentType="application/vnd.openxmlformats-officedocument.presentationml.viewProps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slides/slide25.xml" ContentType="application/vnd.openxmlformats-officedocument.presentationml.slide+xml"/>
  <Override PartName="/ppt/slides/slide36.xml" ContentType="application/vnd.openxmlformats-officedocument.presentationml.slide+xml"/>
  <Override PartName="/ppt/slides/slide16.xml" ContentType="application/vnd.openxmlformats-officedocument.presentationml.slide+xml"/>
  <Override PartName="/ppt/slides/slide30.xml" ContentType="application/vnd.openxmlformats-officedocument.presentationml.slide+xml"/>
  <Override PartName="/ppt/slides/slide14.xml" ContentType="application/vnd.openxmlformats-officedocument.presentationml.slide+xml"/>
  <Override PartName="/ppt/slides/slide35.xml" ContentType="application/vnd.openxmlformats-officedocument.presentationml.slide+xml"/>
  <Override PartName="/docProps/app.xml" ContentType="application/vnd.openxmlformats-officedocument.extended-properties+xml"/>
  <Override PartName="/ppt/slides/slide31.xml" ContentType="application/vnd.openxmlformats-officedocument.presentationml.slide+xml"/>
  <Override PartName="/ppt/slides/slide29.xml" ContentType="application/vnd.openxmlformats-officedocument.presentationml.slide+xml"/>
  <Override PartName="/ppt/slides/slide6.xml" ContentType="application/vnd.openxmlformats-officedocument.presentationml.slide+xml"/>
  <Override PartName="/ppt/slides/slide33.xml" ContentType="application/vnd.openxmlformats-officedocument.presentationml.slide+xml"/>
  <Override PartName="/ppt/slides/slide37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4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9.xml" ContentType="application/vnd.openxmlformats-officedocument.presentationml.slide+xml"/>
  <Override PartName="/ppt/slides/slide21.xml" ContentType="application/vnd.openxmlformats-officedocument.presentationml.slide+xml"/>
  <Override PartName="/ppt/slides/slide27.xml" ContentType="application/vnd.openxmlformats-officedocument.presentationml.slide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Layouts/slideLayout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>
  <p:sldMasterIdLst>
    <p:sldMasterId id="2147483648" r:id="rId0"/>
  </p:sldMasterIdLst>
  <p:notesMasterIdLst>
    <p:notesMasterId r:id="rId39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9" Type="http://schemas.openxmlformats.org/officeDocument/2006/relationships/slide" Target="slides/slide9.xml" /><Relationship Id="rId7" Type="http://schemas.openxmlformats.org/officeDocument/2006/relationships/slide" Target="slides/slide7.xml" /><Relationship Id="rId5" Type="http://schemas.openxmlformats.org/officeDocument/2006/relationships/slide" Target="slides/slide5.xml" /><Relationship Id="rId42" Type="http://schemas.openxmlformats.org/officeDocument/2006/relationships/viewProps" Target="viewProps.xml" /><Relationship Id="rId8" Type="http://schemas.openxmlformats.org/officeDocument/2006/relationships/slide" Target="slides/slide8.xml" /><Relationship Id="rId40" Type="http://schemas.openxmlformats.org/officeDocument/2006/relationships/presProps" Target="presProps.xml" /><Relationship Id="rId38" Type="http://schemas.openxmlformats.org/officeDocument/2006/relationships/slide" Target="slides/slide38.xml" /><Relationship Id="rId34" Type="http://schemas.openxmlformats.org/officeDocument/2006/relationships/slide" Target="slides/slide34.xml" /><Relationship Id="rId32" Type="http://schemas.openxmlformats.org/officeDocument/2006/relationships/slide" Target="slides/slide32.xml" /><Relationship Id="rId6" Type="http://schemas.openxmlformats.org/officeDocument/2006/relationships/slide" Target="slides/slide6.xml" /><Relationship Id="rId37" Type="http://schemas.openxmlformats.org/officeDocument/2006/relationships/slide" Target="slides/slide37.xml" /><Relationship Id="rId31" Type="http://schemas.openxmlformats.org/officeDocument/2006/relationships/slide" Target="slides/slide31.xml" /><Relationship Id="rId35" Type="http://schemas.openxmlformats.org/officeDocument/2006/relationships/slide" Target="slides/slide35.xml" /><Relationship Id="rId30" Type="http://schemas.openxmlformats.org/officeDocument/2006/relationships/slide" Target="slides/slide30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10" Type="http://schemas.openxmlformats.org/officeDocument/2006/relationships/slide" Target="slides/slide10.xml" /><Relationship Id="rId26" Type="http://schemas.openxmlformats.org/officeDocument/2006/relationships/slide" Target="slides/slide26.xml" /><Relationship Id="rId25" Type="http://schemas.openxmlformats.org/officeDocument/2006/relationships/slide" Target="slides/slide25.xml" /><Relationship Id="rId36" Type="http://schemas.openxmlformats.org/officeDocument/2006/relationships/slide" Target="slides/slide36.xml" /><Relationship Id="rId22" Type="http://schemas.openxmlformats.org/officeDocument/2006/relationships/slide" Target="slides/slide22.xml" /><Relationship Id="rId24" Type="http://schemas.openxmlformats.org/officeDocument/2006/relationships/slide" Target="slides/slide24.xml" /><Relationship Id="rId21" Type="http://schemas.openxmlformats.org/officeDocument/2006/relationships/slide" Target="slides/slide21.xml" /><Relationship Id="rId39" Type="http://schemas.openxmlformats.org/officeDocument/2006/relationships/notesMaster" Target="notesMasters/notesMaster1.xml" /><Relationship Id="rId27" Type="http://schemas.openxmlformats.org/officeDocument/2006/relationships/slide" Target="slides/slide27.xml" /><Relationship Id="rId1" Type="http://schemas.openxmlformats.org/officeDocument/2006/relationships/slide" Target="slides/slide1.xml" /><Relationship Id="rId20" Type="http://schemas.openxmlformats.org/officeDocument/2006/relationships/slide" Target="slides/slide20.xml" /><Relationship Id="rId28" Type="http://schemas.openxmlformats.org/officeDocument/2006/relationships/slide" Target="slides/slide28.xml" /><Relationship Id="rId41" Type="http://schemas.openxmlformats.org/officeDocument/2006/relationships/tableStyles" Target="tableStyles.xml" /><Relationship Id="rId33" Type="http://schemas.openxmlformats.org/officeDocument/2006/relationships/slide" Target="slides/slide33.xml" /><Relationship Id="rId0" Type="http://schemas.openxmlformats.org/officeDocument/2006/relationships/slideMaster" Target="slideMasters/slideMaster1.xml" /><Relationship Id="rId2" Type="http://schemas.openxmlformats.org/officeDocument/2006/relationships/slide" Target="slides/slide2.xml" /><Relationship Id="rId13" Type="http://schemas.openxmlformats.org/officeDocument/2006/relationships/slide" Target="slides/slide13.xml" /><Relationship Id="rId19" Type="http://schemas.openxmlformats.org/officeDocument/2006/relationships/slide" Target="slides/slide19.xml" /><Relationship Id="rId12" Type="http://schemas.openxmlformats.org/officeDocument/2006/relationships/slide" Target="slides/slide12.xml" /><Relationship Id="rId11" Type="http://schemas.openxmlformats.org/officeDocument/2006/relationships/slide" Target="slides/slide11.xml" /><Relationship Id="rId23" Type="http://schemas.openxmlformats.org/officeDocument/2006/relationships/slide" Target="slides/slide23.xml" /><Relationship Id="rId17" Type="http://schemas.openxmlformats.org/officeDocument/2006/relationships/slide" Target="slides/slide17.xml" /><Relationship Id="rId16" Type="http://schemas.openxmlformats.org/officeDocument/2006/relationships/slide" Target="slides/slide16.xml" /><Relationship Id="rId15" Type="http://schemas.openxmlformats.org/officeDocument/2006/relationships/slide" Target="slides/slide15.xml" /><Relationship Id="rId29" Type="http://schemas.openxmlformats.org/officeDocument/2006/relationships/slide" Target="slides/slide29.xml" /><Relationship Id="rId14" Type="http://schemas.openxmlformats.org/officeDocument/2006/relationships/slide" Target="slides/slide14.xml" /><Relationship Id="rId18" Type="http://schemas.openxmlformats.org/officeDocument/2006/relationships/slide" Target="slides/slide18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image" Target="media/image37.svg" /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2" Type="http://schemas.openxmlformats.org/officeDocument/2006/relationships/image" Target="media/image11.svg" /><Relationship Id="rId1" Type="http://schemas.openxmlformats.org/officeDocument/2006/relationships/image" Target="media/image38.svg" /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2" Type="http://schemas.openxmlformats.org/officeDocument/2006/relationships/image" Target="media/image32.svg" /><Relationship Id="rId1" Type="http://schemas.openxmlformats.org/officeDocument/2006/relationships/image" Target="media/image39.svg" /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image" Target="media/image1.svg" /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3" Type="http://schemas.openxmlformats.org/officeDocument/2006/relationships/image" Target="media/image4.svg" /><Relationship Id="rId2" Type="http://schemas.openxmlformats.org/officeDocument/2006/relationships/image" Target="media/image3.svg" /><Relationship Id="rId1" Type="http://schemas.openxmlformats.org/officeDocument/2006/relationships/image" Target="media/image2.svg" /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2" Type="http://schemas.openxmlformats.org/officeDocument/2006/relationships/image" Target="media/image6.svg" /><Relationship Id="rId1" Type="http://schemas.openxmlformats.org/officeDocument/2006/relationships/image" Target="media/image5.svg" /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image" Target="media/image7.svg" /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4" Type="http://schemas.openxmlformats.org/officeDocument/2006/relationships/image" Target="media/image11.svg" /><Relationship Id="rId2" Type="http://schemas.openxmlformats.org/officeDocument/2006/relationships/image" Target="media/image9.svg" /><Relationship Id="rId1" Type="http://schemas.openxmlformats.org/officeDocument/2006/relationships/image" Target="media/image8.svg" /><Relationship Id="rId3" Type="http://schemas.openxmlformats.org/officeDocument/2006/relationships/image" Target="media/image10.svg" /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image" Target="media/image12.svg" /><Relationship Id="rId3" Type="http://schemas.openxmlformats.org/officeDocument/2006/relationships/image" Target="media/image11.svg" /><Relationship Id="rId2" Type="http://schemas.openxmlformats.org/officeDocument/2006/relationships/image" Target="media/image13.svg" /><Relationship Id="rId0" Type="http://schemas.openxmlformats.org/officeDocument/2006/relationships/slideLayout" Target="../slideLayouts/slideLayout1.xml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image" Target="media/image14.svg" /><Relationship Id="rId0" Type="http://schemas.openxmlformats.org/officeDocument/2006/relationships/slideLayout" Target="../slideLayouts/slideLayout1.xml" /></Relationships>
</file>

<file path=ppt/slides/_rels/slide2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image" Target="media/image15.svg" /><Relationship Id="rId0" Type="http://schemas.openxmlformats.org/officeDocument/2006/relationships/slideLayout" Target="../slideLayouts/slideLayout1.xml" /></Relationships>
</file>

<file path=ppt/slides/_rels/slide2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image" Target="media/image16.svg" /><Relationship Id="rId0" Type="http://schemas.openxmlformats.org/officeDocument/2006/relationships/slideLayout" Target="../slideLayouts/slideLayout1.xml" /></Relationships>
</file>

<file path=ppt/slides/_rels/slide2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image" Target="media/image17.svg" /><Relationship Id="rId0" Type="http://schemas.openxmlformats.org/officeDocument/2006/relationships/slideLayout" Target="../slideLayouts/slideLayout1.xml" /></Relationships>
</file>

<file path=ppt/slides/_rels/slide27.xml.rels><?xml version="1.0" encoding="UTF-8" standalone="yes"?><Relationships xmlns="http://schemas.openxmlformats.org/package/2006/relationships"><Relationship Id="rId2" Type="http://schemas.openxmlformats.org/officeDocument/2006/relationships/image" Target="media/image19.svg" /><Relationship Id="rId1" Type="http://schemas.openxmlformats.org/officeDocument/2006/relationships/image" Target="media/image18.svg" /><Relationship Id="rId0" Type="http://schemas.openxmlformats.org/officeDocument/2006/relationships/slideLayout" Target="../slideLayouts/slideLayout1.xml" /></Relationships>
</file>

<file path=ppt/slides/_rels/slide28.xml.rels><?xml version="1.0" encoding="UTF-8" standalone="yes"?><Relationships xmlns="http://schemas.openxmlformats.org/package/2006/relationships"><Relationship Id="rId2" Type="http://schemas.openxmlformats.org/officeDocument/2006/relationships/image" Target="media/image21.svg" /><Relationship Id="rId1" Type="http://schemas.openxmlformats.org/officeDocument/2006/relationships/image" Target="media/image20.svg" /><Relationship Id="rId0" Type="http://schemas.openxmlformats.org/officeDocument/2006/relationships/slideLayout" Target="../slideLayouts/slideLayout1.xml" /></Relationships>
</file>

<file path=ppt/slides/_rels/slide2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0.xml.rels><?xml version="1.0" encoding="UTF-8" standalone="yes"?><Relationships xmlns="http://schemas.openxmlformats.org/package/2006/relationships"><Relationship Id="rId3" Type="http://schemas.openxmlformats.org/officeDocument/2006/relationships/image" Target="media/image24.svg" /><Relationship Id="rId2" Type="http://schemas.openxmlformats.org/officeDocument/2006/relationships/image" Target="media/image23.svg" /><Relationship Id="rId1" Type="http://schemas.openxmlformats.org/officeDocument/2006/relationships/image" Target="media/image22.svg" /><Relationship Id="rId0" Type="http://schemas.openxmlformats.org/officeDocument/2006/relationships/slideLayout" Target="../slideLayouts/slideLayout1.xml" /></Relationships>
</file>

<file path=ppt/slides/_rels/slide31.xml.rels><?xml version="1.0" encoding="UTF-8" standalone="yes"?><Relationships xmlns="http://schemas.openxmlformats.org/package/2006/relationships"><Relationship Id="rId2" Type="http://schemas.openxmlformats.org/officeDocument/2006/relationships/image" Target="media/image8.svg" /><Relationship Id="rId1" Type="http://schemas.openxmlformats.org/officeDocument/2006/relationships/image" Target="media/image25.svg" /><Relationship Id="rId0" Type="http://schemas.openxmlformats.org/officeDocument/2006/relationships/slideLayout" Target="../slideLayouts/slideLayout1.xml" /></Relationships>
</file>

<file path=ppt/slides/_rels/slide32.xml.rels><?xml version="1.0" encoding="UTF-8" standalone="yes"?><Relationships xmlns="http://schemas.openxmlformats.org/package/2006/relationships"><Relationship Id="rId2" Type="http://schemas.openxmlformats.org/officeDocument/2006/relationships/image" Target="media/image27.svg" /><Relationship Id="rId1" Type="http://schemas.openxmlformats.org/officeDocument/2006/relationships/image" Target="media/image26.svg" /><Relationship Id="rId0" Type="http://schemas.openxmlformats.org/officeDocument/2006/relationships/slideLayout" Target="../slideLayouts/slideLayout1.xml" /></Relationships>
</file>

<file path=ppt/slides/_rels/slide3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4.xml.rels><?xml version="1.0" encoding="UTF-8" standalone="yes"?><Relationships xmlns="http://schemas.openxmlformats.org/package/2006/relationships"><Relationship Id="rId5" Type="http://schemas.openxmlformats.org/officeDocument/2006/relationships/image" Target="media/image12.svg" /><Relationship Id="rId3" Type="http://schemas.openxmlformats.org/officeDocument/2006/relationships/image" Target="media/image30.svg" /><Relationship Id="rId6" Type="http://schemas.openxmlformats.org/officeDocument/2006/relationships/image" Target="media/image31.svg" /><Relationship Id="rId2" Type="http://schemas.openxmlformats.org/officeDocument/2006/relationships/image" Target="media/image29.svg" /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8.svg" /><Relationship Id="rId4" Type="http://schemas.openxmlformats.org/officeDocument/2006/relationships/image" Target="media/image13.svg" /></Relationships>
</file>

<file path=ppt/slides/_rels/slide35.xml.rels><?xml version="1.0" encoding="UTF-8" standalone="yes"?><Relationships xmlns="http://schemas.openxmlformats.org/package/2006/relationships"><Relationship Id="rId2" Type="http://schemas.openxmlformats.org/officeDocument/2006/relationships/image" Target="media/image18.svg" /><Relationship Id="rId1" Type="http://schemas.openxmlformats.org/officeDocument/2006/relationships/image" Target="media/image32.svg" /><Relationship Id="rId0" Type="http://schemas.openxmlformats.org/officeDocument/2006/relationships/slideLayout" Target="../slideLayouts/slideLayout1.xml" /></Relationships>
</file>

<file path=ppt/slides/_rels/slide3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4" Type="http://schemas.openxmlformats.org/officeDocument/2006/relationships/image" Target="media/image35.svg" /><Relationship Id="rId3" Type="http://schemas.openxmlformats.org/officeDocument/2006/relationships/image" Target="media/image34.svg" /><Relationship Id="rId2" Type="http://schemas.openxmlformats.org/officeDocument/2006/relationships/image" Target="media/image2.svg" /><Relationship Id="rId5" Type="http://schemas.openxmlformats.org/officeDocument/2006/relationships/image" Target="media/image9.svg" /><Relationship Id="rId1" Type="http://schemas.openxmlformats.org/officeDocument/2006/relationships/image" Target="media/image33.svg" 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image" Target="media/image36.svg" /><Relationship Id="rId0" Type="http://schemas.openxmlformats.org/officeDocument/2006/relationships/slideLayout" Target="../slideLayouts/slideLayout1.xml" /></Relationships>
</file>

<file path=ppt/slides/_rels/slide3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 descr="&lt;Slide style={{ background: '#0E3F8C', padding: 0 }}&gt;&#10;  &lt;Box style={{ flexDirection: 'column', height: '100%', justifyContent: 'center', padding: '0 80px', position: 'relative' }}&gt;&#10;    &lt;Box style={{ position: 'absolute', top: 0, left: 0, right: 0, height: 8, background: '#1E4FA8' }} /&gt;&#10;    &lt;Box style={{ position: 'absolute', top: 8, left: 0, right: 0, height: 2, background: '#3D7BD9' }} /&gt;&#10;    &lt;Box style={{ flexDirection: 'row', alignItems: 'center', gap: 14, marginBottom: 30 }}&gt;&#10;      &lt;Box style={{ padding: '7px 18px', background: '#3D7BD9', borderRadius: 18 }}&gt;&#10;        &lt;Text style={{ fontSize: 16, color: '#FFFFFF', fontWeight: 'bold', letterSpacing: 2 }}&gt;ISAD · WEEK 01&lt;/Text&gt;&#10;      &lt;/Box&gt;&#10;      &lt;Box style={{ width: 56, height: 1, background: '#5B84C4' }} /&gt;&#10;      &lt;Text style={{ fontSize: 16, color: '#7FA2D6', letterSpacing: 1 }}&gt;MODULE A · FOUNDATIONS&lt;/Text&gt;&#10;    &lt;/Box&gt;&#10;    &lt;Text style={{ fontSize: 58, fontWeight: 'bold', color: '#FFFFFF', fontFamily: 'Georgia, serif', lineHeight: 1.12 }}&gt;&#10;      Information Systems&#10;      &lt;br /&gt;&#10;      Analysis &amp;amp; Design&#10;    &lt;/Text&gt;&#10;    &lt;Box style={{ width: 88, height: 5, background: '#FFC107', marginTop: 28, marginBottom: 22 }} /&gt;&#10;    &lt;Text style={{ fontSize: 26, color: '#B9CDF0', lineHeight: 1.45 }}&gt;&#10;      Systems, Analysts &amp;amp; the OOAD Roadmap&#10;    &lt;/Text&gt;&#10;    &lt;Box style={{ position: 'absolute', bottom: 46, left: 80, right: 80, flexDirection: 'row', justifyContent: 'space-between', alignItems: 'center', borderTop: '1px solid #2B5793', paddingTop: 18 }}&gt;&#10;      &lt;Text style={{ fontSize: 17, color: '#C5D4EA' }}&gt;Ren Zheng · School of Software Engineering&lt;/Text&gt;&#10;      &lt;Text style={{ fontSize: 17, color: '#C5D4EA' }}&gt;Fall 2026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762000" y="1905000"/>
            <a:ext cx="1781175" cy="323850"/>
          </a:xfrm>
          <a:prstGeom prst="roundRect">
            <a:avLst>
              <a:gd name="adj" fmla="val 52941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933450" y="1971675"/>
            <a:ext cx="14382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 spc="150">
                <a:solidFill>
                  <a:srgbClr val="FFFFFF"/>
                </a:solidFill>
                <a:latin typeface="Microsoft YaHei"/>
                <a:ea typeface="Microsoft YaHei"/>
              </a:rPr>
              <a:t>ISAD · WEEK 01</a:t>
            </a:r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2676525" y="2066925"/>
            <a:ext cx="533400" cy="9525"/>
          </a:xfrm>
          <a:prstGeom prst="rect">
            <a:avLst/>
          </a:prstGeom>
          <a:solidFill>
            <a:srgbClr val="5B84C4"/>
          </a:soli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3343275" y="1971675"/>
            <a:ext cx="2257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MODULE A · FOUNDATIONS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762000" y="2514600"/>
            <a:ext cx="10668000" cy="1485900"/>
          </a:xfrm>
          <a:prstGeom prst="rect"/>
        </p:spPr>
        <p:txBody>
          <a:bodyPr wrap="none" lIns="0" tIns="0" rIns="0" bIns="0"/>
          <a:p>
            <a:pPr>
              <a:lnSpc>
                <a:spcPct val="112000"/>
              </a:lnSpc>
            </a:pPr>
            <a:r>
              <a:rPr lang="en-US" sz="4350" b="1">
                <a:solidFill>
                  <a:srgbClr val="FFFFFF"/>
                </a:solidFill>
                <a:latin typeface="Georgia"/>
                <a:ea typeface="Georgia"/>
              </a:rPr>
              <a:t>Information Systems</a:t>
            </a:r>
            <a:endParaRPr/>
          </a:p>
          <a:p>
            <a:pPr>
              <a:lnSpc>
                <a:spcPct val="112000"/>
              </a:lnSpc>
            </a:pPr>
            <a:r>
              <a:rPr lang="en-US" sz="4350" b="1">
                <a:solidFill>
                  <a:srgbClr val="FFFFFF"/>
                </a:solidFill>
                <a:latin typeface="Georgia"/>
                <a:ea typeface="Georgia"/>
              </a:rPr>
              <a:t>Analysis &amp; Design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762000" y="4267200"/>
            <a:ext cx="83820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2000" y="4524375"/>
            <a:ext cx="10668000" cy="4381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en-US" sz="1950">
                <a:solidFill>
                  <a:srgbClr val="B9CDF0"/>
                </a:solidFill>
                <a:latin typeface="Microsoft YaHei"/>
                <a:ea typeface="Microsoft YaHei"/>
              </a:rPr>
              <a:t>Systems, Analysts &amp; the OOAD Roadmap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0" y="76200"/>
            <a:ext cx="12192000" cy="19050"/>
          </a:xfrm>
          <a:prstGeom prst="rect">
            <a:avLst/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" name=""/>
          <p:cNvSpPr/>
          <p:nvPr/>
        </p:nvSpPr>
        <p:spPr>
          <a:xfrm rot="0" flipH="0" flipV="0">
            <a:off x="762000" y="6038850"/>
            <a:ext cx="10668000" cy="390525"/>
          </a:xfrm>
          <a:custGeom>
            <a:pathLst>
              <a:path w="1120" h="41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762000" y="6219825"/>
            <a:ext cx="32194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Ren Zheng · School of Software Engineering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10763250" y="6219825"/>
            <a:ext cx="666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Fall 2026</a:t>
            </a:r>
            <a:endParaRPr/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90" name="" descr="&lt;Slide style={{ background: '#FFFFFF', padding: 0 }}&gt;&#10;  &lt;Box style={{ flexDirection: 'row', height: '100%' }}&gt;&#10;    &lt;Box style={{ width: 320, background: '#0E3F8C', padding: '60px 44px', flexDirection: 'column', justifyContent: 'space-between' }}&gt;&#10;      &lt;Box&gt;&#10;        &lt;Box style={{ width: 40, height: 4, background: '#FFC107', marginBottom: 24 }} /&gt;&#10;        &lt;Text style={{ fontSize: 46, fontWeight: 'bold', color: '#FFFFFF', fontFamily: 'Georgia, serif', lineHeight: 1.15 }}&gt;Contents&lt;/Text&gt;&#10;        &lt;Text style={{ fontSize: 16, color: '#7FA2D6', marginTop: 18, letterSpacing: 1 }}&gt;WEEK 01 · ROADMAP&lt;/Text&gt;&#10;      &lt;/Box&gt;&#10;      &lt;Text style={{ fontSize: 15, color: '#5B84C4', lineHeight: 1.5 }}&gt;Information Systems&lt;br /&gt;Analysis &amp;amp; Design&lt;/Text&gt;&#10;    &lt;/Box&gt;&#10;    &lt;Box style={{ flex: 1, padding: '56px 56px', flexDirection: 'column', gap: 18 }}&gt;&#10;      {[&#10;        { n: '01', t: 'Welcome &amp;amp; Course Overview', p: '03' },&#10;        { n: '02', t: 'What Is an Information System?', p: '08' },&#10;        { n: '03', t: 'The Systems Analyst', p: '13' },&#10;        { n: '04', t: 'Analysis &amp;amp; Design in the SDLC', p: '18' },&#10;        { n: '05', t: 'The OOAD Roadmap', p: '23' },&#10;        { n: '06', t: 'Lab — Reading UML &amp;amp; Exercises', p: '29' },&#10;      ].map((item) =&gt; (&#10;        &lt;Box key={item.n} style={{ flexDirection: 'row', alignItems: 'center', gap: 20, padding: '16px 20px', background: '#F7F9FC', borderRadius: 10, border: '1px solid #E5E7EB' }}&gt;&#10;          &lt;Box style={{ width: 52, height: 52, borderRadius: 8, background: '#1E4FA8', justifyContent: 'center', alignItems: 'center' }}&gt;&#10;            &lt;Text style={{ fontSize: 22, fontWeight: 'bold', color: '#FFFFFF' }}&gt;{item.n}&lt;/Text&gt;&#10;          &lt;/Box&gt;&#10;          &lt;Text style={{ flex: 1, fontSize: 21, color: '#1A2230', fontWeight: '600' }}&gt;{item.t}&lt;/Text&gt;&#10;          &lt;Text style={{ fontSize: 20, color: '#8B97A8', fontWeight: 'bold' }}&gt;{item.p}&lt;/Text&gt;&#10;        &lt;/Box&gt;&#10;      ))}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2" name=""/>
          <p:cNvSpPr/>
          <p:nvPr/>
        </p:nvSpPr>
        <p:spPr>
          <a:xfrm rot="0" flipH="0" flipV="0">
            <a:off x="0" y="0"/>
            <a:ext cx="3048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93" name=""/>
          <p:cNvSpPr/>
          <p:nvPr/>
        </p:nvSpPr>
        <p:spPr>
          <a:xfrm rot="0" flipH="0" flipV="0">
            <a:off x="419100" y="571500"/>
            <a:ext cx="3810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419100" y="838200"/>
            <a:ext cx="2209800" cy="60960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450" b="1">
                <a:solidFill>
                  <a:srgbClr val="FFFFFF"/>
                </a:solidFill>
                <a:latin typeface="Georgia"/>
                <a:ea typeface="Georgia"/>
              </a:rPr>
              <a:t>Contents</a:t>
            </a:r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419100" y="1619250"/>
            <a:ext cx="2209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7FA2D6"/>
                </a:solidFill>
                <a:latin typeface="Microsoft YaHei"/>
                <a:ea typeface="Microsoft YaHei"/>
              </a:rPr>
              <a:t>WEEK 01 · ROADMAP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419100" y="5772150"/>
            <a:ext cx="2209800" cy="5143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Information Systems</a:t>
            </a:r>
            <a:endParaRPr/>
          </a:p>
          <a:p>
            <a:pPr>
              <a:lnSpc>
                <a:spcPct val="150000"/>
              </a:lnSpc>
            </a:pPr>
            <a:r>
              <a:rPr lang="en-US" sz="1125">
                <a:solidFill>
                  <a:srgbClr val="5B84C4"/>
                </a:solidFill>
                <a:latin typeface="Microsoft YaHei"/>
                <a:ea typeface="Microsoft YaHei"/>
              </a:rPr>
              <a:t>Analysis &amp; Design</a:t>
            </a:r>
            <a:endParaRPr/>
          </a:p>
        </p:txBody>
      </p:sp>
      <p:sp>
        <p:nvSpPr>
          <p:cNvPr id="197" name=""/>
          <p:cNvSpPr/>
          <p:nvPr/>
        </p:nvSpPr>
        <p:spPr>
          <a:xfrm rot="0" flipH="0" flipV="0">
            <a:off x="3581400" y="5334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98" name=""/>
          <p:cNvSpPr/>
          <p:nvPr/>
        </p:nvSpPr>
        <p:spPr>
          <a:xfrm rot="0" flipH="0" flipV="0">
            <a:off x="3771900" y="6858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3905250" y="8096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4457700" y="8096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Welcome &amp;amp; Course Overview</a:t>
            </a:r>
            <a:endParaRPr/>
          </a:p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11249025" y="8191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02" name=""/>
          <p:cNvSpPr/>
          <p:nvPr/>
        </p:nvSpPr>
        <p:spPr>
          <a:xfrm rot="0" flipH="0" flipV="0">
            <a:off x="3581400" y="15049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03" name=""/>
          <p:cNvSpPr/>
          <p:nvPr/>
        </p:nvSpPr>
        <p:spPr>
          <a:xfrm rot="0" flipH="0" flipV="0">
            <a:off x="3771900" y="16573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3905250" y="17811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4457700" y="17811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What Is an Information System?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11249025" y="17907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08</a:t>
            </a:r>
            <a:endParaRPr/>
          </a:p>
        </p:txBody>
      </p:sp>
      <p:sp>
        <p:nvSpPr>
          <p:cNvPr id="207" name=""/>
          <p:cNvSpPr/>
          <p:nvPr/>
        </p:nvSpPr>
        <p:spPr>
          <a:xfrm rot="0" flipH="0" flipV="0">
            <a:off x="3581400" y="24765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08" name=""/>
          <p:cNvSpPr/>
          <p:nvPr/>
        </p:nvSpPr>
        <p:spPr>
          <a:xfrm rot="0" flipH="0" flipV="0">
            <a:off x="3771900" y="26289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3905250" y="27527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4457700" y="27527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The Systems Analyst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11249025" y="27622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13</a:t>
            </a:r>
            <a:endParaRPr/>
          </a:p>
        </p:txBody>
      </p:sp>
      <p:sp>
        <p:nvSpPr>
          <p:cNvPr id="212" name=""/>
          <p:cNvSpPr/>
          <p:nvPr/>
        </p:nvSpPr>
        <p:spPr>
          <a:xfrm rot="0" flipH="0" flipV="0">
            <a:off x="3581400" y="34480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13" name=""/>
          <p:cNvSpPr/>
          <p:nvPr/>
        </p:nvSpPr>
        <p:spPr>
          <a:xfrm rot="0" flipH="0" flipV="0">
            <a:off x="3771900" y="36004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3905250" y="37242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4457700" y="37242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Analysis &amp;amp; Design in the SDLC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11249025" y="37338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18</a:t>
            </a:r>
            <a:endParaRPr/>
          </a:p>
        </p:txBody>
      </p:sp>
      <p:sp>
        <p:nvSpPr>
          <p:cNvPr id="217" name=""/>
          <p:cNvSpPr/>
          <p:nvPr/>
        </p:nvSpPr>
        <p:spPr>
          <a:xfrm rot="0" flipH="0" flipV="0">
            <a:off x="3581400" y="441960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18" name=""/>
          <p:cNvSpPr/>
          <p:nvPr/>
        </p:nvSpPr>
        <p:spPr>
          <a:xfrm rot="0" flipH="0" flipV="0">
            <a:off x="3771900" y="457200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3905250" y="469582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4457700" y="469582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The OOAD Roadmap</a:t>
            </a:r>
            <a:endParaRPr/>
          </a:p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11249025" y="47053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23</a:t>
            </a:r>
            <a:endParaRPr/>
          </a:p>
        </p:txBody>
      </p:sp>
      <p:sp>
        <p:nvSpPr>
          <p:cNvPr id="222" name=""/>
          <p:cNvSpPr/>
          <p:nvPr/>
        </p:nvSpPr>
        <p:spPr>
          <a:xfrm rot="0" flipH="0" flipV="0">
            <a:off x="3581400" y="5391150"/>
            <a:ext cx="8077200" cy="800100"/>
          </a:xfrm>
          <a:prstGeom prst="roundRect">
            <a:avLst>
              <a:gd name="adj" fmla="val 1190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23" name=""/>
          <p:cNvSpPr/>
          <p:nvPr/>
        </p:nvSpPr>
        <p:spPr>
          <a:xfrm rot="0" flipH="0" flipV="0">
            <a:off x="3771900" y="5543550"/>
            <a:ext cx="495300" cy="49530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3905250" y="5667375"/>
            <a:ext cx="2381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06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4457700" y="5667375"/>
            <a:ext cx="6600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>Lab — Reading UML &amp;amp; Exercises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11249025" y="56769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29</a:t>
            </a:r>
            <a:endParaRPr/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402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1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Welcome &amp;amp;&lt;br /&gt;Course Overview&lt;/Text&gt;&#10;      &lt;Box style={{ width: 64, height: 4, background: '#FFC107', marginTop: 26, marginBottom: 26 }} /&gt;&#10;      &lt;Box style={{ flexDirection: 'column', gap: 12 }}&gt;&#10;        {[&#10;          'How this course is organised — 4 hours, 2 blocks',&#10;          'Assessment: project + defense, no written exam',&#10;          'The running project: CampusBites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04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405" name="" descr="{&quot;isTemplate&quot;:true,&quot;type&quot;:&quot;text&quot;}"/>
          <p:cNvSpPr txBox="1"/>
          <p:nvPr/>
        </p:nvSpPr>
        <p:spPr>
          <a:xfrm rot="0" flipH="0" flipV="0">
            <a:off x="171450" y="2171700"/>
            <a:ext cx="25050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01</a:t>
            </a:r>
            <a:endParaRPr/>
          </a:p>
        </p:txBody>
      </p:sp>
      <p:sp>
        <p:nvSpPr>
          <p:cNvPr id="406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Welcome &amp;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Course Overview</a:t>
            </a:r>
            <a:endParaRPr/>
          </a:p>
        </p:txBody>
      </p:sp>
      <p:sp>
        <p:nvSpPr>
          <p:cNvPr id="408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409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10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41719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How this course is organised — 4 hours, 2 blocks</a:t>
            </a:r>
            <a:endParaRPr/>
          </a:p>
        </p:txBody>
      </p:sp>
      <p:sp>
        <p:nvSpPr>
          <p:cNvPr id="411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4067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Assessment: project + defense, no written exam</a:t>
            </a:r>
            <a:endParaRPr/>
          </a:p>
        </p:txBody>
      </p:sp>
      <p:sp>
        <p:nvSpPr>
          <p:cNvPr id="413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14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2886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running project: CampusBites</a:t>
            </a:r>
            <a:endParaRPr/>
          </a:p>
        </p:txBody>
      </p:sp>
      <p:sp>
        <p:nvSpPr>
          <p:cNvPr id="415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64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Course Logistics&lt;/Text&gt;&#10;  &lt;/Box&gt;&#10;  &lt;Box style={{ flex: 1, padding: '18px 40px 0 40px', flexDirection: 'row', gap: 28 }}&gt;&#10;    &lt;Box style={{ flex: 3, padding: '24px 28px', background: '#F7F9FC', borderRadius: 12, border: '1px solid #E5E7EB', flexDirection: 'column' }}&gt;&#10;      &lt;Box style={{ flexDirection: 'row', alignItems: 'center', gap: 12, marginBottom: 18 }}&gt;&#10;        &lt;FAIcon name='clock' style={{ fill: '#1E4FA8', width: 26, height: 26 }} /&gt;&#10;        &lt;Text style={{ fontSize: 24, fontWeight: 'bold', color: '#1A2230' }}&gt;Four Consecutive Hours / Week&lt;/Text&gt;&#10;      &lt;/Box&gt;&#10;      &lt;Box style={{ flexDirection: 'row', gap: 20 }}&gt;&#10;        &lt;Box style={{ flex: 1, padding: '20px', background: '#FFFFFF', borderRadius: 10, border: '1px solid #D6DCE5', flexDirection: 'column', gap: 10 }}&gt;&#10;          &lt;Box style={{ padding: '4px 12px', background: '#E8EFF8', borderRadius: 12, alignSelf: 'flex-start' }}&gt;&#10;            &lt;Text style={{ fontSize: 14, fontWeight: 'bold', color: '#1E4FA8' }}&gt;PART 1 · 2H&lt;/Text&gt;&#10;          &lt;/Box&gt;&#10;          &lt;Text style={{ fontSize: 22, fontWeight: 'bold', color: '#0E3F8C' }}&gt;Lecture&lt;/Text&gt;&#10;          &lt;Text style={{ fontSize: 16, color: '#4A5568', lineHeight: 1.55 }}&gt;Concepts, terminology and worked examples. Slides + whiteboard.&lt;/Text&gt;&#10;        &lt;/Box&gt;&#10;        &lt;Box style={{ flex: 1, padding: '20px', background: '#FFFFFF', borderRadius: 10, border: '1px solid #D6DCE5', flexDirection: 'column', gap: 10 }}&gt;&#10;          &lt;Box style={{ padding: '4px 12px', background: '#E8EFF8', borderRadius: 12, alignSelf: 'flex-start' }}&gt;&#10;            &lt;Text style={{ fontSize: 14, fontWeight: 'bold', color: '#1E4FA8' }}&gt;PART 2 · 2H&lt;/Text&gt;&#10;          &lt;/Box&gt;&#10;          &lt;Text style={{ fontSize: 22, fontWeight: 'bold', color: '#0E3F8C' }}&gt;Lab&lt;/Text&gt;&#10;          &lt;Text style={{ fontSize: 16, color: '#4A5568', lineHeight: 1.55 }}&gt;Guided demo (~25 min) then hands-on lab work (~90 min) tied to CampusBites.&lt;/Text&gt;&#10;        &lt;/Box&gt;&#10;      &lt;/Box&gt;&#10;    &lt;/Box&gt;&#10;    &lt;Box style={{ flex: 2, padding: '24px 24px', background: '#0E3F8C', borderRadius: 12, flexDirection: 'column', gap: 14, justifyContent: 'center' }}&gt;&#10;      &lt;Text style={{ fontSize: 18, fontWeight: 'bold', color: '#FFFFFF', marginBottom: 6 }}&gt;At a Glance&lt;/Text&gt;&#10;      {[&#10;        ['16', 'weeks'],&#10;        ['32 + 32', 'lecture + lab hours'],&#10;        ['EN', 'all materials in English'],&#10;        ['Larman', 'primary textbook'],&#10;      ].map(([v, k]) =&gt; (&#10;        &lt;Box key={k} style={{ flexDirection: 'row', alignItems: 'baseline', gap: 10, borderBottom: '1px solid #2B5793', paddingBottom: 10 }}&gt;&#10;          &lt;Text style={{ fontSize: 24, fontWeight: 'bold', color: '#FFC107' }}&gt;{v}&lt;/Text&gt;&#10;          &lt;Text style={{ fontSize: 16, color: '#C5D4EA' }}&gt;{k}&lt;/Text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0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4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4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46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647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Course Logistics</a:t>
            </a:r>
            <a:endParaRPr/>
          </a:p>
        </p:txBody>
      </p:sp>
      <p:sp>
        <p:nvSpPr>
          <p:cNvPr id="648" name=""/>
          <p:cNvSpPr/>
          <p:nvPr/>
        </p:nvSpPr>
        <p:spPr>
          <a:xfrm rot="0" flipH="0" flipV="0">
            <a:off x="381000" y="1476375"/>
            <a:ext cx="6696075" cy="5000625"/>
          </a:xfrm>
          <a:prstGeom prst="roundRect">
            <a:avLst>
              <a:gd name="adj" fmla="val 2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64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47700" y="1724025"/>
            <a:ext cx="247650" cy="247650"/>
          </a:xfrm>
          <a:prstGeom prst="rect">
            <a:avLst/>
          </a:prstGeom>
          <a:ln/>
        </p:spPr>
      </p:pic>
      <p:sp>
        <p:nvSpPr>
          <p:cNvPr id="650" name="" descr="{&quot;isTemplate&quot;:true,&quot;type&quot;:&quot;text&quot;}"/>
          <p:cNvSpPr txBox="1"/>
          <p:nvPr/>
        </p:nvSpPr>
        <p:spPr>
          <a:xfrm rot="0" flipH="0" flipV="0">
            <a:off x="1009650" y="1704975"/>
            <a:ext cx="34385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1A2230"/>
                </a:solidFill>
                <a:latin typeface="Microsoft YaHei"/>
                <a:ea typeface="Microsoft YaHei"/>
              </a:rPr>
              <a:t>Four Consecutive Hours / Week</a:t>
            </a:r>
            <a:endParaRPr/>
          </a:p>
        </p:txBody>
      </p:sp>
      <p:sp>
        <p:nvSpPr>
          <p:cNvPr id="651" name=""/>
          <p:cNvSpPr/>
          <p:nvPr/>
        </p:nvSpPr>
        <p:spPr>
          <a:xfrm rot="0" flipH="0" flipV="0">
            <a:off x="647700" y="2152650"/>
            <a:ext cx="2990850" cy="1924050"/>
          </a:xfrm>
          <a:prstGeom prst="roundRect">
            <a:avLst>
              <a:gd name="adj" fmla="val 495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52" name=""/>
          <p:cNvSpPr/>
          <p:nvPr/>
        </p:nvSpPr>
        <p:spPr>
          <a:xfrm rot="0" flipH="0" flipV="0">
            <a:off x="838200" y="2343150"/>
            <a:ext cx="990600" cy="238125"/>
          </a:xfrm>
          <a:prstGeom prst="roundRect">
            <a:avLst>
              <a:gd name="adj" fmla="val 48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53" name="" descr="{&quot;isTemplate&quot;:true,&quot;type&quot;:&quot;text&quot;}"/>
          <p:cNvSpPr txBox="1"/>
          <p:nvPr/>
        </p:nvSpPr>
        <p:spPr>
          <a:xfrm rot="0" flipH="0" flipV="0">
            <a:off x="952500" y="2381250"/>
            <a:ext cx="762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PART 1 · 2H</a:t>
            </a:r>
            <a:endParaRPr/>
          </a:p>
        </p:txBody>
      </p:sp>
      <p:sp>
        <p:nvSpPr>
          <p:cNvPr id="654" name="" descr="{&quot;isTemplate&quot;:true,&quot;type&quot;:&quot;text&quot;}"/>
          <p:cNvSpPr txBox="1"/>
          <p:nvPr/>
        </p:nvSpPr>
        <p:spPr>
          <a:xfrm rot="0" flipH="0" flipV="0">
            <a:off x="838200" y="2676525"/>
            <a:ext cx="2609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Microsoft YaHei"/>
                <a:ea typeface="Microsoft YaHei"/>
              </a:rPr>
              <a:t>Lecture</a:t>
            </a:r>
            <a:endParaRPr/>
          </a:p>
        </p:txBody>
      </p:sp>
      <p:sp>
        <p:nvSpPr>
          <p:cNvPr id="655" name="" descr="{&quot;isTemplate&quot;:true,&quot;type&quot;:&quot;text&quot;}"/>
          <p:cNvSpPr txBox="1"/>
          <p:nvPr/>
        </p:nvSpPr>
        <p:spPr>
          <a:xfrm rot="0" flipH="0" flipV="0">
            <a:off x="838200" y="3028950"/>
            <a:ext cx="26098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Concepts, terminology and worked examples. Slides + whiteboard.</a:t>
            </a:r>
            <a:endParaRPr/>
          </a:p>
        </p:txBody>
      </p:sp>
      <p:sp>
        <p:nvSpPr>
          <p:cNvPr id="656" name=""/>
          <p:cNvSpPr/>
          <p:nvPr/>
        </p:nvSpPr>
        <p:spPr>
          <a:xfrm rot="0" flipH="0" flipV="0">
            <a:off x="3829050" y="2152650"/>
            <a:ext cx="2981325" cy="1924050"/>
          </a:xfrm>
          <a:prstGeom prst="roundRect">
            <a:avLst>
              <a:gd name="adj" fmla="val 4950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657" name=""/>
          <p:cNvSpPr/>
          <p:nvPr/>
        </p:nvSpPr>
        <p:spPr>
          <a:xfrm rot="0" flipH="0" flipV="0">
            <a:off x="4019550" y="2343150"/>
            <a:ext cx="990600" cy="238125"/>
          </a:xfrm>
          <a:prstGeom prst="roundRect">
            <a:avLst>
              <a:gd name="adj" fmla="val 48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58" name="" descr="{&quot;isTemplate&quot;:true,&quot;type&quot;:&quot;text&quot;}"/>
          <p:cNvSpPr txBox="1"/>
          <p:nvPr/>
        </p:nvSpPr>
        <p:spPr>
          <a:xfrm rot="0" flipH="0" flipV="0">
            <a:off x="4133850" y="2381250"/>
            <a:ext cx="762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PART 2 · 2H</a:t>
            </a:r>
            <a:endParaRPr/>
          </a:p>
        </p:txBody>
      </p:sp>
      <p:sp>
        <p:nvSpPr>
          <p:cNvPr id="659" name="" descr="{&quot;isTemplate&quot;:true,&quot;type&quot;:&quot;text&quot;}"/>
          <p:cNvSpPr txBox="1"/>
          <p:nvPr/>
        </p:nvSpPr>
        <p:spPr>
          <a:xfrm rot="0" flipH="0" flipV="0">
            <a:off x="4019550" y="2676525"/>
            <a:ext cx="26003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0E3F8C"/>
                </a:solidFill>
                <a:latin typeface="Microsoft YaHei"/>
                <a:ea typeface="Microsoft YaHei"/>
              </a:rPr>
              <a:t>Lab</a:t>
            </a:r>
            <a:endParaRPr/>
          </a:p>
        </p:txBody>
      </p:sp>
      <p:sp>
        <p:nvSpPr>
          <p:cNvPr id="660" name="" descr="{&quot;isTemplate&quot;:true,&quot;type&quot;:&quot;text&quot;}"/>
          <p:cNvSpPr txBox="1"/>
          <p:nvPr/>
        </p:nvSpPr>
        <p:spPr>
          <a:xfrm rot="0" flipH="0" flipV="0">
            <a:off x="4019550" y="3028950"/>
            <a:ext cx="26003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Guided demo (~25 min) then hands-on lab work (~90 min) tied to CampusBites.</a:t>
            </a:r>
            <a:endParaRPr/>
          </a:p>
        </p:txBody>
      </p:sp>
      <p:sp>
        <p:nvSpPr>
          <p:cNvPr id="661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62" name="" descr="{&quot;isTemplate&quot;:true,&quot;type&quot;:&quot;text&quot;}"/>
          <p:cNvSpPr txBox="1"/>
          <p:nvPr/>
        </p:nvSpPr>
        <p:spPr>
          <a:xfrm rot="0" flipH="0" flipV="0">
            <a:off x="7572375" y="2819400"/>
            <a:ext cx="40100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At a Glance</a:t>
            </a:r>
            <a:endParaRPr/>
          </a:p>
        </p:txBody>
      </p:sp>
      <p:sp>
        <p:nvSpPr>
          <p:cNvPr id="663" name=""/>
          <p:cNvSpPr/>
          <p:nvPr/>
        </p:nvSpPr>
        <p:spPr>
          <a:xfrm rot="0" flipH="0" flipV="0">
            <a:off x="7572375" y="3219450"/>
            <a:ext cx="4010025" cy="390525"/>
          </a:xfrm>
          <a:custGeom>
            <a:pathLst>
              <a:path w="421" h="41">
                <a:moveTo>
                  <a:pt x="0" y="40"/>
                </a:moveTo>
                <a:lnTo>
                  <a:pt x="421" y="40"/>
                </a:lnTo>
                <a:lnTo>
                  <a:pt x="421" y="41"/>
                </a:lnTo>
                <a:lnTo>
                  <a:pt x="0" y="4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664" name="" descr="{&quot;isTemplate&quot;:true,&quot;type&quot;:&quot;text&quot;}"/>
          <p:cNvSpPr txBox="1"/>
          <p:nvPr/>
        </p:nvSpPr>
        <p:spPr>
          <a:xfrm rot="0" flipH="0" flipV="0">
            <a:off x="7572375" y="3219450"/>
            <a:ext cx="2571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C107"/>
                </a:solidFill>
                <a:latin typeface="Microsoft YaHei"/>
                <a:ea typeface="Microsoft YaHei"/>
              </a:rPr>
              <a:t>16</a:t>
            </a:r>
            <a:endParaRPr/>
          </a:p>
        </p:txBody>
      </p:sp>
      <p:sp>
        <p:nvSpPr>
          <p:cNvPr id="665" name="" descr="{&quot;isTemplate&quot;:true,&quot;type&quot;:&quot;text&quot;}"/>
          <p:cNvSpPr txBox="1"/>
          <p:nvPr/>
        </p:nvSpPr>
        <p:spPr>
          <a:xfrm rot="0" flipH="0" flipV="0">
            <a:off x="7924800" y="3219450"/>
            <a:ext cx="4381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weeks</a:t>
            </a:r>
            <a:endParaRPr/>
          </a:p>
        </p:txBody>
      </p:sp>
      <p:sp>
        <p:nvSpPr>
          <p:cNvPr id="666" name=""/>
          <p:cNvSpPr/>
          <p:nvPr/>
        </p:nvSpPr>
        <p:spPr>
          <a:xfrm rot="0" flipH="0" flipV="0">
            <a:off x="7572375" y="3733800"/>
            <a:ext cx="4010025" cy="390525"/>
          </a:xfrm>
          <a:custGeom>
            <a:pathLst>
              <a:path w="421" h="41">
                <a:moveTo>
                  <a:pt x="0" y="40"/>
                </a:moveTo>
                <a:lnTo>
                  <a:pt x="421" y="40"/>
                </a:lnTo>
                <a:lnTo>
                  <a:pt x="421" y="41"/>
                </a:lnTo>
                <a:lnTo>
                  <a:pt x="0" y="4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667" name="" descr="{&quot;isTemplate&quot;:true,&quot;type&quot;:&quot;text&quot;}"/>
          <p:cNvSpPr txBox="1"/>
          <p:nvPr/>
        </p:nvSpPr>
        <p:spPr>
          <a:xfrm rot="0" flipH="0" flipV="0">
            <a:off x="7572375" y="3733800"/>
            <a:ext cx="7715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C107"/>
                </a:solidFill>
                <a:latin typeface="Microsoft YaHei"/>
                <a:ea typeface="Microsoft YaHei"/>
              </a:rPr>
              <a:t>32 + 32</a:t>
            </a:r>
            <a:endParaRPr/>
          </a:p>
        </p:txBody>
      </p:sp>
      <p:sp>
        <p:nvSpPr>
          <p:cNvPr id="668" name="" descr="{&quot;isTemplate&quot;:true,&quot;type&quot;:&quot;text&quot;}"/>
          <p:cNvSpPr txBox="1"/>
          <p:nvPr/>
        </p:nvSpPr>
        <p:spPr>
          <a:xfrm rot="0" flipH="0" flipV="0">
            <a:off x="8439150" y="3733800"/>
            <a:ext cx="12668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lecture + lab hours</a:t>
            </a:r>
            <a:endParaRPr/>
          </a:p>
        </p:txBody>
      </p:sp>
      <p:sp>
        <p:nvSpPr>
          <p:cNvPr id="669" name=""/>
          <p:cNvSpPr/>
          <p:nvPr/>
        </p:nvSpPr>
        <p:spPr>
          <a:xfrm rot="0" flipH="0" flipV="0">
            <a:off x="7572375" y="4248150"/>
            <a:ext cx="4010025" cy="390525"/>
          </a:xfrm>
          <a:custGeom>
            <a:pathLst>
              <a:path w="421" h="41">
                <a:moveTo>
                  <a:pt x="0" y="40"/>
                </a:moveTo>
                <a:lnTo>
                  <a:pt x="421" y="40"/>
                </a:lnTo>
                <a:lnTo>
                  <a:pt x="421" y="41"/>
                </a:lnTo>
                <a:lnTo>
                  <a:pt x="0" y="4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670" name="" descr="{&quot;isTemplate&quot;:true,&quot;type&quot;:&quot;text&quot;}"/>
          <p:cNvSpPr txBox="1"/>
          <p:nvPr/>
        </p:nvSpPr>
        <p:spPr>
          <a:xfrm rot="0" flipH="0" flipV="0">
            <a:off x="7572375" y="4248150"/>
            <a:ext cx="3238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C107"/>
                </a:solidFill>
                <a:latin typeface="Microsoft YaHei"/>
                <a:ea typeface="Microsoft YaHei"/>
              </a:rPr>
              <a:t>EN</a:t>
            </a:r>
            <a:endParaRPr/>
          </a:p>
        </p:txBody>
      </p:sp>
      <p:sp>
        <p:nvSpPr>
          <p:cNvPr id="671" name="" descr="{&quot;isTemplate&quot;:true,&quot;type&quot;:&quot;text&quot;}"/>
          <p:cNvSpPr txBox="1"/>
          <p:nvPr/>
        </p:nvSpPr>
        <p:spPr>
          <a:xfrm rot="0" flipH="0" flipV="0">
            <a:off x="7991475" y="4248150"/>
            <a:ext cx="15240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all materials in English</a:t>
            </a:r>
            <a:endParaRPr/>
          </a:p>
        </p:txBody>
      </p:sp>
      <p:sp>
        <p:nvSpPr>
          <p:cNvPr id="672" name=""/>
          <p:cNvSpPr/>
          <p:nvPr/>
        </p:nvSpPr>
        <p:spPr>
          <a:xfrm rot="0" flipH="0" flipV="0">
            <a:off x="7572375" y="4762500"/>
            <a:ext cx="4010025" cy="390525"/>
          </a:xfrm>
          <a:custGeom>
            <a:pathLst>
              <a:path w="421" h="41">
                <a:moveTo>
                  <a:pt x="0" y="40"/>
                </a:moveTo>
                <a:lnTo>
                  <a:pt x="421" y="40"/>
                </a:lnTo>
                <a:lnTo>
                  <a:pt x="421" y="41"/>
                </a:lnTo>
                <a:lnTo>
                  <a:pt x="0" y="4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673" name="" descr="{&quot;isTemplate&quot;:true,&quot;type&quot;:&quot;text&quot;}"/>
          <p:cNvSpPr txBox="1"/>
          <p:nvPr/>
        </p:nvSpPr>
        <p:spPr>
          <a:xfrm rot="0" flipH="0" flipV="0">
            <a:off x="7572375" y="4762500"/>
            <a:ext cx="8286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FC107"/>
                </a:solidFill>
                <a:latin typeface="Microsoft YaHei"/>
                <a:ea typeface="Microsoft YaHei"/>
              </a:rPr>
              <a:t>Larman</a:t>
            </a:r>
            <a:endParaRPr/>
          </a:p>
        </p:txBody>
      </p:sp>
      <p:sp>
        <p:nvSpPr>
          <p:cNvPr id="674" name="" descr="{&quot;isTemplate&quot;:true,&quot;type&quot;:&quot;text&quot;}"/>
          <p:cNvSpPr txBox="1"/>
          <p:nvPr/>
        </p:nvSpPr>
        <p:spPr>
          <a:xfrm rot="0" flipH="0" flipV="0">
            <a:off x="8496300" y="4762500"/>
            <a:ext cx="11334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primary textbook</a:t>
            </a:r>
            <a:endParaRPr/>
          </a:p>
        </p:txBody>
      </p:sp>
      <p:sp>
        <p:nvSpPr>
          <p:cNvPr id="675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676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04 / 38</a:t>
            </a:r>
            <a:endParaRPr/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67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Assessment — No Written Exam&lt;/Text&gt;&#10;  &lt;/Box&gt;&#10;  &lt;Box style={{ padding: '8px 40px 0 40px' }}&gt;&#10;    &lt;Box style={{ padding: '10px 18px', background: '#E8EFF8', borderRadius: 8 }}&gt;&#10;      &lt;Text style={{ fontSize: 16, color: '#0E3F8C', fontWeight: 'bold' }}&gt;Course grade = Formative assessment (40 points × 100%) + Summative assessment (100 points × 60%)&lt;/Text&gt;&#10;    &lt;/Box&gt;&#10;  &lt;/Box&gt;&#10;  &lt;Box style={{ flex: 1, padding: '18px 40px 0 40px', flexDirection: 'row', gap: 28, alignItems: 'stretch' }}&gt;&#10;    {[&#10;      { n: '40', pct: ' pts', t: 'Formative', d: 'Attendance 0 · Class participation 10 · Level-3 project 20 · Assignments 10. Built all semester long, counted in full.', hl: true },&#10;      { n: '60', pct: ' pts', t: 'Summative', d: 'Final defense in W16, scored out of 100 × 60%: walkthrough 30 · individual Q&amp;A 55 · English 10 · reflection 5.', hl: false },&#10;      { n: '+5', pct: '', t: 'Bonus', d: 'Extra patterns, exceptional refactoring, outstanding documentation. Course total capped at 100.', hl: false },&#10;    ].map((c, i) =&gt; (&#10;      &lt;Box key={c.t} style={{ flex: 1, padding: '24px 22px', background: i === 0 ? '#0E3F8C' : '#F7F9FC', borderRadius: 12, border: i === 0 ? '1px solid #0E3F8C' : '1px solid #E5E7EB', flexDirection: 'column' }}&gt;&#10;        &lt;Box style={{ flexDirection: 'row', alignItems: 'baseline', marginBottom: 12 }}&gt;&#10;          &lt;Text style={{ fontSize: 64, fontWeight: 'bold', color: i === 0 ? '#FFC107' : '#1E4FA8', lineHeight: 1 }}&gt;{c.n}&lt;/Text&gt;&#10;          &lt;Text style={{ fontSize: 26, fontWeight: 'bold', color: i === 0 ? '#FFC107' : '#1E4FA8' }}&gt;{c.pct}&lt;/Text&gt;&#10;        &lt;/Box&gt;&#10;        &lt;Text style={{ fontSize: 22, fontWeight: 'bold', color: i === 0 ? '#FFFFFF' : '#1A2230', marginBottom: 10 }}&gt;{c.t}&lt;/Text&gt;&#10;        &lt;Text style={{ fontSize: 15, color: i === 0 ? '#C5D4EA' : '#4A5568', lineHeight: 1.55 }}&gt;{c.d}&lt;/Text&gt;&#10;      &lt;/Box&gt;&#10;    ))}&#10;  &lt;/Box&gt;&#10;  &lt;Box style={{ height: 40, padding: '0 40px', flexDirection: 'row', alignItems: 'center', justifyContent: 'space-between' }}&gt;&#10;    &lt;Text style={{ fontSize: 13, color: '#8B97A8' }}&gt;Formative 40 pts counted in full + defense score × 60% — no written exam&lt;/Text&gt;&#10;    &lt;Text style={{ fontSize: 14, color: '#1E4FA8', fontWeight: 'bold' }}&gt;05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7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8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681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682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Assessment — No Written Exam</a:t>
            </a:r>
            <a:endParaRPr/>
          </a:p>
        </p:txBody>
      </p:sp>
      <p:sp>
        <p:nvSpPr>
          <p:cNvPr id="683" name=""/>
          <p:cNvSpPr/>
          <p:nvPr/>
        </p:nvSpPr>
        <p:spPr>
          <a:xfrm rot="0" flipH="0" flipV="0">
            <a:off x="381000" y="1381125"/>
            <a:ext cx="11430000" cy="381000"/>
          </a:xfrm>
          <a:prstGeom prst="roundRect">
            <a:avLst>
              <a:gd name="adj" fmla="val 2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84" name="" descr="{&quot;isTemplate&quot;:true,&quot;type&quot;:&quot;text&quot;}"/>
          <p:cNvSpPr txBox="1"/>
          <p:nvPr/>
        </p:nvSpPr>
        <p:spPr>
          <a:xfrm rot="0" flipH="0" flipV="0">
            <a:off x="552450" y="1476375"/>
            <a:ext cx="110871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Course grade = Formative assessment (40 points × 100%) + Summative assessment (100 points × 60%)</a:t>
            </a:r>
            <a:endParaRPr/>
          </a:p>
        </p:txBody>
      </p:sp>
      <p:sp>
        <p:nvSpPr>
          <p:cNvPr id="685" name=""/>
          <p:cNvSpPr/>
          <p:nvPr/>
        </p:nvSpPr>
        <p:spPr>
          <a:xfrm rot="0" flipH="0" flipV="0">
            <a:off x="381000" y="1933575"/>
            <a:ext cx="3629025" cy="4543425"/>
          </a:xfrm>
          <a:prstGeom prst="roundRect">
            <a:avLst>
              <a:gd name="adj" fmla="val 3150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  <p:txBody>
          <a:bodyPr/>
          <a:p/>
        </p:txBody>
      </p:sp>
      <p:sp>
        <p:nvSpPr>
          <p:cNvPr id="686" name="" descr="{&quot;isTemplate&quot;:true,&quot;type&quot;:&quot;text&quot;}"/>
          <p:cNvSpPr txBox="1"/>
          <p:nvPr/>
        </p:nvSpPr>
        <p:spPr>
          <a:xfrm rot="0" flipH="0" flipV="0">
            <a:off x="590550" y="2162175"/>
            <a:ext cx="685800" cy="7334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800" b="1">
                <a:solidFill>
                  <a:srgbClr val="FFC107"/>
                </a:solidFill>
                <a:latin typeface="Microsoft YaHei"/>
                <a:ea typeface="Microsoft YaHei"/>
              </a:rPr>
              <a:t>40</a:t>
            </a:r>
            <a:endParaRPr/>
          </a:p>
        </p:txBody>
      </p:sp>
      <p:sp>
        <p:nvSpPr>
          <p:cNvPr id="687" name="" descr="{&quot;isTemplate&quot;:true,&quot;type&quot;:&quot;text&quot;}"/>
          <p:cNvSpPr txBox="1"/>
          <p:nvPr/>
        </p:nvSpPr>
        <p:spPr>
          <a:xfrm rot="0" flipH="0" flipV="0">
            <a:off x="1276350" y="2162175"/>
            <a:ext cx="447675" cy="7334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FFC107"/>
                </a:solidFill>
                <a:latin typeface="Microsoft YaHei"/>
                <a:ea typeface="Microsoft YaHei"/>
              </a:rPr>
              <a:t> pts</a:t>
            </a:r>
            <a:endParaRPr/>
          </a:p>
        </p:txBody>
      </p:sp>
      <p:sp>
        <p:nvSpPr>
          <p:cNvPr id="688" name="" descr="{&quot;isTemplate&quot;:true,&quot;type&quot;:&quot;text&quot;}"/>
          <p:cNvSpPr txBox="1"/>
          <p:nvPr/>
        </p:nvSpPr>
        <p:spPr>
          <a:xfrm rot="0" flipH="0" flipV="0">
            <a:off x="590550" y="3009900"/>
            <a:ext cx="32099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Formative</a:t>
            </a:r>
            <a:endParaRPr/>
          </a:p>
        </p:txBody>
      </p:sp>
      <p:sp>
        <p:nvSpPr>
          <p:cNvPr id="689" name="" descr="{&quot;isTemplate&quot;:true,&quot;type&quot;:&quot;text&quot;}"/>
          <p:cNvSpPr txBox="1"/>
          <p:nvPr/>
        </p:nvSpPr>
        <p:spPr>
          <a:xfrm rot="0" flipH="0" flipV="0">
            <a:off x="590550" y="3362325"/>
            <a:ext cx="3209925" cy="800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Attendance 0 · Class participation 10 · Level-3 project 20 · Assignments 10. Built all semester long, counted in full.</a:t>
            </a:r>
            <a:endParaRPr/>
          </a:p>
        </p:txBody>
      </p:sp>
      <p:sp>
        <p:nvSpPr>
          <p:cNvPr id="690" name=""/>
          <p:cNvSpPr/>
          <p:nvPr/>
        </p:nvSpPr>
        <p:spPr>
          <a:xfrm rot="0" flipH="0" flipV="0">
            <a:off x="4276725" y="1933575"/>
            <a:ext cx="3638550" cy="4543425"/>
          </a:xfrm>
          <a:prstGeom prst="roundRect">
            <a:avLst>
              <a:gd name="adj" fmla="val 314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91" name="" descr="{&quot;isTemplate&quot;:true,&quot;type&quot;:&quot;text&quot;}"/>
          <p:cNvSpPr txBox="1"/>
          <p:nvPr/>
        </p:nvSpPr>
        <p:spPr>
          <a:xfrm rot="0" flipH="0" flipV="0">
            <a:off x="4486275" y="2162175"/>
            <a:ext cx="685800" cy="7334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800" b="1">
                <a:solidFill>
                  <a:srgbClr val="1E4FA8"/>
                </a:solidFill>
                <a:latin typeface="Microsoft YaHei"/>
                <a:ea typeface="Microsoft YaHei"/>
              </a:rPr>
              <a:t>60</a:t>
            </a:r>
            <a:endParaRPr/>
          </a:p>
        </p:txBody>
      </p:sp>
      <p:sp>
        <p:nvSpPr>
          <p:cNvPr id="692" name="" descr="{&quot;isTemplate&quot;:true,&quot;type&quot;:&quot;text&quot;}"/>
          <p:cNvSpPr txBox="1"/>
          <p:nvPr/>
        </p:nvSpPr>
        <p:spPr>
          <a:xfrm rot="0" flipH="0" flipV="0">
            <a:off x="5172075" y="2162175"/>
            <a:ext cx="447675" cy="7334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1E4FA8"/>
                </a:solidFill>
                <a:latin typeface="Microsoft YaHei"/>
                <a:ea typeface="Microsoft YaHei"/>
              </a:rPr>
              <a:t> pts</a:t>
            </a:r>
            <a:endParaRPr/>
          </a:p>
        </p:txBody>
      </p:sp>
      <p:sp>
        <p:nvSpPr>
          <p:cNvPr id="693" name="" descr="{&quot;isTemplate&quot;:true,&quot;type&quot;:&quot;text&quot;}"/>
          <p:cNvSpPr txBox="1"/>
          <p:nvPr/>
        </p:nvSpPr>
        <p:spPr>
          <a:xfrm rot="0" flipH="0" flipV="0">
            <a:off x="4486275" y="3009900"/>
            <a:ext cx="32194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>Summative</a:t>
            </a:r>
            <a:endParaRPr/>
          </a:p>
        </p:txBody>
      </p:sp>
      <p:sp>
        <p:nvSpPr>
          <p:cNvPr id="694" name="" descr="{&quot;isTemplate&quot;:true,&quot;type&quot;:&quot;text&quot;}"/>
          <p:cNvSpPr txBox="1"/>
          <p:nvPr/>
        </p:nvSpPr>
        <p:spPr>
          <a:xfrm rot="0" flipH="0" flipV="0">
            <a:off x="4486275" y="3362325"/>
            <a:ext cx="3219450" cy="800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Final defense in W16, scored out of 100 × 60%: walkthrough 30 · individual Q&amp;A 55 · English 10 · reflection 5.</a:t>
            </a:r>
            <a:endParaRPr/>
          </a:p>
        </p:txBody>
      </p:sp>
      <p:sp>
        <p:nvSpPr>
          <p:cNvPr id="695" name=""/>
          <p:cNvSpPr/>
          <p:nvPr/>
        </p:nvSpPr>
        <p:spPr>
          <a:xfrm rot="0" flipH="0" flipV="0">
            <a:off x="8181975" y="1933575"/>
            <a:ext cx="3629025" cy="4543425"/>
          </a:xfrm>
          <a:prstGeom prst="roundRect">
            <a:avLst>
              <a:gd name="adj" fmla="val 315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96" name="" descr="{&quot;isTemplate&quot;:true,&quot;type&quot;:&quot;text&quot;}"/>
          <p:cNvSpPr txBox="1"/>
          <p:nvPr/>
        </p:nvSpPr>
        <p:spPr>
          <a:xfrm rot="0" flipH="0" flipV="0">
            <a:off x="8391525" y="2162175"/>
            <a:ext cx="695325" cy="7334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800" b="1">
                <a:solidFill>
                  <a:srgbClr val="1E4FA8"/>
                </a:solidFill>
                <a:latin typeface="Microsoft YaHei"/>
                <a:ea typeface="Microsoft YaHei"/>
              </a:rPr>
              <a:t>+5</a:t>
            </a:r>
            <a:endParaRPr/>
          </a:p>
        </p:txBody>
      </p:sp>
      <p:sp>
        <p:nvSpPr>
          <p:cNvPr id="697" name="" descr="{&quot;isTemplate&quot;:true,&quot;type&quot;:&quot;text&quot;}"/>
          <p:cNvSpPr txBox="1"/>
          <p:nvPr/>
        </p:nvSpPr>
        <p:spPr>
          <a:xfrm rot="0" flipH="0" flipV="0">
            <a:off x="9086850" y="2162175"/>
            <a:ext cx="0" cy="0"/>
          </a:xfrm>
          <a:prstGeom prst="rect"/>
        </p:spPr>
        <p:txBody>
          <a:bodyPr wrap="none" lIns="0" tIns="0" rIns="0" bIns="0"/>
          <a:p>
            <a:pPr/>
            <a:endParaRPr/>
          </a:p>
        </p:txBody>
      </p:sp>
      <p:sp>
        <p:nvSpPr>
          <p:cNvPr id="698" name="" descr="{&quot;isTemplate&quot;:true,&quot;type&quot;:&quot;text&quot;}"/>
          <p:cNvSpPr txBox="1"/>
          <p:nvPr/>
        </p:nvSpPr>
        <p:spPr>
          <a:xfrm rot="0" flipH="0" flipV="0">
            <a:off x="8391525" y="3009900"/>
            <a:ext cx="32099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1A2230"/>
                </a:solidFill>
                <a:latin typeface="Microsoft YaHei"/>
                <a:ea typeface="Microsoft YaHei"/>
              </a:rPr>
              <a:t>Bonus</a:t>
            </a:r>
            <a:endParaRPr/>
          </a:p>
        </p:txBody>
      </p:sp>
      <p:sp>
        <p:nvSpPr>
          <p:cNvPr id="699" name="" descr="{&quot;isTemplate&quot;:true,&quot;type&quot;:&quot;text&quot;}"/>
          <p:cNvSpPr txBox="1"/>
          <p:nvPr/>
        </p:nvSpPr>
        <p:spPr>
          <a:xfrm rot="0" flipH="0" flipV="0">
            <a:off x="8391525" y="3362325"/>
            <a:ext cx="3209925" cy="800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Extra patterns, exceptional refactoring, outstanding documentation. Course total capped at 100.</a:t>
            </a:r>
            <a:endParaRPr/>
          </a:p>
        </p:txBody>
      </p:sp>
      <p:sp>
        <p:nvSpPr>
          <p:cNvPr id="700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4095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Formative 40 pts counted in full + defense score × 60% — no written exam</a:t>
            </a:r>
            <a:endParaRPr/>
          </a:p>
        </p:txBody>
      </p:sp>
      <p:sp>
        <p:nvSpPr>
          <p:cNvPr id="701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05 / 38</a:t>
            </a:r>
            <a:endParaRPr/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70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2px 40px 0 40px' }}&gt;&#10;    &lt;Text style={{ fontSize: 33, fontWeight: 'bold', color: '#0E3F8C' }}&gt;Assessment in Detail&lt;/Text&gt;&#10;  &lt;/Box&gt;&#10;  &lt;Box style={{ flex: 1, padding: '16px 40px 0 40px', flexDirection: 'row', gap: 22, alignItems: 'stretch' }}&gt;&#10;    &lt;Box style={{ flex: 1, padding: '18px 18px', background: '#F7F9FC', borderRadius: 12, border: '1px solid #E5E7EB', flexDirection: 'column' }}&gt;&#10;      &lt;Box style={{ flexDirection: 'row', alignItems: 'baseline', marginBottom: 12 }}&gt;&#10;        &lt;Text style={{ fontSize: 40, fontWeight: 'bold', color: '#0E3F8C', lineHeight: 1 }}&gt;40&lt;/Text&gt;&#10;        &lt;Text style={{ fontSize: 20, fontWeight: 'bold', color: '#0E3F8C' }}&gt; pts&lt;/Text&gt;&#10;        &lt;Text style={{ fontSize: 18, fontWeight: 'bold', color: '#1A2230', marginLeft: 10 }}&gt;Formative × 100%&lt;/Text&gt;&#10;      &lt;/Box&gt;&#10;      {[&#10;        ['F1', 'Attendance', '0'],&#10;        ['F2', 'Class participation', '10'],&#10;        ['F3', 'Level-3 project (CampusBites)', '20'],&#10;        ['F4', 'Assignments (5 × 2)', '10'],&#10;      ].map(([id, t, w]) =&gt; (&#10;        &lt;Box key={id} style={{ flexDirection: 'row', alignItems: 'center', gap: 10, padding: '10px 0', borderBottom: '1px solid #E5E7EB' }}&gt;&#10;          &lt;Box style={{ width: 34, height: 22, borderRadius: 5, background: '#E8EFF8', justifyContent: 'center', alignItems: 'center' }}&gt;&#10;            &lt;Text style={{ fontSize: 12, fontWeight: 'bold', color: '#1E4FA8' }}&gt;{id}&lt;/Text&gt;&#10;          &lt;/Box&gt;&#10;          &lt;Text style={{ flex: 1, fontSize: 14, color: '#4A5568' }}&gt;{t}&lt;/Text&gt;&#10;          &lt;Text style={{ fontSize: 14, fontWeight: 'bold', color: '#1E4FA8' }}&gt;{w}&lt;/Text&gt;&#10;        &lt;/Box&gt;&#10;      ))}&#10;      &lt;Box style={{ marginTop: 12, padding: '12px 14px', background: '#FFFFFF', borderRadius: 8, border: '1px solid #E5E7EB' }}&gt;&#10;        &lt;Text style={{ fontSize: 13, color: '#4A5568', lineHeight: 1.5 }}&gt;F3 = milestones &lt;span style={{ fontWeight: 'bold', color: '#1A2230' }}&gt;14&lt;/span&gt; (M0 1 · M1 3 · M2 4 · M3 3 · M4 3) + &lt;span style={{ fontWeight: 'bold', color: '#1A2230' }}&gt;your own&lt;/span&gt; contribution &amp;amp; Git 6.&lt;/Text&gt;&#10;      &lt;/Box&gt;&#10;    &lt;/Box&gt;&#10;    &lt;Box style={{ flex: 1, padding: '18px 18px', background: '#0E3F8C', borderRadius: 12, flexDirection: 'column' }}&gt;&#10;      &lt;Box style={{ flexDirection: 'row', alignItems: 'baseline', marginBottom: 12 }}&gt;&#10;        &lt;Text style={{ fontSize: 40, fontWeight: 'bold', color: '#FFC107', lineHeight: 1 }}&gt;100&lt;/Text&gt;&#10;        &lt;Text style={{ fontSize: 20, fontWeight: 'bold', color: '#FFC107' }}&gt; × 60%&lt;/Text&gt;&#10;        &lt;Text style={{ fontSize: 18, fontWeight: 'bold', color: '#FFFFFF', marginLeft: 10 }}&gt;Summative · W16 defense&lt;/Text&gt;&#10;      &lt;/Box&gt;&#10;      {[&#10;        ['S1', 'Portfolio walkthrough (team)', '30'],&#10;        ['S2', 'Individual Q&amp;A', '55'],&#10;        ['S3', 'English communication', '10'],&#10;        ['S4', 'Reflection &amp; contribution report', '5'],&#10;      ].map(([id, t, w]) =&gt; (&#10;        &lt;Box key={id} style={{ flexDirection: 'row', alignItems: 'center', gap: 10, padding: '10px 0', borderBottom: '1px solid #2B5793' }}&gt;&#10;          &lt;Box style={{ width: 34, height: 22, borderRadius: 5, background: '#2B5793', justifyContent: 'center', alignItems: 'center' }}&gt;&#10;            &lt;Text style={{ fontSize: 12, fontWeight: 'bold', color: '#FFC107' }}&gt;{id}&lt;/Text&gt;&#10;          &lt;/Box&gt;&#10;          &lt;Text style={{ flex: 1, fontSize: 14, color: '#C5D4EA' }}&gt;{t}&lt;/Text&gt;&#10;          &lt;Text style={{ fontSize: 14, fontWeight: 'bold', color: '#FFC107' }}&gt;{w}&lt;/Text&gt;&#10;        &lt;/Box&gt;&#10;      ))}&#10;      &lt;Box style={{ marginTop: 12, padding: '12px 14px', background: '#16325F', borderRadius: 8 }}&gt;&#10;        &lt;Text style={{ fontSize: 13, color: '#B9CDF0', lineHeight: 1.5 }}&gt;Every member is questioned on &lt;span style={{ fontWeight: 'bold', color: '#FFFFFF' }}&gt;any part&lt;/span&gt; of the team's work — not just &quot;your part&quot;.&lt;/Text&gt;&#10;      &lt;/Box&gt;&#10;    &lt;/Box&gt;&#10;    &lt;Box style={{ flex: 1, padding: '18px 18px', background: '#F7F9FC', borderRadius: 12, border: '1px solid #E5E7EB', flexDirection: 'column' }}&gt;&#10;      &lt;Box style={{ flexDirection: 'row', alignItems: 'baseline', marginBottom: 12 }}&gt;&#10;        &lt;Text style={{ fontSize: 40, fontWeight: 'bold', color: '#1E4FA8', lineHeight: 1 }}&gt;+5&lt;/Text&gt;&#10;        &lt;Text style={{ fontSize: 20, fontWeight: 'bold', color: '#1E4FA8' }}&gt; max&lt;/Text&gt;&#10;        &lt;Text style={{ fontSize: 18, fontWeight: 'bold', color: '#1A2230', marginLeft: 10 }}&gt;Bonus · cap 100&lt;/Text&gt;&#10;      &lt;/Box&gt;&#10;      {[&#10;        ['C1', 'Extra patterns (correct)', '+2'],&#10;        ['C2', 'Refactoring narrative', '+2'],&#10;        ['C3', 'Outstanding docs', '+1'],&#10;      ].map(([id, t, w]) =&gt; (&#10;        &lt;Box key={id} style={{ flexDirection: 'row', alignItems: 'center', gap: 10, padding: '10px 0', borderBottom: '1px solid #E5E7EB' }}&gt;&#10;          &lt;Box style={{ width: 34, height: 22, borderRadius: 5, background: '#E8EFF8', justifyContent: 'center', alignItems: 'center' }}&gt;&#10;            &lt;Text style={{ fontSize: 12, fontWeight: 'bold', color: '#1E4FA8' }}&gt;{id}&lt;/Text&gt;&#10;          &lt;/Box&gt;&#10;          &lt;Text style={{ flex: 1, fontSize: 14, color: '#4A5568' }}&gt;{t}&lt;/Text&gt;&#10;          &lt;Text style={{ fontSize: 13, fontWeight: 'bold', color: '#D9534F' }}&gt;{w}&lt;/Text&gt;&#10;        &lt;/Box&gt;&#10;      ))}&#10;      &lt;Box style={{ marginTop: 12, padding: '12px 14px', background: '#FFFFFF', borderRadius: 8, border: '1px solid #E5E7EB' }}&gt;&#10;        &lt;Text style={{ fontSize: 13, color: '#4A5568', lineHeight: 1.5 }}&gt;Weekly exercises feed &lt;span style={{ fontWeight: 'bold', color: '#1A2230' }}&gt;F2 participation&lt;/span&gt; (4 pts) — checked and discussed in class every week.&lt;/Text&gt;&#10;      &lt;/Box&gt;&#10;    &lt;/Box&gt;&#10;  &lt;/Box&gt;&#10;  &lt;Box style={{ height: 44, padding: '0 40px', flexDirection: 'row', alignItems: 'center', justifyContent: 'space-between', background: '#F7F9FC', borderTop: '1px solid #E5E7EB' }}&gt;&#10;    &lt;Box style={{ flexDirection: 'row', alignItems: 'center', gap: 8, flex: 1 }}&gt;&#10;      &lt;Text style={{ fontSize: 13, fontWeight: 'bold', color: '#0E3F8C' }}&gt;Milestones&lt;/Text&gt;&#10;      &lt;Text style={{ fontSize: 13, color: '#4A5568' }}&gt;M0 Sep 11 · M1 Oct 4 · M2 Oct 25 · M3 Nov 22 · M4 Dec 6 · M5 defense Dec 14–18&lt;/Text&gt;&#10;    &lt;/Box&gt;&#10;    &lt;Text style={{ fontSize: 14, color: '#1E4FA8', fontWeight: 'bold' }}&gt;0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0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0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706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707" name="" descr="{&quot;isTemplate&quot;:true,&quot;type&quot;:&quot;text&quot;}"/>
          <p:cNvSpPr txBox="1"/>
          <p:nvPr/>
        </p:nvSpPr>
        <p:spPr>
          <a:xfrm rot="0" flipH="0" flipV="0">
            <a:off x="381000" y="895350"/>
            <a:ext cx="114300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75" b="1">
                <a:solidFill>
                  <a:srgbClr val="0E3F8C"/>
                </a:solidFill>
                <a:latin typeface="Microsoft YaHei"/>
                <a:ea typeface="Microsoft YaHei"/>
              </a:rPr>
              <a:t>Assessment in Detail</a:t>
            </a:r>
            <a:endParaRPr/>
          </a:p>
        </p:txBody>
      </p:sp>
      <p:sp>
        <p:nvSpPr>
          <p:cNvPr id="708" name=""/>
          <p:cNvSpPr/>
          <p:nvPr/>
        </p:nvSpPr>
        <p:spPr>
          <a:xfrm rot="0" flipH="0" flipV="0">
            <a:off x="381000" y="1428750"/>
            <a:ext cx="3667125" cy="5010150"/>
          </a:xfrm>
          <a:prstGeom prst="roundRect">
            <a:avLst>
              <a:gd name="adj" fmla="val 31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09" name="" descr="{&quot;isTemplate&quot;:true,&quot;type&quot;:&quot;text&quot;}"/>
          <p:cNvSpPr txBox="1"/>
          <p:nvPr/>
        </p:nvSpPr>
        <p:spPr>
          <a:xfrm rot="0" flipH="0" flipV="0">
            <a:off x="552450" y="1600200"/>
            <a:ext cx="428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0E3F8C"/>
                </a:solidFill>
                <a:latin typeface="Microsoft YaHei"/>
                <a:ea typeface="Microsoft YaHei"/>
              </a:rPr>
              <a:t>40</a:t>
            </a:r>
            <a:endParaRPr/>
          </a:p>
        </p:txBody>
      </p:sp>
      <p:sp>
        <p:nvSpPr>
          <p:cNvPr id="710" name="" descr="{&quot;isTemplate&quot;:true,&quot;type&quot;:&quot;text&quot;}"/>
          <p:cNvSpPr txBox="1"/>
          <p:nvPr/>
        </p:nvSpPr>
        <p:spPr>
          <a:xfrm rot="0" flipH="0" flipV="0">
            <a:off x="981075" y="1600200"/>
            <a:ext cx="3429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Microsoft YaHei"/>
                <a:ea typeface="Microsoft YaHei"/>
              </a:rPr>
              <a:t> pts</a:t>
            </a:r>
            <a:endParaRPr/>
          </a:p>
        </p:txBody>
      </p:sp>
      <p:sp>
        <p:nvSpPr>
          <p:cNvPr id="711" name="" descr="{&quot;isTemplate&quot;:true,&quot;type&quot;:&quot;text&quot;}"/>
          <p:cNvSpPr txBox="1"/>
          <p:nvPr/>
        </p:nvSpPr>
        <p:spPr>
          <a:xfrm rot="0" flipH="0" flipV="0">
            <a:off x="1419225" y="1600200"/>
            <a:ext cx="14573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Formative × 100%</a:t>
            </a:r>
            <a:endParaRPr/>
          </a:p>
        </p:txBody>
      </p:sp>
      <p:sp>
        <p:nvSpPr>
          <p:cNvPr id="712" name=""/>
          <p:cNvSpPr/>
          <p:nvPr/>
        </p:nvSpPr>
        <p:spPr>
          <a:xfrm rot="0" flipH="0" flipV="0">
            <a:off x="552450" y="2171700"/>
            <a:ext cx="3324225" cy="419100"/>
          </a:xfrm>
          <a:custGeom>
            <a:pathLst>
              <a:path w="349" h="44">
                <a:moveTo>
                  <a:pt x="0" y="43"/>
                </a:moveTo>
                <a:lnTo>
                  <a:pt x="349" y="43"/>
                </a:lnTo>
                <a:lnTo>
                  <a:pt x="349" y="44"/>
                </a:lnTo>
                <a:lnTo>
                  <a:pt x="0" y="44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13" name=""/>
          <p:cNvSpPr/>
          <p:nvPr/>
        </p:nvSpPr>
        <p:spPr>
          <a:xfrm rot="0" flipH="0" flipV="0">
            <a:off x="552450" y="226695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14" name="" descr="{&quot;isTemplate&quot;:true,&quot;type&quot;:&quot;text&quot;}"/>
          <p:cNvSpPr txBox="1"/>
          <p:nvPr/>
        </p:nvSpPr>
        <p:spPr>
          <a:xfrm rot="0" flipH="0" flipV="0">
            <a:off x="647700" y="2305050"/>
            <a:ext cx="1428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F1</a:t>
            </a:r>
            <a:endParaRPr/>
          </a:p>
        </p:txBody>
      </p:sp>
      <p:sp>
        <p:nvSpPr>
          <p:cNvPr id="715" name="" descr="{&quot;isTemplate&quot;:true,&quot;type&quot;:&quot;text&quot;}"/>
          <p:cNvSpPr txBox="1"/>
          <p:nvPr/>
        </p:nvSpPr>
        <p:spPr>
          <a:xfrm rot="0" flipH="0" flipV="0">
            <a:off x="971550" y="2295525"/>
            <a:ext cx="27336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Attendance</a:t>
            </a:r>
            <a:endParaRPr/>
          </a:p>
        </p:txBody>
      </p:sp>
      <p:sp>
        <p:nvSpPr>
          <p:cNvPr id="716" name="" descr="{&quot;isTemplate&quot;:true,&quot;type&quot;:&quot;text&quot;}"/>
          <p:cNvSpPr txBox="1"/>
          <p:nvPr/>
        </p:nvSpPr>
        <p:spPr>
          <a:xfrm rot="0" flipH="0" flipV="0">
            <a:off x="3800475" y="2295525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</a:t>
            </a:r>
            <a:endParaRPr/>
          </a:p>
        </p:txBody>
      </p:sp>
      <p:sp>
        <p:nvSpPr>
          <p:cNvPr id="717" name=""/>
          <p:cNvSpPr/>
          <p:nvPr/>
        </p:nvSpPr>
        <p:spPr>
          <a:xfrm rot="0" flipH="0" flipV="0">
            <a:off x="552450" y="2581275"/>
            <a:ext cx="3324225" cy="419100"/>
          </a:xfrm>
          <a:custGeom>
            <a:pathLst>
              <a:path w="349" h="44">
                <a:moveTo>
                  <a:pt x="0" y="43"/>
                </a:moveTo>
                <a:lnTo>
                  <a:pt x="349" y="43"/>
                </a:lnTo>
                <a:lnTo>
                  <a:pt x="349" y="44"/>
                </a:lnTo>
                <a:lnTo>
                  <a:pt x="0" y="44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18" name=""/>
          <p:cNvSpPr/>
          <p:nvPr/>
        </p:nvSpPr>
        <p:spPr>
          <a:xfrm rot="0" flipH="0" flipV="0">
            <a:off x="552450" y="2676525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19" name="" descr="{&quot;isTemplate&quot;:true,&quot;type&quot;:&quot;text&quot;}"/>
          <p:cNvSpPr txBox="1"/>
          <p:nvPr/>
        </p:nvSpPr>
        <p:spPr>
          <a:xfrm rot="0" flipH="0" flipV="0">
            <a:off x="647700" y="2714625"/>
            <a:ext cx="1428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F2</a:t>
            </a:r>
            <a:endParaRPr/>
          </a:p>
        </p:txBody>
      </p:sp>
      <p:sp>
        <p:nvSpPr>
          <p:cNvPr id="720" name="" descr="{&quot;isTemplate&quot;:true,&quot;type&quot;:&quot;text&quot;}"/>
          <p:cNvSpPr txBox="1"/>
          <p:nvPr/>
        </p:nvSpPr>
        <p:spPr>
          <a:xfrm rot="0" flipH="0" flipV="0">
            <a:off x="971550" y="2705100"/>
            <a:ext cx="2657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Class participation</a:t>
            </a:r>
            <a:endParaRPr/>
          </a:p>
        </p:txBody>
      </p:sp>
      <p:sp>
        <p:nvSpPr>
          <p:cNvPr id="721" name="" descr="{&quot;isTemplate&quot;:true,&quot;type&quot;:&quot;text&quot;}"/>
          <p:cNvSpPr txBox="1"/>
          <p:nvPr/>
        </p:nvSpPr>
        <p:spPr>
          <a:xfrm rot="0" flipH="0" flipV="0">
            <a:off x="3724275" y="2705100"/>
            <a:ext cx="152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10</a:t>
            </a:r>
            <a:endParaRPr/>
          </a:p>
        </p:txBody>
      </p:sp>
      <p:sp>
        <p:nvSpPr>
          <p:cNvPr id="722" name=""/>
          <p:cNvSpPr/>
          <p:nvPr/>
        </p:nvSpPr>
        <p:spPr>
          <a:xfrm rot="0" flipH="0" flipV="0">
            <a:off x="552450" y="2990850"/>
            <a:ext cx="3324225" cy="419100"/>
          </a:xfrm>
          <a:custGeom>
            <a:pathLst>
              <a:path w="349" h="44">
                <a:moveTo>
                  <a:pt x="0" y="43"/>
                </a:moveTo>
                <a:lnTo>
                  <a:pt x="349" y="43"/>
                </a:lnTo>
                <a:lnTo>
                  <a:pt x="349" y="44"/>
                </a:lnTo>
                <a:lnTo>
                  <a:pt x="0" y="44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23" name=""/>
          <p:cNvSpPr/>
          <p:nvPr/>
        </p:nvSpPr>
        <p:spPr>
          <a:xfrm rot="0" flipH="0" flipV="0">
            <a:off x="552450" y="308610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24" name="" descr="{&quot;isTemplate&quot;:true,&quot;type&quot;:&quot;text&quot;}"/>
          <p:cNvSpPr txBox="1"/>
          <p:nvPr/>
        </p:nvSpPr>
        <p:spPr>
          <a:xfrm rot="0" flipH="0" flipV="0">
            <a:off x="647700" y="3124200"/>
            <a:ext cx="1428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F3</a:t>
            </a:r>
            <a:endParaRPr/>
          </a:p>
        </p:txBody>
      </p:sp>
      <p:sp>
        <p:nvSpPr>
          <p:cNvPr id="725" name="" descr="{&quot;isTemplate&quot;:true,&quot;type&quot;:&quot;text&quot;}"/>
          <p:cNvSpPr txBox="1"/>
          <p:nvPr/>
        </p:nvSpPr>
        <p:spPr>
          <a:xfrm rot="0" flipH="0" flipV="0">
            <a:off x="971550" y="3114675"/>
            <a:ext cx="2657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Level-3 project (CampusBites)</a:t>
            </a:r>
            <a:endParaRPr/>
          </a:p>
        </p:txBody>
      </p:sp>
      <p:sp>
        <p:nvSpPr>
          <p:cNvPr id="726" name="" descr="{&quot;isTemplate&quot;:true,&quot;type&quot;:&quot;text&quot;}"/>
          <p:cNvSpPr txBox="1"/>
          <p:nvPr/>
        </p:nvSpPr>
        <p:spPr>
          <a:xfrm rot="0" flipH="0" flipV="0">
            <a:off x="3724275" y="3114675"/>
            <a:ext cx="152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20</a:t>
            </a:r>
            <a:endParaRPr/>
          </a:p>
        </p:txBody>
      </p:sp>
      <p:sp>
        <p:nvSpPr>
          <p:cNvPr id="727" name=""/>
          <p:cNvSpPr/>
          <p:nvPr/>
        </p:nvSpPr>
        <p:spPr>
          <a:xfrm rot="0" flipH="0" flipV="0">
            <a:off x="552450" y="3400425"/>
            <a:ext cx="3324225" cy="419100"/>
          </a:xfrm>
          <a:custGeom>
            <a:pathLst>
              <a:path w="349" h="44">
                <a:moveTo>
                  <a:pt x="0" y="43"/>
                </a:moveTo>
                <a:lnTo>
                  <a:pt x="349" y="43"/>
                </a:lnTo>
                <a:lnTo>
                  <a:pt x="349" y="44"/>
                </a:lnTo>
                <a:lnTo>
                  <a:pt x="0" y="44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28" name=""/>
          <p:cNvSpPr/>
          <p:nvPr/>
        </p:nvSpPr>
        <p:spPr>
          <a:xfrm rot="0" flipH="0" flipV="0">
            <a:off x="552450" y="3495675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29" name="" descr="{&quot;isTemplate&quot;:true,&quot;type&quot;:&quot;text&quot;}"/>
          <p:cNvSpPr txBox="1"/>
          <p:nvPr/>
        </p:nvSpPr>
        <p:spPr>
          <a:xfrm rot="0" flipH="0" flipV="0">
            <a:off x="647700" y="3533775"/>
            <a:ext cx="1428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F4</a:t>
            </a:r>
            <a:endParaRPr/>
          </a:p>
        </p:txBody>
      </p:sp>
      <p:sp>
        <p:nvSpPr>
          <p:cNvPr id="730" name="" descr="{&quot;isTemplate&quot;:true,&quot;type&quot;:&quot;text&quot;}"/>
          <p:cNvSpPr txBox="1"/>
          <p:nvPr/>
        </p:nvSpPr>
        <p:spPr>
          <a:xfrm rot="0" flipH="0" flipV="0">
            <a:off x="971550" y="3524250"/>
            <a:ext cx="26574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Assignments (5 × 2)</a:t>
            </a:r>
            <a:endParaRPr/>
          </a:p>
        </p:txBody>
      </p:sp>
      <p:sp>
        <p:nvSpPr>
          <p:cNvPr id="731" name="" descr="{&quot;isTemplate&quot;:true,&quot;type&quot;:&quot;text&quot;}"/>
          <p:cNvSpPr txBox="1"/>
          <p:nvPr/>
        </p:nvSpPr>
        <p:spPr>
          <a:xfrm rot="0" flipH="0" flipV="0">
            <a:off x="3724275" y="3524250"/>
            <a:ext cx="152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10</a:t>
            </a:r>
            <a:endParaRPr/>
          </a:p>
        </p:txBody>
      </p:sp>
      <p:sp>
        <p:nvSpPr>
          <p:cNvPr id="732" name=""/>
          <p:cNvSpPr/>
          <p:nvPr/>
        </p:nvSpPr>
        <p:spPr>
          <a:xfrm rot="0" flipH="0" flipV="0">
            <a:off x="552450" y="3924300"/>
            <a:ext cx="3324225" cy="676275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33" name="" descr="{&quot;isTemplate&quot;:true,&quot;type&quot;:&quot;text&quot;}"/>
          <p:cNvSpPr txBox="1"/>
          <p:nvPr/>
        </p:nvSpPr>
        <p:spPr>
          <a:xfrm rot="0" flipH="0" flipV="0">
            <a:off x="685800" y="4038600"/>
            <a:ext cx="3057525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F3 = milestones </a:t>
            </a:r>
            <a:r>
              <a:rPr lang="en-US" sz="975" b="1">
                <a:solidFill>
                  <a:srgbClr val="1A2230"/>
                </a:solidFill>
                <a:latin typeface="Microsoft YaHei"/>
                <a:ea typeface="Microsoft YaHei"/>
              </a:rPr>
              <a:t>14</a:t>
            </a: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 (M0 1 · M1 3 · M2 4 · M3 3 · M4 3) + </a:t>
            </a:r>
            <a:r>
              <a:rPr lang="en-US" sz="975" b="1">
                <a:solidFill>
                  <a:srgbClr val="1A2230"/>
                </a:solidFill>
                <a:latin typeface="Microsoft YaHei"/>
                <a:ea typeface="Microsoft YaHei"/>
              </a:rPr>
              <a:t>your own</a:t>
            </a: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 contribution &amp; Git 6.</a:t>
            </a:r>
            <a:endParaRPr/>
          </a:p>
        </p:txBody>
      </p:sp>
      <p:sp>
        <p:nvSpPr>
          <p:cNvPr id="734" name=""/>
          <p:cNvSpPr/>
          <p:nvPr/>
        </p:nvSpPr>
        <p:spPr>
          <a:xfrm rot="0" flipH="0" flipV="0">
            <a:off x="4257675" y="1428750"/>
            <a:ext cx="3676650" cy="5010150"/>
          </a:xfrm>
          <a:prstGeom prst="roundRect">
            <a:avLst>
              <a:gd name="adj" fmla="val 310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35" name="" descr="{&quot;isTemplate&quot;:true,&quot;type&quot;:&quot;text&quot;}"/>
          <p:cNvSpPr txBox="1"/>
          <p:nvPr/>
        </p:nvSpPr>
        <p:spPr>
          <a:xfrm rot="0" flipH="0" flipV="0">
            <a:off x="4429125" y="1600200"/>
            <a:ext cx="6191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FFC107"/>
                </a:solidFill>
                <a:latin typeface="Microsoft YaHei"/>
                <a:ea typeface="Microsoft YaHei"/>
              </a:rPr>
              <a:t>100</a:t>
            </a:r>
            <a:endParaRPr/>
          </a:p>
        </p:txBody>
      </p:sp>
      <p:sp>
        <p:nvSpPr>
          <p:cNvPr id="736" name="" descr="{&quot;isTemplate&quot;:true,&quot;type&quot;:&quot;text&quot;}"/>
          <p:cNvSpPr txBox="1"/>
          <p:nvPr/>
        </p:nvSpPr>
        <p:spPr>
          <a:xfrm rot="0" flipH="0" flipV="0">
            <a:off x="5048250" y="1600200"/>
            <a:ext cx="57150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C107"/>
                </a:solidFill>
                <a:latin typeface="Microsoft YaHei"/>
                <a:ea typeface="Microsoft YaHei"/>
              </a:rPr>
              <a:t> × 60%</a:t>
            </a:r>
            <a:endParaRPr/>
          </a:p>
        </p:txBody>
      </p:sp>
      <p:sp>
        <p:nvSpPr>
          <p:cNvPr id="737" name="" descr="{&quot;isTemplate&quot;:true,&quot;type&quot;:&quot;text&quot;}"/>
          <p:cNvSpPr txBox="1"/>
          <p:nvPr/>
        </p:nvSpPr>
        <p:spPr>
          <a:xfrm rot="0" flipH="0" flipV="0">
            <a:off x="5715000" y="1600200"/>
            <a:ext cx="204787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Summative · W16 defense</a:t>
            </a:r>
            <a:endParaRPr/>
          </a:p>
        </p:txBody>
      </p:sp>
      <p:sp>
        <p:nvSpPr>
          <p:cNvPr id="738" name=""/>
          <p:cNvSpPr/>
          <p:nvPr/>
        </p:nvSpPr>
        <p:spPr>
          <a:xfrm rot="0" flipH="0" flipV="0">
            <a:off x="4429125" y="2171700"/>
            <a:ext cx="3333750" cy="419100"/>
          </a:xfrm>
          <a:custGeom>
            <a:pathLst>
              <a:path w="350" h="44">
                <a:moveTo>
                  <a:pt x="0" y="43"/>
                </a:moveTo>
                <a:lnTo>
                  <a:pt x="350" y="43"/>
                </a:lnTo>
                <a:lnTo>
                  <a:pt x="350" y="44"/>
                </a:lnTo>
                <a:lnTo>
                  <a:pt x="0" y="44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739" name=""/>
          <p:cNvSpPr/>
          <p:nvPr/>
        </p:nvSpPr>
        <p:spPr>
          <a:xfrm rot="0" flipH="0" flipV="0">
            <a:off x="4429125" y="226695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2B5793"/>
          </a:solidFill>
          <a:ln/>
        </p:spPr>
        <p:txBody>
          <a:bodyPr/>
          <a:p/>
        </p:txBody>
      </p:sp>
      <p:sp>
        <p:nvSpPr>
          <p:cNvPr id="740" name="" descr="{&quot;isTemplate&quot;:true,&quot;type&quot;:&quot;text&quot;}"/>
          <p:cNvSpPr txBox="1"/>
          <p:nvPr/>
        </p:nvSpPr>
        <p:spPr>
          <a:xfrm rot="0" flipH="0" flipV="0">
            <a:off x="4524375" y="2305050"/>
            <a:ext cx="1428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C107"/>
                </a:solidFill>
                <a:latin typeface="Microsoft YaHei"/>
                <a:ea typeface="Microsoft YaHei"/>
              </a:rPr>
              <a:t>S1</a:t>
            </a:r>
            <a:endParaRPr/>
          </a:p>
        </p:txBody>
      </p:sp>
      <p:sp>
        <p:nvSpPr>
          <p:cNvPr id="741" name="" descr="{&quot;isTemplate&quot;:true,&quot;type&quot;:&quot;text&quot;}"/>
          <p:cNvSpPr txBox="1"/>
          <p:nvPr/>
        </p:nvSpPr>
        <p:spPr>
          <a:xfrm rot="0" flipH="0" flipV="0">
            <a:off x="4848225" y="2295525"/>
            <a:ext cx="2667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C5D4EA"/>
                </a:solidFill>
                <a:latin typeface="Microsoft YaHei"/>
                <a:ea typeface="Microsoft YaHei"/>
              </a:rPr>
              <a:t>Portfolio walkthrough (team)</a:t>
            </a:r>
            <a:endParaRPr/>
          </a:p>
        </p:txBody>
      </p:sp>
      <p:sp>
        <p:nvSpPr>
          <p:cNvPr id="742" name="" descr="{&quot;isTemplate&quot;:true,&quot;type&quot;:&quot;text&quot;}"/>
          <p:cNvSpPr txBox="1"/>
          <p:nvPr/>
        </p:nvSpPr>
        <p:spPr>
          <a:xfrm rot="0" flipH="0" flipV="0">
            <a:off x="7610475" y="2295525"/>
            <a:ext cx="152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C107"/>
                </a:solidFill>
                <a:latin typeface="Microsoft YaHei"/>
                <a:ea typeface="Microsoft YaHei"/>
              </a:rPr>
              <a:t>30</a:t>
            </a:r>
            <a:endParaRPr/>
          </a:p>
        </p:txBody>
      </p:sp>
      <p:sp>
        <p:nvSpPr>
          <p:cNvPr id="743" name=""/>
          <p:cNvSpPr/>
          <p:nvPr/>
        </p:nvSpPr>
        <p:spPr>
          <a:xfrm rot="0" flipH="0" flipV="0">
            <a:off x="4429125" y="2581275"/>
            <a:ext cx="3333750" cy="419100"/>
          </a:xfrm>
          <a:custGeom>
            <a:pathLst>
              <a:path w="350" h="44">
                <a:moveTo>
                  <a:pt x="0" y="43"/>
                </a:moveTo>
                <a:lnTo>
                  <a:pt x="350" y="43"/>
                </a:lnTo>
                <a:lnTo>
                  <a:pt x="350" y="44"/>
                </a:lnTo>
                <a:lnTo>
                  <a:pt x="0" y="44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744" name=""/>
          <p:cNvSpPr/>
          <p:nvPr/>
        </p:nvSpPr>
        <p:spPr>
          <a:xfrm rot="0" flipH="0" flipV="0">
            <a:off x="4429125" y="2676525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2B5793"/>
          </a:solidFill>
          <a:ln/>
        </p:spPr>
        <p:txBody>
          <a:bodyPr/>
          <a:p/>
        </p:txBody>
      </p:sp>
      <p:sp>
        <p:nvSpPr>
          <p:cNvPr id="745" name="" descr="{&quot;isTemplate&quot;:true,&quot;type&quot;:&quot;text&quot;}"/>
          <p:cNvSpPr txBox="1"/>
          <p:nvPr/>
        </p:nvSpPr>
        <p:spPr>
          <a:xfrm rot="0" flipH="0" flipV="0">
            <a:off x="4524375" y="2714625"/>
            <a:ext cx="1428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C107"/>
                </a:solidFill>
                <a:latin typeface="Microsoft YaHei"/>
                <a:ea typeface="Microsoft YaHei"/>
              </a:rPr>
              <a:t>S2</a:t>
            </a:r>
            <a:endParaRPr/>
          </a:p>
        </p:txBody>
      </p:sp>
      <p:sp>
        <p:nvSpPr>
          <p:cNvPr id="746" name="" descr="{&quot;isTemplate&quot;:true,&quot;type&quot;:&quot;text&quot;}"/>
          <p:cNvSpPr txBox="1"/>
          <p:nvPr/>
        </p:nvSpPr>
        <p:spPr>
          <a:xfrm rot="0" flipH="0" flipV="0">
            <a:off x="4848225" y="2705100"/>
            <a:ext cx="2667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C5D4EA"/>
                </a:solidFill>
                <a:latin typeface="Microsoft YaHei"/>
                <a:ea typeface="Microsoft YaHei"/>
              </a:rPr>
              <a:t>Individual Q&amp;A</a:t>
            </a:r>
            <a:endParaRPr/>
          </a:p>
        </p:txBody>
      </p:sp>
      <p:sp>
        <p:nvSpPr>
          <p:cNvPr id="747" name="" descr="{&quot;isTemplate&quot;:true,&quot;type&quot;:&quot;text&quot;}"/>
          <p:cNvSpPr txBox="1"/>
          <p:nvPr/>
        </p:nvSpPr>
        <p:spPr>
          <a:xfrm rot="0" flipH="0" flipV="0">
            <a:off x="7610475" y="2705100"/>
            <a:ext cx="152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C107"/>
                </a:solidFill>
                <a:latin typeface="Microsoft YaHei"/>
                <a:ea typeface="Microsoft YaHei"/>
              </a:rPr>
              <a:t>55</a:t>
            </a:r>
            <a:endParaRPr/>
          </a:p>
        </p:txBody>
      </p:sp>
      <p:sp>
        <p:nvSpPr>
          <p:cNvPr id="748" name=""/>
          <p:cNvSpPr/>
          <p:nvPr/>
        </p:nvSpPr>
        <p:spPr>
          <a:xfrm rot="0" flipH="0" flipV="0">
            <a:off x="4429125" y="2990850"/>
            <a:ext cx="3333750" cy="419100"/>
          </a:xfrm>
          <a:custGeom>
            <a:pathLst>
              <a:path w="350" h="44">
                <a:moveTo>
                  <a:pt x="0" y="43"/>
                </a:moveTo>
                <a:lnTo>
                  <a:pt x="350" y="43"/>
                </a:lnTo>
                <a:lnTo>
                  <a:pt x="350" y="44"/>
                </a:lnTo>
                <a:lnTo>
                  <a:pt x="0" y="44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749" name=""/>
          <p:cNvSpPr/>
          <p:nvPr/>
        </p:nvSpPr>
        <p:spPr>
          <a:xfrm rot="0" flipH="0" flipV="0">
            <a:off x="4429125" y="308610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2B5793"/>
          </a:solidFill>
          <a:ln/>
        </p:spPr>
        <p:txBody>
          <a:bodyPr/>
          <a:p/>
        </p:txBody>
      </p:sp>
      <p:sp>
        <p:nvSpPr>
          <p:cNvPr id="750" name="" descr="{&quot;isTemplate&quot;:true,&quot;type&quot;:&quot;text&quot;}"/>
          <p:cNvSpPr txBox="1"/>
          <p:nvPr/>
        </p:nvSpPr>
        <p:spPr>
          <a:xfrm rot="0" flipH="0" flipV="0">
            <a:off x="4524375" y="3124200"/>
            <a:ext cx="1428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C107"/>
                </a:solidFill>
                <a:latin typeface="Microsoft YaHei"/>
                <a:ea typeface="Microsoft YaHei"/>
              </a:rPr>
              <a:t>S3</a:t>
            </a:r>
            <a:endParaRPr/>
          </a:p>
        </p:txBody>
      </p:sp>
      <p:sp>
        <p:nvSpPr>
          <p:cNvPr id="751" name="" descr="{&quot;isTemplate&quot;:true,&quot;type&quot;:&quot;text&quot;}"/>
          <p:cNvSpPr txBox="1"/>
          <p:nvPr/>
        </p:nvSpPr>
        <p:spPr>
          <a:xfrm rot="0" flipH="0" flipV="0">
            <a:off x="4848225" y="3114675"/>
            <a:ext cx="2667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C5D4EA"/>
                </a:solidFill>
                <a:latin typeface="Microsoft YaHei"/>
                <a:ea typeface="Microsoft YaHei"/>
              </a:rPr>
              <a:t>English communication</a:t>
            </a:r>
            <a:endParaRPr/>
          </a:p>
        </p:txBody>
      </p:sp>
      <p:sp>
        <p:nvSpPr>
          <p:cNvPr id="752" name="" descr="{&quot;isTemplate&quot;:true,&quot;type&quot;:&quot;text&quot;}"/>
          <p:cNvSpPr txBox="1"/>
          <p:nvPr/>
        </p:nvSpPr>
        <p:spPr>
          <a:xfrm rot="0" flipH="0" flipV="0">
            <a:off x="7610475" y="3114675"/>
            <a:ext cx="152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C107"/>
                </a:solidFill>
                <a:latin typeface="Microsoft YaHei"/>
                <a:ea typeface="Microsoft YaHei"/>
              </a:rPr>
              <a:t>10</a:t>
            </a:r>
            <a:endParaRPr/>
          </a:p>
        </p:txBody>
      </p:sp>
      <p:sp>
        <p:nvSpPr>
          <p:cNvPr id="753" name=""/>
          <p:cNvSpPr/>
          <p:nvPr/>
        </p:nvSpPr>
        <p:spPr>
          <a:xfrm rot="0" flipH="0" flipV="0">
            <a:off x="4429125" y="3400425"/>
            <a:ext cx="3333750" cy="419100"/>
          </a:xfrm>
          <a:custGeom>
            <a:pathLst>
              <a:path w="350" h="44">
                <a:moveTo>
                  <a:pt x="0" y="43"/>
                </a:moveTo>
                <a:lnTo>
                  <a:pt x="350" y="43"/>
                </a:lnTo>
                <a:lnTo>
                  <a:pt x="350" y="44"/>
                </a:lnTo>
                <a:lnTo>
                  <a:pt x="0" y="44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754" name=""/>
          <p:cNvSpPr/>
          <p:nvPr/>
        </p:nvSpPr>
        <p:spPr>
          <a:xfrm rot="0" flipH="0" flipV="0">
            <a:off x="4429125" y="3495675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2B5793"/>
          </a:solidFill>
          <a:ln/>
        </p:spPr>
        <p:txBody>
          <a:bodyPr/>
          <a:p/>
        </p:txBody>
      </p:sp>
      <p:sp>
        <p:nvSpPr>
          <p:cNvPr id="755" name="" descr="{&quot;isTemplate&quot;:true,&quot;type&quot;:&quot;text&quot;}"/>
          <p:cNvSpPr txBox="1"/>
          <p:nvPr/>
        </p:nvSpPr>
        <p:spPr>
          <a:xfrm rot="0" flipH="0" flipV="0">
            <a:off x="4524375" y="3533775"/>
            <a:ext cx="1428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C107"/>
                </a:solidFill>
                <a:latin typeface="Microsoft YaHei"/>
                <a:ea typeface="Microsoft YaHei"/>
              </a:rPr>
              <a:t>S4</a:t>
            </a:r>
            <a:endParaRPr/>
          </a:p>
        </p:txBody>
      </p:sp>
      <p:sp>
        <p:nvSpPr>
          <p:cNvPr id="756" name="" descr="{&quot;isTemplate&quot;:true,&quot;type&quot;:&quot;text&quot;}"/>
          <p:cNvSpPr txBox="1"/>
          <p:nvPr/>
        </p:nvSpPr>
        <p:spPr>
          <a:xfrm rot="0" flipH="0" flipV="0">
            <a:off x="4848225" y="3524250"/>
            <a:ext cx="2743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C5D4EA"/>
                </a:solidFill>
                <a:latin typeface="Microsoft YaHei"/>
                <a:ea typeface="Microsoft YaHei"/>
              </a:rPr>
              <a:t>Reflection &amp; contribution report</a:t>
            </a:r>
            <a:endParaRPr/>
          </a:p>
        </p:txBody>
      </p:sp>
      <p:sp>
        <p:nvSpPr>
          <p:cNvPr id="757" name="" descr="{&quot;isTemplate&quot;:true,&quot;type&quot;:&quot;text&quot;}"/>
          <p:cNvSpPr txBox="1"/>
          <p:nvPr/>
        </p:nvSpPr>
        <p:spPr>
          <a:xfrm rot="0" flipH="0" flipV="0">
            <a:off x="7686675" y="3524250"/>
            <a:ext cx="76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C107"/>
                </a:solidFill>
                <a:latin typeface="Microsoft YaHei"/>
                <a:ea typeface="Microsoft YaHei"/>
              </a:rPr>
              <a:t>5</a:t>
            </a:r>
            <a:endParaRPr/>
          </a:p>
        </p:txBody>
      </p:sp>
      <p:sp>
        <p:nvSpPr>
          <p:cNvPr id="758" name=""/>
          <p:cNvSpPr/>
          <p:nvPr/>
        </p:nvSpPr>
        <p:spPr>
          <a:xfrm rot="0" flipH="0" flipV="0">
            <a:off x="4429125" y="3924300"/>
            <a:ext cx="3333750" cy="676275"/>
          </a:xfrm>
          <a:prstGeom prst="roundRect">
            <a:avLst>
              <a:gd name="adj" fmla="val 11268"/>
            </a:avLst>
          </a:prstGeom>
          <a:solidFill>
            <a:srgbClr val="16325F"/>
          </a:solidFill>
          <a:ln/>
        </p:spPr>
        <p:txBody>
          <a:bodyPr/>
          <a:p/>
        </p:txBody>
      </p:sp>
      <p:sp>
        <p:nvSpPr>
          <p:cNvPr id="759" name="" descr="{&quot;isTemplate&quot;:true,&quot;type&quot;:&quot;text&quot;}"/>
          <p:cNvSpPr txBox="1"/>
          <p:nvPr/>
        </p:nvSpPr>
        <p:spPr>
          <a:xfrm rot="0" flipH="0" flipV="0">
            <a:off x="4562475" y="4038600"/>
            <a:ext cx="3067050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B9CDF0"/>
                </a:solidFill>
                <a:latin typeface="Microsoft YaHei"/>
                <a:ea typeface="Microsoft YaHei"/>
              </a:rPr>
              <a:t>Every member is questioned on </a:t>
            </a:r>
            <a:r>
              <a:rPr lang="en-US" sz="975" b="1">
                <a:solidFill>
                  <a:srgbClr val="FFFFFF"/>
                </a:solidFill>
                <a:latin typeface="Microsoft YaHei"/>
                <a:ea typeface="Microsoft YaHei"/>
              </a:rPr>
              <a:t>any part</a:t>
            </a:r>
            <a:r>
              <a:rPr lang="en-US" sz="975">
                <a:solidFill>
                  <a:srgbClr val="B9CDF0"/>
                </a:solidFill>
                <a:latin typeface="Microsoft YaHei"/>
                <a:ea typeface="Microsoft YaHei"/>
              </a:rPr>
              <a:t> of the team's work — not just "your part".</a:t>
            </a:r>
            <a:endParaRPr/>
          </a:p>
        </p:txBody>
      </p:sp>
      <p:sp>
        <p:nvSpPr>
          <p:cNvPr id="760" name=""/>
          <p:cNvSpPr/>
          <p:nvPr/>
        </p:nvSpPr>
        <p:spPr>
          <a:xfrm rot="0" flipH="0" flipV="0">
            <a:off x="8143875" y="1428750"/>
            <a:ext cx="3667125" cy="5010150"/>
          </a:xfrm>
          <a:prstGeom prst="roundRect">
            <a:avLst>
              <a:gd name="adj" fmla="val 31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61" name="" descr="{&quot;isTemplate&quot;:true,&quot;type&quot;:&quot;text&quot;}"/>
          <p:cNvSpPr txBox="1"/>
          <p:nvPr/>
        </p:nvSpPr>
        <p:spPr>
          <a:xfrm rot="0" flipH="0" flipV="0">
            <a:off x="8315325" y="1600200"/>
            <a:ext cx="4381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1E4FA8"/>
                </a:solidFill>
                <a:latin typeface="Microsoft YaHei"/>
                <a:ea typeface="Microsoft YaHei"/>
              </a:rPr>
              <a:t>+5</a:t>
            </a:r>
            <a:endParaRPr/>
          </a:p>
        </p:txBody>
      </p:sp>
      <p:sp>
        <p:nvSpPr>
          <p:cNvPr id="762" name="" descr="{&quot;isTemplate&quot;:true,&quot;type&quot;:&quot;text&quot;}"/>
          <p:cNvSpPr txBox="1"/>
          <p:nvPr/>
        </p:nvSpPr>
        <p:spPr>
          <a:xfrm rot="0" flipH="0" flipV="0">
            <a:off x="8753475" y="1600200"/>
            <a:ext cx="4381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 max</a:t>
            </a:r>
            <a:endParaRPr/>
          </a:p>
        </p:txBody>
      </p:sp>
      <p:sp>
        <p:nvSpPr>
          <p:cNvPr id="763" name="" descr="{&quot;isTemplate&quot;:true,&quot;type&quot;:&quot;text&quot;}"/>
          <p:cNvSpPr txBox="1"/>
          <p:nvPr/>
        </p:nvSpPr>
        <p:spPr>
          <a:xfrm rot="0" flipH="0" flipV="0">
            <a:off x="9286875" y="1600200"/>
            <a:ext cx="132397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Bonus · cap 100</a:t>
            </a:r>
            <a:endParaRPr/>
          </a:p>
        </p:txBody>
      </p:sp>
      <p:sp>
        <p:nvSpPr>
          <p:cNvPr id="764" name=""/>
          <p:cNvSpPr/>
          <p:nvPr/>
        </p:nvSpPr>
        <p:spPr>
          <a:xfrm rot="0" flipH="0" flipV="0">
            <a:off x="8315325" y="2171700"/>
            <a:ext cx="3324225" cy="419100"/>
          </a:xfrm>
          <a:custGeom>
            <a:pathLst>
              <a:path w="349" h="44">
                <a:moveTo>
                  <a:pt x="0" y="43"/>
                </a:moveTo>
                <a:lnTo>
                  <a:pt x="349" y="43"/>
                </a:lnTo>
                <a:lnTo>
                  <a:pt x="349" y="44"/>
                </a:lnTo>
                <a:lnTo>
                  <a:pt x="0" y="44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65" name=""/>
          <p:cNvSpPr/>
          <p:nvPr/>
        </p:nvSpPr>
        <p:spPr>
          <a:xfrm rot="0" flipH="0" flipV="0">
            <a:off x="8315325" y="226695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66" name="" descr="{&quot;isTemplate&quot;:true,&quot;type&quot;:&quot;text&quot;}"/>
          <p:cNvSpPr txBox="1"/>
          <p:nvPr/>
        </p:nvSpPr>
        <p:spPr>
          <a:xfrm rot="0" flipH="0" flipV="0">
            <a:off x="8401050" y="2305050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C1</a:t>
            </a:r>
            <a:endParaRPr/>
          </a:p>
        </p:txBody>
      </p:sp>
      <p:sp>
        <p:nvSpPr>
          <p:cNvPr id="767" name="" descr="{&quot;isTemplate&quot;:true,&quot;type&quot;:&quot;text&quot;}"/>
          <p:cNvSpPr txBox="1"/>
          <p:nvPr/>
        </p:nvSpPr>
        <p:spPr>
          <a:xfrm rot="0" flipH="0" flipV="0">
            <a:off x="8734425" y="2295525"/>
            <a:ext cx="2667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Extra patterns (correct)</a:t>
            </a:r>
            <a:endParaRPr/>
          </a:p>
        </p:txBody>
      </p:sp>
      <p:sp>
        <p:nvSpPr>
          <p:cNvPr id="768" name="" descr="{&quot;isTemplate&quot;:true,&quot;type&quot;:&quot;text&quot;}"/>
          <p:cNvSpPr txBox="1"/>
          <p:nvPr/>
        </p:nvSpPr>
        <p:spPr>
          <a:xfrm rot="0" flipH="0" flipV="0">
            <a:off x="11496675" y="2295525"/>
            <a:ext cx="142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D9534F"/>
                </a:solidFill>
                <a:latin typeface="Microsoft YaHei"/>
                <a:ea typeface="Microsoft YaHei"/>
              </a:rPr>
              <a:t>+2</a:t>
            </a:r>
            <a:endParaRPr/>
          </a:p>
        </p:txBody>
      </p:sp>
      <p:sp>
        <p:nvSpPr>
          <p:cNvPr id="769" name=""/>
          <p:cNvSpPr/>
          <p:nvPr/>
        </p:nvSpPr>
        <p:spPr>
          <a:xfrm rot="0" flipH="0" flipV="0">
            <a:off x="8315325" y="2581275"/>
            <a:ext cx="3324225" cy="419100"/>
          </a:xfrm>
          <a:custGeom>
            <a:pathLst>
              <a:path w="349" h="44">
                <a:moveTo>
                  <a:pt x="0" y="43"/>
                </a:moveTo>
                <a:lnTo>
                  <a:pt x="349" y="43"/>
                </a:lnTo>
                <a:lnTo>
                  <a:pt x="349" y="44"/>
                </a:lnTo>
                <a:lnTo>
                  <a:pt x="0" y="44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70" name=""/>
          <p:cNvSpPr/>
          <p:nvPr/>
        </p:nvSpPr>
        <p:spPr>
          <a:xfrm rot="0" flipH="0" flipV="0">
            <a:off x="8315325" y="2676525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71" name="" descr="{&quot;isTemplate&quot;:true,&quot;type&quot;:&quot;text&quot;}"/>
          <p:cNvSpPr txBox="1"/>
          <p:nvPr/>
        </p:nvSpPr>
        <p:spPr>
          <a:xfrm rot="0" flipH="0" flipV="0">
            <a:off x="8401050" y="2714625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C2</a:t>
            </a:r>
            <a:endParaRPr/>
          </a:p>
        </p:txBody>
      </p:sp>
      <p:sp>
        <p:nvSpPr>
          <p:cNvPr id="772" name="" descr="{&quot;isTemplate&quot;:true,&quot;type&quot;:&quot;text&quot;}"/>
          <p:cNvSpPr txBox="1"/>
          <p:nvPr/>
        </p:nvSpPr>
        <p:spPr>
          <a:xfrm rot="0" flipH="0" flipV="0">
            <a:off x="8734425" y="2705100"/>
            <a:ext cx="2667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Refactoring narrative</a:t>
            </a:r>
            <a:endParaRPr/>
          </a:p>
        </p:txBody>
      </p:sp>
      <p:sp>
        <p:nvSpPr>
          <p:cNvPr id="773" name="" descr="{&quot;isTemplate&quot;:true,&quot;type&quot;:&quot;text&quot;}"/>
          <p:cNvSpPr txBox="1"/>
          <p:nvPr/>
        </p:nvSpPr>
        <p:spPr>
          <a:xfrm rot="0" flipH="0" flipV="0">
            <a:off x="11496675" y="2705100"/>
            <a:ext cx="142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D9534F"/>
                </a:solidFill>
                <a:latin typeface="Microsoft YaHei"/>
                <a:ea typeface="Microsoft YaHei"/>
              </a:rPr>
              <a:t>+2</a:t>
            </a:r>
            <a:endParaRPr/>
          </a:p>
        </p:txBody>
      </p:sp>
      <p:sp>
        <p:nvSpPr>
          <p:cNvPr id="774" name=""/>
          <p:cNvSpPr/>
          <p:nvPr/>
        </p:nvSpPr>
        <p:spPr>
          <a:xfrm rot="0" flipH="0" flipV="0">
            <a:off x="8315325" y="2990850"/>
            <a:ext cx="3324225" cy="419100"/>
          </a:xfrm>
          <a:custGeom>
            <a:pathLst>
              <a:path w="349" h="44">
                <a:moveTo>
                  <a:pt x="0" y="43"/>
                </a:moveTo>
                <a:lnTo>
                  <a:pt x="349" y="43"/>
                </a:lnTo>
                <a:lnTo>
                  <a:pt x="349" y="44"/>
                </a:lnTo>
                <a:lnTo>
                  <a:pt x="0" y="44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75" name=""/>
          <p:cNvSpPr/>
          <p:nvPr/>
        </p:nvSpPr>
        <p:spPr>
          <a:xfrm rot="0" flipH="0" flipV="0">
            <a:off x="8315325" y="3086100"/>
            <a:ext cx="323850" cy="20955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776" name="" descr="{&quot;isTemplate&quot;:true,&quot;type&quot;:&quot;text&quot;}"/>
          <p:cNvSpPr txBox="1"/>
          <p:nvPr/>
        </p:nvSpPr>
        <p:spPr>
          <a:xfrm rot="0" flipH="0" flipV="0">
            <a:off x="8401050" y="3124200"/>
            <a:ext cx="1524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1E4FA8"/>
                </a:solidFill>
                <a:latin typeface="Microsoft YaHei"/>
                <a:ea typeface="Microsoft YaHei"/>
              </a:rPr>
              <a:t>C3</a:t>
            </a:r>
            <a:endParaRPr/>
          </a:p>
        </p:txBody>
      </p:sp>
      <p:sp>
        <p:nvSpPr>
          <p:cNvPr id="777" name="" descr="{&quot;isTemplate&quot;:true,&quot;type&quot;:&quot;text&quot;}"/>
          <p:cNvSpPr txBox="1"/>
          <p:nvPr/>
        </p:nvSpPr>
        <p:spPr>
          <a:xfrm rot="0" flipH="0" flipV="0">
            <a:off x="8734425" y="3114675"/>
            <a:ext cx="2667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Outstanding docs</a:t>
            </a:r>
            <a:endParaRPr/>
          </a:p>
        </p:txBody>
      </p:sp>
      <p:sp>
        <p:nvSpPr>
          <p:cNvPr id="778" name="" descr="{&quot;isTemplate&quot;:true,&quot;type&quot;:&quot;text&quot;}"/>
          <p:cNvSpPr txBox="1"/>
          <p:nvPr/>
        </p:nvSpPr>
        <p:spPr>
          <a:xfrm rot="0" flipH="0" flipV="0">
            <a:off x="11496675" y="3114675"/>
            <a:ext cx="1428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D9534F"/>
                </a:solidFill>
                <a:latin typeface="Microsoft YaHei"/>
                <a:ea typeface="Microsoft YaHei"/>
              </a:rPr>
              <a:t>+1</a:t>
            </a:r>
            <a:endParaRPr/>
          </a:p>
        </p:txBody>
      </p:sp>
      <p:sp>
        <p:nvSpPr>
          <p:cNvPr id="779" name=""/>
          <p:cNvSpPr/>
          <p:nvPr/>
        </p:nvSpPr>
        <p:spPr>
          <a:xfrm rot="0" flipH="0" flipV="0">
            <a:off x="8315325" y="3514725"/>
            <a:ext cx="3324225" cy="676275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80" name="" descr="{&quot;isTemplate&quot;:true,&quot;type&quot;:&quot;text&quot;}"/>
          <p:cNvSpPr txBox="1"/>
          <p:nvPr/>
        </p:nvSpPr>
        <p:spPr>
          <a:xfrm rot="0" flipH="0" flipV="0">
            <a:off x="8448675" y="3629025"/>
            <a:ext cx="3057525" cy="447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Weekly exercises feed </a:t>
            </a:r>
            <a:r>
              <a:rPr lang="en-US" sz="975" b="1">
                <a:solidFill>
                  <a:srgbClr val="1A2230"/>
                </a:solidFill>
                <a:latin typeface="Microsoft YaHei"/>
                <a:ea typeface="Microsoft YaHei"/>
              </a:rPr>
              <a:t>F2 participation</a:t>
            </a: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 (4 pts) — checked and discussed in class every week.</a:t>
            </a:r>
            <a:endParaRPr/>
          </a:p>
        </p:txBody>
      </p:sp>
      <p:sp>
        <p:nvSpPr>
          <p:cNvPr id="781" name=""/>
          <p:cNvSpPr/>
          <p:nvPr/>
        </p:nvSpPr>
        <p:spPr>
          <a:xfrm rot="0" flipH="0" flipV="0">
            <a:off x="0" y="6448425"/>
            <a:ext cx="12192000" cy="4095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82" name=""/>
          <p:cNvSpPr/>
          <p:nvPr/>
        </p:nvSpPr>
        <p:spPr>
          <a:xfrm rot="0" flipH="0" flipV="0">
            <a:off x="0" y="6438900"/>
            <a:ext cx="12192000" cy="419100"/>
          </a:xfrm>
          <a:custGeom>
            <a:pathLst>
              <a:path w="1280" h="44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783" name="" descr="{&quot;isTemplate&quot;:true,&quot;type&quot;:&quot;text&quot;}"/>
          <p:cNvSpPr txBox="1"/>
          <p:nvPr/>
        </p:nvSpPr>
        <p:spPr>
          <a:xfrm rot="0" flipH="0" flipV="0">
            <a:off x="381000" y="6581775"/>
            <a:ext cx="647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0E3F8C"/>
                </a:solidFill>
                <a:latin typeface="Microsoft YaHei"/>
                <a:ea typeface="Microsoft YaHei"/>
              </a:rPr>
              <a:t>Milestones</a:t>
            </a:r>
            <a:endParaRPr/>
          </a:p>
        </p:txBody>
      </p:sp>
      <p:sp>
        <p:nvSpPr>
          <p:cNvPr id="784" name="" descr="{&quot;isTemplate&quot;:true,&quot;type&quot;:&quot;text&quot;}"/>
          <p:cNvSpPr txBox="1"/>
          <p:nvPr/>
        </p:nvSpPr>
        <p:spPr>
          <a:xfrm rot="0" flipH="0" flipV="0">
            <a:off x="1104900" y="6581775"/>
            <a:ext cx="46291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568"/>
                </a:solidFill>
                <a:latin typeface="Microsoft YaHei"/>
                <a:ea typeface="Microsoft YaHei"/>
              </a:rPr>
              <a:t>M0 Sep 11 · M1 Oct 4 · M2 Oct 25 · M3 Nov 22 · M4 Dec 6 · M5 defense Dec 14–18</a:t>
            </a:r>
            <a:endParaRPr/>
          </a:p>
        </p:txBody>
      </p:sp>
      <p:sp>
        <p:nvSpPr>
          <p:cNvPr id="785" name="" descr="{&quot;isTemplate&quot;:true,&quot;type&quot;:&quot;text&quot;}"/>
          <p:cNvSpPr txBox="1"/>
          <p:nvPr/>
        </p:nvSpPr>
        <p:spPr>
          <a:xfrm rot="0" flipH="0" flipV="0">
            <a:off x="11401425" y="65722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06 / 38</a:t>
            </a:r>
            <a:endParaRPr/>
          </a:p>
        </p:txBody>
      </p:sp>
    </p:spTree>
  </p:cSld>
</p:sld>
</file>

<file path=ppt/slides/slide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78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The Running Project: CampusBites&lt;/Text&gt;&#10;  &lt;/Box&gt;&#10;  &lt;Box style={{ flex: 1, padding: '18px 40px 0 40px', flexDirection: 'row', gap: 30 }}&gt;&#10;    &lt;Box style={{ flex: 3, justifyContent: 'center', alignItems: 'center' }}&gt;&#10;      &lt;svg width={460} height={400} viewBox='0 0 460 400'&gt;&#10;        &lt;line x1='90' y1='91' x2='200' y2='172' stroke='#D6DCE5' strokeWidth='2' /&gt;&#10;        &lt;line x1='370' y1='91' x2='260' y2='172' stroke='#D6DCE5' strokeWidth='2' /&gt;&#10;        &lt;line x1='90' y1='309' x2='200' y2='228' stroke='#D6DCE5' strokeWidth='2' /&gt;&#10;        &lt;line x1='370' y1='309' x2='260' y2='228' stroke='#D6DCE5' strokeWidth='2' /&gt;&#10;        &lt;rect x='180' y='160' width='100' height='80' rx='12' fill='#1E4FA8' /&gt;&#10;        &lt;text x='230' y='196' textAnchor='middle' fill='#FFFFFF' fontSize='17' fontWeight='bold'&gt;CampusBites&lt;/text&gt;&#10;        &lt;text x='230' y='218' textAnchor='middle' fill='#B9CDF0' fontSize='13'&gt;platform&lt;/text&gt;&#10;        &lt;rect x='30' y='35' width='120' height='56' rx='10' fill='#E8EFF8' stroke='#3D7BD9' strokeWidth='2' /&gt;&#10;        &lt;text x='90' y='58' textAnchor='middle' fill='#0E3F8C' fontSize='16' fontWeight='bold'&gt;Student&lt;/text&gt;&#10;        &lt;text x='90' y='78' textAnchor='middle' fill='#4A5568' fontSize='13'&gt;customer&lt;/text&gt;&#10;        &lt;rect x='310' y='35' width='120' height='56' rx='10' fill='#E8EFF8' stroke='#3D7BD9' strokeWidth='2' /&gt;&#10;        &lt;text x='370' y='58' textAnchor='middle' fill='#0E3F8C' fontSize='16' fontWeight='bold'&gt;Restaurant&lt;/text&gt;&#10;        &lt;text x='370' y='78' textAnchor='middle' fill='#4A5568' fontSize='13'&gt;vendor&lt;/text&gt;&#10;        &lt;rect x='30' y='289' width='120' height='56' rx='10' fill='#E8EFF8' stroke='#3D7BD9' strokeWidth='2' /&gt;&#10;        &lt;text x='90' y='312' textAnchor='middle' fill='#0E3F8C' fontSize='16' fontWeight='bold'&gt;Courier&lt;/text&gt;&#10;        &lt;text x='90' y='332' textAnchor='middle' fill='#4A5568' fontSize='13'&gt;rider&lt;/text&gt;&#10;        &lt;rect x='310' y='289' width='120' height='56' rx='10' fill='#E8EFF8' stroke='#3D7BD9' strokeWidth='2' /&gt;&#10;        &lt;text x='370' y='312' textAnchor='middle' fill='#0E3F8C' fontSize='16' fontWeight='bold'&gt;Payment&lt;/text&gt;&#10;        &lt;text x='370' y='332' textAnchor='middle' fill='#4A5568' fontSize='13'&gt;service&lt;/text&gt;&#10;      &lt;/svg&gt;&#10;    &lt;/Box&gt;&#10;    &lt;Box style={{ flex: 2, flexDirection: 'column', gap: 14, justifyContent: 'center' }}&gt;&#10;      &lt;Text style={{ fontSize: 20, color: '#4A5568', lineHeight: 1.5 }}&gt;A campus &lt;span style={{ fontWeight: 'bold', color: '#1A2230' }}&gt;food ordering &amp;amp; delivery&lt;/span&gt; platform you will analyse and design for 16 weeks.&lt;/Text&gt;&#10;      &lt;Box style={{ padding: '16px 18px', background: '#F7F9FC', borderRadius: 10, border: '1px solid #E5E7EB', flexDirection: 'column', gap: 8 }}&gt;&#10;        &lt;Text style={{ fontSize: 15, fontWeight: 'bold', color: '#0E3F8C' }}&gt;Why this domain? It is pattern-rich&lt;/Text&gt;&#10;        &lt;Text style={{ fontSize: 14, color: '#4A5568', lineHeight: 1.55 }}&gt;Order lifecycle → &lt;span style={{ fontWeight: 'bold' }}&gt;State&lt;/span&gt; · Payment → &lt;span style={{ fontWeight: 'bold' }}&gt;Strategy&lt;/span&gt; · Order tracking → &lt;span style={{ fontWeight: 'bold' }}&gt;Observer&lt;/span&gt; · Campus card → &lt;span style={{ fontWeight: 'bold' }}&gt;Adapter&lt;/span&gt; · Toppings → &lt;span style={{ fontWeight: 'bold' }}&gt;Decorator&lt;/span&gt;&lt;/Text&gt;&#10;      &lt;/Box&gt;&#10;      &lt;Box style={{ flexDirection: 'row', alignItems: 'center', gap: 12 }}&gt;&#10;        &lt;FAIcon name='users' style={{ fill: '#1E4FA8', width: 24, height: 24 }} /&gt;&#10;        &lt;Text style={{ fontSize: 16, color: '#1A2230' }}&gt;One team of four — &lt;span style={{ fontWeight: 'bold' }}&gt;small cohort, everyone counts&lt;/span&gt;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07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8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78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790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791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The Running Project: CampusBites</a:t>
            </a:r>
            <a:endParaRPr/>
          </a:p>
        </p:txBody>
      </p:sp>
      <p:pic>
        <p:nvPicPr>
          <p:cNvPr id="79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533525" y="2076450"/>
            <a:ext cx="4381500" cy="3810000"/>
          </a:xfrm>
          <a:prstGeom prst="rect">
            <a:avLst/>
          </a:prstGeom>
          <a:ln/>
        </p:spPr>
      </p:pic>
      <p:sp>
        <p:nvSpPr>
          <p:cNvPr id="793" name="" descr="{&quot;isTemplate&quot;:true,&quot;type&quot;:&quot;text&quot;}"/>
          <p:cNvSpPr txBox="1"/>
          <p:nvPr/>
        </p:nvSpPr>
        <p:spPr>
          <a:xfrm rot="0" flipH="0" flipV="0">
            <a:off x="7353300" y="2857500"/>
            <a:ext cx="445770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>A campus </a:t>
            </a:r>
            <a:r>
              <a:rPr lang="en-US" sz="1500" b="1">
                <a:solidFill>
                  <a:srgbClr val="1A2230"/>
                </a:solidFill>
                <a:latin typeface="Microsoft YaHei"/>
                <a:ea typeface="Microsoft YaHei"/>
              </a:rPr>
              <a:t>food ordering &amp; delivery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> platform you will analyse and design for 16 weeks.</a:t>
            </a:r>
            <a:endParaRPr/>
          </a:p>
        </p:txBody>
      </p:sp>
      <p:sp>
        <p:nvSpPr>
          <p:cNvPr id="794" name=""/>
          <p:cNvSpPr/>
          <p:nvPr/>
        </p:nvSpPr>
        <p:spPr>
          <a:xfrm rot="0" flipH="0" flipV="0">
            <a:off x="7353300" y="3676650"/>
            <a:ext cx="4457700" cy="1057275"/>
          </a:xfrm>
          <a:prstGeom prst="roundRect">
            <a:avLst>
              <a:gd name="adj" fmla="val 900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95" name="" descr="{&quot;isTemplate&quot;:true,&quot;type&quot;:&quot;text&quot;}"/>
          <p:cNvSpPr txBox="1"/>
          <p:nvPr/>
        </p:nvSpPr>
        <p:spPr>
          <a:xfrm rot="0" flipH="0" flipV="0">
            <a:off x="7524750" y="3829050"/>
            <a:ext cx="4114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Why this domain? It is pattern-rich</a:t>
            </a:r>
            <a:endParaRPr/>
          </a:p>
        </p:txBody>
      </p:sp>
      <p:sp>
        <p:nvSpPr>
          <p:cNvPr id="796" name="" descr="{&quot;isTemplate&quot;:true,&quot;type&quot;:&quot;text&quot;}"/>
          <p:cNvSpPr txBox="1"/>
          <p:nvPr/>
        </p:nvSpPr>
        <p:spPr>
          <a:xfrm rot="0" flipH="0" flipV="0">
            <a:off x="7524750" y="4076700"/>
            <a:ext cx="4114800" cy="504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Order lifecycle →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State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· Payment →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Strategy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· Order tracking →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Observer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· Campus card →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Adapter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· Toppings →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Decorator</a:t>
            </a:r>
            <a:endParaRPr/>
          </a:p>
        </p:txBody>
      </p:sp>
      <p:pic>
        <p:nvPicPr>
          <p:cNvPr id="79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53300" y="4867275"/>
            <a:ext cx="228600" cy="228600"/>
          </a:xfrm>
          <a:prstGeom prst="rect">
            <a:avLst/>
          </a:prstGeom>
          <a:ln/>
        </p:spPr>
      </p:pic>
      <p:sp>
        <p:nvSpPr>
          <p:cNvPr id="798" name="" descr="{&quot;isTemplate&quot;:true,&quot;type&quot;:&quot;text&quot;}"/>
          <p:cNvSpPr txBox="1"/>
          <p:nvPr/>
        </p:nvSpPr>
        <p:spPr>
          <a:xfrm rot="0" flipH="0" flipV="0">
            <a:off x="7696200" y="4886325"/>
            <a:ext cx="3590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One team of four — </a:t>
            </a: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small cohort, everyone counts</a:t>
            </a:r>
            <a:endParaRPr/>
          </a:p>
        </p:txBody>
      </p:sp>
      <p:sp>
        <p:nvSpPr>
          <p:cNvPr id="799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800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07 / 38</a:t>
            </a:r>
            <a:endParaRPr/>
          </a:p>
        </p:txBody>
      </p:sp>
    </p:spTree>
  </p:cSld>
</p:sld>
</file>

<file path=ppt/slides/slide8.xml><?xml version="1.0" encoding="utf-8"?>
<p:sld xmlns:a="http://schemas.openxmlformats.org/drawingml/2006/main" xmlns:p="http://schemas.openxmlformats.org/presentationml/2006/main">
  <p:cSld>
    <p:spTree>
      <p:nvGrpSpPr>
        <p:cNvPr id="801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2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What Is an&lt;br /&gt;Information System?&lt;/Text&gt;&#10;      &lt;Box style={{ width: 64, height: 4, background: '#FFC107', marginTop: 26, marginBottom: 26 }} /&gt;&#10;      &lt;Box style={{ flexDirection: 'column', gap: 12 }}&gt;&#10;        {[&#10;          'A definition beyond just software',&#10;          'The four elements: people, process, data, technology',&#10;          'Why information systems fail — and who fixes them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803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804" name="" descr="{&quot;isTemplate&quot;:true,&quot;type&quot;:&quot;text&quot;}"/>
          <p:cNvSpPr txBox="1"/>
          <p:nvPr/>
        </p:nvSpPr>
        <p:spPr>
          <a:xfrm rot="0" flipH="0" flipV="0">
            <a:off x="28575" y="2171700"/>
            <a:ext cx="27908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02</a:t>
            </a:r>
            <a:endParaRPr/>
          </a:p>
        </p:txBody>
      </p:sp>
      <p:sp>
        <p:nvSpPr>
          <p:cNvPr id="805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806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What Is an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Information System?</a:t>
            </a:r>
            <a:endParaRPr/>
          </a:p>
        </p:txBody>
      </p:sp>
      <p:sp>
        <p:nvSpPr>
          <p:cNvPr id="807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808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09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27432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 definition beyond just software</a:t>
            </a:r>
            <a:endParaRPr/>
          </a:p>
        </p:txBody>
      </p:sp>
      <p:sp>
        <p:nvSpPr>
          <p:cNvPr id="810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11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4495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four elements: people, process, data, technology</a:t>
            </a:r>
            <a:endParaRPr/>
          </a:p>
        </p:txBody>
      </p:sp>
      <p:sp>
        <p:nvSpPr>
          <p:cNvPr id="812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13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43624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Why information systems fail — and who fixes them</a:t>
            </a:r>
            <a:endParaRPr/>
          </a:p>
        </p:txBody>
      </p:sp>
      <p:sp>
        <p:nvSpPr>
          <p:cNvPr id="814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1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Defining an Information System&lt;/Text&gt;&#10;  &lt;/Box&gt;&#10;  &lt;Box style={{ flex: 1, padding: '18px 40px 0 40px', flexDirection: 'row', gap: 28 }}&gt;&#10;    &lt;Box style={{ width: 320, padding: '28px 24px', background: '#0E3F8C', borderRadius: 12, flexDirection: 'column', justifyContent: 'center', gap: 16 }}&gt;&#10;      &lt;FAIcon name='info-circle' style={{ fill: '#FFC107', width: 40, height: 40 }} /&gt;&#10;      &lt;Text style={{ fontSize: 26, fontWeight: 'bold', color: '#FFFFFF', lineHeight: 1.3 }}&gt;Definition&lt;/Text&gt;&#10;      &lt;Text style={{ fontSize: 17, color: '#C5D4EA', lineHeight: 1.55 }}&gt;An organised combination of people, process, data and technology that collects, processes, stores and distributes information to support a goal.&lt;/Text&gt;&#10;    &lt;/Box&gt;&#10;    &lt;Box style={{ flex: 1, flexDirection: 'column', gap: 16, justifyContent: 'center' }}&gt;&#10;      {[&#10;        ['It is more than software', 'Software is one part. The system also lives in how people work and how information flows.'],&#10;        ['It has a purpose', 'Every information system exists to support a decision or an activity — ordering food, enrolling, booking a room.'],&#10;        ['It transforms data into information', 'Raw data (a list of orders) becomes information (a delivery route for a courier) through processing.'],&#10;      ].map(([t, d]) =&gt; (&#10;        &lt;Box key={t} style={{ flexDirection: 'row', gap: 14, padding: '16px 18px', background: '#F7F9FC', borderRadius: 10, border: '1px solid #E5E7EB', alignItems: 'flex-start' }}&gt;&#10;          &lt;FAIcon name='check-circle' style={{ fill: '#1E4FA8', width: 24, height: 24 }} /&gt;&#10;          &lt;Box style={{ flexDirection: 'column', gap: 4 }}&gt;&#10;            &lt;Text style={{ fontSize: 19, fontWeight: 'bold', color: '#1A2230' }}&gt;{t}&lt;/Text&gt;&#10;            &lt;Text style={{ fontSize: 15, color: '#4A5568', lineHeight: 1.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09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1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1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819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820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Defining an Information System</a:t>
            </a:r>
            <a:endParaRPr/>
          </a:p>
        </p:txBody>
      </p:sp>
      <p:sp>
        <p:nvSpPr>
          <p:cNvPr id="821" name=""/>
          <p:cNvSpPr/>
          <p:nvPr/>
        </p:nvSpPr>
        <p:spPr>
          <a:xfrm rot="0" flipH="0" flipV="0">
            <a:off x="381000" y="1476375"/>
            <a:ext cx="3048000" cy="5000625"/>
          </a:xfrm>
          <a:prstGeom prst="roundRect">
            <a:avLst>
              <a:gd name="adj" fmla="val 3750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82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2686050"/>
            <a:ext cx="381000" cy="381000"/>
          </a:xfrm>
          <a:prstGeom prst="rect">
            <a:avLst/>
          </a:prstGeom>
          <a:ln/>
        </p:spPr>
      </p:pic>
      <p:sp>
        <p:nvSpPr>
          <p:cNvPr id="823" name="" descr="{&quot;isTemplate&quot;:true,&quot;type&quot;:&quot;text&quot;}"/>
          <p:cNvSpPr txBox="1"/>
          <p:nvPr/>
        </p:nvSpPr>
        <p:spPr>
          <a:xfrm rot="0" flipH="0" flipV="0">
            <a:off x="609600" y="3219450"/>
            <a:ext cx="2590800" cy="3905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950" b="1">
                <a:solidFill>
                  <a:srgbClr val="FFFFFF"/>
                </a:solidFill>
                <a:latin typeface="Microsoft YaHei"/>
                <a:ea typeface="Microsoft YaHei"/>
              </a:rPr>
              <a:t>Definition</a:t>
            </a:r>
            <a:endParaRPr/>
          </a:p>
        </p:txBody>
      </p:sp>
      <p:sp>
        <p:nvSpPr>
          <p:cNvPr id="824" name="" descr="{&quot;isTemplate&quot;:true,&quot;type&quot;:&quot;text&quot;}"/>
          <p:cNvSpPr txBox="1"/>
          <p:nvPr/>
        </p:nvSpPr>
        <p:spPr>
          <a:xfrm rot="0" flipH="0" flipV="0">
            <a:off x="609600" y="3762375"/>
            <a:ext cx="2590800" cy="1514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An organised combination of people, process, data and technology that collects, processes, stores and distributes information to support a goal.</a:t>
            </a:r>
            <a:endParaRPr/>
          </a:p>
        </p:txBody>
      </p:sp>
      <p:sp>
        <p:nvSpPr>
          <p:cNvPr id="825" name=""/>
          <p:cNvSpPr/>
          <p:nvPr/>
        </p:nvSpPr>
        <p:spPr>
          <a:xfrm rot="0" flipH="0" flipV="0">
            <a:off x="3695700" y="2600325"/>
            <a:ext cx="811530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8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67150" y="2752725"/>
            <a:ext cx="228600" cy="228600"/>
          </a:xfrm>
          <a:prstGeom prst="rect">
            <a:avLst/>
          </a:prstGeom>
          <a:ln/>
        </p:spPr>
      </p:pic>
      <p:sp>
        <p:nvSpPr>
          <p:cNvPr id="827" name="" descr="{&quot;isTemplate&quot;:true,&quot;type&quot;:&quot;text&quot;}"/>
          <p:cNvSpPr txBox="1"/>
          <p:nvPr/>
        </p:nvSpPr>
        <p:spPr>
          <a:xfrm rot="0" flipH="0" flipV="0">
            <a:off x="4229100" y="2752725"/>
            <a:ext cx="57150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It is more than software</a:t>
            </a:r>
            <a:endParaRPr/>
          </a:p>
        </p:txBody>
      </p:sp>
      <p:sp>
        <p:nvSpPr>
          <p:cNvPr id="828" name="" descr="{&quot;isTemplate&quot;:true,&quot;type&quot;:&quot;text&quot;}"/>
          <p:cNvSpPr txBox="1"/>
          <p:nvPr/>
        </p:nvSpPr>
        <p:spPr>
          <a:xfrm rot="0" flipH="0" flipV="0">
            <a:off x="4229100" y="3009900"/>
            <a:ext cx="57150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Software is one part. The system also lives in how people work and how information flows.</a:t>
            </a:r>
            <a:endParaRPr/>
          </a:p>
        </p:txBody>
      </p:sp>
      <p:sp>
        <p:nvSpPr>
          <p:cNvPr id="829" name=""/>
          <p:cNvSpPr/>
          <p:nvPr/>
        </p:nvSpPr>
        <p:spPr>
          <a:xfrm rot="0" flipH="0" flipV="0">
            <a:off x="3695700" y="3571875"/>
            <a:ext cx="811530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83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67150" y="3724275"/>
            <a:ext cx="228600" cy="228600"/>
          </a:xfrm>
          <a:prstGeom prst="rect">
            <a:avLst/>
          </a:prstGeom>
          <a:ln/>
        </p:spPr>
      </p:pic>
      <p:sp>
        <p:nvSpPr>
          <p:cNvPr id="831" name="" descr="{&quot;isTemplate&quot;:true,&quot;type&quot;:&quot;text&quot;}"/>
          <p:cNvSpPr txBox="1"/>
          <p:nvPr/>
        </p:nvSpPr>
        <p:spPr>
          <a:xfrm rot="0" flipH="0" flipV="0">
            <a:off x="4229100" y="3724275"/>
            <a:ext cx="70008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It has a purpose</a:t>
            </a:r>
            <a:endParaRPr/>
          </a:p>
        </p:txBody>
      </p:sp>
      <p:sp>
        <p:nvSpPr>
          <p:cNvPr id="832" name="" descr="{&quot;isTemplate&quot;:true,&quot;type&quot;:&quot;text&quot;}"/>
          <p:cNvSpPr txBox="1"/>
          <p:nvPr/>
        </p:nvSpPr>
        <p:spPr>
          <a:xfrm rot="0" flipH="0" flipV="0">
            <a:off x="4229100" y="3981450"/>
            <a:ext cx="700087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Every information system exists to support a decision or an activity — ordering food, enrolling, booking a room.</a:t>
            </a:r>
            <a:endParaRPr/>
          </a:p>
        </p:txBody>
      </p:sp>
      <p:sp>
        <p:nvSpPr>
          <p:cNvPr id="833" name=""/>
          <p:cNvSpPr/>
          <p:nvPr/>
        </p:nvSpPr>
        <p:spPr>
          <a:xfrm rot="0" flipH="0" flipV="0">
            <a:off x="3695700" y="4543425"/>
            <a:ext cx="8115300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83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67150" y="4695825"/>
            <a:ext cx="228600" cy="228600"/>
          </a:xfrm>
          <a:prstGeom prst="rect">
            <a:avLst/>
          </a:prstGeom>
          <a:ln/>
        </p:spPr>
      </p:pic>
      <p:sp>
        <p:nvSpPr>
          <p:cNvPr id="835" name="" descr="{&quot;isTemplate&quot;:true,&quot;type&quot;:&quot;text&quot;}"/>
          <p:cNvSpPr txBox="1"/>
          <p:nvPr/>
        </p:nvSpPr>
        <p:spPr>
          <a:xfrm rot="0" flipH="0" flipV="0">
            <a:off x="4229100" y="4695825"/>
            <a:ext cx="6210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It transforms data into information</a:t>
            </a:r>
            <a:endParaRPr/>
          </a:p>
        </p:txBody>
      </p:sp>
      <p:sp>
        <p:nvSpPr>
          <p:cNvPr id="836" name="" descr="{&quot;isTemplate&quot;:true,&quot;type&quot;:&quot;text&quot;}"/>
          <p:cNvSpPr txBox="1"/>
          <p:nvPr/>
        </p:nvSpPr>
        <p:spPr>
          <a:xfrm rot="0" flipH="0" flipV="0">
            <a:off x="4229100" y="4953000"/>
            <a:ext cx="62103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Raw data (a list of orders) becomes information (a delivery route for a courier) through processing.</a:t>
            </a:r>
            <a:endParaRPr/>
          </a:p>
        </p:txBody>
      </p:sp>
      <p:sp>
        <p:nvSpPr>
          <p:cNvPr id="837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838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09 / 38</a:t>
            </a:r>
            <a:endParaRPr/>
          </a:p>
        </p:txBody>
      </p:sp>
    </p:spTree>
  </p:cSld>
</p:sld>
</file>

<file path=ppt/slides/slide1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5" name="" descr="&lt;Slide style={{ background: '#FFFFFF', padding: 0 }}&gt;&#10;  &lt;Box style={{ padding: '26px 40px 8px 40px', flexDirection: 'row', alignItems: 'center', justifyContent: 'space-between' }}&gt;&#10;    &lt;Text style={{ fontSize: 34, fontWeight: 'bold', color: '#0E3F8C' }}&gt;Four Elements That Must Work Together&lt;/Text&gt;&#10;    &lt;Text style={{ fontSize: 14, color: '#1E4FA8', fontWeight: 'bold' }}&gt;10 / 38&lt;/Text&gt;&#10;  &lt;/Box&gt;&#10;  &lt;Box style={{ flex: 1, padding: '8px 40px 0 40px', justifyContent: 'center', alignItems: 'center' }}&gt;&#10;    &lt;svg width={1180} height={440} viewBox='0 0 1180 440'&gt;&#10;      &lt;rect x='40' y='30' width='340' height='170' rx='16' fill='#E8EFF8' stroke='#3D7BD9' strokeWidth='2' /&gt;&#10;      &lt;text x='210' y='82' textAnchor='middle' fill='#0E3F8C' fontSize='30' fontWeight='bold'&gt;People&lt;/text&gt;&#10;      &lt;text x='210' y='120' textAnchor='middle' fill='#4A5568' fontSize='18'&gt;who use and run the system&lt;/text&gt;&#10;      &lt;text x='210' y='152' textAnchor='middle' fill='#8B97A8' fontSize='16'&gt;customers, staff, couriers&lt;/text&gt;&#10;      &lt;rect x='800' y='30' width='340' height='170' rx='16' fill='#E8EFF8' stroke='#3D7BD9' strokeWidth='2' /&gt;&#10;      &lt;text x='970' y='82' textAnchor='middle' fill='#0E3F8C' fontSize='30' fontWeight='bold'&gt;Process&lt;/text&gt;&#10;      &lt;text x='970' y='120' textAnchor='middle' fill='#4A5568' fontSize='18'&gt;the flow of activities&lt;/text&gt;&#10;      &lt;text x='970' y='152' textAnchor='middle' fill='#8B97A8' fontSize='16'&gt;order → cook → deliver&lt;/text&gt;&#10;      &lt;rect x='40' y='240' width='340' height='170' rx='16' fill='#E8EFF8' stroke='#3D7BD9' strokeWidth='2' /&gt;&#10;      &lt;text x='210' y='292' textAnchor='middle' fill='#0E3F8C' fontSize='30' fontWeight='bold'&gt;Data&lt;/text&gt;&#10;      &lt;text x='210' y='330' textAnchor='middle' fill='#4A5568' fontSize='18'&gt;facts and records&lt;/text&gt;&#10;      &lt;text x='210' y='362' textAnchor='middle' fill='#8B97A8' fontSize='16'&gt;orders, menus, payments&lt;/text&gt;&#10;      &lt;rect x='800' y='240' width='340' height='170' rx='16' fill='#E8EFF8' stroke='#3D7BD9' strokeWidth='2' /&gt;&#10;      &lt;text x='970' y='292' textAnchor='middle' fill='#0E3F8C' fontSize='30' fontWeight='bold'&gt;Technology&lt;/text&gt;&#10;      &lt;text x='970' y='330' textAnchor='middle' fill='#4A5568' fontSize='18'&gt;hardware and software&lt;/text&gt;&#10;      &lt;text x='970' y='362' textAnchor='middle' fill='#8B97A8' fontSize='16'&gt;app, server, card reader&lt;/text&gt;&#10;      &lt;circle cx='590' cy='220' r='92' fill='#0E3F8C' /&gt;&#10;      &lt;text x='590' y='210' textAnchor='middle' fill='#FFFFFF' fontSize='26' fontWeight='bold'&gt;Information&lt;/text&gt;&#10;      &lt;text x='590' y='246' textAnchor='middle' fill='#FFC107' fontSize='24' fontWeight='bold'&gt;System&lt;/text&gt;&#10;    &lt;/svg&gt;&#10;  &lt;/Box&gt;&#10;  &lt;Box style={{ height: 56, background: '#0E3F8C', padding: '0 40px', flexDirection: 'row', alignItems: 'center', justifyContent: 'center' }}&gt;&#10;    &lt;Text style={{ fontSize: 18, color: '#FFFFFF', fontWeight: '600' }}&gt;Remove any one element, and the system stops making sense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621982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Four Elements That Must Work Together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11401425" y="3619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10 / 38</a:t>
            </a:r>
            <a:endParaRPr/>
          </a:p>
        </p:txBody>
      </p:sp>
      <p:pic>
        <p:nvPicPr>
          <p:cNvPr id="1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466850"/>
            <a:ext cx="11239500" cy="4191000"/>
          </a:xfrm>
          <a:prstGeom prst="rect">
            <a:avLst/>
          </a:prstGeom>
          <a:ln/>
        </p:spPr>
      </p:pic>
      <p:sp>
        <p:nvSpPr>
          <p:cNvPr id="20" name=""/>
          <p:cNvSpPr/>
          <p:nvPr/>
        </p:nvSpPr>
        <p:spPr>
          <a:xfrm rot="0" flipH="0" flipV="0">
            <a:off x="0" y="6324600"/>
            <a:ext cx="12192000" cy="5334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3524250" y="6486525"/>
            <a:ext cx="51435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FFFF"/>
                </a:solidFill>
                <a:latin typeface="Microsoft YaHei"/>
                <a:ea typeface="Microsoft YaHei"/>
              </a:rPr>
              <a:t>Remove any one element, and the system stops making sense.</a:t>
            </a:r>
            <a:endParaRPr/>
          </a:p>
        </p:txBody>
      </p:sp>
    </p:spTree>
  </p:cSld>
</p:sld>
</file>

<file path=ppt/slides/slide1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Information Systems Around Us&lt;/Text&gt;&#10;  &lt;/Box&gt;&#10;  &lt;Box style={{ flex: 1, padding: '20px 40px 0 40px', flexDirection: 'row', gap: 24 }}&gt;&#10;    {[&#10;      { icon: 'book', t: 'Library System', d: 'People: readers &amp; librarians · Process: borrow / return · Data: catalogue, loans · Tech: kiosk, database' },&#10;      { icon: 'shopping-cart', t: 'Food Delivery', d: 'People: customers, riders · Process: order → cook → deliver · Data: menu, orders · Tech: app, GPS' },&#10;      { icon: 'hospital', t: 'Hospital Registration', d: 'People: patients, staff · Process: register → triage → treat · Data: records, queue · Tech: terminals, HIS' },&#10;    ].map((c) =&gt; (&#10;      &lt;Box key={c.t} style={{ flex: 1, padding: '26px 24px', background: '#F7F9FC', borderRadius: 12, border: '1px solid #E5E7EB', flexDirection: 'column', gap: 14 }}&gt;&#10;        &lt;Box style={{ width: 56, height: 56, borderRadius: 12, background: '#E8EFF8', justifyContent: 'center', alignItems: 'center' }}&gt;&#10;          &lt;FAIcon name={c.icon} style={{ fill: '#1E4FA8', width: 28, height: 28 }} /&gt;&#10;        &lt;/Box&gt;&#10;        &lt;Text style={{ fontSize: 23, fontWeight: 'bold', color: '#0E3F8C' }}&gt;{c.t}&lt;/Text&gt;&#10;        &lt;Text style={{ fontSize: 15, color: '#4A5568', lineHeight: 1.6 }}&gt;{c.d}&lt;/Text&gt;&#10;      &lt;/Box&gt;&#10;    ))}&#10;  &lt;/Box&gt;&#10;  &lt;Box style={{ height: 40, padding: '0 40px', flexDirection: 'row', alignItems: 'center', justifyContent: 'space-between' }}&gt;&#10;    &lt;Text style={{ fontSize: 13, color: '#8B97A8' }}&gt;Every example has all four elements — people, process, data, technology.&lt;/Text&gt;&#10;    &lt;Text style={{ fontSize: 14, color: '#1E4FA8', fontWeight: 'bold' }}&gt;1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Information Systems Around Us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381000" y="1495425"/>
            <a:ext cx="3657600" cy="4981575"/>
          </a:xfrm>
          <a:prstGeom prst="roundRect">
            <a:avLst>
              <a:gd name="adj" fmla="val 312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9" name=""/>
          <p:cNvSpPr/>
          <p:nvPr/>
        </p:nvSpPr>
        <p:spPr>
          <a:xfrm rot="0" flipH="0" flipV="0">
            <a:off x="609600" y="1743075"/>
            <a:ext cx="533400" cy="533400"/>
          </a:xfrm>
          <a:prstGeom prst="roundRect">
            <a:avLst>
              <a:gd name="adj" fmla="val 21429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42950" y="1876425"/>
            <a:ext cx="266700" cy="266700"/>
          </a:xfrm>
          <a:prstGeom prst="rect">
            <a:avLst/>
          </a:prstGeom>
          <a:ln/>
        </p:spPr>
      </p:pic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09600" y="2409825"/>
            <a:ext cx="320040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" b="1">
                <a:solidFill>
                  <a:srgbClr val="0E3F8C"/>
                </a:solidFill>
                <a:latin typeface="Microsoft YaHei"/>
                <a:ea typeface="Microsoft YaHei"/>
              </a:rPr>
              <a:t>Library System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09600" y="2809875"/>
            <a:ext cx="32004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People: readers &amp; librarians · Process: borrow / return · Data: catalogue, loans · Tech: kiosk, database</a:t>
            </a:r>
            <a:endParaRPr/>
          </a:p>
        </p:txBody>
      </p:sp>
      <p:sp>
        <p:nvSpPr>
          <p:cNvPr id="33" name=""/>
          <p:cNvSpPr/>
          <p:nvPr/>
        </p:nvSpPr>
        <p:spPr>
          <a:xfrm rot="0" flipH="0" flipV="0">
            <a:off x="4267200" y="1495425"/>
            <a:ext cx="3657600" cy="4981575"/>
          </a:xfrm>
          <a:prstGeom prst="roundRect">
            <a:avLst>
              <a:gd name="adj" fmla="val 312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4" name=""/>
          <p:cNvSpPr/>
          <p:nvPr/>
        </p:nvSpPr>
        <p:spPr>
          <a:xfrm rot="0" flipH="0" flipV="0">
            <a:off x="4495800" y="1743075"/>
            <a:ext cx="533400" cy="533400"/>
          </a:xfrm>
          <a:prstGeom prst="roundRect">
            <a:avLst>
              <a:gd name="adj" fmla="val 21429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629150" y="1876425"/>
            <a:ext cx="266700" cy="266700"/>
          </a:xfrm>
          <a:prstGeom prst="rect">
            <a:avLst/>
          </a:prstGeom>
          <a:ln/>
        </p:spPr>
      </p:pic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4495800" y="2409825"/>
            <a:ext cx="320040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" b="1">
                <a:solidFill>
                  <a:srgbClr val="0E3F8C"/>
                </a:solidFill>
                <a:latin typeface="Microsoft YaHei"/>
                <a:ea typeface="Microsoft YaHei"/>
              </a:rPr>
              <a:t>Food Delivery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4495800" y="2809875"/>
            <a:ext cx="32004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People: customers, riders · Process: order → cook → deliver · Data: menu, orders · Tech: app, GPS</a:t>
            </a:r>
            <a:endParaRPr/>
          </a:p>
        </p:txBody>
      </p:sp>
      <p:sp>
        <p:nvSpPr>
          <p:cNvPr id="38" name=""/>
          <p:cNvSpPr/>
          <p:nvPr/>
        </p:nvSpPr>
        <p:spPr>
          <a:xfrm rot="0" flipH="0" flipV="0">
            <a:off x="8153400" y="1495425"/>
            <a:ext cx="3657600" cy="4981575"/>
          </a:xfrm>
          <a:prstGeom prst="roundRect">
            <a:avLst>
              <a:gd name="adj" fmla="val 3125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39" name=""/>
          <p:cNvSpPr/>
          <p:nvPr/>
        </p:nvSpPr>
        <p:spPr>
          <a:xfrm rot="0" flipH="0" flipV="0">
            <a:off x="8382000" y="1743075"/>
            <a:ext cx="533400" cy="533400"/>
          </a:xfrm>
          <a:prstGeom prst="roundRect">
            <a:avLst>
              <a:gd name="adj" fmla="val 21429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4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515350" y="1876425"/>
            <a:ext cx="266700" cy="266700"/>
          </a:xfrm>
          <a:prstGeom prst="rect">
            <a:avLst/>
          </a:prstGeom>
          <a:ln/>
        </p:spPr>
      </p:pic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8382000" y="2409825"/>
            <a:ext cx="320040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" b="1">
                <a:solidFill>
                  <a:srgbClr val="0E3F8C"/>
                </a:solidFill>
                <a:latin typeface="Microsoft YaHei"/>
                <a:ea typeface="Microsoft YaHei"/>
              </a:rPr>
              <a:t>Hospital Registration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8382000" y="2809875"/>
            <a:ext cx="32004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People: patients, staff · Process: register → triage → treat · Data: records, queue · Tech: terminals, HIS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4067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Every example has all four elements — people, process, data, technology.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11 / 38</a:t>
            </a:r>
            <a:endParaRPr/>
          </a:p>
        </p:txBody>
      </p:sp>
    </p:spTree>
  </p:cSld>
</p:sld>
</file>

<file path=ppt/slides/slide1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Why Information Systems Fail&lt;/Text&gt;&#10;  &lt;/Box&gt;&#10;  &lt;Box style={{ flex: 1, padding: '18px 40px 0 40px', flexDirection: 'row', gap: 28 }}&gt;&#10;    &lt;Box style={{ flex: 3, padding: '20px 24px', background: '#F7F9FC', borderRadius: 12, border: '1px solid #E5E7EB', flexDirection: 'column', gap: 14, justifyContent: 'center' }}&gt;&#10;      {[&#10;        ['Technology-first thinking', 'Building before understanding what people actually need.'],&#10;        ['Misread requirements', 'The team builds the wrong system — perfectly.'],&#10;        ['Broken communication', 'Business people and developers speak different languages.'],&#10;        ['Scope without control', 'The system keeps growing until it collapses under its own weight.'],&#10;      ].map(([t, d]) =&gt; (&#10;        &lt;Box key={t} style={{ flexDirection: 'row', gap: 14, alignItems: 'flex-start' }}&gt;&#10;          &lt;Box style={{ width: 26, height: 26, borderRadius: 6, background: '#D9534F', justifyContent: 'center', alignItems: 'center' }}&gt;&#10;            &lt;FAIcon name='times' style={{ fill: '#FFFFFF', width: 14, height: 14 }} /&gt;&#10;          &lt;/Box&gt;&#10;          &lt;Box style={{ flexDirection: 'column', gap: 3 }}&gt;&#10;            &lt;Text style={{ fontSize: 18, fontWeight: 'bold', color: '#1A2230' }}&gt;{t}&lt;/Text&gt;&#10;            &lt;Text style={{ fontSize: 15, color: '#4A5568', lineHeight: 1.5 }}&gt;{d}&lt;/Text&gt;&#10;          &lt;/Box&gt;&#10;        &lt;/Box&gt;&#10;      ))}&#10;    &lt;/Box&gt;&#10;    &lt;Box style={{ flex: 2, padding: '28px 24px', background: '#0E3F8C', borderRadius: 12, flexDirection: 'column', justifyContent: 'center', gap: 14 }}&gt;&#10;      &lt;FAIcon name='exclamation-circle' style={{ fill: '#FFC107', width: 40, height: 40 }} /&gt;&#10;      &lt;Text style={{ fontSize: 24, fontWeight: 'bold', color: '#FFFFFF', lineHeight: 1.3 }}&gt;Most failures happen before a single line of code.&lt;/Text&gt;&#10;      &lt;Text style={{ fontSize: 17, color: '#C5D4EA', lineHeight: 1.55 }}&gt;They happen in the space where needs are understood and turned into models. That space belongs to the &lt;span style={{ fontWeight: 'bold', color: '#FFFFFF' }}&gt;systems analyst&lt;/span&gt;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2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Why Information Systems Fail</a:t>
            </a:r>
            <a:endParaRPr/>
          </a:p>
        </p:txBody>
      </p:sp>
      <p:sp>
        <p:nvSpPr>
          <p:cNvPr id="51" name=""/>
          <p:cNvSpPr/>
          <p:nvPr/>
        </p:nvSpPr>
        <p:spPr>
          <a:xfrm rot="0" flipH="0" flipV="0">
            <a:off x="381000" y="1476375"/>
            <a:ext cx="6696075" cy="5000625"/>
          </a:xfrm>
          <a:prstGeom prst="roundRect">
            <a:avLst>
              <a:gd name="adj" fmla="val 2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2" name=""/>
          <p:cNvSpPr/>
          <p:nvPr/>
        </p:nvSpPr>
        <p:spPr>
          <a:xfrm rot="0" flipH="0" flipV="0">
            <a:off x="609600" y="2790825"/>
            <a:ext cx="247650" cy="247650"/>
          </a:xfrm>
          <a:prstGeom prst="roundRect">
            <a:avLst>
              <a:gd name="adj" fmla="val 23077"/>
            </a:avLst>
          </a:prstGeom>
          <a:solidFill>
            <a:srgbClr val="D9534F"/>
          </a:solidFill>
          <a:ln/>
        </p:spPr>
        <p:txBody>
          <a:bodyPr/>
          <a:p/>
        </p:txBody>
      </p:sp>
      <p:pic>
        <p:nvPicPr>
          <p:cNvPr id="5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2847975"/>
            <a:ext cx="133350" cy="133350"/>
          </a:xfrm>
          <a:prstGeom prst="rect">
            <a:avLst/>
          </a:prstGeom>
          <a:ln/>
        </p:spPr>
      </p:pic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990600" y="2790825"/>
            <a:ext cx="3638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Technology-first thinking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990600" y="3028950"/>
            <a:ext cx="36385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Building before understanding what people actually need.</a:t>
            </a:r>
            <a:endParaRPr/>
          </a:p>
        </p:txBody>
      </p:sp>
      <p:sp>
        <p:nvSpPr>
          <p:cNvPr id="56" name=""/>
          <p:cNvSpPr/>
          <p:nvPr/>
        </p:nvSpPr>
        <p:spPr>
          <a:xfrm rot="0" flipH="0" flipV="0">
            <a:off x="609600" y="3419475"/>
            <a:ext cx="247650" cy="247650"/>
          </a:xfrm>
          <a:prstGeom prst="roundRect">
            <a:avLst>
              <a:gd name="adj" fmla="val 23077"/>
            </a:avLst>
          </a:prstGeom>
          <a:solidFill>
            <a:srgbClr val="D9534F"/>
          </a:solidFill>
          <a:ln/>
        </p:spPr>
        <p:txBody>
          <a:bodyPr/>
          <a:p/>
        </p:txBody>
      </p:sp>
      <p:pic>
        <p:nvPicPr>
          <p:cNvPr id="5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3476625"/>
            <a:ext cx="133350" cy="133350"/>
          </a:xfrm>
          <a:prstGeom prst="rect">
            <a:avLst/>
          </a:prstGeom>
          <a:ln/>
        </p:spPr>
      </p:pic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990600" y="3419475"/>
            <a:ext cx="2971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Misread requirements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990600" y="3657600"/>
            <a:ext cx="29718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The team builds the wrong system — perfectly.</a:t>
            </a:r>
            <a:endParaRPr/>
          </a:p>
        </p:txBody>
      </p:sp>
      <p:sp>
        <p:nvSpPr>
          <p:cNvPr id="60" name=""/>
          <p:cNvSpPr/>
          <p:nvPr/>
        </p:nvSpPr>
        <p:spPr>
          <a:xfrm rot="0" flipH="0" flipV="0">
            <a:off x="609600" y="4048125"/>
            <a:ext cx="247650" cy="247650"/>
          </a:xfrm>
          <a:prstGeom prst="roundRect">
            <a:avLst>
              <a:gd name="adj" fmla="val 23077"/>
            </a:avLst>
          </a:prstGeom>
          <a:solidFill>
            <a:srgbClr val="D9534F"/>
          </a:solidFill>
          <a:ln/>
        </p:spPr>
        <p:txBody>
          <a:bodyPr/>
          <a:p/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4105275"/>
            <a:ext cx="133350" cy="133350"/>
          </a:xfrm>
          <a:prstGeom prst="rect">
            <a:avLst/>
          </a:prstGeom>
          <a:ln/>
        </p:spPr>
      </p:pic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990600" y="4048125"/>
            <a:ext cx="37814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Broken communication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990600" y="4286250"/>
            <a:ext cx="37814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Business people and developers speak different languages.</a:t>
            </a:r>
            <a:endParaRPr/>
          </a:p>
        </p:txBody>
      </p:sp>
      <p:sp>
        <p:nvSpPr>
          <p:cNvPr id="64" name=""/>
          <p:cNvSpPr/>
          <p:nvPr/>
        </p:nvSpPr>
        <p:spPr>
          <a:xfrm rot="0" flipH="0" flipV="0">
            <a:off x="609600" y="4676775"/>
            <a:ext cx="247650" cy="247650"/>
          </a:xfrm>
          <a:prstGeom prst="roundRect">
            <a:avLst>
              <a:gd name="adj" fmla="val 23077"/>
            </a:avLst>
          </a:prstGeom>
          <a:solidFill>
            <a:srgbClr val="D9534F"/>
          </a:solidFill>
          <a:ln/>
        </p:spPr>
        <p:txBody>
          <a:bodyPr/>
          <a:p/>
        </p:txBody>
      </p:sp>
      <p:pic>
        <p:nvPicPr>
          <p:cNvPr id="6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4733925"/>
            <a:ext cx="133350" cy="133350"/>
          </a:xfrm>
          <a:prstGeom prst="rect">
            <a:avLst/>
          </a:prstGeom>
          <a:ln/>
        </p:spPr>
      </p:pic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990600" y="4676775"/>
            <a:ext cx="4133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Scope without control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990600" y="4914900"/>
            <a:ext cx="41338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The system keeps growing until it collapses under its own weight.</a:t>
            </a:r>
            <a:endParaRPr/>
          </a:p>
        </p:txBody>
      </p:sp>
      <p:sp>
        <p:nvSpPr>
          <p:cNvPr id="68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6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572375" y="2847975"/>
            <a:ext cx="381000" cy="381000"/>
          </a:xfrm>
          <a:prstGeom prst="rect">
            <a:avLst/>
          </a:prstGeom>
          <a:ln/>
        </p:spPr>
      </p:pic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7572375" y="3362325"/>
            <a:ext cx="4010025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Most failures happen before a single line of code.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572375" y="4210050"/>
            <a:ext cx="4010025" cy="9048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They happen in the space where needs are understood and turned into models. That space belongs to the </a:t>
            </a: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systems analyst</a:t>
            </a: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.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12 / 38</a:t>
            </a:r>
            <a:endParaRPr/>
          </a:p>
        </p:txBody>
      </p:sp>
    </p:spTree>
  </p:cSld>
</p:sld>
</file>

<file path=ppt/slides/slide13.xml><?xml version="1.0" encoding="utf-8"?>
<p:sld xmlns:a="http://schemas.openxmlformats.org/drawingml/2006/main" xmlns:p="http://schemas.openxmlformats.org/presentationml/2006/main">
  <p:cSld>
    <p:spTree>
      <p:nvGrpSpPr>
        <p:cNvPr id="74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3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The Systems Analyst&lt;/Text&gt;&#10;      &lt;Box style={{ width: 64, height: 4, background: '#FFC107', marginTop: 26, marginBottom: 26 }} /&gt;&#10;      &lt;Box style={{ flexDirection: 'column', gap: 12 }}&gt;&#10;        {[&#10;          'A bridge between business and technology',&#10;          'What analysts actually do day to day',&#10;          'The three-part skill profile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6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38100" y="2171700"/>
            <a:ext cx="278130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03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3467100" y="220980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3467100" y="2552700"/>
            <a:ext cx="8115300" cy="6477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The Systems Analyst</a:t>
            </a:r>
            <a:endParaRPr/>
          </a:p>
        </p:txBody>
      </p:sp>
      <p:sp>
        <p:nvSpPr>
          <p:cNvPr id="80" name=""/>
          <p:cNvSpPr/>
          <p:nvPr/>
        </p:nvSpPr>
        <p:spPr>
          <a:xfrm rot="0" flipH="0" flipV="0">
            <a:off x="3467100" y="34480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81" name=""/>
          <p:cNvSpPr/>
          <p:nvPr/>
        </p:nvSpPr>
        <p:spPr>
          <a:xfrm rot="0" flipH="0" flipV="0">
            <a:off x="3467100" y="38100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3657600" y="3733800"/>
            <a:ext cx="36385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 bridge between business and technology</a:t>
            </a:r>
            <a:endParaRPr/>
          </a:p>
        </p:txBody>
      </p:sp>
      <p:sp>
        <p:nvSpPr>
          <p:cNvPr id="83" name=""/>
          <p:cNvSpPr/>
          <p:nvPr/>
        </p:nvSpPr>
        <p:spPr>
          <a:xfrm rot="0" flipH="0" flipV="0">
            <a:off x="3467100" y="41529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3657600" y="4076700"/>
            <a:ext cx="30956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What analysts actually do day to day</a:t>
            </a:r>
            <a:endParaRPr/>
          </a:p>
        </p:txBody>
      </p:sp>
      <p:sp>
        <p:nvSpPr>
          <p:cNvPr id="85" name=""/>
          <p:cNvSpPr/>
          <p:nvPr/>
        </p:nvSpPr>
        <p:spPr>
          <a:xfrm rot="0" flipH="0" flipV="0">
            <a:off x="3467100" y="4495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3657600" y="4419600"/>
            <a:ext cx="21526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The three-part skill profile</a:t>
            </a:r>
            <a:endParaRPr/>
          </a:p>
        </p:txBody>
      </p:sp>
      <p:sp>
        <p:nvSpPr>
          <p:cNvPr id="87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1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8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The Analyst as a Bridge&lt;/Text&gt;&#10;  &lt;/Box&gt;&#10;  &lt;Box style={{ flex: 1, padding: '18px 40px 0 40px', flexDirection: 'row', gap: 28 }}&gt;&#10;    &lt;Box style={{ flex: 3, justifyContent: 'center', alignItems: 'center' }}&gt;&#10;      &lt;svg width={560} height={380} viewBox='0 0 560 380'&gt;&#10;        &lt;rect x='20' y='30' width='180' height='320' rx='16' fill='#E8EFF8' stroke='#3D7BD9' strokeWidth='2' /&gt;&#10;        &lt;text x='110' y='80' textAnchor='middle' fill='#0E3F8C' fontSize='26' fontWeight='bold'&gt;Business&lt;/text&gt;&#10;        &lt;text x='110' y='116' textAnchor='middle' fill='#4A5568' fontSize='16'&gt;goals, needs,&lt;/text&gt;&#10;        &lt;text x='110' y='142' textAnchor='middle' fill='#4A5568' fontSize='16'&gt;domain knowledge&lt;/text&gt;&#10;        &lt;text x='110' y='210' textAnchor='middle' fill='#8B97A8' fontSize='15'&gt;“We want faster&lt;/text&gt;&#10;        &lt;text x='110' y='232' textAnchor='middle' fill='#8B97A8' fontSize='15'&gt;order tracking.”&lt;/text&gt;&#10;        &lt;rect x='360' y='30' width='180' height='320' rx='16' fill='#E8EFF8' stroke='#3D7BD9' strokeWidth='2' /&gt;&#10;        &lt;text x='450' y='80' textAnchor='middle' fill='#0E3F8C' fontSize='26' fontWeight='bold'&gt;Technology&lt;/text&gt;&#10;        &lt;text x='450' y='116' textAnchor='middle' fill='#4A5568' fontSize='16'&gt;code, systems,&lt;/text&gt;&#10;        &lt;text x='450' y='142' textAnchor='middle' fill='#4A5568' fontSize='16'&gt;architecture&lt;/text&gt;&#10;        &lt;text x='450' y='210' textAnchor='middle' fill='#8B97A8' fontSize='15'&gt;“Use Observer&lt;/text&gt;&#10;        &lt;text x='450' y='232' textAnchor='middle' fill='#8B97A8' fontSize='15'&gt;for updates.”&lt;/text&gt;&#10;        &lt;rect x='228' y='140' width='104' height='100' rx='14' fill='#1E4FA8' /&gt;&#10;        &lt;text x='280' y='182' textAnchor='middle' fill='#FFFFFF' fontSize='20' fontWeight='bold'&gt;Analyst&lt;/text&gt;&#10;        &lt;text x='280' y='208' textAnchor='middle' fill='#B9CDF0' fontSize='14'&gt;translator&lt;/text&gt;&#10;        &lt;line x1='200' y1='170' x2='228' y2='178' stroke='#3D7BD9' strokeWidth='3' /&gt;&#10;        &lt;line x1='332' y1='178' x2='360' y2='170' stroke='#3D7BD9' strokeWidth='3' /&gt;&#10;        &lt;line x1='200' y1='210' x2='228' y2='202' stroke='#3D7BD9' strokeWidth='3' /&gt;&#10;        &lt;line x1='332' y1='202' x2='360' y2='210' stroke='#3D7BD9' strokeWidth='3' /&gt;&#10;      &lt;/svg&gt;&#10;    &lt;/Box&gt;&#10;    &lt;Box style={{ flex: 2, flexDirection: 'column', gap: 16, justifyContent: 'center' }}&gt;&#10;      &lt;Text style={{ fontSize: 20, color: '#4A5568', lineHeight: 1.55 }}&gt;The analyst turns vague business needs into precise models that developers can build from.&lt;/Text&gt;&#10;      &lt;Box style={{ padding: '16px 18px', background: '#F7F9FC', borderRadius: 10, border: '1px solid #E5E7EB', flexDirection: 'column', gap: 6 }}&gt;&#10;        &lt;Text style={{ fontSize: 16, fontWeight: 'bold', color: '#0E3F8C' }}&gt;Translation in both directions&lt;/Text&gt;&#10;        &lt;Text style={{ fontSize: 15, color: '#4A5568', lineHeight: 1.5 }}&gt;Business language → models → technical language, and back again when questions arise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The Analyst as a Bridge</a:t>
            </a:r>
            <a:endParaRPr/>
          </a:p>
        </p:txBody>
      </p:sp>
      <p:pic>
        <p:nvPicPr>
          <p:cNvPr id="9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171700"/>
            <a:ext cx="5334000" cy="3619500"/>
          </a:xfrm>
          <a:prstGeom prst="rect">
            <a:avLst/>
          </a:prstGeom>
          <a:ln/>
        </p:spPr>
      </p:pic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7343775" y="3009900"/>
            <a:ext cx="4467225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>The analyst turns vague business needs into precise models that developers can build from.</a:t>
            </a:r>
            <a:endParaRPr/>
          </a:p>
        </p:txBody>
      </p:sp>
      <p:sp>
        <p:nvSpPr>
          <p:cNvPr id="96" name=""/>
          <p:cNvSpPr/>
          <p:nvPr/>
        </p:nvSpPr>
        <p:spPr>
          <a:xfrm rot="0" flipH="0" flipV="0">
            <a:off x="7343775" y="3876675"/>
            <a:ext cx="4467225" cy="1066800"/>
          </a:xfrm>
          <a:prstGeom prst="roundRect">
            <a:avLst>
              <a:gd name="adj" fmla="val 892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7515225" y="4029075"/>
            <a:ext cx="4124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Translation in both directions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7515225" y="4276725"/>
            <a:ext cx="41243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Business language → models → technical language, and back again when questions arise.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14 / 38</a:t>
            </a:r>
            <a:endParaRPr/>
          </a:p>
        </p:txBody>
      </p:sp>
    </p:spTree>
  </p:cSld>
</p:sld>
</file>

<file path=ppt/slides/slide1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0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What Analysts Actually Do&lt;/Text&gt;&#10;  &lt;/Box&gt;&#10;  &lt;Box style={{ flex: 1, padding: '18px 40px 0 40px', flexDirection: 'row', gap: 28 }}&gt;&#10;    &lt;Box style={{ width: 300, padding: '28px 24px', background: '#0E3F8C', borderRadius: 12, flexDirection: 'column', justifyContent: 'center', gap: 14 }}&gt;&#10;      &lt;Text style={{ fontSize: 24, fontWeight: 'bold', color: '#FFFFFF', lineHeight: 1.35 }}&gt;Four recurring activities&lt;/Text&gt;&#10;      &lt;Text style={{ fontSize: 16, color: '#C5D4EA', lineHeight: 1.55 }}&gt;Analysis is not a single event — it is a loop of asking, modelling, checking and communicating.&lt;/Text&gt;&#10;    &lt;/Box&gt;&#10;    &lt;Box style={{ flex: 1, flexDirection: 'column', gap: 14, justifyContent: 'center' }}&gt;&#10;      {[&#10;        ['search', 'Elicit requirements', 'Interview stakeholders, observe workflows, read existing documents.'],&#10;        ['edit', 'Model the system', 'Express findings as use cases, domain models and diagrams.'],&#10;        ['comment', 'Validate with stakeholders', 'Walk models past the people who will actually use the system.'],&#10;        ['users', 'Communicate the design', 'Hand precise models to developers and keep everyone aligned.'],&#10;      ].map(([icon, t, d]) =&gt; (&#10;        &lt;Box key={t} style={{ flexDirection: 'row', gap: 14, alignItems: 'flex-start' }}&gt;&#10;          &lt;Box style={{ width: 42, height: 42, borderRadius: 10, background: '#E8EFF8', justifyContent: 'center', alignItems: 'center' }}&gt;&#10;            &lt;FAIcon name={icon} style={{ fill: '#1E4FA8', width: 22, height: 22 }} /&gt;&#10;          &lt;/Box&gt;&#10;          &lt;Box style={{ flexDirection: 'column', gap: 3 }}&gt;&#10;            &lt;Text style={{ fontSize: 18, fontWeight: 'bold', color: '#1A2230' }}&gt;{t}&lt;/Text&gt;&#10;            &lt;Text style={{ fontSize: 15, color: '#4A5568', lineHeight: 1.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5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What Analysts Actually Do</a:t>
            </a:r>
            <a:endParaRPr/>
          </a:p>
        </p:txBody>
      </p:sp>
      <p:sp>
        <p:nvSpPr>
          <p:cNvPr id="107" name=""/>
          <p:cNvSpPr/>
          <p:nvPr/>
        </p:nvSpPr>
        <p:spPr>
          <a:xfrm rot="0" flipH="0" flipV="0">
            <a:off x="381000" y="1476375"/>
            <a:ext cx="2857500" cy="5000625"/>
          </a:xfrm>
          <a:prstGeom prst="roundRect">
            <a:avLst>
              <a:gd name="adj" fmla="val 4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609600" y="3114675"/>
            <a:ext cx="2400300" cy="7429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>Four recurring activities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609600" y="3990975"/>
            <a:ext cx="2400300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Analysis is not a single event — it is a loop of asking, modelling, checking and communicating.</a:t>
            </a:r>
            <a:endParaRPr/>
          </a:p>
        </p:txBody>
      </p:sp>
      <p:sp>
        <p:nvSpPr>
          <p:cNvPr id="110" name=""/>
          <p:cNvSpPr/>
          <p:nvPr/>
        </p:nvSpPr>
        <p:spPr>
          <a:xfrm rot="0" flipH="0" flipV="0">
            <a:off x="3505200" y="279082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1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600450" y="2886075"/>
            <a:ext cx="209550" cy="209550"/>
          </a:xfrm>
          <a:prstGeom prst="rect">
            <a:avLst/>
          </a:prstGeom>
          <a:ln/>
        </p:spPr>
      </p:pic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4038600" y="2790825"/>
            <a:ext cx="43529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Elicit requirements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4038600" y="3028950"/>
            <a:ext cx="43529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Interview stakeholders, observe workflows, read existing documents.</a:t>
            </a:r>
            <a:endParaRPr/>
          </a:p>
        </p:txBody>
      </p:sp>
      <p:sp>
        <p:nvSpPr>
          <p:cNvPr id="114" name=""/>
          <p:cNvSpPr/>
          <p:nvPr/>
        </p:nvSpPr>
        <p:spPr>
          <a:xfrm rot="0" flipH="0" flipV="0">
            <a:off x="3505200" y="341947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1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600450" y="3514725"/>
            <a:ext cx="209550" cy="209550"/>
          </a:xfrm>
          <a:prstGeom prst="rect">
            <a:avLst/>
          </a:prstGeom>
          <a:ln/>
        </p:spPr>
      </p:pic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4038600" y="3419475"/>
            <a:ext cx="3924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Model the system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4038600" y="3657600"/>
            <a:ext cx="39243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Express findings as use cases, domain models and diagrams.</a:t>
            </a:r>
            <a:endParaRPr/>
          </a:p>
        </p:txBody>
      </p:sp>
      <p:sp>
        <p:nvSpPr>
          <p:cNvPr id="118" name=""/>
          <p:cNvSpPr/>
          <p:nvPr/>
        </p:nvSpPr>
        <p:spPr>
          <a:xfrm rot="0" flipH="0" flipV="0">
            <a:off x="3505200" y="404812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1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600450" y="4143375"/>
            <a:ext cx="209550" cy="209550"/>
          </a:xfrm>
          <a:prstGeom prst="rect">
            <a:avLst/>
          </a:prstGeom>
          <a:ln/>
        </p:spPr>
      </p:pic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4038600" y="4048125"/>
            <a:ext cx="39338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Validate with stakeholders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4038600" y="4286250"/>
            <a:ext cx="39338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Walk models past the people who will actually use the system.</a:t>
            </a:r>
            <a:endParaRPr/>
          </a:p>
        </p:txBody>
      </p:sp>
      <p:sp>
        <p:nvSpPr>
          <p:cNvPr id="122" name=""/>
          <p:cNvSpPr/>
          <p:nvPr/>
        </p:nvSpPr>
        <p:spPr>
          <a:xfrm rot="0" flipH="0" flipV="0">
            <a:off x="3505200" y="4676775"/>
            <a:ext cx="400050" cy="400050"/>
          </a:xfrm>
          <a:prstGeom prst="roundRect">
            <a:avLst>
              <a:gd name="adj" fmla="val 2381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3600450" y="4772025"/>
            <a:ext cx="209550" cy="209550"/>
          </a:xfrm>
          <a:prstGeom prst="rect">
            <a:avLst/>
          </a:prstGeom>
          <a:ln/>
        </p:spPr>
      </p:pic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4038600" y="4676775"/>
            <a:ext cx="40386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Communicate the design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4038600" y="4914900"/>
            <a:ext cx="40386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Hand precise models to developers and keep everyone aligned.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15 / 38</a:t>
            </a:r>
            <a:endParaRPr/>
          </a:p>
        </p:txBody>
      </p:sp>
    </p:spTree>
  </p:cSld>
</p:sld>
</file>

<file path=ppt/slides/slide1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28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The Analyst Skill Profile&lt;/Text&gt;&#10;  &lt;/Box&gt;&#10;  &lt;Box style={{ flex: 1, padding: '18px 40px 0 40px', flexDirection: 'row', gap: 28 }}&gt;&#10;    &lt;Box style={{ flex: 3, flexDirection: 'column', gap: 14, justifyContent: 'center' }}&gt;&#10;      {[&#10;        ['cog', 'Technical skills', 'Understand systems, data and what is feasible — without needing to write every line.'],&#10;        ['briefcase', 'Business skills', 'Understand the domain, the process and the real goal behind each requirement.'],&#10;        ['users', 'Human skills', 'Listen, interview, negotiate and communicate across two very different worlds.'],&#10;      ].map(([icon, t, d]) =&gt; (&#10;        &lt;Box key={t} style={{ flexDirection: 'row', gap: 14, padding: '16px 18px', background: '#F7F9FC', borderRadius: 10, border: '1px solid #E5E7EB', alignItems: 'center' }}&gt;&#10;          &lt;Box style={{ width: 48, height: 48, borderRadius: 12, background: '#E8EFF8', justifyContent: 'center', alignItems: 'center' }}&gt;&#10;            &lt;FAIcon name={icon} style={{ fill: '#1E4FA8', width: 24, height: 24 }} /&gt;&#10;          &lt;/Box&gt;&#10;          &lt;Box style={{ flexDirection: 'column', gap: 4 }}&gt;&#10;            &lt;Text style={{ fontSize: 19, fontWeight: 'bold', color: '#1A2230' }}&gt;{t}&lt;/Text&gt;&#10;            &lt;Text style={{ fontSize: 15, color: '#4A5568', lineHeight: 1.5 }}&gt;{d}&lt;/Text&gt;&#10;          &lt;/Box&gt;&#10;        &lt;/Box&gt;&#10;      ))}&#10;    &lt;/Box&gt;&#10;    &lt;Box style={{ flex: 2, padding: '24px 22px', background: '#0E3F8C', borderRadius: 12, flexDirection: 'column', justifyContent: 'center', gap: 12 }}&gt;&#10;      &lt;Text style={{ fontSize: 22, fontWeight: 'bold', color: '#FFFFFF', lineHeight: 1.3 }}&gt;Missing any one, and the bridge collapses.&lt;/Text&gt;&#10;      &lt;Text style={{ fontSize: 16, color: '#C5D4EA', lineHeight: 1.55 }}&gt;All technical and no business = wrong system. All business and no technical = impossible system. No human skills = nobody buys in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0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The Analyst Skill Profile</a:t>
            </a:r>
            <a:endParaRPr/>
          </a:p>
        </p:txBody>
      </p:sp>
      <p:sp>
        <p:nvSpPr>
          <p:cNvPr id="134" name=""/>
          <p:cNvSpPr/>
          <p:nvPr/>
        </p:nvSpPr>
        <p:spPr>
          <a:xfrm rot="0" flipH="0" flipV="0">
            <a:off x="381000" y="2619375"/>
            <a:ext cx="669607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35" name=""/>
          <p:cNvSpPr/>
          <p:nvPr/>
        </p:nvSpPr>
        <p:spPr>
          <a:xfrm rot="0" flipH="0" flipV="0">
            <a:off x="552450" y="280035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3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66750" y="2914650"/>
            <a:ext cx="228600" cy="228600"/>
          </a:xfrm>
          <a:prstGeom prst="rect">
            <a:avLst/>
          </a:prstGeom>
          <a:ln/>
        </p:spPr>
      </p:pic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1143000" y="2771775"/>
            <a:ext cx="5372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Technical skills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1143000" y="3028950"/>
            <a:ext cx="53721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Understand systems, data and what is feasible — without needing to write every line.</a:t>
            </a:r>
            <a:endParaRPr/>
          </a:p>
        </p:txBody>
      </p:sp>
      <p:sp>
        <p:nvSpPr>
          <p:cNvPr id="139" name=""/>
          <p:cNvSpPr/>
          <p:nvPr/>
        </p:nvSpPr>
        <p:spPr>
          <a:xfrm rot="0" flipH="0" flipV="0">
            <a:off x="381000" y="3571875"/>
            <a:ext cx="669607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40" name=""/>
          <p:cNvSpPr/>
          <p:nvPr/>
        </p:nvSpPr>
        <p:spPr>
          <a:xfrm rot="0" flipH="0" flipV="0">
            <a:off x="552450" y="375285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66750" y="3867150"/>
            <a:ext cx="228600" cy="228600"/>
          </a:xfrm>
          <a:prstGeom prst="rect">
            <a:avLst/>
          </a:prstGeom>
          <a:ln/>
        </p:spPr>
      </p:pic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1143000" y="3724275"/>
            <a:ext cx="5076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Business skills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1143000" y="3981450"/>
            <a:ext cx="50768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Understand the domain, the process and the real goal behind each requirement.</a:t>
            </a:r>
            <a:endParaRPr/>
          </a:p>
        </p:txBody>
      </p:sp>
      <p:sp>
        <p:nvSpPr>
          <p:cNvPr id="144" name=""/>
          <p:cNvSpPr/>
          <p:nvPr/>
        </p:nvSpPr>
        <p:spPr>
          <a:xfrm rot="0" flipH="0" flipV="0">
            <a:off x="381000" y="4524375"/>
            <a:ext cx="669607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145" name=""/>
          <p:cNvSpPr/>
          <p:nvPr/>
        </p:nvSpPr>
        <p:spPr>
          <a:xfrm rot="0" flipH="0" flipV="0">
            <a:off x="552450" y="4705350"/>
            <a:ext cx="457200" cy="457200"/>
          </a:xfrm>
          <a:prstGeom prst="roundRect">
            <a:avLst>
              <a:gd name="adj" fmla="val 25000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14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666750" y="4819650"/>
            <a:ext cx="228600" cy="228600"/>
          </a:xfrm>
          <a:prstGeom prst="rect">
            <a:avLst/>
          </a:prstGeom>
          <a:ln/>
        </p:spPr>
      </p:pic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1143000" y="4676775"/>
            <a:ext cx="49339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A2230"/>
                </a:solidFill>
                <a:latin typeface="Microsoft YaHei"/>
                <a:ea typeface="Microsoft YaHei"/>
              </a:rPr>
              <a:t>Human skills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1143000" y="4933950"/>
            <a:ext cx="49339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Listen, interview, negotiate and communicate across two very different worlds.</a:t>
            </a:r>
            <a:endParaRPr/>
          </a:p>
        </p:txBody>
      </p:sp>
      <p:sp>
        <p:nvSpPr>
          <p:cNvPr id="149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7553325" y="3162300"/>
            <a:ext cx="404812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Missing any one, and the bridge collapses.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7553325" y="3933825"/>
            <a:ext cx="40481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All technical and no business = wrong system. All business and no technical = impossible system. No human skills = nobody buys in.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16 / 38</a:t>
            </a:r>
            <a:endParaRPr/>
          </a:p>
        </p:txBody>
      </p:sp>
    </p:spTree>
  </p:cSld>
</p:sld>
</file>

<file path=ppt/slides/slide17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154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Analyst vs. Other Roles&lt;/Text&gt;&#10;  &lt;/Box&gt;&#10;  &lt;Box style={{ flex: 1, padding: '20px 40px 0 40px' }}&gt;&#10;    &lt;Table&#10;      style={{ width: '100%', height: '100%' }}&#10;      defaultTextStyle={{ fontSize: 16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Role', textStyle: { bold: true, color: '#FFFFFF', textAlign: 'left' }, cellStyle: { background: { color: '#0E3F8C' } } },&#10;          { text: 'Primary focus', textStyle: { bold: true, color: '#FFFFFF', textAlign: 'left' }, cellStyle: { background: { color: '#0E3F8C' } } },&#10;          { text: 'Key question', textStyle: { bold: true, color: '#FFFFFF', textAlign: 'left' }, cellStyle: { background: { color: '#0E3F8C' } } },&#10;        ],&#10;        [&#10;          { text: 'Systems Analyst', textStyle: { bold: true, color: '#1E4FA8' }, cellStyle: { background: { color: '#F0F5FC' } } },&#10;          { text: 'Understand needs, build models', textStyle: { color: '#4A5568' }, cellStyle: { background: { color: '#F0F5FC' } } },&#10;          { text: 'What should the system do?', textStyle: { color: '#4A5568' }, cellStyle: { background: { color: '#F0F5FC' } } },&#10;        ],&#10;        [&#10;          { text: 'Developer', textStyle: { bold: true, color: '#1A2230' } },&#10;          { text: 'Build the system', textStyle: { color: '#4A5568' } },&#10;          { text: 'How do we build it?', textStyle: { color: '#4A5568' } },&#10;        ],&#10;        [&#10;          { text: 'Tester', textStyle: { bold: true, color: '#1A2230' }, cellStyle: { background: { color: '#F7F9FC' } } },&#10;          { text: 'Verify quality', textStyle: { color: '#4A5568' }, cellStyle: { background: { color: '#F7F9FC' } } },&#10;          { text: 'Does it work correctly?', textStyle: { color: '#4A5568' }, cellStyle: { background: { color: '#F7F9FC' } } },&#10;        ],&#10;        [&#10;          { text: 'Project Manager', textStyle: { bold: true, color: '#1A2230' } },&#10;          { text: 'Scope, schedule, resources', textStyle: { color: '#4A5568' } },&#10;          { text: 'Are we on track?', textStyle: { color: '#4A5568' } },&#10;        ],&#10;      ]}&#10;    /&gt;&#10;  &lt;/Box&gt;&#10;  &lt;Box style={{ height: 40, padding: '0 40px', flexDirection: 'row', alignItems: 'center', justifyContent: 'space-between' }}&gt;&#10;    &lt;Text style={{ fontSize: 13, color: '#8B97A8' }}&gt;This course trains you for the top row.&lt;/Text&gt;&#10;    &lt;Text style={{ fontSize: 14, color: '#1E4FA8', fontWeight: 'bold' }}&gt;17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6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Analyst vs. Other Roles</a:t>
            </a:r>
            <a:endParaRPr/>
          </a:p>
        </p:txBody>
      </p:sp>
      <p:graphicFrame>
        <p:nvGraphicFramePr>
          <p:cNvPr id="160" name=""/>
          <p:cNvGraphicFramePr/>
          <p:nvPr/>
        </p:nvGraphicFramePr>
        <p:xfrm rot="0" flipH="0" flipV="0">
          <a:off x="381000" y="1495425"/>
          <a:ext cx="11430000" cy="4981575"/>
        </p:xfrm>
        <a:graphic>
          <a:graphicData uri="http://schemas.openxmlformats.org/drawingml/2006/table">
            <a:tbl>
              <a:tblGrid>
                <a:gridCol w="2685992">
                  <a:extLst>
                    <a:ext uri="{9D8B030D-6E8A-4147-A177-3AD203B41FA5}">
                      <a16:colId val="1"/>
                    </a:ext>
                  </a:extLst>
                </a:gridCol>
                <a:gridCol w="4643316">
                  <a:extLst>
                    <a:ext uri="{9D8B030D-6E8A-4147-A177-3AD203B41FA5}">
                      <a16:colId val="2"/>
                    </a:ext>
                  </a:extLst>
                </a:gridCol>
                <a:gridCol w="4100692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99631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Role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Primary focus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Key question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99631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Systems Analyst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Understand needs, build models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What should the system do?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99631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Developer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Build the system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How do we build it?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99631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Tester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Verify quality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Does it work correctly?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99631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Project Manager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Scope, schedule, resources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00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Are we on track?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</a:tbl>
          </a:graphicData>
        </a:graphic>
      </p:graphicFrame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066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This course trains you for the top row.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17 / 38</a:t>
            </a:r>
            <a:endParaRPr/>
          </a:p>
        </p:txBody>
      </p:sp>
    </p:spTree>
  </p:cSld>
</p:sld>
</file>

<file path=ppt/slides/slide18.xml><?xml version="1.0" encoding="utf-8"?>
<p:sld xmlns:a="http://schemas.openxmlformats.org/drawingml/2006/main" xmlns:p="http://schemas.openxmlformats.org/presentationml/2006/main">
  <p:cSld>
    <p:spTree>
      <p:nvGrpSpPr>
        <p:cNvPr id="163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4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Analysis &amp;amp; Design&lt;br /&gt;in the SDLC&lt;/Text&gt;&#10;      &lt;Box style={{ width: 64, height: 4, background: '#FFC107', marginTop: 26, marginBottom: 26 }} /&gt;&#10;      &lt;Box style={{ flexDirection: 'column', gap: 12 }}&gt;&#10;        {[&#10;          'A quick recap of the software life cycle',&#10;          'Analysis vs. design vs. implementation',&#10;          'Models as abstractions — like maps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5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38450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04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Analysis &amp; Design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in the SDLC</a:t>
            </a:r>
            <a:endParaRPr/>
          </a:p>
        </p:txBody>
      </p:sp>
      <p:sp>
        <p:nvSpPr>
          <p:cNvPr id="169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70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3248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 quick recap of the software life cycle</a:t>
            </a:r>
            <a:endParaRPr/>
          </a:p>
        </p:txBody>
      </p:sp>
      <p:sp>
        <p:nvSpPr>
          <p:cNvPr id="172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3267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Analysis vs. design vs. implementation</a:t>
            </a:r>
            <a:endParaRPr/>
          </a:p>
        </p:txBody>
      </p:sp>
      <p:sp>
        <p:nvSpPr>
          <p:cNvPr id="174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30575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Models as abstractions — like maps</a:t>
            </a:r>
            <a:endParaRPr/>
          </a:p>
        </p:txBody>
      </p:sp>
      <p:sp>
        <p:nvSpPr>
          <p:cNvPr id="176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19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17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The Software Life Cycle (SDLC)&lt;/Text&gt;&#10;  &lt;/Box&gt;&#10;  &lt;Box style={{ flex: 1, padding: '18px 40px 0 40px', flexDirection: 'row', gap: 28 }}&gt;&#10;    &lt;Box style={{ flex: 3, justifyContent: 'center', alignItems: 'center' }}&gt;&#10;      &lt;svg width={560} height={400} viewBox='0 0 560 400'&gt;&#10;        &lt;rect x='20' y='40' width='150' height='70' rx='12' fill='#E8EFF8' stroke='#3D7BD9' strokeWidth='2' /&gt;&#10;        &lt;text x='95' y='70' textAnchor='middle' fill='#4A5568' fontSize='15'&gt;1 · Requirements&lt;/text&gt;&#10;        &lt;text x='95' y='92' textAnchor='middle' fill='#8B97A8' fontSize='13'&gt;what is needed&lt;/text&gt;&#10;        &lt;rect x='205' y='40' width='150' height='70' rx='12' fill='#1E4FA8' /&gt;&#10;        &lt;text x='280' y='70' textAnchor='middle' fill='#FFFFFF' fontSize='15' fontWeight='bold'&gt;2 · Analysis&lt;/text&gt;&#10;        &lt;text x='280' y='92' textAnchor='middle' fill='#B9CDF0' fontSize='13'&gt;understand the problem&lt;/text&gt;&#10;        &lt;rect x='390' y='40' width='150' height='70' rx='12' fill='#1E4FA8' /&gt;&#10;        &lt;text x='465' y='70' textAnchor='middle' fill='#FFFFFF' fontSize='15' fontWeight='bold'&gt;3 · Design&lt;/text&gt;&#10;        &lt;text x='465' y='92' textAnchor='middle' fill='#B9CDF0' fontSize='13'&gt;plan the solution&lt;/text&gt;&#10;        &lt;rect x='390' y='250' width='150' height='70' rx='12' fill='#E8EFF8' stroke='#3D7BD9' strokeWidth='2' /&gt;&#10;        &lt;text x='465' y='280' textAnchor='middle' fill='#4A5568' fontSize='15'&gt;4 · Implementation&lt;/text&gt;&#10;        &lt;text x='465' y='302' textAnchor='middle' fill='#8B97A8' fontSize='13'&gt;write the code&lt;/text&gt;&#10;        &lt;rect x='205' y='250' width='150' height='70' rx='12' fill='#E8EFF8' stroke='#3D7BD9' strokeWidth='2' /&gt;&#10;        &lt;text x='280' y='280' textAnchor='middle' fill='#4A5568' fontSize='15'&gt;5 · Testing&lt;/text&gt;&#10;        &lt;text x='280' y='302' textAnchor='middle' fill='#8B97A8' fontSize='13'&gt;verify quality&lt;/text&gt;&#10;        &lt;rect x='20' y='250' width='150' height='70' rx='12' fill='#E8EFF8' stroke='#3D7BD9' strokeWidth='2' /&gt;&#10;        &lt;text x='95' y='280' textAnchor='middle' fill='#4A5568' fontSize='15'&gt;6 · Deployment&lt;/text&gt;&#10;        &lt;text x='95' y='302' textAnchor='middle' fill='#8B97A8' fontSize='13'&gt;ship and maintain&lt;/text&gt;&#10;        &lt;line x1='170' y1='75' x2='205' y2='75' stroke='#3D7BD9' strokeWidth='3' /&gt;&#10;        &lt;polygon points='200,70 212,75 200,80' fill='#3D7BD9' /&gt;&#10;        &lt;line x1='355' y1='75' x2='390' y2='75' stroke='#3D7BD9' strokeWidth='3' /&gt;&#10;        &lt;polygon points='385,70 397,75 385,80' fill='#3D7BD9' /&gt;&#10;        &lt;line x1='465' y1='110' x2='465' y2='250' stroke='#3D7BD9' strokeWidth='3' /&gt;&#10;        &lt;polygon points='460,245 465,257 470,245' fill='#3D7BD9' /&gt;&#10;        &lt;line x1='390' y1='285' x2='355' y2='285' stroke='#3D7BD9' strokeWidth='3' /&gt;&#10;        &lt;polygon points='360,280 348,285 360,290' fill='#3D7BD9' /&gt;&#10;        &lt;line x1='205' y1='285' x2='170' y2='285' stroke='#3D7BD9' strokeWidth='3' /&gt;&#10;        &lt;polygon points='175,280 163,285 175,290' fill='#3D7BD9' /&gt;&#10;      &lt;/svg&gt;&#10;    &lt;/Box&gt;&#10;    &lt;Box style={{ flex: 2, flexDirection: 'column', gap: 16, justifyContent: 'center' }}&gt;&#10;      &lt;Box style={{ padding: '18px 20px', background: '#F0F5FC', borderRadius: 10, border: '1px solid #3D7BD9', flexDirection: 'column', gap: 6 }}&gt;&#10;        &lt;Text style={{ fontSize: 17, fontWeight: 'bold', color: '#1E4FA8' }}&gt;This course lives in steps 2 and 3&lt;/Text&gt;&#10;        &lt;Text style={{ fontSize: 15, color: '#4A5568', lineHeight: 1.5 }}&gt;You already saw the whole cycle in SE1. Now we go deep into the two steps where systems are most often made wrong.&lt;/Text&gt;&#10;      &lt;/Box&gt;&#10;      &lt;Text style={{ fontSize: 16, color: '#4A5568', lineHeight: 1.55 }}&gt;In real projects the steps &lt;span style={{ fontWeight: 'bold', color: '#1A2230' }}&gt;overlap and repeat&lt;/span&gt; — we will use an iterative style, not a strict waterfall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19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The Software Life Cycle (SDLC)</a:t>
            </a:r>
            <a:endParaRPr/>
          </a:p>
        </p:txBody>
      </p:sp>
      <p:pic>
        <p:nvPicPr>
          <p:cNvPr id="1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076450"/>
            <a:ext cx="5334000" cy="3810000"/>
          </a:xfrm>
          <a:prstGeom prst="rect">
            <a:avLst/>
          </a:prstGeom>
          <a:ln/>
        </p:spPr>
      </p:pic>
      <p:sp>
        <p:nvSpPr>
          <p:cNvPr id="184" name=""/>
          <p:cNvSpPr/>
          <p:nvPr/>
        </p:nvSpPr>
        <p:spPr>
          <a:xfrm rot="0" flipH="0" flipV="0">
            <a:off x="7343775" y="3057525"/>
            <a:ext cx="4467225" cy="1114425"/>
          </a:xfrm>
          <a:prstGeom prst="roundRect">
            <a:avLst>
              <a:gd name="adj" fmla="val 8547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7534275" y="3228975"/>
            <a:ext cx="40862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E4FA8"/>
                </a:solidFill>
                <a:latin typeface="Microsoft YaHei"/>
                <a:ea typeface="Microsoft YaHei"/>
              </a:rPr>
              <a:t>This course lives in steps 2 and 3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7534275" y="3486150"/>
            <a:ext cx="40862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You already saw the whole cycle in SE1. Now we go deep into the two steps where systems are most often made wrong.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7343775" y="4324350"/>
            <a:ext cx="44672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In real projects the steps </a:t>
            </a: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overlap and repeat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 — we will use an iterative style, not a strict waterfall.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19 / 38</a:t>
            </a:r>
            <a:endParaRPr/>
          </a:p>
        </p:txBody>
      </p:sp>
    </p:spTree>
  </p:cSld>
</p:sld>
</file>

<file path=ppt/slides/slide20.xml><?xml version="1.0" encoding="utf-8"?>
<p:sld xmlns:a="http://schemas.openxmlformats.org/drawingml/2006/main" xmlns:p="http://schemas.openxmlformats.org/presentationml/2006/main">
  <p:cSld>
    <p:spTree>
      <p:nvGrpSpPr>
        <p:cNvPr id="227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Analysis vs. Design vs. Implementation&lt;/Text&gt;&#10;  &lt;/Box&gt;&#10;  &lt;Box style={{ flex: 1, padding: '18px 40px 0 40px', flexDirection: 'row', gap: 28 }}&gt;&#10;    &lt;Box style={{ flex: 3, flexDirection: 'column', gap: 14, justifyContent: 'center' }}&gt;&#10;      {[&#10;        ['Analysis', 'WHAT', 'Understand the problem — what does the system need to do? Use cases, domain model.', '#1E4FA8'],&#10;        ['Design', 'HOW', 'Plan the solution — how will it work? Design classes, principles, patterns.', '#3D7BD9'],&#10;        ['Implementation', 'BUILD', 'Write the code — turn the plan into working software.', '#8B97A8'],&#10;      ].map(([t, tag, d, color]) =&gt; (&#10;        &lt;Box key={t} style={{ flexDirection: 'row', gap: 16, alignItems: 'center', padding: '16px 20px', background: '#F7F9FC', borderRadius: 10, border: '1px solid #E5E7EB' }}&gt;&#10;          &lt;Box style={{ width: 130, padding: '10px 0', borderRadius: 8, background: color, justifyContent: 'center', alignItems: 'center' }}&gt;&#10;            &lt;Text style={{ fontSize: 20, fontWeight: 'bold', color: '#FFFFFF' }}&gt;{t}&lt;/Text&gt;&#10;          &lt;/Box&gt;&#10;          &lt;Box style={{ width: 70, justifyContent: 'center', alignItems: 'center' }}&gt;&#10;            &lt;Text style={{ fontSize: 15, fontWeight: 'bold', color: color, letterSpacing: 1 }}&gt;{tag}&lt;/Text&gt;&#10;          &lt;/Box&gt;&#10;          &lt;Text style={{ flex: 1, fontSize: 15, color: '#4A5568', lineHeight: 1.5 }}&gt;{d}&lt;/Text&gt;&#10;        &lt;/Box&gt;&#10;      ))}&#10;    &lt;/Box&gt;&#10;    &lt;Box style={{ flex: 2, padding: '26px 24px', background: '#0E3F8C', borderRadius: 12, flexDirection: 'column', justifyContent: 'center', gap: 14 }}&gt;&#10;      &lt;Text style={{ fontSize: 22, fontWeight: 'bold', color: '#FFFFFF', lineHeight: 1.3 }}&gt;A mistake in analysis is the most expensive to fix.&lt;/Text&gt;&#10;      &lt;Text style={{ fontSize: 16, color: '#C5D4EA', lineHeight: 1.55 }}&gt;Wrong requirement → wrong model → wrong design → wrong code. Every later stage only makes the error more expensive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0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9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Analysis vs. Design vs. Implementation</a:t>
            </a:r>
            <a:endParaRPr/>
          </a:p>
        </p:txBody>
      </p:sp>
      <p:sp>
        <p:nvSpPr>
          <p:cNvPr id="233" name=""/>
          <p:cNvSpPr/>
          <p:nvPr/>
        </p:nvSpPr>
        <p:spPr>
          <a:xfrm rot="0" flipH="0" flipV="0">
            <a:off x="381000" y="2667000"/>
            <a:ext cx="669607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34" name=""/>
          <p:cNvSpPr/>
          <p:nvPr/>
        </p:nvSpPr>
        <p:spPr>
          <a:xfrm rot="0" flipH="0" flipV="0">
            <a:off x="571500" y="2867025"/>
            <a:ext cx="1238250" cy="419100"/>
          </a:xfrm>
          <a:prstGeom prst="roundRect">
            <a:avLst>
              <a:gd name="adj" fmla="val 18182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800100" y="2962275"/>
            <a:ext cx="7905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Analysis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2066925" y="2990850"/>
            <a:ext cx="466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75">
                <a:solidFill>
                  <a:srgbClr val="1E4FA8"/>
                </a:solidFill>
                <a:latin typeface="Microsoft YaHei"/>
                <a:ea typeface="Microsoft YaHei"/>
              </a:rPr>
              <a:t>WHAT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2781300" y="2819400"/>
            <a:ext cx="41052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Understand the problem — what does the system need to do? Use cases, domain model.</a:t>
            </a:r>
            <a:endParaRPr/>
          </a:p>
        </p:txBody>
      </p:sp>
      <p:sp>
        <p:nvSpPr>
          <p:cNvPr id="238" name=""/>
          <p:cNvSpPr/>
          <p:nvPr/>
        </p:nvSpPr>
        <p:spPr>
          <a:xfrm rot="0" flipH="0" flipV="0">
            <a:off x="381000" y="3619500"/>
            <a:ext cx="669607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39" name=""/>
          <p:cNvSpPr/>
          <p:nvPr/>
        </p:nvSpPr>
        <p:spPr>
          <a:xfrm rot="0" flipH="0" flipV="0">
            <a:off x="571500" y="3819525"/>
            <a:ext cx="1238250" cy="419100"/>
          </a:xfrm>
          <a:prstGeom prst="roundRect">
            <a:avLst>
              <a:gd name="adj" fmla="val 18182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876300" y="3914775"/>
            <a:ext cx="638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Design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2105025" y="3943350"/>
            <a:ext cx="38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75">
                <a:solidFill>
                  <a:srgbClr val="3D7BD9"/>
                </a:solidFill>
                <a:latin typeface="Microsoft YaHei"/>
                <a:ea typeface="Microsoft YaHei"/>
              </a:rPr>
              <a:t>HOW</a:t>
            </a:r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2781300" y="3771900"/>
            <a:ext cx="41052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Plan the solution — how will it work? Design classes, principles, patterns.</a:t>
            </a:r>
            <a:endParaRPr/>
          </a:p>
        </p:txBody>
      </p:sp>
      <p:sp>
        <p:nvSpPr>
          <p:cNvPr id="243" name=""/>
          <p:cNvSpPr/>
          <p:nvPr/>
        </p:nvSpPr>
        <p:spPr>
          <a:xfrm rot="0" flipH="0" flipV="0">
            <a:off x="381000" y="4572000"/>
            <a:ext cx="6696075" cy="723900"/>
          </a:xfrm>
          <a:prstGeom prst="roundRect">
            <a:avLst>
              <a:gd name="adj" fmla="val 1315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44" name=""/>
          <p:cNvSpPr/>
          <p:nvPr/>
        </p:nvSpPr>
        <p:spPr>
          <a:xfrm rot="0" flipH="0" flipV="0">
            <a:off x="571500" y="4724400"/>
            <a:ext cx="1238250" cy="419100"/>
          </a:xfrm>
          <a:prstGeom prst="roundRect">
            <a:avLst>
              <a:gd name="adj" fmla="val 18182"/>
            </a:avLst>
          </a:prstGeom>
          <a:solidFill>
            <a:srgbClr val="8B97A8"/>
          </a:solidFill>
          <a:ln/>
        </p:spPr>
        <p:txBody>
          <a:bodyPr/>
          <a:p/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485775" y="4819650"/>
            <a:ext cx="14097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Implementation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2057400" y="48482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 spc="75">
                <a:solidFill>
                  <a:srgbClr val="8B97A8"/>
                </a:solidFill>
                <a:latin typeface="Microsoft YaHei"/>
                <a:ea typeface="Microsoft YaHei"/>
              </a:rPr>
              <a:t>BUILD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2781300" y="4810125"/>
            <a:ext cx="410527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Write the code — turn the plan into working software.</a:t>
            </a:r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7572375" y="3152775"/>
            <a:ext cx="401002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A mistake in analysis is the most expensive to fix.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7572375" y="3943350"/>
            <a:ext cx="40100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Wrong requirement → wrong model → wrong design → wrong code. Every later stage only makes the error more expensive.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20 / 38</a:t>
            </a:r>
            <a:endParaRPr/>
          </a:p>
        </p:txBody>
      </p:sp>
    </p:spTree>
  </p:cSld>
</p:sld>
</file>

<file path=ppt/slides/slide2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253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Models as Abstractions&lt;/Text&gt;&#10;  &lt;/Box&gt;&#10;  &lt;Box style={{ flex: 1, padding: '18px 40px 0 40px', flexDirection: 'row', gap: 28 }}&gt;&#10;    &lt;Box style={{ flex: 3, justifyContent: 'center', alignItems: 'center' }}&gt;&#10;      &lt;svg width={560} height={380} viewBox='0 0 560 380'&gt;&#10;        &lt;rect x='20' y='30' width='220' height='320' rx='14' fill='#F7F9FC' stroke='#D6DCE5' strokeWidth='2' /&gt;&#10;        &lt;text x='130' y='62' textAnchor='middle' fill='#8B97A8' fontSize='16'&gt;The real city&lt;/text&gt;&#10;        &lt;path d='M40 90 L90 130 L70 180 L140 210 L120 270 L200 300 L180 330' fill='none' stroke='#8B97A8' strokeWidth='2' /&gt;&#10;        &lt;path d='M120 90 L180 140 L150 200 L230 250 L210 320' fill='none' stroke='#8B97A8' strokeWidth='2' /&gt;&#10;        &lt;path d='M60 200 L110 170 L160 240 L130 300' fill='none' stroke='#8B97A8' strokeWidth='2' /&gt;&#10;        &lt;circle cx='90' cy='130' r='6' fill='#8B97A8' /&gt;&#10;        &lt;circle cx='180' cy='140' r='6' fill='#8B97A8' /&gt;&#10;        &lt;circle cx='120' cy='270' r='6' fill='#8B97A8' /&gt;&#10;        &lt;rect x='320' y='30' width='220' height='320' rx='14' fill='#E8EFF8' stroke='#3D7BD9' strokeWidth='2' /&gt;&#10;        &lt;text x='430' y='62' textAnchor='middle' fill='#1E4FA8' fontSize='16' fontWeight='bold'&gt;The map (model)&lt;/text&gt;&#10;        &lt;line x1='350' y1='120' x2='510' y2='120' stroke='#1E4FA8' strokeWidth='4' /&gt;&#10;        &lt;line x1='350' y1='230' x2='510' y2='230' stroke='#1E4FA8' strokeWidth='4' /&gt;&#10;        &lt;line x1='430' y1='100' x2='430' y2='330' stroke='#1E4FA8' strokeWidth='4' /&gt;&#10;        &lt;circle cx='350' cy='120' r='10' fill='#FFC107' /&gt;&#10;        &lt;text x='350' y='100' textAnchor='middle' fill='#4A5568' fontSize='13'&gt;Library&lt;/text&gt;&#10;        &lt;circle cx='510' cy='230' r='10' fill='#FFC107' /&gt;&#10;        &lt;text x='510' y='258' textAnchor='middle' fill='#4A5568' fontSize='13'&gt;Canteen&lt;/text&gt;&#10;        &lt;circle cx='430' cy='330' r='10' fill='#FFC107' /&gt;&#10;        &lt;text x='430' y='356' textAnchor='middle' fill='#4A5568' fontSize='13'&gt;Dorm&lt;/text&gt;&#10;        &lt;polygon points='285,180 300,190 285,200' fill='#3D7BD9' /&gt;&#10;        &lt;line x1='245' y1='190' x2='298' y2='190' stroke='#3D7BD9' strokeWidth='3' /&gt;&#10;      &lt;/svg&gt;&#10;    &lt;/Box&gt;&#10;    &lt;Box style={{ flex: 2, flexDirection: 'column', gap: 16, justifyContent: 'center' }}&gt;&#10;      &lt;Text style={{ fontSize: 22, fontWeight: 'bold', color: '#0E3F8C', lineHeight: 1.35 }}&gt;A model keeps only what matters for a purpose.&lt;/Text&gt;&#10;      &lt;Text style={{ fontSize: 17, color: '#4A5568', lineHeight: 1.6 }}&gt;A map drops buildings and trees to keep roads and landmarks. A class diagram drops code details to keep concepts and relationships.&lt;/Text&gt;&#10;      &lt;Box style={{ padding: '16px 18px', background: '#F7F9FC', borderRadius: 10, border: '1px solid #E5E7EB' }}&gt;&#10;        &lt;Text style={{ fontSize: 15, color: '#4A5568', lineHeight: 1.5 }}&gt;&lt;span style={{ fontWeight: 'bold', color: '#1A2230' }}&gt;Key idea:&lt;/span&gt; there is no &quot;perfect&quot; model — only a model that is useful for the question you are asking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5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Models as Abstractions</a:t>
            </a:r>
            <a:endParaRPr/>
          </a:p>
        </p:txBody>
      </p:sp>
      <p:pic>
        <p:nvPicPr>
          <p:cNvPr id="25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171700"/>
            <a:ext cx="5334000" cy="3619500"/>
          </a:xfrm>
          <a:prstGeom prst="rect">
            <a:avLst/>
          </a:prstGeom>
          <a:ln/>
        </p:spPr>
      </p:pic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7343775" y="2609850"/>
            <a:ext cx="4467225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0E3F8C"/>
                </a:solidFill>
                <a:latin typeface="Microsoft YaHei"/>
                <a:ea typeface="Microsoft YaHei"/>
              </a:rPr>
              <a:t>A model keeps only what matters for a purpose.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7343775" y="3448050"/>
            <a:ext cx="4467225" cy="933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A map drops buildings and trees to keep roads and landmarks. A class diagram drops code details to keep concepts and relationships.</a:t>
            </a:r>
            <a:endParaRPr/>
          </a:p>
        </p:txBody>
      </p:sp>
      <p:sp>
        <p:nvSpPr>
          <p:cNvPr id="262" name=""/>
          <p:cNvSpPr/>
          <p:nvPr/>
        </p:nvSpPr>
        <p:spPr>
          <a:xfrm rot="0" flipH="0" flipV="0">
            <a:off x="7343775" y="4533900"/>
            <a:ext cx="4467225" cy="819150"/>
          </a:xfrm>
          <a:prstGeom prst="roundRect">
            <a:avLst>
              <a:gd name="adj" fmla="val 11628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7515225" y="4686300"/>
            <a:ext cx="41243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Key idea: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there is no "perfect" model — only a model that is useful for the question you are asking.</a:t>
            </a:r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21 / 38</a:t>
            </a:r>
            <a:endParaRPr/>
          </a:p>
        </p:txBody>
      </p:sp>
    </p:spTree>
  </p:cSld>
</p:sld>
</file>

<file path=ppt/slides/slide22.xml><?xml version="1.0" encoding="utf-8"?>
<p:sld xmlns:a="http://schemas.openxmlformats.org/drawingml/2006/main" xmlns:p="http://schemas.openxmlformats.org/presentationml/2006/main">
  <p:cSld>
    <p:spTree>
      <p:nvGrpSpPr>
        <p:cNvPr id="26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Waterfall vs. Iterative&lt;/Text&gt;&#10;  &lt;/Box&gt;&#10;  &lt;Box style={{ flex: 1, padding: '18px 40px 0 40px', flexDirection: 'row', gap: 28 }}&gt;&#10;    &lt;Box style={{ flex: 3, padding: '22px 24px', background: '#F7F9FC', borderRadius: 12, border: '1px solid #E5E7EB', flexDirection: 'column' }}&gt;&#10;      &lt;Text style={{ fontSize: 20, fontWeight: 'bold', color: '#8B97A8', marginBottom: 12 }}&gt;Waterfall — one long pass&lt;/Text&gt;&#10;      &lt;Box style={{ flexDirection: 'row', alignItems: 'center', gap: 6, flexWrap: 'wrap' }}&gt;&#10;        {['Req', 'Analysis', 'Design', 'Code', 'Test', 'Ship'].map((s, i) =&gt; (&#10;          &lt;Box key={s} style={{ flexDirection: 'row', alignItems: 'center', gap: 6 }}&gt;&#10;            &lt;Box style={{ padding: '10px 14px', borderRadius: 8, background: '#FFFFFF', border: '1px solid #D6DCE5' }}&gt;&#10;              &lt;Text style={{ fontSize: 15, color: '#4A5568', fontWeight: '600' }}&gt;{s}&lt;/Text&gt;&#10;            &lt;/Box&gt;&#10;            {i &lt; 5 ? &lt;Text style={{ fontSize: 18, color: '#8B97A8' }}&gt;→&lt;/Text&gt; : null}&#10;          &lt;/Box&gt;&#10;        ))}&#10;      &lt;/Box&gt;&#10;      &lt;Text style={{ fontSize: 15, color: '#4A5568', lineHeight: 1.55, marginTop: 14 }}&gt;Each step finishes before the next begins. Cheaper to run, but mistakes surface very late.&lt;/Text&gt;&#10;    &lt;/Box&gt;&#10;    &lt;Box style={{ flex: 2, padding: '22px 24px', background: '#0E3F8C', borderRadius: 12, flexDirection: 'column', gap: 12, justifyContent: 'center' }}&gt;&#10;      &lt;Text style={{ fontSize: 20, fontWeight: 'bold', color: '#FFFFFF' }}&gt;Iterative — small loops&lt;/Text&gt;&#10;      &lt;Text style={{ fontSize: 16, color: '#C5D4EA', lineHeight: 1.55 }}&gt;Build a thin slice, get feedback, refine, repeat. Mistakes surface early, while they are cheap.&lt;/Text&gt;&#10;      &lt;Box style={{ padding: '10px 14px', background: '#FFC107', borderRadius: 8, alignSelf: 'flex-start' }}&gt;&#10;        &lt;Text style={{ fontSize: 15, fontWeight: 'bold', color: '#0E3F8C' }}&gt;This course uses this one&lt;/Text&gt;&#10;      &lt;/Box&gt;&#10;    &lt;/Box&gt;&#10;  &lt;/Box&gt;&#10;  &lt;Box style={{ height: 40, padding: '0 40px', flexDirection: 'row', alignItems: 'center', justifyContent: 'space-between' }}&gt;&#10;    &lt;Text style={{ fontSize: 13, color: '#8B97A8' }}&gt;CampusBites will grow milestone by milestone — iteratively.&lt;/Text&gt;&#10;    &lt;Text style={{ fontSize: 14, color: '#1E4FA8', fontWeight: 'bold' }}&gt;22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6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Waterfall vs. Iterative</a:t>
            </a:r>
            <a:endParaRPr/>
          </a:p>
        </p:txBody>
      </p:sp>
      <p:sp>
        <p:nvSpPr>
          <p:cNvPr id="272" name=""/>
          <p:cNvSpPr/>
          <p:nvPr/>
        </p:nvSpPr>
        <p:spPr>
          <a:xfrm rot="0" flipH="0" flipV="0">
            <a:off x="381000" y="1476375"/>
            <a:ext cx="6696075" cy="5000625"/>
          </a:xfrm>
          <a:prstGeom prst="roundRect">
            <a:avLst>
              <a:gd name="adj" fmla="val 2286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609600" y="1685925"/>
            <a:ext cx="62388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8B97A8"/>
                </a:solidFill>
                <a:latin typeface="Microsoft YaHei"/>
                <a:ea typeface="Microsoft YaHei"/>
              </a:rPr>
              <a:t>Waterfall — one long pass</a:t>
            </a:r>
            <a:endParaRPr/>
          </a:p>
        </p:txBody>
      </p:sp>
      <p:sp>
        <p:nvSpPr>
          <p:cNvPr id="274" name=""/>
          <p:cNvSpPr/>
          <p:nvPr/>
        </p:nvSpPr>
        <p:spPr>
          <a:xfrm rot="0" flipH="0" flipV="0">
            <a:off x="609600" y="2028825"/>
            <a:ext cx="542925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742950" y="2124075"/>
            <a:ext cx="2762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Req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1209675" y="21050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8B97A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77" name=""/>
          <p:cNvSpPr/>
          <p:nvPr/>
        </p:nvSpPr>
        <p:spPr>
          <a:xfrm rot="0" flipH="0" flipV="0">
            <a:off x="1438275" y="2028825"/>
            <a:ext cx="85725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1571625" y="2124075"/>
            <a:ext cx="590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Analysis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2352675" y="21050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8B97A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80" name=""/>
          <p:cNvSpPr/>
          <p:nvPr/>
        </p:nvSpPr>
        <p:spPr>
          <a:xfrm rot="0" flipH="0" flipV="0">
            <a:off x="2581275" y="2028825"/>
            <a:ext cx="752475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2714625" y="212407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Design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3390900" y="21050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8B97A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83" name=""/>
          <p:cNvSpPr/>
          <p:nvPr/>
        </p:nvSpPr>
        <p:spPr>
          <a:xfrm rot="0" flipH="0" flipV="0">
            <a:off x="3619500" y="2028825"/>
            <a:ext cx="62865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3752850" y="2124075"/>
            <a:ext cx="361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Code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4305300" y="21050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8B97A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86" name=""/>
          <p:cNvSpPr/>
          <p:nvPr/>
        </p:nvSpPr>
        <p:spPr>
          <a:xfrm rot="0" flipH="0" flipV="0">
            <a:off x="4533900" y="2028825"/>
            <a:ext cx="55245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4667250" y="2124075"/>
            <a:ext cx="285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Test</a:t>
            </a:r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5143500" y="21050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>
                <a:solidFill>
                  <a:srgbClr val="8B97A8"/>
                </a:solidFill>
                <a:latin typeface="Microsoft YaHei"/>
                <a:ea typeface="Microsoft YaHei"/>
              </a:rPr>
              <a:t>→</a:t>
            </a:r>
            <a:endParaRPr/>
          </a:p>
        </p:txBody>
      </p:sp>
      <p:sp>
        <p:nvSpPr>
          <p:cNvPr id="289" name=""/>
          <p:cNvSpPr/>
          <p:nvPr/>
        </p:nvSpPr>
        <p:spPr>
          <a:xfrm rot="0" flipH="0" flipV="0">
            <a:off x="5372100" y="2028825"/>
            <a:ext cx="581025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5505450" y="2124075"/>
            <a:ext cx="314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4A5568"/>
                </a:solidFill>
                <a:latin typeface="Microsoft YaHei"/>
                <a:ea typeface="Microsoft YaHei"/>
              </a:rPr>
              <a:t>Ship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609600" y="2524125"/>
            <a:ext cx="6238875" cy="2667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Each step finishes before the next begins. Cheaper to run, but mistakes surface very late.</a:t>
            </a:r>
            <a:endParaRPr/>
          </a:p>
        </p:txBody>
      </p:sp>
      <p:sp>
        <p:nvSpPr>
          <p:cNvPr id="292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7572375" y="3286125"/>
            <a:ext cx="4010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Iterative — small loops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7572375" y="3629025"/>
            <a:ext cx="4010025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Build a thin slice, get feedback, refine, repeat. Mistakes surface early, while they are cheap.</a:t>
            </a:r>
            <a:endParaRPr/>
          </a:p>
        </p:txBody>
      </p:sp>
      <p:sp>
        <p:nvSpPr>
          <p:cNvPr id="295" name=""/>
          <p:cNvSpPr/>
          <p:nvPr/>
        </p:nvSpPr>
        <p:spPr>
          <a:xfrm rot="0" flipH="0" flipV="0">
            <a:off x="7572375" y="4314825"/>
            <a:ext cx="2028825" cy="361950"/>
          </a:xfrm>
          <a:prstGeom prst="roundRect">
            <a:avLst>
              <a:gd name="adj" fmla="val 21053"/>
            </a:avLst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7705725" y="4410075"/>
            <a:ext cx="1762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0E3F8C"/>
                </a:solidFill>
                <a:latin typeface="Microsoft YaHei"/>
                <a:ea typeface="Microsoft YaHei"/>
              </a:rPr>
              <a:t>This course uses this one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32861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CampusBites will grow milestone by milestone — iteratively.</a:t>
            </a:r>
            <a:endParaRPr/>
          </a:p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22 / 38</a:t>
            </a:r>
            <a:endParaRPr/>
          </a:p>
        </p:txBody>
      </p:sp>
    </p:spTree>
  </p:cSld>
</p:sld>
</file>

<file path=ppt/slides/slide23.xml><?xml version="1.0" encoding="utf-8"?>
<p:sld xmlns:a="http://schemas.openxmlformats.org/drawingml/2006/main" xmlns:p="http://schemas.openxmlformats.org/presentationml/2006/main">
  <p:cSld>
    <p:spTree>
      <p:nvGrpSpPr>
        <p:cNvPr id="299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5&lt;/Text&gt;&#10;    &lt;/Box&gt;&#10;    &lt;Box style={{ flex: 1, padding: '70px 64px', flexDirection: 'column', justifyContent: 'center' }}&gt;&#10;      &lt;Text style={{ fontSize: 15, color: '#7FA2D6', letterSpacing: 2, marginBottom: 18 }}&gt;PART 1 · LECTURE&lt;/Text&gt;&#10;      &lt;Text style={{ fontSize: 48, fontWeight: 'bold', color: '#FFFFFF', lineHeight: 1.18 }}&gt;The OOAD Roadmap&lt;/Text&gt;&#10;      &lt;Box style={{ width: 64, height: 4, background: '#FFC107', marginTop: 26, marginBottom: 26 }} /&gt;&#10;      &lt;Box style={{ flexDirection: 'column', gap: 12 }}&gt;&#10;        {[&#10;          'Four modules from foundations to patterns',&#10;          'Models → principles → patterns → architecture',&#10;          'Why patterns matter in the first place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01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57150" y="2171700"/>
            <a:ext cx="273367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05</a:t>
            </a:r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3467100" y="220980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1 · LECTURE</a:t>
            </a:r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3467100" y="2552700"/>
            <a:ext cx="8115300" cy="6477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The OOAD Roadmap</a:t>
            </a:r>
            <a:endParaRPr/>
          </a:p>
        </p:txBody>
      </p:sp>
      <p:sp>
        <p:nvSpPr>
          <p:cNvPr id="305" name=""/>
          <p:cNvSpPr/>
          <p:nvPr/>
        </p:nvSpPr>
        <p:spPr>
          <a:xfrm rot="0" flipH="0" flipV="0">
            <a:off x="3467100" y="344805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06" name=""/>
          <p:cNvSpPr/>
          <p:nvPr/>
        </p:nvSpPr>
        <p:spPr>
          <a:xfrm rot="0" flipH="0" flipV="0">
            <a:off x="3467100" y="38100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3657600" y="3733800"/>
            <a:ext cx="35909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Four modules from foundations to patterns</a:t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3467100" y="41529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3657600" y="4076700"/>
            <a:ext cx="4000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Models → principles → patterns → architecture</a:t>
            </a:r>
            <a:endParaRPr/>
          </a:p>
        </p:txBody>
      </p:sp>
      <p:sp>
        <p:nvSpPr>
          <p:cNvPr id="310" name=""/>
          <p:cNvSpPr/>
          <p:nvPr/>
        </p:nvSpPr>
        <p:spPr>
          <a:xfrm rot="0" flipH="0" flipV="0">
            <a:off x="3467100" y="4495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3657600" y="4419600"/>
            <a:ext cx="31051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Why patterns matter in the first place</a:t>
            </a:r>
            <a:endParaRPr/>
          </a:p>
        </p:txBody>
      </p:sp>
      <p:sp>
        <p:nvSpPr>
          <p:cNvPr id="312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2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13" name="" descr="&lt;Slide style={{ background: '#FFFFFF', padding: 0 }}&gt;&#10;  &lt;Box style={{ padding: '26px 40px 8px 40px', flexDirection: 'row', alignItems: 'center', justifyContent: 'space-between' }}&gt;&#10;    &lt;Text style={{ fontSize: 34, fontWeight: 'bold', color: '#0E3F8C' }}&gt;The Course Roadmap — Four Modules&lt;/Text&gt;&#10;    &lt;Text style={{ fontSize: 14, color: '#1E4FA8', fontWeight: 'bold' }}&gt;24 / 38&lt;/Text&gt;&#10;  &lt;/Box&gt;&#10;  &lt;Box style={{ flex: 1, padding: '10px 40px 0 40px', justifyContent: 'center', alignItems: 'center' }}&gt;&#10;    &lt;svg width={1180} height={460} viewBox='0 0 1180 460'&gt;&#10;      &lt;rect x='20' y='30' width='250' height='400' rx='16' fill='#E8EFF8' stroke='#3D7BD9' strokeWidth='2' /&gt;&#10;      &lt;text x='145' y='76' textAnchor='middle' fill='#1E4FA8' fontSize='20' fontWeight='bold'&gt;MODULE A&lt;/text&gt;&#10;      &lt;text x='145' y='130' textAnchor='middle' fill='#0E3F8C' fontSize='28' fontWeight='bold'&gt;Foundations&lt;/text&gt;&#10;      &lt;text x='145' y='170' textAnchor='middle' fill='#8B97A8' fontSize='16'&gt;Weeks 1–3&lt;/text&gt;&#10;      &lt;text x='145' y='240' textAnchor='middle' fill='#4A5568' fontSize='17'&gt;OO concepts&lt;/text&gt;&#10;      &lt;text x='145' y='268' textAnchor='middle' fill='#4A5568' fontSize='17'&gt;UML essentials&lt;/text&gt;&#10;      &lt;text x='145' y='296' textAnchor='middle' fill='#4A5568' fontSize='17'&gt;modelling workflow&lt;/text&gt;&#10;      &lt;rect x='310' y='30' width='250' height='400' rx='16' fill='#F0F5FC' stroke='#1E4FA8' strokeWidth='2' /&gt;&#10;      &lt;text x='435' y='76' textAnchor='middle' fill='#1E4FA8' fontSize='20' fontWeight='bold'&gt;MODULE B&lt;/text&gt;&#10;      &lt;text x='435' y='130' textAnchor='middle' fill='#0E3F8C' fontSize='28' fontWeight='bold'&gt;Analysis&lt;/text&gt;&#10;      &lt;text x='435' y='170' textAnchor='middle' fill='#8B97A8' fontSize='16'&gt;Weeks 4–9&lt;/text&gt;&#10;      &lt;text x='435' y='240' textAnchor='middle' fill='#4A5568' fontSize='17'&gt;use cases&lt;/text&gt;&#10;      &lt;text x='435' y='268' textAnchor='middle' fill='#4A5568' fontSize='17'&gt;domain model&lt;/text&gt;&#10;      &lt;text x='435' y='296' textAnchor='middle' fill='#4A5568' fontSize='17'&gt;behavior models&lt;/text&gt;&#10;      &lt;rect x='600' y='30' width='250' height='400' rx='16' fill='#E8EFF8' stroke='#1E4FA8' strokeWidth='2' /&gt;&#10;      &lt;text x='725' y='76' textAnchor='middle' fill='#1E4FA8' fontSize='20' fontWeight='bold'&gt;MODULE C&lt;/text&gt;&#10;      &lt;text x='725' y='130' textAnchor='middle' fill='#0E3F8C' fontSize='28' fontWeight='bold'&gt;Design&lt;/text&gt;&#10;      &lt;text x='725' y='170' textAnchor='middle' fill='#8B97A8' fontSize='16'&gt;Weeks 10–15&lt;/text&gt;&#10;      &lt;text x='725' y='240' textAnchor='middle' fill='#4A5568' fontSize='17'&gt;GRASP &amp;amp;amp; SOLID&lt;/text&gt;&#10;      &lt;text x='725' y='268' textAnchor='middle' fill='#4A5568' fontSize='17'&gt;GoF patterns&lt;/text&gt;&#10;      &lt;text x='725' y='296' textAnchor='middle' fill='#4A5568' fontSize='17'&gt;design class diagram&lt;/text&gt;&#10;      &lt;rect x='890' y='30' width='270' height='400' rx='16' fill='#0E3F8C' /&gt;&#10;      &lt;text x='1025' y='76' textAnchor='middle' fill='#FFC107' fontSize='20' fontWeight='bold'&gt;MODULE D&lt;/text&gt;&#10;      &lt;text x='1025' y='130' textAnchor='middle' fill='#FFFFFF' fontSize='28' fontWeight='bold'&gt;Wrap-up&lt;/text&gt;&#10;      &lt;text x='1025' y='170' textAnchor='middle' fill='#B9CDF0' fontSize='16'&gt;Week 16&lt;/text&gt;&#10;      &lt;text x='1025' y='240' textAnchor='middle' fill='#C5D4EA' fontSize='17'&gt;architecture&lt;/text&gt;&#10;      &lt;text x='1025' y='268' textAnchor='middle' fill='#C5D4EA' fontSize='17'&gt;MVC &amp;amp;amp; layers&lt;/text&gt;&#10;      &lt;text x='1025' y='296' textAnchor='middle' fill='#C5D4EA' fontSize='17'&gt;final defense&lt;/text&gt;&#10;      &lt;polygon points='282,230 300,230 300,215 312,230 300,245 300,230' fill='#3D7BD9' /&gt;&#10;      &lt;polygon points='572,230 590,230 590,215 602,230 590,245 590,230' fill='#3D7BD9' /&gt;&#10;      &lt;polygon points='862,230 880,230 880,215 892,230 880,245 880,230' fill='#3D7BD9' /&gt;&#10;    &lt;/svg&gt;&#10;  &lt;/Box&gt;&#10;  &lt;Box style={{ height: 52, background: '#0E3F8C', padding: '0 40px', flexDirection: 'row', alignItems: 'center', justifyContent: 'center' }}&gt;&#10;    &lt;Text style={{ fontSize: 17, color: '#FFFFFF', fontWeight: '600' }}&gt;Every module feeds the running project CampusBites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59817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The Course Roadmap — Four Modules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11401425" y="3619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24 / 38</a:t>
            </a:r>
            <a:endParaRPr/>
          </a:p>
        </p:txBody>
      </p:sp>
      <p:pic>
        <p:nvPicPr>
          <p:cNvPr id="31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" y="1400175"/>
            <a:ext cx="11239500" cy="4381500"/>
          </a:xfrm>
          <a:prstGeom prst="rect">
            <a:avLst/>
          </a:prstGeom>
          <a:ln/>
        </p:spPr>
      </p:pic>
      <p:sp>
        <p:nvSpPr>
          <p:cNvPr id="318" name=""/>
          <p:cNvSpPr/>
          <p:nvPr/>
        </p:nvSpPr>
        <p:spPr>
          <a:xfrm rot="0" flipH="0" flipV="0">
            <a:off x="0" y="6362700"/>
            <a:ext cx="12192000" cy="4953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4010025" y="6515100"/>
            <a:ext cx="4181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Every module feeds the running project CampusBites.</a:t>
            </a:r>
            <a:endParaRPr/>
          </a:p>
        </p:txBody>
      </p:sp>
    </p:spTree>
  </p:cSld>
</p:sld>
</file>

<file path=ppt/slides/slide25.xml><?xml version="1.0" encoding="utf-8"?>
<p:sld xmlns:a16="http://schemas.microsoft.com/office/drawing/2014/main" xmlns:a="http://schemas.openxmlformats.org/drawingml/2006/main" xmlns:p="http://schemas.openxmlformats.org/presentationml/2006/main" xmlns:mc="http://schemas.openxmlformats.org/markup-compatibility/2006" mc:Ignorable="a16">
  <p:cSld>
    <p:spTree>
      <p:nvGrpSpPr>
        <p:cNvPr id="32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0px 40px 4px 40px', flexDirection: 'row', alignItems: 'center', justifyContent: 'space-between' }}&gt;&#10;    &lt;Text style={{ fontSize: 33, fontWeight: 'bold', color: '#0E3F8C' }}&gt;Semester Calendar — 16 Weeks at a Glance&lt;/Text&gt;&#10;    &lt;Text style={{ fontSize: 14, color: '#1E4FA8', fontWeight: 'bold' }}&gt;25 / 38&lt;/Text&gt;&#10;  &lt;/Box&gt;&#10;  &lt;Box style={{ flex: 1, padding: '10px 40px 12px 40px' }}&gt;&#10;    &lt;Table&#10;      style={{ width: '100%', height: '100%' }}&#10;      defaultTextStyle={{ fontSize: 13, textAlign: 'left', color: '#1A2230' }}&#10;      defaultCellStyle={{&#10;        border: {&#10;          left: { width: 1, color: '#E5E7EB' },&#10;          right: { width: 1, color: '#E5E7EB' },&#10;          top: { width: 1, color: '#E5E7EB' },&#10;          bottom: { width: 1, color: '#E5E7EB' },&#10;        },&#10;      }}&#10;      cells={[&#10;        [&#10;          { text: 'Wk', textStyle: { bold: true, color: '#FFFFFF', textAlign: 'center' }, cellStyle: { background: { color: '#0E3F8C' } } },&#10;          { text: 'Module', textStyle: { bold: true, color: '#FFFFFF', textAlign: 'center' }, cellStyle: { background: { color: '#0E3F8C' } } },&#10;          { text: 'Topic (lecture → lab)', textStyle: { bold: true, color: '#FFFFFF', textAlign: 'left' }, cellStyle: { background: { color: '#0E3F8C' } } },&#10;          { text: 'Milestone / review', textStyle: { bold: true, color: '#FFFFFF', textAlign: 'left' }, cellStyle: { background: { color: '#0E3F8C' } } },&#10;        ],&#10;        [&#10;          { text: 'W1', textStyle: { bold: true, color: '#1E4FA8', textAlign: 'center' }, cellStyle: { background: { color: '#F0F5FC' } } },&#10;          { text: 'A', textStyle: { bold: true, color: '#1E4FA8', textAlign: 'center' }, cellStyle: { background: { color: '#F0F5FC' } } },&#10;          { text: 'Introduction: systems, analysts &amp; OOAD roadmap', textStyle: { color: '#4A5568' }, cellStyle: { background: { color: '#F0F5FC' } } },&#10;          { text: 'Course kickoff', textStyle: { color: '#8B97A8' }, cellStyle: { background: { color: '#F0F5FC' } } },&#10;        ],&#10;        [&#10;          { text: 'W2', textStyle: { bold: true, color: '#1E4FA8', textAlign: 'center' } },&#10;          { text: 'A', textStyle: { bold: true, color: '#1E4FA8', textAlign: 'center' } },&#10;          { text: 'OO foundations · project kickoff', textStyle: { color: '#4A5568' } },&#10;          { text: 'M0 — Fri Sep 11', textStyle: { bold: true, color: '#D9534F' } },&#10;        ],&#10;        [&#10;          { text: 'W3', textStyle: { bold: true, color: '#1E4FA8', textAlign: 'center' }, cellStyle: { background: { color: '#F7F9FC' } } },&#10;          { text: 'A', textStyle: { bold: true, color: '#1E4FA8', textAlign: 'center' }, cellStyle: { background: { color: '#F7F9FC' } } },&#10;          { text: 'UML essentials &amp; modeling workflow', textStyle: { color: '#4A5568' }, cellStyle: { background: { color: '#F7F9FC' } } },&#10;          { text: '—', textStyle: { color: '#8B97A8' }, cellStyle: { background: { color: '#F7F9FC' } } },&#10;        ],&#10;        [&#10;          { text: 'W4', textStyle: { bold: true, color: '#3D7BD9', textAlign: 'center' } },&#10;          { text: 'B', textStyle: { bold: true, color: '#3D7BD9', textAlign: 'center' } },&#10;          { text: 'Requirements &amp; use case modeling', textStyle: { color: '#4A5568' } },&#10;          { text: 'Requirements pack issued', textStyle: { color: '#8B97A8' } },&#10;        ],&#10;        [&#10;          { text: 'W5', textStyle: { bold: true, color: '#3D7BD9', textAlign: 'center' }, cellStyle: { background: { color: '#F7F9FC' } } },&#10;          { text: 'B', textStyle: { bold: true, color: '#3D7BD9', textAlign: 'center' }, cellStyle: { background: { color: '#F7F9FC' } } },&#10;          { text: 'Use case specification &amp; scenarios', textStyle: { color: '#4A5568' }, cellStyle: { background: { color: '#F7F9FC' } } },&#10;          { text: 'M1 — Sun Oct 4', textStyle: { bold: true, color: '#D9534F' }, cellStyle: { background: { color: '#F7F9FC' } } },&#10;        ],&#10;        [&#10;          { text: 'W6', textStyle: { bold: true, color: '#3D7BD9', textAlign: 'center' } },&#10;          { text: 'B', textStyle: { bold: true, color: '#3D7BD9', textAlign: 'center' } },&#10;          { text: 'Domain modeling: classes &amp; attributes', textStyle: { color: '#4A5568' } },&#10;          { text: 'ΔC1 announced', textStyle: { color: '#8B97A8' } },&#10;        ],&#10;        [&#10;          { text: 'W7', textStyle: { bold: true, color: '#3D7BD9', textAlign: 'center' }, cellStyle: { background: { color: '#F7F9FC' } } },&#10;          { text: 'B', textStyle: { bold: true, color: '#3D7BD9', textAlign: 'center' }, cellStyle: { background: { color: '#F7F9FC' } } },&#10;          { text: 'Domain relationships (association, aggregation)', textStyle: { color: '#4A5568' }, cellStyle: { background: { color: '#F7F9FC' } } },&#10;          { text: '—', textStyle: { color: '#8B97A8' }, cellStyle: { background: { color: '#F7F9FC' } } },&#10;        ],&#10;        [&#10;          { text: 'W8', textStyle: { bold: true, color: '#3D7BD9', textAlign: 'center' } },&#10;          { text: 'B', textStyle: { bold: true, color: '#3D7BD9', textAlign: 'center' } },&#10;          { text: 'Behavior modeling I: sequence diagrams', textStyle: { color: '#4A5568' } },&#10;          { text: 'M2 — Sun Oct 25', textStyle: { bold: true, color: '#D9534F' } },&#10;        ],&#10;        [&#10;          { text: 'W9', textStyle: { bold: true, color: '#3D7BD9', textAlign: 'center' }, cellStyle: { background: { color: '#F7F9FC' } } },&#10;          { text: 'B', textStyle: { bold: true, color: '#3D7BD9', textAlign: 'center' }, cellStyle: { background: { color: '#F7F9FC' } } },&#10;          { text: 'Behavior modeling II: state &amp; activity', textStyle: { color: '#4A5568' }, cellStyle: { background: { color: '#F7F9FC' } } },&#10;          { text: 'Mid-term review', textStyle: { bold: true, color: '#1E4FA8' }, cellStyle: { background: { color: '#F7F9FC' } } },&#10;        ],&#10;        [&#10;          { text: 'W10', textStyle: { bold: true, color: '#1E4FA8', textAlign: 'center' } },&#10;          { text: 'C', textStyle: { bold: true, color: '#1E4FA8', textAlign: 'center' } },&#10;          { text: 'From analysis to design: design class diagram', textStyle: { color: '#4A5568' } },&#10;          { text: 'ΔC2 announced', textStyle: { color: '#8B97A8' } },&#10;        ],&#10;        [&#10;          { text: 'W11', textStyle: { bold: true, color: '#1E4FA8', textAlign: 'center' }, cellStyle: { background: { color: '#F7F9FC' } } },&#10;          { text: 'C', textStyle: { bold: true, color: '#1E4FA8', textAlign: 'center' }, cellStyle: { background: { color: '#F7F9FC' } } },&#10;          { text: 'Design principles I: GRASP', textStyle: { color: '#4A5568' }, cellStyle: { background: { color: '#F7F9FC' } } },&#10;          { text: '—', textStyle: { color: '#8B97A8' }, cellStyle: { background: { color: '#F7F9FC' } } },&#10;        ],&#10;        [&#10;          { text: 'W12', textStyle: { bold: true, color: '#1E4FA8', textAlign: 'center' } },&#10;          { text: 'C', textStyle: { bold: true, color: '#1E4FA8', textAlign: 'center' } },&#10;          { text: 'Design principles II: SOLID', textStyle: { color: '#4A5568' } },&#10;          { text: 'M3 — Sun Nov 22', textStyle: { bold: true, color: '#D9534F' } },&#10;        ],&#10;        [&#10;          { text: 'W13', textStyle: { bold: true, color: '#1E4FA8', textAlign: 'center' }, cellStyle: { background: { color: '#F7F9FC' } } },&#10;          { text: 'C', textStyle: { bold: true, color: '#1E4FA8', textAlign: 'center' }, cellStyle: { background: { color: '#F7F9FC' } } },&#10;          { text: 'Design patterns I: creational', textStyle: { color: '#4A5568' }, cellStyle: { background: { color: '#F7F9FC' } } },&#10;          { text: 'ΔC3 announced', textStyle: { color: '#8B97A8' }, cellStyle: { background: { color: '#F7F9FC' } } },&#10;        ],&#10;        [&#10;          { text: 'W14', textStyle: { bold: true, color: '#1E4FA8', textAlign: 'center' } },&#10;          { text: 'C', textStyle: { bold: true, color: '#1E4FA8', textAlign: 'center' } },&#10;          { text: 'Design patterns II: structural', textStyle: { color: '#4A5568' } },&#10;          { text: 'M4 — Sun Dec 6', textStyle: { bold: true, color: '#D9534F' } },&#10;        ],&#10;        [&#10;          { text: 'W15', textStyle: { bold: true, color: '#1E4FA8', textAlign: 'center' }, cellStyle: { background: { color: '#F7F9FC' } } },&#10;          { text: 'C', textStyle: { bold: true, color: '#1E4FA8', textAlign: 'center' }, cellStyle: { background: { color: '#F7F9FC' } } },&#10;          { text: 'Design patterns III: behavioral', textStyle: { color: '#4A5568' }, cellStyle: { background: { color: '#F7F9FC' } } },&#10;          { text: 'Defense rehearsal', textStyle: { color: '#8B97A8' }, cellStyle: { background: { color: '#F7F9FC' } } },&#10;        ],&#10;        [&#10;          { text: 'W16', textStyle: { bold: true, color: '#FFC107', textAlign: 'center' }, cellStyle: { background: { color: '#0E3F8C' } } },&#10;          { text: 'D', textStyle: { bold: true, color: '#FFC107', textAlign: 'center' }, cellStyle: { background: { color: '#0E3F8C' } } },&#10;          { text: 'Architecture patterns · course review', textStyle: { color: '#C5D4EA' }, cellStyle: { background: { color: '#0E3F8C' } } },&#10;          { text: 'Final defense + M5 — Dec 20', textStyle: { bold: true, color: '#FFC107' }, cellStyle: { background: { color: '#0E3F8C' } } },&#10;        ],&#10;      ]}&#10;    /&gt;&#10;  &lt;/Box&gt;&#10;  &lt;Box style={{ height: 40, padding: '0 40px', flexDirection: 'row', alignItems: 'center', justifyContent: 'space-between' }}&gt;&#10;    &lt;Text style={{ fontSize: 13, color: '#8B97A8' }}&gt;Module A · Foundations (W1–3) → B · Analysis (W4–9) → C · Design (W10–15) → D · Wrap-up (W16)&lt;/Text&gt;&#10;    &lt;Text style={{ fontSize: 14, color: '#1E4FA8', fontWeight: 'bold' }}&gt;25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381000" y="876300"/>
            <a:ext cx="653415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75" b="1">
                <a:solidFill>
                  <a:srgbClr val="0E3F8C"/>
                </a:solidFill>
                <a:latin typeface="Microsoft YaHei"/>
                <a:ea typeface="Microsoft YaHei"/>
              </a:rPr>
              <a:t>Semester Calendar — 16 Weeks at a Glance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11401425" y="9906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25 / 38</a:t>
            </a:r>
            <a:endParaRPr/>
          </a:p>
        </p:txBody>
      </p:sp>
      <p:graphicFrame>
        <p:nvGraphicFramePr>
          <p:cNvPr id="327" name=""/>
          <p:cNvGraphicFramePr/>
          <p:nvPr/>
        </p:nvGraphicFramePr>
        <p:xfrm rot="0" flipH="0" flipV="0">
          <a:off x="381000" y="1390650"/>
          <a:ext cx="11430000" cy="4972050"/>
        </p:xfrm>
        <a:graphic>
          <a:graphicData uri="http://schemas.openxmlformats.org/drawingml/2006/table">
            <a:tbl>
              <a:tblGrid>
                <a:gridCol w="724520">
                  <a:extLst>
                    <a:ext uri="{9D8B030D-6E8A-4147-A177-3AD203B41FA5}">
                      <a16:colId val="1"/>
                    </a:ext>
                  </a:extLst>
                </a:gridCol>
                <a:gridCol w="1100637">
                  <a:extLst>
                    <a:ext uri="{9D8B030D-6E8A-4147-A177-3AD203B41FA5}">
                      <a16:colId val="2"/>
                    </a:ext>
                  </a:extLst>
                </a:gridCol>
                <a:gridCol w="5871386">
                  <a:extLst>
                    <a:ext uri="{9D8B030D-6E8A-4147-A177-3AD203B41FA5}">
                      <a16:colId val="3"/>
                    </a:ext>
                  </a:extLst>
                </a:gridCol>
                <a:gridCol w="3733457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Wk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Module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Topic (lecture → lab)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Milestone / review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A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Introduction: systems, analysts &amp; OOAD roadmap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Course kickoff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A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OO foundations · project kickoff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M0 — Fri Sep 11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A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UML essentials &amp; modeling workflow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Requirements &amp; use case modeling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Requirements pack issued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W5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Use case specification &amp; scenarios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M1 — Sun Oct 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Domain modeling: classes &amp; attributes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ΔC1 announced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W7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Domain relationships (association, aggregation)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W8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Behavior modeling I: sequence diagrams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M2 — Sun Oct 25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9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W9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3D7BD9"/>
                          </a:solidFill>
                          <a:latin typeface="Microsoft YaHei"/>
                          <a:ea typeface="Microsoft YaHei"/>
                        </a:rPr>
                        <a:t>B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Behavior modeling II: state &amp; activity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Mid-term review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10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W10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From analysis to design: design class diagram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ΔC2 announced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11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Design principles I: GRASP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12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Design principles II: SOLID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M3 — Sun Nov 22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13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Design patterns I: creational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ΔC3 announced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14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Design patterns II: structural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M4 — Sun Dec 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15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W15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C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4A5568"/>
                          </a:solidFill>
                          <a:latin typeface="Microsoft YaHei"/>
                          <a:ea typeface="Microsoft YaHei"/>
                        </a:rPr>
                        <a:t>Design patterns III: behavioral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8B97A8"/>
                          </a:solidFill>
                          <a:latin typeface="Microsoft YaHei"/>
                          <a:ea typeface="Microsoft YaHei"/>
                        </a:rPr>
                        <a:t>Defense rehearsal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val="16"/>
                  </a:ext>
                </a:extLst>
              </a:tr>
              <a:tr h="29247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C107"/>
                          </a:solidFill>
                          <a:latin typeface="Microsoft YaHei"/>
                          <a:ea typeface="Microsoft YaHei"/>
                        </a:rPr>
                        <a:t>W16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C107"/>
                          </a:solidFill>
                          <a:latin typeface="Microsoft YaHei"/>
                          <a:ea typeface="Microsoft YaHei"/>
                        </a:rPr>
                        <a:t>D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C5D4EA"/>
                          </a:solidFill>
                          <a:latin typeface="Microsoft YaHei"/>
                          <a:ea typeface="Microsoft YaHei"/>
                        </a:rPr>
                        <a:t>Architecture patterns · course review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C107"/>
                          </a:solidFill>
                          <a:latin typeface="Microsoft YaHei"/>
                          <a:ea typeface="Microsoft YaHei"/>
                        </a:rPr>
                        <a:t>Final defense + M5 — Dec 20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7"/>
                  </a:ext>
                </a:extLst>
              </a:tr>
            </a:tbl>
          </a:graphicData>
        </a:graphic>
      </p:graphicFrame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5638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Module A · Foundations (W1–3) → B · Analysis (W4–9) → C · Design (W10–15) → D · Wrap-up (W16)</a:t>
            </a:r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25 / 38</a:t>
            </a:r>
            <a:endParaRPr/>
          </a:p>
        </p:txBody>
      </p:sp>
    </p:spTree>
  </p:cSld>
</p:sld>
</file>

<file path=ppt/slides/slide2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30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From Models to Principles to Patterns&lt;/Text&gt;&#10;  &lt;/Box&gt;&#10;  &lt;Box style={{ flex: 1, padding: '18px 40px 0 40px', flexDirection: 'row', gap: 28 }}&gt;&#10;    &lt;Box style={{ flex: 3, justifyContent: 'center', alignItems: 'center' }}&gt;&#10;      &lt;svg width={540} height={420} viewBox='0 0 540 420'&gt;&#10;        &lt;rect x='120' y='20' width='300' height='70' rx='12' fill='#E8EFF8' stroke='#3D7BD9' strokeWidth='2' /&gt;&#10;        &lt;text x='270' y='50' textAnchor='middle' fill='#0E3F8C' fontSize='21' fontWeight='bold'&gt;Analysis Models&lt;/text&gt;&#10;        &lt;text x='270' y='74' textAnchor='middle' fill='#8B97A8' fontSize='14'&gt;describe the problem&lt;/text&gt;&#10;        &lt;line x1='270' y1='90' x2='270' y2='120' stroke='#3D7BD9' strokeWidth='3' /&gt;&#10;        &lt;polygon points='263,115 270,128 277,115' fill='#3D7BD9' /&gt;&#10;        &lt;rect x='120' y='128' width='300' height='70' rx='12' fill='#F0F5FC' stroke='#1E4FA8' strokeWidth='2' /&gt;&#10;        &lt;text x='270' y='158' textAnchor='middle' fill='#0E3F8C' fontSize='21' fontWeight='bold'&gt;GRASP &amp;amp;amp; SOLID&lt;/text&gt;&#10;        &lt;text x='270' y='182' textAnchor='middle' fill='#8B97A8' fontSize='14'&gt;principles for good design&lt;/text&gt;&#10;        &lt;line x1='270' y1='198' x2='270' y2='228' stroke='#3D7BD9' strokeWidth='3' /&gt;&#10;        &lt;polygon points='263,223 270,236 277,223' fill='#3D7BD9' /&gt;&#10;        &lt;rect x='120' y='236' width='300' height='70' rx='12' fill='#E8EFF8' stroke='#1E4FA8' strokeWidth='2' /&gt;&#10;        &lt;text x='270' y='266' textAnchor='middle' fill='#0E3F8C' fontSize='21' fontWeight='bold'&gt;GoF Patterns&lt;/text&gt;&#10;        &lt;text x='270' y='290' textAnchor='middle' fill='#8B97A8' fontSize='14'&gt;reusable solutions&lt;/text&gt;&#10;        &lt;line x1='270' y1='306' x2='270' y2='336' stroke='#3D7BD9' strokeWidth='3' /&gt;&#10;        &lt;polygon points='263,331 270,344 277,331' fill='#3D7BD9' /&gt;&#10;        &lt;rect x='120' y='344' width='300' height='70' rx='12' fill='#0E3F8C' /&gt;&#10;        &lt;text x='270' y='374' textAnchor='middle' fill='#FFFFFF' fontSize='21' fontWeight='bold'&gt;Architecture&lt;/text&gt;&#10;        &lt;text x='270' y='398' textAnchor='middle' fill='#B9CDF0' fontSize='14'&gt;the whole structure&lt;/text&gt;&#10;      &lt;/svg&gt;&#10;    &lt;/Box&gt;&#10;    &lt;Box style={{ flex: 2, flexDirection: 'column', gap: 14, justifyContent: 'center' }}&gt;&#10;      {[&#10;        ['First you describe', 'Analysis models capture what the system must do, in language stakeholders understand.'],&#10;        ['Then you decide', 'Principles (GRASP, SOLID) guide how responsibilities are assigned — not by accident, but by reason.'],&#10;        ['Then you reuse', 'Design patterns are proven answers to recurring problems. You learn to recognise, then apply them.'],&#10;        ['Finally you assemble', 'Architecture puts the pieces together — MVC, layers, and how they talk.'],&#10;      ].map(([t, d], i) =&gt; (&#10;        &lt;Box key={t} style={{ flexDirection: 'row', gap: 12, alignItems: 'flex-start' }}&gt;&#10;          &lt;Box style={{ width: 28, height: 28, borderRadius: 14, background: i === 3 ? '#0E3F8C' : '#E8EFF8', justifyContent: 'center', alignItems: 'center' }}&gt;&#10;            &lt;Text style={{ fontSize: 15, fontWeight: 'bold', color: i === 3 ? '#FFFFFF' : '#1E4FA8' }}&gt;{i + 1}&lt;/Text&gt;&#10;          &lt;/Box&gt;&#10;          &lt;Box style={{ flexDirection: 'column', gap: 3 }}&gt;&#10;            &lt;Text style={{ fontSize: 17, fontWeight: 'bold', color: '#1A2230' }}&gt;{t}&lt;/Text&gt;&#10;            &lt;Text style={{ fontSize: 14, color: '#4A5568', lineHeight: 1.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2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From Models to Principles to Patterns</a:t>
            </a:r>
            <a:endParaRPr/>
          </a:p>
        </p:txBody>
      </p:sp>
      <p:pic>
        <p:nvPicPr>
          <p:cNvPr id="33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162050" y="1981200"/>
            <a:ext cx="5143500" cy="4000500"/>
          </a:xfrm>
          <a:prstGeom prst="rect">
            <a:avLst/>
          </a:prstGeom>
          <a:ln/>
        </p:spPr>
      </p:pic>
      <p:sp>
        <p:nvSpPr>
          <p:cNvPr id="337" name=""/>
          <p:cNvSpPr/>
          <p:nvPr/>
        </p:nvSpPr>
        <p:spPr>
          <a:xfrm rot="0" flipH="0" flipV="0">
            <a:off x="7343775" y="246697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7439025" y="251460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7705725" y="2466975"/>
            <a:ext cx="4105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First you describe</a:t>
            </a:r>
            <a:endParaRPr/>
          </a:p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7705725" y="2695575"/>
            <a:ext cx="41052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Analysis models capture what the system must do, in language stakeholders understand.</a:t>
            </a:r>
            <a:endParaRPr/>
          </a:p>
        </p:txBody>
      </p:sp>
      <p:sp>
        <p:nvSpPr>
          <p:cNvPr id="341" name=""/>
          <p:cNvSpPr/>
          <p:nvPr/>
        </p:nvSpPr>
        <p:spPr>
          <a:xfrm rot="0" flipH="0" flipV="0">
            <a:off x="7343775" y="33147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7439025" y="33623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7705725" y="3314700"/>
            <a:ext cx="4105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Then you decide</a:t>
            </a:r>
            <a:endParaRPr/>
          </a:p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7705725" y="3543300"/>
            <a:ext cx="41052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Principles (GRASP, SOLID) guide how responsibilities are assigned — not by accident, but by reason.</a:t>
            </a:r>
            <a:endParaRPr/>
          </a:p>
        </p:txBody>
      </p:sp>
      <p:sp>
        <p:nvSpPr>
          <p:cNvPr id="345" name=""/>
          <p:cNvSpPr/>
          <p:nvPr/>
        </p:nvSpPr>
        <p:spPr>
          <a:xfrm rot="0" flipH="0" flipV="0">
            <a:off x="7343775" y="4162425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7439025" y="4210050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7705725" y="4162425"/>
            <a:ext cx="4105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Then you reuse</a:t>
            </a:r>
            <a:endParaRPr/>
          </a:p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7705725" y="4391025"/>
            <a:ext cx="41052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Design patterns are proven answers to recurring problems. You learn to recognise, then apply them.</a:t>
            </a:r>
            <a:endParaRPr/>
          </a:p>
        </p:txBody>
      </p:sp>
      <p:sp>
        <p:nvSpPr>
          <p:cNvPr id="349" name=""/>
          <p:cNvSpPr/>
          <p:nvPr/>
        </p:nvSpPr>
        <p:spPr>
          <a:xfrm rot="0" flipH="0" flipV="0">
            <a:off x="7343775" y="501015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7439025" y="505777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7715250" y="5010150"/>
            <a:ext cx="4095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Finally you assemble</a:t>
            </a:r>
            <a:endParaRPr/>
          </a:p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7715250" y="5238750"/>
            <a:ext cx="409575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Architecture puts the pieces together — MVC, layers, and how they talk.</a:t>
            </a:r>
            <a:endParaRPr/>
          </a:p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26 / 38</a:t>
            </a:r>
            <a:endParaRPr/>
          </a:p>
        </p:txBody>
      </p:sp>
    </p:spTree>
  </p:cSld>
</p:sld>
</file>

<file path=ppt/slides/slide2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5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Why Patterns Matter — A Teaser&lt;/Text&gt;&#10;  &lt;/Box&gt;&#10;  &lt;Box style={{ flex: 1, padding: '18px 40px 0 40px', flexDirection: 'row', gap: 28 }}&gt;&#10;    &lt;Box style={{ flex: 3, flexDirection: 'column', gap: 14 }}&gt;&#10;      &lt;Box style={{ flex: 1, padding: '18px 20px', background: '#FDF3F3', borderRadius: 12, border: '1px solid #D9534F', flexDirection: 'column' }}&gt;&#10;        &lt;Box style={{ flexDirection: 'row', alignItems: 'center', gap: 10, marginBottom: 10 }}&gt;&#10;          &lt;FAIcon name='times-circle' style={{ fill: '#D9534F', width: 22, height: 22 }} /&gt;&#10;          &lt;Text style={{ fontSize: 17, fontWeight: 'bold', color: '#D9534F' }}&gt;Adding a payment type = editing the if-else chain&lt;/Text&gt;&#10;        &lt;/Box&gt;&#10;        &lt;CodeBlock code={`if (type.equals(&quot;CARD&quot;)) {&#10;    chargeCard(order);&#10;} else if (type.equals(&quot;WECHAT&quot;)) {&#10;    chargeWechat(order);&#10;} else if (type.equals(&quot;ALIPAY&quot;)) {&#10;    chargeAlipay(order);&#10;} else {&#10;    throw new UnsupportedException();&#10;}`} language='java' width={440} fontSize={13} /&gt;&#10;      &lt;/Box&gt;&#10;    &lt;/Box&gt;&#10;    &lt;Box style={{ flex: 2, padding: '24px 22px', background: '#0E3F8C', borderRadius: 12, flexDirection: 'column', justifyContent: 'center', gap: 14 }}&gt;&#10;      &lt;FAIcon name='check-circle' style={{ fill: '#FFC107', width: 34, height: 34 }} /&gt;&#10;      &lt;Text style={{ fontSize: 21, fontWeight: 'bold', color: '#FFFFFF', lineHeight: 1.35 }}&gt;A pattern turns &quot;many if-else branches&quot; into &quot;one stable line&quot;.&lt;/Text&gt;&#10;      &lt;Text style={{ fontSize: 16, color: '#C5D4EA', lineHeight: 1.55 }}&gt;New payment types plug in without touching existing code. This is what we train all semester — and it is what employers ask about.&lt;/Text&gt;&#10;    &lt;/Box&gt;&#10;  &lt;/Box&gt;&#10;  &lt;Box style={{ height: 40, padding: '0 40px', flexDirection: 'row', alignItems: 'center', justifyContent: 'space-between' }}&gt;&#10;    &lt;Text style={{ fontSize: 13, color: '#8B97A8' }}&gt;Full treatment in Weeks 13–15. Today we only see the destination.&lt;/Text&gt;&#10;    &lt;Text style={{ fontSize: 14, color: '#1E4FA8', fontWeight: 'bold' }}&gt;27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5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Why Patterns Matter — A Teaser</a:t>
            </a:r>
            <a:endParaRPr/>
          </a:p>
        </p:txBody>
      </p:sp>
      <p:sp>
        <p:nvSpPr>
          <p:cNvPr id="361" name=""/>
          <p:cNvSpPr/>
          <p:nvPr/>
        </p:nvSpPr>
        <p:spPr>
          <a:xfrm rot="0" flipH="0" flipV="0">
            <a:off x="381000" y="1476375"/>
            <a:ext cx="6696075" cy="5000625"/>
          </a:xfrm>
          <a:prstGeom prst="roundRect">
            <a:avLst>
              <a:gd name="adj" fmla="val 2286"/>
            </a:avLst>
          </a:prstGeom>
          <a:solidFill>
            <a:srgbClr val="FDF3F3"/>
          </a:solidFill>
          <a:ln w="12700">
            <a:solidFill>
              <a:srgbClr val="D9534F"/>
            </a:solidFill>
            <a:prstDash val="solid"/>
          </a:ln>
        </p:spPr>
        <p:txBody>
          <a:bodyPr/>
          <a:p/>
        </p:txBody>
      </p:sp>
      <p:pic>
        <p:nvPicPr>
          <p:cNvPr id="36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71500" y="1647825"/>
            <a:ext cx="209550" cy="209550"/>
          </a:xfrm>
          <a:prstGeom prst="rect">
            <a:avLst/>
          </a:prstGeom>
          <a:ln/>
        </p:spPr>
      </p:pic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876300" y="1657350"/>
            <a:ext cx="3771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D9534F"/>
                </a:solidFill>
                <a:latin typeface="Microsoft YaHei"/>
                <a:ea typeface="Microsoft YaHei"/>
              </a:rPr>
              <a:t>Adding a payment type = editing the if-else chain</a:t>
            </a:r>
            <a:endParaRPr/>
          </a:p>
        </p:txBody>
      </p:sp>
      <p:sp>
        <p:nvSpPr>
          <p:cNvPr id="364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36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553325" y="2924175"/>
            <a:ext cx="323850" cy="323850"/>
          </a:xfrm>
          <a:prstGeom prst="rect">
            <a:avLst/>
          </a:prstGeom>
          <a:ln/>
        </p:spPr>
      </p:pic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7553325" y="3381375"/>
            <a:ext cx="404812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575" b="1">
                <a:solidFill>
                  <a:srgbClr val="FFFFFF"/>
                </a:solidFill>
                <a:latin typeface="Microsoft YaHei"/>
                <a:ea typeface="Microsoft YaHei"/>
              </a:rPr>
              <a:t>A pattern turns "many if-else branches" into "one stable line".</a:t>
            </a:r>
            <a:endParaRPr/>
          </a:p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7553325" y="4171950"/>
            <a:ext cx="4048125" cy="8572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New payment types plug in without touching existing code. This is what we train all semester — and it is what employers ask about.</a:t>
            </a:r>
            <a:endParaRPr/>
          </a:p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3648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Full treatment in Weeks 13–15. Today we only see the destination.</a:t>
            </a:r>
            <a:endParaRPr/>
          </a:p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27 / 38</a:t>
            </a:r>
            <a:endParaRPr/>
          </a:p>
        </p:txBody>
      </p:sp>
      <p:sp>
        <p:nvSpPr>
          <p:cNvPr id="370" name=""/>
          <p:cNvSpPr/>
          <p:nvPr/>
        </p:nvSpPr>
        <p:spPr>
          <a:xfrm rot="0" flipH="0" flipV="0">
            <a:off x="571500" y="1952625"/>
            <a:ext cx="6315075" cy="2143125"/>
          </a:xfrm>
          <a:prstGeom prst="roundRect">
            <a:avLst>
              <a:gd name="adj" fmla="val 3556"/>
            </a:avLst>
          </a:prstGeom>
          <a:solidFill>
            <a:srgbClr val="F6F8FA"/>
          </a:solidFill>
          <a:ln/>
        </p:spPr>
        <p:txBody>
          <a:bodyPr/>
          <a:p/>
        </p:txBody>
      </p:sp>
      <p:sp>
        <p:nvSpPr>
          <p:cNvPr id="371" name=""/>
          <p:cNvSpPr txBox="1"/>
          <p:nvPr/>
        </p:nvSpPr>
        <p:spPr>
          <a:xfrm rot="0" flipH="0" flipV="0">
            <a:off x="723900" y="2085975"/>
            <a:ext cx="6010275" cy="18764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if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(type.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equals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75">
                <a:solidFill>
                  <a:srgbClr val="032F62"/>
                </a:solidFill>
                <a:latin typeface="Menlo"/>
                <a:ea typeface="Menlo"/>
              </a:rPr>
              <a:t>"CARD"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)) {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chargeCard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(order);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}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else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if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(type.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equals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75">
                <a:solidFill>
                  <a:srgbClr val="032F62"/>
                </a:solidFill>
                <a:latin typeface="Menlo"/>
                <a:ea typeface="Menlo"/>
              </a:rPr>
              <a:t>"WECHAT"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)) {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chargeWechat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(order);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}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else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if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(type.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equals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</a:t>
            </a:r>
            <a:r>
              <a:rPr sz="975">
                <a:solidFill>
                  <a:srgbClr val="032F62"/>
                </a:solidFill>
                <a:latin typeface="Menlo"/>
                <a:ea typeface="Menlo"/>
              </a:rPr>
              <a:t>"ALIPAY"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)) {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chargeAlipay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(order);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}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else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{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  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throw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D73A49"/>
                </a:solidFill>
                <a:latin typeface="Menlo"/>
                <a:ea typeface="Menlo"/>
              </a:rPr>
              <a:t>new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 </a:t>
            </a:r>
            <a:r>
              <a:rPr sz="975">
                <a:solidFill>
                  <a:srgbClr val="6F42C1"/>
                </a:solidFill>
                <a:latin typeface="Menlo"/>
                <a:ea typeface="Menlo"/>
              </a:rPr>
              <a:t>UnsupportedException</a:t>
            </a: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();</a:t>
            </a:r>
            <a:endParaRPr/>
          </a:p>
          <a:p>
            <a:pPr>
              <a:lnSpc>
                <a:spcPct val="140000"/>
              </a:lnSpc>
            </a:pPr>
            <a:r>
              <a:rPr sz="975">
                <a:solidFill>
                  <a:srgbClr val="24292E"/>
                </a:solidFill>
                <a:latin typeface="Menlo"/>
                <a:ea typeface="Menlo"/>
              </a:rPr>
              <a:t>}</a:t>
            </a:r>
            <a:endParaRPr/>
          </a:p>
        </p:txBody>
      </p:sp>
    </p:spTree>
  </p:cSld>
</p:sld>
</file>

<file path=ppt/slides/slide28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37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How This Course Relates to SE1&lt;/Text&gt;&#10;  &lt;/Box&gt;&#10;  &lt;Box style={{ flex: 1, padding: '18px 40px 0 40px', flexDirection: 'column', gap: 16 }}&gt;&#10;    &lt;Box style={{ flex: 1, padding: '20px 24px', background: '#F7F9FC', borderRadius: 12, border: '1px solid #E5E7EB', flexDirection: 'column', gap: 10, justifyContent: 'center' }}&gt;&#10;      &lt;Box style={{ flexDirection: 'row', alignItems: 'center', gap: 10 }}&gt;&#10;        &lt;FAIcon name='book' style={{ fill: '#8B97A8', width: 24, height: 24 }} /&gt;&#10;        &lt;Text style={{ fontSize: 20, fontWeight: 'bold', color: '#4A5568' }}&gt;SE1 — the whole landscape&lt;/Text&gt;&#10;      &lt;/Box&gt;&#10;      &lt;Text style={{ fontSize: 16, color: '#4A5568', lineHeight: 1.55 }}&gt;You walked the full life cycle: process models, agile, requirements, analysis, design, testing, architecture — one overview of everything.&lt;/Text&gt;&#10;    &lt;/Box&gt;&#10;    &lt;Box style={{ flex: 1, padding: '20px 24px', background: '#0E3F8C', borderRadius: 12, flexDirection: 'column', gap: 10, justifyContent: 'center' }}&gt;&#10;      &lt;Box style={{ flexDirection: 'row', alignItems: 'center', gap: 10 }}&gt;&#10;        &lt;FAIcon name='search' style={{ fill: '#FFC107', width: 24, height: 24 }} /&gt;&#10;        &lt;Text style={{ fontSize: 20, fontWeight: 'bold', color: '#FFFFFF' }}&gt;This course — the deep dive&lt;/Text&gt;&#10;      &lt;/Box&gt;&#10;      &lt;Text style={{ fontSize: 16, color: '#C5D4EA', lineHeight: 1.55 }}&gt;We zoom into analysis &amp;amp; design and go deep: use cases, domain models, sequence diagrams, GRASP, SOLID and the GoF patterns — the skills that separate analysts from coders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28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376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How This Course Relates to SE1</a:t>
            </a:r>
            <a:endParaRPr/>
          </a:p>
        </p:txBody>
      </p:sp>
      <p:sp>
        <p:nvSpPr>
          <p:cNvPr id="378" name=""/>
          <p:cNvSpPr/>
          <p:nvPr/>
        </p:nvSpPr>
        <p:spPr>
          <a:xfrm rot="0" flipH="0" flipV="0">
            <a:off x="381000" y="1476375"/>
            <a:ext cx="11430000" cy="228600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37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2314575"/>
            <a:ext cx="228600" cy="228600"/>
          </a:xfrm>
          <a:prstGeom prst="rect">
            <a:avLst/>
          </a:prstGeom>
          <a:ln/>
        </p:spPr>
      </p:pic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933450" y="2314575"/>
            <a:ext cx="25241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4A5568"/>
                </a:solidFill>
                <a:latin typeface="Microsoft YaHei"/>
                <a:ea typeface="Microsoft YaHei"/>
              </a:rPr>
              <a:t>SE1 — the whole landscape</a:t>
            </a:r>
            <a:endParaRPr/>
          </a:p>
        </p:txBody>
      </p:sp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609600" y="2638425"/>
            <a:ext cx="10972800" cy="28575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You walked the full life cycle: process models, agile, requirements, analysis, design, testing, architecture — one overview of everything.</a:t>
            </a:r>
            <a:endParaRPr/>
          </a:p>
        </p:txBody>
      </p:sp>
      <p:sp>
        <p:nvSpPr>
          <p:cNvPr id="382" name=""/>
          <p:cNvSpPr/>
          <p:nvPr/>
        </p:nvSpPr>
        <p:spPr>
          <a:xfrm rot="0" flipH="0" flipV="0">
            <a:off x="381000" y="3914775"/>
            <a:ext cx="11430000" cy="2562225"/>
          </a:xfrm>
          <a:prstGeom prst="roundRect">
            <a:avLst>
              <a:gd name="adj" fmla="val 4461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3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09600" y="4752975"/>
            <a:ext cx="228600" cy="228600"/>
          </a:xfrm>
          <a:prstGeom prst="rect">
            <a:avLst/>
          </a:prstGeom>
          <a:ln/>
        </p:spPr>
      </p:pic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933450" y="4752975"/>
            <a:ext cx="2590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This course — the deep dive</a:t>
            </a:r>
            <a:endParaRPr/>
          </a:p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609600" y="5076825"/>
            <a:ext cx="109728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We zoom into analysis &amp; design and go deep: use cases, domain models, sequence diagrams, GRASP, SOLID and the GoF patterns — the skills that separate analysts from coders.</a:t>
            </a:r>
            <a:endParaRPr/>
          </a:p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28 / 38</a:t>
            </a:r>
            <a:endParaRPr/>
          </a:p>
        </p:txBody>
      </p:sp>
    </p:spTree>
  </p:cSld>
</p:sld>
</file>

<file path=ppt/slides/slide29.xml><?xml version="1.0" encoding="utf-8"?>
<p:sld xmlns:a="http://schemas.openxmlformats.org/drawingml/2006/main" xmlns:p="http://schemas.openxmlformats.org/presentationml/2006/main">
  <p:cSld>
    <p:spTree>
      <p:nvGrpSpPr>
        <p:cNvPr id="388" name="" descr="&lt;Slide style={{ background: '#0E3F8C', padding: 0 }}&gt;&#10;  &lt;Box style={{ flexDirection: 'row', height: '100%', position: 'relative' }}&gt;&#10;    &lt;Box style={{ position: 'absolute', top: 0, left: 0, right: 0, height: 8, background: '#1E4FA8' }} /&gt;&#10;    &lt;Box style={{ width: 300, justifyContent: 'center', alignItems: 'center', borderRight: '1px solid #2B5793' }}&gt;&#10;      &lt;Text style={{ fontSize: 220, fontWeight: 'bold', color: '#3D7BD9', fontFamily: 'Georgia, serif', lineHeight: 1 }}&gt;06&lt;/Text&gt;&#10;    &lt;/Box&gt;&#10;    &lt;Box style={{ flex: 1, padding: '70px 64px', flexDirection: 'column', justifyContent: 'center' }}&gt;&#10;      &lt;Text style={{ fontSize: 15, color: '#7FA2D6', letterSpacing: 2, marginBottom: 18 }}&gt;PART 2 · LAB&lt;/Text&gt;&#10;      &lt;Text style={{ fontSize: 48, fontWeight: 'bold', color: '#FFFFFF', lineHeight: 1.18 }}&gt;Lab — Reading UML&lt;br /&gt;&amp;amp; Exercises&lt;/Text&gt;&#10;      &lt;Box style={{ width: 64, height: 4, background: '#FFC107', marginTop: 26, marginBottom: 26 }} /&gt;&#10;      &lt;Box style={{ flexDirection: 'column', gap: 12 }}&gt;&#10;        {[&#10;          'Guided demo: read a real UML model set',&#10;          'Three hands-on exercises',&#10;          'Homework and M0 kickoff',&#10;        ].map((t) =&gt; (&#10;          &lt;Box key={t} style={{ flexDirection: 'row', alignItems: 'center', gap: 12 }}&gt;&#10;            &lt;Box style={{ width: 8, height: 8, borderRadius: 4, background: '#3D7BD9' }} /&gt;&#10;            &lt;Text style={{ fontSize: 20, color: '#C5D4EA' }}&gt;{t}&lt;/Text&gt;&#10;          &lt;/Box&gt;&#10;        ))}&#10;      &lt;/Box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90" name=""/>
          <p:cNvSpPr/>
          <p:nvPr/>
        </p:nvSpPr>
        <p:spPr>
          <a:xfrm rot="0" flipH="0" flipV="0">
            <a:off x="0" y="0"/>
            <a:ext cx="2857500" cy="6858000"/>
          </a:xfrm>
          <a:custGeom>
            <a:pathLst>
              <a:path w="300" h="720">
                <a:moveTo>
                  <a:pt x="299" y="0"/>
                </a:moveTo>
                <a:lnTo>
                  <a:pt x="300" y="0"/>
                </a:lnTo>
                <a:lnTo>
                  <a:pt x="300" y="720"/>
                </a:lnTo>
                <a:lnTo>
                  <a:pt x="299" y="720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391" name="" descr="{&quot;isTemplate&quot;:true,&quot;type&quot;:&quot;text&quot;}"/>
          <p:cNvSpPr txBox="1"/>
          <p:nvPr/>
        </p:nvSpPr>
        <p:spPr>
          <a:xfrm rot="0" flipH="0" flipV="0">
            <a:off x="9525" y="2171700"/>
            <a:ext cx="2828925" cy="2514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0" b="1">
                <a:solidFill>
                  <a:srgbClr val="3D7BD9"/>
                </a:solidFill>
                <a:latin typeface="Georgia"/>
                <a:ea typeface="Georgia"/>
              </a:rPr>
              <a:t>06</a:t>
            </a:r>
            <a:endParaRPr/>
          </a:p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3467100" y="1885950"/>
            <a:ext cx="81153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PART 2 · LAB</a:t>
            </a:r>
            <a:endParaRPr/>
          </a:p>
        </p:txBody>
      </p:sp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3467100" y="2228850"/>
            <a:ext cx="8115300" cy="1295400"/>
          </a:xfrm>
          <a:prstGeom prst="rect"/>
        </p:spPr>
        <p:txBody>
          <a:bodyPr wrap="none" lIns="0" tIns="0" rIns="0" bIns="0"/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Lab — Reading UML</a:t>
            </a:r>
            <a:endParaRPr/>
          </a:p>
          <a:p>
            <a:pPr>
              <a:lnSpc>
                <a:spcPct val="118000"/>
              </a:lnSpc>
            </a:pPr>
            <a:r>
              <a:rPr lang="en-US" sz="3600" b="1">
                <a:solidFill>
                  <a:srgbClr val="FFFFFF"/>
                </a:solidFill>
                <a:latin typeface="Microsoft YaHei"/>
                <a:ea typeface="Microsoft YaHei"/>
              </a:rPr>
              <a:t>&amp; Exercises</a:t>
            </a:r>
            <a:endParaRPr/>
          </a:p>
        </p:txBody>
      </p:sp>
      <p:sp>
        <p:nvSpPr>
          <p:cNvPr id="394" name=""/>
          <p:cNvSpPr/>
          <p:nvPr/>
        </p:nvSpPr>
        <p:spPr>
          <a:xfrm rot="0" flipH="0" flipV="0">
            <a:off x="3467100" y="3771900"/>
            <a:ext cx="609600" cy="3810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95" name=""/>
          <p:cNvSpPr/>
          <p:nvPr/>
        </p:nvSpPr>
        <p:spPr>
          <a:xfrm rot="0" flipH="0" flipV="0">
            <a:off x="3467100" y="4133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3657600" y="4057650"/>
            <a:ext cx="34956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Guided demo: read a real UML model set</a:t>
            </a:r>
            <a:endParaRPr/>
          </a:p>
        </p:txBody>
      </p:sp>
      <p:sp>
        <p:nvSpPr>
          <p:cNvPr id="397" name=""/>
          <p:cNvSpPr/>
          <p:nvPr/>
        </p:nvSpPr>
        <p:spPr>
          <a:xfrm rot="0" flipH="0" flipV="0">
            <a:off x="3467100" y="44767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3657600" y="4400550"/>
            <a:ext cx="22098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Three hands-on exercises</a:t>
            </a:r>
            <a:endParaRPr/>
          </a:p>
        </p:txBody>
      </p:sp>
      <p:sp>
        <p:nvSpPr>
          <p:cNvPr id="399" name=""/>
          <p:cNvSpPr/>
          <p:nvPr/>
        </p:nvSpPr>
        <p:spPr>
          <a:xfrm rot="0" flipH="0" flipV="0">
            <a:off x="3467100" y="4819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3657600" y="4743450"/>
            <a:ext cx="2190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5D4EA"/>
                </a:solidFill>
                <a:latin typeface="Microsoft YaHei"/>
                <a:ea typeface="Microsoft YaHei"/>
              </a:rPr>
              <a:t>Homework and M0 kickoff</a:t>
            </a:r>
            <a:endParaRPr/>
          </a:p>
        </p:txBody>
      </p:sp>
      <p:sp>
        <p:nvSpPr>
          <p:cNvPr id="401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</p:spTree>
  </p:cSld>
</p:sld>
</file>

<file path=ppt/slides/slide30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16" name="" descr="&lt;Slide style={{ background: '#FFFFFF', padding: 0 }}&gt;&#10;  &lt;Box style={{ padding: '26px 40px 8px 40px', flexDirection: 'row', alignItems: 'center', justifyContent: 'space-between' }}&gt;&#10;    &lt;Text style={{ fontSize: 34, fontWeight: 'bold', color: '#0E3F8C' }}&gt;A First Look — Three Kinds of UML Models&lt;/Text&gt;&#10;    &lt;Text style={{ fontSize: 14, color: '#1E4FA8', fontWeight: 'bold' }}&gt;30 / 38&lt;/Text&gt;&#10;  &lt;/Box&gt;&#10;  &lt;Box style={{ flex: 1, padding: '10px 40px 0 40px', flexDirection: 'row', gap: 22 }}&gt;&#10;    &lt;Box style={{ flex: 1, padding: '18px 16px', background: '#F7F9FC', borderRadius: 12, border: '1px solid #E5E7EB', flexDirection: 'column', gap: 10 }}&gt;&#10;      &lt;Text style={{ fontSize: 18, fontWeight: 'bold', color: '#0E3F8C', textAlign: 'center' }}&gt;Use Case — what the system does&lt;/Text&gt;&#10;      &lt;svg width={330} height={230} viewBox='0 0 330 230'&gt;&#10;        &lt;circle cx='60' cy='80' r='18' fill='none' stroke='#1E4FA8' strokeWidth='3' /&gt;&#10;        &lt;line x1='60' y1='98' x2='60' y2='160' stroke='#1E4FA8' strokeWidth='3' /&gt;&#10;        &lt;line x1='60' y1='118' x2='28' y2='140' stroke='#1E4FA8' strokeWidth='3' /&gt;&#10;        &lt;line x1='60' y1='118' x2='92' y2='140' stroke='#1E4FA8' strokeWidth='3' /&gt;&#10;        &lt;line x1='60' y1='160' x2='38' y2='195' stroke='#1E4FA8' strokeWidth='3' /&gt;&#10;        &lt;line x1='60' y1='160' x2='82' y2='195' stroke='#1E4FA8' strokeWidth='3' /&gt;&#10;        &lt;text x='60' y='215' textAnchor='middle' fill='#8B97A8' fontSize='14'&gt;Customer&lt;/text&gt;&#10;        &lt;line x1='78' y1='80' x2='130' y2='80' stroke='#3D7BD9' strokeWidth='2' /&gt;&#10;        &lt;ellipse cx='210' cy='80' rx='80' ry='26' fill='#E8EFF8' stroke='#3D7BD9' strokeWidth='2' /&gt;&#10;        &lt;text x='210' y='86' textAnchor='middle' fill='#0E3F8C' fontSize='15' fontWeight='bold'&gt;Place Order&lt;/text&gt;&#10;      &lt;/svg&gt;&#10;    &lt;/Box&gt;&#10;    &lt;Box style={{ flex: 1, padding: '18px 16px', background: '#F7F9FC', borderRadius: 12, border: '1px solid #E5E7EB', flexDirection: 'column', gap: 10 }}&gt;&#10;      &lt;Text style={{ fontSize: 18, fontWeight: 'bold', color: '#0E3F8C', textAlign: 'center' }}&gt;Domain Model — the concepts&lt;/Text&gt;&#10;      &lt;svg width={330} height={230} viewBox='0 0 330 230'&gt;&#10;        &lt;rect x='30' y='60' width='110' height='70' rx='8' fill='#E8EFF8' stroke='#1E4FA8' strokeWidth='2' /&gt;&#10;        &lt;text x='85' y='90' textAnchor='middle' fill='#0E3F8C' fontSize='16' fontWeight='bold'&gt;Order&lt;/text&gt;&#10;        &lt;text x='85' y='112' textAnchor='middle' fill='#8B97A8' fontSize='12'&gt;total, status&lt;/text&gt;&#10;        &lt;rect x='190' y='60' width='110' height='70' rx='8' fill='#E8EFF8' stroke='#1E4FA8' strokeWidth='2' /&gt;&#10;        &lt;text x='245' y='90' textAnchor='middle' fill='#0E3F8C' fontSize='16' fontWeight='bold'&gt;Customer&lt;/text&gt;&#10;        &lt;text x='245' y='112' textAnchor='middle' fill='#8B97A8' fontSize='12'&gt;name, id&lt;/text&gt;&#10;        &lt;line x1='140' y1='95' x2='190' y2='95' stroke='#3D7BD9' strokeWidth='2' /&gt;&#10;        &lt;text x='165' y='88' textAnchor='middle' fill='#3D7BD9' fontSize='12'&gt;1&lt;/text&gt;&#10;        &lt;text x='165' y='118' textAnchor='middle' fill='#3D7BD9' fontSize='12'&gt;*&lt;/text&gt;&#10;        &lt;text x='165' y='150' textAnchor='middle' fill='#8B97A8' fontSize='14'&gt;places&lt;/text&gt;&#10;      &lt;/svg&gt;&#10;    &lt;/Box&gt;&#10;    &lt;Box style={{ flex: 1, padding: '18px 16px', background: '#F7F9FC', borderRadius: 12, border: '1px solid #E5E7EB', flexDirection: 'column', gap: 10 }}&gt;&#10;      &lt;Text style={{ fontSize: 18, fontWeight: 'bold', color: '#0E3F8C', textAlign: 'center' }}&gt;Sequence — how it happens&lt;/Text&gt;&#10;      &lt;svg width={330} height={230} viewBox='0 0 330 230'&gt;&#10;        &lt;line x1='70' y1='40' x2='70' y2='200' stroke='#1E4FA8' strokeWidth='2' /&gt;&#10;        &lt;line x1='250' y1='40' x2='250' y2='200' stroke='#1E4FA8' strokeWidth='2' /&gt;&#10;        &lt;rect x='40' y='20' width='60' height='22' rx='4' fill='#E8EFF8' stroke='#3D7BD9' /&gt;&#10;        &lt;text x='70' y='35' textAnchor='middle' fill='#0E3F8C' fontSize='11'&gt;App&lt;/text&gt;&#10;        &lt;rect x='220' y='20' width='60' height='22' rx='4' fill='#E8EFF8' stroke='#3D7BD9' /&gt;&#10;        &lt;text x='250' y='35' textAnchor='middle' fill='#0E3F8C' fontSize='11'&gt;Server&lt;/text&gt;&#10;        &lt;line x1='70' y1='70' x2='250' y2='70' stroke='#3D7BD9' strokeWidth='2' /&gt;&#10;        &lt;polygon points='245,65 255,70 245,75' fill='#3D7BD9' /&gt;&#10;        &lt;text x='160' y='62' textAnchor='middle' fill='#3D7BD9' fontSize='12'&gt;placeOrder()&lt;/text&gt;&#10;        &lt;line x1='250' y1='110' x2='70' y2='110' stroke='#3D7BD9' strokeWidth='2' strokeDasharray='6 4' /&gt;&#10;        &lt;polygon points='80,105 70,110 80,115' fill='#3D7BD9' /&gt;&#10;        &lt;text x='160' y='102' textAnchor='middle' fill='#3D7BD9' fontSize='12'&gt;order confirmed&lt;/text&gt;&#10;      &lt;/svg&gt;&#10;    &lt;/Box&gt;&#10;  &lt;/Box&gt;&#10;  &lt;Box style={{ height: 52, background: '#0E3F8C', padding: '0 40px', flexDirection: 'row', alignItems: 'center', justifyContent: 'center' }}&gt;&#10;    &lt;Text style={{ fontSize: 17, color: '#FFFFFF', fontWeight: '600' }}&gt;Three views of the same system — each answers a different question. That is the whole trick.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18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66579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A First Look — Three Kinds of UML Models</a:t>
            </a:r>
            <a:endParaRPr/>
          </a:p>
        </p:txBody>
      </p:sp>
      <p:sp>
        <p:nvSpPr>
          <p:cNvPr id="419" name="" descr="{&quot;isTemplate&quot;:true,&quot;type&quot;:&quot;text&quot;}"/>
          <p:cNvSpPr txBox="1"/>
          <p:nvPr/>
        </p:nvSpPr>
        <p:spPr>
          <a:xfrm rot="0" flipH="0" flipV="0">
            <a:off x="11401425" y="3619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30 / 38</a:t>
            </a:r>
            <a:endParaRPr/>
          </a:p>
        </p:txBody>
      </p:sp>
      <p:sp>
        <p:nvSpPr>
          <p:cNvPr id="420" name=""/>
          <p:cNvSpPr/>
          <p:nvPr/>
        </p:nvSpPr>
        <p:spPr>
          <a:xfrm rot="0" flipH="0" flipV="0">
            <a:off x="381000" y="809625"/>
            <a:ext cx="3667125" cy="5553075"/>
          </a:xfrm>
          <a:prstGeom prst="roundRect">
            <a:avLst>
              <a:gd name="adj" fmla="val 31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533400" y="981075"/>
            <a:ext cx="3362325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Use Case — what the system does</a:t>
            </a:r>
            <a:endParaRPr/>
          </a:p>
        </p:txBody>
      </p:sp>
      <p:pic>
        <p:nvPicPr>
          <p:cNvPr id="42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33400" y="1285875"/>
            <a:ext cx="3143250" cy="2190750"/>
          </a:xfrm>
          <a:prstGeom prst="rect">
            <a:avLst/>
          </a:prstGeom>
          <a:ln/>
        </p:spPr>
      </p:pic>
      <p:sp>
        <p:nvSpPr>
          <p:cNvPr id="423" name=""/>
          <p:cNvSpPr/>
          <p:nvPr/>
        </p:nvSpPr>
        <p:spPr>
          <a:xfrm rot="0" flipH="0" flipV="0">
            <a:off x="4257675" y="809625"/>
            <a:ext cx="3676650" cy="5553075"/>
          </a:xfrm>
          <a:prstGeom prst="roundRect">
            <a:avLst>
              <a:gd name="adj" fmla="val 310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24" name="" descr="{&quot;isTemplate&quot;:true,&quot;type&quot;:&quot;text&quot;}"/>
          <p:cNvSpPr txBox="1"/>
          <p:nvPr/>
        </p:nvSpPr>
        <p:spPr>
          <a:xfrm rot="0" flipH="0" flipV="0">
            <a:off x="4410075" y="981075"/>
            <a:ext cx="3371850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Domain Model — the concepts</a:t>
            </a:r>
            <a:endParaRPr/>
          </a:p>
        </p:txBody>
      </p:sp>
      <p:pic>
        <p:nvPicPr>
          <p:cNvPr id="42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410075" y="1285875"/>
            <a:ext cx="3143250" cy="2190750"/>
          </a:xfrm>
          <a:prstGeom prst="rect">
            <a:avLst/>
          </a:prstGeom>
          <a:ln/>
        </p:spPr>
      </p:pic>
      <p:sp>
        <p:nvSpPr>
          <p:cNvPr id="426" name=""/>
          <p:cNvSpPr/>
          <p:nvPr/>
        </p:nvSpPr>
        <p:spPr>
          <a:xfrm rot="0" flipH="0" flipV="0">
            <a:off x="8143875" y="809625"/>
            <a:ext cx="3667125" cy="5553075"/>
          </a:xfrm>
          <a:prstGeom prst="roundRect">
            <a:avLst>
              <a:gd name="adj" fmla="val 311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27" name="" descr="{&quot;isTemplate&quot;:true,&quot;type&quot;:&quot;text&quot;}"/>
          <p:cNvSpPr txBox="1"/>
          <p:nvPr/>
        </p:nvSpPr>
        <p:spPr>
          <a:xfrm rot="0" flipH="0" flipV="0">
            <a:off x="8296275" y="981075"/>
            <a:ext cx="3362325" cy="2095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>Sequence — how it happens</a:t>
            </a:r>
            <a:endParaRPr/>
          </a:p>
        </p:txBody>
      </p:sp>
      <p:pic>
        <p:nvPicPr>
          <p:cNvPr id="4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296275" y="1285875"/>
            <a:ext cx="3143250" cy="2190750"/>
          </a:xfrm>
          <a:prstGeom prst="rect">
            <a:avLst/>
          </a:prstGeom>
          <a:ln/>
        </p:spPr>
      </p:pic>
      <p:sp>
        <p:nvSpPr>
          <p:cNvPr id="429" name=""/>
          <p:cNvSpPr/>
          <p:nvPr/>
        </p:nvSpPr>
        <p:spPr>
          <a:xfrm rot="0" flipH="0" flipV="0">
            <a:off x="0" y="6362700"/>
            <a:ext cx="12192000" cy="4953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30" name="" descr="{&quot;isTemplate&quot;:true,&quot;type&quot;:&quot;text&quot;}"/>
          <p:cNvSpPr txBox="1"/>
          <p:nvPr/>
        </p:nvSpPr>
        <p:spPr>
          <a:xfrm rot="0" flipH="0" flipV="0">
            <a:off x="2514600" y="6515100"/>
            <a:ext cx="71723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Three views of the same system — each answers a different question. That is the whole trick.</a:t>
            </a:r>
            <a:endParaRPr/>
          </a:p>
        </p:txBody>
      </p:sp>
    </p:spTree>
  </p:cSld>
</p:sld>
</file>

<file path=ppt/slides/slide31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31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Guided Demo — The Vending Machine (Analysis)&lt;/Text&gt;&#10;  &lt;/Box&gt;&#10;  &lt;Box style={{ flex: 1, padding: '18px 40px 0 40px', flexDirection: 'row', gap: 28 }}&gt;&#10;    &lt;Box style={{ flex: 3, justifyContent: 'center', alignItems: 'center' }}&gt;&#10;      &lt;svg width={560} height={400} viewBox='0 0 560 400'&gt;&#10;        &lt;rect x='210' y='150' width='150' height='90' rx='10' fill='#1E4FA8' /&gt;&#10;        &lt;text x='285' y='186' textAnchor='middle' fill='#FFFFFF' fontSize='18' fontWeight='bold'&gt;VendingMachine&lt;/text&gt;&#10;        &lt;text x='285' y='214' textAnchor='middle' fill='#B9CDF0' fontSize='13'&gt;location, stock&lt;/text&gt;&#10;        &lt;rect x='20' y='150' width='120' height='70' rx='10' fill='#E8EFF8' stroke='#3D7BD9' strokeWidth='2' /&gt;&#10;        &lt;text x='80' y='182' textAnchor='middle' fill='#0E3F8C' fontSize='17' fontWeight='bold'&gt;Product&lt;/text&gt;&#10;        &lt;text x='80' y='204' textAnchor='middle' fill='#8B97A8' fontSize='12'&gt;name, price&lt;/text&gt;&#10;        &lt;rect x='215' y='28' width='140' height='70' rx='10' fill='#E8EFF8' stroke='#3D7BD9' strokeWidth='2' /&gt;&#10;        &lt;text x='285' y='60' textAnchor='middle' fill='#0E3F8C' fontSize='17' fontWeight='bold'&gt;Coin&lt;/text&gt;&#10;        &lt;text x='285' y='82' textAnchor='middle' fill='#8B97A8' fontSize='12'&gt;value&lt;/text&gt;&#10;        &lt;rect x='420' y='150' width='120' height='70' rx='10' fill='#E8EFF8' stroke='#3D7BD9' strokeWidth='2' /&gt;&#10;        &lt;text x='480' y='182' textAnchor='middle' fill='#0E3F8C' fontSize='17' fontWeight='bold'&gt;Transaction&lt;/text&gt;&#10;        &lt;text x='480' y='204' textAnchor='middle' fill='#8B97A8' fontSize='12'&gt;time, change&lt;/text&gt;&#10;        &lt;line x1='140' y1='185' x2='210' y2='185' stroke='#3D7BD9' strokeWidth='2' /&gt;&#10;        &lt;text x='175' y='176' textAnchor='middle' fill='#3D7BD9' fontSize='13'&gt;0..*&lt;/text&gt;&#10;        &lt;text x='175' y='205' textAnchor='middle' fill='#8B97A8' fontSize='13'&gt;stocks&lt;/text&gt;&#10;        &lt;line x1='285' y1='98' x2='285' y2='150' stroke='#3D7BD9' strokeWidth='2' /&gt;&#10;        &lt;text x='300' y='128' textAnchor='middle' fill='#8B97A8' fontSize='13'&gt;accepts&lt;/text&gt;&#10;        &lt;line x1='360' y1='195' x2='420' y2='195' stroke='#3D7BD9' strokeWidth='2' /&gt;&#10;        &lt;text x='390' y='186' textAnchor='middle' fill='#3D7BD9' fontSize='13'&gt;1..*&lt;/text&gt;&#10;        &lt;text x='390' y='215' textAnchor='middle' fill='#8B97A8' fontSize='13'&gt;records&lt;/text&gt;&#10;        &lt;text x='285' y='330' textAnchor='middle' fill='#8B97A8' fontSize='15'&gt;A domain model: concepts + relationships, no code.&lt;/text&gt;&#10;      &lt;/svg&gt;&#10;    &lt;/Box&gt;&#10;    &lt;Box style={{ flex: 2, flexDirection: 'column', gap: 14, justifyContent: 'center' }}&gt;&#10;      &lt;Text style={{ fontSize: 19, fontWeight: 'bold', color: '#0E3F8C', lineHeight: 1.35 }}&gt;How to read it — three questions&lt;/Text&gt;&#10;      {[&#10;        ['1 · What concepts exist?', 'VendingMachine, Product, Coin, Transaction — each is a box.'],&#10;        ['2 · How are they related?', 'The lines and the numbers (1, 0..*) tell you who holds what.'],&#10;        ['3 · What does each hold?', 'The attributes — location, price, value — are what we must remember.'],&#10;      ].map(([t, d]) =&gt; (&#10;        &lt;Box key={t} style={{ flexDirection: 'row', gap: 12, alignItems: 'flex-start' }}&gt;&#10;          &lt;FAIcon name='search' style={{ fill: '#1E4FA8', width: 20, height: 20 }} /&gt;&#10;          &lt;Box style={{ flexDirection: 'column', gap: 3 }}&gt;&#10;            &lt;Text style={{ fontSize: 16, fontWeight: 'bold', color: '#1A2230' }}&gt;{t}&lt;/Text&gt;&#10;            &lt;Text style={{ fontSize: 14, color: '#4A5568', lineHeight: 1.5 }}&gt;{d}&lt;/Text&gt;&#10;          &lt;/Box&gt;&#10;        &lt;/Box&gt;&#10;      ))}&#10;      &lt;Box style={{ padding: '12px 16px', background: '#F7F9FC', borderRadius: 8, border: '1px solid #E5E7EB' }}&gt;&#10;        &lt;Text style={{ fontSize: 14, color: '#4A5568', lineHeight: 1.5 }}&gt;&lt;span style={{ fontWeight: 'bold', color: '#1A2230' }}&gt;Notice:&lt;/span&gt; no methods, no if-else, no &quot;how&quot;. Analysis answers &lt;span style={{ fontWeight: 'bold' }}&gt;what&lt;/span&gt;, not how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1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3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34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35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436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Guided Demo — The Vending Machine (Analysis)</a:t>
            </a:r>
            <a:endParaRPr/>
          </a:p>
        </p:txBody>
      </p:sp>
      <p:pic>
        <p:nvPicPr>
          <p:cNvPr id="43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076450"/>
            <a:ext cx="5334000" cy="3810000"/>
          </a:xfrm>
          <a:prstGeom prst="rect">
            <a:avLst/>
          </a:prstGeom>
          <a:ln/>
        </p:spPr>
      </p:pic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7343775" y="2505075"/>
            <a:ext cx="4467225" cy="2952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How to read it — three questions</a:t>
            </a:r>
            <a:endParaRPr/>
          </a:p>
        </p:txBody>
      </p:sp>
      <p:pic>
        <p:nvPicPr>
          <p:cNvPr id="43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2933700"/>
            <a:ext cx="190500" cy="190500"/>
          </a:xfrm>
          <a:prstGeom prst="rect">
            <a:avLst/>
          </a:prstGeom>
          <a:ln/>
        </p:spPr>
      </p:pic>
      <p:sp>
        <p:nvSpPr>
          <p:cNvPr id="440" name="" descr="{&quot;isTemplate&quot;:true,&quot;type&quot;:&quot;text&quot;}"/>
          <p:cNvSpPr txBox="1"/>
          <p:nvPr/>
        </p:nvSpPr>
        <p:spPr>
          <a:xfrm rot="0" flipH="0" flipV="0">
            <a:off x="7648575" y="2933700"/>
            <a:ext cx="36671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1 · What concepts exist?</a:t>
            </a:r>
            <a:endParaRPr/>
          </a:p>
        </p:txBody>
      </p:sp>
      <p:sp>
        <p:nvSpPr>
          <p:cNvPr id="441" name="" descr="{&quot;isTemplate&quot;:true,&quot;type&quot;:&quot;text&quot;}"/>
          <p:cNvSpPr txBox="1"/>
          <p:nvPr/>
        </p:nvSpPr>
        <p:spPr>
          <a:xfrm rot="0" flipH="0" flipV="0">
            <a:off x="7648575" y="3152775"/>
            <a:ext cx="366712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VendingMachine, Product, Coin, Transaction — each is a box.</a:t>
            </a:r>
            <a:endParaRPr/>
          </a:p>
        </p:txBody>
      </p:sp>
      <p:pic>
        <p:nvPicPr>
          <p:cNvPr id="44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3533775"/>
            <a:ext cx="190500" cy="190500"/>
          </a:xfrm>
          <a:prstGeom prst="rect">
            <a:avLst/>
          </a:prstGeom>
          <a:ln/>
        </p:spPr>
      </p:pic>
      <p:sp>
        <p:nvSpPr>
          <p:cNvPr id="443" name="" descr="{&quot;isTemplate&quot;:true,&quot;type&quot;:&quot;text&quot;}"/>
          <p:cNvSpPr txBox="1"/>
          <p:nvPr/>
        </p:nvSpPr>
        <p:spPr>
          <a:xfrm rot="0" flipH="0" flipV="0">
            <a:off x="7648575" y="3533775"/>
            <a:ext cx="3514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2 · How are they related?</a:t>
            </a:r>
            <a:endParaRPr/>
          </a:p>
        </p:txBody>
      </p:sp>
      <p:sp>
        <p:nvSpPr>
          <p:cNvPr id="444" name="" descr="{&quot;isTemplate&quot;:true,&quot;type&quot;:&quot;text&quot;}"/>
          <p:cNvSpPr txBox="1"/>
          <p:nvPr/>
        </p:nvSpPr>
        <p:spPr>
          <a:xfrm rot="0" flipH="0" flipV="0">
            <a:off x="7648575" y="3752850"/>
            <a:ext cx="351472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The lines and the numbers (1, 0..*) tell you who holds what.</a:t>
            </a:r>
            <a:endParaRPr/>
          </a:p>
        </p:txBody>
      </p:sp>
      <p:pic>
        <p:nvPicPr>
          <p:cNvPr id="44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4133850"/>
            <a:ext cx="190500" cy="190500"/>
          </a:xfrm>
          <a:prstGeom prst="rect">
            <a:avLst/>
          </a:prstGeom>
          <a:ln/>
        </p:spPr>
      </p:pic>
      <p:sp>
        <p:nvSpPr>
          <p:cNvPr id="446" name="" descr="{&quot;isTemplate&quot;:true,&quot;type&quot;:&quot;text&quot;}"/>
          <p:cNvSpPr txBox="1"/>
          <p:nvPr/>
        </p:nvSpPr>
        <p:spPr>
          <a:xfrm rot="0" flipH="0" flipV="0">
            <a:off x="7648575" y="4133850"/>
            <a:ext cx="4162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3 · What does each hold?</a:t>
            </a:r>
            <a:endParaRPr/>
          </a:p>
        </p:txBody>
      </p:sp>
      <p:sp>
        <p:nvSpPr>
          <p:cNvPr id="447" name="" descr="{&quot;isTemplate&quot;:true,&quot;type&quot;:&quot;text&quot;}"/>
          <p:cNvSpPr txBox="1"/>
          <p:nvPr/>
        </p:nvSpPr>
        <p:spPr>
          <a:xfrm rot="0" flipH="0" flipV="0">
            <a:off x="7648575" y="4352925"/>
            <a:ext cx="416242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The attributes — location, price, value — are what we must remember.</a:t>
            </a:r>
            <a:endParaRPr/>
          </a:p>
        </p:txBody>
      </p:sp>
      <p:sp>
        <p:nvSpPr>
          <p:cNvPr id="448" name=""/>
          <p:cNvSpPr/>
          <p:nvPr/>
        </p:nvSpPr>
        <p:spPr>
          <a:xfrm rot="0" flipH="0" flipV="0">
            <a:off x="7343775" y="4733925"/>
            <a:ext cx="4467225" cy="714375"/>
          </a:xfrm>
          <a:prstGeom prst="roundRect">
            <a:avLst>
              <a:gd name="adj" fmla="val 10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49" name="" descr="{&quot;isTemplate&quot;:true,&quot;type&quot;:&quot;text&quot;}"/>
          <p:cNvSpPr txBox="1"/>
          <p:nvPr/>
        </p:nvSpPr>
        <p:spPr>
          <a:xfrm rot="0" flipH="0" flipV="0">
            <a:off x="7496175" y="4848225"/>
            <a:ext cx="416242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 b="1">
                <a:solidFill>
                  <a:srgbClr val="1A2230"/>
                </a:solidFill>
                <a:latin typeface="Microsoft YaHei"/>
                <a:ea typeface="Microsoft YaHei"/>
              </a:rPr>
              <a:t>Notice: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no methods, no if-else, no "how". Analysis answers </a:t>
            </a:r>
            <a:r>
              <a:rPr lang="en-US" sz="1050" b="1">
                <a:solidFill>
                  <a:srgbClr val="4A5568"/>
                </a:solidFill>
                <a:latin typeface="Microsoft YaHei"/>
                <a:ea typeface="Microsoft YaHei"/>
              </a:rPr>
              <a:t>what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, not how.</a:t>
            </a:r>
            <a:endParaRPr/>
          </a:p>
        </p:txBody>
      </p:sp>
      <p:sp>
        <p:nvSpPr>
          <p:cNvPr id="450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451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31 / 38</a:t>
            </a:r>
            <a:endParaRPr/>
          </a:p>
        </p:txBody>
      </p:sp>
    </p:spTree>
  </p:cSld>
</p:sld>
</file>

<file path=ppt/slides/slide32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45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INTRODUCTION&lt;/Text&gt;&#10;  &lt;/Box&gt;&#10;  &lt;Box style={{ padding: '24px 40px 0 40px' }}&gt;&#10;    &lt;Text style={{ fontSize: 34, fontWeight: 'bold', color: '#0E3F8C' }}&gt;Guided Demo — From Analysis to Design&lt;/Text&gt;&#10;  &lt;/Box&gt;&#10;  &lt;Box style={{ flex: 1, padding: '18px 40px 0 40px', flexDirection: 'row', gap: 28 }}&gt;&#10;    &lt;Box style={{ flex: 3, justifyContent: 'center', alignItems: 'center' }}&gt;&#10;      &lt;svg width={560} height={400} viewBox='0 0 560 400'&gt;&#10;        &lt;rect x='200' y='90' width='170' height='100' rx='10' fill='#1E4FA8' /&gt;&#10;        &lt;text x='285' y='122' textAnchor='middle' fill='#FFFFFF' fontSize='17' fontWeight='bold'&gt;VendingMachine&lt;/text&gt;&#10;        &lt;text x='285' y='146' textAnchor='middle' fill='#B9CDF0' fontSize='13'&gt;- stock: Map&lt;/text&gt;&#10;        &lt;text x='285' y='168' textAnchor='middle' fill='#B9CDF0' fontSize='13'&gt;+ sellProduct()&lt;/text&gt;&#10;        &lt;rect x='30' y='280' width='150' height='60' rx='10' fill='#E8EFF8' stroke='#3D7BD9' strokeWidth='2' /&gt;&#10;        &lt;text x='105' y='306' textAnchor='middle' fill='#0E3F8C' fontSize='15' fontWeight='bold'&gt;«interface»&lt;/text&gt;&#10;        &lt;text x='105' y='326' textAnchor='middle' fill='#0E3F8C' fontSize='15' fontWeight='bold'&gt;Payment&lt;/text&gt;&#10;        &lt;rect x='260' y='300' width='140' height='70' rx='10' fill='#E8EFF8' stroke='#3D7BD9' strokeWidth='2' /&gt;&#10;        &lt;text x='330' y='326' textAnchor='middle' fill='#0E3F8C' fontSize='15' fontWeight='bold'&gt;CardPayment&lt;/text&gt;&#10;        &lt;text x='330' y='348' textAnchor='middle' fill='#8B97A8' fontSize='12'&gt;+ pay()&lt;/text&gt;&#10;        &lt;rect x='420' y='300' width='130' height='70' rx='10' fill='#E8EFF8' stroke='#3D7BD9' strokeWidth='2' /&gt;&#10;        &lt;text x='485' y='326' textAnchor='middle' fill='#0E3F8C' fontSize='15' fontWeight='bold'&gt;CashPayment&lt;/text&gt;&#10;        &lt;text x='485' y='348' textAnchor='middle' fill='#8B97A8' fontSize='12'&gt;+ pay()&lt;/text&gt;&#10;        &lt;line x1='285' y1='190' x2='150' y2='280' stroke='#3D7BD9' strokeWidth='2' strokeDasharray='6 4' /&gt;&#10;        &lt;polygon points='150,278 160,290 158,276' fill='#3D7BD9' /&gt;&#10;        &lt;line x1='160' y1='310' x2='260' y2='318' stroke='#3D7BD9' strokeWidth='2' /&gt;&#10;        &lt;polygon points='258,312 268,319 258,324' fill='#3D7BD9' /&gt;&#10;        &lt;line x1='160' y1='330' x2='420' y2='322' stroke='#3D7BD9' strokeWidth='2' /&gt;&#10;        &lt;polygon points='418,316 428,322 418,328' fill='#3D7BD9' /&gt;&#10;        &lt;text x='200' y='262' textAnchor='middle' fill='#8B97A8' fontSize='14'&gt;depends on (dashed arrow)&lt;/text&gt;&#10;        &lt;text x='340' y='388' textAnchor='middle' fill='#8B97A8' fontSize='14'&gt;Same concepts — now with methods, interfaces, responsibilities.&lt;/text&gt;&#10;      &lt;/svg&gt;&#10;    &lt;/Box&gt;&#10;    &lt;Box style={{ flex: 2, flexDirection: 'column', gap: 14, justifyContent: 'center' }}&gt;&#10;      &lt;Text style={{ fontSize: 19, fontWeight: 'bold', color: '#0E3F8C', lineHeight: 1.35 }}&gt;What changed in the jump&lt;/Text&gt;&#10;      {[&#10;        ['Methods appeared', 'Concepts now have behaviour — sellProduct(), pay().'],&#10;        ['An interface appeared', 'Payment hides &quot;card vs. cash&quot; behind one contract — that is a pattern in the making.'],&#10;        ['Responsibility moved', 'Each class knows its own job; nothing does everything.'],&#10;      ].map(([t, d]) =&gt; (&#10;        &lt;Box key={t} style={{ flexDirection: 'row', gap: 12, alignItems: 'flex-start' }}&gt;&#10;          &lt;FAIcon name='arrow-right' style={{ fill: '#1E4FA8', width: 18, height: 18 }} /&gt;&#10;          &lt;Box style={{ flexDirection: 'column', gap: 3 }}&gt;&#10;            &lt;Text style={{ fontSize: 16, fontWeight: 'bold', color: '#1A2230' }}&gt;{t}&lt;/Text&gt;&#10;            &lt;Text style={{ fontSize: 14, color: '#4A5568', lineHeight: 1.5 }}&gt;{d}&lt;/Text&gt;&#10;          &lt;/Box&gt;&#10;        &lt;/Box&gt;&#10;      ))}&#10;      &lt;Box style={{ padding: '12px 16px', background: '#F7F9FC', borderRadius: 8, border: '1px solid #E5E7EB' }}&gt;&#10;        &lt;Text style={{ fontSize: 14, color: '#4A5568', lineHeight: 1.5 }}&gt;&lt;span style={{ fontWeight: 'bold', color: '#1A2230' }}&gt;The whole course&lt;/span&gt; is this jump — done carefully, with principles and patterns.&lt;/Text&gt;&#10;      &lt;/Box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2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5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5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56" name="" descr="{&quot;isTemplate&quot;:true,&quot;type&quot;:&quot;text&quot;}"/>
          <p:cNvSpPr txBox="1"/>
          <p:nvPr/>
        </p:nvSpPr>
        <p:spPr>
          <a:xfrm rot="0" flipH="0" flipV="0">
            <a:off x="10287000" y="257175"/>
            <a:ext cx="1524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INTRODUCTION</a:t>
            </a:r>
            <a:endParaRPr/>
          </a:p>
        </p:txBody>
      </p:sp>
      <p:sp>
        <p:nvSpPr>
          <p:cNvPr id="457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Guided Demo — From Analysis to Design</a:t>
            </a:r>
            <a:endParaRPr/>
          </a:p>
        </p:txBody>
      </p:sp>
      <p:pic>
        <p:nvPicPr>
          <p:cNvPr id="45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066800" y="2076450"/>
            <a:ext cx="5334000" cy="3810000"/>
          </a:xfrm>
          <a:prstGeom prst="rect">
            <a:avLst/>
          </a:prstGeom>
          <a:ln/>
        </p:spPr>
      </p:pic>
      <p:sp>
        <p:nvSpPr>
          <p:cNvPr id="459" name="" descr="{&quot;isTemplate&quot;:true,&quot;type&quot;:&quot;text&quot;}"/>
          <p:cNvSpPr txBox="1"/>
          <p:nvPr/>
        </p:nvSpPr>
        <p:spPr>
          <a:xfrm rot="0" flipH="0" flipV="0">
            <a:off x="7343775" y="2390775"/>
            <a:ext cx="4467225" cy="2952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>What changed in the jump</a:t>
            </a:r>
            <a:endParaRPr/>
          </a:p>
        </p:txBody>
      </p:sp>
      <p:pic>
        <p:nvPicPr>
          <p:cNvPr id="46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2819400"/>
            <a:ext cx="171450" cy="171450"/>
          </a:xfrm>
          <a:prstGeom prst="rect">
            <a:avLst/>
          </a:prstGeom>
          <a:ln/>
        </p:spPr>
      </p:pic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7629525" y="2819400"/>
            <a:ext cx="3171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Methods appeared</a:t>
            </a:r>
            <a:endParaRPr/>
          </a:p>
        </p:txBody>
      </p:sp>
      <p:sp>
        <p:nvSpPr>
          <p:cNvPr id="462" name="" descr="{&quot;isTemplate&quot;:true,&quot;type&quot;:&quot;text&quot;}"/>
          <p:cNvSpPr txBox="1"/>
          <p:nvPr/>
        </p:nvSpPr>
        <p:spPr>
          <a:xfrm rot="0" flipH="0" flipV="0">
            <a:off x="7629525" y="3038475"/>
            <a:ext cx="317182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Concepts now have behaviour — sellProduct(), pay().</a:t>
            </a:r>
            <a:endParaRPr/>
          </a:p>
        </p:txBody>
      </p:sp>
      <p:pic>
        <p:nvPicPr>
          <p:cNvPr id="46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3419475"/>
            <a:ext cx="171450" cy="171450"/>
          </a:xfrm>
          <a:prstGeom prst="rect">
            <a:avLst/>
          </a:prstGeom>
          <a:ln/>
        </p:spPr>
      </p:pic>
      <p:sp>
        <p:nvSpPr>
          <p:cNvPr id="464" name="" descr="{&quot;isTemplate&quot;:true,&quot;type&quot;:&quot;text&quot;}"/>
          <p:cNvSpPr txBox="1"/>
          <p:nvPr/>
        </p:nvSpPr>
        <p:spPr>
          <a:xfrm rot="0" flipH="0" flipV="0">
            <a:off x="7620000" y="3419475"/>
            <a:ext cx="4191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An interface appeared</a:t>
            </a:r>
            <a:endParaRPr/>
          </a:p>
        </p:txBody>
      </p:sp>
      <p:sp>
        <p:nvSpPr>
          <p:cNvPr id="465" name="" descr="{&quot;isTemplate&quot;:true,&quot;type&quot;:&quot;text&quot;}"/>
          <p:cNvSpPr txBox="1"/>
          <p:nvPr/>
        </p:nvSpPr>
        <p:spPr>
          <a:xfrm rot="0" flipH="0" flipV="0">
            <a:off x="7620000" y="3638550"/>
            <a:ext cx="41910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Payment hides "card vs. cash" behind one contract — that is a pattern in the making.</a:t>
            </a:r>
            <a:endParaRPr/>
          </a:p>
        </p:txBody>
      </p:sp>
      <p:pic>
        <p:nvPicPr>
          <p:cNvPr id="46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343775" y="4257675"/>
            <a:ext cx="171450" cy="171450"/>
          </a:xfrm>
          <a:prstGeom prst="rect">
            <a:avLst/>
          </a:prstGeom>
          <a:ln/>
        </p:spPr>
      </p:pic>
      <p:sp>
        <p:nvSpPr>
          <p:cNvPr id="467" name="" descr="{&quot;isTemplate&quot;:true,&quot;type&quot;:&quot;text&quot;}"/>
          <p:cNvSpPr txBox="1"/>
          <p:nvPr/>
        </p:nvSpPr>
        <p:spPr>
          <a:xfrm rot="0" flipH="0" flipV="0">
            <a:off x="7629525" y="4257675"/>
            <a:ext cx="32575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1A2230"/>
                </a:solidFill>
                <a:latin typeface="Microsoft YaHei"/>
                <a:ea typeface="Microsoft YaHei"/>
              </a:rPr>
              <a:t>Responsibility moved</a:t>
            </a:r>
            <a:endParaRPr/>
          </a:p>
        </p:txBody>
      </p:sp>
      <p:sp>
        <p:nvSpPr>
          <p:cNvPr id="468" name="" descr="{&quot;isTemplate&quot;:true,&quot;type&quot;:&quot;text&quot;}"/>
          <p:cNvSpPr txBox="1"/>
          <p:nvPr/>
        </p:nvSpPr>
        <p:spPr>
          <a:xfrm rot="0" flipH="0" flipV="0">
            <a:off x="7629525" y="4476750"/>
            <a:ext cx="32575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Each class knows its own job; nothing does everything.</a:t>
            </a:r>
            <a:endParaRPr/>
          </a:p>
        </p:txBody>
      </p:sp>
      <p:sp>
        <p:nvSpPr>
          <p:cNvPr id="469" name=""/>
          <p:cNvSpPr/>
          <p:nvPr/>
        </p:nvSpPr>
        <p:spPr>
          <a:xfrm rot="0" flipH="0" flipV="0">
            <a:off x="7343775" y="4857750"/>
            <a:ext cx="4467225" cy="714375"/>
          </a:xfrm>
          <a:prstGeom prst="roundRect">
            <a:avLst>
              <a:gd name="adj" fmla="val 1066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70" name="" descr="{&quot;isTemplate&quot;:true,&quot;type&quot;:&quot;text&quot;}"/>
          <p:cNvSpPr txBox="1"/>
          <p:nvPr/>
        </p:nvSpPr>
        <p:spPr>
          <a:xfrm rot="0" flipH="0" flipV="0">
            <a:off x="7496175" y="4972050"/>
            <a:ext cx="416242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 b="1">
                <a:solidFill>
                  <a:srgbClr val="1A2230"/>
                </a:solidFill>
                <a:latin typeface="Microsoft YaHei"/>
                <a:ea typeface="Microsoft YaHei"/>
              </a:rPr>
              <a:t>The whole course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 is this jump — done carefully, with principles and patterns.</a:t>
            </a:r>
            <a:endParaRPr/>
          </a:p>
        </p:txBody>
      </p:sp>
      <p:sp>
        <p:nvSpPr>
          <p:cNvPr id="47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472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32 / 38</a:t>
            </a:r>
            <a:endParaRPr/>
          </a:p>
        </p:txBody>
      </p:sp>
    </p:spTree>
  </p:cSld>
</p:sld>
</file>

<file path=ppt/slides/slide33.xml><?xml version="1.0" encoding="utf-8"?>
<p:sld xmlns:a="http://schemas.openxmlformats.org/drawingml/2006/main" xmlns:p="http://schemas.openxmlformats.org/presentationml/2006/main">
  <p:cSld>
    <p:spTree>
      <p:nvGrpSpPr>
        <p:cNvPr id="473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LAB&lt;/Text&gt;&#10;  &lt;/Box&gt;&#10;  &lt;Box style={{ padding: '24px 40px 0 40px' }}&gt;&#10;    &lt;Text style={{ fontSize: 34, fontWeight: 'bold', color: '#0E3F8C' }}&gt;Exercise 1.1 — Analysis or Design?&lt;/Text&gt;&#10;  &lt;/Box&gt;&#10;  &lt;Box style={{ flex: 1, padding: '18px 40px 0 40px', flexDirection: 'row', gap: 28 }}&gt;&#10;    &lt;Box style={{ width: 320, padding: '28px 24px', background: '#0E3F8C', borderRadius: 12, flexDirection: 'column', justifyContent: 'center', gap: 12 }}&gt;&#10;      &lt;Text style={{ fontSize: 22, fontWeight: 'bold', color: '#FFFFFF' }}&gt;Your task&lt;/Text&gt;&#10;      &lt;Text style={{ fontSize: 16, color: '#C5D4EA', lineHeight: 1.55 }}&gt;For each statement, decide: is it an &lt;span style={{ fontWeight: 'bold', color: '#FFC107' }}&gt;analysis&lt;/span&gt; concern (what) or a &lt;span style={{ fontWeight: 'bold', color: '#FFC107' }}&gt;design&lt;/span&gt; concern (how)? Justify in one sentence.&lt;/Text&gt;&#10;      &lt;Box style={{ padding: '12px 16px', background: '#1E4FA8', borderRadius: 8 }}&gt;&#10;        &lt;Text style={{ fontSize: 14, color: '#B9CDF0', lineHeight: 1.5 }}&gt;Rule of thumb: does it talk about the problem, or the solution?&lt;/Text&gt;&#10;      &lt;/Box&gt;&#10;    &lt;/Box&gt;&#10;    &lt;Box style={{ flex: 1, flexDirection: 'column', gap: 12, justifyContent: 'center' }}&gt;&#10;      {[&#10;        'A customer can pay by card or by cash.',&#10;        'We should use the Strategy pattern for payment.',&#10;        'An order has a status that changes over time.',&#10;        'The Order class should expose a cancel() method.',&#10;        'The system must notify the courier when an order is ready.',&#10;      ].map((s, i) =&gt; (&#10;        &lt;Box key={i} style={{ flexDirection: 'row', gap: 14, alignItems: 'center', padding: '13px 18px', background: '#F7F9FC', borderRadius: 10, border: '1px solid #E5E7EB' }}&gt;&#10;          &lt;Box style={{ width: 30, height: 30, borderRadius: 15, background: '#1E4FA8', justifyContent: 'center', alignItems: 'center' }}&gt;&#10;            &lt;Text style={{ fontSize: 15, fontWeight: 'bold', color: '#FFFFFF' }}&gt;{i + 1}&lt;/Text&gt;&#10;          &lt;/Box&gt;&#10;          &lt;Text style={{ flex: 1, fontSize: 16, color: '#1A2230' }}&gt;{s}&lt;/Text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Answers discussed in class.&lt;/Text&gt;&#10;    &lt;Text style={{ fontSize: 14, color: '#1E4FA8', fontWeight: 'bold' }}&gt;33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5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76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477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LAB</a:t>
            </a:r>
            <a:endParaRPr/>
          </a:p>
        </p:txBody>
      </p:sp>
      <p:sp>
        <p:nvSpPr>
          <p:cNvPr id="478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Exercise 1.1 — Analysis or Design?</a:t>
            </a:r>
            <a:endParaRPr/>
          </a:p>
        </p:txBody>
      </p:sp>
      <p:sp>
        <p:nvSpPr>
          <p:cNvPr id="479" name=""/>
          <p:cNvSpPr/>
          <p:nvPr/>
        </p:nvSpPr>
        <p:spPr>
          <a:xfrm rot="0" flipH="0" flipV="0">
            <a:off x="381000" y="1476375"/>
            <a:ext cx="3048000" cy="5000625"/>
          </a:xfrm>
          <a:prstGeom prst="roundRect">
            <a:avLst>
              <a:gd name="adj" fmla="val 375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80" name="" descr="{&quot;isTemplate&quot;:true,&quot;type&quot;:&quot;text&quot;}"/>
          <p:cNvSpPr txBox="1"/>
          <p:nvPr/>
        </p:nvSpPr>
        <p:spPr>
          <a:xfrm rot="0" flipH="0" flipV="0">
            <a:off x="609600" y="2809875"/>
            <a:ext cx="25908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Your task</a:t>
            </a:r>
            <a:endParaRPr/>
          </a:p>
        </p:txBody>
      </p:sp>
      <p:sp>
        <p:nvSpPr>
          <p:cNvPr id="481" name="" descr="{&quot;isTemplate&quot;:true,&quot;type&quot;:&quot;text&quot;}"/>
          <p:cNvSpPr txBox="1"/>
          <p:nvPr/>
        </p:nvSpPr>
        <p:spPr>
          <a:xfrm rot="0" flipH="0" flipV="0">
            <a:off x="609600" y="3181350"/>
            <a:ext cx="2590800" cy="1143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For each statement, decide: is it an </a:t>
            </a:r>
            <a:r>
              <a:rPr lang="en-US" sz="1200" b="1">
                <a:solidFill>
                  <a:srgbClr val="FFC107"/>
                </a:solidFill>
                <a:latin typeface="Microsoft YaHei"/>
                <a:ea typeface="Microsoft YaHei"/>
              </a:rPr>
              <a:t>analysis</a:t>
            </a: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 concern (what) or a </a:t>
            </a:r>
            <a:r>
              <a:rPr lang="en-US" sz="1200" b="1">
                <a:solidFill>
                  <a:srgbClr val="FFC107"/>
                </a:solidFill>
                <a:latin typeface="Microsoft YaHei"/>
                <a:ea typeface="Microsoft YaHei"/>
              </a:rPr>
              <a:t>design</a:t>
            </a: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 concern (how)? Justify in one sentence.</a:t>
            </a:r>
            <a:endParaRPr/>
          </a:p>
        </p:txBody>
      </p:sp>
      <p:sp>
        <p:nvSpPr>
          <p:cNvPr id="482" name=""/>
          <p:cNvSpPr/>
          <p:nvPr/>
        </p:nvSpPr>
        <p:spPr>
          <a:xfrm rot="0" flipH="0" flipV="0">
            <a:off x="609600" y="4438650"/>
            <a:ext cx="2590800" cy="714375"/>
          </a:xfrm>
          <a:prstGeom prst="roundRect">
            <a:avLst>
              <a:gd name="adj" fmla="val 10667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3" name="" descr="{&quot;isTemplate&quot;:true,&quot;type&quot;:&quot;text&quot;}"/>
          <p:cNvSpPr txBox="1"/>
          <p:nvPr/>
        </p:nvSpPr>
        <p:spPr>
          <a:xfrm rot="0" flipH="0" flipV="0">
            <a:off x="762000" y="4552950"/>
            <a:ext cx="22860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050">
                <a:solidFill>
                  <a:srgbClr val="B9CDF0"/>
                </a:solidFill>
                <a:latin typeface="Microsoft YaHei"/>
                <a:ea typeface="Microsoft YaHei"/>
              </a:rPr>
              <a:t>Rule of thumb: does it talk about the problem, or the solution?</a:t>
            </a:r>
            <a:endParaRPr/>
          </a:p>
        </p:txBody>
      </p:sp>
      <p:sp>
        <p:nvSpPr>
          <p:cNvPr id="484" name=""/>
          <p:cNvSpPr/>
          <p:nvPr/>
        </p:nvSpPr>
        <p:spPr>
          <a:xfrm rot="0" flipH="0" flipV="0">
            <a:off x="3695700" y="2419350"/>
            <a:ext cx="8115300" cy="533400"/>
          </a:xfrm>
          <a:prstGeom prst="roundRect">
            <a:avLst>
              <a:gd name="adj" fmla="val 1785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85" name=""/>
          <p:cNvSpPr/>
          <p:nvPr/>
        </p:nvSpPr>
        <p:spPr>
          <a:xfrm rot="0" flipH="0" flipV="0">
            <a:off x="3867150" y="25431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86" name="" descr="{&quot;isTemplate&quot;:true,&quot;type&quot;:&quot;text&quot;}"/>
          <p:cNvSpPr txBox="1"/>
          <p:nvPr/>
        </p:nvSpPr>
        <p:spPr>
          <a:xfrm rot="0" flipH="0" flipV="0">
            <a:off x="3971925" y="26003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487" name="" descr="{&quot;isTemplate&quot;:true,&quot;type&quot;:&quot;text&quot;}"/>
          <p:cNvSpPr txBox="1"/>
          <p:nvPr/>
        </p:nvSpPr>
        <p:spPr>
          <a:xfrm rot="0" flipH="0" flipV="0">
            <a:off x="4286250" y="2590800"/>
            <a:ext cx="7353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A customer can pay by card or by cash.</a:t>
            </a:r>
            <a:endParaRPr/>
          </a:p>
        </p:txBody>
      </p:sp>
      <p:sp>
        <p:nvSpPr>
          <p:cNvPr id="488" name=""/>
          <p:cNvSpPr/>
          <p:nvPr/>
        </p:nvSpPr>
        <p:spPr>
          <a:xfrm rot="0" flipH="0" flipV="0">
            <a:off x="3695700" y="3067050"/>
            <a:ext cx="8115300" cy="533400"/>
          </a:xfrm>
          <a:prstGeom prst="roundRect">
            <a:avLst>
              <a:gd name="adj" fmla="val 1785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89" name=""/>
          <p:cNvSpPr/>
          <p:nvPr/>
        </p:nvSpPr>
        <p:spPr>
          <a:xfrm rot="0" flipH="0" flipV="0">
            <a:off x="3867150" y="31908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90" name="" descr="{&quot;isTemplate&quot;:true,&quot;type&quot;:&quot;text&quot;}"/>
          <p:cNvSpPr txBox="1"/>
          <p:nvPr/>
        </p:nvSpPr>
        <p:spPr>
          <a:xfrm rot="0" flipH="0" flipV="0">
            <a:off x="3971925" y="32480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491" name="" descr="{&quot;isTemplate&quot;:true,&quot;type&quot;:&quot;text&quot;}"/>
          <p:cNvSpPr txBox="1"/>
          <p:nvPr/>
        </p:nvSpPr>
        <p:spPr>
          <a:xfrm rot="0" flipH="0" flipV="0">
            <a:off x="4286250" y="3238500"/>
            <a:ext cx="7353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We should use the Strategy pattern for payment.</a:t>
            </a:r>
            <a:endParaRPr/>
          </a:p>
        </p:txBody>
      </p:sp>
      <p:sp>
        <p:nvSpPr>
          <p:cNvPr id="492" name=""/>
          <p:cNvSpPr/>
          <p:nvPr/>
        </p:nvSpPr>
        <p:spPr>
          <a:xfrm rot="0" flipH="0" flipV="0">
            <a:off x="3695700" y="3714750"/>
            <a:ext cx="8115300" cy="533400"/>
          </a:xfrm>
          <a:prstGeom prst="roundRect">
            <a:avLst>
              <a:gd name="adj" fmla="val 1785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93" name=""/>
          <p:cNvSpPr/>
          <p:nvPr/>
        </p:nvSpPr>
        <p:spPr>
          <a:xfrm rot="0" flipH="0" flipV="0">
            <a:off x="3867150" y="38385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94" name="" descr="{&quot;isTemplate&quot;:true,&quot;type&quot;:&quot;text&quot;}"/>
          <p:cNvSpPr txBox="1"/>
          <p:nvPr/>
        </p:nvSpPr>
        <p:spPr>
          <a:xfrm rot="0" flipH="0" flipV="0">
            <a:off x="3971925" y="38957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495" name="" descr="{&quot;isTemplate&quot;:true,&quot;type&quot;:&quot;text&quot;}"/>
          <p:cNvSpPr txBox="1"/>
          <p:nvPr/>
        </p:nvSpPr>
        <p:spPr>
          <a:xfrm rot="0" flipH="0" flipV="0">
            <a:off x="4286250" y="3886200"/>
            <a:ext cx="7353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An order has a status that changes over time.</a:t>
            </a:r>
            <a:endParaRPr/>
          </a:p>
        </p:txBody>
      </p:sp>
      <p:sp>
        <p:nvSpPr>
          <p:cNvPr id="496" name=""/>
          <p:cNvSpPr/>
          <p:nvPr/>
        </p:nvSpPr>
        <p:spPr>
          <a:xfrm rot="0" flipH="0" flipV="0">
            <a:off x="3695700" y="4362450"/>
            <a:ext cx="8115300" cy="533400"/>
          </a:xfrm>
          <a:prstGeom prst="roundRect">
            <a:avLst>
              <a:gd name="adj" fmla="val 1785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497" name=""/>
          <p:cNvSpPr/>
          <p:nvPr/>
        </p:nvSpPr>
        <p:spPr>
          <a:xfrm rot="0" flipH="0" flipV="0">
            <a:off x="3867150" y="44862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98" name="" descr="{&quot;isTemplate&quot;:true,&quot;type&quot;:&quot;text&quot;}"/>
          <p:cNvSpPr txBox="1"/>
          <p:nvPr/>
        </p:nvSpPr>
        <p:spPr>
          <a:xfrm rot="0" flipH="0" flipV="0">
            <a:off x="3971925" y="45434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499" name="" descr="{&quot;isTemplate&quot;:true,&quot;type&quot;:&quot;text&quot;}"/>
          <p:cNvSpPr txBox="1"/>
          <p:nvPr/>
        </p:nvSpPr>
        <p:spPr>
          <a:xfrm rot="0" flipH="0" flipV="0">
            <a:off x="4286250" y="4533900"/>
            <a:ext cx="7353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The Order class should expose a cancel() method.</a:t>
            </a:r>
            <a:endParaRPr/>
          </a:p>
        </p:txBody>
      </p:sp>
      <p:sp>
        <p:nvSpPr>
          <p:cNvPr id="500" name=""/>
          <p:cNvSpPr/>
          <p:nvPr/>
        </p:nvSpPr>
        <p:spPr>
          <a:xfrm rot="0" flipH="0" flipV="0">
            <a:off x="3695700" y="5010150"/>
            <a:ext cx="8115300" cy="533400"/>
          </a:xfrm>
          <a:prstGeom prst="roundRect">
            <a:avLst>
              <a:gd name="adj" fmla="val 17857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01" name=""/>
          <p:cNvSpPr/>
          <p:nvPr/>
        </p:nvSpPr>
        <p:spPr>
          <a:xfrm rot="0" flipH="0" flipV="0">
            <a:off x="3867150" y="5133975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02" name="" descr="{&quot;isTemplate&quot;:true,&quot;type&quot;:&quot;text&quot;}"/>
          <p:cNvSpPr txBox="1"/>
          <p:nvPr/>
        </p:nvSpPr>
        <p:spPr>
          <a:xfrm rot="0" flipH="0" flipV="0">
            <a:off x="3971925" y="5191125"/>
            <a:ext cx="857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5</a:t>
            </a:r>
            <a:endParaRPr/>
          </a:p>
        </p:txBody>
      </p:sp>
      <p:sp>
        <p:nvSpPr>
          <p:cNvPr id="503" name="" descr="{&quot;isTemplate&quot;:true,&quot;type&quot;:&quot;text&quot;}"/>
          <p:cNvSpPr txBox="1"/>
          <p:nvPr/>
        </p:nvSpPr>
        <p:spPr>
          <a:xfrm rot="0" flipH="0" flipV="0">
            <a:off x="4286250" y="5181600"/>
            <a:ext cx="7353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The system must notify the courier when an order is ready.</a:t>
            </a:r>
            <a:endParaRPr/>
          </a:p>
        </p:txBody>
      </p:sp>
      <p:sp>
        <p:nvSpPr>
          <p:cNvPr id="504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1543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Answers discussed in class.</a:t>
            </a:r>
            <a:endParaRPr/>
          </a:p>
        </p:txBody>
      </p:sp>
      <p:sp>
        <p:nvSpPr>
          <p:cNvPr id="505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33 / 38</a:t>
            </a:r>
            <a:endParaRPr/>
          </a:p>
        </p:txBody>
      </p:sp>
    </p:spTree>
  </p:cSld>
</p:sld>
</file>

<file path=ppt/slides/slide34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0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LAB&lt;/Text&gt;&#10;  &lt;/Box&gt;&#10;  &lt;Box style={{ padding: '24px 40px 0 40px' }}&gt;&#10;    &lt;Text style={{ fontSize: 34, fontWeight: 'bold', color: '#0E3F8C' }}&gt;Exercise 1.2 — Stakeholders of CampusBites&lt;/Text&gt;&#10;  &lt;/Box&gt;&#10;  &lt;Box style={{ flex: 1, padding: '18px 40px 0 40px', flexDirection: 'row', gap: 28 }}&gt;&#10;    &lt;Box style={{ width: 320, padding: '28px 24px', background: '#0E3F8C', borderRadius: 12, flexDirection: 'column', justifyContent: 'center', gap: 12 }}&gt;&#10;      &lt;FAIcon name='users' style={{ fill: '#FFC107', width: 36, height: 36 }} /&gt;&#10;      &lt;Text style={{ fontSize: 22, fontWeight: 'bold', color: '#FFFFFF', lineHeight: 1.35 }}&gt;Who has a stake in the food-ordering platform?&lt;/Text&gt;&#10;      &lt;Text style={{ fontSize: 16, color: '#C5D4EA', lineHeight: 1.55 }}&gt;A stakeholder is anyone the system affects — or who affects it. List every group you can think of, then mark which are &lt;span style={{ fontWeight: 'bold', color: '#FFFFFF' }}&gt;users&lt;/span&gt;.&lt;/Text&gt;&#10;    &lt;/Box&gt;&#10;    &lt;Box style={{ flex: 1, flexDirection: 'column', gap: 12, justifyContent: 'center' }}&gt;&#10;      &lt;Box style={{ padding: '14px 18px', background: '#F7F9FC', borderRadius: 10, border: '1px solid #E5E7EB', flexDirection: 'row', alignItems: 'center', gap: 12 }}&gt;&#10;        &lt;FAIcon name='lightbulb' style={{ fill: '#FFC107', width: 22, height: 22 }} /&gt;&#10;        &lt;Text style={{ fontSize: 15, color: '#4A5568', lineHeight: 1.5 }}&gt;Seed the list, then go wider: who is &lt;span style={{ fontWeight: 'bold', color: '#1A2230' }}&gt;indirectly&lt;/span&gt; affected?&lt;/Text&gt;&#10;      &lt;/Box&gt;&#10;      {[&#10;        ['user', 'Students — they order food'],&#10;        ['briefcase', 'Restaurants — they receive and fulfil orders'],&#10;        ['user', 'Couriers — they deliver'],&#10;        ['cog', 'University admin — campus rules and contracts'],&#10;        ['dollar', 'Payment providers — they move the money'],&#10;      ].map(([icon, t]) =&gt; (&#10;        &lt;Box key={t} style={{ flexDirection: 'row', gap: 14, alignItems: 'center', padding: '13px 18px', background: '#F7F9FC', borderRadius: 10, border: '1px solid #E5E7EB' }}&gt;&#10;          &lt;FAIcon name={icon} style={{ fill: '#1E4FA8', width: 22, height: 22 }} /&gt;&#10;          &lt;Text style={{ flex: 1, fontSize: 16, color: '#1A2230' }}&gt;{t}&lt;/Text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This list becomes your actor list in Week 4.&lt;/Text&gt;&#10;    &lt;Text style={{ fontSize: 14, color: '#1E4FA8', fontWeight: 'bold' }}&gt;34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0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0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10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LAB</a:t>
            </a:r>
            <a:endParaRPr/>
          </a:p>
        </p:txBody>
      </p:sp>
      <p:sp>
        <p:nvSpPr>
          <p:cNvPr id="511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Exercise 1.2 — Stakeholders of CampusBites</a:t>
            </a:r>
            <a:endParaRPr/>
          </a:p>
        </p:txBody>
      </p:sp>
      <p:sp>
        <p:nvSpPr>
          <p:cNvPr id="512" name=""/>
          <p:cNvSpPr/>
          <p:nvPr/>
        </p:nvSpPr>
        <p:spPr>
          <a:xfrm rot="0" flipH="0" flipV="0">
            <a:off x="381000" y="1476375"/>
            <a:ext cx="3048000" cy="5000625"/>
          </a:xfrm>
          <a:prstGeom prst="roundRect">
            <a:avLst>
              <a:gd name="adj" fmla="val 3750"/>
            </a:avLst>
          </a:prstGeom>
          <a:solidFill>
            <a:srgbClr val="0E3F8C"/>
          </a:solidFill>
          <a:ln/>
        </p:spPr>
        <p:txBody>
          <a:bodyPr/>
          <a:p/>
        </p:txBody>
      </p:sp>
      <p:pic>
        <p:nvPicPr>
          <p:cNvPr id="51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2781300"/>
            <a:ext cx="342900" cy="342900"/>
          </a:xfrm>
          <a:prstGeom prst="rect">
            <a:avLst/>
          </a:prstGeom>
          <a:ln/>
        </p:spPr>
      </p:pic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609600" y="3238500"/>
            <a:ext cx="259080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Who has a stake in the food-ordering platform?</a:t>
            </a:r>
            <a:endParaRPr/>
          </a:p>
        </p:txBody>
      </p:sp>
      <p:sp>
        <p:nvSpPr>
          <p:cNvPr id="515" name="" descr="{&quot;isTemplate&quot;:true,&quot;type&quot;:&quot;text&quot;}"/>
          <p:cNvSpPr txBox="1"/>
          <p:nvPr/>
        </p:nvSpPr>
        <p:spPr>
          <a:xfrm rot="0" flipH="0" flipV="0">
            <a:off x="609600" y="4038600"/>
            <a:ext cx="2590800" cy="1143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A stakeholder is anyone the system affects — or who affects it. List every group you can think of, then mark which are </a:t>
            </a: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users</a:t>
            </a: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.</a:t>
            </a:r>
            <a:endParaRPr/>
          </a:p>
        </p:txBody>
      </p:sp>
      <p:sp>
        <p:nvSpPr>
          <p:cNvPr id="516" name=""/>
          <p:cNvSpPr/>
          <p:nvPr/>
        </p:nvSpPr>
        <p:spPr>
          <a:xfrm rot="0" flipH="0" flipV="0">
            <a:off x="3695700" y="2286000"/>
            <a:ext cx="8115300" cy="523875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1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67150" y="2447925"/>
            <a:ext cx="209550" cy="209550"/>
          </a:xfrm>
          <a:prstGeom prst="rect">
            <a:avLst/>
          </a:prstGeom>
          <a:ln/>
        </p:spPr>
      </p:pic>
      <p:sp>
        <p:nvSpPr>
          <p:cNvPr id="518" name="" descr="{&quot;isTemplate&quot;:true,&quot;type&quot;:&quot;text&quot;}"/>
          <p:cNvSpPr txBox="1"/>
          <p:nvPr/>
        </p:nvSpPr>
        <p:spPr>
          <a:xfrm rot="0" flipH="0" flipV="0">
            <a:off x="4191000" y="2419350"/>
            <a:ext cx="35147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Seed the list, then go wider: who is </a:t>
            </a:r>
            <a:r>
              <a:rPr lang="en-US" sz="1125" b="1">
                <a:solidFill>
                  <a:srgbClr val="1A2230"/>
                </a:solidFill>
                <a:latin typeface="Microsoft YaHei"/>
                <a:ea typeface="Microsoft YaHei"/>
              </a:rPr>
              <a:t>indirectly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 affected?</a:t>
            </a:r>
            <a:endParaRPr/>
          </a:p>
        </p:txBody>
      </p:sp>
      <p:sp>
        <p:nvSpPr>
          <p:cNvPr id="519" name=""/>
          <p:cNvSpPr/>
          <p:nvPr/>
        </p:nvSpPr>
        <p:spPr>
          <a:xfrm rot="0" flipH="0" flipV="0">
            <a:off x="3695700" y="2924175"/>
            <a:ext cx="8115300" cy="457200"/>
          </a:xfrm>
          <a:prstGeom prst="roundRect">
            <a:avLst>
              <a:gd name="adj" fmla="val 208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2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867150" y="3048000"/>
            <a:ext cx="209550" cy="209550"/>
          </a:xfrm>
          <a:prstGeom prst="rect">
            <a:avLst/>
          </a:prstGeom>
          <a:ln/>
        </p:spPr>
      </p:pic>
      <p:sp>
        <p:nvSpPr>
          <p:cNvPr id="521" name="" descr="{&quot;isTemplate&quot;:true,&quot;type&quot;:&quot;text&quot;}"/>
          <p:cNvSpPr txBox="1"/>
          <p:nvPr/>
        </p:nvSpPr>
        <p:spPr>
          <a:xfrm rot="0" flipH="0" flipV="0">
            <a:off x="4210050" y="3057525"/>
            <a:ext cx="742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Students — they order food</a:t>
            </a:r>
            <a:endParaRPr/>
          </a:p>
        </p:txBody>
      </p:sp>
      <p:sp>
        <p:nvSpPr>
          <p:cNvPr id="522" name=""/>
          <p:cNvSpPr/>
          <p:nvPr/>
        </p:nvSpPr>
        <p:spPr>
          <a:xfrm rot="0" flipH="0" flipV="0">
            <a:off x="3695700" y="3495675"/>
            <a:ext cx="8115300" cy="457200"/>
          </a:xfrm>
          <a:prstGeom prst="roundRect">
            <a:avLst>
              <a:gd name="adj" fmla="val 208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3867150" y="3619500"/>
            <a:ext cx="209550" cy="209550"/>
          </a:xfrm>
          <a:prstGeom prst="rect">
            <a:avLst/>
          </a:prstGeom>
          <a:ln/>
        </p:spPr>
      </p:pic>
      <p:sp>
        <p:nvSpPr>
          <p:cNvPr id="524" name="" descr="{&quot;isTemplate&quot;:true,&quot;type&quot;:&quot;text&quot;}"/>
          <p:cNvSpPr txBox="1"/>
          <p:nvPr/>
        </p:nvSpPr>
        <p:spPr>
          <a:xfrm rot="0" flipH="0" flipV="0">
            <a:off x="4210050" y="3629025"/>
            <a:ext cx="742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Restaurants — they receive and fulfil orders</a:t>
            </a:r>
            <a:endParaRPr/>
          </a:p>
        </p:txBody>
      </p:sp>
      <p:sp>
        <p:nvSpPr>
          <p:cNvPr id="525" name=""/>
          <p:cNvSpPr/>
          <p:nvPr/>
        </p:nvSpPr>
        <p:spPr>
          <a:xfrm rot="0" flipH="0" flipV="0">
            <a:off x="3695700" y="4067175"/>
            <a:ext cx="8115300" cy="457200"/>
          </a:xfrm>
          <a:prstGeom prst="roundRect">
            <a:avLst>
              <a:gd name="adj" fmla="val 208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2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867150" y="4191000"/>
            <a:ext cx="209550" cy="209550"/>
          </a:xfrm>
          <a:prstGeom prst="rect">
            <a:avLst/>
          </a:prstGeom>
          <a:ln/>
        </p:spPr>
      </p:pic>
      <p:sp>
        <p:nvSpPr>
          <p:cNvPr id="527" name="" descr="{&quot;isTemplate&quot;:true,&quot;type&quot;:&quot;text&quot;}"/>
          <p:cNvSpPr txBox="1"/>
          <p:nvPr/>
        </p:nvSpPr>
        <p:spPr>
          <a:xfrm rot="0" flipH="0" flipV="0">
            <a:off x="4210050" y="4200525"/>
            <a:ext cx="742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Couriers — they deliver</a:t>
            </a:r>
            <a:endParaRPr/>
          </a:p>
        </p:txBody>
      </p:sp>
      <p:sp>
        <p:nvSpPr>
          <p:cNvPr id="528" name=""/>
          <p:cNvSpPr/>
          <p:nvPr/>
        </p:nvSpPr>
        <p:spPr>
          <a:xfrm rot="0" flipH="0" flipV="0">
            <a:off x="3695700" y="4638675"/>
            <a:ext cx="8115300" cy="457200"/>
          </a:xfrm>
          <a:prstGeom prst="roundRect">
            <a:avLst>
              <a:gd name="adj" fmla="val 208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3867150" y="4762500"/>
            <a:ext cx="209550" cy="209550"/>
          </a:xfrm>
          <a:prstGeom prst="rect">
            <a:avLst/>
          </a:prstGeom>
          <a:ln/>
        </p:spPr>
      </p:pic>
      <p:sp>
        <p:nvSpPr>
          <p:cNvPr id="530" name="" descr="{&quot;isTemplate&quot;:true,&quot;type&quot;:&quot;text&quot;}"/>
          <p:cNvSpPr txBox="1"/>
          <p:nvPr/>
        </p:nvSpPr>
        <p:spPr>
          <a:xfrm rot="0" flipH="0" flipV="0">
            <a:off x="4210050" y="4772025"/>
            <a:ext cx="742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University admin — campus rules and contracts</a:t>
            </a:r>
            <a:endParaRPr/>
          </a:p>
        </p:txBody>
      </p:sp>
      <p:sp>
        <p:nvSpPr>
          <p:cNvPr id="531" name=""/>
          <p:cNvSpPr/>
          <p:nvPr/>
        </p:nvSpPr>
        <p:spPr>
          <a:xfrm rot="0" flipH="0" flipV="0">
            <a:off x="3695700" y="5210175"/>
            <a:ext cx="8115300" cy="457200"/>
          </a:xfrm>
          <a:prstGeom prst="roundRect">
            <a:avLst>
              <a:gd name="adj" fmla="val 20833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pic>
        <p:nvPicPr>
          <p:cNvPr id="53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6"/>
              </a:ext>
            </a:extLst>
          </a:blip>
          <a:stretch>
            <a:fillRect/>
          </a:stretch>
        </p:blipFill>
        <p:spPr>
          <a:xfrm rot="0" flipH="0" flipV="0">
            <a:off x="3867150" y="5334000"/>
            <a:ext cx="209550" cy="209550"/>
          </a:xfrm>
          <a:prstGeom prst="rect">
            <a:avLst/>
          </a:prstGeom>
          <a:ln/>
        </p:spPr>
      </p:pic>
      <p:sp>
        <p:nvSpPr>
          <p:cNvPr id="533" name="" descr="{&quot;isTemplate&quot;:true,&quot;type&quot;:&quot;text&quot;}"/>
          <p:cNvSpPr txBox="1"/>
          <p:nvPr/>
        </p:nvSpPr>
        <p:spPr>
          <a:xfrm rot="0" flipH="0" flipV="0">
            <a:off x="4210050" y="5343525"/>
            <a:ext cx="7429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Payment providers — they move the money</a:t>
            </a:r>
            <a:endParaRPr/>
          </a:p>
        </p:txBody>
      </p:sp>
      <p:sp>
        <p:nvSpPr>
          <p:cNvPr id="534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3526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This list becomes your actor list in Week 4.</a:t>
            </a:r>
            <a:endParaRPr/>
          </a:p>
        </p:txBody>
      </p:sp>
      <p:sp>
        <p:nvSpPr>
          <p:cNvPr id="535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34 / 38</a:t>
            </a:r>
            <a:endParaRPr/>
          </a:p>
        </p:txBody>
      </p:sp>
    </p:spTree>
  </p:cSld>
</p:sld>
</file>

<file path=ppt/slides/slide35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36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LAB&lt;/Text&gt;&#10;  &lt;/Box&gt;&#10;  &lt;Box style={{ padding: '24px 40px 0 40px' }}&gt;&#10;    &lt;Text style={{ fontSize: 34, fontWeight: 'bold', color: '#0E3F8C' }}&gt;Exercise 1.3 — Systems Around Your Campus&lt;/Text&gt;&#10;  &lt;/Box&gt;&#10;  &lt;Box style={{ flex: 1, padding: '18px 40px 0 40px', flexDirection: 'row', gap: 28 }}&gt;&#10;    &lt;Box style={{ width: 320, padding: '28px 24px', background: '#0E3F8C', borderRadius: 12, flexDirection: 'column', justifyContent: 'center', gap: 12 }}&gt;&#10;      &lt;Text style={{ fontSize: 22, fontWeight: 'bold', color: '#FFFFFF', lineHeight: 1.35 }}&gt;Which campus processes are information systems — and which are not (yet)?&lt;/Text&gt;&#10;      &lt;Text style={{ fontSize: 16, color: '#C5D4EA', lineHeight: 1.55 }}&gt;For each, check the four elements. If one is missing, it is not yet an IS.&lt;/Text&gt;&#10;    &lt;/Box&gt;&#10;    &lt;Box style={{ flex: 1, flexDirection: 'column', gap: 12, justifyContent: 'center' }}&gt;&#10;      &lt;Box style={{ padding: '14px 18px', background: '#F0F5FC', borderRadius: 10, border: '1px solid #3D7BD9', flexDirection: 'column', gap: 6 }}&gt;&#10;        &lt;Box style={{ flexDirection: 'row', alignItems: 'center', gap: 10 }}&gt;&#10;          &lt;FAIcon name='check-circle' style={{ fill: '#1E4FA8', width: 22, height: 22 }} /&gt;&#10;          &lt;Text style={{ fontSize: 17, fontWeight: 'bold', color: '#0E3F8C' }}&gt;Already information systems&lt;/Text&gt;&#10;        &lt;/Box&gt;&#10;        &lt;Text style={{ fontSize: 15, color: '#4A5568', lineHeight: 1.5 }}&gt;Course registration · library borrowing · campus card top-up · exam timetable.&lt;/Text&gt;&#10;      &lt;/Box&gt;&#10;      &lt;Box style={{ padding: '14px 18px', background: '#FDF3F3', borderRadius: 10, border: '1px solid #D9534F', flexDirection: 'column', gap: 6 }}&gt;&#10;        &lt;Box style={{ flexDirection: 'row', alignItems: 'center', gap: 10 }}&gt;&#10;          &lt;FAIcon name='times-circle' style={{ fill: '#D9534F', width: 22, height: 22 }} /&gt;&#10;          &lt;Text style={{ fontSize: 17, fontWeight: 'bold', color: '#D9534F' }}&gt;Not yet (a gap to analyse)&lt;/Text&gt;&#10;        &lt;/Box&gt;&#10;        &lt;Text style={{ fontSize: 15, color: '#4A5568', lineHeight: 1.5 }}&gt;Canteen queue · lost-and-found · study-room seat grabbing — think of one more from your own day.&lt;/Text&gt;&#10;      &lt;/Box&gt;&#10;    &lt;/Box&gt;&#10;  &lt;/Box&gt;&#10;  &lt;Box style={{ height: 40, padding: '0 40px', flexDirection: 'row', alignItems: 'center', justifyContent: 'space-between' }}&gt;&#10;    &lt;Text style={{ fontSize: 13, color: '#8B97A8' }}&gt;Every gap is a candidate system someone could build.&lt;/Text&gt;&#10;    &lt;Text style={{ fontSize: 14, color: '#1E4FA8', fontWeight: 'bold' }}&gt;35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38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39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40" name="" descr="{&quot;isTemplate&quot;:true,&quot;type&quot;:&quot;text&quot;}"/>
          <p:cNvSpPr txBox="1"/>
          <p:nvPr/>
        </p:nvSpPr>
        <p:spPr>
          <a:xfrm rot="0" flipH="0" flipV="0">
            <a:off x="11115675" y="257175"/>
            <a:ext cx="695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LAB</a:t>
            </a:r>
            <a:endParaRPr/>
          </a:p>
        </p:txBody>
      </p:sp>
      <p:sp>
        <p:nvSpPr>
          <p:cNvPr id="541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Exercise 1.3 — Systems Around Your Campus</a:t>
            </a:r>
            <a:endParaRPr/>
          </a:p>
        </p:txBody>
      </p:sp>
      <p:sp>
        <p:nvSpPr>
          <p:cNvPr id="542" name=""/>
          <p:cNvSpPr/>
          <p:nvPr/>
        </p:nvSpPr>
        <p:spPr>
          <a:xfrm rot="0" flipH="0" flipV="0">
            <a:off x="381000" y="1476375"/>
            <a:ext cx="3048000" cy="5000625"/>
          </a:xfrm>
          <a:prstGeom prst="roundRect">
            <a:avLst>
              <a:gd name="adj" fmla="val 375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43" name="" descr="{&quot;isTemplate&quot;:true,&quot;type&quot;:&quot;text&quot;}"/>
          <p:cNvSpPr txBox="1"/>
          <p:nvPr/>
        </p:nvSpPr>
        <p:spPr>
          <a:xfrm rot="0" flipH="0" flipV="0">
            <a:off x="609600" y="2952750"/>
            <a:ext cx="2590800" cy="1362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Which campus processes are information systems — and which are not (yet)?</a:t>
            </a:r>
            <a:endParaRPr/>
          </a:p>
        </p:txBody>
      </p:sp>
      <p:sp>
        <p:nvSpPr>
          <p:cNvPr id="544" name="" descr="{&quot;isTemplate&quot;:true,&quot;type&quot;:&quot;text&quot;}"/>
          <p:cNvSpPr txBox="1"/>
          <p:nvPr/>
        </p:nvSpPr>
        <p:spPr>
          <a:xfrm rot="0" flipH="0" flipV="0">
            <a:off x="609600" y="4429125"/>
            <a:ext cx="25908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For each, check the four elements. If one is missing, it is not yet an IS.</a:t>
            </a:r>
            <a:endParaRPr/>
          </a:p>
        </p:txBody>
      </p:sp>
      <p:sp>
        <p:nvSpPr>
          <p:cNvPr id="545" name=""/>
          <p:cNvSpPr/>
          <p:nvPr/>
        </p:nvSpPr>
        <p:spPr>
          <a:xfrm rot="0" flipH="0" flipV="0">
            <a:off x="3695700" y="3133725"/>
            <a:ext cx="8115300" cy="790575"/>
          </a:xfrm>
          <a:prstGeom prst="roundRect">
            <a:avLst>
              <a:gd name="adj" fmla="val 12048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pic>
        <p:nvPicPr>
          <p:cNvPr id="54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867150" y="3267075"/>
            <a:ext cx="209550" cy="209550"/>
          </a:xfrm>
          <a:prstGeom prst="rect">
            <a:avLst/>
          </a:prstGeom>
          <a:ln/>
        </p:spPr>
      </p:pic>
      <p:sp>
        <p:nvSpPr>
          <p:cNvPr id="547" name="" descr="{&quot;isTemplate&quot;:true,&quot;type&quot;:&quot;text&quot;}"/>
          <p:cNvSpPr txBox="1"/>
          <p:nvPr/>
        </p:nvSpPr>
        <p:spPr>
          <a:xfrm rot="0" flipH="0" flipV="0">
            <a:off x="4171950" y="3276600"/>
            <a:ext cx="2228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0E3F8C"/>
                </a:solidFill>
                <a:latin typeface="Microsoft YaHei"/>
                <a:ea typeface="Microsoft YaHei"/>
              </a:rPr>
              <a:t>Already information systems</a:t>
            </a:r>
            <a:endParaRPr/>
          </a:p>
        </p:txBody>
      </p:sp>
      <p:sp>
        <p:nvSpPr>
          <p:cNvPr id="548" name="" descr="{&quot;isTemplate&quot;:true,&quot;type&quot;:&quot;text&quot;}"/>
          <p:cNvSpPr txBox="1"/>
          <p:nvPr/>
        </p:nvSpPr>
        <p:spPr>
          <a:xfrm rot="0" flipH="0" flipV="0">
            <a:off x="3867150" y="3533775"/>
            <a:ext cx="77724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Course registration · library borrowing · campus card top-up · exam timetable.</a:t>
            </a:r>
            <a:endParaRPr/>
          </a:p>
        </p:txBody>
      </p:sp>
      <p:sp>
        <p:nvSpPr>
          <p:cNvPr id="549" name=""/>
          <p:cNvSpPr/>
          <p:nvPr/>
        </p:nvSpPr>
        <p:spPr>
          <a:xfrm rot="0" flipH="0" flipV="0">
            <a:off x="3695700" y="4038600"/>
            <a:ext cx="8115300" cy="790575"/>
          </a:xfrm>
          <a:prstGeom prst="roundRect">
            <a:avLst>
              <a:gd name="adj" fmla="val 12048"/>
            </a:avLst>
          </a:prstGeom>
          <a:solidFill>
            <a:srgbClr val="FDF3F3"/>
          </a:solidFill>
          <a:ln w="12700">
            <a:solidFill>
              <a:srgbClr val="D9534F"/>
            </a:solidFill>
            <a:prstDash val="solid"/>
          </a:ln>
        </p:spPr>
        <p:txBody>
          <a:bodyPr/>
          <a:p/>
        </p:txBody>
      </p:sp>
      <p:pic>
        <p:nvPicPr>
          <p:cNvPr id="55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867150" y="4171950"/>
            <a:ext cx="209550" cy="209550"/>
          </a:xfrm>
          <a:prstGeom prst="rect">
            <a:avLst/>
          </a:prstGeom>
          <a:ln/>
        </p:spPr>
      </p:pic>
      <p:sp>
        <p:nvSpPr>
          <p:cNvPr id="551" name="" descr="{&quot;isTemplate&quot;:true,&quot;type&quot;:&quot;text&quot;}"/>
          <p:cNvSpPr txBox="1"/>
          <p:nvPr/>
        </p:nvSpPr>
        <p:spPr>
          <a:xfrm rot="0" flipH="0" flipV="0">
            <a:off x="4171950" y="4181475"/>
            <a:ext cx="19621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D9534F"/>
                </a:solidFill>
                <a:latin typeface="Microsoft YaHei"/>
                <a:ea typeface="Microsoft YaHei"/>
              </a:rPr>
              <a:t>Not yet (a gap to analyse)</a:t>
            </a:r>
            <a:endParaRPr/>
          </a:p>
        </p:txBody>
      </p:sp>
      <p:sp>
        <p:nvSpPr>
          <p:cNvPr id="552" name="" descr="{&quot;isTemplate&quot;:true,&quot;type&quot;:&quot;text&quot;}"/>
          <p:cNvSpPr txBox="1"/>
          <p:nvPr/>
        </p:nvSpPr>
        <p:spPr>
          <a:xfrm rot="0" flipH="0" flipV="0">
            <a:off x="3867150" y="4438650"/>
            <a:ext cx="77724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Canteen queue · lost-and-found · study-room seat grabbing — think of one more from your own day.</a:t>
            </a:r>
            <a:endParaRPr/>
          </a:p>
        </p:txBody>
      </p:sp>
      <p:sp>
        <p:nvSpPr>
          <p:cNvPr id="55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9908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Every gap is a candidate system someone could build.</a:t>
            </a:r>
            <a:endParaRPr/>
          </a:p>
        </p:txBody>
      </p:sp>
      <p:sp>
        <p:nvSpPr>
          <p:cNvPr id="554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35 / 38</a:t>
            </a:r>
            <a:endParaRPr/>
          </a:p>
        </p:txBody>
      </p:sp>
    </p:spTree>
  </p:cSld>
</p:sld>
</file>

<file path=ppt/slides/slide36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55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HOMEWORK&lt;/Text&gt;&#10;  &lt;/Box&gt;&#10;  &lt;Box style={{ padding: '24px 40px 0 40px' }}&gt;&#10;    &lt;Text style={{ fontSize: 34, fontWeight: 'bold', color: '#0E3F8C' }}&gt;Homework for Week 1&lt;/Text&gt;&#10;  &lt;/Box&gt;&#10;  &lt;Box style={{ padding: '14px 40px 0 40px' }}&gt;&#10;    &lt;Box style={{ flexDirection: 'row', alignItems: 'center', gap: 12, padding: '12px 18px', background: '#E8EFF8', borderRadius: 10, borderLeft: '4px solid #1E4FA8' }}&gt;&#10;      &lt;FAIcon name=&quot;wrench&quot; style={{ fill: '#1E4FA8', width: 20, height: 20 }} /&gt;&#10;      &lt;Text style={{ fontSize: 16, fontWeight: 'bold', color: '#0E3F8C' }}&gt;First: set up your toolchain&lt;/Text&gt;&#10;      &lt;Text style={{ fontSize: 15, color: '#4A5568' }}&gt;draw.io · PlantUML · Git &amp;amp; GitHub · VS Code · Markdown&lt;/Text&gt;&#10;      &lt;Text style={{ fontSize: 14, color: '#1E4FA8', fontWeight: 'bold' }}&gt;Lab Guide §1&lt;/Text&gt;&#10;    &lt;/Box&gt;&#10;  &lt;/Box&gt;&#10;  &lt;Box style={{ flex: 1, padding: '16px 40px 0 40px', flexDirection: 'row', gap: 28 }}&gt;&#10;    &lt;Box style={{ width: 300, padding: '28px 24px', background: '#0E3F8C', borderRadius: 12, flexDirection: 'column', justifyContent: 'center', gap: 14 }}&gt;&#10;      &lt;Text style={{ fontSize: 22, fontWeight: 'bold', color: '#FFFFFF', lineHeight: 1.35 }}&gt;Read first, then write&lt;/Text&gt;&#10;      &lt;Text style={{ fontSize: 16, color: '#C5D4EA', lineHeight: 1.55 }}&gt;The project documents and the Lab Guide define everything that follows. Read them before the next class.&lt;/Text&gt;&#10;    &lt;/Box&gt;&#10;    &lt;Box style={{ flex: 1, flexDirection: 'column', gap: 12, justifyContent: 'center' }}&gt;&#10;      {[&#10;        ['book', 'Read the Project Guidebook', 'Milestones, submission rules, grading — handed out today.'],&#10;        ['calendar', 'Read the Deadline Schedule', 'All hard deadlines with dates. First: M0 due Fri Sep 11.'],&#10;        ['file-text', 'Read Larman Ch. 1–2', 'Skim — it frames the next two weeks.'],&#10;        ['edit', 'Write a 150-word paragraph', '&quot;One information system I use daily, and what would break if the analyst had failed.&quot;'],&#10;      ].map(([icon, t, d]) =&gt; (&#10;        &lt;Box key={t} style={{ flexDirection: 'row', gap: 14, alignItems: 'center', padding: '14px 18px', background: '#F7F9FC', borderRadius: 10, border: '1px solid #E5E7EB' }}&gt;&#10;          &lt;Box style={{ width: 44, height: 44, borderRadius: 10, background: '#E8EFF8', justifyContent: 'center', alignItems: 'center' }}&gt;&#10;            &lt;FAIcon name={icon} style={{ fill: '#1E4FA8', width: 22, height: 22 }} /&gt;&#10;          &lt;/Box&gt;&#10;          &lt;Box style={{ flexDirection: 'column', gap: 3 }}&gt;&#10;            &lt;Text style={{ fontSize: 17, fontWeight: 'bold', color: '#1A2230' }}&gt;{t}&lt;/Text&gt;&#10;            &lt;Text style={{ fontSize: 14, color: '#4A5568', lineHeight: 1.5 }}&gt;{d}&lt;/Text&gt;&#10;          &lt;/Box&gt;&#10;        &lt;/Box&gt;&#10;      ))}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6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57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58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59" name="" descr="{&quot;isTemplate&quot;:true,&quot;type&quot;:&quot;text&quot;}"/>
          <p:cNvSpPr txBox="1"/>
          <p:nvPr/>
        </p:nvSpPr>
        <p:spPr>
          <a:xfrm rot="0" flipH="0" flipV="0">
            <a:off x="10515600" y="257175"/>
            <a:ext cx="1295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HOMEWORK</a:t>
            </a:r>
            <a:endParaRPr/>
          </a:p>
        </p:txBody>
      </p:sp>
      <p:sp>
        <p:nvSpPr>
          <p:cNvPr id="560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Homework for Week 1</a:t>
            </a:r>
            <a:endParaRPr/>
          </a:p>
        </p:txBody>
      </p:sp>
      <p:sp>
        <p:nvSpPr>
          <p:cNvPr id="561" name=""/>
          <p:cNvSpPr/>
          <p:nvPr/>
        </p:nvSpPr>
        <p:spPr>
          <a:xfrm rot="0" flipH="0" flipV="0">
            <a:off x="419100" y="1438275"/>
            <a:ext cx="114300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562" name=""/>
          <p:cNvSpPr/>
          <p:nvPr/>
        </p:nvSpPr>
        <p:spPr>
          <a:xfrm rot="0" flipH="0" flipV="0">
            <a:off x="419100" y="1438275"/>
            <a:ext cx="11430000" cy="419100"/>
          </a:xfrm>
          <a:custGeom>
            <a:pathLst>
              <a:path w="1200" h="44">
                <a:moveTo>
                  <a:pt x="9" y="0"/>
                </a:moveTo>
                <a:cubicBezTo>
                  <a:pt x="6" y="0"/>
                  <a:pt x="4" y="3"/>
                  <a:pt x="4" y="6"/>
                </a:cubicBezTo>
                <a:lnTo>
                  <a:pt x="4" y="38"/>
                </a:lnTo>
                <a:cubicBezTo>
                  <a:pt x="4" y="41"/>
                  <a:pt x="6" y="43"/>
                  <a:pt x="9" y="44"/>
                </a:cubicBezTo>
                <a:cubicBezTo>
                  <a:pt x="4" y="43"/>
                  <a:pt x="0" y="39"/>
                  <a:pt x="0" y="3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56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90550" y="1552575"/>
            <a:ext cx="190500" cy="190500"/>
          </a:xfrm>
          <a:prstGeom prst="rect">
            <a:avLst/>
          </a:prstGeom>
          <a:ln/>
        </p:spPr>
      </p:pic>
      <p:sp>
        <p:nvSpPr>
          <p:cNvPr id="564" name="" descr="{&quot;isTemplate&quot;:true,&quot;type&quot;:&quot;text&quot;}"/>
          <p:cNvSpPr txBox="1"/>
          <p:nvPr/>
        </p:nvSpPr>
        <p:spPr>
          <a:xfrm rot="0" flipH="0" flipV="0">
            <a:off x="895350" y="1552575"/>
            <a:ext cx="19716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0E3F8C"/>
                </a:solidFill>
                <a:latin typeface="Microsoft YaHei"/>
                <a:ea typeface="Microsoft YaHei"/>
              </a:rPr>
              <a:t>First: set up your toolchain</a:t>
            </a:r>
            <a:endParaRPr/>
          </a:p>
        </p:txBody>
      </p:sp>
      <p:sp>
        <p:nvSpPr>
          <p:cNvPr id="565" name="" descr="{&quot;isTemplate&quot;:true,&quot;type&quot;:&quot;text&quot;}"/>
          <p:cNvSpPr txBox="1"/>
          <p:nvPr/>
        </p:nvSpPr>
        <p:spPr>
          <a:xfrm rot="0" flipH="0" flipV="0">
            <a:off x="2981325" y="1562100"/>
            <a:ext cx="3629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draw.io · PlantUML · Git &amp; GitHub · VS Code · Markdown</a:t>
            </a:r>
            <a:endParaRPr/>
          </a:p>
        </p:txBody>
      </p:sp>
      <p:sp>
        <p:nvSpPr>
          <p:cNvPr id="566" name="" descr="{&quot;isTemplate&quot;:true,&quot;type&quot;:&quot;text&quot;}"/>
          <p:cNvSpPr txBox="1"/>
          <p:nvPr/>
        </p:nvSpPr>
        <p:spPr>
          <a:xfrm rot="0" flipH="0" flipV="0">
            <a:off x="6724650" y="1571625"/>
            <a:ext cx="838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Lab Guide §1</a:t>
            </a:r>
            <a:endParaRPr/>
          </a:p>
        </p:txBody>
      </p:sp>
      <p:sp>
        <p:nvSpPr>
          <p:cNvPr id="567" name=""/>
          <p:cNvSpPr/>
          <p:nvPr/>
        </p:nvSpPr>
        <p:spPr>
          <a:xfrm rot="0" flipH="0" flipV="0">
            <a:off x="381000" y="2009775"/>
            <a:ext cx="2857500" cy="4467225"/>
          </a:xfrm>
          <a:prstGeom prst="roundRect">
            <a:avLst>
              <a:gd name="adj" fmla="val 4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68" name="" descr="{&quot;isTemplate&quot;:true,&quot;type&quot;:&quot;text&quot;}"/>
          <p:cNvSpPr txBox="1"/>
          <p:nvPr/>
        </p:nvSpPr>
        <p:spPr>
          <a:xfrm rot="0" flipH="0" flipV="0">
            <a:off x="609600" y="3438525"/>
            <a:ext cx="2400300" cy="34290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Read first, then write</a:t>
            </a:r>
            <a:endParaRPr/>
          </a:p>
        </p:txBody>
      </p:sp>
      <p:sp>
        <p:nvSpPr>
          <p:cNvPr id="569" name="" descr="{&quot;isTemplate&quot;:true,&quot;type&quot;:&quot;text&quot;}"/>
          <p:cNvSpPr txBox="1"/>
          <p:nvPr/>
        </p:nvSpPr>
        <p:spPr>
          <a:xfrm rot="0" flipH="0" flipV="0">
            <a:off x="609600" y="3914775"/>
            <a:ext cx="2400300" cy="11430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200">
                <a:solidFill>
                  <a:srgbClr val="C5D4EA"/>
                </a:solidFill>
                <a:latin typeface="Microsoft YaHei"/>
                <a:ea typeface="Microsoft YaHei"/>
              </a:rPr>
              <a:t>The project documents and the Lab Guide define everything that follows. Read them before the next class.</a:t>
            </a:r>
            <a:endParaRPr/>
          </a:p>
        </p:txBody>
      </p:sp>
      <p:sp>
        <p:nvSpPr>
          <p:cNvPr id="570" name=""/>
          <p:cNvSpPr/>
          <p:nvPr/>
        </p:nvSpPr>
        <p:spPr>
          <a:xfrm rot="0" flipH="0" flipV="0">
            <a:off x="3505200" y="259080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71" name=""/>
          <p:cNvSpPr/>
          <p:nvPr/>
        </p:nvSpPr>
        <p:spPr>
          <a:xfrm rot="0" flipH="0" flipV="0">
            <a:off x="3676650" y="275272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7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3781425" y="2857500"/>
            <a:ext cx="209550" cy="209550"/>
          </a:xfrm>
          <a:prstGeom prst="rect">
            <a:avLst/>
          </a:prstGeom>
          <a:ln/>
        </p:spPr>
      </p:pic>
      <p:sp>
        <p:nvSpPr>
          <p:cNvPr id="573" name="" descr="{&quot;isTemplate&quot;:true,&quot;type&quot;:&quot;text&quot;}"/>
          <p:cNvSpPr txBox="1"/>
          <p:nvPr/>
        </p:nvSpPr>
        <p:spPr>
          <a:xfrm rot="0" flipH="0" flipV="0">
            <a:off x="4229100" y="2724150"/>
            <a:ext cx="34956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Read the Project Guidebook</a:t>
            </a:r>
            <a:endParaRPr/>
          </a:p>
        </p:txBody>
      </p:sp>
      <p:sp>
        <p:nvSpPr>
          <p:cNvPr id="574" name="" descr="{&quot;isTemplate&quot;:true,&quot;type&quot;:&quot;text&quot;}"/>
          <p:cNvSpPr txBox="1"/>
          <p:nvPr/>
        </p:nvSpPr>
        <p:spPr>
          <a:xfrm rot="0" flipH="0" flipV="0">
            <a:off x="4229100" y="2952750"/>
            <a:ext cx="34956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Milestones, submission rules, grading — handed out today.</a:t>
            </a:r>
            <a:endParaRPr/>
          </a:p>
        </p:txBody>
      </p:sp>
      <p:sp>
        <p:nvSpPr>
          <p:cNvPr id="575" name=""/>
          <p:cNvSpPr/>
          <p:nvPr/>
        </p:nvSpPr>
        <p:spPr>
          <a:xfrm rot="0" flipH="0" flipV="0">
            <a:off x="3505200" y="344805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76" name=""/>
          <p:cNvSpPr/>
          <p:nvPr/>
        </p:nvSpPr>
        <p:spPr>
          <a:xfrm rot="0" flipH="0" flipV="0">
            <a:off x="3676650" y="360997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7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781425" y="3714750"/>
            <a:ext cx="209550" cy="209550"/>
          </a:xfrm>
          <a:prstGeom prst="rect">
            <a:avLst/>
          </a:prstGeom>
          <a:ln/>
        </p:spPr>
      </p:pic>
      <p:sp>
        <p:nvSpPr>
          <p:cNvPr id="578" name="" descr="{&quot;isTemplate&quot;:true,&quot;type&quot;:&quot;text&quot;}"/>
          <p:cNvSpPr txBox="1"/>
          <p:nvPr/>
        </p:nvSpPr>
        <p:spPr>
          <a:xfrm rot="0" flipH="0" flipV="0">
            <a:off x="4229100" y="3581400"/>
            <a:ext cx="3238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Read the Deadline Schedule</a:t>
            </a:r>
            <a:endParaRPr/>
          </a:p>
        </p:txBody>
      </p:sp>
      <p:sp>
        <p:nvSpPr>
          <p:cNvPr id="579" name="" descr="{&quot;isTemplate&quot;:true,&quot;type&quot;:&quot;text&quot;}"/>
          <p:cNvSpPr txBox="1"/>
          <p:nvPr/>
        </p:nvSpPr>
        <p:spPr>
          <a:xfrm rot="0" flipH="0" flipV="0">
            <a:off x="4229100" y="3810000"/>
            <a:ext cx="32385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All hard deadlines with dates. First: M0 due Fri Sep 11.</a:t>
            </a:r>
            <a:endParaRPr/>
          </a:p>
        </p:txBody>
      </p:sp>
      <p:sp>
        <p:nvSpPr>
          <p:cNvPr id="580" name=""/>
          <p:cNvSpPr/>
          <p:nvPr/>
        </p:nvSpPr>
        <p:spPr>
          <a:xfrm rot="0" flipH="0" flipV="0">
            <a:off x="3505200" y="430530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81" name=""/>
          <p:cNvSpPr/>
          <p:nvPr/>
        </p:nvSpPr>
        <p:spPr>
          <a:xfrm rot="0" flipH="0" flipV="0">
            <a:off x="3676650" y="446722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8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3781425" y="4572000"/>
            <a:ext cx="209550" cy="209550"/>
          </a:xfrm>
          <a:prstGeom prst="rect">
            <a:avLst/>
          </a:prstGeom>
          <a:ln/>
        </p:spPr>
      </p:pic>
      <p:sp>
        <p:nvSpPr>
          <p:cNvPr id="583" name="" descr="{&quot;isTemplate&quot;:true,&quot;type&quot;:&quot;text&quot;}"/>
          <p:cNvSpPr txBox="1"/>
          <p:nvPr/>
        </p:nvSpPr>
        <p:spPr>
          <a:xfrm rot="0" flipH="0" flipV="0">
            <a:off x="4229100" y="4438650"/>
            <a:ext cx="22288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Read Larman Ch. 1–2</a:t>
            </a:r>
            <a:endParaRPr/>
          </a:p>
        </p:txBody>
      </p:sp>
      <p:sp>
        <p:nvSpPr>
          <p:cNvPr id="584" name="" descr="{&quot;isTemplate&quot;:true,&quot;type&quot;:&quot;text&quot;}"/>
          <p:cNvSpPr txBox="1"/>
          <p:nvPr/>
        </p:nvSpPr>
        <p:spPr>
          <a:xfrm rot="0" flipH="0" flipV="0">
            <a:off x="4229100" y="4667250"/>
            <a:ext cx="222885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Skim — it frames the next two weeks.</a:t>
            </a:r>
            <a:endParaRPr/>
          </a:p>
        </p:txBody>
      </p:sp>
      <p:sp>
        <p:nvSpPr>
          <p:cNvPr id="585" name=""/>
          <p:cNvSpPr/>
          <p:nvPr/>
        </p:nvSpPr>
        <p:spPr>
          <a:xfrm rot="0" flipH="0" flipV="0">
            <a:off x="3505200" y="5162550"/>
            <a:ext cx="8305800" cy="742950"/>
          </a:xfrm>
          <a:prstGeom prst="roundRect">
            <a:avLst>
              <a:gd name="adj" fmla="val 12821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586" name=""/>
          <p:cNvSpPr/>
          <p:nvPr/>
        </p:nvSpPr>
        <p:spPr>
          <a:xfrm rot="0" flipH="0" flipV="0">
            <a:off x="3676650" y="5324475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E8EFF8"/>
          </a:solidFill>
          <a:ln/>
        </p:spPr>
        <p:txBody>
          <a:bodyPr/>
          <a:p/>
        </p:txBody>
      </p:sp>
      <p:pic>
        <p:nvPicPr>
          <p:cNvPr id="5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5"/>
              </a:ext>
            </a:extLst>
          </a:blip>
          <a:stretch>
            <a:fillRect/>
          </a:stretch>
        </p:blipFill>
        <p:spPr>
          <a:xfrm rot="0" flipH="0" flipV="0">
            <a:off x="3781425" y="5429250"/>
            <a:ext cx="209550" cy="209550"/>
          </a:xfrm>
          <a:prstGeom prst="rect">
            <a:avLst/>
          </a:prstGeom>
          <a:ln/>
        </p:spPr>
      </p:pic>
      <p:sp>
        <p:nvSpPr>
          <p:cNvPr id="588" name="" descr="{&quot;isTemplate&quot;:true,&quot;type&quot;:&quot;text&quot;}"/>
          <p:cNvSpPr txBox="1"/>
          <p:nvPr/>
        </p:nvSpPr>
        <p:spPr>
          <a:xfrm rot="0" flipH="0" flipV="0">
            <a:off x="4229100" y="5295900"/>
            <a:ext cx="49434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1A2230"/>
                </a:solidFill>
                <a:latin typeface="Microsoft YaHei"/>
                <a:ea typeface="Microsoft YaHei"/>
              </a:rPr>
              <a:t>Write a 150-word paragraph</a:t>
            </a:r>
            <a:endParaRPr/>
          </a:p>
        </p:txBody>
      </p:sp>
      <p:sp>
        <p:nvSpPr>
          <p:cNvPr id="589" name="" descr="{&quot;isTemplate&quot;:true,&quot;type&quot;:&quot;text&quot;}"/>
          <p:cNvSpPr txBox="1"/>
          <p:nvPr/>
        </p:nvSpPr>
        <p:spPr>
          <a:xfrm rot="0" flipH="0" flipV="0">
            <a:off x="4229100" y="5524500"/>
            <a:ext cx="49434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"One information system I use daily, and what would break if the analyst had failed."</a:t>
            </a:r>
            <a:endParaRPr/>
          </a:p>
        </p:txBody>
      </p:sp>
      <p:sp>
        <p:nvSpPr>
          <p:cNvPr id="590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591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36 / 38</a:t>
            </a:r>
            <a:endParaRPr/>
          </a:p>
        </p:txBody>
      </p:sp>
    </p:spTree>
  </p:cSld>
</p:sld>
</file>

<file path=ppt/slides/slide37.xml><?xml version="1.0" encoding="utf-8"?>
<p:sld xmlns:asvg="http://schemas.microsoft.com/office/drawing/2016/SVG/main"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mc:Ignorable="asvg">
  <p:cSld>
    <p:spTree>
      <p:nvGrpSpPr>
        <p:cNvPr id="592" name="" descr="&lt;Slide style={{ background: '#FFFFFF', padding: 0 }}&gt;&#10;  &lt;Box style={{ height: 72, background: '#1E4FA8', padding: '0 40px', flexDirection: 'row', alignItems: 'center', justifyContent: 'space-between' }}&gt;&#10;    &lt;Text style={{ fontSize: 15, color: '#B9CDF0', letterSpacing: 1 }}&gt;ISAD · INFORMATION SYSTEMS ANALYSIS &amp;amp; DESIGN&lt;/Text&gt;&#10;    &lt;Text style={{ fontSize: 15, color: '#B9CDF0' }}&gt;W01 · PROJECT&lt;/Text&gt;&#10;  &lt;/Box&gt;&#10;  &lt;Box style={{ padding: '24px 40px 0 40px' }}&gt;&#10;    &lt;Text style={{ fontSize: 34, fontWeight: 'bold', color: '#0E3F8C' }}&gt;Getting Ready for M0 — Kickoff&lt;/Text&gt;&#10;  &lt;/Box&gt;&#10;  &lt;Box style={{ flex: 1, padding: '18px 40px 0 40px', flexDirection: 'row', gap: 28 }}&gt;&#10;    &lt;Box style={{ flex: 3, flexDirection: 'column', gap: 12, justifyContent: 'center' }}&gt;&#10;      &lt;Text style={{ fontSize: 18, fontWeight: 'bold', color: '#1A2230', marginBottom: 4 }}&gt;The M0 checklist (pass / fail)&lt;/Text&gt;&#10;      {[&#10;        'Confirm the team of four and agree on roles.',&#10;        'Draft a team charter — Appendix A of the Guidebook.',&#10;        'List the stakeholders (from Exercise 1.2).',&#10;        'Write a one-paragraph project vision.',&#10;        'Create a GitHub repo and share it with the instructor.',&#10;      ].map((s, i) =&gt; (&#10;        &lt;Box key={i} style={{ flexDirection: 'row', gap: 14, alignItems: 'center', padding: '13px 18px', background: '#F7F9FC', borderRadius: 10, border: '1px solid #E5E7EB' }}&gt;&#10;          &lt;Box style={{ width: 28, height: 28, borderRadius: 8, background: '#1E4FA8', justifyContent: 'center', alignItems: 'center' }}&gt;&#10;            &lt;FAIcon name='check' style={{ fill: '#FFFFFF', width: 15, height: 15 }} /&gt;&#10;          &lt;/Box&gt;&#10;          &lt;Text style={{ flex: 1, fontSize: 15, color: '#1A2230' }}&gt;{s}&lt;/Text&gt;&#10;        &lt;/Box&gt;&#10;      ))}&#10;    &lt;/Box&gt;&#10;    &lt;Box style={{ flex: 2, padding: '28px 24px', background: '#0E3F8C', borderRadius: 12, flexDirection: 'column', justifyContent: 'center', gap: 12 }}&gt;&#10;      &lt;Text style={{ fontSize: 16, color: '#B9CDF0', letterSpacing: 1 }}&gt;M0 DUE&lt;/Text&gt;&#10;      &lt;Text style={{ fontSize: 44, fontWeight: 'bold', color: '#FFC107', lineHeight: 1.1 }}&gt;Fri, Sep 11&lt;/Text&gt;&#10;      &lt;Text style={{ fontSize: 15, color: '#C5D4EA', lineHeight: 1.5 }}&gt;Submit by pushing to GitHub and tagging the commit &lt;span style={{ fontWeight: 'bold', color: '#FFFFFF' }}&gt;m0&lt;/span&gt;. Full protocol in the Deadline Guide.&lt;/Text&gt;&#10;    &lt;/Box&gt;&#10;  &lt;/Box&gt;&#10;  &lt;Box style={{ height: 40, padding: '0 40px', flexDirection: 'row', alignItems: 'center', justifyContent: 'space-between' }}&gt;&#10;    &lt;Text style={{ fontSize: 13, color: '#8B97A8' }}&gt;ISAD · Fall 2026&lt;/Text&gt;&#10;    &lt;Text style={{ fontSize: 14, color: '#1E4FA8', fontWeight: 'bold' }}&gt;37 / 38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94" name=""/>
          <p:cNvSpPr/>
          <p:nvPr/>
        </p:nvSpPr>
        <p:spPr>
          <a:xfrm rot="0" flipH="0" flipV="0">
            <a:off x="0" y="0"/>
            <a:ext cx="12192000" cy="6858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595" name="" descr="{&quot;isTemplate&quot;:true,&quot;type&quot;:&quot;text&quot;}"/>
          <p:cNvSpPr txBox="1"/>
          <p:nvPr/>
        </p:nvSpPr>
        <p:spPr>
          <a:xfrm rot="0" flipH="0" flipV="0">
            <a:off x="381000" y="257175"/>
            <a:ext cx="4067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B9CDF0"/>
                </a:solidFill>
                <a:latin typeface="Microsoft YaHei"/>
                <a:ea typeface="Microsoft YaHei"/>
              </a:rPr>
              <a:t>ISAD · INFORMATION SYSTEMS ANALYSIS &amp; DESIGN</a:t>
            </a:r>
            <a:endParaRPr/>
          </a:p>
        </p:txBody>
      </p:sp>
      <p:sp>
        <p:nvSpPr>
          <p:cNvPr id="596" name="" descr="{&quot;isTemplate&quot;:true,&quot;type&quot;:&quot;text&quot;}"/>
          <p:cNvSpPr txBox="1"/>
          <p:nvPr/>
        </p:nvSpPr>
        <p:spPr>
          <a:xfrm rot="0" flipH="0" flipV="0">
            <a:off x="10715625" y="257175"/>
            <a:ext cx="1095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B9CDF0"/>
                </a:solidFill>
                <a:latin typeface="Microsoft YaHei"/>
                <a:ea typeface="Microsoft YaHei"/>
              </a:rPr>
              <a:t>W01 · PROJECT</a:t>
            </a:r>
            <a:endParaRPr/>
          </a:p>
        </p:txBody>
      </p:sp>
      <p:sp>
        <p:nvSpPr>
          <p:cNvPr id="597" name="" descr="{&quot;isTemplate&quot;:true,&quot;type&quot;:&quot;text&quot;}"/>
          <p:cNvSpPr txBox="1"/>
          <p:nvPr/>
        </p:nvSpPr>
        <p:spPr>
          <a:xfrm rot="0" flipH="0" flipV="0">
            <a:off x="381000" y="914400"/>
            <a:ext cx="114300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E3F8C"/>
                </a:solidFill>
                <a:latin typeface="Microsoft YaHei"/>
                <a:ea typeface="Microsoft YaHei"/>
              </a:rPr>
              <a:t>Getting Ready for M0 — Kickoff</a:t>
            </a:r>
            <a:endParaRPr/>
          </a:p>
        </p:txBody>
      </p:sp>
      <p:sp>
        <p:nvSpPr>
          <p:cNvPr id="598" name="" descr="{&quot;isTemplate&quot;:true,&quot;type&quot;:&quot;text&quot;}"/>
          <p:cNvSpPr txBox="1"/>
          <p:nvPr/>
        </p:nvSpPr>
        <p:spPr>
          <a:xfrm rot="0" flipH="0" flipV="0">
            <a:off x="381000" y="2286000"/>
            <a:ext cx="6696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2230"/>
                </a:solidFill>
                <a:latin typeface="Microsoft YaHei"/>
                <a:ea typeface="Microsoft YaHei"/>
              </a:rPr>
              <a:t>The M0 checklist (pass / fail)</a:t>
            </a:r>
            <a:endParaRPr/>
          </a:p>
        </p:txBody>
      </p:sp>
      <p:sp>
        <p:nvSpPr>
          <p:cNvPr id="599" name=""/>
          <p:cNvSpPr/>
          <p:nvPr/>
        </p:nvSpPr>
        <p:spPr>
          <a:xfrm rot="0" flipH="0" flipV="0">
            <a:off x="381000" y="2647950"/>
            <a:ext cx="6696075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00" name=""/>
          <p:cNvSpPr/>
          <p:nvPr/>
        </p:nvSpPr>
        <p:spPr>
          <a:xfrm rot="0" flipH="0" flipV="0">
            <a:off x="552450" y="277177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0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2838450"/>
            <a:ext cx="142875" cy="142875"/>
          </a:xfrm>
          <a:prstGeom prst="rect">
            <a:avLst/>
          </a:prstGeom>
          <a:ln/>
        </p:spPr>
      </p:pic>
      <p:sp>
        <p:nvSpPr>
          <p:cNvPr id="602" name="" descr="{&quot;isTemplate&quot;:true,&quot;type&quot;:&quot;text&quot;}"/>
          <p:cNvSpPr txBox="1"/>
          <p:nvPr/>
        </p:nvSpPr>
        <p:spPr>
          <a:xfrm rot="0" flipH="0" flipV="0">
            <a:off x="952500" y="2819400"/>
            <a:ext cx="595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Confirm the team of four and agree on roles.</a:t>
            </a:r>
            <a:endParaRPr/>
          </a:p>
        </p:txBody>
      </p:sp>
      <p:sp>
        <p:nvSpPr>
          <p:cNvPr id="603" name=""/>
          <p:cNvSpPr/>
          <p:nvPr/>
        </p:nvSpPr>
        <p:spPr>
          <a:xfrm rot="0" flipH="0" flipV="0">
            <a:off x="381000" y="3276600"/>
            <a:ext cx="6696075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04" name=""/>
          <p:cNvSpPr/>
          <p:nvPr/>
        </p:nvSpPr>
        <p:spPr>
          <a:xfrm rot="0" flipH="0" flipV="0">
            <a:off x="552450" y="340042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0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3467100"/>
            <a:ext cx="142875" cy="142875"/>
          </a:xfrm>
          <a:prstGeom prst="rect">
            <a:avLst/>
          </a:prstGeom>
          <a:ln/>
        </p:spPr>
      </p:pic>
      <p:sp>
        <p:nvSpPr>
          <p:cNvPr id="606" name="" descr="{&quot;isTemplate&quot;:true,&quot;type&quot;:&quot;text&quot;}"/>
          <p:cNvSpPr txBox="1"/>
          <p:nvPr/>
        </p:nvSpPr>
        <p:spPr>
          <a:xfrm rot="0" flipH="0" flipV="0">
            <a:off x="952500" y="3448050"/>
            <a:ext cx="595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Draft a team charter — Appendix A of the Guidebook.</a:t>
            </a:r>
            <a:endParaRPr/>
          </a:p>
        </p:txBody>
      </p:sp>
      <p:sp>
        <p:nvSpPr>
          <p:cNvPr id="607" name=""/>
          <p:cNvSpPr/>
          <p:nvPr/>
        </p:nvSpPr>
        <p:spPr>
          <a:xfrm rot="0" flipH="0" flipV="0">
            <a:off x="381000" y="3905250"/>
            <a:ext cx="6696075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08" name=""/>
          <p:cNvSpPr/>
          <p:nvPr/>
        </p:nvSpPr>
        <p:spPr>
          <a:xfrm rot="0" flipH="0" flipV="0">
            <a:off x="552450" y="402907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0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4095750"/>
            <a:ext cx="142875" cy="142875"/>
          </a:xfrm>
          <a:prstGeom prst="rect">
            <a:avLst/>
          </a:prstGeom>
          <a:ln/>
        </p:spPr>
      </p:pic>
      <p:sp>
        <p:nvSpPr>
          <p:cNvPr id="610" name="" descr="{&quot;isTemplate&quot;:true,&quot;type&quot;:&quot;text&quot;}"/>
          <p:cNvSpPr txBox="1"/>
          <p:nvPr/>
        </p:nvSpPr>
        <p:spPr>
          <a:xfrm rot="0" flipH="0" flipV="0">
            <a:off x="952500" y="4076700"/>
            <a:ext cx="595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List the stakeholders (from Exercise 1.2).</a:t>
            </a:r>
            <a:endParaRPr/>
          </a:p>
        </p:txBody>
      </p:sp>
      <p:sp>
        <p:nvSpPr>
          <p:cNvPr id="611" name=""/>
          <p:cNvSpPr/>
          <p:nvPr/>
        </p:nvSpPr>
        <p:spPr>
          <a:xfrm rot="0" flipH="0" flipV="0">
            <a:off x="381000" y="4533900"/>
            <a:ext cx="6696075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12" name=""/>
          <p:cNvSpPr/>
          <p:nvPr/>
        </p:nvSpPr>
        <p:spPr>
          <a:xfrm rot="0" flipH="0" flipV="0">
            <a:off x="552450" y="465772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1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4724400"/>
            <a:ext cx="142875" cy="142875"/>
          </a:xfrm>
          <a:prstGeom prst="rect">
            <a:avLst/>
          </a:prstGeom>
          <a:ln/>
        </p:spPr>
      </p:pic>
      <p:sp>
        <p:nvSpPr>
          <p:cNvPr id="614" name="" descr="{&quot;isTemplate&quot;:true,&quot;type&quot;:&quot;text&quot;}"/>
          <p:cNvSpPr txBox="1"/>
          <p:nvPr/>
        </p:nvSpPr>
        <p:spPr>
          <a:xfrm rot="0" flipH="0" flipV="0">
            <a:off x="952500" y="4705350"/>
            <a:ext cx="595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Write a one-paragraph project vision.</a:t>
            </a:r>
            <a:endParaRPr/>
          </a:p>
        </p:txBody>
      </p:sp>
      <p:sp>
        <p:nvSpPr>
          <p:cNvPr id="615" name=""/>
          <p:cNvSpPr/>
          <p:nvPr/>
        </p:nvSpPr>
        <p:spPr>
          <a:xfrm rot="0" flipH="0" flipV="0">
            <a:off x="381000" y="5162550"/>
            <a:ext cx="6696075" cy="514350"/>
          </a:xfrm>
          <a:prstGeom prst="roundRect">
            <a:avLst>
              <a:gd name="adj" fmla="val 18519"/>
            </a:avLst>
          </a:prstGeom>
          <a:solidFill>
            <a:srgbClr val="F7F9FC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16" name=""/>
          <p:cNvSpPr/>
          <p:nvPr/>
        </p:nvSpPr>
        <p:spPr>
          <a:xfrm rot="0" flipH="0" flipV="0">
            <a:off x="552450" y="5286375"/>
            <a:ext cx="266700" cy="266700"/>
          </a:xfrm>
          <a:prstGeom prst="roundRect">
            <a:avLst>
              <a:gd name="adj" fmla="val 28571"/>
            </a:avLst>
          </a:pr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61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9125" y="5353050"/>
            <a:ext cx="142875" cy="142875"/>
          </a:xfrm>
          <a:prstGeom prst="rect">
            <a:avLst/>
          </a:prstGeom>
          <a:ln/>
        </p:spPr>
      </p:pic>
      <p:sp>
        <p:nvSpPr>
          <p:cNvPr id="618" name="" descr="{&quot;isTemplate&quot;:true,&quot;type&quot;:&quot;text&quot;}"/>
          <p:cNvSpPr txBox="1"/>
          <p:nvPr/>
        </p:nvSpPr>
        <p:spPr>
          <a:xfrm rot="0" flipH="0" flipV="0">
            <a:off x="952500" y="5334000"/>
            <a:ext cx="59531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Create a GitHub repo and share it with the instructor.</a:t>
            </a:r>
            <a:endParaRPr/>
          </a:p>
        </p:txBody>
      </p:sp>
      <p:sp>
        <p:nvSpPr>
          <p:cNvPr id="619" name=""/>
          <p:cNvSpPr/>
          <p:nvPr/>
        </p:nvSpPr>
        <p:spPr>
          <a:xfrm rot="0" flipH="0" flipV="0">
            <a:off x="7343775" y="1476375"/>
            <a:ext cx="4467225" cy="5000625"/>
          </a:xfrm>
          <a:prstGeom prst="roundRect">
            <a:avLst>
              <a:gd name="adj" fmla="val 255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20" name="" descr="{&quot;isTemplate&quot;:true,&quot;type&quot;:&quot;text&quot;}"/>
          <p:cNvSpPr txBox="1"/>
          <p:nvPr/>
        </p:nvSpPr>
        <p:spPr>
          <a:xfrm rot="0" flipH="0" flipV="0">
            <a:off x="7572375" y="3228975"/>
            <a:ext cx="40100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spc="75">
                <a:solidFill>
                  <a:srgbClr val="B9CDF0"/>
                </a:solidFill>
                <a:latin typeface="Microsoft YaHei"/>
                <a:ea typeface="Microsoft YaHei"/>
              </a:rPr>
              <a:t>M0 DUE</a:t>
            </a:r>
            <a:endParaRPr/>
          </a:p>
        </p:txBody>
      </p:sp>
      <p:sp>
        <p:nvSpPr>
          <p:cNvPr id="621" name="" descr="{&quot;isTemplate&quot;:true,&quot;type&quot;:&quot;text&quot;}"/>
          <p:cNvSpPr txBox="1"/>
          <p:nvPr/>
        </p:nvSpPr>
        <p:spPr>
          <a:xfrm rot="0" flipH="0" flipV="0">
            <a:off x="7572375" y="3533775"/>
            <a:ext cx="4010025" cy="561975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3300" b="1">
                <a:solidFill>
                  <a:srgbClr val="FFC107"/>
                </a:solidFill>
                <a:latin typeface="Microsoft YaHei"/>
                <a:ea typeface="Microsoft YaHei"/>
              </a:rPr>
              <a:t>Fri, Sep 11</a:t>
            </a:r>
            <a:endParaRPr/>
          </a:p>
        </p:txBody>
      </p:sp>
      <p:sp>
        <p:nvSpPr>
          <p:cNvPr id="622" name="" descr="{&quot;isTemplate&quot;:true,&quot;type&quot;:&quot;text&quot;}"/>
          <p:cNvSpPr txBox="1"/>
          <p:nvPr/>
        </p:nvSpPr>
        <p:spPr>
          <a:xfrm rot="0" flipH="0" flipV="0">
            <a:off x="7572375" y="4210050"/>
            <a:ext cx="40100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Submit by pushing to GitHub and tagging the commit </a:t>
            </a:r>
            <a:r>
              <a:rPr lang="en-US" sz="1125" b="1">
                <a:solidFill>
                  <a:srgbClr val="FFFFFF"/>
                </a:solidFill>
                <a:latin typeface="Microsoft YaHei"/>
                <a:ea typeface="Microsoft YaHei"/>
              </a:rPr>
              <a:t>m0</a:t>
            </a:r>
            <a:r>
              <a:rPr lang="en-US" sz="1125">
                <a:solidFill>
                  <a:srgbClr val="C5D4EA"/>
                </a:solidFill>
                <a:latin typeface="Microsoft YaHei"/>
                <a:ea typeface="Microsoft YaHei"/>
              </a:rPr>
              <a:t>. Full protocol in the Deadline Guide.</a:t>
            </a:r>
            <a:endParaRPr/>
          </a:p>
        </p:txBody>
      </p:sp>
      <p:sp>
        <p:nvSpPr>
          <p:cNvPr id="623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ISAD · Fall 2026</a:t>
            </a:r>
            <a:endParaRPr/>
          </a:p>
        </p:txBody>
      </p:sp>
      <p:sp>
        <p:nvSpPr>
          <p:cNvPr id="624" name="" descr="{&quot;isTemplate&quot;:true,&quot;type&quot;:&quot;text&quot;}"/>
          <p:cNvSpPr txBox="1"/>
          <p:nvPr/>
        </p:nvSpPr>
        <p:spPr>
          <a:xfrm rot="0" flipH="0" flipV="0">
            <a:off x="11401425" y="659130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37 / 38</a:t>
            </a:r>
            <a:endParaRPr/>
          </a:p>
        </p:txBody>
      </p:sp>
    </p:spTree>
  </p:cSld>
</p:sld>
</file>

<file path=ppt/slides/slide38.xml><?xml version="1.0" encoding="utf-8"?>
<p:sld xmlns:a="http://schemas.openxmlformats.org/drawingml/2006/main" xmlns:p="http://schemas.openxmlformats.org/presentationml/2006/main">
  <p:cSld>
    <p:spTree>
      <p:nvGrpSpPr>
        <p:cNvPr id="625" name="" descr="&lt;Slide style={{ background: '#0E3F8C', padding: 0 }}&gt;&#10;  &lt;Box style={{ flexDirection: 'column', height: '100%', justifyContent: 'center', padding: '0 80px', position: 'relative' }}&gt;&#10;    &lt;Box style={{ position: 'absolute', top: 0, left: 0, right: 0, height: 8, background: '#1E4FA8' }} /&gt;&#10;    &lt;Text style={{ fontSize: 15, color: '#7FA2D6', letterSpacing: 2, marginBottom: 22 }}&gt;WEEK 01 · WRAP-UP&lt;/Text&gt;&#10;    &lt;Text style={{ fontSize: 52, fontWeight: 'bold', color: '#FFFFFF', fontFamily: 'Georgia, serif', lineHeight: 1.15 }}&gt;You can now see&lt;br /&gt;where we are going.&lt;/Text&gt;&#10;    &lt;Box style={{ width: 88, height: 5, background: '#FFC107', marginTop: 28, marginBottom: 26 }} /&gt;&#10;    &lt;Box style={{ flexDirection: 'column', gap: 12 }}&gt;&#10;      {[&#10;        'An information system = people + process + data + technology.',&#10;        'The analyst is the bridge between business and technology.',&#10;        'Analysis answers WHAT, design answers HOW — and WHAT comes first.',&#10;        'Next week: object-oriented foundations &amp; the CampusBites kickoff.',&#10;      ].map((t) =&gt; (&#10;        &lt;Box key={t} style={{ flexDirection: 'row', alignItems: 'center', gap: 12 }}&gt;&#10;          &lt;Box style={{ width: 8, height: 8, borderRadius: 4, background: '#3D7BD9' }} /&gt;&#10;          &lt;Text style={{ fontSize: 19, color: '#C5D4EA' }}&gt;{t}&lt;/Text&gt;&#10;        &lt;/Box&gt;&#10;      ))}&#10;    &lt;/Box&gt;&#10;    &lt;Box style={{ position: 'absolute', bottom: 46, left: 80, right: 80, flexDirection: 'row', justifyContent: 'space-between', alignItems: 'center', borderTop: '1px solid #2B5793', paddingTop: 18 }}&gt;&#10;      &lt;Text style={{ fontSize: 17, color: '#C5D4EA' }}&gt;Questions? Ask now — or email any time.&lt;/Text&gt;&#10;      &lt;Text style={{ fontSize: 17, color: '#C5D4EA' }}&gt;Ren Zheng · Fall 2026&lt;/Text&gt;&#10;    &lt;/Box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27" name="" descr="{&quot;isTemplate&quot;:true,&quot;type&quot;:&quot;text&quot;}"/>
          <p:cNvSpPr txBox="1"/>
          <p:nvPr/>
        </p:nvSpPr>
        <p:spPr>
          <a:xfrm rot="0" flipH="0" flipV="0">
            <a:off x="762000" y="1666875"/>
            <a:ext cx="10668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7FA2D6"/>
                </a:solidFill>
                <a:latin typeface="Microsoft YaHei"/>
                <a:ea typeface="Microsoft YaHei"/>
              </a:rPr>
              <a:t>WEEK 01 · WRAP-UP</a:t>
            </a:r>
            <a:endParaRPr/>
          </a:p>
        </p:txBody>
      </p:sp>
      <p:sp>
        <p:nvSpPr>
          <p:cNvPr id="628" name="" descr="{&quot;isTemplate&quot;:true,&quot;type&quot;:&quot;text&quot;}"/>
          <p:cNvSpPr txBox="1"/>
          <p:nvPr/>
        </p:nvSpPr>
        <p:spPr>
          <a:xfrm rot="0" flipH="0" flipV="0">
            <a:off x="762000" y="2047875"/>
            <a:ext cx="10668000" cy="137160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en-US" sz="3900" b="1">
                <a:solidFill>
                  <a:srgbClr val="FFFFFF"/>
                </a:solidFill>
                <a:latin typeface="Georgia"/>
                <a:ea typeface="Georgia"/>
              </a:rPr>
              <a:t>You can now see</a:t>
            </a:r>
            <a:endParaRPr/>
          </a:p>
          <a:p>
            <a:pPr>
              <a:lnSpc>
                <a:spcPct val="114999"/>
              </a:lnSpc>
            </a:pPr>
            <a:r>
              <a:rPr lang="en-US" sz="3900" b="1">
                <a:solidFill>
                  <a:srgbClr val="FFFFFF"/>
                </a:solidFill>
                <a:latin typeface="Georgia"/>
                <a:ea typeface="Georgia"/>
              </a:rPr>
              <a:t>where we are going.</a:t>
            </a:r>
            <a:endParaRPr/>
          </a:p>
        </p:txBody>
      </p:sp>
      <p:sp>
        <p:nvSpPr>
          <p:cNvPr id="629" name=""/>
          <p:cNvSpPr/>
          <p:nvPr/>
        </p:nvSpPr>
        <p:spPr>
          <a:xfrm rot="0" flipH="0" flipV="0">
            <a:off x="762000" y="3686175"/>
            <a:ext cx="83820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630" name=""/>
          <p:cNvSpPr/>
          <p:nvPr/>
        </p:nvSpPr>
        <p:spPr>
          <a:xfrm rot="0" flipH="0" flipV="0">
            <a:off x="762000" y="4057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31" name="" descr="{&quot;isTemplate&quot;:true,&quot;type&quot;:&quot;text&quot;}"/>
          <p:cNvSpPr txBox="1"/>
          <p:nvPr/>
        </p:nvSpPr>
        <p:spPr>
          <a:xfrm rot="0" flipH="0" flipV="0">
            <a:off x="952500" y="3981450"/>
            <a:ext cx="50577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C5D4EA"/>
                </a:solidFill>
                <a:latin typeface="Microsoft YaHei"/>
                <a:ea typeface="Microsoft YaHei"/>
              </a:rPr>
              <a:t>An information system = people + process + data + technology.</a:t>
            </a:r>
            <a:endParaRPr/>
          </a:p>
        </p:txBody>
      </p:sp>
      <p:sp>
        <p:nvSpPr>
          <p:cNvPr id="632" name=""/>
          <p:cNvSpPr/>
          <p:nvPr/>
        </p:nvSpPr>
        <p:spPr>
          <a:xfrm rot="0" flipH="0" flipV="0">
            <a:off x="762000" y="43910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33" name="" descr="{&quot;isTemplate&quot;:true,&quot;type&quot;:&quot;text&quot;}"/>
          <p:cNvSpPr txBox="1"/>
          <p:nvPr/>
        </p:nvSpPr>
        <p:spPr>
          <a:xfrm rot="0" flipH="0" flipV="0">
            <a:off x="952500" y="4314825"/>
            <a:ext cx="4791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C5D4EA"/>
                </a:solidFill>
                <a:latin typeface="Microsoft YaHei"/>
                <a:ea typeface="Microsoft YaHei"/>
              </a:rPr>
              <a:t>The analyst is the bridge between business and technology.</a:t>
            </a:r>
            <a:endParaRPr/>
          </a:p>
        </p:txBody>
      </p:sp>
      <p:sp>
        <p:nvSpPr>
          <p:cNvPr id="634" name=""/>
          <p:cNvSpPr/>
          <p:nvPr/>
        </p:nvSpPr>
        <p:spPr>
          <a:xfrm rot="0" flipH="0" flipV="0">
            <a:off x="762000" y="47244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35" name="" descr="{&quot;isTemplate&quot;:true,&quot;type&quot;:&quot;text&quot;}"/>
          <p:cNvSpPr txBox="1"/>
          <p:nvPr/>
        </p:nvSpPr>
        <p:spPr>
          <a:xfrm rot="0" flipH="0" flipV="0">
            <a:off x="952500" y="4648200"/>
            <a:ext cx="59340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C5D4EA"/>
                </a:solidFill>
                <a:latin typeface="Microsoft YaHei"/>
                <a:ea typeface="Microsoft YaHei"/>
              </a:rPr>
              <a:t>Analysis answers WHAT, design answers HOW — and WHAT comes first.</a:t>
            </a:r>
            <a:endParaRPr/>
          </a:p>
        </p:txBody>
      </p:sp>
      <p:sp>
        <p:nvSpPr>
          <p:cNvPr id="636" name=""/>
          <p:cNvSpPr/>
          <p:nvPr/>
        </p:nvSpPr>
        <p:spPr>
          <a:xfrm rot="0" flipH="0" flipV="0">
            <a:off x="762000" y="50577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637" name="" descr="{&quot;isTemplate&quot;:true,&quot;type&quot;:&quot;text&quot;}"/>
          <p:cNvSpPr txBox="1"/>
          <p:nvPr/>
        </p:nvSpPr>
        <p:spPr>
          <a:xfrm rot="0" flipH="0" flipV="0">
            <a:off x="952500" y="4981575"/>
            <a:ext cx="53435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C5D4EA"/>
                </a:solidFill>
                <a:latin typeface="Microsoft YaHei"/>
                <a:ea typeface="Microsoft YaHei"/>
              </a:rPr>
              <a:t>Next week: object-oriented foundations &amp; the CampusBites kickoff.</a:t>
            </a:r>
            <a:endParaRPr/>
          </a:p>
        </p:txBody>
      </p:sp>
      <p:sp>
        <p:nvSpPr>
          <p:cNvPr id="638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39" name=""/>
          <p:cNvSpPr/>
          <p:nvPr/>
        </p:nvSpPr>
        <p:spPr>
          <a:xfrm rot="0" flipH="0" flipV="0">
            <a:off x="762000" y="6038850"/>
            <a:ext cx="10668000" cy="390525"/>
          </a:xfrm>
          <a:custGeom>
            <a:pathLst>
              <a:path w="1120" h="41">
                <a:moveTo>
                  <a:pt x="0" y="0"/>
                </a:moveTo>
                <a:lnTo>
                  <a:pt x="1120" y="0"/>
                </a:lnTo>
                <a:lnTo>
                  <a:pt x="1120" y="1"/>
                </a:lnTo>
                <a:lnTo>
                  <a:pt x="0" y="1"/>
                </a:lnTo>
                <a:close/>
              </a:path>
            </a:pathLst>
          </a:custGeom>
          <a:solidFill>
            <a:srgbClr val="2B5793"/>
          </a:solidFill>
          <a:ln/>
        </p:spPr>
        <p:txBody>
          <a:bodyPr/>
          <a:p/>
        </p:txBody>
      </p:sp>
      <p:sp>
        <p:nvSpPr>
          <p:cNvPr id="640" name="" descr="{&quot;isTemplate&quot;:true,&quot;type&quot;:&quot;text&quot;}"/>
          <p:cNvSpPr txBox="1"/>
          <p:nvPr/>
        </p:nvSpPr>
        <p:spPr>
          <a:xfrm rot="0" flipH="0" flipV="0">
            <a:off x="762000" y="6219825"/>
            <a:ext cx="3009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Questions? Ask now — or email any time.</a:t>
            </a:r>
            <a:endParaRPr/>
          </a:p>
        </p:txBody>
      </p:sp>
      <p:sp>
        <p:nvSpPr>
          <p:cNvPr id="641" name="" descr="{&quot;isTemplate&quot;:true,&quot;type&quot;:&quot;text&quot;}"/>
          <p:cNvSpPr txBox="1"/>
          <p:nvPr/>
        </p:nvSpPr>
        <p:spPr>
          <a:xfrm rot="0" flipH="0" flipV="0">
            <a:off x="9810750" y="6219825"/>
            <a:ext cx="1619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5D4EA"/>
                </a:solidFill>
                <a:latin typeface="Microsoft YaHei"/>
                <a:ea typeface="Microsoft YaHei"/>
              </a:rPr>
              <a:t>Ren Zheng · Fall 2026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:vt="http://schemas.openxmlformats.org/officeDocument/2006/docPropsVTypes" xmlns="http://schemas.openxmlformats.org/officeDocument/2006/extended-properties">
  <Application>Tencent office</Application>
</Properties>
</file>

<file path=docProps/core.xml><?xml version="1.0" encoding="utf-8"?>
<cp:coreProperties xmlns:xsi="http://www.w3.org/2001/XMLSchema-instance" xmlns:dcmitype="http://purl.org/dc/dcmitype/" xmlns:dcterms="http://purl.org/dc/terms/" xmlns:dc="http://purl.org/dc/elements/1.1/" xmlns:cp="http://schemas.openxmlformats.org/package/2006/metadata/core-properties">
  <dcterms:created xsi:type="dcterms:W3CDTF">2026-09-09T14:49:35Z</dcterms:created>
  <dcterms:modified xsi:type="dcterms:W3CDTF">2026-09-09T14:49:35Z</dcterms:modified>
</cp:coreProperties>
</file>
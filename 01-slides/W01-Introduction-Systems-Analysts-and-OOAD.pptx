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34.xml" ContentType="application/vnd.openxmlformats-officedocument.presentationml.slide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  <Override PartName="/ppt/slides/slide16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0" Type="http://schemas.openxmlformats.org/officeDocument/2006/relationships/presProps" Target="presProps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6" Type="http://schemas.openxmlformats.org/officeDocument/2006/relationships/slide" Target="slides/slide6.xml" /><Relationship Id="rId35" Type="http://schemas.openxmlformats.org/officeDocument/2006/relationships/slide" Target="slides/slide35.xml" /><Relationship Id="rId33" Type="http://schemas.openxmlformats.org/officeDocument/2006/relationships/slide" Target="slides/slide33.xml" /><Relationship Id="rId32" Type="http://schemas.openxmlformats.org/officeDocument/2006/relationships/slide" Target="slides/slide32.xml" /><Relationship Id="rId30" Type="http://schemas.openxmlformats.org/officeDocument/2006/relationships/slide" Target="slides/slide30.xml" /><Relationship Id="rId38" Type="http://schemas.openxmlformats.org/officeDocument/2006/relationships/slide" Target="slides/slide38.xml" /><Relationship Id="rId3" Type="http://schemas.openxmlformats.org/officeDocument/2006/relationships/slide" Target="slides/slide3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26" Type="http://schemas.openxmlformats.org/officeDocument/2006/relationships/slide" Target="slides/slide26.xml" /><Relationship Id="rId15" Type="http://schemas.openxmlformats.org/officeDocument/2006/relationships/slide" Target="slides/slide15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25" Type="http://schemas.openxmlformats.org/officeDocument/2006/relationships/slide" Target="slides/slide25.xml" /><Relationship Id="rId4" Type="http://schemas.openxmlformats.org/officeDocument/2006/relationships/slide" Target="slides/slide4.xml" /><Relationship Id="rId24" Type="http://schemas.openxmlformats.org/officeDocument/2006/relationships/slide" Target="slides/slide24.xml" /><Relationship Id="rId8" Type="http://schemas.openxmlformats.org/officeDocument/2006/relationships/slide" Target="slides/slide8.xml" /><Relationship Id="rId42" Type="http://schemas.openxmlformats.org/officeDocument/2006/relationships/viewProps" Target="viewProps.xml" /><Relationship Id="rId31" Type="http://schemas.openxmlformats.org/officeDocument/2006/relationships/slide" Target="slides/slide31.xml" /><Relationship Id="rId22" Type="http://schemas.openxmlformats.org/officeDocument/2006/relationships/slide" Target="slides/slide22.xml" /><Relationship Id="rId39" Type="http://schemas.openxmlformats.org/officeDocument/2006/relationships/notesMaster" Target="notesMasters/notesMaster1.xml" /><Relationship Id="rId23" Type="http://schemas.openxmlformats.org/officeDocument/2006/relationships/slide" Target="slides/slide23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34" Type="http://schemas.openxmlformats.org/officeDocument/2006/relationships/slide" Target="slides/slide34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21" Type="http://schemas.openxmlformats.org/officeDocument/2006/relationships/slide" Target="slides/slide2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41" Type="http://schemas.openxmlformats.org/officeDocument/2006/relationships/tableStyles" Target="tableStyles.xml" /><Relationship Id="rId27" Type="http://schemas.openxmlformats.org/officeDocument/2006/relationships/slide" Target="slides/slide27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7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1.svg" /><Relationship Id="rId1" Type="http://schemas.openxmlformats.org/officeDocument/2006/relationships/image" Target="media/image38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32.svg" /><Relationship Id="rId1" Type="http://schemas.openxmlformats.org/officeDocument/2006/relationships/image" Target="media/image39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1" Type="http://schemas.openxmlformats.org/officeDocument/2006/relationships/image" Target="media/image2.svg" /><Relationship Id="rId3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2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9.svg" /><Relationship Id="rId3" Type="http://schemas.openxmlformats.org/officeDocument/2006/relationships/image" Target="media/image10.svg" /><Relationship Id="rId1" Type="http://schemas.openxmlformats.org/officeDocument/2006/relationships/image" Target="media/image8.svg" /><Relationship Id="rId4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3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18.svg" /><Relationship Id="rId2" Type="http://schemas.openxmlformats.org/officeDocument/2006/relationships/image" Target="media/image19.sv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2" Type="http://schemas.openxmlformats.org/officeDocument/2006/relationships/image" Target="media/image21.svg" /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2" Type="http://schemas.openxmlformats.org/officeDocument/2006/relationships/image" Target="media/image23.svg" /><Relationship Id="rId3" Type="http://schemas.openxmlformats.org/officeDocument/2006/relationships/image" Target="media/image24.svg" /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2" Type="http://schemas.openxmlformats.org/officeDocument/2006/relationships/image" Target="media/image8.svg" /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2" Type="http://schemas.openxmlformats.org/officeDocument/2006/relationships/image" Target="media/image27.svg" /><Relationship Id="rId1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4" Type="http://schemas.openxmlformats.org/officeDocument/2006/relationships/image" Target="media/image13.svg" /><Relationship Id="rId2" Type="http://schemas.openxmlformats.org/officeDocument/2006/relationships/image" Target="media/image29.svg" /><Relationship Id="rId1" Type="http://schemas.openxmlformats.org/officeDocument/2006/relationships/image" Target="media/image28.svg" /><Relationship Id="rId6" Type="http://schemas.openxmlformats.org/officeDocument/2006/relationships/image" Target="media/image31.svg" /><Relationship Id="rId3" Type="http://schemas.openxmlformats.org/officeDocument/2006/relationships/image" Target="media/image30.svg" /><Relationship Id="rId5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2" Type="http://schemas.openxmlformats.org/officeDocument/2006/relationships/image" Target="media/image18.svg" /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5" Type="http://schemas.openxmlformats.org/officeDocument/2006/relationships/image" Target="media/image9.svg" /><Relationship Id="rId3" Type="http://schemas.openxmlformats.org/officeDocument/2006/relationships/image" Target="media/image34.svg" /><Relationship Id="rId2" Type="http://schemas.openxmlformats.org/officeDocument/2006/relationships/image" Target="media/image2.svg" /><Relationship Id="rId1" Type="http://schemas.openxmlformats.org/officeDocument/2006/relationships/image" Target="media/image33.svg" /><Relationship Id="rId4" Type="http://schemas.openxmlformats.org/officeDocument/2006/relationships/image" Target="media/image35.svg" /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6.svg" /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762000" y="1905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1971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01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066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1971675"/>
            <a:ext cx="2257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A · FOUNDATIONS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Information Systems</a:t>
            </a:r>
            <a:endParaRPr/>
          </a:p>
          <a:p>
            <a:pPr>
              <a:lnSpc>
                <a:spcPct val="112000"/>
              </a:lnSpc>
            </a:pPr>
            <a:r>
              <a:rPr lang="en-US" sz="4350" b="1">
                <a:solidFill>
                  <a:srgbClr val="FFFFFF"/>
                </a:solidFill>
                <a:latin typeface="Georgia"/>
                <a:ea typeface="Georgia"/>
              </a:rPr>
              <a:t>Analysis &amp; Design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4267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524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Systems, Analysts &amp; the OOAD Roadmap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90" name="" descr="&lt;Slide style={{ background: '#FFFFFF', padding: 0 }}&gt;&#10;  &lt;Box style={{ flexDirection: 'row', height: '100%' }}&gt;&#10;    &lt;Box style={{ width: 320, background: '#0E3F8C', padding: '60px 44px', flexDirection: 'column', justifyContent: 'space-between' }}&gt;&#10;      &lt;Box&gt;&#10;        &lt;Box style={{ width: 40, height: 4, background: '#FFC107', marginBottom: 24 }} /&gt;&#10;        &lt;Text style={{ fontSize: 46, fontWeight: 'bold', color: '#FFFFFF', fontFamily: 'Georgia, serif', lineHeight: 1.15 }}&gt;Contents&lt;/Text&gt;&#10;        &lt;Text style={{ fontSize: 16, color: '#7FA2D6', marginTop: 18, letterSpacing: 1 }}&gt;WEEK 01 · ROADMAP&lt;/Text&gt;&#10;      &lt;/Box&gt;&#10;      &lt;Text style={{ fontSize: 15, color: '#5B84C4', lineHeight: 1.5 }}&gt;Information Systems&lt;br /&gt;Analysis &amp;amp; Design&lt;/Text&gt;&#10;    &lt;/Box&gt;&#10;    &lt;Box style={{ flex: 1, padding: '56px 56px', flexDirection: 'column', gap: 18 }}&gt;&#10;      {[&#10;        { n: '01', t: 'Welcome &amp; Course Overview', p: '03' },&#10;        { n: '02', t: 'What Is an Information System?', p: '08' },&#10;        { n: '03', t: 'The Systems Analyst', p: '13' },&#10;        { n: '04', t: 'Analysis &amp; Design in the SDLC', p: '18' },&#10;        { n: '05', t: 'The OOAD Roadmap', p: '23' },&#10;        { n: '06', t: 'Lab — Reading UML &amp; Exercises', p: '29' },&#10;      ].map((item) =&gt; (&#10;        &lt;Box key={item.n} style={{ flexDirection: 'row', alignItems: 'center', gap: 20, padding: '16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{item.n}&lt;/Text&gt;&#10;          &lt;/Box&gt;&#10;          &lt;Text style={{ flex: 1, fontSize: 21, color: '#1A2230', fontWeight: '600' }}&gt;{item.t}&lt;/Text&gt;&#10;          &lt;Text style={{ fontSize: 20, color: '#8B97A8', fontWeight: 'bold' }}&gt;{item.p}&lt;/Text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01 · ROADMAP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Information Systems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Analysis &amp; Design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581400" y="5334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3771900" y="6858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905250" y="8096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457700" y="8096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Welcome &amp; Course Overview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249025" y="8191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3581400" y="15049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3771900" y="1657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905250" y="1781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57700" y="17811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What Is an Information System?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249025" y="1790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581400" y="24765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3771900" y="26289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905250" y="27527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57700" y="27527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The Systems Analyst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249025" y="27622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581400" y="34480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3771900" y="36004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905250" y="37242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457700" y="37242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Analysis &amp; Design in the SDLC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249025" y="37338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581400" y="441960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3771900" y="45720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905250" y="46958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57700" y="469582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The OOAD Roadmap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249025" y="47053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23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3581400" y="5391150"/>
            <a:ext cx="80772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3771900" y="55435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905250" y="56673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457700" y="5667375"/>
            <a:ext cx="660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Lab — Reading UML &amp; Exercises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249025" y="56769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29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Welcome &amp;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Course Overview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How this course is organised — 4 hours, 2 blocks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4067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Assessment: project + defense, no written exam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2886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running project: CampusBites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Course Logistics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81000" y="1476375"/>
            <a:ext cx="6696075" cy="5000625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" y="1724025"/>
            <a:ext cx="247650" cy="247650"/>
          </a:xfrm>
          <a:prstGeom prst="rect">
            <a:avLst/>
          </a:prstGeom>
          <a:ln/>
        </p:spPr>
      </p:pic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009650" y="1704975"/>
            <a:ext cx="3438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Four Consecutive Hours / Week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47700" y="2152650"/>
            <a:ext cx="2990850" cy="192405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838200" y="2343150"/>
            <a:ext cx="990600" cy="238125"/>
          </a:xfrm>
          <a:prstGeom prst="roundRect">
            <a:avLst>
              <a:gd name="adj" fmla="val 48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952500" y="238125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PART 1 · 2H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38200" y="2676525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Lecture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38200" y="3028950"/>
            <a:ext cx="2609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Concepts, terminology and worked examples. Slides + whiteboard.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3829050" y="2152650"/>
            <a:ext cx="2981325" cy="192405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4019550" y="2343150"/>
            <a:ext cx="990600" cy="238125"/>
          </a:xfrm>
          <a:prstGeom prst="roundRect">
            <a:avLst>
              <a:gd name="adj" fmla="val 48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4133850" y="238125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PART 2 · 2H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4019550" y="2676525"/>
            <a:ext cx="2600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Lab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4019550" y="3028950"/>
            <a:ext cx="26003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Guided demo (~25 min) then hands-on lab work (~90 min) tied to CampusBites.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572375" y="2819400"/>
            <a:ext cx="4010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At a Glance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7572375" y="3219450"/>
            <a:ext cx="4010025" cy="390525"/>
          </a:xfrm>
          <a:custGeom>
            <a:pathLst>
              <a:path w="421" h="41">
                <a:moveTo>
                  <a:pt x="0" y="40"/>
                </a:moveTo>
                <a:lnTo>
                  <a:pt x="421" y="40"/>
                </a:lnTo>
                <a:lnTo>
                  <a:pt x="42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572375" y="321945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7924800" y="3219450"/>
            <a:ext cx="43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weeks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7572375" y="3733800"/>
            <a:ext cx="4010025" cy="390525"/>
          </a:xfrm>
          <a:custGeom>
            <a:pathLst>
              <a:path w="421" h="41">
                <a:moveTo>
                  <a:pt x="0" y="40"/>
                </a:moveTo>
                <a:lnTo>
                  <a:pt x="421" y="40"/>
                </a:lnTo>
                <a:lnTo>
                  <a:pt x="42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572375" y="37338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32 + 32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439150" y="3733800"/>
            <a:ext cx="1266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lecture + lab hours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7572375" y="4248150"/>
            <a:ext cx="4010025" cy="390525"/>
          </a:xfrm>
          <a:custGeom>
            <a:pathLst>
              <a:path w="421" h="41">
                <a:moveTo>
                  <a:pt x="0" y="40"/>
                </a:moveTo>
                <a:lnTo>
                  <a:pt x="421" y="40"/>
                </a:lnTo>
                <a:lnTo>
                  <a:pt x="42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7572375" y="4248150"/>
            <a:ext cx="323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EN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991475" y="4248150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all materials in English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7572375" y="4762500"/>
            <a:ext cx="4010025" cy="390525"/>
          </a:xfrm>
          <a:custGeom>
            <a:pathLst>
              <a:path w="421" h="41">
                <a:moveTo>
                  <a:pt x="0" y="40"/>
                </a:moveTo>
                <a:lnTo>
                  <a:pt x="421" y="40"/>
                </a:lnTo>
                <a:lnTo>
                  <a:pt x="421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572375" y="4762500"/>
            <a:ext cx="828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Larman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496300" y="4762500"/>
            <a:ext cx="113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primary textbook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6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Assessment — No Written Exam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381000" y="1381125"/>
            <a:ext cx="11430000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552450" y="1476375"/>
            <a:ext cx="1108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Course grade = Formative assessment (40 points × 100%) + Summative assessment (100 points × 60%)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381000" y="1933575"/>
            <a:ext cx="3629025" cy="4543425"/>
          </a:xfrm>
          <a:prstGeom prst="roundRect">
            <a:avLst>
              <a:gd name="adj" fmla="val 3150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90550" y="2162175"/>
            <a:ext cx="685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C107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276350" y="2162175"/>
            <a:ext cx="4476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Microsoft YaHei"/>
                <a:ea typeface="Microsoft YaHei"/>
              </a:rPr>
              <a:t> pts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90550" y="30099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Formative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590550" y="3362325"/>
            <a:ext cx="32099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Attendance 0 · Class participation 10 · Level-3 project 20 · Assignments 10. Built all semester long, counted in full.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4276725" y="1933575"/>
            <a:ext cx="3638550" cy="4543425"/>
          </a:xfrm>
          <a:prstGeom prst="roundRect">
            <a:avLst>
              <a:gd name="adj" fmla="val 314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4486275" y="2162175"/>
            <a:ext cx="685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172075" y="2162175"/>
            <a:ext cx="4476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 pts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4486275" y="3009900"/>
            <a:ext cx="3219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Summative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4486275" y="3362325"/>
            <a:ext cx="32194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Final defense in W16, scored out of 100 × 60%: walkthrough 30 · individual Q&amp;A 55 · English 10 · reflection 5.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8181975" y="1933575"/>
            <a:ext cx="3629025" cy="4543425"/>
          </a:xfrm>
          <a:prstGeom prst="roundRect">
            <a:avLst>
              <a:gd name="adj" fmla="val 31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391525" y="2162175"/>
            <a:ext cx="695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+5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086850" y="2162175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391525" y="30099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Bonus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391525" y="3362325"/>
            <a:ext cx="32099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Extra patterns, exceptional refactoring, outstanding documentation. Course total capped at 100.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9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Formative 40 pts counted in full + defense score × 60% — no written exam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7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E3F8C"/>
                </a:solidFill>
                <a:latin typeface="Microsoft YaHei"/>
                <a:ea typeface="Microsoft YaHei"/>
              </a:rPr>
              <a:t>Assessment in Detail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381000" y="1428750"/>
            <a:ext cx="3667125" cy="5010150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552450" y="1600200"/>
            <a:ext cx="428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981075" y="1600200"/>
            <a:ext cx="3429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pts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419225" y="1600200"/>
            <a:ext cx="14573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Formative × 100%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552450" y="2171700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552450" y="226695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47700" y="23050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F1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971550" y="2295525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Attendance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3800475" y="2295525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552450" y="2581275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552450" y="2676525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47700" y="27146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F2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971550" y="270510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Class participation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3724275" y="27051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552450" y="2990850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52450" y="308610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47700" y="31242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F3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971550" y="3114675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Level-3 project (CampusBites)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3724275" y="31146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552450" y="3400425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552450" y="3495675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47700" y="35337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F4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971550" y="352425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Assignments (5 × 2)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3724275" y="35242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552450" y="3924300"/>
            <a:ext cx="3324225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85800" y="4038600"/>
            <a:ext cx="30575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F3 = milestones 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14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(M0 1 · M1 3 · M2 4 · M3 3 · M4 3) + 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your own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contribution &amp; Git 6.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4257675" y="1428750"/>
            <a:ext cx="3676650" cy="5010150"/>
          </a:xfrm>
          <a:prstGeom prst="roundRect">
            <a:avLst>
              <a:gd name="adj" fmla="val 310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4429125" y="1600200"/>
            <a:ext cx="619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C107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5048250" y="1600200"/>
            <a:ext cx="571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C107"/>
                </a:solidFill>
                <a:latin typeface="Microsoft YaHei"/>
                <a:ea typeface="Microsoft YaHei"/>
              </a:rPr>
              <a:t> × 60%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5715000" y="1600200"/>
            <a:ext cx="2047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Summative · W16 defense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4429125" y="2171700"/>
            <a:ext cx="3333750" cy="419100"/>
          </a:xfrm>
          <a:custGeom>
            <a:pathLst>
              <a:path w="350" h="44">
                <a:moveTo>
                  <a:pt x="0" y="43"/>
                </a:moveTo>
                <a:lnTo>
                  <a:pt x="350" y="43"/>
                </a:lnTo>
                <a:lnTo>
                  <a:pt x="35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4429125" y="226695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4524375" y="23050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107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4848225" y="22955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5D4EA"/>
                </a:solidFill>
                <a:latin typeface="Microsoft YaHei"/>
                <a:ea typeface="Microsoft YaHei"/>
              </a:rPr>
              <a:t>Portfolio walkthrough (team)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610475" y="22955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4429125" y="2581275"/>
            <a:ext cx="3333750" cy="419100"/>
          </a:xfrm>
          <a:custGeom>
            <a:pathLst>
              <a:path w="350" h="44">
                <a:moveTo>
                  <a:pt x="0" y="43"/>
                </a:moveTo>
                <a:lnTo>
                  <a:pt x="350" y="43"/>
                </a:lnTo>
                <a:lnTo>
                  <a:pt x="35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4429125" y="2676525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524375" y="27146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107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4848225" y="27051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5D4EA"/>
                </a:solidFill>
                <a:latin typeface="Microsoft YaHei"/>
                <a:ea typeface="Microsoft YaHei"/>
              </a:rPr>
              <a:t>Individual Q&amp;A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10475" y="27051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>55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4429125" y="2990850"/>
            <a:ext cx="3333750" cy="419100"/>
          </a:xfrm>
          <a:custGeom>
            <a:pathLst>
              <a:path w="350" h="44">
                <a:moveTo>
                  <a:pt x="0" y="43"/>
                </a:moveTo>
                <a:lnTo>
                  <a:pt x="350" y="43"/>
                </a:lnTo>
                <a:lnTo>
                  <a:pt x="35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4429125" y="308610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524375" y="31242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107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4848225" y="31146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5D4EA"/>
                </a:solidFill>
                <a:latin typeface="Microsoft YaHei"/>
                <a:ea typeface="Microsoft YaHei"/>
              </a:rPr>
              <a:t>English communication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610475" y="31146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4429125" y="3400425"/>
            <a:ext cx="3333750" cy="419100"/>
          </a:xfrm>
          <a:custGeom>
            <a:pathLst>
              <a:path w="350" h="44">
                <a:moveTo>
                  <a:pt x="0" y="43"/>
                </a:moveTo>
                <a:lnTo>
                  <a:pt x="350" y="43"/>
                </a:lnTo>
                <a:lnTo>
                  <a:pt x="35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4429125" y="3495675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4524375" y="35337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C107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848225" y="352425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5D4EA"/>
                </a:solidFill>
                <a:latin typeface="Microsoft YaHei"/>
                <a:ea typeface="Microsoft YaHei"/>
              </a:rPr>
              <a:t>Reflection &amp; contribution report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686675" y="352425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4429125" y="3924300"/>
            <a:ext cx="3333750" cy="676275"/>
          </a:xfrm>
          <a:prstGeom prst="roundRect">
            <a:avLst>
              <a:gd name="adj" fmla="val 11268"/>
            </a:avLst>
          </a:prstGeom>
          <a:solidFill>
            <a:srgbClr val="16325F"/>
          </a:solidFill>
          <a:ln/>
        </p:spPr>
        <p:txBody>
          <a:bodyPr/>
          <a:p>
            <a:pPr/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4562475" y="4038600"/>
            <a:ext cx="3067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Every member is questioned on 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any part</a:t>
            </a:r>
            <a:r>
              <a:rPr lang="en-US" sz="975">
                <a:solidFill>
                  <a:srgbClr val="B9CDF0"/>
                </a:solidFill>
                <a:latin typeface="Microsoft YaHei"/>
                <a:ea typeface="Microsoft YaHei"/>
              </a:rPr>
              <a:t> of the team's work — not just "your part".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8143875" y="1428750"/>
            <a:ext cx="3667125" cy="5010150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315325" y="1600200"/>
            <a:ext cx="438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+5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8753475" y="1600200"/>
            <a:ext cx="438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max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9286875" y="1600200"/>
            <a:ext cx="13239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Bonus · cap 100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8315325" y="2171700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8315325" y="226695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401050" y="230505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C1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8734425" y="22955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Extra patterns (correct)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1496675" y="22955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9534F"/>
                </a:solidFill>
                <a:latin typeface="Microsoft YaHei"/>
                <a:ea typeface="Microsoft YaHei"/>
              </a:rPr>
              <a:t>+2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8315325" y="2581275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8315325" y="2676525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401050" y="2714625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C2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734425" y="27051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Refactoring narrative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1496675" y="27051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9534F"/>
                </a:solidFill>
                <a:latin typeface="Microsoft YaHei"/>
                <a:ea typeface="Microsoft YaHei"/>
              </a:rPr>
              <a:t>+2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8315325" y="2990850"/>
            <a:ext cx="3324225" cy="419100"/>
          </a:xfrm>
          <a:custGeom>
            <a:pathLst>
              <a:path w="349" h="44">
                <a:moveTo>
                  <a:pt x="0" y="43"/>
                </a:moveTo>
                <a:lnTo>
                  <a:pt x="349" y="43"/>
                </a:lnTo>
                <a:lnTo>
                  <a:pt x="349" y="44"/>
                </a:lnTo>
                <a:lnTo>
                  <a:pt x="0" y="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8315325" y="3086100"/>
            <a:ext cx="323850" cy="20955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4FA8"/>
                </a:solidFill>
                <a:latin typeface="Microsoft YaHei"/>
                <a:ea typeface="Microsoft YaHei"/>
              </a:rPr>
              <a:t>C3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734425" y="31146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Outstanding docs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11496675" y="31146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9534F"/>
                </a:solidFill>
                <a:latin typeface="Microsoft YaHei"/>
                <a:ea typeface="Microsoft YaHei"/>
              </a:rPr>
              <a:t>+1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8315325" y="3514725"/>
            <a:ext cx="3324225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8448675" y="3629025"/>
            <a:ext cx="30575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Weekly exercises feed 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F2 participation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(4 pts) — checked and discussed in class every week.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381000" y="658177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>Milestones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104900" y="65817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M0 Sep 11 · M1 Oct 4 · M2 Oct 25 · M3 Nov 22 · M4 Dec 6 · M5 defense Dec 14–18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1401425" y="65722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The Running Project: CampusBites</a:t>
            </a:r>
            <a:endParaRPr/>
          </a:p>
        </p:txBody>
      </p:sp>
      <p:pic>
        <p:nvPicPr>
          <p:cNvPr id="7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533525" y="2076450"/>
            <a:ext cx="4381500" cy="3810000"/>
          </a:xfrm>
          <a:prstGeom prst="rect">
            <a:avLst/>
          </a:prstGeom>
          <a:ln/>
        </p:spPr>
      </p:pic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353300" y="2857500"/>
            <a:ext cx="4457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 campus 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food ordering &amp; delivery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platform you will analyse and design for 16 weeks.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7353300" y="3676650"/>
            <a:ext cx="4457700" cy="1057275"/>
          </a:xfrm>
          <a:prstGeom prst="roundRect">
            <a:avLst>
              <a:gd name="adj" fmla="val 90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7524750" y="382905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Why this domain? It is pattern-rich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524750" y="4076700"/>
            <a:ext cx="41148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Order lifecycle →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State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Payment →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Strategy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Order tracking →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Observer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Campus card →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Adapter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Toppings →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Decorator</a:t>
            </a:r>
            <a:endParaRPr/>
          </a:p>
        </p:txBody>
      </p:sp>
      <p:pic>
        <p:nvPicPr>
          <p:cNvPr id="7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53300" y="4867275"/>
            <a:ext cx="228600" cy="228600"/>
          </a:xfrm>
          <a:prstGeom prst="rect">
            <a:avLst/>
          </a:prstGeom>
          <a:ln/>
        </p:spPr>
      </p:pic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7696200" y="4886325"/>
            <a:ext cx="3590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One team of four — 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small cohort, everyone counts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8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What Is an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Information System?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definition beyond just software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four elements: people, process, data, technology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436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Why information systems fail — and who fixes them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Defining an Information System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381000" y="1476375"/>
            <a:ext cx="3048000" cy="5000625"/>
          </a:xfrm>
          <a:prstGeom prst="roundRect">
            <a:avLst>
              <a:gd name="adj" fmla="val 375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686050"/>
            <a:ext cx="381000" cy="381000"/>
          </a:xfrm>
          <a:prstGeom prst="rect">
            <a:avLst/>
          </a:prstGeom>
          <a:ln/>
        </p:spPr>
      </p:pic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Definition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259080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An organised combination of people, process, data and technology that collects, processes, stores and distributes information to support a goal.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3695700" y="2600325"/>
            <a:ext cx="81153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67150" y="2752725"/>
            <a:ext cx="228600" cy="228600"/>
          </a:xfrm>
          <a:prstGeom prst="rect">
            <a:avLst/>
          </a:prstGeom>
          <a:ln/>
        </p:spPr>
      </p:pic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229100" y="2752725"/>
            <a:ext cx="5715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It is more than software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4229100" y="300990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Software is one part. The system also lives in how people work and how information flows.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3695700" y="3571875"/>
            <a:ext cx="81153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67150" y="3724275"/>
            <a:ext cx="228600" cy="228600"/>
          </a:xfrm>
          <a:prstGeom prst="rect">
            <a:avLst/>
          </a:prstGeom>
          <a:ln/>
        </p:spPr>
      </p:pic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229100" y="3724275"/>
            <a:ext cx="700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It has a purpose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229100" y="3981450"/>
            <a:ext cx="7000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Every information system exists to support a decision or an activity — ordering food, enrolling, booking a room.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3695700" y="4543425"/>
            <a:ext cx="81153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67150" y="4695825"/>
            <a:ext cx="228600" cy="228600"/>
          </a:xfrm>
          <a:prstGeom prst="rect">
            <a:avLst/>
          </a:prstGeom>
          <a:ln/>
        </p:spPr>
      </p:pic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229100" y="4695825"/>
            <a:ext cx="621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It transforms data into information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4229100" y="495300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Raw data (a list of orders) becomes information (a delivery route for a courier) through processing.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38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6219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Four Elements That Must Work Together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466850"/>
            <a:ext cx="11239500" cy="4191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524250" y="648652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Remove any one element, and the system stops making sense.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Information Systems Around Us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81000" y="1495425"/>
            <a:ext cx="3657600" cy="49815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17430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1876425"/>
            <a:ext cx="266700" cy="2667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Library System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3200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People: readers &amp; librarians · Process: borrow / return · Data: catalogue, loans · Tech: kiosk, database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4267200" y="1495425"/>
            <a:ext cx="3657600" cy="49815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495800" y="17430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29150" y="1876425"/>
            <a:ext cx="266700" cy="26670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495800" y="24098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Food Delivery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495800" y="2809875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People: customers, riders · Process: order → cook → deliver · Data: menu, orders · Tech: app, GPS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153400" y="1495425"/>
            <a:ext cx="3657600" cy="4981575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82000" y="1743075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515350" y="1876425"/>
            <a:ext cx="266700" cy="26670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82000" y="24098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Hospital Registration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82000" y="2809875"/>
            <a:ext cx="32004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People: patients, staff · Process: register → triage → treat · Data: records, queue · Tech: terminals, HIS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406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Every example has all four elements — people, process, data, technology.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Why Information Systems Fail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1476375"/>
            <a:ext cx="6696075" cy="5000625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27908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2847975"/>
            <a:ext cx="133350" cy="13335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90600" y="2790825"/>
            <a:ext cx="3638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Technology-first thinking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0600" y="3028950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Building before understanding what people actually need.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34194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3476625"/>
            <a:ext cx="133350" cy="13335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90600" y="3419475"/>
            <a:ext cx="297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Misread requirements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90600" y="3657600"/>
            <a:ext cx="2971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The team builds the wrong system — perfectly.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40481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105275"/>
            <a:ext cx="133350" cy="13335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90600" y="4048125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Broken communication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90600" y="4286250"/>
            <a:ext cx="3781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Business people and developers speak different languages.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46767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733925"/>
            <a:ext cx="133350" cy="1333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90600" y="4676775"/>
            <a:ext cx="413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Scope without control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90600" y="4914900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The system keeps growing until it collapses under its own weight.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72375" y="2847975"/>
            <a:ext cx="381000" cy="38100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572375" y="3362325"/>
            <a:ext cx="40100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Most failures happen before a single line of code.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572375" y="4210050"/>
            <a:ext cx="40100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They happen in the space where needs are understood and turned into models. That space belongs to the 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systems analyst</a:t>
            </a: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467100" y="220980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467100" y="2552700"/>
            <a:ext cx="8115300" cy="647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The Systems Analyst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467100" y="34480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46710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657600" y="3733800"/>
            <a:ext cx="3638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bridge between business and technology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467100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657600" y="4076700"/>
            <a:ext cx="3095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What analysts actually do day to day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467100" y="4495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57600" y="4419600"/>
            <a:ext cx="2152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three-part skill profile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The Analyst as a Bridge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171700"/>
            <a:ext cx="5334000" cy="361950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343775" y="3009900"/>
            <a:ext cx="44672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The analyst turns vague business needs into precise models that developers can build from.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343775" y="3876675"/>
            <a:ext cx="4467225" cy="1066800"/>
          </a:xfrm>
          <a:prstGeom prst="roundRect">
            <a:avLst>
              <a:gd name="adj" fmla="val 89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515225" y="4029075"/>
            <a:ext cx="412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Translation in both directions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515225" y="4276725"/>
            <a:ext cx="4124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Business language → models → technical language, and back again when questions arise.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What Analysts Actually Do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1476375"/>
            <a:ext cx="2857500" cy="5000625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24003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Four recurring activities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24003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Analysis is not a single event — it is a loop of asking, modelling, checking and communicating.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505200" y="27908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00450" y="2886075"/>
            <a:ext cx="209550" cy="20955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038600" y="2790825"/>
            <a:ext cx="435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Elicit requirements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038600" y="3028950"/>
            <a:ext cx="43529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Interview stakeholders, observe workflows, read existing documents.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505200" y="3419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00450" y="3514725"/>
            <a:ext cx="209550" cy="20955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038600" y="3419475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Model the system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038600" y="36576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Express findings as use cases, domain models and diagrams.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505200" y="40481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600450" y="4143375"/>
            <a:ext cx="209550" cy="20955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038600" y="4048125"/>
            <a:ext cx="393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Validate with stakeholders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038600" y="4286250"/>
            <a:ext cx="39338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Walk models past the people who will actually use the system.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505200" y="46767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600450" y="4772025"/>
            <a:ext cx="209550" cy="20955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038600" y="4676775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Communicate the design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038600" y="491490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Hand precise models to developers and keep everyone aligned.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The Analyst Skill Profile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2619375"/>
            <a:ext cx="669607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52450" y="2800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2914650"/>
            <a:ext cx="228600" cy="22860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43000" y="2771775"/>
            <a:ext cx="537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Technical skills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43000" y="3028950"/>
            <a:ext cx="5372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Understand systems, data and what is feasible — without needing to write every line.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81000" y="3571875"/>
            <a:ext cx="669607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52450" y="37528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6750" y="3867150"/>
            <a:ext cx="228600" cy="2286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43000" y="3724275"/>
            <a:ext cx="507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Business skills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43000" y="3981450"/>
            <a:ext cx="50768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Understand the domain, the process and the real goal behind each requirement.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81000" y="4524375"/>
            <a:ext cx="669607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52450" y="4705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66750" y="4819650"/>
            <a:ext cx="228600" cy="22860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43000" y="4676775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Human skills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43000" y="49339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Listen, interview, negotiate and communicate across two very different worlds.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553325" y="3162300"/>
            <a:ext cx="40481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Missing any one, and the bridge collapses.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553325" y="3933825"/>
            <a:ext cx="40481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All technical and no business = wrong system. All business and no technical = impossible system. No human skills = nobody buys in.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</p:spTree>
  </p:cSld>
</p:sld>
</file>

<file path=ppt/slides/slide17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Analyst vs. Other Roles</a:t>
            </a:r>
            <a:endParaRPr/>
          </a:p>
        </p:txBody>
      </p:sp>
      <p:graphicFrame>
        <p:nvGraphicFramePr>
          <p:cNvPr id="160" name=""/>
          <p:cNvGraphicFramePr/>
          <p:nvPr/>
        </p:nvGraphicFramePr>
        <p:xfrm rot="0" flipH="0" flipV="0">
          <a:off x="381000" y="1495425"/>
          <a:ext cx="11430000" cy="4981575"/>
        </p:xfrm>
        <a:graphic>
          <a:graphicData uri="http://schemas.openxmlformats.org/drawingml/2006/table">
            <a:tbl>
              <a:tblGrid>
                <a:gridCol w="2685992">
                  <a:extLst>
                    <a:ext uri="{9D8B030D-6E8A-4147-A177-3AD203B41FA5}">
                      <a16:colId val="1"/>
                    </a:ext>
                  </a:extLst>
                </a:gridCol>
                <a:gridCol w="4643316">
                  <a:extLst>
                    <a:ext uri="{9D8B030D-6E8A-4147-A177-3AD203B41FA5}">
                      <a16:colId val="2"/>
                    </a:ext>
                  </a:extLst>
                </a:gridCol>
                <a:gridCol w="410069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996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Primary focus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Key 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96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Systems Analyst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Understand needs, build models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should the system do?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96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Developer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Build the system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How do we build it?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96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Tester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Verify quality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it work correctly?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96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Project Manager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Scope, schedule, resources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Are we on track?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066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This course trains you for the top row.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Analysis &amp; Design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in the SDLC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quick recap of the software life cycle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3267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Analysis vs. design vs. implementation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305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Models as abstractions — like maps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The Software Life Cycle (SDLC)</a:t>
            </a:r>
            <a:endParaRPr/>
          </a:p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076450"/>
            <a:ext cx="5334000" cy="3810000"/>
          </a:xfrm>
          <a:prstGeom prst="rect">
            <a:avLst/>
          </a:prstGeom>
          <a:ln/>
        </p:spPr>
      </p:pic>
      <p:sp>
        <p:nvSpPr>
          <p:cNvPr id="184" name=""/>
          <p:cNvSpPr/>
          <p:nvPr/>
        </p:nvSpPr>
        <p:spPr>
          <a:xfrm rot="0" flipH="0" flipV="0">
            <a:off x="7343775" y="3057525"/>
            <a:ext cx="4467225" cy="1114425"/>
          </a:xfrm>
          <a:prstGeom prst="roundRect">
            <a:avLst>
              <a:gd name="adj" fmla="val 8547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534275" y="3228975"/>
            <a:ext cx="4086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This course lives in steps 2 and 3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534275" y="3486150"/>
            <a:ext cx="4086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You already saw the whole cycle in SE1. Now we go deep into the two steps where systems are most often made wrong.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343775" y="4324350"/>
            <a:ext cx="44672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In real projects the steps 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overlap and repeat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 we will use an iterative style, not a strict waterfall.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Analysis vs. Design vs. Implementation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2667000"/>
            <a:ext cx="669607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71500" y="2867025"/>
            <a:ext cx="123825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00100" y="2962275"/>
            <a:ext cx="790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Analysis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2066925" y="2990850"/>
            <a:ext cx="466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1E4FA8"/>
                </a:solidFill>
                <a:latin typeface="Microsoft YaHei"/>
                <a:ea typeface="Microsoft YaHei"/>
              </a:rPr>
              <a:t>WHAT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781300" y="2819400"/>
            <a:ext cx="4105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Understand the problem — what does the system need to do? Use cases, domain model.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381000" y="3619500"/>
            <a:ext cx="669607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571500" y="3819525"/>
            <a:ext cx="1238250" cy="419100"/>
          </a:xfrm>
          <a:prstGeom prst="roundRect">
            <a:avLst>
              <a:gd name="adj" fmla="val 18182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6300" y="3914775"/>
            <a:ext cx="638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Design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105025" y="3943350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3D7BD9"/>
                </a:solidFill>
                <a:latin typeface="Microsoft YaHei"/>
                <a:ea typeface="Microsoft YaHei"/>
              </a:rPr>
              <a:t>HOW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781300" y="3771900"/>
            <a:ext cx="41052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Plan the solution — how will it work? Design classes, principles, patterns.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81000" y="4572000"/>
            <a:ext cx="6696075" cy="723900"/>
          </a:xfrm>
          <a:prstGeom prst="roundRect">
            <a:avLst>
              <a:gd name="adj" fmla="val 131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71500" y="4724400"/>
            <a:ext cx="1238250" cy="419100"/>
          </a:xfrm>
          <a:prstGeom prst="roundRect">
            <a:avLst>
              <a:gd name="adj" fmla="val 18182"/>
            </a:avLst>
          </a:prstGeom>
          <a:solidFill>
            <a:srgbClr val="8B97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85775" y="481965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Implementation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057400" y="48482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Microsoft YaHei"/>
                <a:ea typeface="Microsoft YaHei"/>
              </a:rPr>
              <a:t>BUILD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781300" y="4810125"/>
            <a:ext cx="41052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Write the code — turn the plan into working software.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72375" y="3152775"/>
            <a:ext cx="40100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 mistake in analysis is the most expensive to fix.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572375" y="3943350"/>
            <a:ext cx="40100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Wrong requirement → wrong model → wrong design → wrong code. Every later stage only makes the error more expensive.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20 / 38</a:t>
            </a:r>
            <a:endParaRPr/>
          </a:p>
        </p:txBody>
      </p:sp>
    </p:spTree>
  </p:cSld>
</p:sld>
</file>

<file path=ppt/slides/slide2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Models as Abstractions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171700"/>
            <a:ext cx="5334000" cy="3619500"/>
          </a:xfrm>
          <a:prstGeom prst="rect">
            <a:avLst/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343775" y="2609850"/>
            <a:ext cx="44672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A model keeps only what matters for a purpose.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43775" y="3448050"/>
            <a:ext cx="4467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 map drops buildings and trees to keep roads and landmarks. A class diagram drops code details to keep concepts and relationships.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343775" y="4533900"/>
            <a:ext cx="4467225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515225" y="4686300"/>
            <a:ext cx="4124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Key idea: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there is no "perfect" model — only a model that is useful for the question you are asking.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Waterfall vs. Iterative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81000" y="1476375"/>
            <a:ext cx="6696075" cy="5000625"/>
          </a:xfrm>
          <a:prstGeom prst="roundRect">
            <a:avLst>
              <a:gd name="adj" fmla="val 228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6238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Waterfall — one long pass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2028825"/>
            <a:ext cx="542925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42950" y="2124075"/>
            <a:ext cx="27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Req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209675" y="2105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1438275" y="2028825"/>
            <a:ext cx="857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571625" y="212407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Analysis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2352675" y="2105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2581275" y="2028825"/>
            <a:ext cx="752475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714625" y="21240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Design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390900" y="2105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619500" y="2028825"/>
            <a:ext cx="6286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752850" y="2124075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Code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305300" y="2105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4533900" y="2028825"/>
            <a:ext cx="5524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667250" y="21240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Test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143500" y="21050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72100" y="2028825"/>
            <a:ext cx="581025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505450" y="21240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Ship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6238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Each step finishes before the next begins. Cheaper to run, but mistakes surface very late.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572375" y="3286125"/>
            <a:ext cx="4010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Iterative — small loops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572375" y="3629025"/>
            <a:ext cx="40100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Build a thin slice, get feedback, refine, repeat. Mistakes surface early, while they are cheap.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572375" y="4314825"/>
            <a:ext cx="2028825" cy="361950"/>
          </a:xfrm>
          <a:prstGeom prst="roundRect">
            <a:avLst>
              <a:gd name="adj" fmla="val 21053"/>
            </a:avLst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705725" y="44100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This course uses this one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286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CampusBites will grow milestone by milestone — iteratively.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467100" y="220980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467100" y="2552700"/>
            <a:ext cx="8115300" cy="6477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The OOAD Roadmap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467100" y="34480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467100" y="3810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657600" y="3733800"/>
            <a:ext cx="3590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Four modules from foundations to patterns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467100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657600" y="40767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Models → principles → patterns → architecture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467100" y="4495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657600" y="441960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Why patterns matter in the first place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981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The Course Roadmap — Four Modules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400175"/>
            <a:ext cx="11239500" cy="4381500"/>
          </a:xfrm>
          <a:prstGeom prst="rect">
            <a:avLst/>
          </a:prstGeom>
          <a:ln/>
        </p:spPr>
      </p:pic>
      <p:sp>
        <p:nvSpPr>
          <p:cNvPr id="318" name=""/>
          <p:cNvSpPr/>
          <p:nvPr/>
        </p:nvSpPr>
        <p:spPr>
          <a:xfrm rot="0" flipH="0" flipV="0">
            <a:off x="0" y="636270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010025" y="6515100"/>
            <a:ext cx="4181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Every module feeds the running project CampusBites.</a:t>
            </a:r>
            <a:endParaRPr/>
          </a:p>
        </p:txBody>
      </p:sp>
    </p:spTree>
  </p:cSld>
</p:sld>
</file>

<file path=ppt/slides/slide25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653415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75" b="1">
                <a:solidFill>
                  <a:srgbClr val="0E3F8C"/>
                </a:solidFill>
                <a:latin typeface="Microsoft YaHei"/>
                <a:ea typeface="Microsoft YaHei"/>
              </a:rPr>
              <a:t>Semester Calendar — 16 Weeks at a Glance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401425" y="9906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25 / 38</a:t>
            </a:r>
            <a:endParaRPr/>
          </a:p>
        </p:txBody>
      </p:sp>
      <p:graphicFrame>
        <p:nvGraphicFramePr>
          <p:cNvPr id="327" name=""/>
          <p:cNvGraphicFramePr/>
          <p:nvPr/>
        </p:nvGraphicFramePr>
        <p:xfrm rot="0" flipH="0" flipV="0">
          <a:off x="381000" y="1390650"/>
          <a:ext cx="11430000" cy="4972050"/>
        </p:xfrm>
        <a:graphic>
          <a:graphicData uri="http://schemas.openxmlformats.org/drawingml/2006/table">
            <a:tbl>
              <a:tblGrid>
                <a:gridCol w="724520">
                  <a:extLst>
                    <a:ext uri="{9D8B030D-6E8A-4147-A177-3AD203B41FA5}">
                      <a16:colId val="1"/>
                    </a:ext>
                  </a:extLst>
                </a:gridCol>
                <a:gridCol w="1100637">
                  <a:extLst>
                    <a:ext uri="{9D8B030D-6E8A-4147-A177-3AD203B41FA5}">
                      <a16:colId val="2"/>
                    </a:ext>
                  </a:extLst>
                </a:gridCol>
                <a:gridCol w="5871386">
                  <a:extLst>
                    <a:ext uri="{9D8B030D-6E8A-4147-A177-3AD203B41FA5}">
                      <a16:colId val="3"/>
                    </a:ext>
                  </a:extLst>
                </a:gridCol>
                <a:gridCol w="3733457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Module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Topic (lecture → lab)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Milestone /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Introduction: systems, analysts &amp; OOAD roadmap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Course kickoff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OO foundations · project kickoff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M0 — Fri Sep 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UML essentials &amp; modeling workflow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Requirements &amp; use case modeling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Requirements pack issued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case specification &amp; scenarios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M1 — Sun Oct 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modeling: classes &amp; attributes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ΔC1 announced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relationships (association, aggregation)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Behavior modeling I: sequence diagrams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M2 — Sun Oct 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W9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3D7BD9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Behavior modeling II: state &amp; activity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Mid-term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From analysis to design: design class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ΔC2 announced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Design principles I: GRASP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Design principles II: SOLID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M3 — Sun Nov 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3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Design patterns I: creational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ΔC3 announced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14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Design patterns II: structural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M4 — Sun Dec 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5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W15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Design patterns III: behavioral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Defense rehearsal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16"/>
                  </a:ext>
                </a:extLst>
              </a:tr>
              <a:tr h="29247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W16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C5D4EA"/>
                          </a:solidFill>
                          <a:latin typeface="Microsoft YaHei"/>
                          <a:ea typeface="Microsoft YaHei"/>
                        </a:rPr>
                        <a:t>Architecture patterns · course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Final defense + M5 — Dec 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7"/>
                  </a:ext>
                </a:extLst>
              </a:tr>
            </a:tbl>
          </a:graphicData>
        </a:graphic>
      </p:graphicFrame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563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Module A · Foundations (W1–3) → B · Analysis (W4–9) → C · Design (W10–15) → D · Wrap-up (W16)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25 / 38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From Models to Principles to Patterns</a:t>
            </a:r>
            <a:endParaRPr/>
          </a:p>
        </p:txBody>
      </p:sp>
      <p:pic>
        <p:nvPicPr>
          <p:cNvPr id="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62050" y="1981200"/>
            <a:ext cx="5143500" cy="4000500"/>
          </a:xfrm>
          <a:prstGeom prst="rect">
            <a:avLst/>
          </a:prstGeom>
          <a:ln/>
        </p:spPr>
      </p:pic>
      <p:sp>
        <p:nvSpPr>
          <p:cNvPr id="337" name=""/>
          <p:cNvSpPr/>
          <p:nvPr/>
        </p:nvSpPr>
        <p:spPr>
          <a:xfrm rot="0" flipH="0" flipV="0">
            <a:off x="7343775" y="2466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439025" y="25146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705725" y="2466975"/>
            <a:ext cx="4105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First you describe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705725" y="2695575"/>
            <a:ext cx="41052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Analysis models capture what the system must do, in language stakeholders understand.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7343775" y="33147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439025" y="33623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705725" y="3314700"/>
            <a:ext cx="4105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Then you decide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705725" y="3543300"/>
            <a:ext cx="41052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Principles (GRASP, SOLID) guide how responsibilities are assigned — not by accident, but by reason.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343775" y="41624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439025" y="42100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705725" y="4162425"/>
            <a:ext cx="4105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Then you reuse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705725" y="4391025"/>
            <a:ext cx="41052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Design patterns are proven answers to recurring problems. You learn to recognise, then apply them.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343775" y="5010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439025" y="50577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715250" y="5010150"/>
            <a:ext cx="4095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Finally you assemble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715250" y="5238750"/>
            <a:ext cx="40957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Architecture puts the pieces together — MVC, layers, and how they talk.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Why Patterns Matter — A Teaser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81000" y="1476375"/>
            <a:ext cx="6696075" cy="5000625"/>
          </a:xfrm>
          <a:prstGeom prst="roundRect">
            <a:avLst>
              <a:gd name="adj" fmla="val 2286"/>
            </a:avLst>
          </a:prstGeom>
          <a:solidFill>
            <a:srgbClr val="FDF3F3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47825"/>
            <a:ext cx="209550" cy="20955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76300" y="1657350"/>
            <a:ext cx="3771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>Adding a payment type = editing the if-else chain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53325" y="2924175"/>
            <a:ext cx="323850" cy="323850"/>
          </a:xfrm>
          <a:prstGeom prst="rect">
            <a:avLst/>
          </a:prstGeom>
          <a:ln/>
        </p:spPr>
      </p:pic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553325" y="3381375"/>
            <a:ext cx="40481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A pattern turns "many if-else branches" into "one stable line".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553325" y="4171950"/>
            <a:ext cx="40481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New payment types plug in without touching existing code. This is what we train all semester — and it is what employers ask about.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3648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Full treatment in Weeks 13–15. Today we only see the destination.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71500" y="1952625"/>
            <a:ext cx="6315075" cy="866775"/>
          </a:xfrm>
          <a:prstGeom prst="roundRect">
            <a:avLst>
              <a:gd name="adj" fmla="val 8791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/>
          <p:cNvSpPr txBox="1"/>
          <p:nvPr/>
        </p:nvSpPr>
        <p:spPr>
          <a:xfrm rot="0" flipH="0" flipV="0">
            <a:off x="723900" y="2085975"/>
            <a:ext cx="6010275" cy="6000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if type = CARD    -&gt; chargeCard(order)
if type = WECHAT  -&gt; chargeWechat(order)
if type = ALIPAY  -&gt; chargeAlipay(order)
otherwise         -&gt; refuse: no such type</a:t>
            </a:r>
            <a:endParaRPr/>
          </a:p>
        </p:txBody>
      </p:sp>
    </p:spTree>
  </p:cSld>
</p:sld>
</file>

<file path=ppt/slides/slide2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How This Course Relates to SE1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381000" y="1476375"/>
            <a:ext cx="11430000" cy="2286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314575"/>
            <a:ext cx="228600" cy="228600"/>
          </a:xfrm>
          <a:prstGeom prst="rect">
            <a:avLst/>
          </a:prstGeom>
          <a:ln/>
        </p:spPr>
      </p:pic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33450" y="2314575"/>
            <a:ext cx="2524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A5568"/>
                </a:solidFill>
                <a:latin typeface="Microsoft YaHei"/>
                <a:ea typeface="Microsoft YaHei"/>
              </a:rPr>
              <a:t>SE1 — the whole landscape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You walked the full life cycle: process models, agile, requirements, analysis, design, testing, architecture — one overview of everything.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81000" y="3914775"/>
            <a:ext cx="11430000" cy="2562225"/>
          </a:xfrm>
          <a:prstGeom prst="roundRect">
            <a:avLst>
              <a:gd name="adj" fmla="val 446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752975"/>
            <a:ext cx="228600" cy="22860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33450" y="4752975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This course — the deep dive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5076825"/>
            <a:ext cx="10972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We zoom into analysis &amp; design and go deep: use cases, domain models, sequence diagrams, GRASP, SOLID and the GoF patterns — the skills that separate analysts from coders.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467100" y="1885950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LAB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3467100" y="2228850"/>
            <a:ext cx="8115300" cy="1295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Lab — Reading UML</a:t>
            </a:r>
            <a:endParaRPr/>
          </a:p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</a:rPr>
              <a:t>&amp; Exercises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3467100" y="377190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3467100" y="4133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657600" y="4057650"/>
            <a:ext cx="3495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Guided demo: read a real UML model set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467100" y="447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657600" y="440055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Three hands-on exercises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467100" y="4819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657600" y="474345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Homework and M0 kickoff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3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6657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A First Look — Three Kinds of UML Models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1401425" y="361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30 / 38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381000" y="809625"/>
            <a:ext cx="3667125" cy="5553075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33400" y="981075"/>
            <a:ext cx="33623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Use Case — what the system does</a:t>
            </a:r>
            <a:endParaRPr/>
          </a:p>
        </p:txBody>
      </p:sp>
      <p:pic>
        <p:nvPicPr>
          <p:cNvPr id="4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285875"/>
            <a:ext cx="3143250" cy="219075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4257675" y="809625"/>
            <a:ext cx="3676650" cy="5553075"/>
          </a:xfrm>
          <a:prstGeom prst="roundRect">
            <a:avLst>
              <a:gd name="adj" fmla="val 31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410075" y="981075"/>
            <a:ext cx="3371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Domain Model — the concepts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10075" y="1285875"/>
            <a:ext cx="3143250" cy="2190750"/>
          </a:xfrm>
          <a:prstGeom prst="rect">
            <a:avLst/>
          </a:prstGeom>
          <a:ln/>
        </p:spPr>
      </p:pic>
      <p:sp>
        <p:nvSpPr>
          <p:cNvPr id="426" name=""/>
          <p:cNvSpPr/>
          <p:nvPr/>
        </p:nvSpPr>
        <p:spPr>
          <a:xfrm rot="0" flipH="0" flipV="0">
            <a:off x="8143875" y="809625"/>
            <a:ext cx="3667125" cy="5553075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296275" y="981075"/>
            <a:ext cx="33623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Sequence — how it happens</a:t>
            </a:r>
            <a:endParaRPr/>
          </a:p>
        </p:txBody>
      </p:sp>
      <p:pic>
        <p:nvPicPr>
          <p:cNvPr id="4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96275" y="1285875"/>
            <a:ext cx="3143250" cy="2190750"/>
          </a:xfrm>
          <a:prstGeom prst="rect">
            <a:avLst/>
          </a:prstGeom>
          <a:ln/>
        </p:spPr>
      </p:pic>
      <p:sp>
        <p:nvSpPr>
          <p:cNvPr id="429" name=""/>
          <p:cNvSpPr/>
          <p:nvPr/>
        </p:nvSpPr>
        <p:spPr>
          <a:xfrm rot="0" flipH="0" flipV="0">
            <a:off x="0" y="636270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2514600" y="6515100"/>
            <a:ext cx="7172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Three views of the same system — each answers a different question. That is the whole trick.</a:t>
            </a:r>
            <a:endParaRPr/>
          </a:p>
        </p:txBody>
      </p:sp>
    </p:spTree>
  </p:cSld>
</p:sld>
</file>

<file path=ppt/slides/slide3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Guided Demo — The Vending Machine (Analysis)</a:t>
            </a:r>
            <a:endParaRPr/>
          </a:p>
        </p:txBody>
      </p:sp>
      <p:pic>
        <p:nvPicPr>
          <p:cNvPr id="4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076450"/>
            <a:ext cx="5334000" cy="3810000"/>
          </a:xfrm>
          <a:prstGeom prst="rect">
            <a:avLst/>
          </a:prstGeom>
          <a:ln/>
        </p:spPr>
      </p:pic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343775" y="2505075"/>
            <a:ext cx="446722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How to read it — three questions</a:t>
            </a:r>
            <a:endParaRPr/>
          </a:p>
        </p:txBody>
      </p:sp>
      <p:pic>
        <p:nvPicPr>
          <p:cNvPr id="4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2933700"/>
            <a:ext cx="190500" cy="190500"/>
          </a:xfrm>
          <a:prstGeom prst="rect">
            <a:avLst/>
          </a:prstGeom>
          <a:ln/>
        </p:spPr>
      </p:pic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648575" y="2933700"/>
            <a:ext cx="3667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1 · What concepts exist?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648575" y="3152775"/>
            <a:ext cx="36671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VendingMachine, Product, Coin, Transaction — each is a box.</a:t>
            </a:r>
            <a:endParaRPr/>
          </a:p>
        </p:txBody>
      </p:sp>
      <p:pic>
        <p:nvPicPr>
          <p:cNvPr id="4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3533775"/>
            <a:ext cx="190500" cy="190500"/>
          </a:xfrm>
          <a:prstGeom prst="rect">
            <a:avLst/>
          </a:prstGeom>
          <a:ln/>
        </p:spPr>
      </p:pic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648575" y="3533775"/>
            <a:ext cx="3514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2 · How are they related?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648575" y="3752850"/>
            <a:ext cx="35147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The lines and the numbers (1, 0..*) tell you who holds what.</a:t>
            </a:r>
            <a:endParaRPr/>
          </a:p>
        </p:txBody>
      </p:sp>
      <p:pic>
        <p:nvPicPr>
          <p:cNvPr id="4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4133850"/>
            <a:ext cx="190500" cy="190500"/>
          </a:xfrm>
          <a:prstGeom prst="rect">
            <a:avLst/>
          </a:prstGeom>
          <a:ln/>
        </p:spPr>
      </p:pic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648575" y="413385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3 · What does each hold?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648575" y="4352925"/>
            <a:ext cx="4162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The attributes — location, price, value — are what we must remember.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7343775" y="4733925"/>
            <a:ext cx="4467225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496175" y="4848225"/>
            <a:ext cx="4162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1A2230"/>
                </a:solidFill>
                <a:latin typeface="Microsoft YaHei"/>
                <a:ea typeface="Microsoft YaHei"/>
              </a:rPr>
              <a:t>Notice: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no methods, no if-else, no "how". Analysis answers </a:t>
            </a: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what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, not how.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</p:spTree>
  </p:cSld>
</p:sld>
</file>

<file path=ppt/slides/slide3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0287000" y="2571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INTRODUCTION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Guided Demo — From Analysis to Design</a:t>
            </a:r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2076450"/>
            <a:ext cx="5334000" cy="3810000"/>
          </a:xfrm>
          <a:prstGeom prst="rect">
            <a:avLst/>
          </a:prstGeom>
          <a:ln/>
        </p:spPr>
      </p:pic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343775" y="2390775"/>
            <a:ext cx="446722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What changed in the jump</a:t>
            </a:r>
            <a:endParaRPr/>
          </a:p>
        </p:txBody>
      </p:sp>
      <p:pic>
        <p:nvPicPr>
          <p:cNvPr id="4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2819400"/>
            <a:ext cx="171450" cy="171450"/>
          </a:xfrm>
          <a:prstGeom prst="rect">
            <a:avLst/>
          </a:prstGeom>
          <a:ln/>
        </p:spPr>
      </p:pic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629525" y="2819400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Methods appeared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629525" y="3038475"/>
            <a:ext cx="31718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Concepts now have behaviour — sellProduct(), pay().</a:t>
            </a:r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3419475"/>
            <a:ext cx="171450" cy="1714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620000" y="341947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An interface appeared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620000" y="3638550"/>
            <a:ext cx="4191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Payment hides "card vs. cash" behind one contract — that is a pattern in the making.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4257675"/>
            <a:ext cx="171450" cy="17145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629525" y="425767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Responsibility moved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629525" y="4476750"/>
            <a:ext cx="3257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Each class knows its own job; nothing does everything.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7343775" y="4857750"/>
            <a:ext cx="4467225" cy="714375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496175" y="4972050"/>
            <a:ext cx="4162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 b="1">
                <a:solidFill>
                  <a:srgbClr val="1A2230"/>
                </a:solidFill>
                <a:latin typeface="Microsoft YaHei"/>
                <a:ea typeface="Microsoft YaHei"/>
              </a:rPr>
              <a:t>The whole course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is this jump — done carefully, with principles and patterns.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4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LAB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Exercise 1.1 — Analysis or Design?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381000" y="1476375"/>
            <a:ext cx="3048000" cy="5000625"/>
          </a:xfrm>
          <a:prstGeom prst="roundRect">
            <a:avLst>
              <a:gd name="adj" fmla="val 375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Your task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25908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For each statement, decide: is it an </a:t>
            </a:r>
            <a:r>
              <a:rPr lang="en-US" sz="1200" b="1">
                <a:solidFill>
                  <a:srgbClr val="FFC107"/>
                </a:solidFill>
                <a:latin typeface="Microsoft YaHei"/>
                <a:ea typeface="Microsoft YaHei"/>
              </a:rPr>
              <a:t>analysis</a:t>
            </a: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 concern (what) or a </a:t>
            </a:r>
            <a:r>
              <a:rPr lang="en-US" sz="1200" b="1">
                <a:solidFill>
                  <a:srgbClr val="FFC107"/>
                </a:solidFill>
                <a:latin typeface="Microsoft YaHei"/>
                <a:ea typeface="Microsoft YaHei"/>
              </a:rPr>
              <a:t>design</a:t>
            </a: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 concern (how)? Justify in one sentence.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4438650"/>
            <a:ext cx="2590800" cy="714375"/>
          </a:xfrm>
          <a:prstGeom prst="roundRect">
            <a:avLst>
              <a:gd name="adj" fmla="val 10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62000" y="4552950"/>
            <a:ext cx="2286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B9CDF0"/>
                </a:solidFill>
                <a:latin typeface="Microsoft YaHei"/>
                <a:ea typeface="Microsoft YaHei"/>
              </a:rPr>
              <a:t>Rule of thumb: does it talk about the problem, or the solution?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3695700" y="2419350"/>
            <a:ext cx="8115300" cy="533400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3867150" y="2543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971925" y="26003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286250" y="25908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 customer can pay by card or by cash.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695700" y="3067050"/>
            <a:ext cx="8115300" cy="533400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3867150" y="31908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971925" y="32480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4286250" y="32385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We should use the Strategy pattern for payment.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3695700" y="3714750"/>
            <a:ext cx="8115300" cy="533400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867150" y="38385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971925" y="38957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4286250" y="38862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An order has a status that changes over time.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3695700" y="4362450"/>
            <a:ext cx="8115300" cy="533400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3867150" y="44862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971925" y="45434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4286250" y="45339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The Order class should expose a cancel() method.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3695700" y="5010150"/>
            <a:ext cx="8115300" cy="533400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3867150" y="51339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971925" y="51911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286250" y="5181600"/>
            <a:ext cx="735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The system must notify the courier when an order is ready.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Answers discussed in class.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</p:spTree>
  </p:cSld>
</p:sld>
</file>

<file path=ppt/slides/slide3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LAB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Exercise 1.2 — Stakeholders of CampusBites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381000" y="1476375"/>
            <a:ext cx="3048000" cy="5000625"/>
          </a:xfrm>
          <a:prstGeom prst="roundRect">
            <a:avLst>
              <a:gd name="adj" fmla="val 375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781300"/>
            <a:ext cx="342900" cy="342900"/>
          </a:xfrm>
          <a:prstGeom prst="rect">
            <a:avLst/>
          </a:prstGeom>
          <a:ln/>
        </p:spPr>
      </p:pic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2590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Who has a stake in the food-ordering platform?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4038600"/>
            <a:ext cx="25908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A stakeholder is anyone the system affects — or who affects it. List every group you can think of, then mark which are 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users</a:t>
            </a: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3695700" y="2286000"/>
            <a:ext cx="8115300" cy="523875"/>
          </a:xfrm>
          <a:prstGeom prst="roundRect">
            <a:avLst>
              <a:gd name="adj" fmla="val 1818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67150" y="2447925"/>
            <a:ext cx="209550" cy="209550"/>
          </a:xfrm>
          <a:prstGeom prst="rect">
            <a:avLst/>
          </a:prstGeom>
          <a:ln/>
        </p:spPr>
      </p:pic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191000" y="2419350"/>
            <a:ext cx="3514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Seed the list, then go wider: who is 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indirectly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affected?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3695700" y="2924175"/>
            <a:ext cx="81153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67150" y="3048000"/>
            <a:ext cx="209550" cy="209550"/>
          </a:xfrm>
          <a:prstGeom prst="rect">
            <a:avLst/>
          </a:prstGeom>
          <a:ln/>
        </p:spPr>
      </p:pic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210050" y="30575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Students — they order food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3695700" y="3495675"/>
            <a:ext cx="81153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867150" y="3619500"/>
            <a:ext cx="209550" cy="209550"/>
          </a:xfrm>
          <a:prstGeom prst="rect">
            <a:avLst/>
          </a:prstGeom>
          <a:ln/>
        </p:spPr>
      </p:pic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210050" y="36290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Restaurants — they receive and fulfil orders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3695700" y="4067175"/>
            <a:ext cx="81153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67150" y="4191000"/>
            <a:ext cx="209550" cy="209550"/>
          </a:xfrm>
          <a:prstGeom prst="rect">
            <a:avLst/>
          </a:prstGeom>
          <a:ln/>
        </p:spPr>
      </p:pic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210050" y="42005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Couriers — they deliver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3695700" y="4638675"/>
            <a:ext cx="81153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867150" y="4762500"/>
            <a:ext cx="209550" cy="209550"/>
          </a:xfrm>
          <a:prstGeom prst="rect">
            <a:avLst/>
          </a:prstGeom>
          <a:ln/>
        </p:spPr>
      </p:pic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210050" y="47720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University admin — campus rules and contracts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3695700" y="5210175"/>
            <a:ext cx="81153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3867150" y="5334000"/>
            <a:ext cx="209550" cy="20955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210050" y="5343525"/>
            <a:ext cx="742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Payment providers — they move the money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This list becomes your actor list in Week 4.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</p:spTree>
  </p:cSld>
</p:sld>
</file>

<file path=ppt/slides/slide3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115675" y="257175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LAB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Exercise 1.3 — Systems Around Your Campus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381000" y="1476375"/>
            <a:ext cx="3048000" cy="5000625"/>
          </a:xfrm>
          <a:prstGeom prst="roundRect">
            <a:avLst>
              <a:gd name="adj" fmla="val 375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25908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Which campus processes are information systems — and which are not (yet)?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For each, check the four elements. If one is missing, it is not yet an IS.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3695700" y="3133725"/>
            <a:ext cx="8115300" cy="790575"/>
          </a:xfrm>
          <a:prstGeom prst="roundRect">
            <a:avLst>
              <a:gd name="adj" fmla="val 12048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67150" y="3267075"/>
            <a:ext cx="209550" cy="209550"/>
          </a:xfrm>
          <a:prstGeom prst="rect">
            <a:avLst/>
          </a:prstGeom>
          <a:ln/>
        </p:spPr>
      </p:pic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4171950" y="3276600"/>
            <a:ext cx="2228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Already information systems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867150" y="3533775"/>
            <a:ext cx="777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Course registration · library borrowing · campus card top-up · exam timetable.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3695700" y="4038600"/>
            <a:ext cx="8115300" cy="790575"/>
          </a:xfrm>
          <a:prstGeom prst="roundRect">
            <a:avLst>
              <a:gd name="adj" fmla="val 12048"/>
            </a:avLst>
          </a:prstGeom>
          <a:solidFill>
            <a:srgbClr val="FDF3F3"/>
          </a:solidFill>
          <a:ln w="127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67150" y="4171950"/>
            <a:ext cx="209550" cy="209550"/>
          </a:xfrm>
          <a:prstGeom prst="rect">
            <a:avLst/>
          </a:prstGeom>
          <a:ln/>
        </p:spPr>
      </p:pic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171950" y="4181475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>Not yet (a gap to analyse)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867150" y="4438650"/>
            <a:ext cx="7772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Canteen queue · lost-and-found · study-room seat grabbing — think of one more from your own day.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99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Every gap is a candidate system someone could build.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</p:spTree>
  </p:cSld>
</p:sld>
</file>

<file path=ppt/slides/slide3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0515600" y="25717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HOMEWORK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Homework for Week 1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419100" y="1438275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419100" y="1438275"/>
            <a:ext cx="11430000" cy="419100"/>
          </a:xfrm>
          <a:custGeom>
            <a:pathLst>
              <a:path w="1200" h="4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8"/>
                </a:lnTo>
                <a:cubicBezTo>
                  <a:pt x="4" y="41"/>
                  <a:pt x="6" y="43"/>
                  <a:pt x="9" y="44"/>
                </a:cubicBezTo>
                <a:cubicBezTo>
                  <a:pt x="4" y="43"/>
                  <a:pt x="0" y="39"/>
                  <a:pt x="0" y="3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552575"/>
            <a:ext cx="190500" cy="190500"/>
          </a:xfrm>
          <a:prstGeom prst="rect">
            <a:avLst/>
          </a:prstGeom>
          <a:ln/>
        </p:spPr>
      </p:pic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95350" y="1552575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First: set up your toolchain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2981325" y="1562100"/>
            <a:ext cx="3629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draw.io · PlantUML · Git &amp; GitHub · VS Code · Markdown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724650" y="157162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Lab Guide §1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81000" y="2009775"/>
            <a:ext cx="2857500" cy="4467225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3438525"/>
            <a:ext cx="24003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Read first, then write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240030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C5D4EA"/>
                </a:solidFill>
                <a:latin typeface="Microsoft YaHei"/>
                <a:ea typeface="Microsoft YaHei"/>
              </a:rPr>
              <a:t>The project documents and the Lab Guide define everything that follows. Read them before the next class.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3505200" y="259080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3676650" y="27527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81425" y="2857500"/>
            <a:ext cx="209550" cy="209550"/>
          </a:xfrm>
          <a:prstGeom prst="rect">
            <a:avLst/>
          </a:prstGeom>
          <a:ln/>
        </p:spPr>
      </p:pic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4229100" y="2724150"/>
            <a:ext cx="3495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Read the Project Guidebook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4229100" y="2952750"/>
            <a:ext cx="3495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Milestones, submission rules, grading — handed out today.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505200" y="344805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676650" y="36099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781425" y="3714750"/>
            <a:ext cx="209550" cy="209550"/>
          </a:xfrm>
          <a:prstGeom prst="rect">
            <a:avLst/>
          </a:prstGeom>
          <a:ln/>
        </p:spPr>
      </p:pic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229100" y="358140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Read the Deadline Schedule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4229100" y="381000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All hard deadlines with dates. First: M0 due Fri Sep 11.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3505200" y="430530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676650" y="44672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781425" y="4572000"/>
            <a:ext cx="209550" cy="209550"/>
          </a:xfrm>
          <a:prstGeom prst="rect">
            <a:avLst/>
          </a:prstGeom>
          <a:ln/>
        </p:spPr>
      </p:pic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229100" y="4438650"/>
            <a:ext cx="2228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Read Larman Ch. 1–2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229100" y="46672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Skim — it frames the next two weeks.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505200" y="5162550"/>
            <a:ext cx="83058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3676650" y="5324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781425" y="5429250"/>
            <a:ext cx="209550" cy="209550"/>
          </a:xfrm>
          <a:prstGeom prst="rect">
            <a:avLst/>
          </a:prstGeom>
          <a:ln/>
        </p:spPr>
      </p:pic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229100" y="5295900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Write a 150-word paragraph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229100" y="5524500"/>
            <a:ext cx="49434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"One information system I use daily, and what would break if the analyst had failed."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</p:spTree>
  </p:cSld>
</p:sld>
</file>

<file path=ppt/slides/slide3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0715625" y="2571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W01 · PROJECT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81000" y="9144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Getting Ready for M0 — Kickoff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381000" y="2286000"/>
            <a:ext cx="669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The M0 checklist (pass / fail)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381000" y="2647950"/>
            <a:ext cx="669607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552450" y="27717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2838450"/>
            <a:ext cx="142875" cy="142875"/>
          </a:xfrm>
          <a:prstGeom prst="rect">
            <a:avLst/>
          </a:prstGeom>
          <a:ln/>
        </p:spPr>
      </p:pic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952500" y="28194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Confirm the team of four and agree on roles.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381000" y="3276600"/>
            <a:ext cx="669607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552450" y="34004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3467100"/>
            <a:ext cx="142875" cy="142875"/>
          </a:xfrm>
          <a:prstGeom prst="rect">
            <a:avLst/>
          </a:prstGeom>
          <a:ln/>
        </p:spPr>
      </p:pic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952500" y="344805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Draft a team charter — Appendix A of the Guidebook.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381000" y="3905250"/>
            <a:ext cx="669607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552450" y="40290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4095750"/>
            <a:ext cx="142875" cy="142875"/>
          </a:xfrm>
          <a:prstGeom prst="rect">
            <a:avLst/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52500" y="40767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List the stakeholders (from Exercise 1.2).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381000" y="4533900"/>
            <a:ext cx="669607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552450" y="46577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4724400"/>
            <a:ext cx="142875" cy="142875"/>
          </a:xfrm>
          <a:prstGeom prst="rect">
            <a:avLst/>
          </a:prstGeom>
          <a:ln/>
        </p:spPr>
      </p:pic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952500" y="470535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Write a one-paragraph project vision.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81000" y="5162550"/>
            <a:ext cx="669607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552450" y="52863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5353050"/>
            <a:ext cx="142875" cy="142875"/>
          </a:xfrm>
          <a:prstGeom prst="rect">
            <a:avLst/>
          </a:prstGeom>
          <a:ln/>
        </p:spPr>
      </p:pic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52500" y="53340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Create a GitHub repo and share it with the instructor.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7343775" y="1476375"/>
            <a:ext cx="4467225" cy="5000625"/>
          </a:xfrm>
          <a:prstGeom prst="roundRect">
            <a:avLst>
              <a:gd name="adj" fmla="val 255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572375" y="32289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B9CDF0"/>
                </a:solidFill>
                <a:latin typeface="Microsoft YaHei"/>
                <a:ea typeface="Microsoft YaHei"/>
              </a:rPr>
              <a:t>M0 DUE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572375" y="3533775"/>
            <a:ext cx="4010025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FFC107"/>
                </a:solidFill>
                <a:latin typeface="Microsoft YaHei"/>
                <a:ea typeface="Microsoft YaHei"/>
              </a:rPr>
              <a:t>Fri, Sep 11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572375" y="4210050"/>
            <a:ext cx="40100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Submit by pushing to GitHub and tagging the commit 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m0</a:t>
            </a:r>
            <a:r>
              <a:rPr lang="en-US" sz="1125">
                <a:solidFill>
                  <a:srgbClr val="C5D4EA"/>
                </a:solidFill>
                <a:latin typeface="Microsoft YaHei"/>
                <a:ea typeface="Microsoft YaHei"/>
              </a:rPr>
              <a:t>. Full protocol in the Deadline Guide.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401425" y="65913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6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62000" y="16668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01 · WRAP-UP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62000" y="2047875"/>
            <a:ext cx="10668000" cy="1371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900" b="1">
                <a:solidFill>
                  <a:srgbClr val="FFFFFF"/>
                </a:solidFill>
                <a:latin typeface="Georgia"/>
                <a:ea typeface="Georgia"/>
              </a:rPr>
              <a:t>You can now see</a:t>
            </a:r>
            <a:endParaRPr/>
          </a:p>
          <a:p>
            <a:pPr>
              <a:lnSpc>
                <a:spcPct val="114999"/>
              </a:lnSpc>
            </a:pPr>
            <a:r>
              <a:rPr lang="en-US" sz="3900" b="1">
                <a:solidFill>
                  <a:srgbClr val="FFFFFF"/>
                </a:solidFill>
                <a:latin typeface="Georgia"/>
                <a:ea typeface="Georgia"/>
              </a:rPr>
              <a:t>where we are going.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762000" y="3686175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62000" y="4057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952500" y="3981450"/>
            <a:ext cx="5057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C5D4EA"/>
                </a:solidFill>
                <a:latin typeface="Microsoft YaHei"/>
                <a:ea typeface="Microsoft YaHei"/>
              </a:rPr>
              <a:t>An information system = people + process + data + technology.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762000" y="4391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952500" y="4314825"/>
            <a:ext cx="4791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C5D4EA"/>
                </a:solidFill>
                <a:latin typeface="Microsoft YaHei"/>
                <a:ea typeface="Microsoft YaHei"/>
              </a:rPr>
              <a:t>The analyst is the bridge between business and technology.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762000" y="4724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52500" y="4648200"/>
            <a:ext cx="5934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C5D4EA"/>
                </a:solidFill>
                <a:latin typeface="Microsoft YaHei"/>
                <a:ea typeface="Microsoft YaHei"/>
              </a:rPr>
              <a:t>Analysis answers WHAT, design answers HOW — and WHAT comes first.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762000" y="5057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52500" y="4981575"/>
            <a:ext cx="5343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C5D4EA"/>
                </a:solidFill>
                <a:latin typeface="Microsoft YaHei"/>
                <a:ea typeface="Microsoft YaHei"/>
              </a:rPr>
              <a:t>Next week: object-oriented foundations &amp; the CampusBites kickoff.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00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Questions? Ask now — or email any time.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9810750" y="62198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Fall 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2026-09-16T16:32:33Z</dcterms:created>
  <dcterms:modified xsi:type="dcterms:W3CDTF">2026-09-16T16:32:33Z</dcterms:modified>
</cp:coreProperties>
</file>
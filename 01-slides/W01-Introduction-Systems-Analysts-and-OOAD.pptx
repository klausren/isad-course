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3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3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13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42" Type="http://schemas.openxmlformats.org/officeDocument/2006/relationships/viewProps" Target="viewProps.xml" /><Relationship Id="rId5" Type="http://schemas.openxmlformats.org/officeDocument/2006/relationships/slide" Target="slides/slide5.xml" /><Relationship Id="rId40" Type="http://schemas.openxmlformats.org/officeDocument/2006/relationships/presProps" Target="presProps.xml" /><Relationship Id="rId4" Type="http://schemas.openxmlformats.org/officeDocument/2006/relationships/slide" Target="slides/slide4.xml" /><Relationship Id="rId36" Type="http://schemas.openxmlformats.org/officeDocument/2006/relationships/slide" Target="slides/slide36.xml" /><Relationship Id="rId37" Type="http://schemas.openxmlformats.org/officeDocument/2006/relationships/slide" Target="slides/slide37.xml" /><Relationship Id="rId34" Type="http://schemas.openxmlformats.org/officeDocument/2006/relationships/slide" Target="slides/slide34.xml" /><Relationship Id="rId33" Type="http://schemas.openxmlformats.org/officeDocument/2006/relationships/slide" Target="slides/slide33.xml" /><Relationship Id="rId11" Type="http://schemas.openxmlformats.org/officeDocument/2006/relationships/slide" Target="slides/slide11.xml" /><Relationship Id="rId25" Type="http://schemas.openxmlformats.org/officeDocument/2006/relationships/slide" Target="slides/slide25.xml" /><Relationship Id="rId18" Type="http://schemas.openxmlformats.org/officeDocument/2006/relationships/slide" Target="slides/slide18.xml" /><Relationship Id="rId23" Type="http://schemas.openxmlformats.org/officeDocument/2006/relationships/slide" Target="slides/slide23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27" Type="http://schemas.openxmlformats.org/officeDocument/2006/relationships/slide" Target="slides/slide27.xml" /><Relationship Id="rId22" Type="http://schemas.openxmlformats.org/officeDocument/2006/relationships/slide" Target="slides/slide22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13" Type="http://schemas.openxmlformats.org/officeDocument/2006/relationships/slide" Target="slides/slide13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29" Type="http://schemas.openxmlformats.org/officeDocument/2006/relationships/slide" Target="slides/slide29.xml" /><Relationship Id="rId24" Type="http://schemas.openxmlformats.org/officeDocument/2006/relationships/slide" Target="slides/slide24.xml" /><Relationship Id="rId1" Type="http://schemas.openxmlformats.org/officeDocument/2006/relationships/slide" Target="slides/slide1.xml" /><Relationship Id="rId9" Type="http://schemas.openxmlformats.org/officeDocument/2006/relationships/slide" Target="slides/slide9.xml" /><Relationship Id="rId31" Type="http://schemas.openxmlformats.org/officeDocument/2006/relationships/slide" Target="slides/slide31.xml" /><Relationship Id="rId16" Type="http://schemas.openxmlformats.org/officeDocument/2006/relationships/slide" Target="slides/slide16.xml" /><Relationship Id="rId38" Type="http://schemas.openxmlformats.org/officeDocument/2006/relationships/slide" Target="slides/slide38.xml" /><Relationship Id="rId17" Type="http://schemas.openxmlformats.org/officeDocument/2006/relationships/slide" Target="slides/slide17.xml" /><Relationship Id="rId15" Type="http://schemas.openxmlformats.org/officeDocument/2006/relationships/slide" Target="slides/slide15.xml" /><Relationship Id="rId28" Type="http://schemas.openxmlformats.org/officeDocument/2006/relationships/slide" Target="slides/slide28.xml" /><Relationship Id="rId14" Type="http://schemas.openxmlformats.org/officeDocument/2006/relationships/slide" Target="slides/slide14.xml" /><Relationship Id="rId8" Type="http://schemas.openxmlformats.org/officeDocument/2006/relationships/slide" Target="slides/slide8.xml" /><Relationship Id="rId41" Type="http://schemas.openxmlformats.org/officeDocument/2006/relationships/tableStyles" Target="tableStyles.xml" /><Relationship Id="rId26" Type="http://schemas.openxmlformats.org/officeDocument/2006/relationships/slide" Target="slides/slide26.xml" /><Relationship Id="rId35" Type="http://schemas.openxmlformats.org/officeDocument/2006/relationships/slide" Target="slides/slide35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39" Type="http://schemas.openxmlformats.org/officeDocument/2006/relationships/notesMaster" Target="notesMasters/notesMaster1.xml" /><Relationship Id="rId32" Type="http://schemas.openxmlformats.org/officeDocument/2006/relationships/slide" Target="slides/slide32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2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6.svg" /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3" Type="http://schemas.openxmlformats.org/officeDocument/2006/relationships/image" Target="media/image11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31.svg" /><Relationship Id="rId4" Type="http://schemas.openxmlformats.org/officeDocument/2006/relationships/image" Target="media/image13.svg" /><Relationship Id="rId5" Type="http://schemas.openxmlformats.org/officeDocument/2006/relationships/image" Target="media/image12.svg" /><Relationship Id="rId3" Type="http://schemas.openxmlformats.org/officeDocument/2006/relationships/image" Target="media/image30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5" Type="http://schemas.openxmlformats.org/officeDocument/2006/relationships/image" Target="media/image9.svg" /><Relationship Id="rId1" Type="http://schemas.openxmlformats.org/officeDocument/2006/relationships/image" Target="media/image33.svg" /><Relationship Id="rId4" Type="http://schemas.openxmlformats.org/officeDocument/2006/relationships/image" Target="media/image35.svg" /><Relationship Id="rId2" Type="http://schemas.openxmlformats.org/officeDocument/2006/relationships/image" Target="media/image2.svg" /><Relationship Id="rId3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8' },&#10;        { n: '03', t: 'The Systems Analyst', p: '13' },&#10;        { n: '04', t: 'Analysis &amp;amp; Design in the SDLC', p: '18' },&#10;        { n: '05', t: 'The OOAD Roadmap', p: '23' },&#10;        { n: '06', t: 'Lab — Reading UML &amp;amp; Exercises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padding: '8px 40px 0 40px' }}&gt;&#10;    &lt;Box style={{ padding: '10px 18px', background: '#E8EFF8', borderRadius: 8 }}&gt;&#10;      &lt;Text style={{ fontSize: 16, color: '#0E3F8C', fontWeight: 'bold' }}&gt;Course grade = Formative assessment (40 points × 100%) + Summative assessment (100 points × 60%)&lt;/Text&gt;&#10;    &lt;/Box&gt;&#10;  &lt;/Box&gt;&#10;  &lt;Box style={{ flex: 1, padding: '18px 40px 0 40px', flexDirection: 'row', gap: 28, alignItems: 'stretch' }}&gt;&#10;    {[&#10;      { n: '40', pct: ' pts', t: 'Formative', d: 'Attendance 0 · Class participation 10 · Level-3 project 20 · Assignments 10. Built all semester long, counted in full.', hl: true },&#10;      { n: '60', pct: ' pts', t: 'Summative', d: 'Final defense in W16, scored out of 100 × 60%: walkthrough 30 · individual Q&amp;A 55 · English 10 · reflection 5.', hl: false },&#10;      { n: '+5', pct: '', t: 'Bonus', d: 'Extra patterns, exceptional refactoring, outstanding documentation. Course total capped at 100.', hl: false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64, fontWeight: 'bold', color: i === 0 ? '#FFC107' : '#1E4FA8', lineHeight: 1 }}&gt;{c.n}&lt;/Text&gt;&#10;          &lt;Text style={{ fontSize: 26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Formative 40 pts counted in full + defense score × 60% — no written exam&lt;/Text&gt;&#10;    &lt;Text style={{ fontSize: 14, color: '#1E4FA8', fontWeight: 'bold' }}&gt;0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381000" y="1381125"/>
            <a:ext cx="1143000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552450" y="1476375"/>
            <a:ext cx="11087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Course grade = Formative assessment (40 points × 100%) + Summative assessment (100 points × 60%)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381000" y="1933575"/>
            <a:ext cx="3629025" cy="45434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590550" y="2162175"/>
            <a:ext cx="685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276350" y="2162175"/>
            <a:ext cx="4476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C107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590550" y="300990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Formative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590550" y="336232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Attendance 0 · Class participation 10 · Level-3 project 20 · Assignments 10. Built all semester long, counted in full.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4276725" y="1933575"/>
            <a:ext cx="3638550" cy="45434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4486275" y="2162175"/>
            <a:ext cx="685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E4FA8"/>
                </a:solidFill>
                <a:latin typeface="Microsoft YaHei"/>
                <a:ea typeface="Microsoft YaHei"/>
              </a:rPr>
              <a:t>60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172075" y="2162175"/>
            <a:ext cx="4476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1E4FA8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4486275" y="300990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Summative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4486275" y="336232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Final defense in W16, scored out of 100 × 60%: walkthrough 30 · individual Q&amp;A 55 · English 10 · reflection 5.</a:t>
            </a:r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8181975" y="1933575"/>
            <a:ext cx="3629025" cy="45434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8391525" y="2162175"/>
            <a:ext cx="69532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E4FA8"/>
                </a:solidFill>
                <a:latin typeface="Microsoft YaHei"/>
                <a:ea typeface="Microsoft YaHei"/>
              </a:rPr>
              <a:t>+5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9086850" y="2162175"/>
            <a:ext cx="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8391525" y="300990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8391525" y="336232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Extra patterns, exceptional refactoring, outstanding documentation. Course total capped at 100.</a:t>
            </a:r>
            <a:endParaRPr/>
          </a:p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Formative 40 pts counted in full + defense score × 60% — no written exam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70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2px 40px 0 40px' }}&gt;&#10;    &lt;Text style={{ fontSize: 33, fontWeight: 'bold', color: '#0E3F8C' }}&gt;Assessment in Detail&lt;/Text&gt;&#10;  &lt;/Box&gt;&#10;  &lt;Box style={{ flex: 1, padding: '16px 40px 0 40px', flexDirection: 'row', gap: 22, alignItems: 'stretch' }}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0E3F8C', lineHeight: 1 }}&gt;40&lt;/Text&gt;&#10;        &lt;Text style={{ fontSize: 20, fontWeight: 'bold', color: '#0E3F8C' }}&gt; pts&lt;/Text&gt;&#10;        &lt;Text style={{ fontSize: 18, fontWeight: 'bold', color: '#1A2230', marginLeft: 10 }}&gt;Formative × 100%&lt;/Text&gt;&#10;      &lt;/Box&gt;&#10;      {[&#10;        ['F1', 'Attendance', '0'],&#10;        ['F2', 'Class participation', '10'],&#10;        ['F3', 'Level-3 project (CampusBites)', '20'],&#10;        ['F4', 'Assignments (5 × 2)', '10'],&#10;      ].map(([id, t, w]) =&gt; (&#10;        &lt;Box key={id} style={{ flexDirection: 'row', alignItems: 'center', gap: 10, padding: '10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4, fontWeight: 'bold', color: '#1E4FA8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F3 = milestones &lt;span style={{ fontWeight: 'bold', color: '#1A2230' }}&gt;14&lt;/span&gt; (M0 1 · M1 3 · M2 4 · M3 3 · M4 3) + &lt;span style={{ fontWeight: 'bold', color: '#1A2230' }}&gt;your own&lt;/span&gt; contribution &amp;amp; Git 6.&lt;/Text&gt;&#10;      &lt;/Box&gt;&#10;    &lt;/Box&gt;&#10;    &lt;Box style={{ flex: 1, padding: '18px 18px', background: '#0E3F8C', borderRadius: 12, flexDirection: 'column' }}&gt;&#10;      &lt;Box style={{ flexDirection: 'row', alignItems: 'baseline', marginBottom: 12 }}&gt;&#10;        &lt;Text style={{ fontSize: 40, fontWeight: 'bold', color: '#FFC107', lineHeight: 1 }}&gt;100&lt;/Text&gt;&#10;        &lt;Text style={{ fontSize: 20, fontWeight: 'bold', color: '#FFC107' }}&gt; × 60%&lt;/Text&gt;&#10;        &lt;Text style={{ fontSize: 18, fontWeight: 'bold', color: '#FFFFFF', marginLeft: 10 }}&gt;Summative · W16 defense&lt;/Text&gt;&#10;      &lt;/Box&gt;&#10;      {[&#10;        ['S1', 'Portfolio walkthrough (team)', '30'],&#10;        ['S2', 'Individual Q&amp;A', '55'],&#10;        ['S3', 'English communication', '10'],&#10;        ['S4', 'Reflection &amp; contribution report', '5'],&#10;      ].map(([id, t, w]) =&gt; (&#10;        &lt;Box key={id} style={{ flexDirection: 'row', alignItems: 'center', gap: 10, padding: '10px 0', borderBottom: '1px solid #2B5793' }}&gt;&#10;          &lt;Box style={{ width: 34, height: 22, borderRadius: 5, background: '#2B5793', justifyContent: 'center', alignItems: 'center' }}&gt;&#10;            &lt;Text style={{ fontSize: 12, fontWeight: 'bold', color: '#FFC107' }}&gt;{id}&lt;/Text&gt;&#10;          &lt;/Box&gt;&#10;          &lt;Text style={{ flex: 1, fontSize: 14, color: '#C5D4EA' }}&gt;{t}&lt;/Text&gt;&#10;          &lt;Text style={{ fontSize: 14, fontWeight: 'bold', color: '#FFC107' }}&gt;{w}&lt;/Text&gt;&#10;        &lt;/Box&gt;&#10;      ))}&#10;      &lt;Box style={{ marginTop: 12, padding: '12px 14px', background: '#16325F', borderRadius: 8 }}&gt;&#10;        &lt;Text style={{ fontSize: 13, color: '#B9CDF0', lineHeight: 1.5 }}&gt;Every member is questioned on &lt;span style={{ fontWeight: 'bold', color: '#FFFFFF' }}&gt;any part&lt;/span&gt; of the team's work — not just &quot;your part&quot;.&lt;/Text&gt;&#10;      &lt;/Box&gt;&#10;    &lt;/Box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1E4FA8', lineHeight: 1 }}&gt;+5&lt;/Text&gt;&#10;        &lt;Text style={{ fontSize: 20, fontWeight: 'bold', color: '#1E4FA8' }}&gt; max&lt;/Text&gt;&#10;        &lt;Text style={{ fontSize: 18, fontWeight: 'bold', color: '#1A2230', marginLeft: 10 }}&gt;Bonus · cap 100&lt;/Text&gt;&#10;      &lt;/Box&gt;&#10;      {[&#10;        ['C1', 'Extra patterns (correct)', '+2'],&#10;        ['C2', 'Refactoring narrative', '+2'],&#10;        ['C3', 'Outstanding docs', '+1'],&#10;      ].map(([id, t, w]) =&gt; (&#10;        &lt;Box key={id} style={{ flexDirection: 'row', alignItems: 'center', gap: 10, padding: '10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3, fontWeight: 'bold', color: '#D9534F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Weekly exercises feed &lt;span style={{ fontWeight: 'bold', color: '#1A2230' }}&gt;F2 participation&lt;/span&gt; (4 pts) — checked and discussed in class every week.&lt;/Text&gt;&#10;      &lt;/Box&gt;&#10;    &lt;/Box&gt;&#10;  &lt;/Box&gt;&#10;  &lt;Box style={{ height: 44, padding: '0 40px', flexDirection: 'row', alignItems: 'center', justifyContent: 'space-between', background: '#F7F9FC', borderTop: '1px solid #E5E7EB' }}&gt;&#10;    &lt;Box style={{ flexDirection: 'row', alignItems: 'center', gap: 8, flex: 1 }}&gt;&#10;      &lt;Text style={{ fontSize: 13, fontWeight: 'bold', color: '#0E3F8C' }}&gt;Milestones&lt;/Text&gt;&#10;      &lt;Text style={{ fontSize: 13, color: '#4A5568' }}&gt;M0 Sep 11 · M1 Oct 4 · M2 Oct 25 · M3 Nov 22 · M4 Dec 6 · M5 defense Dec 14–18&lt;/Text&gt;&#10;    &lt;/Box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342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1419225" y="1600200"/>
            <a:ext cx="14573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Formative × 100%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552450" y="217170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552450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647700" y="230505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F1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971550" y="2295525"/>
            <a:ext cx="2733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Attendance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00475" y="229552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552450" y="258127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647700" y="271462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F2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971550" y="2705100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Class participation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3724275" y="270510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552450" y="299085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647700" y="312420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F3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971550" y="3114675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Level-3 project (CampusBites)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3724275" y="311467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552450" y="340042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34956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647700" y="353377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F4</a:t>
            </a:r>
            <a:endParaRPr/>
          </a:p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971550" y="3524250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Assignments (5 × 2)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3724275" y="352425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552450" y="39243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685800" y="40386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F3 = milestones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14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(M0 1 · M1 3 · M2 4 · M3 3 · M4 3) +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your own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contribution &amp; Git 6.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6191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100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5048250" y="1600200"/>
            <a:ext cx="5715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 × 60%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5715000" y="1600200"/>
            <a:ext cx="20478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Summative · W16 defense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4429125" y="2171700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39" name=""/>
          <p:cNvSpPr/>
          <p:nvPr/>
        </p:nvSpPr>
        <p:spPr>
          <a:xfrm rot="0" flipH="0" flipV="0">
            <a:off x="4429125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4524375" y="230505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S1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4848225" y="229552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Portfolio walkthrough (team)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7610475" y="22955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  <p:sp>
        <p:nvSpPr>
          <p:cNvPr id="743" name=""/>
          <p:cNvSpPr/>
          <p:nvPr/>
        </p:nvSpPr>
        <p:spPr>
          <a:xfrm rot="0" flipH="0" flipV="0">
            <a:off x="4429125" y="2581275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4429125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4524375" y="271462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S2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848225" y="2705100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Individual Q&amp;A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7610475" y="270510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55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4429125" y="2990850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4429125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4524375" y="312420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S3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4848225" y="311467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English communication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7610475" y="311467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53" name=""/>
          <p:cNvSpPr/>
          <p:nvPr/>
        </p:nvSpPr>
        <p:spPr>
          <a:xfrm rot="0" flipH="0" flipV="0">
            <a:off x="4429125" y="3400425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4" name=""/>
          <p:cNvSpPr/>
          <p:nvPr/>
        </p:nvSpPr>
        <p:spPr>
          <a:xfrm rot="0" flipH="0" flipV="0">
            <a:off x="4429125" y="34956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524375" y="353377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S4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4848225" y="3524250"/>
            <a:ext cx="2743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Reflection &amp; contribution report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7686675" y="35242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4429125" y="392430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/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562475" y="403860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38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+5</a:t>
            </a:r>
            <a:endParaRPr/>
          </a:p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8753475" y="1600200"/>
            <a:ext cx="438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 max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9286875" y="1600200"/>
            <a:ext cx="13239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 · cap 100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8315325" y="217170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5" name=""/>
          <p:cNvSpPr/>
          <p:nvPr/>
        </p:nvSpPr>
        <p:spPr>
          <a:xfrm rot="0" flipH="0" flipV="0">
            <a:off x="8315325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401050" y="23050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8734425" y="229552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11496675" y="2295525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</a:t>
            </a:r>
            <a:endParaRPr/>
          </a:p>
        </p:txBody>
      </p:sp>
      <p:sp>
        <p:nvSpPr>
          <p:cNvPr id="769" name=""/>
          <p:cNvSpPr/>
          <p:nvPr/>
        </p:nvSpPr>
        <p:spPr>
          <a:xfrm rot="0" flipH="0" flipV="0">
            <a:off x="8315325" y="258127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8315325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8401050" y="27146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734425" y="2705100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11496675" y="2705100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8315325" y="299085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8315325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8401050" y="31242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8734425" y="311467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11496675" y="3114675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+1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8315325" y="3514725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8448675" y="3629025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feed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F2 participation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(4 pts) — checked and discussed in class every week.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One team of four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7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794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7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90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One team of four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01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3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807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810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81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821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825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829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10 / 38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74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60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6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2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299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4 / 38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0px 40px 4px 40px', flexDirection: 'row', alignItems: 'center', justifyContent: 'space-between' }}&gt;&#10;    &lt;Text style={{ fontSize: 33, fontWeight: 'bold', color: '#0E3F8C' }}&gt;Semester Calendar — 16 Weeks at a Glance&lt;/Text&gt;&#10;    &lt;Text style={{ fontSize: 14, color: '#1E4FA8', fontWeight: 'bold' }}&gt;25 / 38&lt;/Text&gt;&#10;  &lt;/Box&gt;&#10;  &lt;Box style={{ flex: 1, padding: '10px 40px 12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Wk', textStyle: { bold: true, color: '#FFFFFF', textAlign: 'center' }, cellStyle: { background: { color: '#0E3F8C' } } },&#10;          { text: 'Module', textStyle: { bold: true, color: '#FFFFFF', textAlign: 'center' }, cellStyle: { background: { color: '#0E3F8C' } } },&#10;          { text: 'Topic (lecture → lab)', textStyle: { bold: true, color: '#FFFFFF', textAlign: 'left' }, cellStyle: { background: { color: '#0E3F8C' } } },&#10;          { text: 'Milestone / review', textStyle: { bold: true, color: '#FFFFFF', textAlign: 'left' }, cellStyle: { background: { color: '#0E3F8C' } } },&#10;        ],&#10;        [&#10;          { text: 'W1', textStyle: { bold: true, color: '#1E4FA8', textAlign: 'center' }, cellStyle: { background: { color: '#F0F5FC' } } },&#10;          { text: 'A', textStyle: { bold: true, color: '#1E4FA8', textAlign: 'center' }, cellStyle: { background: { color: '#F0F5FC' } } },&#10;          { text: 'Introduction: systems, analysts &amp; OOAD roadmap', textStyle: { color: '#4A5568' }, cellStyle: { background: { color: '#F0F5FC' } } },&#10;          { text: 'Course kickoff', textStyle: { color: '#8B97A8' }, cellStyle: { background: { color: '#F0F5FC' } } },&#10;        ],&#10;        [&#10;          { text: 'W2', textStyle: { bold: true, color: '#1E4FA8', textAlign: 'center' } },&#10;          { text: 'A', textStyle: { bold: true, color: '#1E4FA8', textAlign: 'center' } },&#10;          { text: 'OO foundations · project kickoff', textStyle: { color: '#4A5568' } },&#10;          { text: 'M0 — Fri Sep 11', textStyle: { bold: true, color: '#D9534F' } },&#10;        ],&#10;        [&#10;          { text: 'W3', textStyle: { bold: true, color: '#1E4FA8', textAlign: 'center' }, cellStyle: { background: { color: '#F7F9FC' } } },&#10;          { text: 'A', textStyle: { bold: true, color: '#1E4FA8', textAlign: 'center' }, cellStyle: { background: { color: '#F7F9FC' } } },&#10;          { text: 'UML essentials &amp; modeling workflow', textStyle: { color: '#4A5568' }, cellStyle: { background: { color: '#F7F9FC' } } },&#10;          { text: '—', textStyle: { color: '#8B97A8' }, cellStyle: { background: { color: '#F7F9FC' } } },&#10;        ],&#10;        [&#10;          { text: 'W4', textStyle: { bold: true, color: '#3D7BD9', textAlign: 'center' } },&#10;          { text: 'B', textStyle: { bold: true, color: '#3D7BD9', textAlign: 'center' } },&#10;          { text: 'Requirements &amp; use case modeling', textStyle: { color: '#4A5568' } },&#10;          { text: 'Requirements pack issued', textStyle: { color: '#8B97A8' } },&#10;        ],&#10;        [&#10;          { text: 'W5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Use case specification &amp; scenarios', textStyle: { color: '#4A5568' }, cellStyle: { background: { color: '#F7F9FC' } } },&#10;          { text: 'M1 — Sun Oct 4', textStyle: { bold: true, color: '#D9534F' }, cellStyle: { background: { color: '#F7F9FC' } } },&#10;        ],&#10;        [&#10;          { text: 'W6', textStyle: { bold: true, color: '#3D7BD9', textAlign: 'center' } },&#10;          { text: 'B', textStyle: { bold: true, color: '#3D7BD9', textAlign: 'center' } },&#10;          { text: 'Domain modeling: classes &amp; attributes', textStyle: { color: '#4A5568' } },&#10;          { text: 'ΔC1 announced', textStyle: { color: '#8B97A8' } },&#10;        ],&#10;        [&#10;          { text: 'W7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Domain relationships (association, aggregation)', textStyle: { color: '#4A5568' }, cellStyle: { background: { color: '#F7F9FC' } } },&#10;          { text: '—', textStyle: { color: '#8B97A8' }, cellStyle: { background: { color: '#F7F9FC' } } },&#10;        ],&#10;        [&#10;          { text: 'W8', textStyle: { bold: true, color: '#3D7BD9', textAlign: 'center' } },&#10;          { text: 'B', textStyle: { bold: true, color: '#3D7BD9', textAlign: 'center' } },&#10;          { text: 'Behavior modeling I: sequence diagrams', textStyle: { color: '#4A5568' } },&#10;          { text: 'M2 — Sun Oct 25', textStyle: { bold: true, color: '#D9534F' } },&#10;        ],&#10;        [&#10;          { text: 'W9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Behavior modeling II: state &amp; activity', textStyle: { color: '#4A5568' }, cellStyle: { background: { color: '#F7F9FC' } } },&#10;          { text: 'Mid-term review', textStyle: { bold: true, color: '#1E4FA8' }, cellStyle: { background: { color: '#F7F9FC' } } },&#10;        ],&#10;        [&#10;          { text: 'W10', textStyle: { bold: true, color: '#1E4FA8', textAlign: 'center' } },&#10;          { text: 'C', textStyle: { bold: true, color: '#1E4FA8', textAlign: 'center' } },&#10;          { text: 'From analysis to design: design class diagram', textStyle: { color: '#4A5568' } },&#10;          { text: 'ΔC2 announced', textStyle: { color: '#8B97A8' } },&#10;        ],&#10;        [&#10;          { text: 'W11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rinciples I: GRASP', textStyle: { color: '#4A5568' }, cellStyle: { background: { color: '#F7F9FC' } } },&#10;          { text: '—', textStyle: { color: '#8B97A8' }, cellStyle: { background: { color: '#F7F9FC' } } },&#10;        ],&#10;        [&#10;          { text: 'W12', textStyle: { bold: true, color: '#1E4FA8', textAlign: 'center' } },&#10;          { text: 'C', textStyle: { bold: true, color: '#1E4FA8', textAlign: 'center' } },&#10;          { text: 'Design principles II: SOLID', textStyle: { color: '#4A5568' } },&#10;          { text: 'M3 — Sun Nov 22', textStyle: { bold: true, color: '#D9534F' } },&#10;        ],&#10;        [&#10;          { text: 'W13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: creational', textStyle: { color: '#4A5568' }, cellStyle: { background: { color: '#F7F9FC' } } },&#10;          { text: 'ΔC3 announced', textStyle: { color: '#8B97A8' }, cellStyle: { background: { color: '#F7F9FC' } } },&#10;        ],&#10;        [&#10;          { text: 'W14', textStyle: { bold: true, color: '#1E4FA8', textAlign: 'center' } },&#10;          { text: 'C', textStyle: { bold: true, color: '#1E4FA8', textAlign: 'center' } },&#10;          { text: 'Design patterns II: structural', textStyle: { color: '#4A5568' } },&#10;          { text: 'M4 — Sun Dec 6', textStyle: { bold: true, color: '#D9534F' } },&#10;        ],&#10;        [&#10;          { text: 'W15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II: behavioral', textStyle: { color: '#4A5568' }, cellStyle: { background: { color: '#F7F9FC' } } },&#10;          { text: 'Defense rehearsal', textStyle: { color: '#8B97A8' }, cellStyle: { background: { color: '#F7F9FC' } } },&#10;        ],&#10;        [&#10;          { text: 'W16', textStyle: { bold: true, color: '#FFC107', textAlign: 'center' }, cellStyle: { background: { color: '#0E3F8C' } } },&#10;          { text: 'D', textStyle: { bold: true, color: '#FFC107', textAlign: 'center' }, cellStyle: { background: { color: '#0E3F8C' } } },&#10;          { text: 'Architecture patterns · course review', textStyle: { color: '#C5D4EA' }, cellStyle: { background: { color: '#0E3F8C' } } },&#10;          { text: 'Final defense + M5 — Dec 20', textStyle: { bold: true, color: '#FFC107' }, cellStyle: { background: { color: '#0E3F8C' } } },&#10;        ],&#10;      ]}&#10;    /&gt;&#10;  &lt;/Box&gt;&#10;  &lt;Box style={{ height: 40, padding: '0 40px', flexDirection: 'row', alignItems: 'center', justifyContent: 'space-between' }}&gt;&#10;    &lt;Text style={{ fontSize: 13, color: '#8B97A8' }}&gt;Module A · Foundations (W1–3) → B · Analysis (W4–9) → C · Design (W10–15) → D · Wrap-up (W16)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327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code={`if type = CARD    -&gt; chargeCard(order)&#10;if type = WECHAT  -&gt; chargeWechat(order)&#10;if type = ALIPAY  -&gt; chargeAlipay(order)&#10;otherwise         -&gt; refuse: no such type`} language='text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571500" y="1952625"/>
            <a:ext cx="6315075" cy="1104900"/>
          </a:xfrm>
          <a:prstGeom prst="roundRect">
            <a:avLst>
              <a:gd name="adj" fmla="val 6897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71" name=""/>
          <p:cNvSpPr txBox="1"/>
          <p:nvPr/>
        </p:nvSpPr>
        <p:spPr>
          <a:xfrm rot="0" flipH="0" flipV="0">
            <a:off x="723900" y="2085975"/>
            <a:ext cx="6010275" cy="838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if type = CARD    -&gt; chargeCard(order)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if type = WECHAT  -&gt; chargeWechat(order)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if type = ALIPAY  -&gt; chargeAlipay(order)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otherwise         -&gt; refuse: no such type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38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30 / 38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426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«interface»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4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padding: '14px 40px 0 40px' }}&gt;&#10;    &lt;Box style={{ flexDirection: 'row', alignItems: 'center', gap: 12, padding: '12px 18px', background: '#E8EFF8', borderRadius: 10, borderLeft: '4px solid #1E4FA8' }}&gt;&#10;      &lt;FAIcon name=&quot;wrench&quot; style={{ fill: '#1E4FA8', width: 20, height: 20 }} /&gt;&#10;      &lt;Text style={{ fontSize: 16, fontWeight: 'bold', color: '#0E3F8C' }}&gt;First: set up your toolchain&lt;/Text&gt;&#10;      &lt;Text style={{ fontSize: 15, color: '#4A5568' }}&gt;draw.io · PlantUML · Git &amp;amp; GitHub · VS Code · Markdown&lt;/Text&gt;&#10;      &lt;Text style={{ fontSize: 14, color: '#1E4FA8', fontWeight: 'bold' }}&gt;Lab Guide §1&lt;/Text&gt;&#10;    &lt;/Box&gt;&#10;  &lt;/Box&gt;&#10;  &lt;Box style={{ flex: 1, padding: '16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project documents and the Lab Guide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19100" y="1438275"/>
            <a:ext cx="114300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419100" y="1438275"/>
            <a:ext cx="11430000" cy="419100"/>
          </a:xfrm>
          <a:custGeom>
            <a:pathLst>
              <a:path w="1200" h="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38"/>
                </a:lnTo>
                <a:cubicBezTo>
                  <a:pt x="4" y="41"/>
                  <a:pt x="6" y="43"/>
                  <a:pt x="9" y="44"/>
                </a:cubicBezTo>
                <a:cubicBezTo>
                  <a:pt x="4" y="43"/>
                  <a:pt x="0" y="39"/>
                  <a:pt x="0" y="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0550" y="1552575"/>
            <a:ext cx="190500" cy="190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95350" y="1552575"/>
            <a:ext cx="1971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First: set up your toolchain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2981325" y="1562100"/>
            <a:ext cx="3629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draw.io · PlantUML · Git &amp; GitHub · VS Code · Markdown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6724650" y="1571625"/>
            <a:ext cx="838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Lab Guide §1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81000" y="2009775"/>
            <a:ext cx="2857500" cy="44672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09600" y="3438525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09600" y="3914775"/>
            <a:ext cx="24003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project documents and the Lab Guide define everything that follows. Read them before the next class.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505200" y="25908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76650" y="27527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2857500"/>
            <a:ext cx="209550" cy="20955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4229100" y="27241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4229100" y="29527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505200" y="34480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76650" y="36099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3714750"/>
            <a:ext cx="209550" cy="209550"/>
          </a:xfrm>
          <a:prstGeom prst="rect">
            <a:avLst/>
          </a:prstGeom>
          <a:ln/>
        </p:spPr>
      </p:pic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229100" y="35814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229100" y="38100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05200" y="43053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676650" y="44672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4572000"/>
            <a:ext cx="209550" cy="209550"/>
          </a:xfrm>
          <a:prstGeom prst="rect">
            <a:avLst/>
          </a:prstGeom>
          <a:ln/>
        </p:spPr>
      </p:pic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4229100" y="44386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4229100" y="46672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3505200" y="51625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3676650" y="53244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781425" y="5429250"/>
            <a:ext cx="209550" cy="20955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4229100" y="52959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4229100" y="55245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Confirm the team of four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Confirm the team of four and agree on roles.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25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2026-09-09T14:57:11Z</dcterms:created>
  <dcterms:modified xsi:type="dcterms:W3CDTF">2026-09-09T14:57:11Z</dcterms:modified>
</cp:coreProperties>
</file>
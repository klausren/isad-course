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8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35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ppt/slides/slide34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 horzBarState="maximized">
    <p:restoredLeft sz="16523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5" Type="http://schemas.openxmlformats.org/officeDocument/2006/relationships/slide" Target="slides/slide5.xml" /><Relationship Id="rId41" Type="http://schemas.openxmlformats.org/officeDocument/2006/relationships/tableStyles" Target="tableStyles.xml" /><Relationship Id="rId37" Type="http://schemas.openxmlformats.org/officeDocument/2006/relationships/slide" Target="slides/slide37.xml" /><Relationship Id="rId35" Type="http://schemas.openxmlformats.org/officeDocument/2006/relationships/slide" Target="slides/slide35.xml" /><Relationship Id="rId33" Type="http://schemas.openxmlformats.org/officeDocument/2006/relationships/slide" Target="slides/slide33.xml" /><Relationship Id="rId7" Type="http://schemas.openxmlformats.org/officeDocument/2006/relationships/slide" Target="slides/slide7.xml" /><Relationship Id="rId32" Type="http://schemas.openxmlformats.org/officeDocument/2006/relationships/slide" Target="slides/slide32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29" Type="http://schemas.openxmlformats.org/officeDocument/2006/relationships/slide" Target="slides/slide29.xml" /><Relationship Id="rId39" Type="http://schemas.openxmlformats.org/officeDocument/2006/relationships/notesMaster" Target="notesMasters/notesMaster1.xml" /><Relationship Id="rId27" Type="http://schemas.openxmlformats.org/officeDocument/2006/relationships/slide" Target="slides/slide27.xml" /><Relationship Id="rId42" Type="http://schemas.openxmlformats.org/officeDocument/2006/relationships/viewProps" Target="viewProps.xml" /><Relationship Id="rId14" Type="http://schemas.openxmlformats.org/officeDocument/2006/relationships/slide" Target="slides/slide14.xml" /><Relationship Id="rId26" Type="http://schemas.openxmlformats.org/officeDocument/2006/relationships/slide" Target="slides/slide26.xml" /><Relationship Id="rId36" Type="http://schemas.openxmlformats.org/officeDocument/2006/relationships/slide" Target="slides/slide36.xml" /><Relationship Id="rId21" Type="http://schemas.openxmlformats.org/officeDocument/2006/relationships/slide" Target="slides/slide21.xml" /><Relationship Id="rId38" Type="http://schemas.openxmlformats.org/officeDocument/2006/relationships/slide" Target="slides/slide38.xml" /><Relationship Id="rId3" Type="http://schemas.openxmlformats.org/officeDocument/2006/relationships/slide" Target="slides/slide3.xml" /><Relationship Id="rId19" Type="http://schemas.openxmlformats.org/officeDocument/2006/relationships/slide" Target="slides/slide19.xml" /><Relationship Id="rId24" Type="http://schemas.openxmlformats.org/officeDocument/2006/relationships/slide" Target="slides/slide24.xml" /><Relationship Id="rId8" Type="http://schemas.openxmlformats.org/officeDocument/2006/relationships/slide" Target="slides/slide8.xml" /><Relationship Id="rId20" Type="http://schemas.openxmlformats.org/officeDocument/2006/relationships/slide" Target="slides/slide20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23" Type="http://schemas.openxmlformats.org/officeDocument/2006/relationships/slide" Target="slides/slide23.xml" /><Relationship Id="rId22" Type="http://schemas.openxmlformats.org/officeDocument/2006/relationships/slide" Target="slides/slide22.xml" /><Relationship Id="rId18" Type="http://schemas.openxmlformats.org/officeDocument/2006/relationships/slide" Target="slides/slide18.xml" /><Relationship Id="rId28" Type="http://schemas.openxmlformats.org/officeDocument/2006/relationships/slide" Target="slides/slide28.xml" /><Relationship Id="rId16" Type="http://schemas.openxmlformats.org/officeDocument/2006/relationships/slide" Target="slides/slide16.xml" /><Relationship Id="rId0" Type="http://schemas.openxmlformats.org/officeDocument/2006/relationships/slideMaster" Target="slideMasters/slideMaster1.xml" /><Relationship Id="rId17" Type="http://schemas.openxmlformats.org/officeDocument/2006/relationships/slide" Target="slides/slide17.xml" /><Relationship Id="rId15" Type="http://schemas.openxmlformats.org/officeDocument/2006/relationships/slide" Target="slides/slide15.xml" /><Relationship Id="rId6" Type="http://schemas.openxmlformats.org/officeDocument/2006/relationships/slide" Target="slides/slide6.xml" /><Relationship Id="rId40" Type="http://schemas.openxmlformats.org/officeDocument/2006/relationships/presProps" Target="presProps.xml" /><Relationship Id="rId13" Type="http://schemas.openxmlformats.org/officeDocument/2006/relationships/slide" Target="slides/slide13.xml" /><Relationship Id="rId34" Type="http://schemas.openxmlformats.org/officeDocument/2006/relationships/slide" Target="slides/slide34.xml" /><Relationship Id="rId12" Type="http://schemas.openxmlformats.org/officeDocument/2006/relationships/slide" Target="slides/slide12.xml" /><Relationship Id="rId25" Type="http://schemas.openxmlformats.org/officeDocument/2006/relationships/slide" Target="slides/slide25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3" Type="http://schemas.openxmlformats.org/officeDocument/2006/relationships/image" Target="media/image10.svg" /><Relationship Id="rId1" Type="http://schemas.openxmlformats.org/officeDocument/2006/relationships/image" Target="media/image8.svg" /><Relationship Id="rId2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3" Type="http://schemas.openxmlformats.org/officeDocument/2006/relationships/image" Target="media/image11.svg" /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4" Type="http://schemas.openxmlformats.org/officeDocument/2006/relationships/image" Target="media/image13.svg" /><Relationship Id="rId6" Type="http://schemas.openxmlformats.org/officeDocument/2006/relationships/image" Target="media/image31.svg" /><Relationship Id="rId3" Type="http://schemas.openxmlformats.org/officeDocument/2006/relationships/image" Target="media/image30.svg" /><Relationship Id="rId5" Type="http://schemas.openxmlformats.org/officeDocument/2006/relationships/image" Target="media/image12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8.svg" /><Relationship Id="rId2" Type="http://schemas.openxmlformats.org/officeDocument/2006/relationships/image" Target="media/image29.svg" 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image" Target="media/image32.svg" /><Relationship Id="rId2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5" Type="http://schemas.openxmlformats.org/officeDocument/2006/relationships/image" Target="media/image9.svg" /><Relationship Id="rId1" Type="http://schemas.openxmlformats.org/officeDocument/2006/relationships/image" Target="media/image33.svg" /><Relationship Id="rId3" Type="http://schemas.openxmlformats.org/officeDocument/2006/relationships/image" Target="media/image34.svg" /><Relationship Id="rId2" Type="http://schemas.openxmlformats.org/officeDocument/2006/relationships/image" Target="media/image2.svg" /><Relationship Id="rId4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flex: 1, padding: '18px 40px 0 40px', flexDirection: 'row', gap: 28, alignItems: 'stretch' }}&gt;&#10;    {[&#10;      { n: '50', pct: '%', t: 'Group Project', d: 'Milestone deliverables M0–M5: requirements, analysis models, design models, pattern catalog. Same grade for the whole team.' },&#10;      { n: '40', pct: '%', t: 'Individual Defense', d: 'Every member explains any part of the work. Contribution logs + Git history as teamwork evidence.' },&#10;      { n: '10', pct: '%', t: 'Bonus', d: 'Exceptional refactoring, extra patterns applied, outstanding English documentation.'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72, fontWeight: 'bold', color: i === 0 ? '#FFC107' : '#1E4FA8', lineHeight: 1 }}&gt;{c.n}&lt;/Text&gt;&#10;          &lt;Text style={{ fontSize: 30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Assessment = project + defense (Group 50 / Individual 40 / Bonus 10)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381000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90550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C107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362075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590550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590550" y="300037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Milestone deliverables M0–M5: requirements, analysis models, design models, pattern catalog. Same grade for the whole team.</a:t>
            </a:r>
            <a:endParaRPr/>
          </a:p>
        </p:txBody>
      </p:sp>
      <p:sp>
        <p:nvSpPr>
          <p:cNvPr id="688" name=""/>
          <p:cNvSpPr/>
          <p:nvPr/>
        </p:nvSpPr>
        <p:spPr>
          <a:xfrm rot="0" flipH="0" flipV="0">
            <a:off x="4276725" y="1476375"/>
            <a:ext cx="3638550" cy="50006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448627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525780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4486275" y="264795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Individual Defense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4486275" y="300037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member explains any part of the work. Contribution logs + Git history as teamwork evidence.</a:t>
            </a:r>
            <a:endParaRPr/>
          </a:p>
        </p:txBody>
      </p:sp>
      <p:sp>
        <p:nvSpPr>
          <p:cNvPr id="693" name=""/>
          <p:cNvSpPr/>
          <p:nvPr/>
        </p:nvSpPr>
        <p:spPr>
          <a:xfrm rot="0" flipH="0" flipV="0">
            <a:off x="8181975" y="1476375"/>
            <a:ext cx="3629025" cy="50006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8391525" y="1704975"/>
            <a:ext cx="7715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63050" y="1704975"/>
            <a:ext cx="2571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8391525" y="264795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8391525" y="3000375"/>
            <a:ext cx="32099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Exceptional refactoring, extra patterns applied, outstanding English documentation.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829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Assessment = project + defense (Group 50 / Individual 40 / Bonus 10)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70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50&lt;/Text&gt;&#10;        &lt;Text style={{ fontSize: 20, fontWeight: 'bold', color: '#0E3F8C' }}&gt;%&lt;/Text&gt;&#10;        &lt;Text style={{ fontSize: 18, fontWeight: 'bold', color: '#1A2230', marginLeft: 10 }}&gt;Group project&lt;/Text&gt;&#10;      &lt;/Box&gt;&#10;      {[&#10;        ['A1', 'Requirements &amp;amp; use cases', '15%'],&#10;        ['A2', 'Analysis models', '25%'],&#10;        ['A3', 'Design class diagram', '20%'],&#10;        ['A4', 'GRASP / SOLID application', '15%'],&#10;        ['A5', 'Pattern catalog (5+)', '20%'],&#10;        ['A6', 'English documentation', '5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40&lt;/Text&gt;&#10;        &lt;Text style={{ fontSize: 20, fontWeight: 'bold', color: '#FFC107' }}&gt;%&lt;/Text&gt;&#10;        &lt;Text style={{ fontSize: 18, fontWeight: 'bold', color: '#FFFFFF', marginLeft: 10 }}&gt;Individual&lt;/Text&gt;&#10;      &lt;/Box&gt;&#10;      {[&#10;        ['B1', 'Defense Q&amp;amp;A (W16)', '25%'],&#10;        ['B2', 'Contribution &amp;amp; Git log', '15%'],&#10;      ].map(([id, t, w]) =&gt; (&#10;        &lt;Box key={id} style={{ flexDirection: 'row', alignItems: 'center', gap: 10, padding: '8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10&lt;/Text&gt;&#10;        &lt;Text style={{ fontSize: 20, fontWeight: 'bold', color: '#1E4FA8' }}&gt;%&lt;/Text&gt;&#10;        &lt;Text style={{ fontSize: 18, fontWeight: 'bold', color: '#1A2230', marginLeft: 10 }}&gt;Bonus&lt;/Text&gt;&#10;      &lt;/Box&gt;&#10;      {[&#10;        ['C1', 'Extra patterns (correct)', '+6% max'],&#10;        ['C2', 'Refactoring narrative', '+4%'],&#10;        ['C3', 'Outstanding docs', '+2%'],&#10;        ['C4', 'Sharp review questions', '+2%'],&#10;      ].map(([id, t, w]) =&gt; (&#10;        &lt;Box key={id} style={{ flexDirection: 'row', alignItems: 'center', gap: 10, padding: '6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are &lt;span style={{ fontWeight: 'bold', color: '#1A2230' }}&gt;formative&lt;/span&gt; — not graded; they feed your milestones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50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1247775" y="1600200"/>
            <a:ext cx="11430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Group project</a:t>
            </a:r>
            <a:endParaRPr/>
          </a:p>
        </p:txBody>
      </p:sp>
      <p:sp>
        <p:nvSpPr>
          <p:cNvPr id="710" name=""/>
          <p:cNvSpPr/>
          <p:nvPr/>
        </p:nvSpPr>
        <p:spPr>
          <a:xfrm rot="0" flipH="0" flipV="0">
            <a:off x="552450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1" name=""/>
          <p:cNvSpPr/>
          <p:nvPr/>
        </p:nvSpPr>
        <p:spPr>
          <a:xfrm rot="0" flipH="0" flipV="0">
            <a:off x="552450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638175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A1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71550" y="22574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Requirements &amp;amp; use cases</a:t>
            </a:r>
            <a:endParaRPr/>
          </a:p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600450" y="22574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15" name=""/>
          <p:cNvSpPr/>
          <p:nvPr/>
        </p:nvSpPr>
        <p:spPr>
          <a:xfrm rot="0" flipH="0" flipV="0">
            <a:off x="552450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6" name=""/>
          <p:cNvSpPr/>
          <p:nvPr/>
        </p:nvSpPr>
        <p:spPr>
          <a:xfrm rot="0" flipH="0" flipV="0">
            <a:off x="552450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638175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A2</a:t>
            </a:r>
            <a:endParaRPr/>
          </a:p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971550" y="259080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</a:t>
            </a:r>
            <a:endParaRPr/>
          </a:p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3600450" y="259080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20" name=""/>
          <p:cNvSpPr/>
          <p:nvPr/>
        </p:nvSpPr>
        <p:spPr>
          <a:xfrm rot="0" flipH="0" flipV="0">
            <a:off x="552450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1" name=""/>
          <p:cNvSpPr/>
          <p:nvPr/>
        </p:nvSpPr>
        <p:spPr>
          <a:xfrm rot="0" flipH="0" flipV="0">
            <a:off x="552450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638175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A3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971550" y="292417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class diagram</a:t>
            </a:r>
            <a:endParaRPr/>
          </a:p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3600450" y="29241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552450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552450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638175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A4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971550" y="3257550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GRASP / SOLID application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3600450" y="32575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552450" y="35052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552450" y="35623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2" name="" descr="{&quot;isTemplate&quot;:true,&quot;type&quot;:&quot;text&quot;}"/>
          <p:cNvSpPr txBox="1"/>
          <p:nvPr/>
        </p:nvSpPr>
        <p:spPr>
          <a:xfrm rot="0" flipH="0" flipV="0">
            <a:off x="638175" y="36004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A5</a:t>
            </a:r>
            <a:endParaRPr/>
          </a:p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971550" y="3590925"/>
            <a:ext cx="2533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Pattern catalog (5+)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3600450" y="359092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20%</a:t>
            </a:r>
            <a:endParaRPr/>
          </a:p>
        </p:txBody>
      </p:sp>
      <p:sp>
        <p:nvSpPr>
          <p:cNvPr id="735" name=""/>
          <p:cNvSpPr/>
          <p:nvPr/>
        </p:nvSpPr>
        <p:spPr>
          <a:xfrm rot="0" flipH="0" flipV="0">
            <a:off x="552450" y="38385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36" name=""/>
          <p:cNvSpPr/>
          <p:nvPr/>
        </p:nvSpPr>
        <p:spPr>
          <a:xfrm rot="0" flipH="0" flipV="0">
            <a:off x="552450" y="38957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638175" y="39338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A6</a:t>
            </a:r>
            <a:endParaRPr/>
          </a:p>
        </p:txBody>
      </p:sp>
      <p:sp>
        <p:nvSpPr>
          <p:cNvPr id="738" name="" descr="{&quot;isTemplate&quot;:true,&quot;type&quot;:&quot;text&quot;}"/>
          <p:cNvSpPr txBox="1"/>
          <p:nvPr/>
        </p:nvSpPr>
        <p:spPr>
          <a:xfrm rot="0" flipH="0" flipV="0">
            <a:off x="971550" y="392430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English documentation</a:t>
            </a:r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3676650" y="3924300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5%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48577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43" name="" descr="{&quot;isTemplate&quot;:true,&quot;type&quot;:&quot;text&quot;}"/>
          <p:cNvSpPr txBox="1"/>
          <p:nvPr/>
        </p:nvSpPr>
        <p:spPr>
          <a:xfrm rot="0" flipH="0" flipV="0">
            <a:off x="5124450" y="1600200"/>
            <a:ext cx="809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Individual</a:t>
            </a:r>
            <a:endParaRPr/>
          </a:p>
        </p:txBody>
      </p:sp>
      <p:sp>
        <p:nvSpPr>
          <p:cNvPr id="744" name=""/>
          <p:cNvSpPr/>
          <p:nvPr/>
        </p:nvSpPr>
        <p:spPr>
          <a:xfrm rot="0" flipH="0" flipV="0">
            <a:off x="4429125" y="2171700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4429125" y="22479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514850" y="22860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B1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4848225" y="2276475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Defense Q&amp;amp;A (W16)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7486650" y="2276475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25%</a:t>
            </a:r>
            <a:endParaRPr/>
          </a:p>
        </p:txBody>
      </p:sp>
      <p:sp>
        <p:nvSpPr>
          <p:cNvPr id="749" name=""/>
          <p:cNvSpPr/>
          <p:nvPr/>
        </p:nvSpPr>
        <p:spPr>
          <a:xfrm rot="0" flipH="0" flipV="0">
            <a:off x="4429125" y="2543175"/>
            <a:ext cx="3333750" cy="381000"/>
          </a:xfrm>
          <a:custGeom>
            <a:pathLst>
              <a:path w="350" h="40">
                <a:moveTo>
                  <a:pt x="0" y="39"/>
                </a:moveTo>
                <a:lnTo>
                  <a:pt x="350" y="39"/>
                </a:lnTo>
                <a:lnTo>
                  <a:pt x="350" y="40"/>
                </a:lnTo>
                <a:lnTo>
                  <a:pt x="0" y="4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4429125" y="26193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4514850" y="26574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B2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4848225" y="2647950"/>
            <a:ext cx="2543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Contribution &amp;amp; Git log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7486650" y="2647950"/>
            <a:ext cx="276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15%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4429125" y="302895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562475" y="314325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8743950" y="1600200"/>
            <a:ext cx="1714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%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9010650" y="1600200"/>
            <a:ext cx="5334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315325" y="217170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1" name=""/>
          <p:cNvSpPr/>
          <p:nvPr/>
        </p:nvSpPr>
        <p:spPr>
          <a:xfrm rot="0" flipH="0" flipV="0">
            <a:off x="8315325" y="22288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401050" y="22669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8734425" y="22574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11096625" y="2257425"/>
            <a:ext cx="54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+6% max</a:t>
            </a:r>
            <a:endParaRPr/>
          </a:p>
        </p:txBody>
      </p:sp>
      <p:sp>
        <p:nvSpPr>
          <p:cNvPr id="765" name=""/>
          <p:cNvSpPr/>
          <p:nvPr/>
        </p:nvSpPr>
        <p:spPr>
          <a:xfrm rot="0" flipH="0" flipV="0">
            <a:off x="8315325" y="250507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6" name=""/>
          <p:cNvSpPr/>
          <p:nvPr/>
        </p:nvSpPr>
        <p:spPr>
          <a:xfrm rot="0" flipH="0" flipV="0">
            <a:off x="8315325" y="25622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401050" y="26003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8734425" y="259080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11382375" y="259080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+4%</a:t>
            </a:r>
            <a:endParaRPr/>
          </a:p>
        </p:txBody>
      </p:sp>
      <p:sp>
        <p:nvSpPr>
          <p:cNvPr id="770" name=""/>
          <p:cNvSpPr/>
          <p:nvPr/>
        </p:nvSpPr>
        <p:spPr>
          <a:xfrm rot="0" flipH="0" flipV="0">
            <a:off x="8315325" y="2838450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1" name=""/>
          <p:cNvSpPr/>
          <p:nvPr/>
        </p:nvSpPr>
        <p:spPr>
          <a:xfrm rot="0" flipH="0" flipV="0">
            <a:off x="8315325" y="28956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401050" y="29337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8734425" y="29241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11382375" y="2924175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75" name=""/>
          <p:cNvSpPr/>
          <p:nvPr/>
        </p:nvSpPr>
        <p:spPr>
          <a:xfrm rot="0" flipH="0" flipV="0">
            <a:off x="8315325" y="3171825"/>
            <a:ext cx="3324225" cy="342900"/>
          </a:xfrm>
          <a:custGeom>
            <a:pathLst>
              <a:path w="349" h="36">
                <a:moveTo>
                  <a:pt x="0" y="35"/>
                </a:moveTo>
                <a:lnTo>
                  <a:pt x="349" y="35"/>
                </a:lnTo>
                <a:lnTo>
                  <a:pt x="349" y="36"/>
                </a:lnTo>
                <a:lnTo>
                  <a:pt x="0" y="36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6" name=""/>
          <p:cNvSpPr/>
          <p:nvPr/>
        </p:nvSpPr>
        <p:spPr>
          <a:xfrm rot="0" flipH="0" flipV="0">
            <a:off x="8315325" y="32289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401050" y="326707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C4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8734425" y="3257550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Sharp review questions</a:t>
            </a:r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11382375" y="3257550"/>
            <a:ext cx="25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+2%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8315325" y="36195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8448675" y="37338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are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formative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— not graded; they feed your milestones.</a:t>
            </a:r>
            <a:endParaRPr/>
          </a:p>
        </p:txBody>
      </p:sp>
      <p:sp>
        <p:nvSpPr>
          <p:cNvPr id="782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3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6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Two teams of ~3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Two teams of ~3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&amp;lt;&amp;lt;interface&amp;gt;&amp;gt;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Form a team of ~3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Form a team of ~3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2026-09-03T08:56:16Z</dcterms:created>
  <dcterms:modified xsi:type="dcterms:W3CDTF">2026-09-03T08:56:16Z</dcterms:modified>
</cp:coreProperties>
</file>
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1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16.xml" ContentType="application/vnd.openxmlformats-officedocument.presentationml.slide+xml"/>
  <Override PartName="/ppt/slides/slide3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6.xml" /><Relationship Id="rId41" Type="http://schemas.openxmlformats.org/officeDocument/2006/relationships/tableStyles" Target="tableStyles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4" Type="http://schemas.openxmlformats.org/officeDocument/2006/relationships/slide" Target="slides/slide4.xml" /><Relationship Id="rId39" Type="http://schemas.openxmlformats.org/officeDocument/2006/relationships/notesMaster" Target="notesMasters/notesMaster1.xml" /><Relationship Id="rId37" Type="http://schemas.openxmlformats.org/officeDocument/2006/relationships/slide" Target="slides/slide37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38" Type="http://schemas.openxmlformats.org/officeDocument/2006/relationships/slide" Target="slides/slide38.xml" /><Relationship Id="rId28" Type="http://schemas.openxmlformats.org/officeDocument/2006/relationships/slide" Target="slides/slide28.xml" /><Relationship Id="rId27" Type="http://schemas.openxmlformats.org/officeDocument/2006/relationships/slide" Target="slides/slide27.xml" /><Relationship Id="rId9" Type="http://schemas.openxmlformats.org/officeDocument/2006/relationships/slide" Target="slides/slide9.xml" /><Relationship Id="rId26" Type="http://schemas.openxmlformats.org/officeDocument/2006/relationships/slide" Target="slides/slide26.xml" /><Relationship Id="rId33" Type="http://schemas.openxmlformats.org/officeDocument/2006/relationships/slide" Target="slides/slide33.xml" /><Relationship Id="rId15" Type="http://schemas.openxmlformats.org/officeDocument/2006/relationships/slide" Target="slides/slide15.xml" /><Relationship Id="rId25" Type="http://schemas.openxmlformats.org/officeDocument/2006/relationships/slide" Target="slides/slide25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0" Type="http://schemas.openxmlformats.org/officeDocument/2006/relationships/slideMaster" Target="slideMasters/slideMaster1.xml" /><Relationship Id="rId22" Type="http://schemas.openxmlformats.org/officeDocument/2006/relationships/slide" Target="slides/slide22.xml" /><Relationship Id="rId42" Type="http://schemas.openxmlformats.org/officeDocument/2006/relationships/viewProps" Target="viewProps.xml" /><Relationship Id="rId20" Type="http://schemas.openxmlformats.org/officeDocument/2006/relationships/slide" Target="slides/slide20.xml" /><Relationship Id="rId32" Type="http://schemas.openxmlformats.org/officeDocument/2006/relationships/slide" Target="slides/slide32.xml" /><Relationship Id="rId10" Type="http://schemas.openxmlformats.org/officeDocument/2006/relationships/slide" Target="slides/slide10.xml" /><Relationship Id="rId18" Type="http://schemas.openxmlformats.org/officeDocument/2006/relationships/slide" Target="slides/slide18.xml" /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21" Type="http://schemas.openxmlformats.org/officeDocument/2006/relationships/slide" Target="slides/slide21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23" Type="http://schemas.openxmlformats.org/officeDocument/2006/relationships/slide" Target="slides/slide23.xml" /><Relationship Id="rId14" Type="http://schemas.openxmlformats.org/officeDocument/2006/relationships/slide" Target="slides/slide14.xml" /><Relationship Id="rId24" Type="http://schemas.openxmlformats.org/officeDocument/2006/relationships/slide" Target="slides/slide24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6" Type="http://schemas.openxmlformats.org/officeDocument/2006/relationships/slide" Target="slides/slide16.xml" /><Relationship Id="rId31" Type="http://schemas.openxmlformats.org/officeDocument/2006/relationships/slide" Target="slides/slide31.xml" /><Relationship Id="rId12" Type="http://schemas.openxmlformats.org/officeDocument/2006/relationships/slide" Target="slides/slide12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31.svg" /><Relationship Id="rId5" Type="http://schemas.openxmlformats.org/officeDocument/2006/relationships/image" Target="media/image12.svg" /><Relationship Id="rId4" Type="http://schemas.openxmlformats.org/officeDocument/2006/relationships/image" Target="media/image13.svg" /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2" Type="http://schemas.openxmlformats.org/officeDocument/2006/relationships/image" Target="media/image33.svg" /><Relationship Id="rId4" Type="http://schemas.openxmlformats.org/officeDocument/2006/relationships/image" Target="media/image9.svg" /><Relationship Id="rId3" Type="http://schemas.openxmlformats.org/officeDocument/2006/relationships/image" Target="media/image34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45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46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1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57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flex: 1, padding: '18px 40px 0 40px', flexDirection: 'row', gap: 28, alignItems: 'stretch' }}&gt;&#10;    {[&#10;      { n: '50', pct: '%', t: 'Group Project', d: 'Milestone deliverables M0–M5: requirements, analysis models, design models, pattern catalog. Same grade for the whole team.' },&#10;      { n: '40', pct: '%', t: 'Individual Defense', d: 'Every member explains any part of the work. Contribution logs + Git history as teamwork evidence.' },&#10;      { n: '10', pct: '%', t: 'Bonus', d: 'Exceptional refactoring, extra patterns applied, outstanding English documentation.'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72, fontWeight: 'bold', color: i === 0 ? '#FFC107' : '#1E4FA8', lineHeight: 1 }}&gt;{c.n}&lt;/Text&gt;&#10;          &lt;Text style={{ fontSize: 30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Assessment = project + defense (Group 50 / Individual 40 / Bonus 10)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687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69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50&lt;/Text&gt;&#10;        &lt;Text style={{ fontSize: 20, fontWeight: 'bold', color: '#0E3F8C' }}&gt;%&lt;/Text&gt;&#10;        &lt;Text style={{ fontSize: 18, fontWeight: 'bold', color: '#1A2230', marginLeft: 10 }}&gt;Group project&lt;/Text&gt;&#10;      &lt;/Box&gt;&#10;      {[&#10;        ['A1', 'Requirements &amp;amp; use cases', '15%'],&#10;        ['A2', 'Analysis models', '25%'],&#10;        ['A3', 'Design class diagram', '20%'],&#10;        ['A4', 'GRASP / SOLID application', '15%'],&#10;        ['A5', 'Pattern catalog (5+)', '20%'],&#10;        ['A6', 'English documentation', '5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40&lt;/Text&gt;&#10;        &lt;Text style={{ fontSize: 20, fontWeight: 'bold', color: '#FFC107' }}&gt;%&lt;/Text&gt;&#10;        &lt;Text style={{ fontSize: 18, fontWeight: 'bold', color: '#FFFFFF', marginLeft: 10 }}&gt;Individual&lt;/Text&gt;&#10;      &lt;/Box&gt;&#10;      {[&#10;        ['B1', 'Defense Q&amp;amp;A (W16)', '25%'],&#10;        ['B2', 'Contribution &amp;amp; Git log', '15%'],&#10;      ].map(([id, t, w]) =&gt; (&#10;        &lt;Box key={id} style={{ flexDirection: 'row', alignItems: 'center', gap: 10, padding: '8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10&lt;/Text&gt;&#10;        &lt;Text style={{ fontSize: 20, fontWeight: 'bold', color: '#1E4FA8' }}&gt;%&lt;/Text&gt;&#10;        &lt;Text style={{ fontSize: 18, fontWeight: 'bold', color: '#1A2230', marginLeft: 10 }}&gt;Bonus&lt;/Text&gt;&#10;      &lt;/Box&gt;&#10;      {[&#10;        ['C1', 'Extra patterns (correct)', '+6% max'],&#10;        ['C2', 'Refactoring narrative', '+4%'],&#10;        ['C3', 'Outstanding docs', '+2%'],&#10;        ['C4', 'Sharp review questions', '+2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are &lt;span style={{ fontWeight: 'bold', color: '#1A2230' }}&gt;formative&lt;/span&gt; — not graded; they feed your milestones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1247775" y="1600200"/>
            <a:ext cx="1143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552450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05" name=""/>
          <p:cNvSpPr/>
          <p:nvPr/>
        </p:nvSpPr>
        <p:spPr>
          <a:xfrm rot="0" flipH="0" flipV="0">
            <a:off x="552450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638175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971550" y="22574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Requirements &amp;amp; use cases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3600450" y="22574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52450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0" name=""/>
          <p:cNvSpPr/>
          <p:nvPr/>
        </p:nvSpPr>
        <p:spPr>
          <a:xfrm rot="0" flipH="0" flipV="0">
            <a:off x="552450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638175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3600450" y="259080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552450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552450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38175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71550" y="292417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class diagram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3600450" y="29241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552450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552450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38175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A4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971550" y="325755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GRASP / SOLID application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3600450" y="32575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552450" y="35052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5" name=""/>
          <p:cNvSpPr/>
          <p:nvPr/>
        </p:nvSpPr>
        <p:spPr>
          <a:xfrm rot="0" flipH="0" flipV="0">
            <a:off x="552450" y="35623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638175" y="36004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A5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Pattern catalog (5+)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600450" y="35909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552450" y="38385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30" name=""/>
          <p:cNvSpPr/>
          <p:nvPr/>
        </p:nvSpPr>
        <p:spPr>
          <a:xfrm rot="0" flipH="0" flipV="0">
            <a:off x="552450" y="38957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638175" y="39338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A6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971550" y="392430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English documentation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3676650" y="3924300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5%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48577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5124450" y="1600200"/>
            <a:ext cx="809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Individual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4429125" y="2171700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39" name=""/>
          <p:cNvSpPr/>
          <p:nvPr/>
        </p:nvSpPr>
        <p:spPr>
          <a:xfrm rot="0" flipH="0" flipV="0">
            <a:off x="4429125" y="22479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4514850" y="22860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B1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848225" y="2276475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Defense Q&amp;amp;A (W16)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7486650" y="22764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4429125" y="2543175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4429125" y="26193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514850" y="26574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B2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48225" y="2647950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Contribution &amp;amp; Git log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7486650" y="26479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4429125" y="302895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4562475" y="314325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87439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9010650" y="1600200"/>
            <a:ext cx="533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8315325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55" name=""/>
          <p:cNvSpPr/>
          <p:nvPr/>
        </p:nvSpPr>
        <p:spPr>
          <a:xfrm rot="0" flipH="0" flipV="0">
            <a:off x="8315325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8401050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8734425" y="22574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1096625" y="22574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+6% max</a:t>
            </a:r>
            <a:endParaRPr/>
          </a:p>
        </p:txBody>
      </p:sp>
      <p:sp>
        <p:nvSpPr>
          <p:cNvPr id="759" name=""/>
          <p:cNvSpPr/>
          <p:nvPr/>
        </p:nvSpPr>
        <p:spPr>
          <a:xfrm rot="0" flipH="0" flipV="0">
            <a:off x="8315325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0" name=""/>
          <p:cNvSpPr/>
          <p:nvPr/>
        </p:nvSpPr>
        <p:spPr>
          <a:xfrm rot="0" flipH="0" flipV="0">
            <a:off x="8315325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8401050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734425" y="259080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11382375" y="259080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+4%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8315325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5" name=""/>
          <p:cNvSpPr/>
          <p:nvPr/>
        </p:nvSpPr>
        <p:spPr>
          <a:xfrm rot="0" flipH="0" flipV="0">
            <a:off x="8315325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401050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734425" y="29241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11382375" y="2924175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8315325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8315325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8401050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C4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734425" y="325755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Sharp review questions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1382375" y="325755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8315325" y="36195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448675" y="37338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are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formative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— not graded; they feed your milestones.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7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Two teams of ~3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Two teams of ~3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79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0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16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0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24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28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&amp;lt;&amp;lt;interface&amp;gt;&amp;gt;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two project documents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609600" y="3314700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609600" y="379095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two project documents define everything that follows. Read them before the next class.</a:t>
            </a:r>
            <a:endParaRPr/>
          </a:p>
        </p:txBody>
      </p:sp>
      <p:sp>
        <p:nvSpPr>
          <p:cNvPr id="564" name=""/>
          <p:cNvSpPr/>
          <p:nvPr/>
        </p:nvSpPr>
        <p:spPr>
          <a:xfrm rot="0" flipH="0" flipV="0">
            <a:off x="3505200" y="23241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5" name=""/>
          <p:cNvSpPr/>
          <p:nvPr/>
        </p:nvSpPr>
        <p:spPr>
          <a:xfrm rot="0" flipH="0" flipV="0">
            <a:off x="3676650" y="24860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90800"/>
            <a:ext cx="209550" cy="209550"/>
          </a:xfrm>
          <a:prstGeom prst="rect">
            <a:avLst/>
          </a:prstGeom>
          <a:ln/>
        </p:spPr>
      </p:pic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4229100" y="24574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4229100" y="26860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3505200" y="31813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3676650" y="3343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48050"/>
            <a:ext cx="209550" cy="209550"/>
          </a:xfrm>
          <a:prstGeom prst="rect">
            <a:avLst/>
          </a:prstGeom>
          <a:ln/>
        </p:spPr>
      </p:pic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4229100" y="33147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35433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74" name=""/>
          <p:cNvSpPr/>
          <p:nvPr/>
        </p:nvSpPr>
        <p:spPr>
          <a:xfrm rot="0" flipH="0" flipV="0">
            <a:off x="3505200" y="40386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5" name=""/>
          <p:cNvSpPr/>
          <p:nvPr/>
        </p:nvSpPr>
        <p:spPr>
          <a:xfrm rot="0" flipH="0" flipV="0">
            <a:off x="3676650" y="42005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305300"/>
            <a:ext cx="209550" cy="209550"/>
          </a:xfrm>
          <a:prstGeom prst="rect">
            <a:avLst/>
          </a:prstGeom>
          <a:ln/>
        </p:spPr>
      </p:pic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4229100" y="41719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44005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505200" y="48958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3676650" y="50577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62550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4229100" y="50292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52578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Form a team of ~3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Form a team of ~3 and agree on roles.</a:t>
            </a:r>
            <a:endParaRPr/>
          </a:p>
        </p:txBody>
      </p:sp>
      <p:sp>
        <p:nvSpPr>
          <p:cNvPr id="597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8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1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2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19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3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24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3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2026-09-02T10:12:56Z</dcterms:created>
  <dcterms:modified xsi:type="dcterms:W3CDTF">2026-09-02T10:12:56Z</dcterms:modified>
</cp:coreProperties>
</file>

<file path=[Content_Types].xml><?xml version="1.0" encoding="utf-8"?>
<Types xmlns="http://schemas.openxmlformats.org/package/2006/content-types">
  <Default Extension="svg" ContentType="image/svg+xml"/>
  <Default Extension="xml" ContentType="application/xml"/>
  <Default Extension="rels" ContentType="application/vnd.openxmlformats-package.relationships+xml"/>
  <Override PartName="/ppt/slides/slide27.xml" ContentType="application/vnd.openxmlformats-officedocument.presentationml.slide+xml"/>
  <Override PartName="/ppt/slides/slide1.xml" ContentType="application/vnd.openxmlformats-officedocument.presentationml.slide+xml"/>
  <Override PartName="/ppt/slides/slide25.xml" ContentType="application/vnd.openxmlformats-officedocument.presentationml.slide+xml"/>
  <Override PartName="/ppt/slides/slide35.xml" ContentType="application/vnd.openxmlformats-officedocument.presentationml.slide+xml"/>
  <Override PartName="/ppt/slides/slide23.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viewProps.xml" ContentType="application/vnd.openxmlformats-officedocument.presentationml.viewProps+xml"/>
  <Override PartName="/ppt/slides/slide2.xml" ContentType="application/vnd.openxmlformats-officedocument.presentationml.slide+xml"/>
  <Override PartName="/ppt/slides/slide10.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7.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docProps/custom.xml" ContentType="application/vnd.openxmlformats-officedocument.custom-properties+xml"/>
  <Override PartName="/ppt/slides/slide38.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6.xml" ContentType="application/vnd.openxmlformats-officedocument.presentationml.slide+xml"/>
  <Override PartName="/docProps/app.xml" ContentType="application/vnd.openxmlformats-officedocument.extended-properties+xml"/>
  <Override PartName="/ppt/slides/slide31.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slides/slide15.xml" ContentType="application/vnd.openxmlformats-officedocument.presentationml.slide+xml"/>
  <Override PartName="/ppt/slides/slide24.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7.xml" ContentType="application/vnd.openxmlformats-officedocument.presentationml.slide+xml"/>
  <Override PartName="/ppt/slides/slide39.xml" ContentType="application/vnd.openxmlformats-officedocument.presentationml.slide+xml"/>
  <Override PartName="/ppt/slides/slide16.xml" ContentType="application/vnd.openxmlformats-officedocument.presentationml.slide+xml"/>
  <Override PartName="/docProps/core.xml" ContentType="application/vnd.openxmlformats-package.core-properties+xml"/>
  <Override PartName="/ppt/slides/slide36.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presentation.xml" ContentType="application/vnd.openxmlformats-officedocument.presentationml.presentation.main+xml"/>
  <Override PartName="/ppt/slides/slide32.xml" ContentType="application/vnd.openxmlformats-officedocument.presentationml.slide+xml"/>
  <Override PartName="/ppt/slides/slide21.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8.xml" ContentType="application/vnd.openxmlformats-officedocument.presentationml.slide+xml"/>
  <Override PartName="/ppt/slides/slide14.xml" ContentType="application/vnd.openxmlformats-officedocument.presentationml.slide+xml"/>
</Types>
</file>

<file path=_rels/.rels><?xml version="1.0" encoding="UTF-8" standalone="yes"?><Relationships xmlns="http://schemas.openxmlformats.org/package/2006/relationships"><Relationship Id="rId3" Type="http://schemas.openxmlformats.org/officeDocument/2006/relationships/custom-properties" Target="docProps/custom.xml" /><Relationship Id="rId2" Type="http://schemas.openxmlformats.org/officeDocument/2006/relationships/extended-properties" Target="docProps/app.xml" /><Relationship Id="rId1" Type="http://schemas.openxmlformats.org/package/2006/relationships/metadata/core-properties" Target="docProps/core.xml" /><Relationship Id="rId0" Type="http://schemas.openxmlformats.org/officeDocument/2006/relationships/officeDocument" Target="ppt/presentation.xml" /></Relationships>
</file>

<file path=ppt/presentation.xml><?xml version="1.0" encoding="utf-8"?>
<p:presentation xmlns:r="http://schemas.openxmlformats.org/officeDocument/2006/relationships" xmlns:p="http://schemas.openxmlformats.org/presentationml/2006/main" xmlns:a="http://schemas.openxmlformats.org/drawingml/2006/main" firstSlideNum="1">
  <p:sldMasterIdLst>
    <p:sldMasterId id="2147483648" r:id="rId0"/>
  </p:sldMasterIdLst>
  <p:notesMasterIdLst>
    <p:notesMasterId r:id="rId40"/>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uri="{E76CE94A-603C-4142-B9EB-6D1370010A27}"/>
    <p:ext uri="{D31A062A-798A-4329-ABDD-BBA856620510}"/>
    <p:ext uri="{FD5EFAAD-0ECE-453E-9831-46B23BE46B34}"/>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a="http://schemas.openxmlformats.org/drawing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9" Type="http://schemas.openxmlformats.org/officeDocument/2006/relationships/slide" Target="slides/slide9.xml" /><Relationship Id="rId8" Type="http://schemas.openxmlformats.org/officeDocument/2006/relationships/slide" Target="slides/slide8.xml" /><Relationship Id="rId5" Type="http://schemas.openxmlformats.org/officeDocument/2006/relationships/slide" Target="slides/slide5.xml" /><Relationship Id="rId43" Type="http://schemas.openxmlformats.org/officeDocument/2006/relationships/viewProps" Target="viewProps.xml" /><Relationship Id="rId39" Type="http://schemas.openxmlformats.org/officeDocument/2006/relationships/slide" Target="slides/slide39.xml" /><Relationship Id="rId38" Type="http://schemas.openxmlformats.org/officeDocument/2006/relationships/slide" Target="slides/slide38.xml" /><Relationship Id="rId37" Type="http://schemas.openxmlformats.org/officeDocument/2006/relationships/slide" Target="slides/slide37.xml" /><Relationship Id="rId4" Type="http://schemas.openxmlformats.org/officeDocument/2006/relationships/slide" Target="slides/slide4.xml" /><Relationship Id="rId36" Type="http://schemas.openxmlformats.org/officeDocument/2006/relationships/slide" Target="slides/slide36.xml" /><Relationship Id="rId42" Type="http://schemas.openxmlformats.org/officeDocument/2006/relationships/tableStyles" Target="tableStyles.xml" /><Relationship Id="rId34" Type="http://schemas.openxmlformats.org/officeDocument/2006/relationships/slide" Target="slides/slide34.xml" /><Relationship Id="rId32" Type="http://schemas.openxmlformats.org/officeDocument/2006/relationships/slide" Target="slides/slide32.xml" /><Relationship Id="rId31" Type="http://schemas.openxmlformats.org/officeDocument/2006/relationships/slide" Target="slides/slide31.xml" /><Relationship Id="rId3" Type="http://schemas.openxmlformats.org/officeDocument/2006/relationships/slide" Target="slides/slide3.xml" /><Relationship Id="rId6" Type="http://schemas.openxmlformats.org/officeDocument/2006/relationships/slide" Target="slides/slide6.xml" /><Relationship Id="rId28" Type="http://schemas.openxmlformats.org/officeDocument/2006/relationships/slide" Target="slides/slide28.xml" /><Relationship Id="rId40" Type="http://schemas.openxmlformats.org/officeDocument/2006/relationships/notesMaster" Target="notesMasters/notesMaster1.xml" /><Relationship Id="rId26" Type="http://schemas.openxmlformats.org/officeDocument/2006/relationships/slide" Target="slides/slide26.xml" /><Relationship Id="rId18" Type="http://schemas.openxmlformats.org/officeDocument/2006/relationships/slide" Target="slides/slide18.xml" /><Relationship Id="rId22" Type="http://schemas.openxmlformats.org/officeDocument/2006/relationships/slide" Target="slides/slide22.xml" /><Relationship Id="rId24" Type="http://schemas.openxmlformats.org/officeDocument/2006/relationships/slide" Target="slides/slide24.xml" /><Relationship Id="rId0" Type="http://schemas.openxmlformats.org/officeDocument/2006/relationships/slideMaster" Target="slideMasters/slideMaster1.xml" /><Relationship Id="rId20" Type="http://schemas.openxmlformats.org/officeDocument/2006/relationships/slide" Target="slides/slide20.xml" /><Relationship Id="rId2" Type="http://schemas.openxmlformats.org/officeDocument/2006/relationships/slide" Target="slides/slide2.xml" /><Relationship Id="rId19" Type="http://schemas.openxmlformats.org/officeDocument/2006/relationships/slide" Target="slides/slide19.xml" /><Relationship Id="rId7" Type="http://schemas.openxmlformats.org/officeDocument/2006/relationships/slide" Target="slides/slide7.xml" /><Relationship Id="rId16" Type="http://schemas.openxmlformats.org/officeDocument/2006/relationships/slide" Target="slides/slide16.xml" /><Relationship Id="rId15" Type="http://schemas.openxmlformats.org/officeDocument/2006/relationships/slide" Target="slides/slide15.xml" /><Relationship Id="rId33" Type="http://schemas.openxmlformats.org/officeDocument/2006/relationships/slide" Target="slides/slide33.xml" /><Relationship Id="rId21" Type="http://schemas.openxmlformats.org/officeDocument/2006/relationships/slide" Target="slides/slide21.xml" /><Relationship Id="rId30" Type="http://schemas.openxmlformats.org/officeDocument/2006/relationships/slide" Target="slides/slide30.xml" /><Relationship Id="rId10" Type="http://schemas.openxmlformats.org/officeDocument/2006/relationships/slide" Target="slides/slide10.xml" /><Relationship Id="rId14" Type="http://schemas.openxmlformats.org/officeDocument/2006/relationships/slide" Target="slides/slide14.xml" /><Relationship Id="rId13" Type="http://schemas.openxmlformats.org/officeDocument/2006/relationships/slide" Target="slides/slide13.xml" /><Relationship Id="rId41" Type="http://schemas.openxmlformats.org/officeDocument/2006/relationships/presProps" Target="presProps.xml" /><Relationship Id="rId29" Type="http://schemas.openxmlformats.org/officeDocument/2006/relationships/slide" Target="slides/slide29.xml" /><Relationship Id="rId11" Type="http://schemas.openxmlformats.org/officeDocument/2006/relationships/slide" Target="slides/slide11.xml" /><Relationship Id="rId17" Type="http://schemas.openxmlformats.org/officeDocument/2006/relationships/slide" Target="slides/slide17.xml" /><Relationship Id="rId23" Type="http://schemas.openxmlformats.org/officeDocument/2006/relationships/slide" Target="slides/slide23.xml" /><Relationship Id="rId12" Type="http://schemas.openxmlformats.org/officeDocument/2006/relationships/slide" Target="slides/slide12.xml" /><Relationship Id="rId35" Type="http://schemas.openxmlformats.org/officeDocument/2006/relationships/slide" Target="slides/slide35.xml" /><Relationship Id="rId25" Type="http://schemas.openxmlformats.org/officeDocument/2006/relationships/slide" Target="slides/slide25.xml" /><Relationship Id="rId1" Type="http://schemas.openxmlformats.org/officeDocument/2006/relationships/slide" Target="slides/slide1.xml" /><Relationship Id="rId27" Type="http://schemas.openxmlformats.org/officeDocument/2006/relationships/slide" Target="slides/slide27.xml" /></Relationships>
</file>

<file path=ppt/notesMasters/_rels/notesMaster1.xml.rels><?xml version="1.0" encoding="UTF-8" standalone="yes"?><Relationships xmlns="http://schemas.openxmlformats.org/package/2006/relationships"><Relationship Id="rId0" Type="http://schemas.openxmlformats.org/officeDocument/2006/relationships/theme" Target="../theme/theme2.xml" /></Relationships>
</file>

<file path=ppt/notesMasters/notesMaster1.xml><?xml version="1.0" encoding="utf-8"?>
<p:notesMaster xmlns:p="http://schemas.openxmlformats.org/presentationml/2006/main" xmlns:a="http://schemas.openxmlformats.org/drawing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theme" Target="../theme/theme1.xml" /><Relationship Id="rId0" Type="http://schemas.openxmlformats.org/officeDocument/2006/relationships/slideLayout" Target="../slideLayouts/slideLayout1.xml" /></Relationships>
</file>

<file path=ppt/slideMasters/slideMaster1.xml><?xml version="1.0" encoding="utf-8"?>
<p:sldMaster xmlns:r="http://schemas.openxmlformats.org/officeDocument/2006/relationships" xmlns:p="http://schemas.openxmlformats.org/presentationml/2006/main" xmlns:a="http://schemas.openxmlformats.org/drawing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0"/>
  </p:sldLayoutIdLst>
  <p:hf sldNum="0" hdr="0" ftr="0" dt="0"/>
  <p:txStyles>
    <p:titleStyle>
      <a:lvl1pPr algn="ctr" defTabSz="914400" rtl="0" eaLnBrk="1" latinLnBrk="0" hangingPunct="1">
        <a:spcBef>
          <a:spcPct val="1"/>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4.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5.xml.rels><?xml version="1.0" encoding="UTF-8" standalone="yes"?><Relationships xmlns="http://schemas.openxmlformats.org/package/2006/relationships"><Relationship Id="rId1" Type="http://schemas.openxmlformats.org/officeDocument/2006/relationships/image" Target="media/image6.svg" /><Relationship Id="rId0" Type="http://schemas.openxmlformats.org/officeDocument/2006/relationships/slideLayout" Target="../slideLayouts/slideLayout1.xml" /></Relationships>
</file>

<file path=ppt/slides/_rels/slide6.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7.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8.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9.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0.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1.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2.xml.rels><?xml version="1.0" encoding="UTF-8" standalone="yes"?><Relationships xmlns="http://schemas.openxmlformats.org/package/2006/relationships"><Relationship Id="rId1" Type="http://schemas.openxmlformats.org/officeDocument/2006/relationships/image" Target="media/image1.svg" /><Relationship Id="rId0" Type="http://schemas.openxmlformats.org/officeDocument/2006/relationships/slideLayout" Target="../slideLayouts/slideLayout1.xml" /></Relationships>
</file>

<file path=ppt/slides/_rels/slide13.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4.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5.xml.rels><?xml version="1.0" encoding="UTF-8" standalone="yes"?><Relationships xmlns="http://schemas.openxmlformats.org/package/2006/relationships"><Relationship Id="rId1" Type="http://schemas.openxmlformats.org/officeDocument/2006/relationships/image" Target="media/image2.svg" /><Relationship Id="rId0" Type="http://schemas.openxmlformats.org/officeDocument/2006/relationships/slideLayout" Target="../slideLayouts/slideLayout1.xml" /></Relationships>
</file>

<file path=ppt/slides/_rels/slide16.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7.xml.rels><?xml version="1.0" encoding="UTF-8" standalone="yes"?><Relationships xmlns="http://schemas.openxmlformats.org/package/2006/relationships"><Relationship Id="rId1" Type="http://schemas.openxmlformats.org/officeDocument/2006/relationships/image" Target="media/image3.svg" /><Relationship Id="rId0" Type="http://schemas.openxmlformats.org/officeDocument/2006/relationships/slideLayout" Target="../slideLayouts/slideLayout1.xml" /></Relationships>
</file>

<file path=ppt/slides/_rels/slide18.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19.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0.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1.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2.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3.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4.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5.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6.xml.rels><?xml version="1.0" encoding="UTF-8" standalone="yes"?><Relationships xmlns="http://schemas.openxmlformats.org/package/2006/relationships"><Relationship Id="rId1" Type="http://schemas.openxmlformats.org/officeDocument/2006/relationships/image" Target="media/image4.svg" /><Relationship Id="rId0" Type="http://schemas.openxmlformats.org/officeDocument/2006/relationships/slideLayout" Target="../slideLayouts/slideLayout1.xml" /></Relationships>
</file>

<file path=ppt/slides/_rels/slide27.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8.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29.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0.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1.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2.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3.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4.xml.rels><?xml version="1.0" encoding="UTF-8" standalone="yes"?><Relationships xmlns="http://schemas.openxmlformats.org/package/2006/relationships"><Relationship Id="rId1" Type="http://schemas.openxmlformats.org/officeDocument/2006/relationships/image" Target="media/image5.svg" /><Relationship Id="rId0" Type="http://schemas.openxmlformats.org/officeDocument/2006/relationships/slideLayout" Target="../slideLayouts/slideLayout1.xml" /></Relationships>
</file>

<file path=ppt/slides/_rels/slide35.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6.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7.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8.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39.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slide1.xml><?xml version="1.0" encoding="utf-8"?>
<p:sld xmlns:p="http://schemas.openxmlformats.org/presentationml/2006/main" xmlns:a="http://schemas.openxmlformats.org/drawingml/2006/main">
  <p:cSld>
    <p:spTree>
      <p:nvGrpSpPr>
        <p:cNvPr id="1" name="" descr="&lt;Slide style={{ background: '#0E3F8C', padding: 0 }}&gt;&#10;  &lt;Box style={{ flexDirection: 'column', height: '100%', justifyContent: 'center', padding: '0 80px', position: 'relative' }}&gt;&#10;    &lt;Box style={{ position: 'absolute', top: 0, left: 0, right: 0, height: 8, background: '#1E4FA8' }} /&gt;&#10;    &lt;Box style={{ position: 'absolute', top: 8, left: 0, right: 0, height: 2, background: '#3D7BD9' }} /&gt;&#10;    &lt;Box style={{ flexDirection: 'row', alignItems: 'center', gap: 14, marginBottom: 30 }}&gt;&#10;      &lt;Box style={{ padding: '7px 18px', background: '#3D7BD9', borderRadius: 18 }}&gt;&#10;        &lt;Text style={{ fontSize: 16, color: '#FFFFFF', fontWeight: 'bold', letterSpacing: 2 }}&gt;ISAD · WEEK 06&lt;/Text&gt;&#10;      &lt;/Box&gt;&#10;      &lt;Box style={{ width: 56, height: 1, background: '#5B84C4' }} /&gt;&#10;      &lt;Text style={{ fontSize: 16, color: '#7FA2D6', letterSpacing: 1 }}&gt;MODULE B · OO ANALYSIS&lt;/Text&gt;&#10;    &lt;/Box&gt;&#10;    &lt;Text style={{ fontSize: 56, fontWeight: 'bold', color: '#FFFFFF', fontFamily: 'Georgia, serif', lineHeight: 1.12 }}&gt;&#10;      Domain Modeling&#10;    &lt;/Text&gt;&#10;    &lt;Box style={{ width: 88, height: 5, background: '#FFC107', marginTop: 28, marginBottom: 22 }} /&gt;&#10;    &lt;Text style={{ fontSize: 26, color: '#B9CDF0', lineHeight: 1.45 }}&gt;&#10;      Turning the Nouns in Your Specification into Boxes&#10;    &lt;/Text&gt;&#10;    &lt;Box style={{ position: 'absolute', bottom: 46, left: 80, right: 80, flexDirection: 'row', justifyContent: 'space-between', alignItems: 'center', borderTop: '1px solid #2B5793', paddingTop: 18 }}&gt;&#10;      &lt;Text style={{ fontSize: 17, color: '#C5D4EA' }}&gt;Ren Zheng · School of Software Engineering&lt;/Text&gt;&#10;      &lt;Text style={{ fontSize: 17, color: '#C5D4EA' }}&gt;Fall 2026&lt;/Text&gt;&#10;    &lt;/Box&gt;&#10;  &lt;/Box&gt;&#10;&lt;/Slide&gt;&#10;"/>
        <p:cNvGrpSpPr/>
        <p:nvPr/>
      </p:nvGrpSpPr>
      <p:grpSpPr>
        <a:xfrm>
          <a:off x="0" y="0"/>
          <a:ext cx="0" cy="0"/>
          <a:chOff x="0" y="0"/>
          <a:chExt cx="0" cy="0"/>
        </a:xfrm>
      </p:grpSpPr>
      <p:sp>
        <p:nvSpPr>
          <p:cNvPr id="2" name=""/>
          <p:cNvSpPr/>
          <p:nvPr/>
        </p:nvSpPr>
        <p:spPr>
          <a:xfrm rot="0" flipH="0" flipV="0">
            <a:off x="0" y="0"/>
            <a:ext cx="12192000" cy="6858000"/>
          </a:xfrm>
          <a:prstGeom prst="rect">
            <a:avLst/>
          </a:prstGeom>
          <a:solidFill>
            <a:srgbClr val="0E3F8C"/>
          </a:solidFill>
          <a:ln/>
        </p:spPr>
        <p:txBody>
          <a:bodyPr/>
          <a:p/>
        </p:txBody>
      </p:sp>
      <p:sp>
        <p:nvSpPr>
          <p:cNvPr id="3" name=""/>
          <p:cNvSpPr/>
          <p:nvPr/>
        </p:nvSpPr>
        <p:spPr>
          <a:xfrm rot="0" flipH="0" flipV="0">
            <a:off x="762000" y="2286000"/>
            <a:ext cx="1781175" cy="323850"/>
          </a:xfrm>
          <a:prstGeom prst="roundRect">
            <a:avLst>
              <a:gd name="adj" fmla="val 52941"/>
            </a:avLst>
          </a:prstGeom>
          <a:solidFill>
            <a:srgbClr val="3D7BD9"/>
          </a:solidFill>
          <a:ln/>
        </p:spPr>
        <p:txBody>
          <a:bodyPr/>
          <a:p/>
        </p:txBody>
      </p:sp>
      <p:sp>
        <p:nvSpPr>
          <p:cNvPr id="4" name="" descr="{&quot;isTemplate&quot;:true,&quot;type&quot;:&quot;text&quot;}"/>
          <p:cNvSpPr txBox="1"/>
          <p:nvPr/>
        </p:nvSpPr>
        <p:spPr>
          <a:xfrm rot="0" flipH="0" flipV="0">
            <a:off x="933450" y="2352675"/>
            <a:ext cx="1438275" cy="190500"/>
          </a:xfrm>
          <a:prstGeom prst="rect"/>
        </p:spPr>
        <p:txBody>
          <a:bodyPr wrap="none" lIns="0" tIns="0" rIns="0" bIns="0"/>
          <a:p>
            <a:pPr>
              <a:lnSpc>
                <a:spcPct val="100000"/>
              </a:lnSpc>
            </a:pPr>
            <a:r>
              <a:rPr lang="en-US" sz="1200" b="1" spc="150">
                <a:solidFill>
                  <a:srgbClr val="FFFFFF"/>
                </a:solidFill>
                <a:latin typeface="Microsoft YaHei"/>
                <a:ea typeface="Microsoft YaHei"/>
              </a:rPr>
              <a:t>ISAD · WEEK 06</a:t>
            </a:r>
            <a:endParaRPr/>
          </a:p>
        </p:txBody>
      </p:sp>
      <p:sp>
        <p:nvSpPr>
          <p:cNvPr id="5" name=""/>
          <p:cNvSpPr/>
          <p:nvPr/>
        </p:nvSpPr>
        <p:spPr>
          <a:xfrm rot="0" flipH="0" flipV="0">
            <a:off x="2676525" y="2447925"/>
            <a:ext cx="533400" cy="9525"/>
          </a:xfrm>
          <a:prstGeom prst="rect">
            <a:avLst/>
          </a:prstGeom>
          <a:solidFill>
            <a:srgbClr val="5B84C4"/>
          </a:solidFill>
          <a:ln/>
        </p:spPr>
        <p:txBody>
          <a:bodyPr/>
          <a:p/>
        </p:txBody>
      </p:sp>
      <p:sp>
        <p:nvSpPr>
          <p:cNvPr id="6" name="" descr="{&quot;isTemplate&quot;:true,&quot;type&quot;:&quot;text&quot;}"/>
          <p:cNvSpPr txBox="1"/>
          <p:nvPr/>
        </p:nvSpPr>
        <p:spPr>
          <a:xfrm rot="0" flipH="0" flipV="0">
            <a:off x="3343275" y="2352675"/>
            <a:ext cx="2171700" cy="190500"/>
          </a:xfrm>
          <a:prstGeom prst="rect"/>
        </p:spPr>
        <p:txBody>
          <a:bodyPr wrap="none" lIns="0" tIns="0" rIns="0" bIns="0"/>
          <a:p>
            <a:pPr>
              <a:lnSpc>
                <a:spcPct val="100000"/>
              </a:lnSpc>
            </a:pPr>
            <a:r>
              <a:rPr lang="en-US" sz="1200" spc="75">
                <a:solidFill>
                  <a:srgbClr val="7FA2D6"/>
                </a:solidFill>
                <a:latin typeface="Microsoft YaHei"/>
                <a:ea typeface="Microsoft YaHei"/>
              </a:rPr>
              <a:t>MODULE B · OO ANALYSIS</a:t>
            </a:r>
            <a:endParaRPr/>
          </a:p>
        </p:txBody>
      </p:sp>
      <p:sp>
        <p:nvSpPr>
          <p:cNvPr id="7" name="" descr="{&quot;isTemplate&quot;:true,&quot;type&quot;:&quot;text&quot;}"/>
          <p:cNvSpPr txBox="1"/>
          <p:nvPr/>
        </p:nvSpPr>
        <p:spPr>
          <a:xfrm rot="0" flipH="0" flipV="0">
            <a:off x="762000" y="2895600"/>
            <a:ext cx="10668000" cy="723900"/>
          </a:xfrm>
          <a:prstGeom prst="rect"/>
        </p:spPr>
        <p:txBody>
          <a:bodyPr wrap="none" lIns="0" tIns="0" rIns="0" bIns="0"/>
          <a:p>
            <a:pPr>
              <a:lnSpc>
                <a:spcPct val="112000"/>
              </a:lnSpc>
            </a:pPr>
            <a:r>
              <a:rPr lang="en-US" sz="4200" b="1">
                <a:solidFill>
                  <a:srgbClr val="FFFFFF"/>
                </a:solidFill>
                <a:latin typeface="Georgia"/>
                <a:ea typeface="Georgia"/>
              </a:rPr>
              <a:t>Domain Modeling</a:t>
            </a:r>
            <a:endParaRPr/>
          </a:p>
        </p:txBody>
      </p:sp>
      <p:sp>
        <p:nvSpPr>
          <p:cNvPr id="8" name=""/>
          <p:cNvSpPr/>
          <p:nvPr/>
        </p:nvSpPr>
        <p:spPr>
          <a:xfrm rot="0" flipH="0" flipV="0">
            <a:off x="762000" y="3886200"/>
            <a:ext cx="838200" cy="47625"/>
          </a:xfrm>
          <a:prstGeom prst="rect">
            <a:avLst/>
          </a:prstGeom>
          <a:solidFill>
            <a:srgbClr val="FFC107"/>
          </a:solidFill>
          <a:ln/>
        </p:spPr>
        <p:txBody>
          <a:bodyPr/>
          <a:p/>
        </p:txBody>
      </p:sp>
      <p:sp>
        <p:nvSpPr>
          <p:cNvPr id="9" name="" descr="{&quot;isTemplate&quot;:true,&quot;type&quot;:&quot;text&quot;}"/>
          <p:cNvSpPr txBox="1"/>
          <p:nvPr/>
        </p:nvSpPr>
        <p:spPr>
          <a:xfrm rot="0" flipH="0" flipV="0">
            <a:off x="762000" y="4143375"/>
            <a:ext cx="10668000" cy="438150"/>
          </a:xfrm>
          <a:prstGeom prst="rect"/>
        </p:spPr>
        <p:txBody>
          <a:bodyPr wrap="none" lIns="0" tIns="0" rIns="0" bIns="0"/>
          <a:p>
            <a:pPr>
              <a:lnSpc>
                <a:spcPct val="145000"/>
              </a:lnSpc>
            </a:pPr>
            <a:r>
              <a:rPr lang="en-US" sz="1950">
                <a:solidFill>
                  <a:srgbClr val="B9CDF0"/>
                </a:solidFill>
                <a:latin typeface="Microsoft YaHei"/>
                <a:ea typeface="Microsoft YaHei"/>
              </a:rPr>
              <a:t>Turning the Nouns in Your Specification into Boxes</a:t>
            </a:r>
            <a:endParaRPr/>
          </a:p>
        </p:txBody>
      </p:sp>
      <p:sp>
        <p:nvSpPr>
          <p:cNvPr id="10" name=""/>
          <p:cNvSpPr/>
          <p:nvPr/>
        </p:nvSpPr>
        <p:spPr>
          <a:xfrm rot="0" flipH="0" flipV="0">
            <a:off x="0" y="0"/>
            <a:ext cx="12192000" cy="76200"/>
          </a:xfrm>
          <a:prstGeom prst="rect">
            <a:avLst/>
          </a:prstGeom>
          <a:solidFill>
            <a:srgbClr val="1E4FA8"/>
          </a:solidFill>
          <a:ln/>
        </p:spPr>
        <p:txBody>
          <a:bodyPr/>
          <a:p/>
        </p:txBody>
      </p:sp>
      <p:sp>
        <p:nvSpPr>
          <p:cNvPr id="11" name=""/>
          <p:cNvSpPr/>
          <p:nvPr/>
        </p:nvSpPr>
        <p:spPr>
          <a:xfrm rot="0" flipH="0" flipV="0">
            <a:off x="0" y="76200"/>
            <a:ext cx="12192000" cy="19050"/>
          </a:xfrm>
          <a:prstGeom prst="rect">
            <a:avLst/>
          </a:prstGeom>
          <a:solidFill>
            <a:srgbClr val="3D7BD9"/>
          </a:solidFill>
          <a:ln/>
        </p:spPr>
        <p:txBody>
          <a:bodyPr/>
          <a:p/>
        </p:txBody>
      </p:sp>
      <p:sp>
        <p:nvSpPr>
          <p:cNvPr id="12" name=""/>
          <p:cNvSpPr/>
          <p:nvPr/>
        </p:nvSpPr>
        <p:spPr>
          <a:xfrm rot="0" flipH="0" flipV="0">
            <a:off x="762000" y="6038850"/>
            <a:ext cx="10668000" cy="390525"/>
          </a:xfrm>
          <a:custGeom>
            <a:pathLst>
              <a:path w="1120" h="41">
                <a:moveTo>
                  <a:pt x="0" y="0"/>
                </a:moveTo>
                <a:lnTo>
                  <a:pt x="1120" y="0"/>
                </a:lnTo>
                <a:lnTo>
                  <a:pt x="1120" y="1"/>
                </a:lnTo>
                <a:lnTo>
                  <a:pt x="0" y="1"/>
                </a:lnTo>
                <a:close/>
              </a:path>
            </a:pathLst>
          </a:custGeom>
          <a:solidFill>
            <a:srgbClr val="2B5793"/>
          </a:solidFill>
          <a:ln/>
        </p:spPr>
        <p:txBody>
          <a:bodyPr/>
          <a:p/>
        </p:txBody>
      </p:sp>
      <p:sp>
        <p:nvSpPr>
          <p:cNvPr id="13" name="" descr="{&quot;isTemplate&quot;:true,&quot;type&quot;:&quot;text&quot;}"/>
          <p:cNvSpPr txBox="1"/>
          <p:nvPr/>
        </p:nvSpPr>
        <p:spPr>
          <a:xfrm rot="0" flipH="0" flipV="0">
            <a:off x="762000" y="6219825"/>
            <a:ext cx="3219450" cy="200025"/>
          </a:xfrm>
          <a:prstGeom prst="rect"/>
        </p:spPr>
        <p:txBody>
          <a:bodyPr wrap="none" lIns="0" tIns="0" rIns="0" bIns="0"/>
          <a:p>
            <a:pPr>
              <a:lnSpc>
                <a:spcPct val="100000"/>
              </a:lnSpc>
            </a:pPr>
            <a:r>
              <a:rPr lang="en-US" sz="1275">
                <a:solidFill>
                  <a:srgbClr val="C5D4EA"/>
                </a:solidFill>
                <a:latin typeface="Microsoft YaHei"/>
                <a:ea typeface="Microsoft YaHei"/>
              </a:rPr>
              <a:t>Ren Zheng · School of Software Engineering</a:t>
            </a:r>
            <a:endParaRPr/>
          </a:p>
        </p:txBody>
      </p:sp>
      <p:sp>
        <p:nvSpPr>
          <p:cNvPr id="14" name="" descr="{&quot;isTemplate&quot;:true,&quot;type&quot;:&quot;text&quot;}"/>
          <p:cNvSpPr txBox="1"/>
          <p:nvPr/>
        </p:nvSpPr>
        <p:spPr>
          <a:xfrm rot="0" flipH="0" flipV="0">
            <a:off x="10763250" y="6219825"/>
            <a:ext cx="666750" cy="200025"/>
          </a:xfrm>
          <a:prstGeom prst="rect"/>
        </p:spPr>
        <p:txBody>
          <a:bodyPr wrap="none" lIns="0" tIns="0" rIns="0" bIns="0"/>
          <a:p>
            <a:pPr>
              <a:lnSpc>
                <a:spcPct val="100000"/>
              </a:lnSpc>
            </a:pPr>
            <a:r>
              <a:rPr lang="en-US" sz="1275">
                <a:solidFill>
                  <a:srgbClr val="C5D4EA"/>
                </a:solidFill>
                <a:latin typeface="Microsoft YaHei"/>
                <a:ea typeface="Microsoft YaHei"/>
              </a:rPr>
              <a:t>Fall 2026</a:t>
            </a:r>
            <a:endParaRPr/>
          </a:p>
        </p:txBody>
      </p:sp>
    </p:spTree>
  </p:cSld>
</p:sld>
</file>

<file path=ppt/slides/slide2.xml><?xml version="1.0" encoding="utf-8"?>
<p:sld xmlns:p="http://schemas.openxmlformats.org/presentationml/2006/main" xmlns:a="http://schemas.openxmlformats.org/drawingml/2006/main">
  <p:cSld>
    <p:spTree>
      <p:nvGrpSpPr>
        <p:cNvPr id="231" name="" descr="&lt;Slide style={{ background: '#FFFFFF', padding: 0 }}&gt;&#10;  &lt;Box style={{ flexDirection: 'row', height: '100%' }}&gt;&#10;    &lt;Box style={{ width: 320, background: '#0E3F8C', padding: '60px 44px', flexDirection: 'column', justifyContent: 'space-between' }}&gt;&#10;      &lt;Box&gt;&#10;        &lt;Box style={{ width: 40, height: 4, background: '#FFC107', marginBottom: 24 }} /&gt;&#10;        &lt;Text style={{ fontSize: 46, fontWeight: 'bold', color: '#FFFFFF', fontFamily: 'Georgia, serif', lineHeight: 1.15 }}&gt;Contents&lt;/Text&gt;&#10;        &lt;Text style={{ fontSize: 16, color: '#7FA2D6', marginTop: 18, letterSpacing: 1 }}&gt;WEEK 06 · ROADMAP&lt;/Text&gt;&#10;      &lt;/Box&gt;&#10;      &lt;Text style={{ fontSize: 15, color: '#5B84C4', lineHeight: 1.5 }}&gt;Domain&lt;br /&gt;Modeling&lt;/Text&gt;&#10;    &lt;/Box&gt;&#10;    &lt;Box style={{ flex: 1, padding: '50px 56px', flexDirection: 'column', gap: 15 }}&gt;&#10;      {[&#10;        { n: '01', t: 'From Scenarios to Classes', p: '03' },&#10;        { n: '02', t: 'Conceptual vs. Design Classes', p: '08' },&#10;        { n: '03', t: 'Entity, Boundary, Control', p: '14' },&#10;        { n: '04', t: 'Attributes and Operations', p: '20' },&#10;        { n: '05', t: 'Building the Model', p: '25' },&#10;        { n: '06', t: 'Lab — Exercise 6.1 &amp; ΔC1', p: '30' },&#10;      ].map((item) =&gt; (&#10;        &lt;Box key={item.n} style={{ flexDirection: 'row', alignItems: 'center', gap: 20, padding: '14px 20px', background: '#F7F9FC', borderRadius: 10, border: '1px solid #E5E7EB' }}&gt;&#10;          &lt;Box style={{ width: 52, height: 52, borderRadius: 8, background: '#1E4FA8', justifyContent: 'center', alignItems: 'center' }}&gt;&#10;            &lt;Text style={{ fontSize: 22, fontWeight: 'bold', color: '#FFFFFF' }}&gt;{item.n}&lt;/Text&gt;&#10;          &lt;/Box&gt;&#10;          &lt;Text style={{ flex: 1, fontSize: 20, color: '#1A2230', fontWeight: '600' }}&gt;{item.t}&lt;/Text&gt;&#10;          &lt;Text style={{ fontSize: 20, color: '#8B97A8', fontWeight: 'bold' }}&gt;{item.p}&lt;/Text&gt;&#10;        &lt;/Box&gt;&#10;      ))}&#10;    &lt;/Box&gt;&#10;  &lt;/Box&gt;&#10;&lt;/Slide&gt;&#10;"/>
        <p:cNvGrpSpPr/>
        <p:nvPr/>
      </p:nvGrpSpPr>
      <p:grpSpPr>
        <a:xfrm>
          <a:off x="0" y="0"/>
          <a:ext cx="0" cy="0"/>
          <a:chOff x="0" y="0"/>
          <a:chExt cx="0" cy="0"/>
        </a:xfrm>
      </p:grpSpPr>
      <p:sp>
        <p:nvSpPr>
          <p:cNvPr id="232" name=""/>
          <p:cNvSpPr/>
          <p:nvPr/>
        </p:nvSpPr>
        <p:spPr>
          <a:xfrm rot="0" flipH="0" flipV="0">
            <a:off x="0" y="0"/>
            <a:ext cx="12192000" cy="6858000"/>
          </a:xfrm>
          <a:prstGeom prst="rect">
            <a:avLst/>
          </a:prstGeom>
          <a:solidFill>
            <a:srgbClr val="FFFFFF"/>
          </a:solidFill>
          <a:ln/>
        </p:spPr>
        <p:txBody>
          <a:bodyPr/>
          <a:p/>
        </p:txBody>
      </p:sp>
      <p:sp>
        <p:nvSpPr>
          <p:cNvPr id="233" name=""/>
          <p:cNvSpPr/>
          <p:nvPr/>
        </p:nvSpPr>
        <p:spPr>
          <a:xfrm rot="0" flipH="0" flipV="0">
            <a:off x="0" y="0"/>
            <a:ext cx="3048000" cy="6858000"/>
          </a:xfrm>
          <a:prstGeom prst="rect">
            <a:avLst/>
          </a:prstGeom>
          <a:solidFill>
            <a:srgbClr val="0E3F8C"/>
          </a:solidFill>
          <a:ln/>
        </p:spPr>
        <p:txBody>
          <a:bodyPr/>
          <a:p/>
        </p:txBody>
      </p:sp>
      <p:sp>
        <p:nvSpPr>
          <p:cNvPr id="234" name=""/>
          <p:cNvSpPr/>
          <p:nvPr/>
        </p:nvSpPr>
        <p:spPr>
          <a:xfrm rot="0" flipH="0" flipV="0">
            <a:off x="419100" y="571500"/>
            <a:ext cx="381000" cy="38100"/>
          </a:xfrm>
          <a:prstGeom prst="rect">
            <a:avLst/>
          </a:prstGeom>
          <a:solidFill>
            <a:srgbClr val="FFC107"/>
          </a:solidFill>
          <a:ln/>
        </p:spPr>
        <p:txBody>
          <a:bodyPr/>
          <a:p/>
        </p:txBody>
      </p:sp>
      <p:sp>
        <p:nvSpPr>
          <p:cNvPr id="235" name="" descr="{&quot;isTemplate&quot;:true,&quot;type&quot;:&quot;text&quot;}"/>
          <p:cNvSpPr txBox="1"/>
          <p:nvPr/>
        </p:nvSpPr>
        <p:spPr>
          <a:xfrm rot="0" flipH="0" flipV="0">
            <a:off x="419100" y="838200"/>
            <a:ext cx="2209800" cy="609600"/>
          </a:xfrm>
          <a:prstGeom prst="rect"/>
        </p:spPr>
        <p:txBody>
          <a:bodyPr wrap="none" lIns="0" tIns="0" rIns="0" bIns="0"/>
          <a:p>
            <a:pPr>
              <a:lnSpc>
                <a:spcPct val="114999"/>
              </a:lnSpc>
            </a:pPr>
            <a:r>
              <a:rPr lang="en-US" sz="3450" b="1">
                <a:solidFill>
                  <a:srgbClr val="FFFFFF"/>
                </a:solidFill>
                <a:latin typeface="Georgia"/>
                <a:ea typeface="Georgia"/>
              </a:rPr>
              <a:t>Contents</a:t>
            </a:r>
            <a:endParaRPr/>
          </a:p>
        </p:txBody>
      </p:sp>
      <p:sp>
        <p:nvSpPr>
          <p:cNvPr id="236" name="" descr="{&quot;isTemplate&quot;:true,&quot;type&quot;:&quot;text&quot;}"/>
          <p:cNvSpPr txBox="1"/>
          <p:nvPr/>
        </p:nvSpPr>
        <p:spPr>
          <a:xfrm rot="0" flipH="0" flipV="0">
            <a:off x="419100" y="1619250"/>
            <a:ext cx="2209800" cy="190500"/>
          </a:xfrm>
          <a:prstGeom prst="rect"/>
        </p:spPr>
        <p:txBody>
          <a:bodyPr wrap="none" lIns="0" tIns="0" rIns="0" bIns="0"/>
          <a:p>
            <a:pPr>
              <a:lnSpc>
                <a:spcPct val="100000"/>
              </a:lnSpc>
            </a:pPr>
            <a:r>
              <a:rPr lang="en-US" sz="1200" spc="75">
                <a:solidFill>
                  <a:srgbClr val="7FA2D6"/>
                </a:solidFill>
                <a:latin typeface="Microsoft YaHei"/>
                <a:ea typeface="Microsoft YaHei"/>
              </a:rPr>
              <a:t>WEEK 06 · ROADMAP</a:t>
            </a:r>
            <a:endParaRPr/>
          </a:p>
        </p:txBody>
      </p:sp>
      <p:sp>
        <p:nvSpPr>
          <p:cNvPr id="237" name="" descr="{&quot;isTemplate&quot;:true,&quot;type&quot;:&quot;text&quot;}"/>
          <p:cNvSpPr txBox="1"/>
          <p:nvPr/>
        </p:nvSpPr>
        <p:spPr>
          <a:xfrm rot="0" flipH="0" flipV="0">
            <a:off x="419100" y="5772150"/>
            <a:ext cx="2209800" cy="514350"/>
          </a:xfrm>
          <a:prstGeom prst="rect"/>
        </p:spPr>
        <p:txBody>
          <a:bodyPr wrap="none" lIns="0" tIns="0" rIns="0" bIns="0"/>
          <a:p>
            <a:pPr>
              <a:lnSpc>
                <a:spcPct val="150000"/>
              </a:lnSpc>
            </a:pPr>
            <a:r>
              <a:rPr lang="en-US" sz="1125">
                <a:solidFill>
                  <a:srgbClr val="5B84C4"/>
                </a:solidFill>
                <a:latin typeface="Microsoft YaHei"/>
                <a:ea typeface="Microsoft YaHei"/>
              </a:rPr>
              <a:t>Domain</a:t>
            </a:r>
            <a:endParaRPr/>
          </a:p>
          <a:p>
            <a:pPr>
              <a:lnSpc>
                <a:spcPct val="150000"/>
              </a:lnSpc>
            </a:pPr>
            <a:r>
              <a:rPr lang="en-US" sz="1125">
                <a:solidFill>
                  <a:srgbClr val="5B84C4"/>
                </a:solidFill>
                <a:latin typeface="Microsoft YaHei"/>
                <a:ea typeface="Microsoft YaHei"/>
              </a:rPr>
              <a:t>Modeling</a:t>
            </a:r>
            <a:endParaRPr/>
          </a:p>
        </p:txBody>
      </p:sp>
      <p:sp>
        <p:nvSpPr>
          <p:cNvPr id="238" name=""/>
          <p:cNvSpPr/>
          <p:nvPr/>
        </p:nvSpPr>
        <p:spPr>
          <a:xfrm rot="0" flipH="0" flipV="0">
            <a:off x="3581400" y="476250"/>
            <a:ext cx="8077200" cy="762000"/>
          </a:xfrm>
          <a:prstGeom prst="roundRect">
            <a:avLst>
              <a:gd name="adj" fmla="val 12500"/>
            </a:avLst>
          </a:prstGeom>
          <a:solidFill>
            <a:srgbClr val="F7F9FC"/>
          </a:solidFill>
          <a:ln w="12700">
            <a:solidFill>
              <a:srgbClr val="E5E7EB"/>
            </a:solidFill>
            <a:prstDash val="solid"/>
          </a:ln>
        </p:spPr>
        <p:txBody>
          <a:bodyPr/>
          <a:p/>
        </p:txBody>
      </p:sp>
      <p:sp>
        <p:nvSpPr>
          <p:cNvPr id="239" name=""/>
          <p:cNvSpPr/>
          <p:nvPr/>
        </p:nvSpPr>
        <p:spPr>
          <a:xfrm rot="0" flipH="0" flipV="0">
            <a:off x="3771900" y="609600"/>
            <a:ext cx="495300" cy="495300"/>
          </a:xfrm>
          <a:prstGeom prst="roundRect">
            <a:avLst>
              <a:gd name="adj" fmla="val 15385"/>
            </a:avLst>
          </a:prstGeom>
          <a:solidFill>
            <a:srgbClr val="1E4FA8"/>
          </a:solidFill>
          <a:ln/>
        </p:spPr>
        <p:txBody>
          <a:bodyPr/>
          <a:p/>
        </p:txBody>
      </p:sp>
      <p:sp>
        <p:nvSpPr>
          <p:cNvPr id="240" name="" descr="{&quot;isTemplate&quot;:true,&quot;type&quot;:&quot;text&quot;}"/>
          <p:cNvSpPr txBox="1"/>
          <p:nvPr/>
        </p:nvSpPr>
        <p:spPr>
          <a:xfrm rot="0" flipH="0" flipV="0">
            <a:off x="3905250" y="733425"/>
            <a:ext cx="238125" cy="257175"/>
          </a:xfrm>
          <a:prstGeom prst="rect"/>
        </p:spPr>
        <p:txBody>
          <a:bodyPr wrap="none" lIns="0" tIns="0" rIns="0" bIns="0"/>
          <a:p>
            <a:pPr>
              <a:lnSpc>
                <a:spcPct val="100000"/>
              </a:lnSpc>
            </a:pPr>
            <a:r>
              <a:rPr lang="en-US" sz="1650" b="1">
                <a:solidFill>
                  <a:srgbClr val="FFFFFF"/>
                </a:solidFill>
                <a:latin typeface="Microsoft YaHei"/>
                <a:ea typeface="Microsoft YaHei"/>
              </a:rPr>
              <a:t>01</a:t>
            </a:r>
            <a:endParaRPr/>
          </a:p>
        </p:txBody>
      </p:sp>
      <p:sp>
        <p:nvSpPr>
          <p:cNvPr id="241" name="" descr="{&quot;isTemplate&quot;:true,&quot;type&quot;:&quot;text&quot;}"/>
          <p:cNvSpPr txBox="1"/>
          <p:nvPr/>
        </p:nvSpPr>
        <p:spPr>
          <a:xfrm rot="0" flipH="0" flipV="0">
            <a:off x="4457700" y="742950"/>
            <a:ext cx="6600825" cy="228600"/>
          </a:xfrm>
          <a:prstGeom prst="rect"/>
        </p:spPr>
        <p:txBody>
          <a:bodyPr wrap="none" lIns="0" tIns="0" rIns="0" bIns="0"/>
          <a:p>
            <a:pPr>
              <a:lnSpc>
                <a:spcPct val="100000"/>
              </a:lnSpc>
            </a:pPr>
            <a:r>
              <a:rPr lang="en-US" sz="1500" b="1">
                <a:solidFill>
                  <a:srgbClr val="1A2230"/>
                </a:solidFill>
                <a:latin typeface="Microsoft YaHei"/>
                <a:ea typeface="Microsoft YaHei"/>
              </a:rPr>
              <a:t>From Scenarios to Classes</a:t>
            </a:r>
            <a:endParaRPr/>
          </a:p>
        </p:txBody>
      </p:sp>
      <p:sp>
        <p:nvSpPr>
          <p:cNvPr id="242" name="" descr="{&quot;isTemplate&quot;:true,&quot;type&quot;:&quot;text&quot;}"/>
          <p:cNvSpPr txBox="1"/>
          <p:nvPr/>
        </p:nvSpPr>
        <p:spPr>
          <a:xfrm rot="0" flipH="0" flipV="0">
            <a:off x="11249025" y="742950"/>
            <a:ext cx="219075" cy="228600"/>
          </a:xfrm>
          <a:prstGeom prst="rect"/>
        </p:spPr>
        <p:txBody>
          <a:bodyPr wrap="none" lIns="0" tIns="0" rIns="0" bIns="0"/>
          <a:p>
            <a:pPr>
              <a:lnSpc>
                <a:spcPct val="100000"/>
              </a:lnSpc>
            </a:pPr>
            <a:r>
              <a:rPr lang="en-US" sz="1500" b="1">
                <a:solidFill>
                  <a:srgbClr val="8B97A8"/>
                </a:solidFill>
                <a:latin typeface="Microsoft YaHei"/>
                <a:ea typeface="Microsoft YaHei"/>
              </a:rPr>
              <a:t>03</a:t>
            </a:r>
            <a:endParaRPr/>
          </a:p>
        </p:txBody>
      </p:sp>
      <p:sp>
        <p:nvSpPr>
          <p:cNvPr id="243" name=""/>
          <p:cNvSpPr/>
          <p:nvPr/>
        </p:nvSpPr>
        <p:spPr>
          <a:xfrm rot="0" flipH="0" flipV="0">
            <a:off x="3581400" y="1381125"/>
            <a:ext cx="8077200" cy="762000"/>
          </a:xfrm>
          <a:prstGeom prst="roundRect">
            <a:avLst>
              <a:gd name="adj" fmla="val 12500"/>
            </a:avLst>
          </a:prstGeom>
          <a:solidFill>
            <a:srgbClr val="F7F9FC"/>
          </a:solidFill>
          <a:ln w="12700">
            <a:solidFill>
              <a:srgbClr val="E5E7EB"/>
            </a:solidFill>
            <a:prstDash val="solid"/>
          </a:ln>
        </p:spPr>
        <p:txBody>
          <a:bodyPr/>
          <a:p/>
        </p:txBody>
      </p:sp>
      <p:sp>
        <p:nvSpPr>
          <p:cNvPr id="244" name=""/>
          <p:cNvSpPr/>
          <p:nvPr/>
        </p:nvSpPr>
        <p:spPr>
          <a:xfrm rot="0" flipH="0" flipV="0">
            <a:off x="3771900" y="1514475"/>
            <a:ext cx="495300" cy="495300"/>
          </a:xfrm>
          <a:prstGeom prst="roundRect">
            <a:avLst>
              <a:gd name="adj" fmla="val 15385"/>
            </a:avLst>
          </a:prstGeom>
          <a:solidFill>
            <a:srgbClr val="1E4FA8"/>
          </a:solidFill>
          <a:ln/>
        </p:spPr>
        <p:txBody>
          <a:bodyPr/>
          <a:p/>
        </p:txBody>
      </p:sp>
      <p:sp>
        <p:nvSpPr>
          <p:cNvPr id="245" name="" descr="{&quot;isTemplate&quot;:true,&quot;type&quot;:&quot;text&quot;}"/>
          <p:cNvSpPr txBox="1"/>
          <p:nvPr/>
        </p:nvSpPr>
        <p:spPr>
          <a:xfrm rot="0" flipH="0" flipV="0">
            <a:off x="3905250" y="1638300"/>
            <a:ext cx="238125" cy="257175"/>
          </a:xfrm>
          <a:prstGeom prst="rect"/>
        </p:spPr>
        <p:txBody>
          <a:bodyPr wrap="none" lIns="0" tIns="0" rIns="0" bIns="0"/>
          <a:p>
            <a:pPr>
              <a:lnSpc>
                <a:spcPct val="100000"/>
              </a:lnSpc>
            </a:pPr>
            <a:r>
              <a:rPr lang="en-US" sz="1650" b="1">
                <a:solidFill>
                  <a:srgbClr val="FFFFFF"/>
                </a:solidFill>
                <a:latin typeface="Microsoft YaHei"/>
                <a:ea typeface="Microsoft YaHei"/>
              </a:rPr>
              <a:t>02</a:t>
            </a:r>
            <a:endParaRPr/>
          </a:p>
        </p:txBody>
      </p:sp>
      <p:sp>
        <p:nvSpPr>
          <p:cNvPr id="246" name="" descr="{&quot;isTemplate&quot;:true,&quot;type&quot;:&quot;text&quot;}"/>
          <p:cNvSpPr txBox="1"/>
          <p:nvPr/>
        </p:nvSpPr>
        <p:spPr>
          <a:xfrm rot="0" flipH="0" flipV="0">
            <a:off x="4457700" y="1647825"/>
            <a:ext cx="6600825" cy="228600"/>
          </a:xfrm>
          <a:prstGeom prst="rect"/>
        </p:spPr>
        <p:txBody>
          <a:bodyPr wrap="none" lIns="0" tIns="0" rIns="0" bIns="0"/>
          <a:p>
            <a:pPr>
              <a:lnSpc>
                <a:spcPct val="100000"/>
              </a:lnSpc>
            </a:pPr>
            <a:r>
              <a:rPr lang="en-US" sz="1500" b="1">
                <a:solidFill>
                  <a:srgbClr val="1A2230"/>
                </a:solidFill>
                <a:latin typeface="Microsoft YaHei"/>
                <a:ea typeface="Microsoft YaHei"/>
              </a:rPr>
              <a:t>Conceptual vs. Design Classes</a:t>
            </a:r>
            <a:endParaRPr/>
          </a:p>
        </p:txBody>
      </p:sp>
      <p:sp>
        <p:nvSpPr>
          <p:cNvPr id="247" name="" descr="{&quot;isTemplate&quot;:true,&quot;type&quot;:&quot;text&quot;}"/>
          <p:cNvSpPr txBox="1"/>
          <p:nvPr/>
        </p:nvSpPr>
        <p:spPr>
          <a:xfrm rot="0" flipH="0" flipV="0">
            <a:off x="11249025" y="1647825"/>
            <a:ext cx="219075" cy="228600"/>
          </a:xfrm>
          <a:prstGeom prst="rect"/>
        </p:spPr>
        <p:txBody>
          <a:bodyPr wrap="none" lIns="0" tIns="0" rIns="0" bIns="0"/>
          <a:p>
            <a:pPr>
              <a:lnSpc>
                <a:spcPct val="100000"/>
              </a:lnSpc>
            </a:pPr>
            <a:r>
              <a:rPr lang="en-US" sz="1500" b="1">
                <a:solidFill>
                  <a:srgbClr val="8B97A8"/>
                </a:solidFill>
                <a:latin typeface="Microsoft YaHei"/>
                <a:ea typeface="Microsoft YaHei"/>
              </a:rPr>
              <a:t>08</a:t>
            </a:r>
            <a:endParaRPr/>
          </a:p>
        </p:txBody>
      </p:sp>
      <p:sp>
        <p:nvSpPr>
          <p:cNvPr id="248" name=""/>
          <p:cNvSpPr/>
          <p:nvPr/>
        </p:nvSpPr>
        <p:spPr>
          <a:xfrm rot="0" flipH="0" flipV="0">
            <a:off x="3581400" y="2286000"/>
            <a:ext cx="8077200" cy="762000"/>
          </a:xfrm>
          <a:prstGeom prst="roundRect">
            <a:avLst>
              <a:gd name="adj" fmla="val 12500"/>
            </a:avLst>
          </a:prstGeom>
          <a:solidFill>
            <a:srgbClr val="F7F9FC"/>
          </a:solidFill>
          <a:ln w="12700">
            <a:solidFill>
              <a:srgbClr val="E5E7EB"/>
            </a:solidFill>
            <a:prstDash val="solid"/>
          </a:ln>
        </p:spPr>
        <p:txBody>
          <a:bodyPr/>
          <a:p/>
        </p:txBody>
      </p:sp>
      <p:sp>
        <p:nvSpPr>
          <p:cNvPr id="249" name=""/>
          <p:cNvSpPr/>
          <p:nvPr/>
        </p:nvSpPr>
        <p:spPr>
          <a:xfrm rot="0" flipH="0" flipV="0">
            <a:off x="3771900" y="2419350"/>
            <a:ext cx="495300" cy="495300"/>
          </a:xfrm>
          <a:prstGeom prst="roundRect">
            <a:avLst>
              <a:gd name="adj" fmla="val 15385"/>
            </a:avLst>
          </a:prstGeom>
          <a:solidFill>
            <a:srgbClr val="1E4FA8"/>
          </a:solidFill>
          <a:ln/>
        </p:spPr>
        <p:txBody>
          <a:bodyPr/>
          <a:p/>
        </p:txBody>
      </p:sp>
      <p:sp>
        <p:nvSpPr>
          <p:cNvPr id="250" name="" descr="{&quot;isTemplate&quot;:true,&quot;type&quot;:&quot;text&quot;}"/>
          <p:cNvSpPr txBox="1"/>
          <p:nvPr/>
        </p:nvSpPr>
        <p:spPr>
          <a:xfrm rot="0" flipH="0" flipV="0">
            <a:off x="3905250" y="2543175"/>
            <a:ext cx="238125" cy="257175"/>
          </a:xfrm>
          <a:prstGeom prst="rect"/>
        </p:spPr>
        <p:txBody>
          <a:bodyPr wrap="none" lIns="0" tIns="0" rIns="0" bIns="0"/>
          <a:p>
            <a:pPr>
              <a:lnSpc>
                <a:spcPct val="100000"/>
              </a:lnSpc>
            </a:pPr>
            <a:r>
              <a:rPr lang="en-US" sz="1650" b="1">
                <a:solidFill>
                  <a:srgbClr val="FFFFFF"/>
                </a:solidFill>
                <a:latin typeface="Microsoft YaHei"/>
                <a:ea typeface="Microsoft YaHei"/>
              </a:rPr>
              <a:t>03</a:t>
            </a:r>
            <a:endParaRPr/>
          </a:p>
        </p:txBody>
      </p:sp>
      <p:sp>
        <p:nvSpPr>
          <p:cNvPr id="251" name="" descr="{&quot;isTemplate&quot;:true,&quot;type&quot;:&quot;text&quot;}"/>
          <p:cNvSpPr txBox="1"/>
          <p:nvPr/>
        </p:nvSpPr>
        <p:spPr>
          <a:xfrm rot="0" flipH="0" flipV="0">
            <a:off x="4457700" y="2552700"/>
            <a:ext cx="6600825" cy="228600"/>
          </a:xfrm>
          <a:prstGeom prst="rect"/>
        </p:spPr>
        <p:txBody>
          <a:bodyPr wrap="none" lIns="0" tIns="0" rIns="0" bIns="0"/>
          <a:p>
            <a:pPr>
              <a:lnSpc>
                <a:spcPct val="100000"/>
              </a:lnSpc>
            </a:pPr>
            <a:r>
              <a:rPr lang="en-US" sz="1500" b="1">
                <a:solidFill>
                  <a:srgbClr val="1A2230"/>
                </a:solidFill>
                <a:latin typeface="Microsoft YaHei"/>
                <a:ea typeface="Microsoft YaHei"/>
              </a:rPr>
              <a:t>Entity, Boundary, Control</a:t>
            </a:r>
            <a:endParaRPr/>
          </a:p>
        </p:txBody>
      </p:sp>
      <p:sp>
        <p:nvSpPr>
          <p:cNvPr id="252" name="" descr="{&quot;isTemplate&quot;:true,&quot;type&quot;:&quot;text&quot;}"/>
          <p:cNvSpPr txBox="1"/>
          <p:nvPr/>
        </p:nvSpPr>
        <p:spPr>
          <a:xfrm rot="0" flipH="0" flipV="0">
            <a:off x="11249025" y="2552700"/>
            <a:ext cx="219075" cy="228600"/>
          </a:xfrm>
          <a:prstGeom prst="rect"/>
        </p:spPr>
        <p:txBody>
          <a:bodyPr wrap="none" lIns="0" tIns="0" rIns="0" bIns="0"/>
          <a:p>
            <a:pPr>
              <a:lnSpc>
                <a:spcPct val="100000"/>
              </a:lnSpc>
            </a:pPr>
            <a:r>
              <a:rPr lang="en-US" sz="1500" b="1">
                <a:solidFill>
                  <a:srgbClr val="8B97A8"/>
                </a:solidFill>
                <a:latin typeface="Microsoft YaHei"/>
                <a:ea typeface="Microsoft YaHei"/>
              </a:rPr>
              <a:t>14</a:t>
            </a:r>
            <a:endParaRPr/>
          </a:p>
        </p:txBody>
      </p:sp>
      <p:sp>
        <p:nvSpPr>
          <p:cNvPr id="253" name=""/>
          <p:cNvSpPr/>
          <p:nvPr/>
        </p:nvSpPr>
        <p:spPr>
          <a:xfrm rot="0" flipH="0" flipV="0">
            <a:off x="3581400" y="3190875"/>
            <a:ext cx="8077200" cy="762000"/>
          </a:xfrm>
          <a:prstGeom prst="roundRect">
            <a:avLst>
              <a:gd name="adj" fmla="val 12500"/>
            </a:avLst>
          </a:prstGeom>
          <a:solidFill>
            <a:srgbClr val="F7F9FC"/>
          </a:solidFill>
          <a:ln w="12700">
            <a:solidFill>
              <a:srgbClr val="E5E7EB"/>
            </a:solidFill>
            <a:prstDash val="solid"/>
          </a:ln>
        </p:spPr>
        <p:txBody>
          <a:bodyPr/>
          <a:p/>
        </p:txBody>
      </p:sp>
      <p:sp>
        <p:nvSpPr>
          <p:cNvPr id="254" name=""/>
          <p:cNvSpPr/>
          <p:nvPr/>
        </p:nvSpPr>
        <p:spPr>
          <a:xfrm rot="0" flipH="0" flipV="0">
            <a:off x="3771900" y="3324225"/>
            <a:ext cx="495300" cy="495300"/>
          </a:xfrm>
          <a:prstGeom prst="roundRect">
            <a:avLst>
              <a:gd name="adj" fmla="val 15385"/>
            </a:avLst>
          </a:prstGeom>
          <a:solidFill>
            <a:srgbClr val="1E4FA8"/>
          </a:solidFill>
          <a:ln/>
        </p:spPr>
        <p:txBody>
          <a:bodyPr/>
          <a:p/>
        </p:txBody>
      </p:sp>
      <p:sp>
        <p:nvSpPr>
          <p:cNvPr id="255" name="" descr="{&quot;isTemplate&quot;:true,&quot;type&quot;:&quot;text&quot;}"/>
          <p:cNvSpPr txBox="1"/>
          <p:nvPr/>
        </p:nvSpPr>
        <p:spPr>
          <a:xfrm rot="0" flipH="0" flipV="0">
            <a:off x="3905250" y="3448050"/>
            <a:ext cx="238125" cy="257175"/>
          </a:xfrm>
          <a:prstGeom prst="rect"/>
        </p:spPr>
        <p:txBody>
          <a:bodyPr wrap="none" lIns="0" tIns="0" rIns="0" bIns="0"/>
          <a:p>
            <a:pPr>
              <a:lnSpc>
                <a:spcPct val="100000"/>
              </a:lnSpc>
            </a:pPr>
            <a:r>
              <a:rPr lang="en-US" sz="1650" b="1">
                <a:solidFill>
                  <a:srgbClr val="FFFFFF"/>
                </a:solidFill>
                <a:latin typeface="Microsoft YaHei"/>
                <a:ea typeface="Microsoft YaHei"/>
              </a:rPr>
              <a:t>04</a:t>
            </a:r>
            <a:endParaRPr/>
          </a:p>
        </p:txBody>
      </p:sp>
      <p:sp>
        <p:nvSpPr>
          <p:cNvPr id="256" name="" descr="{&quot;isTemplate&quot;:true,&quot;type&quot;:&quot;text&quot;}"/>
          <p:cNvSpPr txBox="1"/>
          <p:nvPr/>
        </p:nvSpPr>
        <p:spPr>
          <a:xfrm rot="0" flipH="0" flipV="0">
            <a:off x="4457700" y="3457575"/>
            <a:ext cx="6600825" cy="228600"/>
          </a:xfrm>
          <a:prstGeom prst="rect"/>
        </p:spPr>
        <p:txBody>
          <a:bodyPr wrap="none" lIns="0" tIns="0" rIns="0" bIns="0"/>
          <a:p>
            <a:pPr>
              <a:lnSpc>
                <a:spcPct val="100000"/>
              </a:lnSpc>
            </a:pPr>
            <a:r>
              <a:rPr lang="en-US" sz="1500" b="1">
                <a:solidFill>
                  <a:srgbClr val="1A2230"/>
                </a:solidFill>
                <a:latin typeface="Microsoft YaHei"/>
                <a:ea typeface="Microsoft YaHei"/>
              </a:rPr>
              <a:t>Attributes and Operations</a:t>
            </a:r>
            <a:endParaRPr/>
          </a:p>
        </p:txBody>
      </p:sp>
      <p:sp>
        <p:nvSpPr>
          <p:cNvPr id="257" name="" descr="{&quot;isTemplate&quot;:true,&quot;type&quot;:&quot;text&quot;}"/>
          <p:cNvSpPr txBox="1"/>
          <p:nvPr/>
        </p:nvSpPr>
        <p:spPr>
          <a:xfrm rot="0" flipH="0" flipV="0">
            <a:off x="11249025" y="3457575"/>
            <a:ext cx="219075" cy="228600"/>
          </a:xfrm>
          <a:prstGeom prst="rect"/>
        </p:spPr>
        <p:txBody>
          <a:bodyPr wrap="none" lIns="0" tIns="0" rIns="0" bIns="0"/>
          <a:p>
            <a:pPr>
              <a:lnSpc>
                <a:spcPct val="100000"/>
              </a:lnSpc>
            </a:pPr>
            <a:r>
              <a:rPr lang="en-US" sz="1500" b="1">
                <a:solidFill>
                  <a:srgbClr val="8B97A8"/>
                </a:solidFill>
                <a:latin typeface="Microsoft YaHei"/>
                <a:ea typeface="Microsoft YaHei"/>
              </a:rPr>
              <a:t>20</a:t>
            </a:r>
            <a:endParaRPr/>
          </a:p>
        </p:txBody>
      </p:sp>
      <p:sp>
        <p:nvSpPr>
          <p:cNvPr id="258" name=""/>
          <p:cNvSpPr/>
          <p:nvPr/>
        </p:nvSpPr>
        <p:spPr>
          <a:xfrm rot="0" flipH="0" flipV="0">
            <a:off x="3581400" y="4095750"/>
            <a:ext cx="8077200" cy="762000"/>
          </a:xfrm>
          <a:prstGeom prst="roundRect">
            <a:avLst>
              <a:gd name="adj" fmla="val 12500"/>
            </a:avLst>
          </a:prstGeom>
          <a:solidFill>
            <a:srgbClr val="F7F9FC"/>
          </a:solidFill>
          <a:ln w="12700">
            <a:solidFill>
              <a:srgbClr val="E5E7EB"/>
            </a:solidFill>
            <a:prstDash val="solid"/>
          </a:ln>
        </p:spPr>
        <p:txBody>
          <a:bodyPr/>
          <a:p/>
        </p:txBody>
      </p:sp>
      <p:sp>
        <p:nvSpPr>
          <p:cNvPr id="259" name=""/>
          <p:cNvSpPr/>
          <p:nvPr/>
        </p:nvSpPr>
        <p:spPr>
          <a:xfrm rot="0" flipH="0" flipV="0">
            <a:off x="3771900" y="4229100"/>
            <a:ext cx="495300" cy="495300"/>
          </a:xfrm>
          <a:prstGeom prst="roundRect">
            <a:avLst>
              <a:gd name="adj" fmla="val 15385"/>
            </a:avLst>
          </a:prstGeom>
          <a:solidFill>
            <a:srgbClr val="1E4FA8"/>
          </a:solidFill>
          <a:ln/>
        </p:spPr>
        <p:txBody>
          <a:bodyPr/>
          <a:p/>
        </p:txBody>
      </p:sp>
      <p:sp>
        <p:nvSpPr>
          <p:cNvPr id="260" name="" descr="{&quot;isTemplate&quot;:true,&quot;type&quot;:&quot;text&quot;}"/>
          <p:cNvSpPr txBox="1"/>
          <p:nvPr/>
        </p:nvSpPr>
        <p:spPr>
          <a:xfrm rot="0" flipH="0" flipV="0">
            <a:off x="3905250" y="4352925"/>
            <a:ext cx="238125" cy="257175"/>
          </a:xfrm>
          <a:prstGeom prst="rect"/>
        </p:spPr>
        <p:txBody>
          <a:bodyPr wrap="none" lIns="0" tIns="0" rIns="0" bIns="0"/>
          <a:p>
            <a:pPr>
              <a:lnSpc>
                <a:spcPct val="100000"/>
              </a:lnSpc>
            </a:pPr>
            <a:r>
              <a:rPr lang="en-US" sz="1650" b="1">
                <a:solidFill>
                  <a:srgbClr val="FFFFFF"/>
                </a:solidFill>
                <a:latin typeface="Microsoft YaHei"/>
                <a:ea typeface="Microsoft YaHei"/>
              </a:rPr>
              <a:t>05</a:t>
            </a:r>
            <a:endParaRPr/>
          </a:p>
        </p:txBody>
      </p:sp>
      <p:sp>
        <p:nvSpPr>
          <p:cNvPr id="261" name="" descr="{&quot;isTemplate&quot;:true,&quot;type&quot;:&quot;text&quot;}"/>
          <p:cNvSpPr txBox="1"/>
          <p:nvPr/>
        </p:nvSpPr>
        <p:spPr>
          <a:xfrm rot="0" flipH="0" flipV="0">
            <a:off x="4457700" y="4362450"/>
            <a:ext cx="6600825" cy="228600"/>
          </a:xfrm>
          <a:prstGeom prst="rect"/>
        </p:spPr>
        <p:txBody>
          <a:bodyPr wrap="none" lIns="0" tIns="0" rIns="0" bIns="0"/>
          <a:p>
            <a:pPr>
              <a:lnSpc>
                <a:spcPct val="100000"/>
              </a:lnSpc>
            </a:pPr>
            <a:r>
              <a:rPr lang="en-US" sz="1500" b="1">
                <a:solidFill>
                  <a:srgbClr val="1A2230"/>
                </a:solidFill>
                <a:latin typeface="Microsoft YaHei"/>
                <a:ea typeface="Microsoft YaHei"/>
              </a:rPr>
              <a:t>Building the Model</a:t>
            </a:r>
            <a:endParaRPr/>
          </a:p>
        </p:txBody>
      </p:sp>
      <p:sp>
        <p:nvSpPr>
          <p:cNvPr id="262" name="" descr="{&quot;isTemplate&quot;:true,&quot;type&quot;:&quot;text&quot;}"/>
          <p:cNvSpPr txBox="1"/>
          <p:nvPr/>
        </p:nvSpPr>
        <p:spPr>
          <a:xfrm rot="0" flipH="0" flipV="0">
            <a:off x="11249025" y="4362450"/>
            <a:ext cx="219075" cy="228600"/>
          </a:xfrm>
          <a:prstGeom prst="rect"/>
        </p:spPr>
        <p:txBody>
          <a:bodyPr wrap="none" lIns="0" tIns="0" rIns="0" bIns="0"/>
          <a:p>
            <a:pPr>
              <a:lnSpc>
                <a:spcPct val="100000"/>
              </a:lnSpc>
            </a:pPr>
            <a:r>
              <a:rPr lang="en-US" sz="1500" b="1">
                <a:solidFill>
                  <a:srgbClr val="8B97A8"/>
                </a:solidFill>
                <a:latin typeface="Microsoft YaHei"/>
                <a:ea typeface="Microsoft YaHei"/>
              </a:rPr>
              <a:t>25</a:t>
            </a:r>
            <a:endParaRPr/>
          </a:p>
        </p:txBody>
      </p:sp>
      <p:sp>
        <p:nvSpPr>
          <p:cNvPr id="263" name=""/>
          <p:cNvSpPr/>
          <p:nvPr/>
        </p:nvSpPr>
        <p:spPr>
          <a:xfrm rot="0" flipH="0" flipV="0">
            <a:off x="3581400" y="5000625"/>
            <a:ext cx="8077200" cy="762000"/>
          </a:xfrm>
          <a:prstGeom prst="roundRect">
            <a:avLst>
              <a:gd name="adj" fmla="val 12500"/>
            </a:avLst>
          </a:prstGeom>
          <a:solidFill>
            <a:srgbClr val="F7F9FC"/>
          </a:solidFill>
          <a:ln w="12700">
            <a:solidFill>
              <a:srgbClr val="E5E7EB"/>
            </a:solidFill>
            <a:prstDash val="solid"/>
          </a:ln>
        </p:spPr>
        <p:txBody>
          <a:bodyPr/>
          <a:p/>
        </p:txBody>
      </p:sp>
      <p:sp>
        <p:nvSpPr>
          <p:cNvPr id="264" name=""/>
          <p:cNvSpPr/>
          <p:nvPr/>
        </p:nvSpPr>
        <p:spPr>
          <a:xfrm rot="0" flipH="0" flipV="0">
            <a:off x="3771900" y="5133975"/>
            <a:ext cx="495300" cy="495300"/>
          </a:xfrm>
          <a:prstGeom prst="roundRect">
            <a:avLst>
              <a:gd name="adj" fmla="val 15385"/>
            </a:avLst>
          </a:prstGeom>
          <a:solidFill>
            <a:srgbClr val="1E4FA8"/>
          </a:solidFill>
          <a:ln/>
        </p:spPr>
        <p:txBody>
          <a:bodyPr/>
          <a:p/>
        </p:txBody>
      </p:sp>
      <p:sp>
        <p:nvSpPr>
          <p:cNvPr id="265" name="" descr="{&quot;isTemplate&quot;:true,&quot;type&quot;:&quot;text&quot;}"/>
          <p:cNvSpPr txBox="1"/>
          <p:nvPr/>
        </p:nvSpPr>
        <p:spPr>
          <a:xfrm rot="0" flipH="0" flipV="0">
            <a:off x="3905250" y="5257800"/>
            <a:ext cx="238125" cy="257175"/>
          </a:xfrm>
          <a:prstGeom prst="rect"/>
        </p:spPr>
        <p:txBody>
          <a:bodyPr wrap="none" lIns="0" tIns="0" rIns="0" bIns="0"/>
          <a:p>
            <a:pPr>
              <a:lnSpc>
                <a:spcPct val="100000"/>
              </a:lnSpc>
            </a:pPr>
            <a:r>
              <a:rPr lang="en-US" sz="1650" b="1">
                <a:solidFill>
                  <a:srgbClr val="FFFFFF"/>
                </a:solidFill>
                <a:latin typeface="Microsoft YaHei"/>
                <a:ea typeface="Microsoft YaHei"/>
              </a:rPr>
              <a:t>06</a:t>
            </a:r>
            <a:endParaRPr/>
          </a:p>
        </p:txBody>
      </p:sp>
      <p:sp>
        <p:nvSpPr>
          <p:cNvPr id="266" name="" descr="{&quot;isTemplate&quot;:true,&quot;type&quot;:&quot;text&quot;}"/>
          <p:cNvSpPr txBox="1"/>
          <p:nvPr/>
        </p:nvSpPr>
        <p:spPr>
          <a:xfrm rot="0" flipH="0" flipV="0">
            <a:off x="4457700" y="5267325"/>
            <a:ext cx="6600825" cy="228600"/>
          </a:xfrm>
          <a:prstGeom prst="rect"/>
        </p:spPr>
        <p:txBody>
          <a:bodyPr wrap="none" lIns="0" tIns="0" rIns="0" bIns="0"/>
          <a:p>
            <a:pPr>
              <a:lnSpc>
                <a:spcPct val="100000"/>
              </a:lnSpc>
            </a:pPr>
            <a:r>
              <a:rPr lang="en-US" sz="1500" b="1">
                <a:solidFill>
                  <a:srgbClr val="1A2230"/>
                </a:solidFill>
                <a:latin typeface="Microsoft YaHei"/>
                <a:ea typeface="Microsoft YaHei"/>
              </a:rPr>
              <a:t>Lab — Exercise 6.1 &amp; ΔC1</a:t>
            </a:r>
            <a:endParaRPr/>
          </a:p>
        </p:txBody>
      </p:sp>
      <p:sp>
        <p:nvSpPr>
          <p:cNvPr id="267" name="" descr="{&quot;isTemplate&quot;:true,&quot;type&quot;:&quot;text&quot;}"/>
          <p:cNvSpPr txBox="1"/>
          <p:nvPr/>
        </p:nvSpPr>
        <p:spPr>
          <a:xfrm rot="0" flipH="0" flipV="0">
            <a:off x="11249025" y="5267325"/>
            <a:ext cx="219075" cy="228600"/>
          </a:xfrm>
          <a:prstGeom prst="rect"/>
        </p:spPr>
        <p:txBody>
          <a:bodyPr wrap="none" lIns="0" tIns="0" rIns="0" bIns="0"/>
          <a:p>
            <a:pPr>
              <a:lnSpc>
                <a:spcPct val="100000"/>
              </a:lnSpc>
            </a:pPr>
            <a:r>
              <a:rPr lang="en-US" sz="1500" b="1">
                <a:solidFill>
                  <a:srgbClr val="8B97A8"/>
                </a:solidFill>
                <a:latin typeface="Microsoft YaHei"/>
                <a:ea typeface="Microsoft YaHei"/>
              </a:rPr>
              <a:t>30</a:t>
            </a:r>
            <a:endParaRPr/>
          </a:p>
        </p:txBody>
      </p:sp>
    </p:spTree>
  </p:cSld>
</p:sld>
</file>

<file path=ppt/slides/slide3.xml><?xml version="1.0" encoding="utf-8"?>
<p:sld xmlns:p="http://schemas.openxmlformats.org/presentationml/2006/main" xmlns:a="http://schemas.openxmlformats.org/drawingml/2006/main">
  <p:cSld>
    <p:spTree>
      <p:nvGrpSpPr>
        <p:cNvPr id="489" name="" descr="&lt;Slide style={{ background: '#0E3F8C', padding: 0 }}&gt;&#10;  &lt;Box style={{ flexDirection: 'row', height: '100%', position: 'relative' }}&gt;&#10;    &lt;Box style={{ position: 'absolute', top: 0, left: 0, right: 0, height: 8, background: '#1E4FA8' }} /&gt;&#10;    &lt;Box style={{ width: 300, justifyContent: 'center', alignItems: 'center', borderRight: '1px solid #2B5793' }}&gt;&#10;      &lt;Text style={{ fontSize: 220, fontWeight: 'bold', color: '#3D7BD9', fontFamily: 'Georgia, serif', lineHeight: 1 }}&gt;01&lt;/Text&gt;&#10;    &lt;/Box&gt;&#10;    &lt;Box style={{ flex: 1, padding: '70px 64px', flexDirection: 'column', justifyContent: 'center' }}&gt;&#10;      &lt;Text style={{ fontSize: 15, color: '#7FA2D6', letterSpacing: 2, marginBottom: 18 }}&gt;PART 1 · LECTURE&lt;/Text&gt;&#10;      &lt;Text style={{ fontSize: 46, fontWeight: 'bold', color: '#FFFFFF', lineHeight: 1.18 }}&gt;From Scenarios&lt;br /&gt;to Classes&lt;/Text&gt;&#10;      &lt;Box style={{ width: 64, height: 4, background: '#FFC107', marginTop: 26, marginBottom: 26 }} /&gt;&#10;      &lt;Box style={{ flexDirection: 'column', gap: 12 }}&gt;&#10;        {[&#10;          'Last week you wrote sentences. This week the nouns become boxes.',&#10;          'A noun is a candidate, not a decision',&#10;          'Ten classes is the target, and the target is a smell test'&#10;        ].map((t) =&gt; (&#10;          &lt;Box key={t} style={{ flexDirection: 'row', alignItems: 'center', gap: 12 }}&gt;&#10;            &lt;Box style={{ width: 8, height: 8, borderRadius: 4, background: '#3D7BD9' }} /&gt;&#10;            &lt;Text style={{ fontSize: 20, color: '#C5D4EA' }}&gt;{t}&lt;/Text&gt;&#10;          &lt;/Box&gt;&#10;        ))}&#10;      &lt;/Box&gt;&#10;    &lt;/Box&gt;&#10;  &lt;/Box&gt;&#10;&lt;/Slide&gt;&#10;"/>
        <p:cNvGrpSpPr/>
        <p:nvPr/>
      </p:nvGrpSpPr>
      <p:grpSpPr>
        <a:xfrm>
          <a:off x="0" y="0"/>
          <a:ext cx="0" cy="0"/>
          <a:chOff x="0" y="0"/>
          <a:chExt cx="0" cy="0"/>
        </a:xfrm>
      </p:grpSpPr>
      <p:sp>
        <p:nvSpPr>
          <p:cNvPr id="490" name=""/>
          <p:cNvSpPr/>
          <p:nvPr/>
        </p:nvSpPr>
        <p:spPr>
          <a:xfrm rot="0" flipH="0" flipV="0">
            <a:off x="0" y="0"/>
            <a:ext cx="12192000" cy="6858000"/>
          </a:xfrm>
          <a:prstGeom prst="rect">
            <a:avLst/>
          </a:prstGeom>
          <a:solidFill>
            <a:srgbClr val="0E3F8C"/>
          </a:solidFill>
          <a:ln/>
        </p:spPr>
        <p:txBody>
          <a:bodyPr/>
          <a:p/>
        </p:txBody>
      </p:sp>
      <p:sp>
        <p:nvSpPr>
          <p:cNvPr id="491" name=""/>
          <p:cNvSpPr/>
          <p:nvPr/>
        </p:nvSpPr>
        <p:spPr>
          <a:xfrm rot="0" flipH="0" flipV="0">
            <a:off x="0" y="0"/>
            <a:ext cx="2857500" cy="6858000"/>
          </a:xfrm>
          <a:custGeom>
            <a:pathLst>
              <a:path w="300" h="720">
                <a:moveTo>
                  <a:pt x="299" y="0"/>
                </a:moveTo>
                <a:lnTo>
                  <a:pt x="300" y="0"/>
                </a:lnTo>
                <a:lnTo>
                  <a:pt x="300" y="720"/>
                </a:lnTo>
                <a:lnTo>
                  <a:pt x="299" y="720"/>
                </a:lnTo>
                <a:close/>
              </a:path>
            </a:pathLst>
          </a:custGeom>
          <a:solidFill>
            <a:srgbClr val="2B5793"/>
          </a:solidFill>
          <a:ln/>
        </p:spPr>
        <p:txBody>
          <a:bodyPr/>
          <a:p/>
        </p:txBody>
      </p:sp>
      <p:sp>
        <p:nvSpPr>
          <p:cNvPr id="492" name="" descr="{&quot;isTemplate&quot;:true,&quot;type&quot;:&quot;text&quot;}"/>
          <p:cNvSpPr txBox="1"/>
          <p:nvPr/>
        </p:nvSpPr>
        <p:spPr>
          <a:xfrm rot="0" flipH="0" flipV="0">
            <a:off x="171450" y="2171700"/>
            <a:ext cx="2505075" cy="2514600"/>
          </a:xfrm>
          <a:prstGeom prst="rect"/>
        </p:spPr>
        <p:txBody>
          <a:bodyPr wrap="none" lIns="0" tIns="0" rIns="0" bIns="0"/>
          <a:p>
            <a:pPr>
              <a:lnSpc>
                <a:spcPct val="100000"/>
              </a:lnSpc>
            </a:pPr>
            <a:r>
              <a:rPr lang="en-US" sz="16500" b="1">
                <a:solidFill>
                  <a:srgbClr val="3D7BD9"/>
                </a:solidFill>
                <a:latin typeface="Georgia"/>
                <a:ea typeface="Georgia"/>
              </a:rPr>
              <a:t>01</a:t>
            </a:r>
            <a:endParaRPr/>
          </a:p>
        </p:txBody>
      </p:sp>
      <p:sp>
        <p:nvSpPr>
          <p:cNvPr id="493" name="" descr="{&quot;isTemplate&quot;:true,&quot;type&quot;:&quot;text&quot;}"/>
          <p:cNvSpPr txBox="1"/>
          <p:nvPr/>
        </p:nvSpPr>
        <p:spPr>
          <a:xfrm rot="0" flipH="0" flipV="0">
            <a:off x="3467100" y="1914525"/>
            <a:ext cx="8115300" cy="171450"/>
          </a:xfrm>
          <a:prstGeom prst="rect"/>
        </p:spPr>
        <p:txBody>
          <a:bodyPr wrap="none" lIns="0" tIns="0" rIns="0" bIns="0"/>
          <a:p>
            <a:pPr>
              <a:lnSpc>
                <a:spcPct val="100000"/>
              </a:lnSpc>
            </a:pPr>
            <a:r>
              <a:rPr lang="en-US" sz="1125" spc="150">
                <a:solidFill>
                  <a:srgbClr val="7FA2D6"/>
                </a:solidFill>
                <a:latin typeface="Microsoft YaHei"/>
                <a:ea typeface="Microsoft YaHei"/>
              </a:rPr>
              <a:t>PART 1 · LECTURE</a:t>
            </a:r>
            <a:endParaRPr/>
          </a:p>
        </p:txBody>
      </p:sp>
      <p:sp>
        <p:nvSpPr>
          <p:cNvPr id="494" name="" descr="{&quot;isTemplate&quot;:true,&quot;type&quot;:&quot;text&quot;}"/>
          <p:cNvSpPr txBox="1"/>
          <p:nvPr/>
        </p:nvSpPr>
        <p:spPr>
          <a:xfrm rot="0" flipH="0" flipV="0">
            <a:off x="3467100" y="2257425"/>
            <a:ext cx="8115300" cy="1247775"/>
          </a:xfrm>
          <a:prstGeom prst="rect"/>
        </p:spPr>
        <p:txBody>
          <a:bodyPr wrap="none" lIns="0" tIns="0" rIns="0" bIns="0"/>
          <a:p>
            <a:pPr>
              <a:lnSpc>
                <a:spcPct val="118000"/>
              </a:lnSpc>
            </a:pPr>
            <a:r>
              <a:rPr lang="en-US" sz="3450" b="1">
                <a:solidFill>
                  <a:srgbClr val="FFFFFF"/>
                </a:solidFill>
                <a:latin typeface="Microsoft YaHei"/>
                <a:ea typeface="Microsoft YaHei"/>
              </a:rPr>
              <a:t>From Scenarios</a:t>
            </a:r>
            <a:endParaRPr/>
          </a:p>
          <a:p>
            <a:pPr>
              <a:lnSpc>
                <a:spcPct val="118000"/>
              </a:lnSpc>
            </a:pPr>
            <a:r>
              <a:rPr lang="en-US" sz="3450" b="1">
                <a:solidFill>
                  <a:srgbClr val="FFFFFF"/>
                </a:solidFill>
                <a:latin typeface="Microsoft YaHei"/>
                <a:ea typeface="Microsoft YaHei"/>
              </a:rPr>
              <a:t>to Classes</a:t>
            </a:r>
            <a:endParaRPr/>
          </a:p>
        </p:txBody>
      </p:sp>
      <p:sp>
        <p:nvSpPr>
          <p:cNvPr id="495" name=""/>
          <p:cNvSpPr/>
          <p:nvPr/>
        </p:nvSpPr>
        <p:spPr>
          <a:xfrm rot="0" flipH="0" flipV="0">
            <a:off x="3467100" y="3752850"/>
            <a:ext cx="609600" cy="38100"/>
          </a:xfrm>
          <a:prstGeom prst="rect">
            <a:avLst/>
          </a:prstGeom>
          <a:solidFill>
            <a:srgbClr val="FFC107"/>
          </a:solidFill>
          <a:ln/>
        </p:spPr>
        <p:txBody>
          <a:bodyPr/>
          <a:p/>
        </p:txBody>
      </p:sp>
      <p:sp>
        <p:nvSpPr>
          <p:cNvPr id="496" name=""/>
          <p:cNvSpPr/>
          <p:nvPr/>
        </p:nvSpPr>
        <p:spPr>
          <a:xfrm rot="0" flipH="0" flipV="0">
            <a:off x="3467100" y="4114800"/>
            <a:ext cx="76200" cy="76200"/>
          </a:xfrm>
          <a:prstGeom prst="roundRect">
            <a:avLst>
              <a:gd name="adj" fmla="val 50000"/>
            </a:avLst>
          </a:prstGeom>
          <a:solidFill>
            <a:srgbClr val="3D7BD9"/>
          </a:solidFill>
          <a:ln/>
        </p:spPr>
        <p:txBody>
          <a:bodyPr/>
          <a:p/>
        </p:txBody>
      </p:sp>
      <p:sp>
        <p:nvSpPr>
          <p:cNvPr id="497" name="" descr="{&quot;isTemplate&quot;:true,&quot;type&quot;:&quot;text&quot;}"/>
          <p:cNvSpPr txBox="1"/>
          <p:nvPr/>
        </p:nvSpPr>
        <p:spPr>
          <a:xfrm rot="0" flipH="0" flipV="0">
            <a:off x="3657600" y="4038600"/>
            <a:ext cx="5857875" cy="228600"/>
          </a:xfrm>
          <a:prstGeom prst="rect"/>
        </p:spPr>
        <p:txBody>
          <a:bodyPr wrap="none" lIns="0" tIns="0" rIns="0" bIns="0"/>
          <a:p>
            <a:pPr>
              <a:lnSpc>
                <a:spcPct val="100000"/>
              </a:lnSpc>
            </a:pPr>
            <a:r>
              <a:rPr lang="en-US" sz="1500">
                <a:solidFill>
                  <a:srgbClr val="C5D4EA"/>
                </a:solidFill>
                <a:latin typeface="Microsoft YaHei"/>
                <a:ea typeface="Microsoft YaHei"/>
              </a:rPr>
              <a:t>Last week you wrote sentences. This week the nouns become boxes.</a:t>
            </a:r>
            <a:endParaRPr/>
          </a:p>
        </p:txBody>
      </p:sp>
      <p:sp>
        <p:nvSpPr>
          <p:cNvPr id="498" name=""/>
          <p:cNvSpPr/>
          <p:nvPr/>
        </p:nvSpPr>
        <p:spPr>
          <a:xfrm rot="0" flipH="0" flipV="0">
            <a:off x="3467100" y="4457700"/>
            <a:ext cx="76200" cy="76200"/>
          </a:xfrm>
          <a:prstGeom prst="roundRect">
            <a:avLst>
              <a:gd name="adj" fmla="val 50000"/>
            </a:avLst>
          </a:prstGeom>
          <a:solidFill>
            <a:srgbClr val="3D7BD9"/>
          </a:solidFill>
          <a:ln/>
        </p:spPr>
        <p:txBody>
          <a:bodyPr/>
          <a:p/>
        </p:txBody>
      </p:sp>
      <p:sp>
        <p:nvSpPr>
          <p:cNvPr id="499" name="" descr="{&quot;isTemplate&quot;:true,&quot;type&quot;:&quot;text&quot;}"/>
          <p:cNvSpPr txBox="1"/>
          <p:nvPr/>
        </p:nvSpPr>
        <p:spPr>
          <a:xfrm rot="0" flipH="0" flipV="0">
            <a:off x="3657600" y="4381500"/>
            <a:ext cx="3114675" cy="228600"/>
          </a:xfrm>
          <a:prstGeom prst="rect"/>
        </p:spPr>
        <p:txBody>
          <a:bodyPr wrap="none" lIns="0" tIns="0" rIns="0" bIns="0"/>
          <a:p>
            <a:pPr>
              <a:lnSpc>
                <a:spcPct val="100000"/>
              </a:lnSpc>
            </a:pPr>
            <a:r>
              <a:rPr lang="en-US" sz="1500">
                <a:solidFill>
                  <a:srgbClr val="C5D4EA"/>
                </a:solidFill>
                <a:latin typeface="Microsoft YaHei"/>
                <a:ea typeface="Microsoft YaHei"/>
              </a:rPr>
              <a:t>A noun is a candidate, not a decision</a:t>
            </a:r>
            <a:endParaRPr/>
          </a:p>
        </p:txBody>
      </p:sp>
      <p:sp>
        <p:nvSpPr>
          <p:cNvPr id="500" name=""/>
          <p:cNvSpPr/>
          <p:nvPr/>
        </p:nvSpPr>
        <p:spPr>
          <a:xfrm rot="0" flipH="0" flipV="0">
            <a:off x="3467100" y="4800600"/>
            <a:ext cx="76200" cy="76200"/>
          </a:xfrm>
          <a:prstGeom prst="roundRect">
            <a:avLst>
              <a:gd name="adj" fmla="val 50000"/>
            </a:avLst>
          </a:prstGeom>
          <a:solidFill>
            <a:srgbClr val="3D7BD9"/>
          </a:solidFill>
          <a:ln/>
        </p:spPr>
        <p:txBody>
          <a:bodyPr/>
          <a:p/>
        </p:txBody>
      </p:sp>
      <p:sp>
        <p:nvSpPr>
          <p:cNvPr id="501" name="" descr="{&quot;isTemplate&quot;:true,&quot;type&quot;:&quot;text&quot;}"/>
          <p:cNvSpPr txBox="1"/>
          <p:nvPr/>
        </p:nvSpPr>
        <p:spPr>
          <a:xfrm rot="0" flipH="0" flipV="0">
            <a:off x="3657600" y="4724400"/>
            <a:ext cx="4533900" cy="228600"/>
          </a:xfrm>
          <a:prstGeom prst="rect"/>
        </p:spPr>
        <p:txBody>
          <a:bodyPr wrap="none" lIns="0" tIns="0" rIns="0" bIns="0"/>
          <a:p>
            <a:pPr>
              <a:lnSpc>
                <a:spcPct val="100000"/>
              </a:lnSpc>
            </a:pPr>
            <a:r>
              <a:rPr lang="en-US" sz="1500">
                <a:solidFill>
                  <a:srgbClr val="C5D4EA"/>
                </a:solidFill>
                <a:latin typeface="Microsoft YaHei"/>
                <a:ea typeface="Microsoft YaHei"/>
              </a:rPr>
              <a:t>Ten classes is the target, and the target is a smell test</a:t>
            </a:r>
            <a:endParaRPr/>
          </a:p>
        </p:txBody>
      </p:sp>
      <p:sp>
        <p:nvSpPr>
          <p:cNvPr id="502" name=""/>
          <p:cNvSpPr/>
          <p:nvPr/>
        </p:nvSpPr>
        <p:spPr>
          <a:xfrm rot="0" flipH="0" flipV="0">
            <a:off x="0" y="0"/>
            <a:ext cx="12192000" cy="76200"/>
          </a:xfrm>
          <a:prstGeom prst="rect">
            <a:avLst/>
          </a:prstGeom>
          <a:solidFill>
            <a:srgbClr val="1E4FA8"/>
          </a:solidFill>
          <a:ln/>
        </p:spPr>
        <p:txBody>
          <a:bodyPr/>
          <a:p/>
        </p:txBody>
      </p:sp>
    </p:spTree>
  </p:cSld>
</p:sld>
</file>

<file path=ppt/slides/slide4.xml><?xml version="1.0" encoding="utf-8"?>
<p:sld xmlns:p="http://schemas.openxmlformats.org/presentationml/2006/main" xmlns:a="http://schemas.openxmlformats.org/drawingml/2006/main">
  <p:cSld>
    <p:spTree>
      <p:nvGrpSpPr>
        <p:cNvPr id="739"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6 · FROM SCENARIOS TO CLASSES&lt;/Text&gt;&#10;  &lt;/Box&gt;&#10;  &lt;Box style={{ padding: '13px 40px 0 40px', flexDirection: 'row', alignItems: 'center', justifyContent: 'space-between' }}&gt;&#10;    &lt;Text style={{ fontSize: 29, fontWeight: 'bold', color: '#0E3F8C' }}&gt;Last Week You Wrote Sentences&lt;/Text&gt;&#10;    &lt;Text style={{ fontSize: 14, color: '#1E4FA8', fontWeight: 'bold' }}&gt;04 / 39&lt;/Text&gt;&#10;  &lt;/Box&gt;&#10;  &lt;Box style={{ flex: 1, padding: '10px 40px 0 40px', flexDirection: 'row', gap: 26 }}&gt;&#10;    &lt;Box style={{ width: 560, justifyContent: 'center' }}&gt;&#10;      &lt;Box style={{ padding: '18px 20px', background: '#F7F9FC', borderRadius: 10, border: '1px solid #E5E7EB' }}&gt;&#10;        &lt;Text style={{ fontSize: 13, color: '#8B97A8', letterSpacing: 1, marginBottom: 12 }}&gt;MAIN SUCCESS SCENARIO — PLACE ORDER&lt;/Text&gt;&#10;        {[&#10;          ['1', 'Student reviews the cart total.'],&#10;          ['2', 'System displays the payable amount.'],&#10;          ['3', 'Student chooses a payment method.'],&#10;          ['4', 'System authorises the amount with the provider.'],&#10;          ['5', 'System creates the order in state Accepted.'],&#10;          ['6', 'System prints the kitchen ticket.'],&#10;          ['7', 'System notifies the student of the order time.'],&#10;        ].map((s) =&gt; (&#10;          &lt;Box key={s[0]} style={{ flexDirection: 'row', gap: 12, marginBottom: 9 }}&gt;&#10;            &lt;Box style={{ width: 22, height: 22, borderRadius: 4, background: '#1E4FA8', justifyContent: 'center', alignItems: 'center' }}&gt;&#10;              &lt;Text style={{ fontSize: 11, fontWeight: 'bold', color: '#FFFFFF' }}&gt;{s[0]}&lt;/Text&gt;&#10;            &lt;/Box&gt;&#10;            &lt;Text style={{ flex: 1, fontSize: 13.5, color: '#1A2230', lineHeight: 1.45 }}&gt;{s[1]}&lt;/Text&gt;&#10;          &lt;/Box&gt;&#10;        ))}&#10;      &lt;/Box&gt;&#10;    &lt;/Box&gt;&#10;    &lt;Box style={{ flex: 1, flexDirection: 'column', justifyContent: 'center', gap: 13 }}&gt;&#10;      &lt;Box style={{ padding: '15px 17px', background: '#F0F5FC', borderRadius: 9, borderLeft: '4px solid #1E4FA8' }}&gt;&#10;        &lt;Text style={{ fontSize: 16, fontWeight: 'bold', color: '#0E3F8C' }}&gt;Twelve nouns, no classes&lt;/Text&gt;&#10;        &lt;Text style={{ fontSize: 13, color: '#4A5568', lineHeight: 1.6, marginTop: 5 }}&gt;&#10;          cart · total · payment method · amount · provider · order · state Accepted · kitchen ticket · student · order time&#10;        &lt;/Text&gt;&#10;      &lt;/Box&gt;&#10;      &lt;Box style={{ padding: '15px 17px', background: '#FFFFFF', borderRadius: 9, border: '1px solid #D6DCE5' }}&gt;&#10;        &lt;Text style={{ fontSize: 16, fontWeight: 'bold', color: '#0E3F8C' }}&gt;Every one is either a class or an attribute&lt;/Text&gt;&#10;        &lt;Text style={{ fontSize: 13, color: '#4A5568', lineHeight: 1.6, marginTop: 5 }}&gt;&#10;          That decision is this week’s whole job. It looks trivial. It is the step at which most real projects go wrong.&#10;        &lt;/Text&gt;&#10;      &lt;/Box&gt;&#10;      &lt;Box style={{ padding: '15px 17px', background: '#FFF6E0', borderRadius: 9, borderLeft: '4px solid #FFC107' }}&gt;&#10;        &lt;Text style={{ fontSize: 16, fontWeight: 'bold', color: '#996F00' }}&gt;Two are already taken&lt;/Text&gt;&#10;        &lt;Text style={{ fontSize: 13, color: '#4A5568', lineHeight: 1.6, marginTop: 5 }}&gt;&#10;          Student and provider are actors. They were on your use case diagram, so they are not classes in this model.&#10;        &lt;/Text&gt;&#10;      &lt;/Box&gt;&#10;      &lt;Box style={{ padding: '12px 16px', background: '#F7F9FC', borderRadius: 8, border: '1px dashed #D6DCE5' }}&gt;&#10;        &lt;Text style={{ fontSize: 12.5, color: '#8B97A8', lineHeight: 1.55 }}&gt;&#10;          You already wrote the specification that produces this model. The hard reading is already done — this week is bookkeeping with consequences.&#10;        &lt;/Text&gt;&#10;      &lt;/Box&gt;&#10;    &lt;/Box&gt;&#10;  &lt;/Box&gt;&#10;  &lt;Box style={{ height: 34, padding: '0 40px', flexDirection: 'row', alignItems: 'center', justifyContent: 'space-between' }}&gt;&#10;    &lt;Text style={{ fontSize: 13, color: '#8B97A8' }}&gt;ISAD · Fall 2026 · The nouns were there all along. Last week you wrote sentences about them instead of drawing them&lt;/Text&gt;&#10;    &lt;Text style={{ fontSize: 14, color: '#1E4FA8', fontWeight: 'bold' }}&gt;04 / 39&lt;/Text&gt;&#10;  &lt;/Box&gt;&#10;&lt;/Slide&gt;&#10;"/>
        <p:cNvGrpSpPr/>
        <p:nvPr/>
      </p:nvGrpSpPr>
      <p:grpSpPr>
        <a:xfrm>
          <a:off x="0" y="0"/>
          <a:ext cx="0" cy="0"/>
          <a:chOff x="0" y="0"/>
          <a:chExt cx="0" cy="0"/>
        </a:xfrm>
      </p:grpSpPr>
      <p:sp>
        <p:nvSpPr>
          <p:cNvPr id="740" name=""/>
          <p:cNvSpPr/>
          <p:nvPr/>
        </p:nvSpPr>
        <p:spPr>
          <a:xfrm rot="0" flipH="0" flipV="0">
            <a:off x="0" y="0"/>
            <a:ext cx="12192000" cy="6858000"/>
          </a:xfrm>
          <a:prstGeom prst="rect">
            <a:avLst/>
          </a:prstGeom>
          <a:solidFill>
            <a:srgbClr val="FFFFFF"/>
          </a:solidFill>
          <a:ln/>
        </p:spPr>
        <p:txBody>
          <a:bodyPr/>
          <a:p/>
        </p:txBody>
      </p:sp>
      <p:sp>
        <p:nvSpPr>
          <p:cNvPr id="741" name=""/>
          <p:cNvSpPr/>
          <p:nvPr/>
        </p:nvSpPr>
        <p:spPr>
          <a:xfrm rot="0" flipH="0" flipV="0">
            <a:off x="0" y="0"/>
            <a:ext cx="12192000" cy="685800"/>
          </a:xfrm>
          <a:prstGeom prst="rect">
            <a:avLst/>
          </a:prstGeom>
          <a:solidFill>
            <a:srgbClr val="1E4FA8"/>
          </a:solidFill>
          <a:ln/>
        </p:spPr>
        <p:txBody>
          <a:bodyPr/>
          <a:p/>
        </p:txBody>
      </p:sp>
      <p:sp>
        <p:nvSpPr>
          <p:cNvPr id="742"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743" name="" descr="{&quot;isTemplate&quot;:true,&quot;type&quot;:&quot;text&quot;}"/>
          <p:cNvSpPr txBox="1"/>
          <p:nvPr/>
        </p:nvSpPr>
        <p:spPr>
          <a:xfrm rot="0" flipH="0" flipV="0">
            <a:off x="9153525" y="257175"/>
            <a:ext cx="2657475" cy="171450"/>
          </a:xfrm>
          <a:prstGeom prst="rect"/>
        </p:spPr>
        <p:txBody>
          <a:bodyPr wrap="none" lIns="0" tIns="0" rIns="0" bIns="0"/>
          <a:p>
            <a:pPr>
              <a:lnSpc>
                <a:spcPct val="100000"/>
              </a:lnSpc>
            </a:pPr>
            <a:r>
              <a:rPr lang="en-US" sz="1125">
                <a:solidFill>
                  <a:srgbClr val="B9CDF0"/>
                </a:solidFill>
                <a:latin typeface="Microsoft YaHei"/>
                <a:ea typeface="Microsoft YaHei"/>
              </a:rPr>
              <a:t>W06 · FROM SCENARIOS TO CLASSES</a:t>
            </a:r>
            <a:endParaRPr/>
          </a:p>
        </p:txBody>
      </p:sp>
      <p:sp>
        <p:nvSpPr>
          <p:cNvPr id="744" name="" descr="{&quot;isTemplate&quot;:true,&quot;type&quot;:&quot;text&quot;}"/>
          <p:cNvSpPr txBox="1"/>
          <p:nvPr/>
        </p:nvSpPr>
        <p:spPr>
          <a:xfrm rot="0" flipH="0" flipV="0">
            <a:off x="381000" y="809625"/>
            <a:ext cx="4257675" cy="333375"/>
          </a:xfrm>
          <a:prstGeom prst="rect"/>
        </p:spPr>
        <p:txBody>
          <a:bodyPr wrap="none" lIns="0" tIns="0" rIns="0" bIns="0"/>
          <a:p>
            <a:pPr>
              <a:lnSpc>
                <a:spcPct val="100000"/>
              </a:lnSpc>
            </a:pPr>
            <a:r>
              <a:rPr lang="en-US" sz="2175" b="1">
                <a:solidFill>
                  <a:srgbClr val="0E3F8C"/>
                </a:solidFill>
                <a:latin typeface="Microsoft YaHei"/>
                <a:ea typeface="Microsoft YaHei"/>
              </a:rPr>
              <a:t>Last Week You Wrote Sentences</a:t>
            </a:r>
            <a:endParaRPr/>
          </a:p>
        </p:txBody>
      </p:sp>
      <p:sp>
        <p:nvSpPr>
          <p:cNvPr id="745"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04 / 39</a:t>
            </a:r>
            <a:endParaRPr/>
          </a:p>
        </p:txBody>
      </p:sp>
      <p:sp>
        <p:nvSpPr>
          <p:cNvPr id="746" name=""/>
          <p:cNvSpPr/>
          <p:nvPr/>
        </p:nvSpPr>
        <p:spPr>
          <a:xfrm rot="0" flipH="0" flipV="0">
            <a:off x="381000" y="2486025"/>
            <a:ext cx="5334000" cy="2809875"/>
          </a:xfrm>
          <a:prstGeom prst="roundRect">
            <a:avLst>
              <a:gd name="adj" fmla="val 3390"/>
            </a:avLst>
          </a:prstGeom>
          <a:solidFill>
            <a:srgbClr val="F7F9FC"/>
          </a:solidFill>
          <a:ln w="12700">
            <a:solidFill>
              <a:srgbClr val="E5E7EB"/>
            </a:solidFill>
            <a:prstDash val="solid"/>
          </a:ln>
        </p:spPr>
        <p:txBody>
          <a:bodyPr/>
          <a:p/>
        </p:txBody>
      </p:sp>
      <p:sp>
        <p:nvSpPr>
          <p:cNvPr id="747" name="" descr="{&quot;isTemplate&quot;:true,&quot;type&quot;:&quot;text&quot;}"/>
          <p:cNvSpPr txBox="1"/>
          <p:nvPr/>
        </p:nvSpPr>
        <p:spPr>
          <a:xfrm rot="0" flipH="0" flipV="0">
            <a:off x="571500" y="2657475"/>
            <a:ext cx="4953000" cy="152400"/>
          </a:xfrm>
          <a:prstGeom prst="rect"/>
        </p:spPr>
        <p:txBody>
          <a:bodyPr wrap="none" lIns="0" tIns="0" rIns="0" bIns="0"/>
          <a:p>
            <a:pPr>
              <a:lnSpc>
                <a:spcPct val="100000"/>
              </a:lnSpc>
            </a:pPr>
            <a:r>
              <a:rPr lang="en-US" sz="975" spc="75">
                <a:solidFill>
                  <a:srgbClr val="8B97A8"/>
                </a:solidFill>
                <a:latin typeface="Microsoft YaHei"/>
                <a:ea typeface="Microsoft YaHei"/>
              </a:rPr>
              <a:t>MAIN SUCCESS SCENARIO — PLACE ORDER</a:t>
            </a:r>
            <a:endParaRPr/>
          </a:p>
        </p:txBody>
      </p:sp>
      <p:sp>
        <p:nvSpPr>
          <p:cNvPr id="748" name=""/>
          <p:cNvSpPr/>
          <p:nvPr/>
        </p:nvSpPr>
        <p:spPr>
          <a:xfrm rot="0" flipH="0" flipV="0">
            <a:off x="571500" y="2924175"/>
            <a:ext cx="209550" cy="209550"/>
          </a:xfrm>
          <a:prstGeom prst="roundRect">
            <a:avLst>
              <a:gd name="adj" fmla="val 18182"/>
            </a:avLst>
          </a:prstGeom>
          <a:solidFill>
            <a:srgbClr val="1E4FA8"/>
          </a:solidFill>
          <a:ln/>
        </p:spPr>
        <p:txBody>
          <a:bodyPr/>
          <a:p/>
        </p:txBody>
      </p:sp>
      <p:sp>
        <p:nvSpPr>
          <p:cNvPr id="749" name="" descr="{&quot;isTemplate&quot;:true,&quot;type&quot;:&quot;text&quot;}"/>
          <p:cNvSpPr txBox="1"/>
          <p:nvPr/>
        </p:nvSpPr>
        <p:spPr>
          <a:xfrm rot="0" flipH="0" flipV="0">
            <a:off x="647700" y="2962275"/>
            <a:ext cx="66675" cy="133350"/>
          </a:xfrm>
          <a:prstGeom prst="rect"/>
        </p:spPr>
        <p:txBody>
          <a:bodyPr wrap="none" lIns="0" tIns="0" rIns="0" bIns="0"/>
          <a:p>
            <a:pPr>
              <a:lnSpc>
                <a:spcPct val="100000"/>
              </a:lnSpc>
            </a:pPr>
            <a:r>
              <a:rPr lang="en-US" sz="825" b="1">
                <a:solidFill>
                  <a:srgbClr val="FFFFFF"/>
                </a:solidFill>
                <a:latin typeface="Microsoft YaHei"/>
                <a:ea typeface="Microsoft YaHei"/>
              </a:rPr>
              <a:t>1</a:t>
            </a:r>
            <a:endParaRPr/>
          </a:p>
        </p:txBody>
      </p:sp>
      <p:sp>
        <p:nvSpPr>
          <p:cNvPr id="750" name="" descr="{&quot;isTemplate&quot;:true,&quot;type&quot;:&quot;text&quot;}"/>
          <p:cNvSpPr txBox="1"/>
          <p:nvPr/>
        </p:nvSpPr>
        <p:spPr>
          <a:xfrm rot="0" flipH="0" flipV="0">
            <a:off x="895350" y="2924175"/>
            <a:ext cx="4629150" cy="228600"/>
          </a:xfrm>
          <a:prstGeom prst="rect"/>
        </p:spPr>
        <p:txBody>
          <a:bodyPr wrap="none" lIns="0" tIns="0" rIns="0" bIns="0"/>
          <a:p>
            <a:pPr>
              <a:lnSpc>
                <a:spcPct val="145000"/>
              </a:lnSpc>
            </a:pPr>
            <a:r>
              <a:rPr lang="en-US" sz="1013">
                <a:solidFill>
                  <a:srgbClr val="1A2230"/>
                </a:solidFill>
                <a:latin typeface="Microsoft YaHei"/>
                <a:ea typeface="Microsoft YaHei"/>
              </a:rPr>
              <a:t>Student reviews the cart total.</a:t>
            </a:r>
            <a:endParaRPr/>
          </a:p>
        </p:txBody>
      </p:sp>
      <p:sp>
        <p:nvSpPr>
          <p:cNvPr id="751" name=""/>
          <p:cNvSpPr/>
          <p:nvPr/>
        </p:nvSpPr>
        <p:spPr>
          <a:xfrm rot="0" flipH="0" flipV="0">
            <a:off x="571500" y="3238500"/>
            <a:ext cx="209550" cy="209550"/>
          </a:xfrm>
          <a:prstGeom prst="roundRect">
            <a:avLst>
              <a:gd name="adj" fmla="val 18182"/>
            </a:avLst>
          </a:prstGeom>
          <a:solidFill>
            <a:srgbClr val="1E4FA8"/>
          </a:solidFill>
          <a:ln/>
        </p:spPr>
        <p:txBody>
          <a:bodyPr/>
          <a:p/>
        </p:txBody>
      </p:sp>
      <p:sp>
        <p:nvSpPr>
          <p:cNvPr id="752" name="" descr="{&quot;isTemplate&quot;:true,&quot;type&quot;:&quot;text&quot;}"/>
          <p:cNvSpPr txBox="1"/>
          <p:nvPr/>
        </p:nvSpPr>
        <p:spPr>
          <a:xfrm rot="0" flipH="0" flipV="0">
            <a:off x="647700" y="3276600"/>
            <a:ext cx="66675" cy="133350"/>
          </a:xfrm>
          <a:prstGeom prst="rect"/>
        </p:spPr>
        <p:txBody>
          <a:bodyPr wrap="none" lIns="0" tIns="0" rIns="0" bIns="0"/>
          <a:p>
            <a:pPr>
              <a:lnSpc>
                <a:spcPct val="100000"/>
              </a:lnSpc>
            </a:pPr>
            <a:r>
              <a:rPr lang="en-US" sz="825" b="1">
                <a:solidFill>
                  <a:srgbClr val="FFFFFF"/>
                </a:solidFill>
                <a:latin typeface="Microsoft YaHei"/>
                <a:ea typeface="Microsoft YaHei"/>
              </a:rPr>
              <a:t>2</a:t>
            </a:r>
            <a:endParaRPr/>
          </a:p>
        </p:txBody>
      </p:sp>
      <p:sp>
        <p:nvSpPr>
          <p:cNvPr id="753" name="" descr="{&quot;isTemplate&quot;:true,&quot;type&quot;:&quot;text&quot;}"/>
          <p:cNvSpPr txBox="1"/>
          <p:nvPr/>
        </p:nvSpPr>
        <p:spPr>
          <a:xfrm rot="0" flipH="0" flipV="0">
            <a:off x="895350" y="3238500"/>
            <a:ext cx="4629150" cy="228600"/>
          </a:xfrm>
          <a:prstGeom prst="rect"/>
        </p:spPr>
        <p:txBody>
          <a:bodyPr wrap="none" lIns="0" tIns="0" rIns="0" bIns="0"/>
          <a:p>
            <a:pPr>
              <a:lnSpc>
                <a:spcPct val="145000"/>
              </a:lnSpc>
            </a:pPr>
            <a:r>
              <a:rPr lang="en-US" sz="1013">
                <a:solidFill>
                  <a:srgbClr val="1A2230"/>
                </a:solidFill>
                <a:latin typeface="Microsoft YaHei"/>
                <a:ea typeface="Microsoft YaHei"/>
              </a:rPr>
              <a:t>System displays the payable amount.</a:t>
            </a:r>
            <a:endParaRPr/>
          </a:p>
        </p:txBody>
      </p:sp>
      <p:sp>
        <p:nvSpPr>
          <p:cNvPr id="754" name=""/>
          <p:cNvSpPr/>
          <p:nvPr/>
        </p:nvSpPr>
        <p:spPr>
          <a:xfrm rot="0" flipH="0" flipV="0">
            <a:off x="571500" y="3552825"/>
            <a:ext cx="209550" cy="209550"/>
          </a:xfrm>
          <a:prstGeom prst="roundRect">
            <a:avLst>
              <a:gd name="adj" fmla="val 18182"/>
            </a:avLst>
          </a:prstGeom>
          <a:solidFill>
            <a:srgbClr val="1E4FA8"/>
          </a:solidFill>
          <a:ln/>
        </p:spPr>
        <p:txBody>
          <a:bodyPr/>
          <a:p/>
        </p:txBody>
      </p:sp>
      <p:sp>
        <p:nvSpPr>
          <p:cNvPr id="755" name="" descr="{&quot;isTemplate&quot;:true,&quot;type&quot;:&quot;text&quot;}"/>
          <p:cNvSpPr txBox="1"/>
          <p:nvPr/>
        </p:nvSpPr>
        <p:spPr>
          <a:xfrm rot="0" flipH="0" flipV="0">
            <a:off x="647700" y="3590925"/>
            <a:ext cx="66675" cy="133350"/>
          </a:xfrm>
          <a:prstGeom prst="rect"/>
        </p:spPr>
        <p:txBody>
          <a:bodyPr wrap="none" lIns="0" tIns="0" rIns="0" bIns="0"/>
          <a:p>
            <a:pPr>
              <a:lnSpc>
                <a:spcPct val="100000"/>
              </a:lnSpc>
            </a:pPr>
            <a:r>
              <a:rPr lang="en-US" sz="825" b="1">
                <a:solidFill>
                  <a:srgbClr val="FFFFFF"/>
                </a:solidFill>
                <a:latin typeface="Microsoft YaHei"/>
                <a:ea typeface="Microsoft YaHei"/>
              </a:rPr>
              <a:t>3</a:t>
            </a:r>
            <a:endParaRPr/>
          </a:p>
        </p:txBody>
      </p:sp>
      <p:sp>
        <p:nvSpPr>
          <p:cNvPr id="756" name="" descr="{&quot;isTemplate&quot;:true,&quot;type&quot;:&quot;text&quot;}"/>
          <p:cNvSpPr txBox="1"/>
          <p:nvPr/>
        </p:nvSpPr>
        <p:spPr>
          <a:xfrm rot="0" flipH="0" flipV="0">
            <a:off x="895350" y="3552825"/>
            <a:ext cx="4629150" cy="228600"/>
          </a:xfrm>
          <a:prstGeom prst="rect"/>
        </p:spPr>
        <p:txBody>
          <a:bodyPr wrap="none" lIns="0" tIns="0" rIns="0" bIns="0"/>
          <a:p>
            <a:pPr>
              <a:lnSpc>
                <a:spcPct val="145000"/>
              </a:lnSpc>
            </a:pPr>
            <a:r>
              <a:rPr lang="en-US" sz="1013">
                <a:solidFill>
                  <a:srgbClr val="1A2230"/>
                </a:solidFill>
                <a:latin typeface="Microsoft YaHei"/>
                <a:ea typeface="Microsoft YaHei"/>
              </a:rPr>
              <a:t>Student chooses a payment method.</a:t>
            </a:r>
            <a:endParaRPr/>
          </a:p>
        </p:txBody>
      </p:sp>
      <p:sp>
        <p:nvSpPr>
          <p:cNvPr id="757" name=""/>
          <p:cNvSpPr/>
          <p:nvPr/>
        </p:nvSpPr>
        <p:spPr>
          <a:xfrm rot="0" flipH="0" flipV="0">
            <a:off x="571500" y="3867150"/>
            <a:ext cx="209550" cy="209550"/>
          </a:xfrm>
          <a:prstGeom prst="roundRect">
            <a:avLst>
              <a:gd name="adj" fmla="val 18182"/>
            </a:avLst>
          </a:prstGeom>
          <a:solidFill>
            <a:srgbClr val="1E4FA8"/>
          </a:solidFill>
          <a:ln/>
        </p:spPr>
        <p:txBody>
          <a:bodyPr/>
          <a:p/>
        </p:txBody>
      </p:sp>
      <p:sp>
        <p:nvSpPr>
          <p:cNvPr id="758" name="" descr="{&quot;isTemplate&quot;:true,&quot;type&quot;:&quot;text&quot;}"/>
          <p:cNvSpPr txBox="1"/>
          <p:nvPr/>
        </p:nvSpPr>
        <p:spPr>
          <a:xfrm rot="0" flipH="0" flipV="0">
            <a:off x="647700" y="3905250"/>
            <a:ext cx="66675" cy="133350"/>
          </a:xfrm>
          <a:prstGeom prst="rect"/>
        </p:spPr>
        <p:txBody>
          <a:bodyPr wrap="none" lIns="0" tIns="0" rIns="0" bIns="0"/>
          <a:p>
            <a:pPr>
              <a:lnSpc>
                <a:spcPct val="100000"/>
              </a:lnSpc>
            </a:pPr>
            <a:r>
              <a:rPr lang="en-US" sz="825" b="1">
                <a:solidFill>
                  <a:srgbClr val="FFFFFF"/>
                </a:solidFill>
                <a:latin typeface="Microsoft YaHei"/>
                <a:ea typeface="Microsoft YaHei"/>
              </a:rPr>
              <a:t>4</a:t>
            </a:r>
            <a:endParaRPr/>
          </a:p>
        </p:txBody>
      </p:sp>
      <p:sp>
        <p:nvSpPr>
          <p:cNvPr id="759" name="" descr="{&quot;isTemplate&quot;:true,&quot;type&quot;:&quot;text&quot;}"/>
          <p:cNvSpPr txBox="1"/>
          <p:nvPr/>
        </p:nvSpPr>
        <p:spPr>
          <a:xfrm rot="0" flipH="0" flipV="0">
            <a:off x="895350" y="3867150"/>
            <a:ext cx="4629150" cy="228600"/>
          </a:xfrm>
          <a:prstGeom prst="rect"/>
        </p:spPr>
        <p:txBody>
          <a:bodyPr wrap="none" lIns="0" tIns="0" rIns="0" bIns="0"/>
          <a:p>
            <a:pPr>
              <a:lnSpc>
                <a:spcPct val="145000"/>
              </a:lnSpc>
            </a:pPr>
            <a:r>
              <a:rPr lang="en-US" sz="1013">
                <a:solidFill>
                  <a:srgbClr val="1A2230"/>
                </a:solidFill>
                <a:latin typeface="Microsoft YaHei"/>
                <a:ea typeface="Microsoft YaHei"/>
              </a:rPr>
              <a:t>System authorises the amount with the provider.</a:t>
            </a:r>
            <a:endParaRPr/>
          </a:p>
        </p:txBody>
      </p:sp>
      <p:sp>
        <p:nvSpPr>
          <p:cNvPr id="760" name=""/>
          <p:cNvSpPr/>
          <p:nvPr/>
        </p:nvSpPr>
        <p:spPr>
          <a:xfrm rot="0" flipH="0" flipV="0">
            <a:off x="571500" y="4181475"/>
            <a:ext cx="209550" cy="209550"/>
          </a:xfrm>
          <a:prstGeom prst="roundRect">
            <a:avLst>
              <a:gd name="adj" fmla="val 18182"/>
            </a:avLst>
          </a:prstGeom>
          <a:solidFill>
            <a:srgbClr val="1E4FA8"/>
          </a:solidFill>
          <a:ln/>
        </p:spPr>
        <p:txBody>
          <a:bodyPr/>
          <a:p/>
        </p:txBody>
      </p:sp>
      <p:sp>
        <p:nvSpPr>
          <p:cNvPr id="761" name="" descr="{&quot;isTemplate&quot;:true,&quot;type&quot;:&quot;text&quot;}"/>
          <p:cNvSpPr txBox="1"/>
          <p:nvPr/>
        </p:nvSpPr>
        <p:spPr>
          <a:xfrm rot="0" flipH="0" flipV="0">
            <a:off x="647700" y="4219575"/>
            <a:ext cx="66675" cy="133350"/>
          </a:xfrm>
          <a:prstGeom prst="rect"/>
        </p:spPr>
        <p:txBody>
          <a:bodyPr wrap="none" lIns="0" tIns="0" rIns="0" bIns="0"/>
          <a:p>
            <a:pPr>
              <a:lnSpc>
                <a:spcPct val="100000"/>
              </a:lnSpc>
            </a:pPr>
            <a:r>
              <a:rPr lang="en-US" sz="825" b="1">
                <a:solidFill>
                  <a:srgbClr val="FFFFFF"/>
                </a:solidFill>
                <a:latin typeface="Microsoft YaHei"/>
                <a:ea typeface="Microsoft YaHei"/>
              </a:rPr>
              <a:t>5</a:t>
            </a:r>
            <a:endParaRPr/>
          </a:p>
        </p:txBody>
      </p:sp>
      <p:sp>
        <p:nvSpPr>
          <p:cNvPr id="762" name="" descr="{&quot;isTemplate&quot;:true,&quot;type&quot;:&quot;text&quot;}"/>
          <p:cNvSpPr txBox="1"/>
          <p:nvPr/>
        </p:nvSpPr>
        <p:spPr>
          <a:xfrm rot="0" flipH="0" flipV="0">
            <a:off x="895350" y="4181475"/>
            <a:ext cx="4629150" cy="228600"/>
          </a:xfrm>
          <a:prstGeom prst="rect"/>
        </p:spPr>
        <p:txBody>
          <a:bodyPr wrap="none" lIns="0" tIns="0" rIns="0" bIns="0"/>
          <a:p>
            <a:pPr>
              <a:lnSpc>
                <a:spcPct val="145000"/>
              </a:lnSpc>
            </a:pPr>
            <a:r>
              <a:rPr lang="en-US" sz="1013">
                <a:solidFill>
                  <a:srgbClr val="1A2230"/>
                </a:solidFill>
                <a:latin typeface="Microsoft YaHei"/>
                <a:ea typeface="Microsoft YaHei"/>
              </a:rPr>
              <a:t>System creates the order in state Accepted.</a:t>
            </a:r>
            <a:endParaRPr/>
          </a:p>
        </p:txBody>
      </p:sp>
      <p:sp>
        <p:nvSpPr>
          <p:cNvPr id="763" name=""/>
          <p:cNvSpPr/>
          <p:nvPr/>
        </p:nvSpPr>
        <p:spPr>
          <a:xfrm rot="0" flipH="0" flipV="0">
            <a:off x="571500" y="4495800"/>
            <a:ext cx="209550" cy="209550"/>
          </a:xfrm>
          <a:prstGeom prst="roundRect">
            <a:avLst>
              <a:gd name="adj" fmla="val 18182"/>
            </a:avLst>
          </a:prstGeom>
          <a:solidFill>
            <a:srgbClr val="1E4FA8"/>
          </a:solidFill>
          <a:ln/>
        </p:spPr>
        <p:txBody>
          <a:bodyPr/>
          <a:p/>
        </p:txBody>
      </p:sp>
      <p:sp>
        <p:nvSpPr>
          <p:cNvPr id="764" name="" descr="{&quot;isTemplate&quot;:true,&quot;type&quot;:&quot;text&quot;}"/>
          <p:cNvSpPr txBox="1"/>
          <p:nvPr/>
        </p:nvSpPr>
        <p:spPr>
          <a:xfrm rot="0" flipH="0" flipV="0">
            <a:off x="647700" y="4533900"/>
            <a:ext cx="66675" cy="133350"/>
          </a:xfrm>
          <a:prstGeom prst="rect"/>
        </p:spPr>
        <p:txBody>
          <a:bodyPr wrap="none" lIns="0" tIns="0" rIns="0" bIns="0"/>
          <a:p>
            <a:pPr>
              <a:lnSpc>
                <a:spcPct val="100000"/>
              </a:lnSpc>
            </a:pPr>
            <a:r>
              <a:rPr lang="en-US" sz="825" b="1">
                <a:solidFill>
                  <a:srgbClr val="FFFFFF"/>
                </a:solidFill>
                <a:latin typeface="Microsoft YaHei"/>
                <a:ea typeface="Microsoft YaHei"/>
              </a:rPr>
              <a:t>6</a:t>
            </a:r>
            <a:endParaRPr/>
          </a:p>
        </p:txBody>
      </p:sp>
      <p:sp>
        <p:nvSpPr>
          <p:cNvPr id="765" name="" descr="{&quot;isTemplate&quot;:true,&quot;type&quot;:&quot;text&quot;}"/>
          <p:cNvSpPr txBox="1"/>
          <p:nvPr/>
        </p:nvSpPr>
        <p:spPr>
          <a:xfrm rot="0" flipH="0" flipV="0">
            <a:off x="895350" y="4495800"/>
            <a:ext cx="4629150" cy="228600"/>
          </a:xfrm>
          <a:prstGeom prst="rect"/>
        </p:spPr>
        <p:txBody>
          <a:bodyPr wrap="none" lIns="0" tIns="0" rIns="0" bIns="0"/>
          <a:p>
            <a:pPr>
              <a:lnSpc>
                <a:spcPct val="145000"/>
              </a:lnSpc>
            </a:pPr>
            <a:r>
              <a:rPr lang="en-US" sz="1013">
                <a:solidFill>
                  <a:srgbClr val="1A2230"/>
                </a:solidFill>
                <a:latin typeface="Microsoft YaHei"/>
                <a:ea typeface="Microsoft YaHei"/>
              </a:rPr>
              <a:t>System prints the kitchen ticket.</a:t>
            </a:r>
            <a:endParaRPr/>
          </a:p>
        </p:txBody>
      </p:sp>
      <p:sp>
        <p:nvSpPr>
          <p:cNvPr id="766" name=""/>
          <p:cNvSpPr/>
          <p:nvPr/>
        </p:nvSpPr>
        <p:spPr>
          <a:xfrm rot="0" flipH="0" flipV="0">
            <a:off x="571500" y="4810125"/>
            <a:ext cx="209550" cy="209550"/>
          </a:xfrm>
          <a:prstGeom prst="roundRect">
            <a:avLst>
              <a:gd name="adj" fmla="val 18182"/>
            </a:avLst>
          </a:prstGeom>
          <a:solidFill>
            <a:srgbClr val="1E4FA8"/>
          </a:solidFill>
          <a:ln/>
        </p:spPr>
        <p:txBody>
          <a:bodyPr/>
          <a:p/>
        </p:txBody>
      </p:sp>
      <p:sp>
        <p:nvSpPr>
          <p:cNvPr id="767" name="" descr="{&quot;isTemplate&quot;:true,&quot;type&quot;:&quot;text&quot;}"/>
          <p:cNvSpPr txBox="1"/>
          <p:nvPr/>
        </p:nvSpPr>
        <p:spPr>
          <a:xfrm rot="0" flipH="0" flipV="0">
            <a:off x="647700" y="4848225"/>
            <a:ext cx="66675" cy="133350"/>
          </a:xfrm>
          <a:prstGeom prst="rect"/>
        </p:spPr>
        <p:txBody>
          <a:bodyPr wrap="none" lIns="0" tIns="0" rIns="0" bIns="0"/>
          <a:p>
            <a:pPr>
              <a:lnSpc>
                <a:spcPct val="100000"/>
              </a:lnSpc>
            </a:pPr>
            <a:r>
              <a:rPr lang="en-US" sz="825" b="1">
                <a:solidFill>
                  <a:srgbClr val="FFFFFF"/>
                </a:solidFill>
                <a:latin typeface="Microsoft YaHei"/>
                <a:ea typeface="Microsoft YaHei"/>
              </a:rPr>
              <a:t>7</a:t>
            </a:r>
            <a:endParaRPr/>
          </a:p>
        </p:txBody>
      </p:sp>
      <p:sp>
        <p:nvSpPr>
          <p:cNvPr id="768" name="" descr="{&quot;isTemplate&quot;:true,&quot;type&quot;:&quot;text&quot;}"/>
          <p:cNvSpPr txBox="1"/>
          <p:nvPr/>
        </p:nvSpPr>
        <p:spPr>
          <a:xfrm rot="0" flipH="0" flipV="0">
            <a:off x="895350" y="4810125"/>
            <a:ext cx="4629150" cy="228600"/>
          </a:xfrm>
          <a:prstGeom prst="rect"/>
        </p:spPr>
        <p:txBody>
          <a:bodyPr wrap="none" lIns="0" tIns="0" rIns="0" bIns="0"/>
          <a:p>
            <a:pPr>
              <a:lnSpc>
                <a:spcPct val="145000"/>
              </a:lnSpc>
            </a:pPr>
            <a:r>
              <a:rPr lang="en-US" sz="1013">
                <a:solidFill>
                  <a:srgbClr val="1A2230"/>
                </a:solidFill>
                <a:latin typeface="Microsoft YaHei"/>
                <a:ea typeface="Microsoft YaHei"/>
              </a:rPr>
              <a:t>System notifies the student of the order time.</a:t>
            </a:r>
            <a:endParaRPr/>
          </a:p>
        </p:txBody>
      </p:sp>
      <p:sp>
        <p:nvSpPr>
          <p:cNvPr id="769" name=""/>
          <p:cNvSpPr/>
          <p:nvPr/>
        </p:nvSpPr>
        <p:spPr>
          <a:xfrm rot="0" flipH="0" flipV="0">
            <a:off x="6000750" y="1866900"/>
            <a:ext cx="5848350" cy="1000125"/>
          </a:xfrm>
          <a:prstGeom prst="roundRect">
            <a:avLst>
              <a:gd name="adj" fmla="val 8571"/>
            </a:avLst>
          </a:prstGeom>
          <a:solidFill>
            <a:srgbClr val="F0F5FC"/>
          </a:solidFill>
          <a:ln/>
        </p:spPr>
        <p:txBody>
          <a:bodyPr/>
          <a:p/>
        </p:txBody>
      </p:sp>
      <p:sp>
        <p:nvSpPr>
          <p:cNvPr id="770" name=""/>
          <p:cNvSpPr/>
          <p:nvPr/>
        </p:nvSpPr>
        <p:spPr>
          <a:xfrm rot="0" flipH="0" flipV="0">
            <a:off x="6000750" y="1866900"/>
            <a:ext cx="5848350" cy="1000125"/>
          </a:xfrm>
          <a:custGeom>
            <a:pathLst>
              <a:path w="614" h="105">
                <a:moveTo>
                  <a:pt x="9" y="0"/>
                </a:moveTo>
                <a:cubicBezTo>
                  <a:pt x="6" y="0"/>
                  <a:pt x="4" y="2"/>
                  <a:pt x="4" y="5"/>
                </a:cubicBezTo>
                <a:lnTo>
                  <a:pt x="4" y="100"/>
                </a:lnTo>
                <a:cubicBezTo>
                  <a:pt x="4" y="102"/>
                  <a:pt x="6" y="104"/>
                  <a:pt x="8" y="105"/>
                </a:cubicBezTo>
                <a:cubicBezTo>
                  <a:pt x="4" y="105"/>
                  <a:pt x="0" y="101"/>
                  <a:pt x="0" y="96"/>
                </a:cubicBezTo>
                <a:lnTo>
                  <a:pt x="0" y="9"/>
                </a:lnTo>
                <a:cubicBezTo>
                  <a:pt x="0" y="4"/>
                  <a:pt x="4" y="0"/>
                  <a:pt x="9" y="0"/>
                </a:cubicBezTo>
                <a:close/>
              </a:path>
            </a:pathLst>
          </a:custGeom>
          <a:solidFill>
            <a:srgbClr val="1E4FA8"/>
          </a:solidFill>
          <a:ln/>
        </p:spPr>
        <p:txBody>
          <a:bodyPr/>
          <a:p/>
        </p:txBody>
      </p:sp>
      <p:sp>
        <p:nvSpPr>
          <p:cNvPr id="771" name="" descr="{&quot;isTemplate&quot;:true,&quot;type&quot;:&quot;text&quot;}"/>
          <p:cNvSpPr txBox="1"/>
          <p:nvPr/>
        </p:nvSpPr>
        <p:spPr>
          <a:xfrm rot="0" flipH="0" flipV="0">
            <a:off x="6162675" y="2009775"/>
            <a:ext cx="5486400" cy="190500"/>
          </a:xfrm>
          <a:prstGeom prst="rect"/>
        </p:spPr>
        <p:txBody>
          <a:bodyPr wrap="none" lIns="0" tIns="0" rIns="0" bIns="0"/>
          <a:p>
            <a:pPr>
              <a:lnSpc>
                <a:spcPct val="100000"/>
              </a:lnSpc>
            </a:pPr>
            <a:r>
              <a:rPr lang="en-US" sz="1200" b="1">
                <a:solidFill>
                  <a:srgbClr val="0E3F8C"/>
                </a:solidFill>
                <a:latin typeface="Microsoft YaHei"/>
                <a:ea typeface="Microsoft YaHei"/>
              </a:rPr>
              <a:t>Twelve nouns, no classes</a:t>
            </a:r>
            <a:endParaRPr/>
          </a:p>
        </p:txBody>
      </p:sp>
      <p:sp>
        <p:nvSpPr>
          <p:cNvPr id="772" name="" descr="{&quot;isTemplate&quot;:true,&quot;type&quot;:&quot;text&quot;}"/>
          <p:cNvSpPr txBox="1"/>
          <p:nvPr/>
        </p:nvSpPr>
        <p:spPr>
          <a:xfrm rot="0" flipH="0" flipV="0">
            <a:off x="6162675" y="2247900"/>
            <a:ext cx="548640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cart · total · payment method · amount · provider · order · state Accepted · kitchen ticket · student · order time</a:t>
            </a:r>
            <a:endParaRPr/>
          </a:p>
        </p:txBody>
      </p:sp>
      <p:sp>
        <p:nvSpPr>
          <p:cNvPr id="773" name=""/>
          <p:cNvSpPr/>
          <p:nvPr/>
        </p:nvSpPr>
        <p:spPr>
          <a:xfrm rot="0" flipH="0" flipV="0">
            <a:off x="5962650" y="2990850"/>
            <a:ext cx="5848350" cy="1000125"/>
          </a:xfrm>
          <a:prstGeom prst="roundRect">
            <a:avLst>
              <a:gd name="adj" fmla="val 8571"/>
            </a:avLst>
          </a:prstGeom>
          <a:solidFill>
            <a:srgbClr val="FFFFFF"/>
          </a:solidFill>
          <a:ln w="12700">
            <a:solidFill>
              <a:srgbClr val="D6DCE5"/>
            </a:solidFill>
            <a:prstDash val="solid"/>
          </a:ln>
        </p:spPr>
        <p:txBody>
          <a:bodyPr/>
          <a:p/>
        </p:txBody>
      </p:sp>
      <p:sp>
        <p:nvSpPr>
          <p:cNvPr id="774" name="" descr="{&quot;isTemplate&quot;:true,&quot;type&quot;:&quot;text&quot;}"/>
          <p:cNvSpPr txBox="1"/>
          <p:nvPr/>
        </p:nvSpPr>
        <p:spPr>
          <a:xfrm rot="0" flipH="0" flipV="0">
            <a:off x="6124575" y="3133725"/>
            <a:ext cx="5524500" cy="190500"/>
          </a:xfrm>
          <a:prstGeom prst="rect"/>
        </p:spPr>
        <p:txBody>
          <a:bodyPr wrap="none" lIns="0" tIns="0" rIns="0" bIns="0"/>
          <a:p>
            <a:pPr>
              <a:lnSpc>
                <a:spcPct val="100000"/>
              </a:lnSpc>
            </a:pPr>
            <a:r>
              <a:rPr lang="en-US" sz="1200" b="1">
                <a:solidFill>
                  <a:srgbClr val="0E3F8C"/>
                </a:solidFill>
                <a:latin typeface="Microsoft YaHei"/>
                <a:ea typeface="Microsoft YaHei"/>
              </a:rPr>
              <a:t>Every one is either a class or an attribute</a:t>
            </a:r>
            <a:endParaRPr/>
          </a:p>
        </p:txBody>
      </p:sp>
      <p:sp>
        <p:nvSpPr>
          <p:cNvPr id="775" name="" descr="{&quot;isTemplate&quot;:true,&quot;type&quot;:&quot;text&quot;}"/>
          <p:cNvSpPr txBox="1"/>
          <p:nvPr/>
        </p:nvSpPr>
        <p:spPr>
          <a:xfrm rot="0" flipH="0" flipV="0">
            <a:off x="6124575" y="3371850"/>
            <a:ext cx="552450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That decision is this week’s whole job. It looks trivial. It is the step at which most real projects go wrong.</a:t>
            </a:r>
            <a:endParaRPr/>
          </a:p>
        </p:txBody>
      </p:sp>
      <p:sp>
        <p:nvSpPr>
          <p:cNvPr id="776" name=""/>
          <p:cNvSpPr/>
          <p:nvPr/>
        </p:nvSpPr>
        <p:spPr>
          <a:xfrm rot="0" flipH="0" flipV="0">
            <a:off x="6000750" y="4114800"/>
            <a:ext cx="5848350" cy="1000125"/>
          </a:xfrm>
          <a:prstGeom prst="roundRect">
            <a:avLst>
              <a:gd name="adj" fmla="val 8571"/>
            </a:avLst>
          </a:prstGeom>
          <a:solidFill>
            <a:srgbClr val="FFF6E0"/>
          </a:solidFill>
          <a:ln/>
        </p:spPr>
        <p:txBody>
          <a:bodyPr/>
          <a:p/>
        </p:txBody>
      </p:sp>
      <p:sp>
        <p:nvSpPr>
          <p:cNvPr id="777" name=""/>
          <p:cNvSpPr/>
          <p:nvPr/>
        </p:nvSpPr>
        <p:spPr>
          <a:xfrm rot="0" flipH="0" flipV="0">
            <a:off x="6000750" y="4114800"/>
            <a:ext cx="5848350" cy="1000125"/>
          </a:xfrm>
          <a:custGeom>
            <a:pathLst>
              <a:path w="614" h="105">
                <a:moveTo>
                  <a:pt x="9" y="0"/>
                </a:moveTo>
                <a:cubicBezTo>
                  <a:pt x="6" y="0"/>
                  <a:pt x="4" y="2"/>
                  <a:pt x="4" y="5"/>
                </a:cubicBezTo>
                <a:lnTo>
                  <a:pt x="4" y="100"/>
                </a:lnTo>
                <a:cubicBezTo>
                  <a:pt x="4" y="102"/>
                  <a:pt x="6" y="104"/>
                  <a:pt x="8" y="105"/>
                </a:cubicBezTo>
                <a:cubicBezTo>
                  <a:pt x="4" y="105"/>
                  <a:pt x="0" y="101"/>
                  <a:pt x="0" y="96"/>
                </a:cubicBezTo>
                <a:lnTo>
                  <a:pt x="0" y="9"/>
                </a:lnTo>
                <a:cubicBezTo>
                  <a:pt x="0" y="4"/>
                  <a:pt x="4" y="0"/>
                  <a:pt x="9" y="0"/>
                </a:cubicBezTo>
                <a:close/>
              </a:path>
            </a:pathLst>
          </a:custGeom>
          <a:solidFill>
            <a:srgbClr val="FFC107"/>
          </a:solidFill>
          <a:ln/>
        </p:spPr>
        <p:txBody>
          <a:bodyPr/>
          <a:p/>
        </p:txBody>
      </p:sp>
      <p:sp>
        <p:nvSpPr>
          <p:cNvPr id="778" name="" descr="{&quot;isTemplate&quot;:true,&quot;type&quot;:&quot;text&quot;}"/>
          <p:cNvSpPr txBox="1"/>
          <p:nvPr/>
        </p:nvSpPr>
        <p:spPr>
          <a:xfrm rot="0" flipH="0" flipV="0">
            <a:off x="6162675" y="4257675"/>
            <a:ext cx="5486400" cy="190500"/>
          </a:xfrm>
          <a:prstGeom prst="rect"/>
        </p:spPr>
        <p:txBody>
          <a:bodyPr wrap="none" lIns="0" tIns="0" rIns="0" bIns="0"/>
          <a:p>
            <a:pPr>
              <a:lnSpc>
                <a:spcPct val="100000"/>
              </a:lnSpc>
            </a:pPr>
            <a:r>
              <a:rPr lang="en-US" sz="1200" b="1">
                <a:solidFill>
                  <a:srgbClr val="996F00"/>
                </a:solidFill>
                <a:latin typeface="Microsoft YaHei"/>
                <a:ea typeface="Microsoft YaHei"/>
              </a:rPr>
              <a:t>Two are already taken</a:t>
            </a:r>
            <a:endParaRPr/>
          </a:p>
        </p:txBody>
      </p:sp>
      <p:sp>
        <p:nvSpPr>
          <p:cNvPr id="779" name="" descr="{&quot;isTemplate&quot;:true,&quot;type&quot;:&quot;text&quot;}"/>
          <p:cNvSpPr txBox="1"/>
          <p:nvPr/>
        </p:nvSpPr>
        <p:spPr>
          <a:xfrm rot="0" flipH="0" flipV="0">
            <a:off x="6162675" y="4495800"/>
            <a:ext cx="548640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Student and provider are actors. They were on your use case diagram, so they are not classes in this model.</a:t>
            </a:r>
            <a:endParaRPr/>
          </a:p>
        </p:txBody>
      </p:sp>
      <p:sp>
        <p:nvSpPr>
          <p:cNvPr id="780" name=""/>
          <p:cNvSpPr/>
          <p:nvPr/>
        </p:nvSpPr>
        <p:spPr>
          <a:xfrm rot="0" flipH="0" flipV="0">
            <a:off x="5962650" y="5238750"/>
            <a:ext cx="5848350" cy="676275"/>
          </a:xfrm>
          <a:prstGeom prst="roundRect">
            <a:avLst>
              <a:gd name="adj" fmla="val 11268"/>
            </a:avLst>
          </a:prstGeom>
          <a:solidFill>
            <a:srgbClr val="F7F9FC"/>
          </a:solidFill>
          <a:ln w="12700">
            <a:solidFill>
              <a:srgbClr val="D6DCE5"/>
            </a:solidFill>
            <a:prstDash val="dash"/>
          </a:ln>
        </p:spPr>
        <p:txBody>
          <a:bodyPr/>
          <a:p/>
        </p:txBody>
      </p:sp>
      <p:sp>
        <p:nvSpPr>
          <p:cNvPr id="781" name="" descr="{&quot;isTemplate&quot;:true,&quot;type&quot;:&quot;text&quot;}"/>
          <p:cNvSpPr txBox="1"/>
          <p:nvPr/>
        </p:nvSpPr>
        <p:spPr>
          <a:xfrm rot="0" flipH="0" flipV="0">
            <a:off x="6115050" y="5353050"/>
            <a:ext cx="5543550" cy="447675"/>
          </a:xfrm>
          <a:prstGeom prst="rect"/>
        </p:spPr>
        <p:txBody>
          <a:bodyPr wrap="square" lIns="0" tIns="0" rIns="0" bIns="0">
            <a:normAutofit/>
          </a:bodyPr>
          <a:p>
            <a:pPr>
              <a:lnSpc>
                <a:spcPct val="155000"/>
              </a:lnSpc>
            </a:pPr>
            <a:r>
              <a:rPr lang="en-US" sz="938">
                <a:solidFill>
                  <a:srgbClr val="8B97A8"/>
                </a:solidFill>
                <a:latin typeface="Microsoft YaHei"/>
                <a:ea typeface="Microsoft YaHei"/>
              </a:rPr>
              <a:t>You already wrote the specification that produces this model. The hard reading is already done — this week is bookkeeping with consequences.</a:t>
            </a:r>
            <a:endParaRPr/>
          </a:p>
        </p:txBody>
      </p:sp>
      <p:sp>
        <p:nvSpPr>
          <p:cNvPr id="782" name="" descr="{&quot;isTemplate&quot;:true,&quot;type&quot;:&quot;text&quot;}"/>
          <p:cNvSpPr txBox="1"/>
          <p:nvPr/>
        </p:nvSpPr>
        <p:spPr>
          <a:xfrm rot="0" flipH="0" flipV="0">
            <a:off x="381000" y="6619875"/>
            <a:ext cx="6524625" cy="152400"/>
          </a:xfrm>
          <a:prstGeom prst="rect"/>
        </p:spPr>
        <p:txBody>
          <a:bodyPr wrap="none" lIns="0" tIns="0" rIns="0" bIns="0"/>
          <a:p>
            <a:pPr>
              <a:lnSpc>
                <a:spcPct val="100000"/>
              </a:lnSpc>
            </a:pPr>
            <a:r>
              <a:rPr lang="en-US" sz="975">
                <a:solidFill>
                  <a:srgbClr val="8B97A8"/>
                </a:solidFill>
                <a:latin typeface="Microsoft YaHei"/>
                <a:ea typeface="Microsoft YaHei"/>
              </a:rPr>
              <a:t>ISAD · Fall 2026 · The nouns were there all along. Last week you wrote sentences about them instead of drawing them</a:t>
            </a:r>
            <a:endParaRPr/>
          </a:p>
        </p:txBody>
      </p:sp>
      <p:sp>
        <p:nvSpPr>
          <p:cNvPr id="783" name="" descr="{&quot;isTemplate&quot;:true,&quot;type&quot;:&quot;text&quot;}"/>
          <p:cNvSpPr txBox="1"/>
          <p:nvPr/>
        </p:nvSpPr>
        <p:spPr>
          <a:xfrm rot="0" flipH="0" flipV="0">
            <a:off x="11401425" y="6619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04 / 39</a:t>
            </a:r>
            <a:endParaRPr/>
          </a:p>
        </p:txBody>
      </p:sp>
    </p:spTree>
  </p:cSld>
</p:sld>
</file>

<file path=ppt/slides/slide5.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784"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6 · FROM SCENARIOS TO CLASSES&lt;/Text&gt;&#10;  &lt;/Box&gt;&#10;  &lt;Box style={{ padding: '13px 40px 0 40px', flexDirection: 'row', alignItems: 'center', justifyContent: 'space-between' }}&gt;&#10;    &lt;Text style={{ fontSize: 29, fontWeight: 'bold', color: '#0E3F8C' }}&gt;The Noun Scan, Done Properly&lt;/Text&gt;&#10;    &lt;Text style={{ fontSize: 14, color: '#1E4FA8', fontWeight: 'bold' }}&gt;05 / 39&lt;/Text&gt;&#10;  &lt;/Box&gt;&#10;  &lt;Box style={{ flex: 1, padding: '6px 40px 0 40px', justifyContent: 'center', alignItems: 'center' }}&gt;&#10;    &lt;svg width={1180} height={392} viewBox='0 0 1180 392'&gt;&#10;      &lt;text x='10' y='16' fill='#8B97A8' fontSize='13'&gt;One sentence from your specification. Four nouns. Each one lands in a different place.&lt;/text&gt;&#10;&#10;      &lt;rect x='0' y='32' width='1180' height='64' rx='8' fill='#F7F9FC' stroke='#D6DCE5' strokeWidth='1.4' /&gt;&#10;      &lt;text x='24' y='72' fill='#1A2230' fontSize='19' fontWeight='bold'&gt;System creates the order in state Accepted.&lt;/text&gt;&#10;&#10;      &lt;g transform='translate(20,120)'&gt;&#10;        &lt;rect x='0' y='0' width='272' height='150' rx='8' fill='#F0F5FC' stroke='#1E4FA8' strokeWidth='2' /&gt;&#10;        &lt;circle cx='26' cy='26' r='13' fill='#1E4FA8' /&gt;&#10;        &lt;text x='26' y='32' textAnchor='middle' fill='#FFFFFF' fontSize='14' fontWeight='bold'&gt;1&lt;/text&gt;&#10;        &lt;text x='48' y='31' fill='#0E3F8C' fontSize='14' fontWeight='bold'&gt;System&lt;/text&gt;&#10;        &lt;text x='16' y='64' fill='#4A5568' fontSize='12'&gt;Already known: it is the actor&lt;/text&gt;&#10;        &lt;text x='16' y='81' fill='#4A5568' fontSize='12'&gt;on the use case diagram.&lt;/text&gt;&#10;        &lt;line x1='16' y1='96' x2='256' y2='96' stroke='#D6DCE5' strokeWidth='1' /&gt;&#10;        &lt;text x='16' y='118' fill='#D9534F' fontSize='11.5' fontWeight='bold'&gt;NOT a class.&lt;/text&gt;&#10;        &lt;text x='16' y='137' fill='#8B97A8' fontSize='11'&gt;It is the box everything sits in.&lt;/text&gt;&#10;      &lt;/g&gt;&#10;&#10;      &lt;g transform='translate(308,120)'&gt;&#10;        &lt;rect x='0' y='0' width='272' height='150' rx='8' fill='#EAF6EC' stroke='#2B7A3D' strokeWidth='2' /&gt;&#10;        &lt;circle cx='26' cy='26' r='13' fill='#2B7A3D' /&gt;&#10;        &lt;text x='26' y='32' textAnchor='middle' fill='#FFFFFF' fontSize='14' fontWeight='bold'&gt;2&lt;/text&gt;&#10;        &lt;text x='48' y='31' fill='#2B7A3D' fontSize='14' fontWeight='bold'&gt;order&lt;/text&gt;&#10;        &lt;text x='16' y='64' fill='#4A5568' fontSize='12'&gt;It has identity: we can point at&lt;/text&gt;&#10;        &lt;text x='16' y='81' fill='#4A5568' fontSize='12'&gt;one order and say which.&lt;/text&gt;&#10;        &lt;line x1='16' y1='96' x2='256' y2='96' stroke='#C9E0CD' strokeWidth='1' /&gt;&#10;        &lt;text x='16' y='118' fill='#2B7A3D' fontSize='11.5' fontWeight='bold'&gt;A conceptual class.&lt;/text&gt;&#10;        &lt;text x='16' y='137' fill='#8B97A8' fontSize='11'&gt;Even though “an order” also&lt;/text&gt;&#10;        &lt;text x='16' y='152' fill='#8B97A8' fontSize='11'&gt;means a verb.&lt;/text&gt;&#10;      &lt;/g&gt;&#10;&#10;      &lt;g transform='translate(596,120)'&gt;&#10;        &lt;rect x='0' y='0' width='272' height='150' rx='8' fill='#FFF6E0' stroke='#FFC107' strokeWidth='2' /&gt;&#10;        &lt;circle cx='26' cy='26' r='13' fill='#996F00' /&gt;&#10;        &lt;text x='26' y='32' textAnchor='middle' fill='#FFFFFF' fontSize='14' fontWeight='bold'&gt;3&lt;/text&gt;&#10;        &lt;text x='48' y='31' fill='#996F00' fontSize='14' fontWeight='bold'&gt;state&lt;/text&gt;&#10;        &lt;text x='16' y='64' fill='#4A5568' fontSize='12'&gt;One value of one order. It has&lt;/text&gt;&#10;        &lt;text x='16' y='81' fill='#4A5568' fontSize='12'&gt;no identity of its own.&lt;/text&gt;&#10;        &lt;line x1='16' y1='96' x2='256' y2='96' stroke='#E8D9A8' strokeWidth='1' /&gt;&#10;        &lt;text x='16' y='118' fill='#996F00' fontSize='11.5' fontWeight='bold'&gt;An attribute.&lt;/text&gt;&#10;        &lt;text x='16' y='137' fill='#8B97A8' fontSize='11'&gt;Becomes an attribute of Order.&lt;/text&gt;&#10;      &lt;/g&gt;&#10;&#10;      &lt;g transform='translate(884,120)'&gt;&#10;        &lt;rect x='0' y='0' width='276' height='150' rx='8' fill='#FDF3F3' stroke='#D9534F' strokeWidth='2' /&gt;&#10;        &lt;circle cx='26' cy='26' r='13' fill='#D9534F' /&gt;&#10;        &lt;text x='26' y='32' textAnchor='middle' fill='#FFFFFF' fontSize='14' fontWeight='bold'&gt;4&lt;/text&gt;&#10;        &lt;text x='48' y='31' fill='#D9534F' fontSize='14' fontWeight='bold'&gt;Accepted&lt;/text&gt;&#10;        &lt;text x='16' y='64' fill='#4A5568' fontSize='12'&gt;Not a noun at all. It is one&lt;/text&gt;&#10;        &lt;text x='16' y='81' fill='#4A5568' fontSize='12'&gt;member of a fixed list.&lt;/text&gt;&#10;        &lt;line x1='16' y1='96' x2='260' y2='96' stroke='#EFC9C7' strokeWidth='1' /&gt;&#10;        &lt;text x='16' y='118' fill='#D9534F' fontSize='11.5' fontWeight='bold'&gt;A possible value.&lt;/text&gt;&#10;        &lt;text x='16' y='137' fill='#8B97A8' fontSize='11'&gt;W09 turns it into a state machine.&lt;/text&gt;&#10;      &lt;/g&gt;&#10;&#10;      &lt;g transform='translate(20,296)'&gt;&#10;        &lt;rect x='0' y='0' width='1140' height='82' rx='8' fill='#0E3F8C' /&gt;&#10;        &lt;text x='20' y='30' fill='#FFFFFF' fontSize='14.5' fontWeight='bold'&gt;The test that separates them: can you point at this thing and say “that one”?&lt;/text&gt;&#10;        &lt;text x='20' y='56' fill='#C5D4EA' fontSize='12.5'&gt;Point at the order — yes, so it is a class. Point at “Accepted” — no, you can only read it off an order, so it is an attribute value.&lt;/text&gt;&#10;        &lt;text x='20' y='74' fill='#7FA2D6' fontSize='11.5'&gt;If your team argues for ten minutes about whether something is a class, ask this question. It usually settles it in one.&lt;/text&gt;&#10;      &lt;/g&gt;&#10;    &lt;/svg&gt;&#10;  &lt;/Box&gt;&#10;  &lt;Box style={{ height: 34, padding: '0 40px', flexDirection: 'row', alignItems: 'center', justifyContent: 'space-between' }}&gt;&#10;    &lt;Text style={{ fontSize: 13, color: '#8B97A8' }}&gt;ISAD · Fall 2026 · Identity is the test. If you can point at it, it is a class; if you can only read it off something else, it is an attribute&lt;/Text&gt;&#10;    &lt;Text style={{ fontSize: 14, color: '#1E4FA8', fontWeight: 'bold' }}&gt;05 / 39&lt;/Text&gt;&#10;  &lt;/Box&gt;&#10;&lt;/Slide&gt;&#10;"/>
        <p:cNvGrpSpPr/>
        <p:nvPr/>
      </p:nvGrpSpPr>
      <p:grpSpPr>
        <a:xfrm>
          <a:off x="0" y="0"/>
          <a:ext cx="0" cy="0"/>
          <a:chOff x="0" y="0"/>
          <a:chExt cx="0" cy="0"/>
        </a:xfrm>
      </p:grpSpPr>
      <p:sp>
        <p:nvSpPr>
          <p:cNvPr id="785" name=""/>
          <p:cNvSpPr/>
          <p:nvPr/>
        </p:nvSpPr>
        <p:spPr>
          <a:xfrm rot="0" flipH="0" flipV="0">
            <a:off x="0" y="0"/>
            <a:ext cx="12192000" cy="6858000"/>
          </a:xfrm>
          <a:prstGeom prst="rect">
            <a:avLst/>
          </a:prstGeom>
          <a:solidFill>
            <a:srgbClr val="FFFFFF"/>
          </a:solidFill>
          <a:ln/>
        </p:spPr>
        <p:txBody>
          <a:bodyPr/>
          <a:p/>
        </p:txBody>
      </p:sp>
      <p:sp>
        <p:nvSpPr>
          <p:cNvPr id="786" name=""/>
          <p:cNvSpPr/>
          <p:nvPr/>
        </p:nvSpPr>
        <p:spPr>
          <a:xfrm rot="0" flipH="0" flipV="0">
            <a:off x="0" y="0"/>
            <a:ext cx="12192000" cy="685800"/>
          </a:xfrm>
          <a:prstGeom prst="rect">
            <a:avLst/>
          </a:prstGeom>
          <a:solidFill>
            <a:srgbClr val="1E4FA8"/>
          </a:solidFill>
          <a:ln/>
        </p:spPr>
        <p:txBody>
          <a:bodyPr/>
          <a:p/>
        </p:txBody>
      </p:sp>
      <p:sp>
        <p:nvSpPr>
          <p:cNvPr id="787"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788" name="" descr="{&quot;isTemplate&quot;:true,&quot;type&quot;:&quot;text&quot;}"/>
          <p:cNvSpPr txBox="1"/>
          <p:nvPr/>
        </p:nvSpPr>
        <p:spPr>
          <a:xfrm rot="0" flipH="0" flipV="0">
            <a:off x="9153525" y="257175"/>
            <a:ext cx="2657475" cy="171450"/>
          </a:xfrm>
          <a:prstGeom prst="rect"/>
        </p:spPr>
        <p:txBody>
          <a:bodyPr wrap="none" lIns="0" tIns="0" rIns="0" bIns="0"/>
          <a:p>
            <a:pPr>
              <a:lnSpc>
                <a:spcPct val="100000"/>
              </a:lnSpc>
            </a:pPr>
            <a:r>
              <a:rPr lang="en-US" sz="1125">
                <a:solidFill>
                  <a:srgbClr val="B9CDF0"/>
                </a:solidFill>
                <a:latin typeface="Microsoft YaHei"/>
                <a:ea typeface="Microsoft YaHei"/>
              </a:rPr>
              <a:t>W06 · FROM SCENARIOS TO CLASSES</a:t>
            </a:r>
            <a:endParaRPr/>
          </a:p>
        </p:txBody>
      </p:sp>
      <p:sp>
        <p:nvSpPr>
          <p:cNvPr id="789" name="" descr="{&quot;isTemplate&quot;:true,&quot;type&quot;:&quot;text&quot;}"/>
          <p:cNvSpPr txBox="1"/>
          <p:nvPr/>
        </p:nvSpPr>
        <p:spPr>
          <a:xfrm rot="0" flipH="0" flipV="0">
            <a:off x="381000" y="809625"/>
            <a:ext cx="4057650" cy="333375"/>
          </a:xfrm>
          <a:prstGeom prst="rect"/>
        </p:spPr>
        <p:txBody>
          <a:bodyPr wrap="none" lIns="0" tIns="0" rIns="0" bIns="0"/>
          <a:p>
            <a:pPr>
              <a:lnSpc>
                <a:spcPct val="100000"/>
              </a:lnSpc>
            </a:pPr>
            <a:r>
              <a:rPr lang="en-US" sz="2175" b="1">
                <a:solidFill>
                  <a:srgbClr val="0E3F8C"/>
                </a:solidFill>
                <a:latin typeface="Microsoft YaHei"/>
                <a:ea typeface="Microsoft YaHei"/>
              </a:rPr>
              <a:t>The Noun Scan, Done Properly</a:t>
            </a:r>
            <a:endParaRPr/>
          </a:p>
        </p:txBody>
      </p:sp>
      <p:sp>
        <p:nvSpPr>
          <p:cNvPr id="790"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05 / 39</a:t>
            </a:r>
            <a:endParaRPr/>
          </a:p>
        </p:txBody>
      </p:sp>
      <p:pic>
        <p:nvPicPr>
          <p:cNvPr id="791" name=""/>
          <p:cNvPicPr>
            <a:picLocks noChangeAspect="1"/>
          </p:cNvPicPr>
          <p:nvPr/>
        </p:nvPicPr>
        <p:blipFill>
          <a:blip>
            <a:extLst>
              <a:ext uri="{96DAC541-7B7A-43D3-8B79-37D633B846F1}">
                <asvg:svgBlip r:embed="rId1"/>
              </a:ext>
            </a:extLst>
          </a:blip>
          <a:stretch>
            <a:fillRect/>
          </a:stretch>
        </p:blipFill>
        <p:spPr>
          <a:xfrm rot="0" flipH="0" flipV="0">
            <a:off x="476250" y="2000250"/>
            <a:ext cx="11239500" cy="3733800"/>
          </a:xfrm>
          <a:prstGeom prst="rect">
            <a:avLst/>
          </a:prstGeom>
          <a:ln/>
        </p:spPr>
      </p:pic>
      <p:sp>
        <p:nvSpPr>
          <p:cNvPr id="792" name="" descr="{&quot;isTemplate&quot;:true,&quot;type&quot;:&quot;text&quot;}"/>
          <p:cNvSpPr txBox="1"/>
          <p:nvPr/>
        </p:nvSpPr>
        <p:spPr>
          <a:xfrm rot="0" flipH="0" flipV="0">
            <a:off x="381000" y="6619875"/>
            <a:ext cx="6991350" cy="152400"/>
          </a:xfrm>
          <a:prstGeom prst="rect"/>
        </p:spPr>
        <p:txBody>
          <a:bodyPr wrap="none" lIns="0" tIns="0" rIns="0" bIns="0"/>
          <a:p>
            <a:pPr>
              <a:lnSpc>
                <a:spcPct val="100000"/>
              </a:lnSpc>
            </a:pPr>
            <a:r>
              <a:rPr lang="en-US" sz="975">
                <a:solidFill>
                  <a:srgbClr val="8B97A8"/>
                </a:solidFill>
                <a:latin typeface="Microsoft YaHei"/>
                <a:ea typeface="Microsoft YaHei"/>
              </a:rPr>
              <a:t>ISAD · Fall 2026 · Identity is the test. If you can point at it, it is a class; if you can only read it off something else, it is an attribute</a:t>
            </a:r>
            <a:endParaRPr/>
          </a:p>
        </p:txBody>
      </p:sp>
      <p:sp>
        <p:nvSpPr>
          <p:cNvPr id="793" name="" descr="{&quot;isTemplate&quot;:true,&quot;type&quot;:&quot;text&quot;}"/>
          <p:cNvSpPr txBox="1"/>
          <p:nvPr/>
        </p:nvSpPr>
        <p:spPr>
          <a:xfrm rot="0" flipH="0" flipV="0">
            <a:off x="11401425" y="6619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05 / 39</a:t>
            </a:r>
            <a:endParaRPr/>
          </a:p>
        </p:txBody>
      </p:sp>
    </p:spTree>
  </p:cSld>
</p:sld>
</file>

<file path=ppt/slides/slide6.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794"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6 · FROM SCENARIOS TO CLASSES&lt;/Text&gt;&#10;  &lt;/Box&gt;&#10;  &lt;Box style={{ padding: '13px 40px 0 40px', flexDirection: 'row', alignItems: 'center', justifyContent: 'space-between' }}&gt;&#10;    &lt;Text style={{ fontSize: 29, fontWeight: 'bold', color: '#0E3F8C' }}&gt;Three Questions Before You Draw&lt;/Text&gt;&#10;    &lt;Text style={{ fontSize: 14, color: '#1E4FA8', fontWeight: 'bold' }}&gt;06 / 39&lt;/Text&gt;&#10;  &lt;/Box&gt;&#10;  &lt;Box style={{ flex: 1, padding: '10px 40px 0 40px' }}&gt;&#10;    &lt;Table&#10;      style={{ width: '100%', height: '100%' }}&#10;      defaultTextStyle={{ fontSize: 13.5, textAlign: 'left', color: '#1A2230' }}&#10;      defaultCellStyle={{&#10;        border: {&#10;          left: { width: 1, color: '#E5E7EB' },&#10;          right: { width: 1, color: '#E5E7EB' },&#10;          top: { width: 1, color: '#E5E7EB' },&#10;          bottom: { width: 1, color: '#E5E7EB' },&#10;        },&#10;      }}&#10;      cells={[&#10;        [&#10;          { text: 'Question', textStyle: { bold: true, color: '#FFFFFF', fontSize: 15 }, cellStyle: { background: { color: '#0E3F8C' } } },&#10;          { text: 'Ask it like this', textStyle: { bold: true, color: '#FFFFFF', fontSize: 15 }, cellStyle: { background: { color: '#1E4FA8' } } },&#10;          { text: 'If the answer is NO', textStyle: { bold: true, color: '#FFFFFF', fontSize: 15 }, cellStyle: { background: { color: '#8B3230' } } },&#10;        ],&#10;        [&#10;          { text: 'Is it a concept, or an actor?', textStyle: { bold: true, color: '#0E3F8C' }, cellStyle: { background: { color: '#F7F9FC' } } },&#10;          { text: 'Does it stand outside the system and use it? Then it is on the use case diagram.', textStyle: { color: '#4A5568' }, cellStyle: { background: { color: '#F7F9FC' } } },&#10;          { text: 'Drop it from the model. It was never a class.', textStyle: { color: '#4A5568' }, cellStyle: { background: { color: '#F7F9FC' } } },&#10;        ],&#10;        [&#10;          { text: 'Does it have identity?', textStyle: { bold: true, color: '#0E3F8C' } },&#10;          { text: 'Can I point at one and say “that one”?', textStyle: { color: '#4A5568' } },&#10;          { text: 'It is an attribute of something else. Make it a line in that box.', textStyle: { color: '#4A5568' } },&#10;        ],&#10;        [&#10;          { text: 'Did it earn its place?', textStyle: { bold: true, color: '#0E3F8C' }, cellStyle: { background: { color: '#F7F9FC' } } },&#10;          { text: 'Did it appear in a W05 specification sentence? Trace it.', textStyle: { color: '#4A5568' }, cellStyle: { background: { color: '#F7F9FC' } } },&#10;          { text: 'Delete it. A class with no sentence behind it is a guess.', textStyle: { color: '#4A5568' }, cellStyle: { background: { color: '#F7F9FC' } } },&#10;        ],&#10;        [&#10;          { text: 'Bonus: can it be its own class later?', textStyle: { bold: true, color: '#0E3F8C' } },&#10;          { text: 'Will the client ask for history, rules or thresholds about it?', textStyle: { color: '#4A5568' } },&#10;          { text: 'Keep it as an attribute for now. W06 is analysis, not speculation.', textStyle: { color: '#4A5568' } },&#10;        ],&#10;        [&#10;          { text: 'The one that is not a question', textStyle: { bold: true, color: '#0E3F8C' }, cellStyle: { background: { color: '#F7F9FC' } } },&#10;          { text: '“Is this class useful?” — usefulness is not a modelling criterion.', textStyle: { color: '#4A5568' }, cellStyle: { background: { color: '#F7F9FC' } } },&#10;          { text: 'The criteria are identity, traceability, and staying inside the boundary.', textStyle: { color: '#4A5568' }, cellStyle: { background: { color: '#F7F9FC' } } },&#10;        ],&#10;      ]}&#10;    /&gt;&#10;  &lt;/Box&gt;&#10;  &lt;Box style={{ height: 46, background: '#0E3F8C', padding: '0 40px', flexDirection: 'row', alignItems: 'center', justifyContent: 'center' }}&gt;&#10;    &lt;Text style={{ fontSize: 16.5, color: '#FFFFFF', fontWeight: '600' }}&gt;A class with no sentence behind it is a guess, and guesses become schema you cannot change.&lt;/Text&gt;&#10;  &lt;/Box&gt;&#10;&lt;/Slide&gt;&#10;"/>
        <p:cNvGrpSpPr/>
        <p:nvPr/>
      </p:nvGrpSpPr>
      <p:grpSpPr>
        <a:xfrm>
          <a:off x="0" y="0"/>
          <a:ext cx="0" cy="0"/>
          <a:chOff x="0" y="0"/>
          <a:chExt cx="0" cy="0"/>
        </a:xfrm>
      </p:grpSpPr>
      <p:sp>
        <p:nvSpPr>
          <p:cNvPr id="795" name=""/>
          <p:cNvSpPr/>
          <p:nvPr/>
        </p:nvSpPr>
        <p:spPr>
          <a:xfrm rot="0" flipH="0" flipV="0">
            <a:off x="0" y="0"/>
            <a:ext cx="12192000" cy="6858000"/>
          </a:xfrm>
          <a:prstGeom prst="rect">
            <a:avLst/>
          </a:prstGeom>
          <a:solidFill>
            <a:srgbClr val="FFFFFF"/>
          </a:solidFill>
          <a:ln/>
        </p:spPr>
        <p:txBody>
          <a:bodyPr/>
          <a:p/>
        </p:txBody>
      </p:sp>
      <p:sp>
        <p:nvSpPr>
          <p:cNvPr id="796" name=""/>
          <p:cNvSpPr/>
          <p:nvPr/>
        </p:nvSpPr>
        <p:spPr>
          <a:xfrm rot="0" flipH="0" flipV="0">
            <a:off x="0" y="0"/>
            <a:ext cx="12192000" cy="685800"/>
          </a:xfrm>
          <a:prstGeom prst="rect">
            <a:avLst/>
          </a:prstGeom>
          <a:solidFill>
            <a:srgbClr val="1E4FA8"/>
          </a:solidFill>
          <a:ln/>
        </p:spPr>
        <p:txBody>
          <a:bodyPr/>
          <a:p/>
        </p:txBody>
      </p:sp>
      <p:sp>
        <p:nvSpPr>
          <p:cNvPr id="797"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798" name="" descr="{&quot;isTemplate&quot;:true,&quot;type&quot;:&quot;text&quot;}"/>
          <p:cNvSpPr txBox="1"/>
          <p:nvPr/>
        </p:nvSpPr>
        <p:spPr>
          <a:xfrm rot="0" flipH="0" flipV="0">
            <a:off x="9153525" y="257175"/>
            <a:ext cx="2657475" cy="171450"/>
          </a:xfrm>
          <a:prstGeom prst="rect"/>
        </p:spPr>
        <p:txBody>
          <a:bodyPr wrap="none" lIns="0" tIns="0" rIns="0" bIns="0"/>
          <a:p>
            <a:pPr>
              <a:lnSpc>
                <a:spcPct val="100000"/>
              </a:lnSpc>
            </a:pPr>
            <a:r>
              <a:rPr lang="en-US" sz="1125">
                <a:solidFill>
                  <a:srgbClr val="B9CDF0"/>
                </a:solidFill>
                <a:latin typeface="Microsoft YaHei"/>
                <a:ea typeface="Microsoft YaHei"/>
              </a:rPr>
              <a:t>W06 · FROM SCENARIOS TO CLASSES</a:t>
            </a:r>
            <a:endParaRPr/>
          </a:p>
        </p:txBody>
      </p:sp>
      <p:sp>
        <p:nvSpPr>
          <p:cNvPr id="799" name="" descr="{&quot;isTemplate&quot;:true,&quot;type&quot;:&quot;text&quot;}"/>
          <p:cNvSpPr txBox="1"/>
          <p:nvPr/>
        </p:nvSpPr>
        <p:spPr>
          <a:xfrm rot="0" flipH="0" flipV="0">
            <a:off x="381000" y="809625"/>
            <a:ext cx="4467225" cy="333375"/>
          </a:xfrm>
          <a:prstGeom prst="rect"/>
        </p:spPr>
        <p:txBody>
          <a:bodyPr wrap="none" lIns="0" tIns="0" rIns="0" bIns="0"/>
          <a:p>
            <a:pPr>
              <a:lnSpc>
                <a:spcPct val="100000"/>
              </a:lnSpc>
            </a:pPr>
            <a:r>
              <a:rPr lang="en-US" sz="2175" b="1">
                <a:solidFill>
                  <a:srgbClr val="0E3F8C"/>
                </a:solidFill>
                <a:latin typeface="Microsoft YaHei"/>
                <a:ea typeface="Microsoft YaHei"/>
              </a:rPr>
              <a:t>Three Questions Before You Draw</a:t>
            </a:r>
            <a:endParaRPr/>
          </a:p>
        </p:txBody>
      </p:sp>
      <p:sp>
        <p:nvSpPr>
          <p:cNvPr id="800"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06 / 39</a:t>
            </a:r>
            <a:endParaRPr/>
          </a:p>
        </p:txBody>
      </p:sp>
      <p:graphicFrame>
        <p:nvGraphicFramePr>
          <p:cNvPr id="801" name=""/>
          <p:cNvGraphicFramePr/>
          <p:nvPr/>
        </p:nvGraphicFramePr>
        <p:xfrm rot="0" flipH="0" flipV="0">
          <a:off x="381000" y="1238250"/>
          <a:ext cx="11430000" cy="5181600"/>
        </p:xfrm>
        <a:graphic>
          <a:graphicData uri="http://schemas.openxmlformats.org/drawingml/2006/table">
            <a:tbl>
              <a:tblGrid>
                <a:gridCol w="2419489">
                  <a:extLst>
                    <a:ext uri="{9D8B030D-6E8A-4147-A177-3AD203B41FA5}">
                      <a16:colId val="1"/>
                    </a:ext>
                  </a:extLst>
                </a:gridCol>
                <a:gridCol w="4852883">
                  <a:extLst>
                    <a:ext uri="{9D8B030D-6E8A-4147-A177-3AD203B41FA5}">
                      <a16:colId val="2"/>
                    </a:ext>
                  </a:extLst>
                </a:gridCol>
                <a:gridCol w="4157628">
                  <a:extLst>
                    <a:ext uri="{9D8B030D-6E8A-4147-A177-3AD203B41FA5}">
                      <a16:colId val="3"/>
                    </a:ext>
                  </a:extLst>
                </a:gridCol>
              </a:tblGrid>
              <a:tr h="911685">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Question</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Ask it like this</a:t>
                      </a:r>
                      <a:endParaRPr/>
                    </a:p>
                  </a:txBody>
                  <a:tcPr marL="45720" marR="45720" marT="45720" marB="45720" anchor="ctr">
                    <a:lnL>
                      <a:noFill/>
                    </a:lnL>
                    <a:lnR>
                      <a:noFill/>
                    </a:lnR>
                    <a:lnT>
                      <a:noFill/>
                    </a:lnT>
                    <a:lnB>
                      <a:noFill/>
                    </a:lnB>
                    <a:solidFill>
                      <a:srgbClr val="1E4FA8"/>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If the answer is NO</a:t>
                      </a:r>
                      <a:endParaRPr/>
                    </a:p>
                  </a:txBody>
                  <a:tcPr marL="45720" marR="45720" marT="45720" marB="45720" anchor="ctr">
                    <a:lnL>
                      <a:noFill/>
                    </a:lnL>
                    <a:lnR>
                      <a:noFill/>
                    </a:lnR>
                    <a:lnT>
                      <a:noFill/>
                    </a:lnT>
                    <a:lnB>
                      <a:noFill/>
                    </a:lnB>
                    <a:solidFill>
                      <a:srgbClr val="8B3230"/>
                    </a:solidFill>
                  </a:tcPr>
                </a:tc>
                <a:extLst>
                  <a:ext uri="{0D108BD9-81ED-4DB2-BD59-A6C34878D82A}">
                    <a16:rowId val="1"/>
                  </a:ext>
                </a:extLst>
              </a:tr>
              <a:tr h="853983">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Is it a concept, or an actor?</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Does it stand outside the system and use it? Then it is on the use case diagram.</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Drop it from the model. It was never a class.</a:t>
                      </a:r>
                      <a:endParaRPr/>
                    </a:p>
                  </a:txBody>
                  <a:tcPr marL="45720" marR="45720" marT="45720" marB="45720" anchor="ctr">
                    <a:lnL>
                      <a:noFill/>
                    </a:lnL>
                    <a:lnR>
                      <a:noFill/>
                    </a:lnR>
                    <a:lnT>
                      <a:noFill/>
                    </a:lnT>
                    <a:lnB>
                      <a:noFill/>
                    </a:lnB>
                    <a:solidFill>
                      <a:srgbClr val="F7F9FC"/>
                    </a:solidFill>
                  </a:tcPr>
                </a:tc>
                <a:extLst>
                  <a:ext uri="{0D108BD9-81ED-4DB2-BD59-A6C34878D82A}">
                    <a16:rowId val="2"/>
                  </a:ext>
                </a:extLst>
              </a:tr>
              <a:tr h="853983">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Does it have identity?</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Can I point at one and say “that one”?</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It is an attribute of something else. Make it a line in that box.</a:t>
                      </a:r>
                      <a:endParaRPr/>
                    </a:p>
                  </a:txBody>
                  <a:tcPr marL="45720" marR="45720" marT="45720" marB="45720" anchor="ctr">
                    <a:lnL>
                      <a:noFill/>
                    </a:lnL>
                    <a:lnR>
                      <a:noFill/>
                    </a:lnR>
                    <a:lnT>
                      <a:noFill/>
                    </a:lnT>
                    <a:lnB>
                      <a:noFill/>
                    </a:lnB>
                  </a:tcPr>
                </a:tc>
                <a:extLst>
                  <a:ext uri="{0D108BD9-81ED-4DB2-BD59-A6C34878D82A}">
                    <a16:rowId val="3"/>
                  </a:ext>
                </a:extLst>
              </a:tr>
              <a:tr h="853983">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Did it earn its place?</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Did it appear in a W05 specification sentence? Trace it.</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Delete it. A class with no sentence behind it is a guess.</a:t>
                      </a:r>
                      <a:endParaRPr/>
                    </a:p>
                  </a:txBody>
                  <a:tcPr marL="45720" marR="45720" marT="45720" marB="45720" anchor="ctr">
                    <a:lnL>
                      <a:noFill/>
                    </a:lnL>
                    <a:lnR>
                      <a:noFill/>
                    </a:lnR>
                    <a:lnT>
                      <a:noFill/>
                    </a:lnT>
                    <a:lnB>
                      <a:noFill/>
                    </a:lnB>
                    <a:solidFill>
                      <a:srgbClr val="F7F9FC"/>
                    </a:solidFill>
                  </a:tcPr>
                </a:tc>
                <a:extLst>
                  <a:ext uri="{0D108BD9-81ED-4DB2-BD59-A6C34878D82A}">
                    <a16:rowId val="4"/>
                  </a:ext>
                </a:extLst>
              </a:tr>
              <a:tr h="853983">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Bonus: can it be its own class later?</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Will the client ask for history, rules or thresholds about it?</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Keep it as an attribute for now. W06 is analysis, not speculation.</a:t>
                      </a:r>
                      <a:endParaRPr/>
                    </a:p>
                  </a:txBody>
                  <a:tcPr marL="45720" marR="45720" marT="45720" marB="45720" anchor="ctr">
                    <a:lnL>
                      <a:noFill/>
                    </a:lnL>
                    <a:lnR>
                      <a:noFill/>
                    </a:lnR>
                    <a:lnT>
                      <a:noFill/>
                    </a:lnT>
                    <a:lnB>
                      <a:noFill/>
                    </a:lnB>
                  </a:tcPr>
                </a:tc>
                <a:extLst>
                  <a:ext uri="{0D108BD9-81ED-4DB2-BD59-A6C34878D82A}">
                    <a16:rowId val="5"/>
                  </a:ext>
                </a:extLst>
              </a:tr>
              <a:tr h="853983">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The one that is not a question</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“Is this class useful?” — usefulness is not a modelling criterion.</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criteria are identity, traceability, and staying inside the boundary.</a:t>
                      </a:r>
                      <a:endParaRPr/>
                    </a:p>
                  </a:txBody>
                  <a:tcPr marL="45720" marR="45720" marT="45720" marB="45720" anchor="ctr">
                    <a:lnL>
                      <a:noFill/>
                    </a:lnL>
                    <a:lnR>
                      <a:noFill/>
                    </a:lnR>
                    <a:lnT>
                      <a:noFill/>
                    </a:lnT>
                    <a:lnB>
                      <a:noFill/>
                    </a:lnB>
                    <a:solidFill>
                      <a:srgbClr val="F7F9FC"/>
                    </a:solidFill>
                  </a:tcPr>
                </a:tc>
                <a:extLst>
                  <a:ext uri="{0D108BD9-81ED-4DB2-BD59-A6C34878D82A}">
                    <a16:rowId val="6"/>
                  </a:ext>
                </a:extLst>
              </a:tr>
            </a:tbl>
          </a:graphicData>
        </a:graphic>
      </p:graphicFrame>
      <p:sp>
        <p:nvSpPr>
          <p:cNvPr id="802" name=""/>
          <p:cNvSpPr/>
          <p:nvPr/>
        </p:nvSpPr>
        <p:spPr>
          <a:xfrm rot="0" flipH="0" flipV="0">
            <a:off x="0" y="6419850"/>
            <a:ext cx="12192000" cy="438150"/>
          </a:xfrm>
          <a:prstGeom prst="rect">
            <a:avLst/>
          </a:prstGeom>
          <a:solidFill>
            <a:srgbClr val="0E3F8C"/>
          </a:solidFill>
          <a:ln/>
        </p:spPr>
        <p:txBody>
          <a:bodyPr/>
          <a:p/>
        </p:txBody>
      </p:sp>
      <p:sp>
        <p:nvSpPr>
          <p:cNvPr id="803" name="" descr="{&quot;isTemplate&quot;:true,&quot;type&quot;:&quot;text&quot;}"/>
          <p:cNvSpPr txBox="1"/>
          <p:nvPr/>
        </p:nvSpPr>
        <p:spPr>
          <a:xfrm rot="0" flipH="0" flipV="0">
            <a:off x="2495550" y="6543675"/>
            <a:ext cx="7200900" cy="190500"/>
          </a:xfrm>
          <a:prstGeom prst="rect"/>
        </p:spPr>
        <p:txBody>
          <a:bodyPr wrap="none" lIns="0" tIns="0" rIns="0" bIns="0"/>
          <a:p>
            <a:pPr>
              <a:lnSpc>
                <a:spcPct val="100000"/>
              </a:lnSpc>
            </a:pPr>
            <a:r>
              <a:rPr lang="en-US" sz="1238" b="1">
                <a:solidFill>
                  <a:srgbClr val="FFFFFF"/>
                </a:solidFill>
                <a:latin typeface="Microsoft YaHei"/>
                <a:ea typeface="Microsoft YaHei"/>
              </a:rPr>
              <a:t>A class with no sentence behind it is a guess, and guesses become schema you cannot change.</a:t>
            </a:r>
            <a:endParaRPr/>
          </a:p>
        </p:txBody>
      </p:sp>
    </p:spTree>
  </p:cSld>
</p:sld>
</file>

<file path=ppt/slides/slide7.xml><?xml version="1.0" encoding="utf-8"?>
<p:sld xmlns:p="http://schemas.openxmlformats.org/presentationml/2006/main" xmlns:a="http://schemas.openxmlformats.org/drawingml/2006/main">
  <p:cSld>
    <p:spTree>
      <p:nvGrpSpPr>
        <p:cNvPr id="804"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6 · FROM SCENARIOS TO CLASSES&lt;/Text&gt;&#10;  &lt;/Box&gt;&#10;  &lt;Box style={{ padding: '13px 40px 0 40px', flexDirection: 'row', alignItems: 'center', justifyContent: 'space-between' }}&gt;&#10;    &lt;Text style={{ fontSize: 29, fontWeight: 'bold', color: '#0E3F8C' }}&gt;A Worked Example — Take the Criterion, Not the List&lt;/Text&gt;&#10;    &lt;Text style={{ fontSize: 14, color: '#1E4FA8', fontWeight: 'bold' }}&gt;07 / 39&lt;/Text&gt;&#10;  &lt;/Box&gt;&#10;  &lt;Box style={{ flex: 1, padding: '10px 40px 0 40px', flexDirection: 'column', gap: 11 }}&gt;&#10;    {[&#10;      { n: 'Order', g: 'entity', d: 'The thing the student wants. Has an order number, a state, a time. Appears in steps 5 and 8.' },&#10;      { n: 'OrderLine', g: 'entity', d: 'One line of one order: a menu item and a quantity. Without it, “how many burgers” has nowhere to live.' },&#10;      { n: 'MenuItem', g: 'entity', d: 'What is sold. Has a name, a price, an availability flag. Marked sold out at 4b.' },&#10;      { n: 'Restaurant', g: 'entity', d: 'Who sells. Has a name and an opening window. Owns the menu.' },&#10;      { n: 'Courier', g: 'entity', d: 'Who delivers. Has an availability flag — this is what 4b fails to find.' },&#10;      { n: 'Payment', g: 'entity', d: 'A record of one attempt. Has an amount, a method, a result. Not the provider — that is an actor.' },&#10;    ].map((c) =&gt; (&#10;      &lt;Box key={c.n} style={{ flex: 1, flexDirection: 'row', alignItems: 'center', padding: '10px 18px', background: '#F7F9FC', borderRadius: 9, border: '1px solid #E5E7EB' }}&gt;&#10;        &lt;Box style={{ width: 170, flexDirection: 'row', alignItems: 'center', gap: 10 }}&gt;&#10;          &lt;Box style={{ width: 10, height: 10, borderRadius: 5, background: '#2B7A3D' }} /&gt;&#10;          &lt;Text style={{ fontSize: 16, fontWeight: 'bold', color: '#0E3F8C' }}&gt;{c.n}&lt;/Text&gt;&#10;        &lt;/Box&gt;&#10;        &lt;Text style={{ width: 90, fontSize: 12.5, color: '#2B7A3D', fontWeight: 'bold' }}&gt;{c.g}&lt;/Text&gt;&#10;        &lt;Text style={{ flex: 1, fontSize: 13, color: '#4A5568', lineHeight: 1.5 }}&gt;{c.d}&lt;/Text&gt;&#10;      &lt;/Box&gt;&#10;    ))}&#10;  &lt;/Box&gt;&#10;  &lt;Box style={{ height: 46, background: '#0E3F8C', padding: '0 40px', flexDirection: 'row', alignItems: 'center', justifyContent: 'center' }}&gt;&#10;    &lt;Text style={{ fontSize: 16.5, color: '#FFFFFF', fontWeight: '600' }}&gt;Six so far. Six more arrive on page 19 — and only after you have classified these.&lt;/Text&gt;&#10;  &lt;/Box&gt;&#10;&lt;/Slide&gt;&#10;"/>
        <p:cNvGrpSpPr/>
        <p:nvPr/>
      </p:nvGrpSpPr>
      <p:grpSpPr>
        <a:xfrm>
          <a:off x="0" y="0"/>
          <a:ext cx="0" cy="0"/>
          <a:chOff x="0" y="0"/>
          <a:chExt cx="0" cy="0"/>
        </a:xfrm>
      </p:grpSpPr>
      <p:sp>
        <p:nvSpPr>
          <p:cNvPr id="805" name=""/>
          <p:cNvSpPr/>
          <p:nvPr/>
        </p:nvSpPr>
        <p:spPr>
          <a:xfrm rot="0" flipH="0" flipV="0">
            <a:off x="0" y="0"/>
            <a:ext cx="12192000" cy="6858000"/>
          </a:xfrm>
          <a:prstGeom prst="rect">
            <a:avLst/>
          </a:prstGeom>
          <a:solidFill>
            <a:srgbClr val="FFFFFF"/>
          </a:solidFill>
          <a:ln/>
        </p:spPr>
        <p:txBody>
          <a:bodyPr/>
          <a:p/>
        </p:txBody>
      </p:sp>
      <p:sp>
        <p:nvSpPr>
          <p:cNvPr id="806" name=""/>
          <p:cNvSpPr/>
          <p:nvPr/>
        </p:nvSpPr>
        <p:spPr>
          <a:xfrm rot="0" flipH="0" flipV="0">
            <a:off x="0" y="0"/>
            <a:ext cx="12192000" cy="685800"/>
          </a:xfrm>
          <a:prstGeom prst="rect">
            <a:avLst/>
          </a:prstGeom>
          <a:solidFill>
            <a:srgbClr val="1E4FA8"/>
          </a:solidFill>
          <a:ln/>
        </p:spPr>
        <p:txBody>
          <a:bodyPr/>
          <a:p/>
        </p:txBody>
      </p:sp>
      <p:sp>
        <p:nvSpPr>
          <p:cNvPr id="807"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808" name="" descr="{&quot;isTemplate&quot;:true,&quot;type&quot;:&quot;text&quot;}"/>
          <p:cNvSpPr txBox="1"/>
          <p:nvPr/>
        </p:nvSpPr>
        <p:spPr>
          <a:xfrm rot="0" flipH="0" flipV="0">
            <a:off x="9153525" y="257175"/>
            <a:ext cx="2657475" cy="171450"/>
          </a:xfrm>
          <a:prstGeom prst="rect"/>
        </p:spPr>
        <p:txBody>
          <a:bodyPr wrap="none" lIns="0" tIns="0" rIns="0" bIns="0"/>
          <a:p>
            <a:pPr>
              <a:lnSpc>
                <a:spcPct val="100000"/>
              </a:lnSpc>
            </a:pPr>
            <a:r>
              <a:rPr lang="en-US" sz="1125">
                <a:solidFill>
                  <a:srgbClr val="B9CDF0"/>
                </a:solidFill>
                <a:latin typeface="Microsoft YaHei"/>
                <a:ea typeface="Microsoft YaHei"/>
              </a:rPr>
              <a:t>W06 · FROM SCENARIOS TO CLASSES</a:t>
            </a:r>
            <a:endParaRPr/>
          </a:p>
        </p:txBody>
      </p:sp>
      <p:sp>
        <p:nvSpPr>
          <p:cNvPr id="809" name="" descr="{&quot;isTemplate&quot;:true,&quot;type&quot;:&quot;text&quot;}"/>
          <p:cNvSpPr txBox="1"/>
          <p:nvPr/>
        </p:nvSpPr>
        <p:spPr>
          <a:xfrm rot="0" flipH="0" flipV="0">
            <a:off x="381000" y="809625"/>
            <a:ext cx="6934200" cy="333375"/>
          </a:xfrm>
          <a:prstGeom prst="rect"/>
        </p:spPr>
        <p:txBody>
          <a:bodyPr wrap="none" lIns="0" tIns="0" rIns="0" bIns="0"/>
          <a:p>
            <a:pPr>
              <a:lnSpc>
                <a:spcPct val="100000"/>
              </a:lnSpc>
            </a:pPr>
            <a:r>
              <a:rPr lang="en-US" sz="2175" b="1">
                <a:solidFill>
                  <a:srgbClr val="0E3F8C"/>
                </a:solidFill>
                <a:latin typeface="Microsoft YaHei"/>
                <a:ea typeface="Microsoft YaHei"/>
              </a:rPr>
              <a:t>A Worked Example — Take the Criterion, Not the List</a:t>
            </a:r>
            <a:endParaRPr/>
          </a:p>
        </p:txBody>
      </p:sp>
      <p:sp>
        <p:nvSpPr>
          <p:cNvPr id="810"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07 / 39</a:t>
            </a:r>
            <a:endParaRPr/>
          </a:p>
        </p:txBody>
      </p:sp>
      <p:sp>
        <p:nvSpPr>
          <p:cNvPr id="811" name=""/>
          <p:cNvSpPr/>
          <p:nvPr/>
        </p:nvSpPr>
        <p:spPr>
          <a:xfrm rot="0" flipH="0" flipV="0">
            <a:off x="381000" y="1238250"/>
            <a:ext cx="11430000" cy="781050"/>
          </a:xfrm>
          <a:prstGeom prst="roundRect">
            <a:avLst>
              <a:gd name="adj" fmla="val 10976"/>
            </a:avLst>
          </a:prstGeom>
          <a:solidFill>
            <a:srgbClr val="F7F9FC"/>
          </a:solidFill>
          <a:ln w="12700">
            <a:solidFill>
              <a:srgbClr val="E5E7EB"/>
            </a:solidFill>
            <a:prstDash val="solid"/>
          </a:ln>
        </p:spPr>
        <p:txBody>
          <a:bodyPr/>
          <a:p/>
        </p:txBody>
      </p:sp>
      <p:sp>
        <p:nvSpPr>
          <p:cNvPr id="812" name=""/>
          <p:cNvSpPr/>
          <p:nvPr/>
        </p:nvSpPr>
        <p:spPr>
          <a:xfrm rot="0" flipH="0" flipV="0">
            <a:off x="552450" y="1581150"/>
            <a:ext cx="95250" cy="95250"/>
          </a:xfrm>
          <a:prstGeom prst="roundRect">
            <a:avLst>
              <a:gd name="adj" fmla="val 50000"/>
            </a:avLst>
          </a:prstGeom>
          <a:solidFill>
            <a:srgbClr val="2B7A3D"/>
          </a:solidFill>
          <a:ln/>
        </p:spPr>
        <p:txBody>
          <a:bodyPr/>
          <a:p/>
        </p:txBody>
      </p:sp>
      <p:sp>
        <p:nvSpPr>
          <p:cNvPr id="813" name="" descr="{&quot;isTemplate&quot;:true,&quot;type&quot;:&quot;text&quot;}"/>
          <p:cNvSpPr txBox="1"/>
          <p:nvPr/>
        </p:nvSpPr>
        <p:spPr>
          <a:xfrm rot="0" flipH="0" flipV="0">
            <a:off x="742950" y="1533525"/>
            <a:ext cx="419100" cy="190500"/>
          </a:xfrm>
          <a:prstGeom prst="rect"/>
        </p:spPr>
        <p:txBody>
          <a:bodyPr wrap="none" lIns="0" tIns="0" rIns="0" bIns="0"/>
          <a:p>
            <a:pPr>
              <a:lnSpc>
                <a:spcPct val="100000"/>
              </a:lnSpc>
            </a:pPr>
            <a:r>
              <a:rPr lang="en-US" sz="1200" b="1">
                <a:solidFill>
                  <a:srgbClr val="0E3F8C"/>
                </a:solidFill>
                <a:latin typeface="Microsoft YaHei"/>
                <a:ea typeface="Microsoft YaHei"/>
              </a:rPr>
              <a:t>Order</a:t>
            </a:r>
            <a:endParaRPr/>
          </a:p>
        </p:txBody>
      </p:sp>
      <p:sp>
        <p:nvSpPr>
          <p:cNvPr id="814" name="" descr="{&quot;isTemplate&quot;:true,&quot;type&quot;:&quot;text&quot;}"/>
          <p:cNvSpPr txBox="1"/>
          <p:nvPr/>
        </p:nvSpPr>
        <p:spPr>
          <a:xfrm rot="0" flipH="0" flipV="0">
            <a:off x="2171700" y="1562100"/>
            <a:ext cx="857250" cy="142875"/>
          </a:xfrm>
          <a:prstGeom prst="rect"/>
        </p:spPr>
        <p:txBody>
          <a:bodyPr wrap="none" lIns="0" tIns="0" rIns="0" bIns="0"/>
          <a:p>
            <a:pPr>
              <a:lnSpc>
                <a:spcPct val="100000"/>
              </a:lnSpc>
            </a:pPr>
            <a:r>
              <a:rPr lang="en-US" sz="938" b="1">
                <a:solidFill>
                  <a:srgbClr val="2B7A3D"/>
                </a:solidFill>
                <a:latin typeface="Microsoft YaHei"/>
                <a:ea typeface="Microsoft YaHei"/>
              </a:rPr>
              <a:t>entity</a:t>
            </a:r>
            <a:endParaRPr/>
          </a:p>
        </p:txBody>
      </p:sp>
      <p:sp>
        <p:nvSpPr>
          <p:cNvPr id="815" name="" descr="{&quot;isTemplate&quot;:true,&quot;type&quot;:&quot;text&quot;}"/>
          <p:cNvSpPr txBox="1"/>
          <p:nvPr/>
        </p:nvSpPr>
        <p:spPr>
          <a:xfrm rot="0" flipH="0" flipV="0">
            <a:off x="3028950" y="1514475"/>
            <a:ext cx="8610600" cy="228600"/>
          </a:xfrm>
          <a:prstGeom prst="rect"/>
        </p:spPr>
        <p:txBody>
          <a:bodyPr wrap="none" lIns="0" tIns="0" rIns="0" bIns="0"/>
          <a:p>
            <a:pPr>
              <a:lnSpc>
                <a:spcPct val="150000"/>
              </a:lnSpc>
            </a:pPr>
            <a:r>
              <a:rPr lang="en-US" sz="975">
                <a:solidFill>
                  <a:srgbClr val="4A5568"/>
                </a:solidFill>
                <a:latin typeface="Microsoft YaHei"/>
                <a:ea typeface="Microsoft YaHei"/>
              </a:rPr>
              <a:t>The thing the student wants. Has an order number, a state, a time. Appears in steps 5 and 8.</a:t>
            </a:r>
            <a:endParaRPr/>
          </a:p>
        </p:txBody>
      </p:sp>
      <p:sp>
        <p:nvSpPr>
          <p:cNvPr id="816" name=""/>
          <p:cNvSpPr/>
          <p:nvPr/>
        </p:nvSpPr>
        <p:spPr>
          <a:xfrm rot="0" flipH="0" flipV="0">
            <a:off x="381000" y="2124075"/>
            <a:ext cx="11430000" cy="771525"/>
          </a:xfrm>
          <a:prstGeom prst="roundRect">
            <a:avLst>
              <a:gd name="adj" fmla="val 11111"/>
            </a:avLst>
          </a:prstGeom>
          <a:solidFill>
            <a:srgbClr val="F7F9FC"/>
          </a:solidFill>
          <a:ln w="12700">
            <a:solidFill>
              <a:srgbClr val="E5E7EB"/>
            </a:solidFill>
            <a:prstDash val="solid"/>
          </a:ln>
        </p:spPr>
        <p:txBody>
          <a:bodyPr/>
          <a:p/>
        </p:txBody>
      </p:sp>
      <p:sp>
        <p:nvSpPr>
          <p:cNvPr id="817" name=""/>
          <p:cNvSpPr/>
          <p:nvPr/>
        </p:nvSpPr>
        <p:spPr>
          <a:xfrm rot="0" flipH="0" flipV="0">
            <a:off x="552450" y="2466975"/>
            <a:ext cx="95250" cy="95250"/>
          </a:xfrm>
          <a:prstGeom prst="roundRect">
            <a:avLst>
              <a:gd name="adj" fmla="val 50000"/>
            </a:avLst>
          </a:prstGeom>
          <a:solidFill>
            <a:srgbClr val="2B7A3D"/>
          </a:solidFill>
          <a:ln/>
        </p:spPr>
        <p:txBody>
          <a:bodyPr/>
          <a:p/>
        </p:txBody>
      </p:sp>
      <p:sp>
        <p:nvSpPr>
          <p:cNvPr id="818" name="" descr="{&quot;isTemplate&quot;:true,&quot;type&quot;:&quot;text&quot;}"/>
          <p:cNvSpPr txBox="1"/>
          <p:nvPr/>
        </p:nvSpPr>
        <p:spPr>
          <a:xfrm rot="0" flipH="0" flipV="0">
            <a:off x="742950" y="2419350"/>
            <a:ext cx="733425" cy="190500"/>
          </a:xfrm>
          <a:prstGeom prst="rect"/>
        </p:spPr>
        <p:txBody>
          <a:bodyPr wrap="none" lIns="0" tIns="0" rIns="0" bIns="0"/>
          <a:p>
            <a:pPr>
              <a:lnSpc>
                <a:spcPct val="100000"/>
              </a:lnSpc>
            </a:pPr>
            <a:r>
              <a:rPr lang="en-US" sz="1200" b="1">
                <a:solidFill>
                  <a:srgbClr val="0E3F8C"/>
                </a:solidFill>
                <a:latin typeface="Microsoft YaHei"/>
                <a:ea typeface="Microsoft YaHei"/>
              </a:rPr>
              <a:t>OrderLine</a:t>
            </a:r>
            <a:endParaRPr/>
          </a:p>
        </p:txBody>
      </p:sp>
      <p:sp>
        <p:nvSpPr>
          <p:cNvPr id="819" name="" descr="{&quot;isTemplate&quot;:true,&quot;type&quot;:&quot;text&quot;}"/>
          <p:cNvSpPr txBox="1"/>
          <p:nvPr/>
        </p:nvSpPr>
        <p:spPr>
          <a:xfrm rot="0" flipH="0" flipV="0">
            <a:off x="2171700" y="2438400"/>
            <a:ext cx="857250" cy="142875"/>
          </a:xfrm>
          <a:prstGeom prst="rect"/>
        </p:spPr>
        <p:txBody>
          <a:bodyPr wrap="none" lIns="0" tIns="0" rIns="0" bIns="0"/>
          <a:p>
            <a:pPr>
              <a:lnSpc>
                <a:spcPct val="100000"/>
              </a:lnSpc>
            </a:pPr>
            <a:r>
              <a:rPr lang="en-US" sz="938" b="1">
                <a:solidFill>
                  <a:srgbClr val="2B7A3D"/>
                </a:solidFill>
                <a:latin typeface="Microsoft YaHei"/>
                <a:ea typeface="Microsoft YaHei"/>
              </a:rPr>
              <a:t>entity</a:t>
            </a:r>
            <a:endParaRPr/>
          </a:p>
        </p:txBody>
      </p:sp>
      <p:sp>
        <p:nvSpPr>
          <p:cNvPr id="820" name="" descr="{&quot;isTemplate&quot;:true,&quot;type&quot;:&quot;text&quot;}"/>
          <p:cNvSpPr txBox="1"/>
          <p:nvPr/>
        </p:nvSpPr>
        <p:spPr>
          <a:xfrm rot="0" flipH="0" flipV="0">
            <a:off x="3028950" y="2400300"/>
            <a:ext cx="8610600" cy="228600"/>
          </a:xfrm>
          <a:prstGeom prst="rect"/>
        </p:spPr>
        <p:txBody>
          <a:bodyPr wrap="none" lIns="0" tIns="0" rIns="0" bIns="0"/>
          <a:p>
            <a:pPr>
              <a:lnSpc>
                <a:spcPct val="150000"/>
              </a:lnSpc>
            </a:pPr>
            <a:r>
              <a:rPr lang="en-US" sz="975">
                <a:solidFill>
                  <a:srgbClr val="4A5568"/>
                </a:solidFill>
                <a:latin typeface="Microsoft YaHei"/>
                <a:ea typeface="Microsoft YaHei"/>
              </a:rPr>
              <a:t>One line of one order: a menu item and a quantity. Without it, “how many burgers” has nowhere to live.</a:t>
            </a:r>
            <a:endParaRPr/>
          </a:p>
        </p:txBody>
      </p:sp>
      <p:sp>
        <p:nvSpPr>
          <p:cNvPr id="821" name=""/>
          <p:cNvSpPr/>
          <p:nvPr/>
        </p:nvSpPr>
        <p:spPr>
          <a:xfrm rot="0" flipH="0" flipV="0">
            <a:off x="381000" y="3000375"/>
            <a:ext cx="11430000" cy="781050"/>
          </a:xfrm>
          <a:prstGeom prst="roundRect">
            <a:avLst>
              <a:gd name="adj" fmla="val 10976"/>
            </a:avLst>
          </a:prstGeom>
          <a:solidFill>
            <a:srgbClr val="F7F9FC"/>
          </a:solidFill>
          <a:ln w="12700">
            <a:solidFill>
              <a:srgbClr val="E5E7EB"/>
            </a:solidFill>
            <a:prstDash val="solid"/>
          </a:ln>
        </p:spPr>
        <p:txBody>
          <a:bodyPr/>
          <a:p/>
        </p:txBody>
      </p:sp>
      <p:sp>
        <p:nvSpPr>
          <p:cNvPr id="822" name=""/>
          <p:cNvSpPr/>
          <p:nvPr/>
        </p:nvSpPr>
        <p:spPr>
          <a:xfrm rot="0" flipH="0" flipV="0">
            <a:off x="552450" y="3343275"/>
            <a:ext cx="95250" cy="95250"/>
          </a:xfrm>
          <a:prstGeom prst="roundRect">
            <a:avLst>
              <a:gd name="adj" fmla="val 50000"/>
            </a:avLst>
          </a:prstGeom>
          <a:solidFill>
            <a:srgbClr val="2B7A3D"/>
          </a:solidFill>
          <a:ln/>
        </p:spPr>
        <p:txBody>
          <a:bodyPr/>
          <a:p/>
        </p:txBody>
      </p:sp>
      <p:sp>
        <p:nvSpPr>
          <p:cNvPr id="823" name="" descr="{&quot;isTemplate&quot;:true,&quot;type&quot;:&quot;text&quot;}"/>
          <p:cNvSpPr txBox="1"/>
          <p:nvPr/>
        </p:nvSpPr>
        <p:spPr>
          <a:xfrm rot="0" flipH="0" flipV="0">
            <a:off x="742950" y="3295650"/>
            <a:ext cx="714375" cy="190500"/>
          </a:xfrm>
          <a:prstGeom prst="rect"/>
        </p:spPr>
        <p:txBody>
          <a:bodyPr wrap="none" lIns="0" tIns="0" rIns="0" bIns="0"/>
          <a:p>
            <a:pPr>
              <a:lnSpc>
                <a:spcPct val="100000"/>
              </a:lnSpc>
            </a:pPr>
            <a:r>
              <a:rPr lang="en-US" sz="1200" b="1">
                <a:solidFill>
                  <a:srgbClr val="0E3F8C"/>
                </a:solidFill>
                <a:latin typeface="Microsoft YaHei"/>
                <a:ea typeface="Microsoft YaHei"/>
              </a:rPr>
              <a:t>MenuItem</a:t>
            </a:r>
            <a:endParaRPr/>
          </a:p>
        </p:txBody>
      </p:sp>
      <p:sp>
        <p:nvSpPr>
          <p:cNvPr id="824" name="" descr="{&quot;isTemplate&quot;:true,&quot;type&quot;:&quot;text&quot;}"/>
          <p:cNvSpPr txBox="1"/>
          <p:nvPr/>
        </p:nvSpPr>
        <p:spPr>
          <a:xfrm rot="0" flipH="0" flipV="0">
            <a:off x="2171700" y="3324225"/>
            <a:ext cx="857250" cy="142875"/>
          </a:xfrm>
          <a:prstGeom prst="rect"/>
        </p:spPr>
        <p:txBody>
          <a:bodyPr wrap="none" lIns="0" tIns="0" rIns="0" bIns="0"/>
          <a:p>
            <a:pPr>
              <a:lnSpc>
                <a:spcPct val="100000"/>
              </a:lnSpc>
            </a:pPr>
            <a:r>
              <a:rPr lang="en-US" sz="938" b="1">
                <a:solidFill>
                  <a:srgbClr val="2B7A3D"/>
                </a:solidFill>
                <a:latin typeface="Microsoft YaHei"/>
                <a:ea typeface="Microsoft YaHei"/>
              </a:rPr>
              <a:t>entity</a:t>
            </a:r>
            <a:endParaRPr/>
          </a:p>
        </p:txBody>
      </p:sp>
      <p:sp>
        <p:nvSpPr>
          <p:cNvPr id="825" name="" descr="{&quot;isTemplate&quot;:true,&quot;type&quot;:&quot;text&quot;}"/>
          <p:cNvSpPr txBox="1"/>
          <p:nvPr/>
        </p:nvSpPr>
        <p:spPr>
          <a:xfrm rot="0" flipH="0" flipV="0">
            <a:off x="3028950" y="3276600"/>
            <a:ext cx="8610600" cy="228600"/>
          </a:xfrm>
          <a:prstGeom prst="rect"/>
        </p:spPr>
        <p:txBody>
          <a:bodyPr wrap="none" lIns="0" tIns="0" rIns="0" bIns="0"/>
          <a:p>
            <a:pPr>
              <a:lnSpc>
                <a:spcPct val="150000"/>
              </a:lnSpc>
            </a:pPr>
            <a:r>
              <a:rPr lang="en-US" sz="975">
                <a:solidFill>
                  <a:srgbClr val="4A5568"/>
                </a:solidFill>
                <a:latin typeface="Microsoft YaHei"/>
                <a:ea typeface="Microsoft YaHei"/>
              </a:rPr>
              <a:t>What is sold. Has a name, a price, an availability flag. Marked sold out at 4b.</a:t>
            </a:r>
            <a:endParaRPr/>
          </a:p>
        </p:txBody>
      </p:sp>
      <p:sp>
        <p:nvSpPr>
          <p:cNvPr id="826" name=""/>
          <p:cNvSpPr/>
          <p:nvPr/>
        </p:nvSpPr>
        <p:spPr>
          <a:xfrm rot="0" flipH="0" flipV="0">
            <a:off x="381000" y="3886200"/>
            <a:ext cx="11430000" cy="771525"/>
          </a:xfrm>
          <a:prstGeom prst="roundRect">
            <a:avLst>
              <a:gd name="adj" fmla="val 11111"/>
            </a:avLst>
          </a:prstGeom>
          <a:solidFill>
            <a:srgbClr val="F7F9FC"/>
          </a:solidFill>
          <a:ln w="12700">
            <a:solidFill>
              <a:srgbClr val="E5E7EB"/>
            </a:solidFill>
            <a:prstDash val="solid"/>
          </a:ln>
        </p:spPr>
        <p:txBody>
          <a:bodyPr/>
          <a:p/>
        </p:txBody>
      </p:sp>
      <p:sp>
        <p:nvSpPr>
          <p:cNvPr id="827" name=""/>
          <p:cNvSpPr/>
          <p:nvPr/>
        </p:nvSpPr>
        <p:spPr>
          <a:xfrm rot="0" flipH="0" flipV="0">
            <a:off x="552450" y="4229100"/>
            <a:ext cx="95250" cy="95250"/>
          </a:xfrm>
          <a:prstGeom prst="roundRect">
            <a:avLst>
              <a:gd name="adj" fmla="val 50000"/>
            </a:avLst>
          </a:prstGeom>
          <a:solidFill>
            <a:srgbClr val="2B7A3D"/>
          </a:solidFill>
          <a:ln/>
        </p:spPr>
        <p:txBody>
          <a:bodyPr/>
          <a:p/>
        </p:txBody>
      </p:sp>
      <p:sp>
        <p:nvSpPr>
          <p:cNvPr id="828" name="" descr="{&quot;isTemplate&quot;:true,&quot;type&quot;:&quot;text&quot;}"/>
          <p:cNvSpPr txBox="1"/>
          <p:nvPr/>
        </p:nvSpPr>
        <p:spPr>
          <a:xfrm rot="0" flipH="0" flipV="0">
            <a:off x="742950" y="4181475"/>
            <a:ext cx="800100" cy="190500"/>
          </a:xfrm>
          <a:prstGeom prst="rect"/>
        </p:spPr>
        <p:txBody>
          <a:bodyPr wrap="none" lIns="0" tIns="0" rIns="0" bIns="0"/>
          <a:p>
            <a:pPr>
              <a:lnSpc>
                <a:spcPct val="100000"/>
              </a:lnSpc>
            </a:pPr>
            <a:r>
              <a:rPr lang="en-US" sz="1200" b="1">
                <a:solidFill>
                  <a:srgbClr val="0E3F8C"/>
                </a:solidFill>
                <a:latin typeface="Microsoft YaHei"/>
                <a:ea typeface="Microsoft YaHei"/>
              </a:rPr>
              <a:t>Restaurant</a:t>
            </a:r>
            <a:endParaRPr/>
          </a:p>
        </p:txBody>
      </p:sp>
      <p:sp>
        <p:nvSpPr>
          <p:cNvPr id="829" name="" descr="{&quot;isTemplate&quot;:true,&quot;type&quot;:&quot;text&quot;}"/>
          <p:cNvSpPr txBox="1"/>
          <p:nvPr/>
        </p:nvSpPr>
        <p:spPr>
          <a:xfrm rot="0" flipH="0" flipV="0">
            <a:off x="2171700" y="4200525"/>
            <a:ext cx="857250" cy="142875"/>
          </a:xfrm>
          <a:prstGeom prst="rect"/>
        </p:spPr>
        <p:txBody>
          <a:bodyPr wrap="none" lIns="0" tIns="0" rIns="0" bIns="0"/>
          <a:p>
            <a:pPr>
              <a:lnSpc>
                <a:spcPct val="100000"/>
              </a:lnSpc>
            </a:pPr>
            <a:r>
              <a:rPr lang="en-US" sz="938" b="1">
                <a:solidFill>
                  <a:srgbClr val="2B7A3D"/>
                </a:solidFill>
                <a:latin typeface="Microsoft YaHei"/>
                <a:ea typeface="Microsoft YaHei"/>
              </a:rPr>
              <a:t>entity</a:t>
            </a:r>
            <a:endParaRPr/>
          </a:p>
        </p:txBody>
      </p:sp>
      <p:sp>
        <p:nvSpPr>
          <p:cNvPr id="830" name="" descr="{&quot;isTemplate&quot;:true,&quot;type&quot;:&quot;text&quot;}"/>
          <p:cNvSpPr txBox="1"/>
          <p:nvPr/>
        </p:nvSpPr>
        <p:spPr>
          <a:xfrm rot="0" flipH="0" flipV="0">
            <a:off x="3028950" y="4162425"/>
            <a:ext cx="8610600" cy="228600"/>
          </a:xfrm>
          <a:prstGeom prst="rect"/>
        </p:spPr>
        <p:txBody>
          <a:bodyPr wrap="none" lIns="0" tIns="0" rIns="0" bIns="0"/>
          <a:p>
            <a:pPr>
              <a:lnSpc>
                <a:spcPct val="150000"/>
              </a:lnSpc>
            </a:pPr>
            <a:r>
              <a:rPr lang="en-US" sz="975">
                <a:solidFill>
                  <a:srgbClr val="4A5568"/>
                </a:solidFill>
                <a:latin typeface="Microsoft YaHei"/>
                <a:ea typeface="Microsoft YaHei"/>
              </a:rPr>
              <a:t>Who sells. Has a name and an opening window. Owns the menu.</a:t>
            </a:r>
            <a:endParaRPr/>
          </a:p>
        </p:txBody>
      </p:sp>
      <p:sp>
        <p:nvSpPr>
          <p:cNvPr id="831" name=""/>
          <p:cNvSpPr/>
          <p:nvPr/>
        </p:nvSpPr>
        <p:spPr>
          <a:xfrm rot="0" flipH="0" flipV="0">
            <a:off x="381000" y="4762500"/>
            <a:ext cx="11430000" cy="781050"/>
          </a:xfrm>
          <a:prstGeom prst="roundRect">
            <a:avLst>
              <a:gd name="adj" fmla="val 10976"/>
            </a:avLst>
          </a:prstGeom>
          <a:solidFill>
            <a:srgbClr val="F7F9FC"/>
          </a:solidFill>
          <a:ln w="12700">
            <a:solidFill>
              <a:srgbClr val="E5E7EB"/>
            </a:solidFill>
            <a:prstDash val="solid"/>
          </a:ln>
        </p:spPr>
        <p:txBody>
          <a:bodyPr/>
          <a:p/>
        </p:txBody>
      </p:sp>
      <p:sp>
        <p:nvSpPr>
          <p:cNvPr id="832" name=""/>
          <p:cNvSpPr/>
          <p:nvPr/>
        </p:nvSpPr>
        <p:spPr>
          <a:xfrm rot="0" flipH="0" flipV="0">
            <a:off x="552450" y="5105400"/>
            <a:ext cx="95250" cy="95250"/>
          </a:xfrm>
          <a:prstGeom prst="roundRect">
            <a:avLst>
              <a:gd name="adj" fmla="val 50000"/>
            </a:avLst>
          </a:prstGeom>
          <a:solidFill>
            <a:srgbClr val="2B7A3D"/>
          </a:solidFill>
          <a:ln/>
        </p:spPr>
        <p:txBody>
          <a:bodyPr/>
          <a:p/>
        </p:txBody>
      </p:sp>
      <p:sp>
        <p:nvSpPr>
          <p:cNvPr id="833" name="" descr="{&quot;isTemplate&quot;:true,&quot;type&quot;:&quot;text&quot;}"/>
          <p:cNvSpPr txBox="1"/>
          <p:nvPr/>
        </p:nvSpPr>
        <p:spPr>
          <a:xfrm rot="0" flipH="0" flipV="0">
            <a:off x="742950" y="5057775"/>
            <a:ext cx="542925" cy="190500"/>
          </a:xfrm>
          <a:prstGeom prst="rect"/>
        </p:spPr>
        <p:txBody>
          <a:bodyPr wrap="none" lIns="0" tIns="0" rIns="0" bIns="0"/>
          <a:p>
            <a:pPr>
              <a:lnSpc>
                <a:spcPct val="100000"/>
              </a:lnSpc>
            </a:pPr>
            <a:r>
              <a:rPr lang="en-US" sz="1200" b="1">
                <a:solidFill>
                  <a:srgbClr val="0E3F8C"/>
                </a:solidFill>
                <a:latin typeface="Microsoft YaHei"/>
                <a:ea typeface="Microsoft YaHei"/>
              </a:rPr>
              <a:t>Courier</a:t>
            </a:r>
            <a:endParaRPr/>
          </a:p>
        </p:txBody>
      </p:sp>
      <p:sp>
        <p:nvSpPr>
          <p:cNvPr id="834" name="" descr="{&quot;isTemplate&quot;:true,&quot;type&quot;:&quot;text&quot;}"/>
          <p:cNvSpPr txBox="1"/>
          <p:nvPr/>
        </p:nvSpPr>
        <p:spPr>
          <a:xfrm rot="0" flipH="0" flipV="0">
            <a:off x="2171700" y="5086350"/>
            <a:ext cx="857250" cy="142875"/>
          </a:xfrm>
          <a:prstGeom prst="rect"/>
        </p:spPr>
        <p:txBody>
          <a:bodyPr wrap="none" lIns="0" tIns="0" rIns="0" bIns="0"/>
          <a:p>
            <a:pPr>
              <a:lnSpc>
                <a:spcPct val="100000"/>
              </a:lnSpc>
            </a:pPr>
            <a:r>
              <a:rPr lang="en-US" sz="938" b="1">
                <a:solidFill>
                  <a:srgbClr val="2B7A3D"/>
                </a:solidFill>
                <a:latin typeface="Microsoft YaHei"/>
                <a:ea typeface="Microsoft YaHei"/>
              </a:rPr>
              <a:t>entity</a:t>
            </a:r>
            <a:endParaRPr/>
          </a:p>
        </p:txBody>
      </p:sp>
      <p:sp>
        <p:nvSpPr>
          <p:cNvPr id="835" name="" descr="{&quot;isTemplate&quot;:true,&quot;type&quot;:&quot;text&quot;}"/>
          <p:cNvSpPr txBox="1"/>
          <p:nvPr/>
        </p:nvSpPr>
        <p:spPr>
          <a:xfrm rot="0" flipH="0" flipV="0">
            <a:off x="3028950" y="5038725"/>
            <a:ext cx="8610600" cy="228600"/>
          </a:xfrm>
          <a:prstGeom prst="rect"/>
        </p:spPr>
        <p:txBody>
          <a:bodyPr wrap="none" lIns="0" tIns="0" rIns="0" bIns="0"/>
          <a:p>
            <a:pPr>
              <a:lnSpc>
                <a:spcPct val="150000"/>
              </a:lnSpc>
            </a:pPr>
            <a:r>
              <a:rPr lang="en-US" sz="975">
                <a:solidFill>
                  <a:srgbClr val="4A5568"/>
                </a:solidFill>
                <a:latin typeface="Microsoft YaHei"/>
                <a:ea typeface="Microsoft YaHei"/>
              </a:rPr>
              <a:t>Who delivers. Has an availability flag — this is what 4b fails to find.</a:t>
            </a:r>
            <a:endParaRPr/>
          </a:p>
        </p:txBody>
      </p:sp>
      <p:sp>
        <p:nvSpPr>
          <p:cNvPr id="836" name=""/>
          <p:cNvSpPr/>
          <p:nvPr/>
        </p:nvSpPr>
        <p:spPr>
          <a:xfrm rot="0" flipH="0" flipV="0">
            <a:off x="381000" y="5648325"/>
            <a:ext cx="11430000" cy="771525"/>
          </a:xfrm>
          <a:prstGeom prst="roundRect">
            <a:avLst>
              <a:gd name="adj" fmla="val 11111"/>
            </a:avLst>
          </a:prstGeom>
          <a:solidFill>
            <a:srgbClr val="F7F9FC"/>
          </a:solidFill>
          <a:ln w="12700">
            <a:solidFill>
              <a:srgbClr val="E5E7EB"/>
            </a:solidFill>
            <a:prstDash val="solid"/>
          </a:ln>
        </p:spPr>
        <p:txBody>
          <a:bodyPr/>
          <a:p/>
        </p:txBody>
      </p:sp>
      <p:sp>
        <p:nvSpPr>
          <p:cNvPr id="837" name=""/>
          <p:cNvSpPr/>
          <p:nvPr/>
        </p:nvSpPr>
        <p:spPr>
          <a:xfrm rot="0" flipH="0" flipV="0">
            <a:off x="552450" y="5991225"/>
            <a:ext cx="95250" cy="95250"/>
          </a:xfrm>
          <a:prstGeom prst="roundRect">
            <a:avLst>
              <a:gd name="adj" fmla="val 50000"/>
            </a:avLst>
          </a:prstGeom>
          <a:solidFill>
            <a:srgbClr val="2B7A3D"/>
          </a:solidFill>
          <a:ln/>
        </p:spPr>
        <p:txBody>
          <a:bodyPr/>
          <a:p/>
        </p:txBody>
      </p:sp>
      <p:sp>
        <p:nvSpPr>
          <p:cNvPr id="838" name="" descr="{&quot;isTemplate&quot;:true,&quot;type&quot;:&quot;text&quot;}"/>
          <p:cNvSpPr txBox="1"/>
          <p:nvPr/>
        </p:nvSpPr>
        <p:spPr>
          <a:xfrm rot="0" flipH="0" flipV="0">
            <a:off x="742950" y="5943600"/>
            <a:ext cx="638175" cy="190500"/>
          </a:xfrm>
          <a:prstGeom prst="rect"/>
        </p:spPr>
        <p:txBody>
          <a:bodyPr wrap="none" lIns="0" tIns="0" rIns="0" bIns="0"/>
          <a:p>
            <a:pPr>
              <a:lnSpc>
                <a:spcPct val="100000"/>
              </a:lnSpc>
            </a:pPr>
            <a:r>
              <a:rPr lang="en-US" sz="1200" b="1">
                <a:solidFill>
                  <a:srgbClr val="0E3F8C"/>
                </a:solidFill>
                <a:latin typeface="Microsoft YaHei"/>
                <a:ea typeface="Microsoft YaHei"/>
              </a:rPr>
              <a:t>Payment</a:t>
            </a:r>
            <a:endParaRPr/>
          </a:p>
        </p:txBody>
      </p:sp>
      <p:sp>
        <p:nvSpPr>
          <p:cNvPr id="839" name="" descr="{&quot;isTemplate&quot;:true,&quot;type&quot;:&quot;text&quot;}"/>
          <p:cNvSpPr txBox="1"/>
          <p:nvPr/>
        </p:nvSpPr>
        <p:spPr>
          <a:xfrm rot="0" flipH="0" flipV="0">
            <a:off x="2171700" y="5962650"/>
            <a:ext cx="857250" cy="142875"/>
          </a:xfrm>
          <a:prstGeom prst="rect"/>
        </p:spPr>
        <p:txBody>
          <a:bodyPr wrap="none" lIns="0" tIns="0" rIns="0" bIns="0"/>
          <a:p>
            <a:pPr>
              <a:lnSpc>
                <a:spcPct val="100000"/>
              </a:lnSpc>
            </a:pPr>
            <a:r>
              <a:rPr lang="en-US" sz="938" b="1">
                <a:solidFill>
                  <a:srgbClr val="2B7A3D"/>
                </a:solidFill>
                <a:latin typeface="Microsoft YaHei"/>
                <a:ea typeface="Microsoft YaHei"/>
              </a:rPr>
              <a:t>entity</a:t>
            </a:r>
            <a:endParaRPr/>
          </a:p>
        </p:txBody>
      </p:sp>
      <p:sp>
        <p:nvSpPr>
          <p:cNvPr id="840" name="" descr="{&quot;isTemplate&quot;:true,&quot;type&quot;:&quot;text&quot;}"/>
          <p:cNvSpPr txBox="1"/>
          <p:nvPr/>
        </p:nvSpPr>
        <p:spPr>
          <a:xfrm rot="0" flipH="0" flipV="0">
            <a:off x="3028950" y="5924550"/>
            <a:ext cx="8610600" cy="228600"/>
          </a:xfrm>
          <a:prstGeom prst="rect"/>
        </p:spPr>
        <p:txBody>
          <a:bodyPr wrap="none" lIns="0" tIns="0" rIns="0" bIns="0"/>
          <a:p>
            <a:pPr>
              <a:lnSpc>
                <a:spcPct val="150000"/>
              </a:lnSpc>
            </a:pPr>
            <a:r>
              <a:rPr lang="en-US" sz="975">
                <a:solidFill>
                  <a:srgbClr val="4A5568"/>
                </a:solidFill>
                <a:latin typeface="Microsoft YaHei"/>
                <a:ea typeface="Microsoft YaHei"/>
              </a:rPr>
              <a:t>A record of one attempt. Has an amount, a method, a result. Not the provider — that is an actor.</a:t>
            </a:r>
            <a:endParaRPr/>
          </a:p>
        </p:txBody>
      </p:sp>
      <p:sp>
        <p:nvSpPr>
          <p:cNvPr id="841" name=""/>
          <p:cNvSpPr/>
          <p:nvPr/>
        </p:nvSpPr>
        <p:spPr>
          <a:xfrm rot="0" flipH="0" flipV="0">
            <a:off x="0" y="6419850"/>
            <a:ext cx="12192000" cy="438150"/>
          </a:xfrm>
          <a:prstGeom prst="rect">
            <a:avLst/>
          </a:prstGeom>
          <a:solidFill>
            <a:srgbClr val="0E3F8C"/>
          </a:solidFill>
          <a:ln/>
        </p:spPr>
        <p:txBody>
          <a:bodyPr/>
          <a:p/>
        </p:txBody>
      </p:sp>
      <p:sp>
        <p:nvSpPr>
          <p:cNvPr id="842" name="" descr="{&quot;isTemplate&quot;:true,&quot;type&quot;:&quot;text&quot;}"/>
          <p:cNvSpPr txBox="1"/>
          <p:nvPr/>
        </p:nvSpPr>
        <p:spPr>
          <a:xfrm rot="0" flipH="0" flipV="0">
            <a:off x="3076575" y="6543675"/>
            <a:ext cx="6048375" cy="190500"/>
          </a:xfrm>
          <a:prstGeom prst="rect"/>
        </p:spPr>
        <p:txBody>
          <a:bodyPr wrap="none" lIns="0" tIns="0" rIns="0" bIns="0"/>
          <a:p>
            <a:pPr>
              <a:lnSpc>
                <a:spcPct val="100000"/>
              </a:lnSpc>
            </a:pPr>
            <a:r>
              <a:rPr lang="en-US" sz="1238" b="1">
                <a:solidFill>
                  <a:srgbClr val="FFFFFF"/>
                </a:solidFill>
                <a:latin typeface="Microsoft YaHei"/>
                <a:ea typeface="Microsoft YaHei"/>
              </a:rPr>
              <a:t>Six so far. Six more arrive on page 19 — and only after you have classified these.</a:t>
            </a:r>
            <a:endParaRPr/>
          </a:p>
        </p:txBody>
      </p:sp>
    </p:spTree>
  </p:cSld>
</p:sld>
</file>

<file path=ppt/slides/slide8.xml><?xml version="1.0" encoding="utf-8"?>
<p:sld xmlns:p="http://schemas.openxmlformats.org/presentationml/2006/main" xmlns:a="http://schemas.openxmlformats.org/drawingml/2006/main">
  <p:cSld>
    <p:spTree>
      <p:nvGrpSpPr>
        <p:cNvPr id="843" name="" descr="&lt;Slide style={{ background: '#0E3F8C', padding: 0 }}&gt;&#10;  &lt;Box style={{ flexDirection: 'row', height: '100%', position: 'relative' }}&gt;&#10;    &lt;Box style={{ position: 'absolute', top: 0, left: 0, right: 0, height: 8, background: '#1E4FA8' }} /&gt;&#10;    &lt;Box style={{ width: 300, justifyContent: 'center', alignItems: 'center', borderRight: '1px solid #2B5793' }}&gt;&#10;      &lt;Text style={{ fontSize: 220, fontWeight: 'bold', color: '#3D7BD9', fontFamily: 'Georgia, serif', lineHeight: 1 }}&gt;02&lt;/Text&gt;&#10;    &lt;/Box&gt;&#10;    &lt;Box style={{ flex: 1, padding: '70px 64px', flexDirection: 'column', justifyContent: 'center' }}&gt;&#10;      &lt;Text style={{ fontSize: 15, color: '#7FA2D6', letterSpacing: 2, marginBottom: 18 }}&gt;PART 2 · LECTURE&lt;/Text&gt;&#10;      &lt;Text style={{ fontSize: 46, fontWeight: 'bold', color: '#FFFFFF', lineHeight: 1.18 }}&gt;Conceptual vs.&lt;br /&gt;Design Classes&lt;/Text&gt;&#10;      &lt;Box style={{ width: 64, height: 4, background: '#FFC107', marginTop: 26, marginBottom: 26 }} /&gt;&#10;      &lt;Box style={{ flexDirection: 'column', gap: 12 }}&gt;&#10;        {[&#10;          'This week models the problem. W10 models the solution.',&#10;          'Most beginner models are design models wearing an analysis hat',&#10;          'The difference is one question: does this box survive a technology change?'&#10;        ].map((t) =&gt; (&#10;          &lt;Box key={t} style={{ flexDirection: 'row', alignItems: 'center', gap: 12 }}&gt;&#10;            &lt;Box style={{ width: 8, height: 8, borderRadius: 4, background: '#3D7BD9' }} /&gt;&#10;            &lt;Text style={{ fontSize: 20, color: '#C5D4EA' }}&gt;{t}&lt;/Text&gt;&#10;          &lt;/Box&gt;&#10;        ))}&#10;      &lt;/Box&gt;&#10;    &lt;/Box&gt;&#10;  &lt;/Box&gt;&#10;&lt;/Slide&gt;&#10;"/>
        <p:cNvGrpSpPr/>
        <p:nvPr/>
      </p:nvGrpSpPr>
      <p:grpSpPr>
        <a:xfrm>
          <a:off x="0" y="0"/>
          <a:ext cx="0" cy="0"/>
          <a:chOff x="0" y="0"/>
          <a:chExt cx="0" cy="0"/>
        </a:xfrm>
      </p:grpSpPr>
      <p:sp>
        <p:nvSpPr>
          <p:cNvPr id="844" name=""/>
          <p:cNvSpPr/>
          <p:nvPr/>
        </p:nvSpPr>
        <p:spPr>
          <a:xfrm rot="0" flipH="0" flipV="0">
            <a:off x="0" y="0"/>
            <a:ext cx="12192000" cy="6858000"/>
          </a:xfrm>
          <a:prstGeom prst="rect">
            <a:avLst/>
          </a:prstGeom>
          <a:solidFill>
            <a:srgbClr val="0E3F8C"/>
          </a:solidFill>
          <a:ln/>
        </p:spPr>
        <p:txBody>
          <a:bodyPr/>
          <a:p/>
        </p:txBody>
      </p:sp>
      <p:sp>
        <p:nvSpPr>
          <p:cNvPr id="845" name=""/>
          <p:cNvSpPr/>
          <p:nvPr/>
        </p:nvSpPr>
        <p:spPr>
          <a:xfrm rot="0" flipH="0" flipV="0">
            <a:off x="0" y="0"/>
            <a:ext cx="2857500" cy="6858000"/>
          </a:xfrm>
          <a:custGeom>
            <a:pathLst>
              <a:path w="300" h="720">
                <a:moveTo>
                  <a:pt x="299" y="0"/>
                </a:moveTo>
                <a:lnTo>
                  <a:pt x="300" y="0"/>
                </a:lnTo>
                <a:lnTo>
                  <a:pt x="300" y="720"/>
                </a:lnTo>
                <a:lnTo>
                  <a:pt x="299" y="720"/>
                </a:lnTo>
                <a:close/>
              </a:path>
            </a:pathLst>
          </a:custGeom>
          <a:solidFill>
            <a:srgbClr val="2B5793"/>
          </a:solidFill>
          <a:ln/>
        </p:spPr>
        <p:txBody>
          <a:bodyPr/>
          <a:p/>
        </p:txBody>
      </p:sp>
      <p:sp>
        <p:nvSpPr>
          <p:cNvPr id="846" name="" descr="{&quot;isTemplate&quot;:true,&quot;type&quot;:&quot;text&quot;}"/>
          <p:cNvSpPr txBox="1"/>
          <p:nvPr/>
        </p:nvSpPr>
        <p:spPr>
          <a:xfrm rot="0" flipH="0" flipV="0">
            <a:off x="28575" y="2171700"/>
            <a:ext cx="2790825" cy="2514600"/>
          </a:xfrm>
          <a:prstGeom prst="rect"/>
        </p:spPr>
        <p:txBody>
          <a:bodyPr wrap="none" lIns="0" tIns="0" rIns="0" bIns="0"/>
          <a:p>
            <a:pPr>
              <a:lnSpc>
                <a:spcPct val="100000"/>
              </a:lnSpc>
            </a:pPr>
            <a:r>
              <a:rPr lang="en-US" sz="16500" b="1">
                <a:solidFill>
                  <a:srgbClr val="3D7BD9"/>
                </a:solidFill>
                <a:latin typeface="Georgia"/>
                <a:ea typeface="Georgia"/>
              </a:rPr>
              <a:t>02</a:t>
            </a:r>
            <a:endParaRPr/>
          </a:p>
        </p:txBody>
      </p:sp>
      <p:sp>
        <p:nvSpPr>
          <p:cNvPr id="847" name="" descr="{&quot;isTemplate&quot;:true,&quot;type&quot;:&quot;text&quot;}"/>
          <p:cNvSpPr txBox="1"/>
          <p:nvPr/>
        </p:nvSpPr>
        <p:spPr>
          <a:xfrm rot="0" flipH="0" flipV="0">
            <a:off x="3467100" y="1914525"/>
            <a:ext cx="8115300" cy="171450"/>
          </a:xfrm>
          <a:prstGeom prst="rect"/>
        </p:spPr>
        <p:txBody>
          <a:bodyPr wrap="none" lIns="0" tIns="0" rIns="0" bIns="0"/>
          <a:p>
            <a:pPr>
              <a:lnSpc>
                <a:spcPct val="100000"/>
              </a:lnSpc>
            </a:pPr>
            <a:r>
              <a:rPr lang="en-US" sz="1125" spc="150">
                <a:solidFill>
                  <a:srgbClr val="7FA2D6"/>
                </a:solidFill>
                <a:latin typeface="Microsoft YaHei"/>
                <a:ea typeface="Microsoft YaHei"/>
              </a:rPr>
              <a:t>PART 2 · LECTURE</a:t>
            </a:r>
            <a:endParaRPr/>
          </a:p>
        </p:txBody>
      </p:sp>
      <p:sp>
        <p:nvSpPr>
          <p:cNvPr id="848" name="" descr="{&quot;isTemplate&quot;:true,&quot;type&quot;:&quot;text&quot;}"/>
          <p:cNvSpPr txBox="1"/>
          <p:nvPr/>
        </p:nvSpPr>
        <p:spPr>
          <a:xfrm rot="0" flipH="0" flipV="0">
            <a:off x="3467100" y="2257425"/>
            <a:ext cx="8115300" cy="1247775"/>
          </a:xfrm>
          <a:prstGeom prst="rect"/>
        </p:spPr>
        <p:txBody>
          <a:bodyPr wrap="none" lIns="0" tIns="0" rIns="0" bIns="0"/>
          <a:p>
            <a:pPr>
              <a:lnSpc>
                <a:spcPct val="118000"/>
              </a:lnSpc>
            </a:pPr>
            <a:r>
              <a:rPr lang="en-US" sz="3450" b="1">
                <a:solidFill>
                  <a:srgbClr val="FFFFFF"/>
                </a:solidFill>
                <a:latin typeface="Microsoft YaHei"/>
                <a:ea typeface="Microsoft YaHei"/>
              </a:rPr>
              <a:t>Conceptual vs.</a:t>
            </a:r>
            <a:endParaRPr/>
          </a:p>
          <a:p>
            <a:pPr>
              <a:lnSpc>
                <a:spcPct val="118000"/>
              </a:lnSpc>
            </a:pPr>
            <a:r>
              <a:rPr lang="en-US" sz="3450" b="1">
                <a:solidFill>
                  <a:srgbClr val="FFFFFF"/>
                </a:solidFill>
                <a:latin typeface="Microsoft YaHei"/>
                <a:ea typeface="Microsoft YaHei"/>
              </a:rPr>
              <a:t>Design Classes</a:t>
            </a:r>
            <a:endParaRPr/>
          </a:p>
        </p:txBody>
      </p:sp>
      <p:sp>
        <p:nvSpPr>
          <p:cNvPr id="849" name=""/>
          <p:cNvSpPr/>
          <p:nvPr/>
        </p:nvSpPr>
        <p:spPr>
          <a:xfrm rot="0" flipH="0" flipV="0">
            <a:off x="3467100" y="3752850"/>
            <a:ext cx="609600" cy="38100"/>
          </a:xfrm>
          <a:prstGeom prst="rect">
            <a:avLst/>
          </a:prstGeom>
          <a:solidFill>
            <a:srgbClr val="FFC107"/>
          </a:solidFill>
          <a:ln/>
        </p:spPr>
        <p:txBody>
          <a:bodyPr/>
          <a:p/>
        </p:txBody>
      </p:sp>
      <p:sp>
        <p:nvSpPr>
          <p:cNvPr id="850" name=""/>
          <p:cNvSpPr/>
          <p:nvPr/>
        </p:nvSpPr>
        <p:spPr>
          <a:xfrm rot="0" flipH="0" flipV="0">
            <a:off x="3467100" y="4114800"/>
            <a:ext cx="76200" cy="76200"/>
          </a:xfrm>
          <a:prstGeom prst="roundRect">
            <a:avLst>
              <a:gd name="adj" fmla="val 50000"/>
            </a:avLst>
          </a:prstGeom>
          <a:solidFill>
            <a:srgbClr val="3D7BD9"/>
          </a:solidFill>
          <a:ln/>
        </p:spPr>
        <p:txBody>
          <a:bodyPr/>
          <a:p/>
        </p:txBody>
      </p:sp>
      <p:sp>
        <p:nvSpPr>
          <p:cNvPr id="851" name="" descr="{&quot;isTemplate&quot;:true,&quot;type&quot;:&quot;text&quot;}"/>
          <p:cNvSpPr txBox="1"/>
          <p:nvPr/>
        </p:nvSpPr>
        <p:spPr>
          <a:xfrm rot="0" flipH="0" flipV="0">
            <a:off x="3657600" y="4038600"/>
            <a:ext cx="4829175" cy="228600"/>
          </a:xfrm>
          <a:prstGeom prst="rect"/>
        </p:spPr>
        <p:txBody>
          <a:bodyPr wrap="none" lIns="0" tIns="0" rIns="0" bIns="0"/>
          <a:p>
            <a:pPr>
              <a:lnSpc>
                <a:spcPct val="100000"/>
              </a:lnSpc>
            </a:pPr>
            <a:r>
              <a:rPr lang="en-US" sz="1500">
                <a:solidFill>
                  <a:srgbClr val="C5D4EA"/>
                </a:solidFill>
                <a:latin typeface="Microsoft YaHei"/>
                <a:ea typeface="Microsoft YaHei"/>
              </a:rPr>
              <a:t>This week models the problem. W10 models the solution.</a:t>
            </a:r>
            <a:endParaRPr/>
          </a:p>
        </p:txBody>
      </p:sp>
      <p:sp>
        <p:nvSpPr>
          <p:cNvPr id="852" name=""/>
          <p:cNvSpPr/>
          <p:nvPr/>
        </p:nvSpPr>
        <p:spPr>
          <a:xfrm rot="0" flipH="0" flipV="0">
            <a:off x="3467100" y="4457700"/>
            <a:ext cx="76200" cy="76200"/>
          </a:xfrm>
          <a:prstGeom prst="roundRect">
            <a:avLst>
              <a:gd name="adj" fmla="val 50000"/>
            </a:avLst>
          </a:prstGeom>
          <a:solidFill>
            <a:srgbClr val="3D7BD9"/>
          </a:solidFill>
          <a:ln/>
        </p:spPr>
        <p:txBody>
          <a:bodyPr/>
          <a:p/>
        </p:txBody>
      </p:sp>
      <p:sp>
        <p:nvSpPr>
          <p:cNvPr id="853" name="" descr="{&quot;isTemplate&quot;:true,&quot;type&quot;:&quot;text&quot;}"/>
          <p:cNvSpPr txBox="1"/>
          <p:nvPr/>
        </p:nvSpPr>
        <p:spPr>
          <a:xfrm rot="0" flipH="0" flipV="0">
            <a:off x="3657600" y="4381500"/>
            <a:ext cx="5534025" cy="228600"/>
          </a:xfrm>
          <a:prstGeom prst="rect"/>
        </p:spPr>
        <p:txBody>
          <a:bodyPr wrap="none" lIns="0" tIns="0" rIns="0" bIns="0"/>
          <a:p>
            <a:pPr>
              <a:lnSpc>
                <a:spcPct val="100000"/>
              </a:lnSpc>
            </a:pPr>
            <a:r>
              <a:rPr lang="en-US" sz="1500">
                <a:solidFill>
                  <a:srgbClr val="C5D4EA"/>
                </a:solidFill>
                <a:latin typeface="Microsoft YaHei"/>
                <a:ea typeface="Microsoft YaHei"/>
              </a:rPr>
              <a:t>Most beginner models are design models wearing an analysis hat</a:t>
            </a:r>
            <a:endParaRPr/>
          </a:p>
        </p:txBody>
      </p:sp>
      <p:sp>
        <p:nvSpPr>
          <p:cNvPr id="854" name=""/>
          <p:cNvSpPr/>
          <p:nvPr/>
        </p:nvSpPr>
        <p:spPr>
          <a:xfrm rot="0" flipH="0" flipV="0">
            <a:off x="3467100" y="4800600"/>
            <a:ext cx="76200" cy="76200"/>
          </a:xfrm>
          <a:prstGeom prst="roundRect">
            <a:avLst>
              <a:gd name="adj" fmla="val 50000"/>
            </a:avLst>
          </a:prstGeom>
          <a:solidFill>
            <a:srgbClr val="3D7BD9"/>
          </a:solidFill>
          <a:ln/>
        </p:spPr>
        <p:txBody>
          <a:bodyPr/>
          <a:p/>
        </p:txBody>
      </p:sp>
      <p:sp>
        <p:nvSpPr>
          <p:cNvPr id="855" name="" descr="{&quot;isTemplate&quot;:true,&quot;type&quot;:&quot;text&quot;}"/>
          <p:cNvSpPr txBox="1"/>
          <p:nvPr/>
        </p:nvSpPr>
        <p:spPr>
          <a:xfrm rot="0" flipH="0" flipV="0">
            <a:off x="3657600" y="4724400"/>
            <a:ext cx="6353175" cy="228600"/>
          </a:xfrm>
          <a:prstGeom prst="rect"/>
        </p:spPr>
        <p:txBody>
          <a:bodyPr wrap="none" lIns="0" tIns="0" rIns="0" bIns="0"/>
          <a:p>
            <a:pPr>
              <a:lnSpc>
                <a:spcPct val="100000"/>
              </a:lnSpc>
            </a:pPr>
            <a:r>
              <a:rPr lang="en-US" sz="1500">
                <a:solidFill>
                  <a:srgbClr val="C5D4EA"/>
                </a:solidFill>
                <a:latin typeface="Microsoft YaHei"/>
                <a:ea typeface="Microsoft YaHei"/>
              </a:rPr>
              <a:t>The difference is one question: does this box survive a technology change?</a:t>
            </a:r>
            <a:endParaRPr/>
          </a:p>
        </p:txBody>
      </p:sp>
      <p:sp>
        <p:nvSpPr>
          <p:cNvPr id="856" name=""/>
          <p:cNvSpPr/>
          <p:nvPr/>
        </p:nvSpPr>
        <p:spPr>
          <a:xfrm rot="0" flipH="0" flipV="0">
            <a:off x="0" y="0"/>
            <a:ext cx="12192000" cy="76200"/>
          </a:xfrm>
          <a:prstGeom prst="rect">
            <a:avLst/>
          </a:prstGeom>
          <a:solidFill>
            <a:srgbClr val="1E4FA8"/>
          </a:solidFill>
          <a:ln/>
        </p:spPr>
        <p:txBody>
          <a:bodyPr/>
          <a:p/>
        </p:txBody>
      </p:sp>
    </p:spTree>
  </p:cSld>
</p:sld>
</file>

<file path=ppt/slides/slide9.xml><?xml version="1.0" encoding="utf-8"?>
<p:sld xmlns:p="http://schemas.openxmlformats.org/presentationml/2006/main" xmlns:a="http://schemas.openxmlformats.org/drawingml/2006/main">
  <p:cSld>
    <p:spTree>
      <p:nvGrpSpPr>
        <p:cNvPr id="857"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6 · CONCEPTUAL VS. DESIGN&lt;/Text&gt;&#10;  &lt;/Box&gt;&#10;  &lt;Box style={{ padding: '13px 40px 0 40px', flexDirection: 'row', alignItems: 'center', justifyContent: 'space-between' }}&gt;&#10;    &lt;Text style={{ fontSize: 29, fontWeight: 'bold', color: '#0E3F8C' }}&gt;Analysis Model vs. Design Model&lt;/Text&gt;&#10;    &lt;Text style={{ fontSize: 14, color: '#1E4FA8', fontWeight: 'bold' }}&gt;09 / 39&lt;/Text&gt;&#10;  &lt;/Box&gt;&#10;  &lt;Box style={{ flex: 1, padding: '10px 40px 0 40px', flexDirection: 'row', gap: 26 }}&gt;&#10;    &lt;Box style={{ flex: 1, flexDirection: 'column', gap: 12 }}&gt;&#10;      &lt;Box style={{ padding: '12px 18px', background: '#F0F5FC', borderRadius: 9 }}&gt;&#10;        &lt;Text style={{ fontSize: 16, fontWeight: 'bold', color: '#0E3F8C' }}&gt;Analysis model — W06 to W09&lt;/Text&gt;&#10;      &lt;/Box&gt;&#10;      {[&#10;        'Models the problem the client described',&#10;        'Classes come from nouns in the specifications',&#10;        'No technology, no framework, no language',&#10;        'Answers: what does the system have to know about?',&#10;        'Reviewed with the client, who does not care about your stack',&#10;        'Changes when the requirements change',&#10;      ].map((t) =&gt; (&#10;        &lt;Box key={t} style={{ flex: 1, padding: '12px 16px', background: '#FFFFFF', borderRadius: 8, border: '1px solid #E5E7EB' }}&gt;&#10;          &lt;Text style={{ fontSize: 14, color: '#4A5568', lineHeight: 1.5 }}&gt;{t}&lt;/Text&gt;&#10;        &lt;/Box&gt;&#10;      ))}&#10;    &lt;/Box&gt;&#10;    &lt;Box style={{ width: 130, justifyContent: 'center', alignItems: 'center' }}&gt;&#10;      &lt;Box style={{ width: 54, height: 54, borderRadius: 27, background: '#1E4FA8', justifyContent: 'center', alignItems: 'center' }}&gt;&#10;        &lt;Text style={{ fontSize: 26, color: '#FFFFFF', fontWeight: 'bold' }}&gt;→&lt;/Text&gt;&#10;      &lt;/Box&gt;&#10;    &lt;/Box&gt;&#10;    &lt;Box style={{ flex: 1, flexDirection: 'column', gap: 12 }}&gt;&#10;      &lt;Box style={{ padding: '12px 18px', background: '#FDF3F3', borderRadius: 9 }}&gt;&#10;        &lt;Text style={{ fontSize: 16, fontWeight: 'bold', color: '#D9534F' }}&gt;Design model — W10 onward&lt;/Text&gt;&#10;      &lt;/Box&gt;&#10;      {[&#10;        'Models the solution the team will build',&#10;        'Classes come from reuse, framework and interfaces',&#10;        'Names end in Service, Controller, Repository, DTO',&#10;        'Answers: how will the machine do it?',&#10;        'Reviewed by the team, who do care about your stack',&#10;        'Changes when the technology changes — much more often',&#10;      ].map((t) =&gt; (&#10;        &lt;Box key={t} style={{ flex: 1, padding: '12px 16px', background: '#FFFFFF', borderRadius: 8, border: '1px solid #E5E7EB' }}&gt;&#10;          &lt;Text style={{ fontSize: 14, color: '#4A5568', lineHeight: 1.5 }}&gt;{t}&lt;/Text&gt;&#10;        &lt;/Box&gt;&#10;      ))}&#10;    &lt;/Box&gt;&#10;  &lt;/Box&gt;&#10;  &lt;Box style={{ height: 46, background: '#0E3F8C', padding: '0 40px', flexDirection: 'row', alignItems: 'center', justifyContent: 'center' }}&gt;&#10;    &lt;Text style={{ fontSize: 16.5, color: '#FFFFFF', fontWeight: '600' }}&gt;If your class diagram would still make sense in a different programming language, you have drawn the right thing.&lt;/Text&gt;&#10;  &lt;/Box&gt;&#10;&lt;/Slide&gt;&#10;"/>
        <p:cNvGrpSpPr/>
        <p:nvPr/>
      </p:nvGrpSpPr>
      <p:grpSpPr>
        <a:xfrm>
          <a:off x="0" y="0"/>
          <a:ext cx="0" cy="0"/>
          <a:chOff x="0" y="0"/>
          <a:chExt cx="0" cy="0"/>
        </a:xfrm>
      </p:grpSpPr>
      <p:sp>
        <p:nvSpPr>
          <p:cNvPr id="858" name=""/>
          <p:cNvSpPr/>
          <p:nvPr/>
        </p:nvSpPr>
        <p:spPr>
          <a:xfrm rot="0" flipH="0" flipV="0">
            <a:off x="0" y="0"/>
            <a:ext cx="12192000" cy="6858000"/>
          </a:xfrm>
          <a:prstGeom prst="rect">
            <a:avLst/>
          </a:prstGeom>
          <a:solidFill>
            <a:srgbClr val="FFFFFF"/>
          </a:solidFill>
          <a:ln/>
        </p:spPr>
        <p:txBody>
          <a:bodyPr/>
          <a:p/>
        </p:txBody>
      </p:sp>
      <p:sp>
        <p:nvSpPr>
          <p:cNvPr id="859" name=""/>
          <p:cNvSpPr/>
          <p:nvPr/>
        </p:nvSpPr>
        <p:spPr>
          <a:xfrm rot="0" flipH="0" flipV="0">
            <a:off x="0" y="0"/>
            <a:ext cx="12192000" cy="685800"/>
          </a:xfrm>
          <a:prstGeom prst="rect">
            <a:avLst/>
          </a:prstGeom>
          <a:solidFill>
            <a:srgbClr val="1E4FA8"/>
          </a:solidFill>
          <a:ln/>
        </p:spPr>
        <p:txBody>
          <a:bodyPr/>
          <a:p/>
        </p:txBody>
      </p:sp>
      <p:sp>
        <p:nvSpPr>
          <p:cNvPr id="860"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861" name="" descr="{&quot;isTemplate&quot;:true,&quot;type&quot;:&quot;text&quot;}"/>
          <p:cNvSpPr txBox="1"/>
          <p:nvPr/>
        </p:nvSpPr>
        <p:spPr>
          <a:xfrm rot="0" flipH="0" flipV="0">
            <a:off x="9553575" y="257175"/>
            <a:ext cx="2257425" cy="171450"/>
          </a:xfrm>
          <a:prstGeom prst="rect"/>
        </p:spPr>
        <p:txBody>
          <a:bodyPr wrap="none" lIns="0" tIns="0" rIns="0" bIns="0"/>
          <a:p>
            <a:pPr>
              <a:lnSpc>
                <a:spcPct val="100000"/>
              </a:lnSpc>
            </a:pPr>
            <a:r>
              <a:rPr lang="en-US" sz="1125">
                <a:solidFill>
                  <a:srgbClr val="B9CDF0"/>
                </a:solidFill>
                <a:latin typeface="Microsoft YaHei"/>
                <a:ea typeface="Microsoft YaHei"/>
              </a:rPr>
              <a:t>W06 · CONCEPTUAL VS. DESIGN</a:t>
            </a:r>
            <a:endParaRPr/>
          </a:p>
        </p:txBody>
      </p:sp>
      <p:sp>
        <p:nvSpPr>
          <p:cNvPr id="862" name="" descr="{&quot;isTemplate&quot;:true,&quot;type&quot;:&quot;text&quot;}"/>
          <p:cNvSpPr txBox="1"/>
          <p:nvPr/>
        </p:nvSpPr>
        <p:spPr>
          <a:xfrm rot="0" flipH="0" flipV="0">
            <a:off x="381000" y="809625"/>
            <a:ext cx="4352925" cy="333375"/>
          </a:xfrm>
          <a:prstGeom prst="rect"/>
        </p:spPr>
        <p:txBody>
          <a:bodyPr wrap="none" lIns="0" tIns="0" rIns="0" bIns="0"/>
          <a:p>
            <a:pPr>
              <a:lnSpc>
                <a:spcPct val="100000"/>
              </a:lnSpc>
            </a:pPr>
            <a:r>
              <a:rPr lang="en-US" sz="2175" b="1">
                <a:solidFill>
                  <a:srgbClr val="0E3F8C"/>
                </a:solidFill>
                <a:latin typeface="Microsoft YaHei"/>
                <a:ea typeface="Microsoft YaHei"/>
              </a:rPr>
              <a:t>Analysis Model vs. Design Model</a:t>
            </a:r>
            <a:endParaRPr/>
          </a:p>
        </p:txBody>
      </p:sp>
      <p:sp>
        <p:nvSpPr>
          <p:cNvPr id="863"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09 / 39</a:t>
            </a:r>
            <a:endParaRPr/>
          </a:p>
        </p:txBody>
      </p:sp>
      <p:sp>
        <p:nvSpPr>
          <p:cNvPr id="864" name=""/>
          <p:cNvSpPr/>
          <p:nvPr/>
        </p:nvSpPr>
        <p:spPr>
          <a:xfrm rot="0" flipH="0" flipV="0">
            <a:off x="381000" y="1238250"/>
            <a:ext cx="4848225" cy="419100"/>
          </a:xfrm>
          <a:prstGeom prst="roundRect">
            <a:avLst>
              <a:gd name="adj" fmla="val 20455"/>
            </a:avLst>
          </a:prstGeom>
          <a:solidFill>
            <a:srgbClr val="F0F5FC"/>
          </a:solidFill>
          <a:ln/>
        </p:spPr>
        <p:txBody>
          <a:bodyPr/>
          <a:p/>
        </p:txBody>
      </p:sp>
      <p:sp>
        <p:nvSpPr>
          <p:cNvPr id="865" name="" descr="{&quot;isTemplate&quot;:true,&quot;type&quot;:&quot;text&quot;}"/>
          <p:cNvSpPr txBox="1"/>
          <p:nvPr/>
        </p:nvSpPr>
        <p:spPr>
          <a:xfrm rot="0" flipH="0" flipV="0">
            <a:off x="552450" y="1352550"/>
            <a:ext cx="4505325" cy="190500"/>
          </a:xfrm>
          <a:prstGeom prst="rect"/>
        </p:spPr>
        <p:txBody>
          <a:bodyPr wrap="none" lIns="0" tIns="0" rIns="0" bIns="0"/>
          <a:p>
            <a:pPr>
              <a:lnSpc>
                <a:spcPct val="100000"/>
              </a:lnSpc>
            </a:pPr>
            <a:r>
              <a:rPr lang="en-US" sz="1200" b="1">
                <a:solidFill>
                  <a:srgbClr val="0E3F8C"/>
                </a:solidFill>
                <a:latin typeface="Microsoft YaHei"/>
                <a:ea typeface="Microsoft YaHei"/>
              </a:rPr>
              <a:t>Analysis model — W06 to W09</a:t>
            </a:r>
            <a:endParaRPr/>
          </a:p>
        </p:txBody>
      </p:sp>
      <p:sp>
        <p:nvSpPr>
          <p:cNvPr id="866" name=""/>
          <p:cNvSpPr/>
          <p:nvPr/>
        </p:nvSpPr>
        <p:spPr>
          <a:xfrm rot="0" flipH="0" flipV="0">
            <a:off x="381000" y="1771650"/>
            <a:ext cx="4848225" cy="676275"/>
          </a:xfrm>
          <a:prstGeom prst="roundRect">
            <a:avLst>
              <a:gd name="adj" fmla="val 11268"/>
            </a:avLst>
          </a:prstGeom>
          <a:solidFill>
            <a:srgbClr val="FFFFFF"/>
          </a:solidFill>
          <a:ln w="12700">
            <a:solidFill>
              <a:srgbClr val="E5E7EB"/>
            </a:solidFill>
            <a:prstDash val="solid"/>
          </a:ln>
        </p:spPr>
        <p:txBody>
          <a:bodyPr/>
          <a:p/>
        </p:txBody>
      </p:sp>
      <p:sp>
        <p:nvSpPr>
          <p:cNvPr id="867" name="" descr="{&quot;isTemplate&quot;:true,&quot;type&quot;:&quot;text&quot;}"/>
          <p:cNvSpPr txBox="1"/>
          <p:nvPr/>
        </p:nvSpPr>
        <p:spPr>
          <a:xfrm rot="0" flipH="0" flipV="0">
            <a:off x="533400" y="1885950"/>
            <a:ext cx="4543425" cy="247650"/>
          </a:xfrm>
          <a:prstGeom prst="rect"/>
        </p:spPr>
        <p:txBody>
          <a:bodyPr wrap="none" lIns="0" tIns="0" rIns="0" bIns="0"/>
          <a:p>
            <a:pPr>
              <a:lnSpc>
                <a:spcPct val="150000"/>
              </a:lnSpc>
            </a:pPr>
            <a:r>
              <a:rPr lang="en-US" sz="1050">
                <a:solidFill>
                  <a:srgbClr val="4A5568"/>
                </a:solidFill>
                <a:latin typeface="Microsoft YaHei"/>
                <a:ea typeface="Microsoft YaHei"/>
              </a:rPr>
              <a:t>Models the problem the client described</a:t>
            </a:r>
            <a:endParaRPr/>
          </a:p>
        </p:txBody>
      </p:sp>
      <p:sp>
        <p:nvSpPr>
          <p:cNvPr id="868" name=""/>
          <p:cNvSpPr/>
          <p:nvPr/>
        </p:nvSpPr>
        <p:spPr>
          <a:xfrm rot="0" flipH="0" flipV="0">
            <a:off x="381000" y="2562225"/>
            <a:ext cx="4848225" cy="685800"/>
          </a:xfrm>
          <a:prstGeom prst="roundRect">
            <a:avLst>
              <a:gd name="adj" fmla="val 11111"/>
            </a:avLst>
          </a:prstGeom>
          <a:solidFill>
            <a:srgbClr val="FFFFFF"/>
          </a:solidFill>
          <a:ln w="12700">
            <a:solidFill>
              <a:srgbClr val="E5E7EB"/>
            </a:solidFill>
            <a:prstDash val="solid"/>
          </a:ln>
        </p:spPr>
        <p:txBody>
          <a:bodyPr/>
          <a:p/>
        </p:txBody>
      </p:sp>
      <p:sp>
        <p:nvSpPr>
          <p:cNvPr id="869" name="" descr="{&quot;isTemplate&quot;:true,&quot;type&quot;:&quot;text&quot;}"/>
          <p:cNvSpPr txBox="1"/>
          <p:nvPr/>
        </p:nvSpPr>
        <p:spPr>
          <a:xfrm rot="0" flipH="0" flipV="0">
            <a:off x="533400" y="2676525"/>
            <a:ext cx="4543425" cy="247650"/>
          </a:xfrm>
          <a:prstGeom prst="rect"/>
        </p:spPr>
        <p:txBody>
          <a:bodyPr wrap="none" lIns="0" tIns="0" rIns="0" bIns="0"/>
          <a:p>
            <a:pPr>
              <a:lnSpc>
                <a:spcPct val="150000"/>
              </a:lnSpc>
            </a:pPr>
            <a:r>
              <a:rPr lang="en-US" sz="1050">
                <a:solidFill>
                  <a:srgbClr val="4A5568"/>
                </a:solidFill>
                <a:latin typeface="Microsoft YaHei"/>
                <a:ea typeface="Microsoft YaHei"/>
              </a:rPr>
              <a:t>Classes come from nouns in the specifications</a:t>
            </a:r>
            <a:endParaRPr/>
          </a:p>
        </p:txBody>
      </p:sp>
      <p:sp>
        <p:nvSpPr>
          <p:cNvPr id="870" name=""/>
          <p:cNvSpPr/>
          <p:nvPr/>
        </p:nvSpPr>
        <p:spPr>
          <a:xfrm rot="0" flipH="0" flipV="0">
            <a:off x="381000" y="3362325"/>
            <a:ext cx="4848225" cy="676275"/>
          </a:xfrm>
          <a:prstGeom prst="roundRect">
            <a:avLst>
              <a:gd name="adj" fmla="val 11268"/>
            </a:avLst>
          </a:prstGeom>
          <a:solidFill>
            <a:srgbClr val="FFFFFF"/>
          </a:solidFill>
          <a:ln w="12700">
            <a:solidFill>
              <a:srgbClr val="E5E7EB"/>
            </a:solidFill>
            <a:prstDash val="solid"/>
          </a:ln>
        </p:spPr>
        <p:txBody>
          <a:bodyPr/>
          <a:p/>
        </p:txBody>
      </p:sp>
      <p:sp>
        <p:nvSpPr>
          <p:cNvPr id="871" name="" descr="{&quot;isTemplate&quot;:true,&quot;type&quot;:&quot;text&quot;}"/>
          <p:cNvSpPr txBox="1"/>
          <p:nvPr/>
        </p:nvSpPr>
        <p:spPr>
          <a:xfrm rot="0" flipH="0" flipV="0">
            <a:off x="533400" y="3476625"/>
            <a:ext cx="4543425" cy="247650"/>
          </a:xfrm>
          <a:prstGeom prst="rect"/>
        </p:spPr>
        <p:txBody>
          <a:bodyPr wrap="none" lIns="0" tIns="0" rIns="0" bIns="0"/>
          <a:p>
            <a:pPr>
              <a:lnSpc>
                <a:spcPct val="150000"/>
              </a:lnSpc>
            </a:pPr>
            <a:r>
              <a:rPr lang="en-US" sz="1050">
                <a:solidFill>
                  <a:srgbClr val="4A5568"/>
                </a:solidFill>
                <a:latin typeface="Microsoft YaHei"/>
                <a:ea typeface="Microsoft YaHei"/>
              </a:rPr>
              <a:t>No technology, no framework, no language</a:t>
            </a:r>
            <a:endParaRPr/>
          </a:p>
        </p:txBody>
      </p:sp>
      <p:sp>
        <p:nvSpPr>
          <p:cNvPr id="872" name=""/>
          <p:cNvSpPr/>
          <p:nvPr/>
        </p:nvSpPr>
        <p:spPr>
          <a:xfrm rot="0" flipH="0" flipV="0">
            <a:off x="381000" y="4152900"/>
            <a:ext cx="4848225" cy="676275"/>
          </a:xfrm>
          <a:prstGeom prst="roundRect">
            <a:avLst>
              <a:gd name="adj" fmla="val 11268"/>
            </a:avLst>
          </a:prstGeom>
          <a:solidFill>
            <a:srgbClr val="FFFFFF"/>
          </a:solidFill>
          <a:ln w="12700">
            <a:solidFill>
              <a:srgbClr val="E5E7EB"/>
            </a:solidFill>
            <a:prstDash val="solid"/>
          </a:ln>
        </p:spPr>
        <p:txBody>
          <a:bodyPr/>
          <a:p/>
        </p:txBody>
      </p:sp>
      <p:sp>
        <p:nvSpPr>
          <p:cNvPr id="873" name="" descr="{&quot;isTemplate&quot;:true,&quot;type&quot;:&quot;text&quot;}"/>
          <p:cNvSpPr txBox="1"/>
          <p:nvPr/>
        </p:nvSpPr>
        <p:spPr>
          <a:xfrm rot="0" flipH="0" flipV="0">
            <a:off x="533400" y="4267200"/>
            <a:ext cx="4543425" cy="247650"/>
          </a:xfrm>
          <a:prstGeom prst="rect"/>
        </p:spPr>
        <p:txBody>
          <a:bodyPr wrap="none" lIns="0" tIns="0" rIns="0" bIns="0"/>
          <a:p>
            <a:pPr>
              <a:lnSpc>
                <a:spcPct val="150000"/>
              </a:lnSpc>
            </a:pPr>
            <a:r>
              <a:rPr lang="en-US" sz="1050">
                <a:solidFill>
                  <a:srgbClr val="4A5568"/>
                </a:solidFill>
                <a:latin typeface="Microsoft YaHei"/>
                <a:ea typeface="Microsoft YaHei"/>
              </a:rPr>
              <a:t>Answers: what does the system have to know about?</a:t>
            </a:r>
            <a:endParaRPr/>
          </a:p>
        </p:txBody>
      </p:sp>
      <p:sp>
        <p:nvSpPr>
          <p:cNvPr id="874" name=""/>
          <p:cNvSpPr/>
          <p:nvPr/>
        </p:nvSpPr>
        <p:spPr>
          <a:xfrm rot="0" flipH="0" flipV="0">
            <a:off x="381000" y="4943475"/>
            <a:ext cx="4848225" cy="685800"/>
          </a:xfrm>
          <a:prstGeom prst="roundRect">
            <a:avLst>
              <a:gd name="adj" fmla="val 11111"/>
            </a:avLst>
          </a:prstGeom>
          <a:solidFill>
            <a:srgbClr val="FFFFFF"/>
          </a:solidFill>
          <a:ln w="12700">
            <a:solidFill>
              <a:srgbClr val="E5E7EB"/>
            </a:solidFill>
            <a:prstDash val="solid"/>
          </a:ln>
        </p:spPr>
        <p:txBody>
          <a:bodyPr/>
          <a:p/>
        </p:txBody>
      </p:sp>
      <p:sp>
        <p:nvSpPr>
          <p:cNvPr id="875" name="" descr="{&quot;isTemplate&quot;:true,&quot;type&quot;:&quot;text&quot;}"/>
          <p:cNvSpPr txBox="1"/>
          <p:nvPr/>
        </p:nvSpPr>
        <p:spPr>
          <a:xfrm rot="0" flipH="0" flipV="0">
            <a:off x="533400" y="5057775"/>
            <a:ext cx="4543425" cy="247650"/>
          </a:xfrm>
          <a:prstGeom prst="rect"/>
        </p:spPr>
        <p:txBody>
          <a:bodyPr wrap="none" lIns="0" tIns="0" rIns="0" bIns="0"/>
          <a:p>
            <a:pPr>
              <a:lnSpc>
                <a:spcPct val="150000"/>
              </a:lnSpc>
            </a:pPr>
            <a:r>
              <a:rPr lang="en-US" sz="1050">
                <a:solidFill>
                  <a:srgbClr val="4A5568"/>
                </a:solidFill>
                <a:latin typeface="Microsoft YaHei"/>
                <a:ea typeface="Microsoft YaHei"/>
              </a:rPr>
              <a:t>Reviewed with the client, who does not care about your stack</a:t>
            </a:r>
            <a:endParaRPr/>
          </a:p>
        </p:txBody>
      </p:sp>
      <p:sp>
        <p:nvSpPr>
          <p:cNvPr id="876" name=""/>
          <p:cNvSpPr/>
          <p:nvPr/>
        </p:nvSpPr>
        <p:spPr>
          <a:xfrm rot="0" flipH="0" flipV="0">
            <a:off x="381000" y="5743575"/>
            <a:ext cx="4848225" cy="676275"/>
          </a:xfrm>
          <a:prstGeom prst="roundRect">
            <a:avLst>
              <a:gd name="adj" fmla="val 11268"/>
            </a:avLst>
          </a:prstGeom>
          <a:solidFill>
            <a:srgbClr val="FFFFFF"/>
          </a:solidFill>
          <a:ln w="12700">
            <a:solidFill>
              <a:srgbClr val="E5E7EB"/>
            </a:solidFill>
            <a:prstDash val="solid"/>
          </a:ln>
        </p:spPr>
        <p:txBody>
          <a:bodyPr/>
          <a:p/>
        </p:txBody>
      </p:sp>
      <p:sp>
        <p:nvSpPr>
          <p:cNvPr id="877" name="" descr="{&quot;isTemplate&quot;:true,&quot;type&quot;:&quot;text&quot;}"/>
          <p:cNvSpPr txBox="1"/>
          <p:nvPr/>
        </p:nvSpPr>
        <p:spPr>
          <a:xfrm rot="0" flipH="0" flipV="0">
            <a:off x="533400" y="5857875"/>
            <a:ext cx="4543425" cy="247650"/>
          </a:xfrm>
          <a:prstGeom prst="rect"/>
        </p:spPr>
        <p:txBody>
          <a:bodyPr wrap="none" lIns="0" tIns="0" rIns="0" bIns="0"/>
          <a:p>
            <a:pPr>
              <a:lnSpc>
                <a:spcPct val="150000"/>
              </a:lnSpc>
            </a:pPr>
            <a:r>
              <a:rPr lang="en-US" sz="1050">
                <a:solidFill>
                  <a:srgbClr val="4A5568"/>
                </a:solidFill>
                <a:latin typeface="Microsoft YaHei"/>
                <a:ea typeface="Microsoft YaHei"/>
              </a:rPr>
              <a:t>Changes when the requirements change</a:t>
            </a:r>
            <a:endParaRPr/>
          </a:p>
        </p:txBody>
      </p:sp>
      <p:sp>
        <p:nvSpPr>
          <p:cNvPr id="878" name=""/>
          <p:cNvSpPr/>
          <p:nvPr/>
        </p:nvSpPr>
        <p:spPr>
          <a:xfrm rot="0" flipH="0" flipV="0">
            <a:off x="5838825" y="3571875"/>
            <a:ext cx="514350" cy="514350"/>
          </a:xfrm>
          <a:prstGeom prst="roundRect">
            <a:avLst>
              <a:gd name="adj" fmla="val 50000"/>
            </a:avLst>
          </a:prstGeom>
          <a:solidFill>
            <a:srgbClr val="1E4FA8"/>
          </a:solidFill>
          <a:ln/>
        </p:spPr>
        <p:txBody>
          <a:bodyPr/>
          <a:p/>
        </p:txBody>
      </p:sp>
      <p:sp>
        <p:nvSpPr>
          <p:cNvPr id="879" name="" descr="{&quot;isTemplate&quot;:true,&quot;type&quot;:&quot;text&quot;}"/>
          <p:cNvSpPr txBox="1"/>
          <p:nvPr/>
        </p:nvSpPr>
        <p:spPr>
          <a:xfrm rot="0" flipH="0" flipV="0">
            <a:off x="5972175" y="3676650"/>
            <a:ext cx="247650" cy="304800"/>
          </a:xfrm>
          <a:prstGeom prst="rect"/>
        </p:spPr>
        <p:txBody>
          <a:bodyPr wrap="none" lIns="0" tIns="0" rIns="0" bIns="0"/>
          <a:p>
            <a:pPr>
              <a:lnSpc>
                <a:spcPct val="100000"/>
              </a:lnSpc>
            </a:pPr>
            <a:r>
              <a:rPr sz="1950" b="1">
                <a:solidFill>
                  <a:srgbClr val="FFFFFF"/>
                </a:solidFill>
                <a:latin typeface="Microsoft YaHei"/>
                <a:ea typeface="Microsoft YaHei"/>
              </a:rPr>
              <a:t>→</a:t>
            </a:r>
            <a:endParaRPr/>
          </a:p>
        </p:txBody>
      </p:sp>
      <p:sp>
        <p:nvSpPr>
          <p:cNvPr id="880" name=""/>
          <p:cNvSpPr/>
          <p:nvPr/>
        </p:nvSpPr>
        <p:spPr>
          <a:xfrm rot="0" flipH="0" flipV="0">
            <a:off x="6962775" y="1238250"/>
            <a:ext cx="4848225" cy="419100"/>
          </a:xfrm>
          <a:prstGeom prst="roundRect">
            <a:avLst>
              <a:gd name="adj" fmla="val 20455"/>
            </a:avLst>
          </a:prstGeom>
          <a:solidFill>
            <a:srgbClr val="FDF3F3"/>
          </a:solidFill>
          <a:ln/>
        </p:spPr>
        <p:txBody>
          <a:bodyPr/>
          <a:p/>
        </p:txBody>
      </p:sp>
      <p:sp>
        <p:nvSpPr>
          <p:cNvPr id="881" name="" descr="{&quot;isTemplate&quot;:true,&quot;type&quot;:&quot;text&quot;}"/>
          <p:cNvSpPr txBox="1"/>
          <p:nvPr/>
        </p:nvSpPr>
        <p:spPr>
          <a:xfrm rot="0" flipH="0" flipV="0">
            <a:off x="7134225" y="1352550"/>
            <a:ext cx="4505325" cy="190500"/>
          </a:xfrm>
          <a:prstGeom prst="rect"/>
        </p:spPr>
        <p:txBody>
          <a:bodyPr wrap="none" lIns="0" tIns="0" rIns="0" bIns="0"/>
          <a:p>
            <a:pPr>
              <a:lnSpc>
                <a:spcPct val="100000"/>
              </a:lnSpc>
            </a:pPr>
            <a:r>
              <a:rPr lang="en-US" sz="1200" b="1">
                <a:solidFill>
                  <a:srgbClr val="D9534F"/>
                </a:solidFill>
                <a:latin typeface="Microsoft YaHei"/>
                <a:ea typeface="Microsoft YaHei"/>
              </a:rPr>
              <a:t>Design model — W10 onward</a:t>
            </a:r>
            <a:endParaRPr/>
          </a:p>
        </p:txBody>
      </p:sp>
      <p:sp>
        <p:nvSpPr>
          <p:cNvPr id="882" name=""/>
          <p:cNvSpPr/>
          <p:nvPr/>
        </p:nvSpPr>
        <p:spPr>
          <a:xfrm rot="0" flipH="0" flipV="0">
            <a:off x="6962775" y="1771650"/>
            <a:ext cx="4848225" cy="676275"/>
          </a:xfrm>
          <a:prstGeom prst="roundRect">
            <a:avLst>
              <a:gd name="adj" fmla="val 11268"/>
            </a:avLst>
          </a:prstGeom>
          <a:solidFill>
            <a:srgbClr val="FFFFFF"/>
          </a:solidFill>
          <a:ln w="12700">
            <a:solidFill>
              <a:srgbClr val="E5E7EB"/>
            </a:solidFill>
            <a:prstDash val="solid"/>
          </a:ln>
        </p:spPr>
        <p:txBody>
          <a:bodyPr/>
          <a:p/>
        </p:txBody>
      </p:sp>
      <p:sp>
        <p:nvSpPr>
          <p:cNvPr id="883" name="" descr="{&quot;isTemplate&quot;:true,&quot;type&quot;:&quot;text&quot;}"/>
          <p:cNvSpPr txBox="1"/>
          <p:nvPr/>
        </p:nvSpPr>
        <p:spPr>
          <a:xfrm rot="0" flipH="0" flipV="0">
            <a:off x="7115175" y="1885950"/>
            <a:ext cx="4543425" cy="247650"/>
          </a:xfrm>
          <a:prstGeom prst="rect"/>
        </p:spPr>
        <p:txBody>
          <a:bodyPr wrap="none" lIns="0" tIns="0" rIns="0" bIns="0"/>
          <a:p>
            <a:pPr>
              <a:lnSpc>
                <a:spcPct val="150000"/>
              </a:lnSpc>
            </a:pPr>
            <a:r>
              <a:rPr lang="en-US" sz="1050">
                <a:solidFill>
                  <a:srgbClr val="4A5568"/>
                </a:solidFill>
                <a:latin typeface="Microsoft YaHei"/>
                <a:ea typeface="Microsoft YaHei"/>
              </a:rPr>
              <a:t>Models the solution the team will build</a:t>
            </a:r>
            <a:endParaRPr/>
          </a:p>
        </p:txBody>
      </p:sp>
      <p:sp>
        <p:nvSpPr>
          <p:cNvPr id="884" name=""/>
          <p:cNvSpPr/>
          <p:nvPr/>
        </p:nvSpPr>
        <p:spPr>
          <a:xfrm rot="0" flipH="0" flipV="0">
            <a:off x="6962775" y="2562225"/>
            <a:ext cx="4848225" cy="685800"/>
          </a:xfrm>
          <a:prstGeom prst="roundRect">
            <a:avLst>
              <a:gd name="adj" fmla="val 11111"/>
            </a:avLst>
          </a:prstGeom>
          <a:solidFill>
            <a:srgbClr val="FFFFFF"/>
          </a:solidFill>
          <a:ln w="12700">
            <a:solidFill>
              <a:srgbClr val="E5E7EB"/>
            </a:solidFill>
            <a:prstDash val="solid"/>
          </a:ln>
        </p:spPr>
        <p:txBody>
          <a:bodyPr/>
          <a:p/>
        </p:txBody>
      </p:sp>
      <p:sp>
        <p:nvSpPr>
          <p:cNvPr id="885" name="" descr="{&quot;isTemplate&quot;:true,&quot;type&quot;:&quot;text&quot;}"/>
          <p:cNvSpPr txBox="1"/>
          <p:nvPr/>
        </p:nvSpPr>
        <p:spPr>
          <a:xfrm rot="0" flipH="0" flipV="0">
            <a:off x="7115175" y="2676525"/>
            <a:ext cx="4543425" cy="247650"/>
          </a:xfrm>
          <a:prstGeom prst="rect"/>
        </p:spPr>
        <p:txBody>
          <a:bodyPr wrap="none" lIns="0" tIns="0" rIns="0" bIns="0"/>
          <a:p>
            <a:pPr>
              <a:lnSpc>
                <a:spcPct val="150000"/>
              </a:lnSpc>
            </a:pPr>
            <a:r>
              <a:rPr lang="en-US" sz="1050">
                <a:solidFill>
                  <a:srgbClr val="4A5568"/>
                </a:solidFill>
                <a:latin typeface="Microsoft YaHei"/>
                <a:ea typeface="Microsoft YaHei"/>
              </a:rPr>
              <a:t>Classes come from reuse, framework and interfaces</a:t>
            </a:r>
            <a:endParaRPr/>
          </a:p>
        </p:txBody>
      </p:sp>
      <p:sp>
        <p:nvSpPr>
          <p:cNvPr id="886" name=""/>
          <p:cNvSpPr/>
          <p:nvPr/>
        </p:nvSpPr>
        <p:spPr>
          <a:xfrm rot="0" flipH="0" flipV="0">
            <a:off x="6962775" y="3362325"/>
            <a:ext cx="4848225" cy="676275"/>
          </a:xfrm>
          <a:prstGeom prst="roundRect">
            <a:avLst>
              <a:gd name="adj" fmla="val 11268"/>
            </a:avLst>
          </a:prstGeom>
          <a:solidFill>
            <a:srgbClr val="FFFFFF"/>
          </a:solidFill>
          <a:ln w="12700">
            <a:solidFill>
              <a:srgbClr val="E5E7EB"/>
            </a:solidFill>
            <a:prstDash val="solid"/>
          </a:ln>
        </p:spPr>
        <p:txBody>
          <a:bodyPr/>
          <a:p/>
        </p:txBody>
      </p:sp>
      <p:sp>
        <p:nvSpPr>
          <p:cNvPr id="887" name="" descr="{&quot;isTemplate&quot;:true,&quot;type&quot;:&quot;text&quot;}"/>
          <p:cNvSpPr txBox="1"/>
          <p:nvPr/>
        </p:nvSpPr>
        <p:spPr>
          <a:xfrm rot="0" flipH="0" flipV="0">
            <a:off x="7115175" y="3476625"/>
            <a:ext cx="4543425" cy="247650"/>
          </a:xfrm>
          <a:prstGeom prst="rect"/>
        </p:spPr>
        <p:txBody>
          <a:bodyPr wrap="none" lIns="0" tIns="0" rIns="0" bIns="0"/>
          <a:p>
            <a:pPr>
              <a:lnSpc>
                <a:spcPct val="150000"/>
              </a:lnSpc>
            </a:pPr>
            <a:r>
              <a:rPr lang="en-US" sz="1050">
                <a:solidFill>
                  <a:srgbClr val="4A5568"/>
                </a:solidFill>
                <a:latin typeface="Microsoft YaHei"/>
                <a:ea typeface="Microsoft YaHei"/>
              </a:rPr>
              <a:t>Names end in Service, Controller, Repository, DTO</a:t>
            </a:r>
            <a:endParaRPr/>
          </a:p>
        </p:txBody>
      </p:sp>
      <p:sp>
        <p:nvSpPr>
          <p:cNvPr id="888" name=""/>
          <p:cNvSpPr/>
          <p:nvPr/>
        </p:nvSpPr>
        <p:spPr>
          <a:xfrm rot="0" flipH="0" flipV="0">
            <a:off x="6962775" y="4152900"/>
            <a:ext cx="4848225" cy="676275"/>
          </a:xfrm>
          <a:prstGeom prst="roundRect">
            <a:avLst>
              <a:gd name="adj" fmla="val 11268"/>
            </a:avLst>
          </a:prstGeom>
          <a:solidFill>
            <a:srgbClr val="FFFFFF"/>
          </a:solidFill>
          <a:ln w="12700">
            <a:solidFill>
              <a:srgbClr val="E5E7EB"/>
            </a:solidFill>
            <a:prstDash val="solid"/>
          </a:ln>
        </p:spPr>
        <p:txBody>
          <a:bodyPr/>
          <a:p/>
        </p:txBody>
      </p:sp>
      <p:sp>
        <p:nvSpPr>
          <p:cNvPr id="889" name="" descr="{&quot;isTemplate&quot;:true,&quot;type&quot;:&quot;text&quot;}"/>
          <p:cNvSpPr txBox="1"/>
          <p:nvPr/>
        </p:nvSpPr>
        <p:spPr>
          <a:xfrm rot="0" flipH="0" flipV="0">
            <a:off x="7115175" y="4267200"/>
            <a:ext cx="4543425" cy="247650"/>
          </a:xfrm>
          <a:prstGeom prst="rect"/>
        </p:spPr>
        <p:txBody>
          <a:bodyPr wrap="none" lIns="0" tIns="0" rIns="0" bIns="0"/>
          <a:p>
            <a:pPr>
              <a:lnSpc>
                <a:spcPct val="150000"/>
              </a:lnSpc>
            </a:pPr>
            <a:r>
              <a:rPr lang="en-US" sz="1050">
                <a:solidFill>
                  <a:srgbClr val="4A5568"/>
                </a:solidFill>
                <a:latin typeface="Microsoft YaHei"/>
                <a:ea typeface="Microsoft YaHei"/>
              </a:rPr>
              <a:t>Answers: how will the machine do it?</a:t>
            </a:r>
            <a:endParaRPr/>
          </a:p>
        </p:txBody>
      </p:sp>
      <p:sp>
        <p:nvSpPr>
          <p:cNvPr id="890" name=""/>
          <p:cNvSpPr/>
          <p:nvPr/>
        </p:nvSpPr>
        <p:spPr>
          <a:xfrm rot="0" flipH="0" flipV="0">
            <a:off x="6962775" y="4943475"/>
            <a:ext cx="4848225" cy="685800"/>
          </a:xfrm>
          <a:prstGeom prst="roundRect">
            <a:avLst>
              <a:gd name="adj" fmla="val 11111"/>
            </a:avLst>
          </a:prstGeom>
          <a:solidFill>
            <a:srgbClr val="FFFFFF"/>
          </a:solidFill>
          <a:ln w="12700">
            <a:solidFill>
              <a:srgbClr val="E5E7EB"/>
            </a:solidFill>
            <a:prstDash val="solid"/>
          </a:ln>
        </p:spPr>
        <p:txBody>
          <a:bodyPr/>
          <a:p/>
        </p:txBody>
      </p:sp>
      <p:sp>
        <p:nvSpPr>
          <p:cNvPr id="891" name="" descr="{&quot;isTemplate&quot;:true,&quot;type&quot;:&quot;text&quot;}"/>
          <p:cNvSpPr txBox="1"/>
          <p:nvPr/>
        </p:nvSpPr>
        <p:spPr>
          <a:xfrm rot="0" flipH="0" flipV="0">
            <a:off x="7115175" y="5057775"/>
            <a:ext cx="4543425" cy="247650"/>
          </a:xfrm>
          <a:prstGeom prst="rect"/>
        </p:spPr>
        <p:txBody>
          <a:bodyPr wrap="none" lIns="0" tIns="0" rIns="0" bIns="0"/>
          <a:p>
            <a:pPr>
              <a:lnSpc>
                <a:spcPct val="150000"/>
              </a:lnSpc>
            </a:pPr>
            <a:r>
              <a:rPr lang="en-US" sz="1050">
                <a:solidFill>
                  <a:srgbClr val="4A5568"/>
                </a:solidFill>
                <a:latin typeface="Microsoft YaHei"/>
                <a:ea typeface="Microsoft YaHei"/>
              </a:rPr>
              <a:t>Reviewed by the team, who do care about your stack</a:t>
            </a:r>
            <a:endParaRPr/>
          </a:p>
        </p:txBody>
      </p:sp>
      <p:sp>
        <p:nvSpPr>
          <p:cNvPr id="892" name=""/>
          <p:cNvSpPr/>
          <p:nvPr/>
        </p:nvSpPr>
        <p:spPr>
          <a:xfrm rot="0" flipH="0" flipV="0">
            <a:off x="6962775" y="5743575"/>
            <a:ext cx="4848225" cy="676275"/>
          </a:xfrm>
          <a:prstGeom prst="roundRect">
            <a:avLst>
              <a:gd name="adj" fmla="val 11268"/>
            </a:avLst>
          </a:prstGeom>
          <a:solidFill>
            <a:srgbClr val="FFFFFF"/>
          </a:solidFill>
          <a:ln w="12700">
            <a:solidFill>
              <a:srgbClr val="E5E7EB"/>
            </a:solidFill>
            <a:prstDash val="solid"/>
          </a:ln>
        </p:spPr>
        <p:txBody>
          <a:bodyPr/>
          <a:p/>
        </p:txBody>
      </p:sp>
      <p:sp>
        <p:nvSpPr>
          <p:cNvPr id="893" name="" descr="{&quot;isTemplate&quot;:true,&quot;type&quot;:&quot;text&quot;}"/>
          <p:cNvSpPr txBox="1"/>
          <p:nvPr/>
        </p:nvSpPr>
        <p:spPr>
          <a:xfrm rot="0" flipH="0" flipV="0">
            <a:off x="7115175" y="5857875"/>
            <a:ext cx="4543425" cy="247650"/>
          </a:xfrm>
          <a:prstGeom prst="rect"/>
        </p:spPr>
        <p:txBody>
          <a:bodyPr wrap="none" lIns="0" tIns="0" rIns="0" bIns="0"/>
          <a:p>
            <a:pPr>
              <a:lnSpc>
                <a:spcPct val="150000"/>
              </a:lnSpc>
            </a:pPr>
            <a:r>
              <a:rPr lang="en-US" sz="1050">
                <a:solidFill>
                  <a:srgbClr val="4A5568"/>
                </a:solidFill>
                <a:latin typeface="Microsoft YaHei"/>
                <a:ea typeface="Microsoft YaHei"/>
              </a:rPr>
              <a:t>Changes when the technology changes — much more often</a:t>
            </a:r>
            <a:endParaRPr/>
          </a:p>
        </p:txBody>
      </p:sp>
      <p:sp>
        <p:nvSpPr>
          <p:cNvPr id="894" name=""/>
          <p:cNvSpPr/>
          <p:nvPr/>
        </p:nvSpPr>
        <p:spPr>
          <a:xfrm rot="0" flipH="0" flipV="0">
            <a:off x="0" y="6419850"/>
            <a:ext cx="12192000" cy="438150"/>
          </a:xfrm>
          <a:prstGeom prst="rect">
            <a:avLst/>
          </a:prstGeom>
          <a:solidFill>
            <a:srgbClr val="0E3F8C"/>
          </a:solidFill>
          <a:ln/>
        </p:spPr>
        <p:txBody>
          <a:bodyPr/>
          <a:p/>
        </p:txBody>
      </p:sp>
      <p:sp>
        <p:nvSpPr>
          <p:cNvPr id="895" name="" descr="{&quot;isTemplate&quot;:true,&quot;type&quot;:&quot;text&quot;}"/>
          <p:cNvSpPr txBox="1"/>
          <p:nvPr/>
        </p:nvSpPr>
        <p:spPr>
          <a:xfrm rot="0" flipH="0" flipV="0">
            <a:off x="1838325" y="6543675"/>
            <a:ext cx="8515350" cy="190500"/>
          </a:xfrm>
          <a:prstGeom prst="rect"/>
        </p:spPr>
        <p:txBody>
          <a:bodyPr wrap="none" lIns="0" tIns="0" rIns="0" bIns="0"/>
          <a:p>
            <a:pPr>
              <a:lnSpc>
                <a:spcPct val="100000"/>
              </a:lnSpc>
            </a:pPr>
            <a:r>
              <a:rPr lang="en-US" sz="1238" b="1">
                <a:solidFill>
                  <a:srgbClr val="FFFFFF"/>
                </a:solidFill>
                <a:latin typeface="Microsoft YaHei"/>
                <a:ea typeface="Microsoft YaHei"/>
              </a:rPr>
              <a:t>If your class diagram would still make sense in a different programming language, you have drawn the right thing.</a:t>
            </a:r>
            <a:endParaRPr/>
          </a:p>
        </p:txBody>
      </p:sp>
    </p:spTree>
  </p:cSld>
</p:sld>
</file>

<file path=ppt/slides/slide10.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15"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6 · CONCEPTUAL VS. DESIGN&lt;/Text&gt;&#10;  &lt;/Box&gt;&#10;  &lt;Box style={{ padding: '13px 40px 0 40px', flexDirection: 'row', alignItems: 'center', justifyContent: 'space-between' }}&gt;&#10;    &lt;Text style={{ fontSize: 29, fontWeight: 'bold', color: '#0E3F8C' }}&gt;Three Wrong Reasons to Add a Class&lt;/Text&gt;&#10;    &lt;Text style={{ fontSize: 14, color: '#1E4FA8', fontWeight: 'bold' }}&gt;10 / 39&lt;/Text&gt;&#10;  &lt;/Box&gt;&#10;  &lt;Box style={{ flex: 1, padding: '10px 40px 0 40px' }}&gt;&#10;    &lt;Table&#10;      style={{ width: '100%', height: '100%' }}&#10;      defaultTextStyle={{ fontSize: 13.5, textAlign: 'left', color: '#1A2230' }}&#10;      defaultCellStyle={{&#10;        border: {&#10;          left: { width: 1, color: '#E5E7EB' },&#10;          right: { width: 1, color: '#E5E7EB' },&#10;          top: { width: 1, color: '#E5E7EB' },&#10;          bottom: { width: 1, color: '#E5E7EB' },&#10;        },&#10;      }}&#10;      cells={[&#10;        [&#10;          { text: 'The reason given', textStyle: { bold: true, color: '#FFFFFF', fontSize: 15 }, cellStyle: { background: { color: '#0E3F8C' } } },&#10;          { text: 'What it produces', textStyle: { bold: true, color: '#FFFFFF', fontSize: 15 }, cellStyle: { background: { color: '#8B3230' } } },&#10;          { text: 'What actually decides it', textStyle: { bold: true, color: '#FFFFFF', fontSize: 15 }, cellStyle: { background: { color: '#2B5793' } } },&#10;        ],&#10;        [&#10;          { text: '“We will need a class for that.”', textStyle: { bold: true, color: '#0E3F8C' }, cellStyle: { background: { color: '#F7F9FC' } } },&#10;          { text: 'OrderHelper, OrderUtils, OrderDTO, OrderInfo — four classes that all mean “Order”.', textStyle: { color: '#4A5568' }, cellStyle: { background: { color: '#F7F9FC' } } },&#10;          { text: 'Does it have identity and a sentence in a specification?', textStyle: { color: '#4A5568' }, cellStyle: { background: { color: '#F7F9FC' } } },&#10;        ],&#10;        [&#10;          { text: '“The database needs a table for it.”', textStyle: { bold: true, color: '#0E3F8C' } },&#10;          { text: 'Classes that exist only because a table exists. Relational and object models are not the same thing.', textStyle: { color: '#4A5568' } },&#10;          { text: 'Only whether the client cares about it as a thing.', textStyle: { color: '#4A5568' } },&#10;        ],&#10;        [&#10;          { text: '“Ten classes looks more professional.”', textStyle: { bold: true, color: '#0E3F8C' }, cellStyle: { background: { color: '#F7F9FC' } } },&#10;          { text: 'Padding. Nobody has ever been impressed by a class with no specification sentence.', textStyle: { color: '#4A5568' }, cellStyle: { background: { color: '#F7F9FC' } } },&#10;          { text: 'Nothing. This reason is not valid at any point in the project.', textStyle: { color: '#4A5568' }, cellStyle: { background: { color: '#F7F9FC' } } },&#10;        ],&#10;        [&#10;          { text: '“It needs behaviour, so it must be a class.”', textStyle: { bold: true, color: '#0E3F8C' } },&#10;          { text: 'Behaviour on a thing that has no identity — a “DiscountStrategy” born on page 4.', textStyle: { color: '#4A5568' } },&#10;          { text: 'Does the client name it? Can we point at one of them?', textStyle: { color: '#4A5568' } },&#10;        ],&#10;      ]}&#10;    /&gt;&#10;  &lt;/Box&gt;&#10;  &lt;Box style={{ height: 46, background: '#0E3F8C', padding: '0 40px', flexDirection: 'row', alignItems: 'center', justifyContent: 'center' }}&gt;&#10;    &lt;Text style={{ fontSize: 16.5, color: '#FFFFFF', fontWeight: '600' }}&gt;Every one of these three reasons is really the same reason: “it felt safer to add a box than to leave one out”.&lt;/Text&gt;&#10;  &lt;/Box&gt;&#10;&lt;/Slide&gt;&#10;"/>
        <p:cNvGrpSpPr/>
        <p:nvPr/>
      </p:nvGrpSpPr>
      <p:grpSpPr>
        <a:xfrm>
          <a:off x="0" y="0"/>
          <a:ext cx="0" cy="0"/>
          <a:chOff x="0" y="0"/>
          <a:chExt cx="0" cy="0"/>
        </a:xfrm>
      </p:grpSpPr>
      <p:sp>
        <p:nvSpPr>
          <p:cNvPr id="16" name=""/>
          <p:cNvSpPr/>
          <p:nvPr/>
        </p:nvSpPr>
        <p:spPr>
          <a:xfrm rot="0" flipH="0" flipV="0">
            <a:off x="0" y="0"/>
            <a:ext cx="12192000" cy="6858000"/>
          </a:xfrm>
          <a:prstGeom prst="rect">
            <a:avLst/>
          </a:prstGeom>
          <a:solidFill>
            <a:srgbClr val="FFFFFF"/>
          </a:solidFill>
          <a:ln/>
        </p:spPr>
        <p:txBody>
          <a:bodyPr/>
          <a:p/>
        </p:txBody>
      </p:sp>
      <p:sp>
        <p:nvSpPr>
          <p:cNvPr id="17" name=""/>
          <p:cNvSpPr/>
          <p:nvPr/>
        </p:nvSpPr>
        <p:spPr>
          <a:xfrm rot="0" flipH="0" flipV="0">
            <a:off x="0" y="0"/>
            <a:ext cx="12192000" cy="685800"/>
          </a:xfrm>
          <a:prstGeom prst="rect">
            <a:avLst/>
          </a:prstGeom>
          <a:solidFill>
            <a:srgbClr val="1E4FA8"/>
          </a:solidFill>
          <a:ln/>
        </p:spPr>
        <p:txBody>
          <a:bodyPr/>
          <a:p/>
        </p:txBody>
      </p:sp>
      <p:sp>
        <p:nvSpPr>
          <p:cNvPr id="18"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19" name="" descr="{&quot;isTemplate&quot;:true,&quot;type&quot;:&quot;text&quot;}"/>
          <p:cNvSpPr txBox="1"/>
          <p:nvPr/>
        </p:nvSpPr>
        <p:spPr>
          <a:xfrm rot="0" flipH="0" flipV="0">
            <a:off x="9553575" y="257175"/>
            <a:ext cx="2257425" cy="171450"/>
          </a:xfrm>
          <a:prstGeom prst="rect"/>
        </p:spPr>
        <p:txBody>
          <a:bodyPr wrap="none" lIns="0" tIns="0" rIns="0" bIns="0"/>
          <a:p>
            <a:pPr>
              <a:lnSpc>
                <a:spcPct val="100000"/>
              </a:lnSpc>
            </a:pPr>
            <a:r>
              <a:rPr lang="en-US" sz="1125">
                <a:solidFill>
                  <a:srgbClr val="B9CDF0"/>
                </a:solidFill>
                <a:latin typeface="Microsoft YaHei"/>
                <a:ea typeface="Microsoft YaHei"/>
              </a:rPr>
              <a:t>W06 · CONCEPTUAL VS. DESIGN</a:t>
            </a:r>
            <a:endParaRPr/>
          </a:p>
        </p:txBody>
      </p:sp>
      <p:sp>
        <p:nvSpPr>
          <p:cNvPr id="20" name="" descr="{&quot;isTemplate&quot;:true,&quot;type&quot;:&quot;text&quot;}"/>
          <p:cNvSpPr txBox="1"/>
          <p:nvPr/>
        </p:nvSpPr>
        <p:spPr>
          <a:xfrm rot="0" flipH="0" flipV="0">
            <a:off x="381000" y="809625"/>
            <a:ext cx="4924425" cy="333375"/>
          </a:xfrm>
          <a:prstGeom prst="rect"/>
        </p:spPr>
        <p:txBody>
          <a:bodyPr wrap="none" lIns="0" tIns="0" rIns="0" bIns="0"/>
          <a:p>
            <a:pPr>
              <a:lnSpc>
                <a:spcPct val="100000"/>
              </a:lnSpc>
            </a:pPr>
            <a:r>
              <a:rPr lang="en-US" sz="2175" b="1">
                <a:solidFill>
                  <a:srgbClr val="0E3F8C"/>
                </a:solidFill>
                <a:latin typeface="Microsoft YaHei"/>
                <a:ea typeface="Microsoft YaHei"/>
              </a:rPr>
              <a:t>Three Wrong Reasons to Add a Class</a:t>
            </a:r>
            <a:endParaRPr/>
          </a:p>
        </p:txBody>
      </p:sp>
      <p:sp>
        <p:nvSpPr>
          <p:cNvPr id="21"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10 / 39</a:t>
            </a:r>
            <a:endParaRPr/>
          </a:p>
        </p:txBody>
      </p:sp>
      <p:graphicFrame>
        <p:nvGraphicFramePr>
          <p:cNvPr id="22" name=""/>
          <p:cNvGraphicFramePr/>
          <p:nvPr/>
        </p:nvGraphicFramePr>
        <p:xfrm rot="0" flipH="0" flipV="0">
          <a:off x="381000" y="1238250"/>
          <a:ext cx="11430000" cy="5181600"/>
        </p:xfrm>
        <a:graphic>
          <a:graphicData uri="http://schemas.openxmlformats.org/drawingml/2006/table">
            <a:tbl>
              <a:tblGrid>
                <a:gridCol w="2609856">
                  <a:extLst>
                    <a:ext uri="{9D8B030D-6E8A-4147-A177-3AD203B41FA5}">
                      <a16:colId val="1"/>
                    </a:ext>
                  </a:extLst>
                </a:gridCol>
                <a:gridCol w="5524926">
                  <a:extLst>
                    <a:ext uri="{9D8B030D-6E8A-4147-A177-3AD203B41FA5}">
                      <a16:colId val="2"/>
                    </a:ext>
                  </a:extLst>
                </a:gridCol>
                <a:gridCol w="3295217">
                  <a:extLst>
                    <a:ext uri="{9D8B030D-6E8A-4147-A177-3AD203B41FA5}">
                      <a16:colId val="3"/>
                    </a:ext>
                  </a:extLst>
                </a:gridCol>
              </a:tblGrid>
              <a:tr h="791008">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The reason given</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What it produces</a:t>
                      </a:r>
                      <a:endParaRPr/>
                    </a:p>
                  </a:txBody>
                  <a:tcPr marL="45720" marR="45720" marT="45720" marB="45720" anchor="ctr">
                    <a:lnL>
                      <a:noFill/>
                    </a:lnL>
                    <a:lnR>
                      <a:noFill/>
                    </a:lnR>
                    <a:lnT>
                      <a:noFill/>
                    </a:lnT>
                    <a:lnB>
                      <a:noFill/>
                    </a:lnB>
                    <a:solidFill>
                      <a:srgbClr val="8B3230"/>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What actually decides it</a:t>
                      </a:r>
                      <a:endParaRPr/>
                    </a:p>
                  </a:txBody>
                  <a:tcPr marL="45720" marR="45720" marT="45720" marB="45720" anchor="ctr">
                    <a:lnL>
                      <a:noFill/>
                    </a:lnL>
                    <a:lnR>
                      <a:noFill/>
                    </a:lnR>
                    <a:lnT>
                      <a:noFill/>
                    </a:lnT>
                    <a:lnB>
                      <a:noFill/>
                    </a:lnB>
                    <a:solidFill>
                      <a:srgbClr val="2B5793"/>
                    </a:solidFill>
                  </a:tcPr>
                </a:tc>
                <a:extLst>
                  <a:ext uri="{0D108BD9-81ED-4DB2-BD59-A6C34878D82A}">
                    <a16:rowId val="1"/>
                  </a:ext>
                </a:extLst>
              </a:tr>
              <a:tr h="740944">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“We will need a class for that.”</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OrderHelper, OrderUtils, OrderDTO, OrderInfo — four classes that all mean “Order”.</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Does it have identity and a sentence in a specification?</a:t>
                      </a:r>
                      <a:endParaRPr/>
                    </a:p>
                  </a:txBody>
                  <a:tcPr marL="45720" marR="45720" marT="45720" marB="45720" anchor="ctr">
                    <a:lnL>
                      <a:noFill/>
                    </a:lnL>
                    <a:lnR>
                      <a:noFill/>
                    </a:lnR>
                    <a:lnT>
                      <a:noFill/>
                    </a:lnT>
                    <a:lnB>
                      <a:noFill/>
                    </a:lnB>
                    <a:solidFill>
                      <a:srgbClr val="F7F9FC"/>
                    </a:solidFill>
                  </a:tcPr>
                </a:tc>
                <a:extLst>
                  <a:ext uri="{0D108BD9-81ED-4DB2-BD59-A6C34878D82A}">
                    <a16:rowId val="2"/>
                  </a:ext>
                </a:extLst>
              </a:tr>
              <a:tr h="1216550">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“The database needs a table for it.”</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Classes that exist only because a table exists. Relational and object models are not the same thing.</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Only whether the client cares about it as a thing.</a:t>
                      </a:r>
                      <a:endParaRPr/>
                    </a:p>
                  </a:txBody>
                  <a:tcPr marL="45720" marR="45720" marT="45720" marB="45720" anchor="ctr">
                    <a:lnL>
                      <a:noFill/>
                    </a:lnL>
                    <a:lnR>
                      <a:noFill/>
                    </a:lnR>
                    <a:lnT>
                      <a:noFill/>
                    </a:lnT>
                    <a:lnB>
                      <a:noFill/>
                    </a:lnB>
                  </a:tcPr>
                </a:tc>
                <a:extLst>
                  <a:ext uri="{0D108BD9-81ED-4DB2-BD59-A6C34878D82A}">
                    <a16:rowId val="3"/>
                  </a:ext>
                </a:extLst>
              </a:tr>
              <a:tr h="1216550">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“Ten classes looks more professional.”</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Padding. Nobody has ever been impressed by a class with no specification sentence.</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Nothing. This reason is not valid at any point in the project.</a:t>
                      </a:r>
                      <a:endParaRPr/>
                    </a:p>
                  </a:txBody>
                  <a:tcPr marL="45720" marR="45720" marT="45720" marB="45720" anchor="ctr">
                    <a:lnL>
                      <a:noFill/>
                    </a:lnL>
                    <a:lnR>
                      <a:noFill/>
                    </a:lnR>
                    <a:lnT>
                      <a:noFill/>
                    </a:lnT>
                    <a:lnB>
                      <a:noFill/>
                    </a:lnB>
                    <a:solidFill>
                      <a:srgbClr val="F7F9FC"/>
                    </a:solidFill>
                  </a:tcPr>
                </a:tc>
                <a:extLst>
                  <a:ext uri="{0D108BD9-81ED-4DB2-BD59-A6C34878D82A}">
                    <a16:rowId val="4"/>
                  </a:ext>
                </a:extLst>
              </a:tr>
              <a:tr h="1216550">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“It needs behaviour, so it must be a class.”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Behaviour on a thing that has no identity — a “DiscountStrategy” born on page 4.</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Does the client name it? Can we point at one of them?</a:t>
                      </a:r>
                      <a:endParaRPr/>
                    </a:p>
                  </a:txBody>
                  <a:tcPr marL="45720" marR="45720" marT="45720" marB="45720" anchor="ctr">
                    <a:lnL>
                      <a:noFill/>
                    </a:lnL>
                    <a:lnR>
                      <a:noFill/>
                    </a:lnR>
                    <a:lnT>
                      <a:noFill/>
                    </a:lnT>
                    <a:lnB>
                      <a:noFill/>
                    </a:lnB>
                  </a:tcPr>
                </a:tc>
                <a:extLst>
                  <a:ext uri="{0D108BD9-81ED-4DB2-BD59-A6C34878D82A}">
                    <a16:rowId val="5"/>
                  </a:ext>
                </a:extLst>
              </a:tr>
            </a:tbl>
          </a:graphicData>
        </a:graphic>
      </p:graphicFrame>
      <p:sp>
        <p:nvSpPr>
          <p:cNvPr id="23" name=""/>
          <p:cNvSpPr/>
          <p:nvPr/>
        </p:nvSpPr>
        <p:spPr>
          <a:xfrm rot="0" flipH="0" flipV="0">
            <a:off x="0" y="6419850"/>
            <a:ext cx="12192000" cy="438150"/>
          </a:xfrm>
          <a:prstGeom prst="rect">
            <a:avLst/>
          </a:prstGeom>
          <a:solidFill>
            <a:srgbClr val="0E3F8C"/>
          </a:solidFill>
          <a:ln/>
        </p:spPr>
        <p:txBody>
          <a:bodyPr/>
          <a:p/>
        </p:txBody>
      </p:sp>
      <p:sp>
        <p:nvSpPr>
          <p:cNvPr id="24" name="" descr="{&quot;isTemplate&quot;:true,&quot;type&quot;:&quot;text&quot;}"/>
          <p:cNvSpPr txBox="1"/>
          <p:nvPr/>
        </p:nvSpPr>
        <p:spPr>
          <a:xfrm rot="0" flipH="0" flipV="0">
            <a:off x="2066925" y="6543675"/>
            <a:ext cx="8067675" cy="190500"/>
          </a:xfrm>
          <a:prstGeom prst="rect"/>
        </p:spPr>
        <p:txBody>
          <a:bodyPr wrap="none" lIns="0" tIns="0" rIns="0" bIns="0"/>
          <a:p>
            <a:pPr>
              <a:lnSpc>
                <a:spcPct val="100000"/>
              </a:lnSpc>
            </a:pPr>
            <a:r>
              <a:rPr lang="en-US" sz="1238" b="1">
                <a:solidFill>
                  <a:srgbClr val="FFFFFF"/>
                </a:solidFill>
                <a:latin typeface="Microsoft YaHei"/>
                <a:ea typeface="Microsoft YaHei"/>
              </a:rPr>
              <a:t>Every one of these three reasons is really the same reason: “it felt safer to add a box than to leave one out”.</a:t>
            </a:r>
            <a:endParaRPr/>
          </a:p>
        </p:txBody>
      </p:sp>
    </p:spTree>
  </p:cSld>
</p:sld>
</file>

<file path=ppt/slides/slide11.xml><?xml version="1.0" encoding="utf-8"?>
<p:sld xmlns:p="http://schemas.openxmlformats.org/presentationml/2006/main" xmlns:a="http://schemas.openxmlformats.org/drawingml/2006/main">
  <p:cSld>
    <p:spTree>
      <p:nvGrpSpPr>
        <p:cNvPr id="25"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6 · CONCEPTUAL VS. DESIGN&lt;/Text&gt;&#10;  &lt;/Box&gt;&#10;  &lt;Box style={{ padding: '13px 40px 0 40px', flexDirection: 'row', alignItems: 'center', justifyContent: 'space-between' }}&gt;&#10;    &lt;Text style={{ fontSize: 29, fontWeight: 'bold', color: '#0E3F8C' }}&gt;The Class Name Test&lt;/Text&gt;&#10;    &lt;Text style={{ fontSize: 14, color: '#1E4FA8', fontWeight: 'bold' }}&gt;11 / 39&lt;/Text&gt;&#10;  &lt;/Box&gt;&#10;  &lt;Box style={{ flex: 1, padding: '10px 40px 0 40px', flexDirection: 'row', gap: 26 }}&gt;&#10;    &lt;Box style={{ width: 480, justifyContent: 'center' }}&gt;&#10;      &lt;Box style={{ padding: '18px 20px', background: '#F7F9FC', borderRadius: 10, border: '1px solid #E5E7EB' }}&gt;&#10;        &lt;Text style={{ fontSize: 13, color: '#8B97A8', letterSpacing: 1, marginBottom: 14 }}&gt;FOUR THINGS EVERY NAME SATISFIES&lt;/Text&gt;&#10;        {[&#10;          ['A noun', 'from the requirements, not invented'],&#10;          ['Singular', 'Order, not Orders — collections are a multiplicity'],&#10;          ['Capitalised', 'as every class name is'],&#10;          ['No suffix', 'no Service, no Manager, no DTO, no Entity'],&#10;        ].map((r) =&gt; (&#10;          &lt;Box key={r[0]} style={{ flexDirection: 'row', gap: 12, marginBottom: 11 }}&gt;&#10;            &lt;Box style={{ width: 22, height: 22, borderRadius: 11, background: '#2B7A3D', justifyContent: 'center', alignItems: 'center' }}&gt;&#10;              &lt;Text style={{ fontSize: 12, fontWeight: 'bold', color: '#FFFFFF' }}&gt;✓&lt;/Text&gt;&#10;            &lt;/Box&gt;&#10;            &lt;Box style={{ flex: 1 }}&gt;&#10;              &lt;Text style={{ fontSize: 14.5, fontWeight: 'bold', color: '#0E3F8C' }}&gt;{r[0]}&lt;/Text&gt;&#10;              &lt;Text style={{ fontSize: 12.5, color: '#4A5568', marginTop: 2 }}&gt;{r[1]}&lt;/Text&gt;&#10;            &lt;/Box&gt;&#10;          &lt;/Box&gt;&#10;        ))}&#10;      &lt;/Box&gt;&#10;    &lt;/Box&gt;&#10;    &lt;Box style={{ flex: 1, flexDirection: 'column', justifyContent: 'center', gap: 13 }}&gt;&#10;      &lt;Box style={{ padding: '15px 17px', background: '#FDF3F3', borderRadius: 9, borderLeft: '4px solid #D9534F' }}&gt;&#10;        &lt;Text style={{ fontSize: 16, fontWeight: 'bold', color: '#D9534F' }}&gt;Four names that fail&lt;/Text&gt;&#10;        &lt;Text style={{ fontSize: 13, color: '#4A5568', lineHeight: 1.7, marginTop: 5 }}&gt;&#10;          &lt;Text style={{ fontFamily: 'Menlo, monospace' }}&gt;OrderService&lt;/Text&gt; — a design name, W10&lt;br /&gt;&#10;          &lt;Text style={{ fontFamily: 'Menlo, monospace' }}&gt;OrderData&lt;/Text&gt; — a column, not a concept&lt;br /&gt;&#10;          &lt;Text style={{ fontFamily: 'Menlo, monospace' }}&gt;OrderManager&lt;/Text&gt; — usually a god object&lt;br /&gt;&#10;          &lt;Text style={{ fontFamily: 'Menlo, monospace' }}&gt;OrderEntity&lt;/Text&gt; — a persistence label&#10;        &lt;/Text&gt;&#10;      &lt;/Box&gt;&#10;      &lt;Box style={{ padding: '15px 17px', background: '#EAF6EC', borderRadius: 9, borderLeft: '4px solid #2B7A3D' }}&gt;&#10;        &lt;Text style={{ fontSize: 16, fontWeight: 'bold', color: '#2B7A3D' }}&gt;Rename test&lt;/Text&gt;&#10;        &lt;Text style={{ fontSize: 13, color: '#4A5568', lineHeight: 1.6, marginTop: 5 }}&gt;&#10;          Say the class name out loud to the client. “This is the Order.” If that sentence needs a word of explanation, the name is wrong.&#10;        &lt;/Text&gt;&#10;      &lt;/Box&gt;&#10;      &lt;Box style={{ padding: '15px 17px', background: '#FFFFFF', borderRadius: 9, border: '1px solid #D6DCE5' }}&gt;&#10;        &lt;Text style={{ fontSize: 16, fontWeight: 'bold', color: '#0E3F8C' }}&gt;Singular does not mean “only one”&lt;/Text&gt;&#10;        &lt;Text style={{ fontSize: 13, color: '#4A5568', lineHeight: 1.6, marginTop: 5 }}&gt;&#10;          “How many orders?” is answered with a multiplicity next week — not with a plural class name.&#10;        &lt;/Text&gt;&#10;      &lt;/Box&gt;&#10;      &lt;Box style={{ padding: '12px 16px', background: '#F7F9FC', borderRadius: 8, border: '1px dashed #D6DCE5' }}&gt;&#10;        &lt;Text style={{ fontSize: 12.5, color: '#8B97A8', lineHeight: 1.55 }}&gt;&#10;          One more to watch: “Item” is too vague. MenuItem says which catalogue it came from, and that difference will matter.&#10;        &lt;/Text&gt;&#10;      &lt;/Box&gt;&#10;    &lt;/Box&gt;&#10;  &lt;/Box&gt;&#10;  &lt;Box style={{ height: 34, padding: '0 40px', flexDirection: 'row', alignItems: 'center', justifyContent: 'space-between' }}&gt;&#10;    &lt;Text style={{ fontSize: 13, color: '#8B97A8' }}&gt;ISAD · Fall 2026 · Say the name to the client. If it needs explaining, it is a design name that arrived too early&lt;/Text&gt;&#10;    &lt;Text style={{ fontSize: 14, color: '#1E4FA8', fontWeight: 'bold' }}&gt;11 / 39&lt;/Text&gt;&#10;  &lt;/Box&gt;&#10;&lt;/Slide&gt;&#10;"/>
        <p:cNvGrpSpPr/>
        <p:nvPr/>
      </p:nvGrpSpPr>
      <p:grpSpPr>
        <a:xfrm>
          <a:off x="0" y="0"/>
          <a:ext cx="0" cy="0"/>
          <a:chOff x="0" y="0"/>
          <a:chExt cx="0" cy="0"/>
        </a:xfrm>
      </p:grpSpPr>
      <p:sp>
        <p:nvSpPr>
          <p:cNvPr id="26" name=""/>
          <p:cNvSpPr/>
          <p:nvPr/>
        </p:nvSpPr>
        <p:spPr>
          <a:xfrm rot="0" flipH="0" flipV="0">
            <a:off x="0" y="0"/>
            <a:ext cx="12192000" cy="6858000"/>
          </a:xfrm>
          <a:prstGeom prst="rect">
            <a:avLst/>
          </a:prstGeom>
          <a:solidFill>
            <a:srgbClr val="FFFFFF"/>
          </a:solidFill>
          <a:ln/>
        </p:spPr>
        <p:txBody>
          <a:bodyPr/>
          <a:p/>
        </p:txBody>
      </p:sp>
      <p:sp>
        <p:nvSpPr>
          <p:cNvPr id="27" name=""/>
          <p:cNvSpPr/>
          <p:nvPr/>
        </p:nvSpPr>
        <p:spPr>
          <a:xfrm rot="0" flipH="0" flipV="0">
            <a:off x="0" y="0"/>
            <a:ext cx="12192000" cy="685800"/>
          </a:xfrm>
          <a:prstGeom prst="rect">
            <a:avLst/>
          </a:prstGeom>
          <a:solidFill>
            <a:srgbClr val="1E4FA8"/>
          </a:solidFill>
          <a:ln/>
        </p:spPr>
        <p:txBody>
          <a:bodyPr/>
          <a:p/>
        </p:txBody>
      </p:sp>
      <p:sp>
        <p:nvSpPr>
          <p:cNvPr id="28"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29" name="" descr="{&quot;isTemplate&quot;:true,&quot;type&quot;:&quot;text&quot;}"/>
          <p:cNvSpPr txBox="1"/>
          <p:nvPr/>
        </p:nvSpPr>
        <p:spPr>
          <a:xfrm rot="0" flipH="0" flipV="0">
            <a:off x="9553575" y="257175"/>
            <a:ext cx="2257425" cy="171450"/>
          </a:xfrm>
          <a:prstGeom prst="rect"/>
        </p:spPr>
        <p:txBody>
          <a:bodyPr wrap="none" lIns="0" tIns="0" rIns="0" bIns="0"/>
          <a:p>
            <a:pPr>
              <a:lnSpc>
                <a:spcPct val="100000"/>
              </a:lnSpc>
            </a:pPr>
            <a:r>
              <a:rPr lang="en-US" sz="1125">
                <a:solidFill>
                  <a:srgbClr val="B9CDF0"/>
                </a:solidFill>
                <a:latin typeface="Microsoft YaHei"/>
                <a:ea typeface="Microsoft YaHei"/>
              </a:rPr>
              <a:t>W06 · CONCEPTUAL VS. DESIGN</a:t>
            </a:r>
            <a:endParaRPr/>
          </a:p>
        </p:txBody>
      </p:sp>
      <p:sp>
        <p:nvSpPr>
          <p:cNvPr id="30" name="" descr="{&quot;isTemplate&quot;:true,&quot;type&quot;:&quot;text&quot;}"/>
          <p:cNvSpPr txBox="1"/>
          <p:nvPr/>
        </p:nvSpPr>
        <p:spPr>
          <a:xfrm rot="0" flipH="0" flipV="0">
            <a:off x="381000" y="809625"/>
            <a:ext cx="2762250" cy="333375"/>
          </a:xfrm>
          <a:prstGeom prst="rect"/>
        </p:spPr>
        <p:txBody>
          <a:bodyPr wrap="none" lIns="0" tIns="0" rIns="0" bIns="0"/>
          <a:p>
            <a:pPr>
              <a:lnSpc>
                <a:spcPct val="100000"/>
              </a:lnSpc>
            </a:pPr>
            <a:r>
              <a:rPr lang="en-US" sz="2175" b="1">
                <a:solidFill>
                  <a:srgbClr val="0E3F8C"/>
                </a:solidFill>
                <a:latin typeface="Microsoft YaHei"/>
                <a:ea typeface="Microsoft YaHei"/>
              </a:rPr>
              <a:t>The Class Name Test</a:t>
            </a:r>
            <a:endParaRPr/>
          </a:p>
        </p:txBody>
      </p:sp>
      <p:sp>
        <p:nvSpPr>
          <p:cNvPr id="31"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11 / 39</a:t>
            </a:r>
            <a:endParaRPr/>
          </a:p>
        </p:txBody>
      </p:sp>
      <p:sp>
        <p:nvSpPr>
          <p:cNvPr id="32" name=""/>
          <p:cNvSpPr/>
          <p:nvPr/>
        </p:nvSpPr>
        <p:spPr>
          <a:xfrm rot="0" flipH="0" flipV="0">
            <a:off x="381000" y="2695575"/>
            <a:ext cx="4572000" cy="2381250"/>
          </a:xfrm>
          <a:prstGeom prst="roundRect">
            <a:avLst>
              <a:gd name="adj" fmla="val 4000"/>
            </a:avLst>
          </a:prstGeom>
          <a:solidFill>
            <a:srgbClr val="F7F9FC"/>
          </a:solidFill>
          <a:ln w="12700">
            <a:solidFill>
              <a:srgbClr val="E5E7EB"/>
            </a:solidFill>
            <a:prstDash val="solid"/>
          </a:ln>
        </p:spPr>
        <p:txBody>
          <a:bodyPr/>
          <a:p/>
        </p:txBody>
      </p:sp>
      <p:sp>
        <p:nvSpPr>
          <p:cNvPr id="33" name="" descr="{&quot;isTemplate&quot;:true,&quot;type&quot;:&quot;text&quot;}"/>
          <p:cNvSpPr txBox="1"/>
          <p:nvPr/>
        </p:nvSpPr>
        <p:spPr>
          <a:xfrm rot="0" flipH="0" flipV="0">
            <a:off x="571500" y="2867025"/>
            <a:ext cx="4191000" cy="152400"/>
          </a:xfrm>
          <a:prstGeom prst="rect"/>
        </p:spPr>
        <p:txBody>
          <a:bodyPr wrap="none" lIns="0" tIns="0" rIns="0" bIns="0"/>
          <a:p>
            <a:pPr>
              <a:lnSpc>
                <a:spcPct val="100000"/>
              </a:lnSpc>
            </a:pPr>
            <a:r>
              <a:rPr lang="en-US" sz="975" spc="75">
                <a:solidFill>
                  <a:srgbClr val="8B97A8"/>
                </a:solidFill>
                <a:latin typeface="Microsoft YaHei"/>
                <a:ea typeface="Microsoft YaHei"/>
              </a:rPr>
              <a:t>FOUR THINGS EVERY NAME SATISFIES</a:t>
            </a:r>
            <a:endParaRPr/>
          </a:p>
        </p:txBody>
      </p:sp>
      <p:sp>
        <p:nvSpPr>
          <p:cNvPr id="34" name=""/>
          <p:cNvSpPr/>
          <p:nvPr/>
        </p:nvSpPr>
        <p:spPr>
          <a:xfrm rot="0" flipH="0" flipV="0">
            <a:off x="571500" y="3152775"/>
            <a:ext cx="209550" cy="209550"/>
          </a:xfrm>
          <a:prstGeom prst="roundRect">
            <a:avLst>
              <a:gd name="adj" fmla="val 50000"/>
            </a:avLst>
          </a:prstGeom>
          <a:solidFill>
            <a:srgbClr val="2B7A3D"/>
          </a:solidFill>
          <a:ln/>
        </p:spPr>
        <p:txBody>
          <a:bodyPr/>
          <a:p/>
        </p:txBody>
      </p:sp>
      <p:sp>
        <p:nvSpPr>
          <p:cNvPr id="35" name="" descr="{&quot;isTemplate&quot;:true,&quot;type&quot;:&quot;text&quot;}"/>
          <p:cNvSpPr txBox="1"/>
          <p:nvPr/>
        </p:nvSpPr>
        <p:spPr>
          <a:xfrm rot="0" flipH="0" flipV="0">
            <a:off x="628650" y="3190875"/>
            <a:ext cx="95250" cy="142875"/>
          </a:xfrm>
          <a:prstGeom prst="rect"/>
        </p:spPr>
        <p:txBody>
          <a:bodyPr wrap="none" lIns="0" tIns="0" rIns="0" bIns="0"/>
          <a:p>
            <a:pPr>
              <a:lnSpc>
                <a:spcPct val="100000"/>
              </a:lnSpc>
            </a:pPr>
            <a:r>
              <a:rPr sz="900" b="1">
                <a:solidFill>
                  <a:srgbClr val="FFFFFF"/>
                </a:solidFill>
                <a:latin typeface="Microsoft YaHei"/>
                <a:ea typeface="Microsoft YaHei"/>
              </a:rPr>
              <a:t>✓</a:t>
            </a:r>
            <a:endParaRPr/>
          </a:p>
        </p:txBody>
      </p:sp>
      <p:sp>
        <p:nvSpPr>
          <p:cNvPr id="36" name="" descr="{&quot;isTemplate&quot;:true,&quot;type&quot;:&quot;text&quot;}"/>
          <p:cNvSpPr txBox="1"/>
          <p:nvPr/>
        </p:nvSpPr>
        <p:spPr>
          <a:xfrm rot="0" flipH="0" flipV="0">
            <a:off x="895350" y="3152775"/>
            <a:ext cx="3867150" cy="171450"/>
          </a:xfrm>
          <a:prstGeom prst="rect"/>
        </p:spPr>
        <p:txBody>
          <a:bodyPr wrap="none" lIns="0" tIns="0" rIns="0" bIns="0"/>
          <a:p>
            <a:pPr>
              <a:lnSpc>
                <a:spcPct val="100000"/>
              </a:lnSpc>
            </a:pPr>
            <a:r>
              <a:rPr lang="en-US" sz="1088" b="1">
                <a:solidFill>
                  <a:srgbClr val="0E3F8C"/>
                </a:solidFill>
                <a:latin typeface="Microsoft YaHei"/>
                <a:ea typeface="Microsoft YaHei"/>
              </a:rPr>
              <a:t>A noun</a:t>
            </a:r>
            <a:endParaRPr/>
          </a:p>
        </p:txBody>
      </p:sp>
      <p:sp>
        <p:nvSpPr>
          <p:cNvPr id="37" name="" descr="{&quot;isTemplate&quot;:true,&quot;type&quot;:&quot;text&quot;}"/>
          <p:cNvSpPr txBox="1"/>
          <p:nvPr/>
        </p:nvSpPr>
        <p:spPr>
          <a:xfrm rot="0" flipH="0" flipV="0">
            <a:off x="895350" y="3343275"/>
            <a:ext cx="3867150" cy="142875"/>
          </a:xfrm>
          <a:prstGeom prst="rect"/>
        </p:spPr>
        <p:txBody>
          <a:bodyPr wrap="none" lIns="0" tIns="0" rIns="0" bIns="0"/>
          <a:p>
            <a:pPr>
              <a:lnSpc>
                <a:spcPct val="100000"/>
              </a:lnSpc>
            </a:pPr>
            <a:r>
              <a:rPr lang="en-US" sz="938">
                <a:solidFill>
                  <a:srgbClr val="4A5568"/>
                </a:solidFill>
                <a:latin typeface="Microsoft YaHei"/>
                <a:ea typeface="Microsoft YaHei"/>
              </a:rPr>
              <a:t>from the requirements, not invented</a:t>
            </a:r>
            <a:endParaRPr/>
          </a:p>
        </p:txBody>
      </p:sp>
      <p:sp>
        <p:nvSpPr>
          <p:cNvPr id="38" name=""/>
          <p:cNvSpPr/>
          <p:nvPr/>
        </p:nvSpPr>
        <p:spPr>
          <a:xfrm rot="0" flipH="0" flipV="0">
            <a:off x="571500" y="3590925"/>
            <a:ext cx="209550" cy="209550"/>
          </a:xfrm>
          <a:prstGeom prst="roundRect">
            <a:avLst>
              <a:gd name="adj" fmla="val 50000"/>
            </a:avLst>
          </a:prstGeom>
          <a:solidFill>
            <a:srgbClr val="2B7A3D"/>
          </a:solidFill>
          <a:ln/>
        </p:spPr>
        <p:txBody>
          <a:bodyPr/>
          <a:p/>
        </p:txBody>
      </p:sp>
      <p:sp>
        <p:nvSpPr>
          <p:cNvPr id="39" name="" descr="{&quot;isTemplate&quot;:true,&quot;type&quot;:&quot;text&quot;}"/>
          <p:cNvSpPr txBox="1"/>
          <p:nvPr/>
        </p:nvSpPr>
        <p:spPr>
          <a:xfrm rot="0" flipH="0" flipV="0">
            <a:off x="628650" y="3629025"/>
            <a:ext cx="95250" cy="142875"/>
          </a:xfrm>
          <a:prstGeom prst="rect"/>
        </p:spPr>
        <p:txBody>
          <a:bodyPr wrap="none" lIns="0" tIns="0" rIns="0" bIns="0"/>
          <a:p>
            <a:pPr>
              <a:lnSpc>
                <a:spcPct val="100000"/>
              </a:lnSpc>
            </a:pPr>
            <a:r>
              <a:rPr sz="900" b="1">
                <a:solidFill>
                  <a:srgbClr val="FFFFFF"/>
                </a:solidFill>
                <a:latin typeface="Microsoft YaHei"/>
                <a:ea typeface="Microsoft YaHei"/>
              </a:rPr>
              <a:t>✓</a:t>
            </a:r>
            <a:endParaRPr/>
          </a:p>
        </p:txBody>
      </p:sp>
      <p:sp>
        <p:nvSpPr>
          <p:cNvPr id="40" name="" descr="{&quot;isTemplate&quot;:true,&quot;type&quot;:&quot;text&quot;}"/>
          <p:cNvSpPr txBox="1"/>
          <p:nvPr/>
        </p:nvSpPr>
        <p:spPr>
          <a:xfrm rot="0" flipH="0" flipV="0">
            <a:off x="895350" y="3590925"/>
            <a:ext cx="3867150" cy="171450"/>
          </a:xfrm>
          <a:prstGeom prst="rect"/>
        </p:spPr>
        <p:txBody>
          <a:bodyPr wrap="none" lIns="0" tIns="0" rIns="0" bIns="0"/>
          <a:p>
            <a:pPr>
              <a:lnSpc>
                <a:spcPct val="100000"/>
              </a:lnSpc>
            </a:pPr>
            <a:r>
              <a:rPr lang="en-US" sz="1088" b="1">
                <a:solidFill>
                  <a:srgbClr val="0E3F8C"/>
                </a:solidFill>
                <a:latin typeface="Microsoft YaHei"/>
                <a:ea typeface="Microsoft YaHei"/>
              </a:rPr>
              <a:t>Singular</a:t>
            </a:r>
            <a:endParaRPr/>
          </a:p>
        </p:txBody>
      </p:sp>
      <p:sp>
        <p:nvSpPr>
          <p:cNvPr id="41" name="" descr="{&quot;isTemplate&quot;:true,&quot;type&quot;:&quot;text&quot;}"/>
          <p:cNvSpPr txBox="1"/>
          <p:nvPr/>
        </p:nvSpPr>
        <p:spPr>
          <a:xfrm rot="0" flipH="0" flipV="0">
            <a:off x="895350" y="3781425"/>
            <a:ext cx="3867150" cy="142875"/>
          </a:xfrm>
          <a:prstGeom prst="rect"/>
        </p:spPr>
        <p:txBody>
          <a:bodyPr wrap="none" lIns="0" tIns="0" rIns="0" bIns="0"/>
          <a:p>
            <a:pPr>
              <a:lnSpc>
                <a:spcPct val="100000"/>
              </a:lnSpc>
            </a:pPr>
            <a:r>
              <a:rPr lang="en-US" sz="938">
                <a:solidFill>
                  <a:srgbClr val="4A5568"/>
                </a:solidFill>
                <a:latin typeface="Microsoft YaHei"/>
                <a:ea typeface="Microsoft YaHei"/>
              </a:rPr>
              <a:t>Order, not Orders — collections are a multiplicity</a:t>
            </a:r>
            <a:endParaRPr/>
          </a:p>
        </p:txBody>
      </p:sp>
      <p:sp>
        <p:nvSpPr>
          <p:cNvPr id="42" name=""/>
          <p:cNvSpPr/>
          <p:nvPr/>
        </p:nvSpPr>
        <p:spPr>
          <a:xfrm rot="0" flipH="0" flipV="0">
            <a:off x="571500" y="4029075"/>
            <a:ext cx="209550" cy="209550"/>
          </a:xfrm>
          <a:prstGeom prst="roundRect">
            <a:avLst>
              <a:gd name="adj" fmla="val 50000"/>
            </a:avLst>
          </a:prstGeom>
          <a:solidFill>
            <a:srgbClr val="2B7A3D"/>
          </a:solidFill>
          <a:ln/>
        </p:spPr>
        <p:txBody>
          <a:bodyPr/>
          <a:p/>
        </p:txBody>
      </p:sp>
      <p:sp>
        <p:nvSpPr>
          <p:cNvPr id="43" name="" descr="{&quot;isTemplate&quot;:true,&quot;type&quot;:&quot;text&quot;}"/>
          <p:cNvSpPr txBox="1"/>
          <p:nvPr/>
        </p:nvSpPr>
        <p:spPr>
          <a:xfrm rot="0" flipH="0" flipV="0">
            <a:off x="628650" y="4067175"/>
            <a:ext cx="95250" cy="142875"/>
          </a:xfrm>
          <a:prstGeom prst="rect"/>
        </p:spPr>
        <p:txBody>
          <a:bodyPr wrap="none" lIns="0" tIns="0" rIns="0" bIns="0"/>
          <a:p>
            <a:pPr>
              <a:lnSpc>
                <a:spcPct val="100000"/>
              </a:lnSpc>
            </a:pPr>
            <a:r>
              <a:rPr sz="900" b="1">
                <a:solidFill>
                  <a:srgbClr val="FFFFFF"/>
                </a:solidFill>
                <a:latin typeface="Microsoft YaHei"/>
                <a:ea typeface="Microsoft YaHei"/>
              </a:rPr>
              <a:t>✓</a:t>
            </a:r>
            <a:endParaRPr/>
          </a:p>
        </p:txBody>
      </p:sp>
      <p:sp>
        <p:nvSpPr>
          <p:cNvPr id="44" name="" descr="{&quot;isTemplate&quot;:true,&quot;type&quot;:&quot;text&quot;}"/>
          <p:cNvSpPr txBox="1"/>
          <p:nvPr/>
        </p:nvSpPr>
        <p:spPr>
          <a:xfrm rot="0" flipH="0" flipV="0">
            <a:off x="895350" y="4029075"/>
            <a:ext cx="3867150" cy="171450"/>
          </a:xfrm>
          <a:prstGeom prst="rect"/>
        </p:spPr>
        <p:txBody>
          <a:bodyPr wrap="none" lIns="0" tIns="0" rIns="0" bIns="0"/>
          <a:p>
            <a:pPr>
              <a:lnSpc>
                <a:spcPct val="100000"/>
              </a:lnSpc>
            </a:pPr>
            <a:r>
              <a:rPr lang="en-US" sz="1088" b="1">
                <a:solidFill>
                  <a:srgbClr val="0E3F8C"/>
                </a:solidFill>
                <a:latin typeface="Microsoft YaHei"/>
                <a:ea typeface="Microsoft YaHei"/>
              </a:rPr>
              <a:t>Capitalised</a:t>
            </a:r>
            <a:endParaRPr/>
          </a:p>
        </p:txBody>
      </p:sp>
      <p:sp>
        <p:nvSpPr>
          <p:cNvPr id="45" name="" descr="{&quot;isTemplate&quot;:true,&quot;type&quot;:&quot;text&quot;}"/>
          <p:cNvSpPr txBox="1"/>
          <p:nvPr/>
        </p:nvSpPr>
        <p:spPr>
          <a:xfrm rot="0" flipH="0" flipV="0">
            <a:off x="895350" y="4219575"/>
            <a:ext cx="3867150" cy="142875"/>
          </a:xfrm>
          <a:prstGeom prst="rect"/>
        </p:spPr>
        <p:txBody>
          <a:bodyPr wrap="none" lIns="0" tIns="0" rIns="0" bIns="0"/>
          <a:p>
            <a:pPr>
              <a:lnSpc>
                <a:spcPct val="100000"/>
              </a:lnSpc>
            </a:pPr>
            <a:r>
              <a:rPr lang="en-US" sz="938">
                <a:solidFill>
                  <a:srgbClr val="4A5568"/>
                </a:solidFill>
                <a:latin typeface="Microsoft YaHei"/>
                <a:ea typeface="Microsoft YaHei"/>
              </a:rPr>
              <a:t>as every class name is</a:t>
            </a:r>
            <a:endParaRPr/>
          </a:p>
        </p:txBody>
      </p:sp>
      <p:sp>
        <p:nvSpPr>
          <p:cNvPr id="46" name=""/>
          <p:cNvSpPr/>
          <p:nvPr/>
        </p:nvSpPr>
        <p:spPr>
          <a:xfrm rot="0" flipH="0" flipV="0">
            <a:off x="571500" y="4467225"/>
            <a:ext cx="209550" cy="209550"/>
          </a:xfrm>
          <a:prstGeom prst="roundRect">
            <a:avLst>
              <a:gd name="adj" fmla="val 50000"/>
            </a:avLst>
          </a:prstGeom>
          <a:solidFill>
            <a:srgbClr val="2B7A3D"/>
          </a:solidFill>
          <a:ln/>
        </p:spPr>
        <p:txBody>
          <a:bodyPr/>
          <a:p/>
        </p:txBody>
      </p:sp>
      <p:sp>
        <p:nvSpPr>
          <p:cNvPr id="47" name="" descr="{&quot;isTemplate&quot;:true,&quot;type&quot;:&quot;text&quot;}"/>
          <p:cNvSpPr txBox="1"/>
          <p:nvPr/>
        </p:nvSpPr>
        <p:spPr>
          <a:xfrm rot="0" flipH="0" flipV="0">
            <a:off x="628650" y="4505325"/>
            <a:ext cx="95250" cy="142875"/>
          </a:xfrm>
          <a:prstGeom prst="rect"/>
        </p:spPr>
        <p:txBody>
          <a:bodyPr wrap="none" lIns="0" tIns="0" rIns="0" bIns="0"/>
          <a:p>
            <a:pPr>
              <a:lnSpc>
                <a:spcPct val="100000"/>
              </a:lnSpc>
            </a:pPr>
            <a:r>
              <a:rPr sz="900" b="1">
                <a:solidFill>
                  <a:srgbClr val="FFFFFF"/>
                </a:solidFill>
                <a:latin typeface="Microsoft YaHei"/>
                <a:ea typeface="Microsoft YaHei"/>
              </a:rPr>
              <a:t>✓</a:t>
            </a:r>
            <a:endParaRPr/>
          </a:p>
        </p:txBody>
      </p:sp>
      <p:sp>
        <p:nvSpPr>
          <p:cNvPr id="48" name="" descr="{&quot;isTemplate&quot;:true,&quot;type&quot;:&quot;text&quot;}"/>
          <p:cNvSpPr txBox="1"/>
          <p:nvPr/>
        </p:nvSpPr>
        <p:spPr>
          <a:xfrm rot="0" flipH="0" flipV="0">
            <a:off x="895350" y="4467225"/>
            <a:ext cx="3867150" cy="171450"/>
          </a:xfrm>
          <a:prstGeom prst="rect"/>
        </p:spPr>
        <p:txBody>
          <a:bodyPr wrap="none" lIns="0" tIns="0" rIns="0" bIns="0"/>
          <a:p>
            <a:pPr>
              <a:lnSpc>
                <a:spcPct val="100000"/>
              </a:lnSpc>
            </a:pPr>
            <a:r>
              <a:rPr lang="en-US" sz="1088" b="1">
                <a:solidFill>
                  <a:srgbClr val="0E3F8C"/>
                </a:solidFill>
                <a:latin typeface="Microsoft YaHei"/>
                <a:ea typeface="Microsoft YaHei"/>
              </a:rPr>
              <a:t>No suffix</a:t>
            </a:r>
            <a:endParaRPr/>
          </a:p>
        </p:txBody>
      </p:sp>
      <p:sp>
        <p:nvSpPr>
          <p:cNvPr id="49" name="" descr="{&quot;isTemplate&quot;:true,&quot;type&quot;:&quot;text&quot;}"/>
          <p:cNvSpPr txBox="1"/>
          <p:nvPr/>
        </p:nvSpPr>
        <p:spPr>
          <a:xfrm rot="0" flipH="0" flipV="0">
            <a:off x="895350" y="4657725"/>
            <a:ext cx="3867150" cy="142875"/>
          </a:xfrm>
          <a:prstGeom prst="rect"/>
        </p:spPr>
        <p:txBody>
          <a:bodyPr wrap="none" lIns="0" tIns="0" rIns="0" bIns="0"/>
          <a:p>
            <a:pPr>
              <a:lnSpc>
                <a:spcPct val="100000"/>
              </a:lnSpc>
            </a:pPr>
            <a:r>
              <a:rPr lang="en-US" sz="938">
                <a:solidFill>
                  <a:srgbClr val="4A5568"/>
                </a:solidFill>
                <a:latin typeface="Microsoft YaHei"/>
                <a:ea typeface="Microsoft YaHei"/>
              </a:rPr>
              <a:t>no Service, no Manager, no DTO, no Entity</a:t>
            </a:r>
            <a:endParaRPr/>
          </a:p>
        </p:txBody>
      </p:sp>
      <p:sp>
        <p:nvSpPr>
          <p:cNvPr id="50" name=""/>
          <p:cNvSpPr/>
          <p:nvPr/>
        </p:nvSpPr>
        <p:spPr>
          <a:xfrm rot="0" flipH="0" flipV="0">
            <a:off x="5238750" y="1819275"/>
            <a:ext cx="6610350" cy="1543050"/>
          </a:xfrm>
          <a:prstGeom prst="roundRect">
            <a:avLst>
              <a:gd name="adj" fmla="val 5556"/>
            </a:avLst>
          </a:prstGeom>
          <a:solidFill>
            <a:srgbClr val="FDF3F3"/>
          </a:solidFill>
          <a:ln/>
        </p:spPr>
        <p:txBody>
          <a:bodyPr/>
          <a:p/>
        </p:txBody>
      </p:sp>
      <p:sp>
        <p:nvSpPr>
          <p:cNvPr id="51" name=""/>
          <p:cNvSpPr/>
          <p:nvPr/>
        </p:nvSpPr>
        <p:spPr>
          <a:xfrm rot="0" flipH="0" flipV="0">
            <a:off x="5238750" y="1819275"/>
            <a:ext cx="6610350" cy="1543050"/>
          </a:xfrm>
          <a:custGeom>
            <a:pathLst>
              <a:path w="694" h="162">
                <a:moveTo>
                  <a:pt x="9" y="0"/>
                </a:moveTo>
                <a:cubicBezTo>
                  <a:pt x="6" y="0"/>
                  <a:pt x="4" y="2"/>
                  <a:pt x="4" y="5"/>
                </a:cubicBezTo>
                <a:lnTo>
                  <a:pt x="4" y="157"/>
                </a:lnTo>
                <a:cubicBezTo>
                  <a:pt x="4" y="159"/>
                  <a:pt x="6" y="161"/>
                  <a:pt x="8" y="162"/>
                </a:cubicBezTo>
                <a:cubicBezTo>
                  <a:pt x="4" y="162"/>
                  <a:pt x="0" y="158"/>
                  <a:pt x="0" y="153"/>
                </a:cubicBezTo>
                <a:lnTo>
                  <a:pt x="0" y="9"/>
                </a:lnTo>
                <a:cubicBezTo>
                  <a:pt x="0" y="4"/>
                  <a:pt x="4" y="0"/>
                  <a:pt x="9" y="0"/>
                </a:cubicBezTo>
                <a:close/>
              </a:path>
            </a:pathLst>
          </a:custGeom>
          <a:solidFill>
            <a:srgbClr val="D9534F"/>
          </a:solidFill>
          <a:ln/>
        </p:spPr>
        <p:txBody>
          <a:bodyPr/>
          <a:p/>
        </p:txBody>
      </p:sp>
      <p:sp>
        <p:nvSpPr>
          <p:cNvPr id="52" name="" descr="{&quot;isTemplate&quot;:true,&quot;type&quot;:&quot;text&quot;}"/>
          <p:cNvSpPr txBox="1"/>
          <p:nvPr/>
        </p:nvSpPr>
        <p:spPr>
          <a:xfrm rot="0" flipH="0" flipV="0">
            <a:off x="5400675" y="1962150"/>
            <a:ext cx="6248400" cy="190500"/>
          </a:xfrm>
          <a:prstGeom prst="rect"/>
        </p:spPr>
        <p:txBody>
          <a:bodyPr wrap="none" lIns="0" tIns="0" rIns="0" bIns="0"/>
          <a:p>
            <a:pPr>
              <a:lnSpc>
                <a:spcPct val="100000"/>
              </a:lnSpc>
            </a:pPr>
            <a:r>
              <a:rPr lang="en-US" sz="1200" b="1">
                <a:solidFill>
                  <a:srgbClr val="D9534F"/>
                </a:solidFill>
                <a:latin typeface="Microsoft YaHei"/>
                <a:ea typeface="Microsoft YaHei"/>
              </a:rPr>
              <a:t>Four names that fail</a:t>
            </a:r>
            <a:endParaRPr/>
          </a:p>
        </p:txBody>
      </p:sp>
      <p:sp>
        <p:nvSpPr>
          <p:cNvPr id="53" name="" descr="{&quot;isTemplate&quot;:true,&quot;type&quot;:&quot;text&quot;}"/>
          <p:cNvSpPr txBox="1"/>
          <p:nvPr/>
        </p:nvSpPr>
        <p:spPr>
          <a:xfrm rot="0" flipH="0" flipV="0">
            <a:off x="5400675" y="2200275"/>
            <a:ext cx="6248400" cy="1019175"/>
          </a:xfrm>
          <a:prstGeom prst="rect"/>
        </p:spPr>
        <p:txBody>
          <a:bodyPr wrap="none" lIns="0" tIns="0" rIns="0" bIns="0"/>
          <a:p>
            <a:pPr>
              <a:lnSpc>
                <a:spcPct val="170000"/>
              </a:lnSpc>
            </a:pPr>
            <a:r>
              <a:rPr lang="en-US" sz="975">
                <a:solidFill>
                  <a:srgbClr val="4A5568"/>
                </a:solidFill>
                <a:latin typeface="Microsoft YaHei"/>
                <a:ea typeface="Microsoft YaHei"/>
              </a:rPr>
              <a:t>OrderService</a:t>
            </a:r>
            <a:r>
              <a:rPr lang="en-US" sz="975">
                <a:solidFill>
                  <a:srgbClr val="4A5568"/>
                </a:solidFill>
                <a:latin typeface="Microsoft YaHei"/>
                <a:ea typeface="Microsoft YaHei"/>
              </a:rPr>
              <a:t xml:space="preserve"> — a design name, W10</a:t>
            </a:r>
            <a:endParaRPr/>
          </a:p>
          <a:p>
            <a:pPr>
              <a:lnSpc>
                <a:spcPct val="170000"/>
              </a:lnSpc>
            </a:pPr>
            <a:r>
              <a:rPr lang="en-US" sz="975">
                <a:solidFill>
                  <a:srgbClr val="4A5568"/>
                </a:solidFill>
                <a:latin typeface="Microsoft YaHei"/>
                <a:ea typeface="Microsoft YaHei"/>
              </a:rPr>
              <a:t>OrderData</a:t>
            </a:r>
            <a:r>
              <a:rPr lang="en-US" sz="975">
                <a:solidFill>
                  <a:srgbClr val="4A5568"/>
                </a:solidFill>
                <a:latin typeface="Microsoft YaHei"/>
                <a:ea typeface="Microsoft YaHei"/>
              </a:rPr>
              <a:t xml:space="preserve"> — a column, not a concept</a:t>
            </a:r>
            <a:endParaRPr/>
          </a:p>
          <a:p>
            <a:pPr>
              <a:lnSpc>
                <a:spcPct val="170000"/>
              </a:lnSpc>
            </a:pPr>
            <a:r>
              <a:rPr lang="en-US" sz="975">
                <a:solidFill>
                  <a:srgbClr val="4A5568"/>
                </a:solidFill>
                <a:latin typeface="Microsoft YaHei"/>
                <a:ea typeface="Microsoft YaHei"/>
              </a:rPr>
              <a:t>OrderManager</a:t>
            </a:r>
            <a:r>
              <a:rPr lang="en-US" sz="975">
                <a:solidFill>
                  <a:srgbClr val="4A5568"/>
                </a:solidFill>
                <a:latin typeface="Microsoft YaHei"/>
                <a:ea typeface="Microsoft YaHei"/>
              </a:rPr>
              <a:t xml:space="preserve"> — usually a god object</a:t>
            </a:r>
            <a:endParaRPr/>
          </a:p>
          <a:p>
            <a:pPr>
              <a:lnSpc>
                <a:spcPct val="170000"/>
              </a:lnSpc>
            </a:pPr>
            <a:r>
              <a:rPr lang="en-US" sz="975">
                <a:solidFill>
                  <a:srgbClr val="4A5568"/>
                </a:solidFill>
                <a:latin typeface="Microsoft YaHei"/>
                <a:ea typeface="Microsoft YaHei"/>
              </a:rPr>
              <a:t>OrderEntity</a:t>
            </a:r>
            <a:r>
              <a:rPr lang="en-US" sz="975">
                <a:solidFill>
                  <a:srgbClr val="4A5568"/>
                </a:solidFill>
                <a:latin typeface="Microsoft YaHei"/>
                <a:ea typeface="Microsoft YaHei"/>
              </a:rPr>
              <a:t xml:space="preserve"> — a persistence label</a:t>
            </a:r>
            <a:endParaRPr/>
          </a:p>
        </p:txBody>
      </p:sp>
      <p:sp>
        <p:nvSpPr>
          <p:cNvPr id="54" name=""/>
          <p:cNvSpPr/>
          <p:nvPr/>
        </p:nvSpPr>
        <p:spPr>
          <a:xfrm rot="0" flipH="0" flipV="0">
            <a:off x="5238750" y="3486150"/>
            <a:ext cx="6610350" cy="1000125"/>
          </a:xfrm>
          <a:prstGeom prst="roundRect">
            <a:avLst>
              <a:gd name="adj" fmla="val 8571"/>
            </a:avLst>
          </a:prstGeom>
          <a:solidFill>
            <a:srgbClr val="EAF6EC"/>
          </a:solidFill>
          <a:ln/>
        </p:spPr>
        <p:txBody>
          <a:bodyPr/>
          <a:p/>
        </p:txBody>
      </p:sp>
      <p:sp>
        <p:nvSpPr>
          <p:cNvPr id="55" name=""/>
          <p:cNvSpPr/>
          <p:nvPr/>
        </p:nvSpPr>
        <p:spPr>
          <a:xfrm rot="0" flipH="0" flipV="0">
            <a:off x="5238750" y="3486150"/>
            <a:ext cx="6610350" cy="1000125"/>
          </a:xfrm>
          <a:custGeom>
            <a:pathLst>
              <a:path w="694" h="105">
                <a:moveTo>
                  <a:pt x="9" y="0"/>
                </a:moveTo>
                <a:cubicBezTo>
                  <a:pt x="6" y="0"/>
                  <a:pt x="4" y="2"/>
                  <a:pt x="4" y="5"/>
                </a:cubicBezTo>
                <a:lnTo>
                  <a:pt x="4" y="100"/>
                </a:lnTo>
                <a:cubicBezTo>
                  <a:pt x="4" y="102"/>
                  <a:pt x="6" y="104"/>
                  <a:pt x="8" y="105"/>
                </a:cubicBezTo>
                <a:cubicBezTo>
                  <a:pt x="4" y="105"/>
                  <a:pt x="0" y="101"/>
                  <a:pt x="0" y="96"/>
                </a:cubicBezTo>
                <a:lnTo>
                  <a:pt x="0" y="9"/>
                </a:lnTo>
                <a:cubicBezTo>
                  <a:pt x="0" y="4"/>
                  <a:pt x="4" y="0"/>
                  <a:pt x="9" y="0"/>
                </a:cubicBezTo>
                <a:close/>
              </a:path>
            </a:pathLst>
          </a:custGeom>
          <a:solidFill>
            <a:srgbClr val="2B7A3D"/>
          </a:solidFill>
          <a:ln/>
        </p:spPr>
        <p:txBody>
          <a:bodyPr/>
          <a:p/>
        </p:txBody>
      </p:sp>
      <p:sp>
        <p:nvSpPr>
          <p:cNvPr id="56" name="" descr="{&quot;isTemplate&quot;:true,&quot;type&quot;:&quot;text&quot;}"/>
          <p:cNvSpPr txBox="1"/>
          <p:nvPr/>
        </p:nvSpPr>
        <p:spPr>
          <a:xfrm rot="0" flipH="0" flipV="0">
            <a:off x="5400675" y="3629025"/>
            <a:ext cx="6248400" cy="190500"/>
          </a:xfrm>
          <a:prstGeom prst="rect"/>
        </p:spPr>
        <p:txBody>
          <a:bodyPr wrap="none" lIns="0" tIns="0" rIns="0" bIns="0"/>
          <a:p>
            <a:pPr>
              <a:lnSpc>
                <a:spcPct val="100000"/>
              </a:lnSpc>
            </a:pPr>
            <a:r>
              <a:rPr lang="en-US" sz="1200" b="1">
                <a:solidFill>
                  <a:srgbClr val="2B7A3D"/>
                </a:solidFill>
                <a:latin typeface="Microsoft YaHei"/>
                <a:ea typeface="Microsoft YaHei"/>
              </a:rPr>
              <a:t>Rename test</a:t>
            </a:r>
            <a:endParaRPr/>
          </a:p>
        </p:txBody>
      </p:sp>
      <p:sp>
        <p:nvSpPr>
          <p:cNvPr id="57" name="" descr="{&quot;isTemplate&quot;:true,&quot;type&quot;:&quot;text&quot;}"/>
          <p:cNvSpPr txBox="1"/>
          <p:nvPr/>
        </p:nvSpPr>
        <p:spPr>
          <a:xfrm rot="0" flipH="0" flipV="0">
            <a:off x="5400675" y="3867150"/>
            <a:ext cx="624840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Say the class name out loud to the client. “This is the Order.” If that sentence needs a word of explanation, the name is wrong.</a:t>
            </a:r>
            <a:endParaRPr/>
          </a:p>
        </p:txBody>
      </p:sp>
      <p:sp>
        <p:nvSpPr>
          <p:cNvPr id="58" name=""/>
          <p:cNvSpPr/>
          <p:nvPr/>
        </p:nvSpPr>
        <p:spPr>
          <a:xfrm rot="0" flipH="0" flipV="0">
            <a:off x="5200650" y="4610100"/>
            <a:ext cx="6610350" cy="762000"/>
          </a:xfrm>
          <a:prstGeom prst="roundRect">
            <a:avLst>
              <a:gd name="adj" fmla="val 11250"/>
            </a:avLst>
          </a:prstGeom>
          <a:solidFill>
            <a:srgbClr val="FFFFFF"/>
          </a:solidFill>
          <a:ln w="12700">
            <a:solidFill>
              <a:srgbClr val="D6DCE5"/>
            </a:solidFill>
            <a:prstDash val="solid"/>
          </a:ln>
        </p:spPr>
        <p:txBody>
          <a:bodyPr/>
          <a:p/>
        </p:txBody>
      </p:sp>
      <p:sp>
        <p:nvSpPr>
          <p:cNvPr id="59" name="" descr="{&quot;isTemplate&quot;:true,&quot;type&quot;:&quot;text&quot;}"/>
          <p:cNvSpPr txBox="1"/>
          <p:nvPr/>
        </p:nvSpPr>
        <p:spPr>
          <a:xfrm rot="0" flipH="0" flipV="0">
            <a:off x="5362575" y="4752975"/>
            <a:ext cx="6286500" cy="190500"/>
          </a:xfrm>
          <a:prstGeom prst="rect"/>
        </p:spPr>
        <p:txBody>
          <a:bodyPr wrap="none" lIns="0" tIns="0" rIns="0" bIns="0"/>
          <a:p>
            <a:pPr>
              <a:lnSpc>
                <a:spcPct val="100000"/>
              </a:lnSpc>
            </a:pPr>
            <a:r>
              <a:rPr lang="en-US" sz="1200" b="1">
                <a:solidFill>
                  <a:srgbClr val="0E3F8C"/>
                </a:solidFill>
                <a:latin typeface="Microsoft YaHei"/>
                <a:ea typeface="Microsoft YaHei"/>
              </a:rPr>
              <a:t>Singular does not mean “only one”</a:t>
            </a:r>
            <a:endParaRPr/>
          </a:p>
        </p:txBody>
      </p:sp>
      <p:sp>
        <p:nvSpPr>
          <p:cNvPr id="60" name="" descr="{&quot;isTemplate&quot;:true,&quot;type&quot;:&quot;text&quot;}"/>
          <p:cNvSpPr txBox="1"/>
          <p:nvPr/>
        </p:nvSpPr>
        <p:spPr>
          <a:xfrm rot="0" flipH="0" flipV="0">
            <a:off x="5362575" y="4991100"/>
            <a:ext cx="6286500" cy="238125"/>
          </a:xfrm>
          <a:prstGeom prst="rect"/>
        </p:spPr>
        <p:txBody>
          <a:bodyPr wrap="none" lIns="0" tIns="0" rIns="0" bIns="0"/>
          <a:p>
            <a:pPr>
              <a:lnSpc>
                <a:spcPct val="160000"/>
              </a:lnSpc>
            </a:pPr>
            <a:r>
              <a:rPr lang="en-US" sz="975">
                <a:solidFill>
                  <a:srgbClr val="4A5568"/>
                </a:solidFill>
                <a:latin typeface="Microsoft YaHei"/>
                <a:ea typeface="Microsoft YaHei"/>
              </a:rPr>
              <a:t>“How many orders?” is answered with a multiplicity next week — not with a plural class name.</a:t>
            </a:r>
            <a:endParaRPr/>
          </a:p>
        </p:txBody>
      </p:sp>
      <p:sp>
        <p:nvSpPr>
          <p:cNvPr id="61" name=""/>
          <p:cNvSpPr/>
          <p:nvPr/>
        </p:nvSpPr>
        <p:spPr>
          <a:xfrm rot="0" flipH="0" flipV="0">
            <a:off x="5200650" y="5495925"/>
            <a:ext cx="6610350" cy="457200"/>
          </a:xfrm>
          <a:prstGeom prst="roundRect">
            <a:avLst>
              <a:gd name="adj" fmla="val 16667"/>
            </a:avLst>
          </a:prstGeom>
          <a:solidFill>
            <a:srgbClr val="F7F9FC"/>
          </a:solidFill>
          <a:ln w="12700">
            <a:solidFill>
              <a:srgbClr val="D6DCE5"/>
            </a:solidFill>
            <a:prstDash val="dash"/>
          </a:ln>
        </p:spPr>
        <p:txBody>
          <a:bodyPr/>
          <a:p/>
        </p:txBody>
      </p:sp>
      <p:sp>
        <p:nvSpPr>
          <p:cNvPr id="62" name="" descr="{&quot;isTemplate&quot;:true,&quot;type&quot;:&quot;text&quot;}"/>
          <p:cNvSpPr txBox="1"/>
          <p:nvPr/>
        </p:nvSpPr>
        <p:spPr>
          <a:xfrm rot="0" flipH="0" flipV="0">
            <a:off x="5353050" y="5610225"/>
            <a:ext cx="6305550" cy="228600"/>
          </a:xfrm>
          <a:prstGeom prst="rect"/>
        </p:spPr>
        <p:txBody>
          <a:bodyPr wrap="none" lIns="0" tIns="0" rIns="0" bIns="0"/>
          <a:p>
            <a:pPr>
              <a:lnSpc>
                <a:spcPct val="155000"/>
              </a:lnSpc>
            </a:pPr>
            <a:r>
              <a:rPr lang="en-US" sz="938">
                <a:solidFill>
                  <a:srgbClr val="8B97A8"/>
                </a:solidFill>
                <a:latin typeface="Microsoft YaHei"/>
                <a:ea typeface="Microsoft YaHei"/>
              </a:rPr>
              <a:t>One more to watch: “Item” is too vague. MenuItem says which catalogue it came from, and that difference will matter.</a:t>
            </a:r>
            <a:endParaRPr/>
          </a:p>
        </p:txBody>
      </p:sp>
      <p:sp>
        <p:nvSpPr>
          <p:cNvPr id="63" name="" descr="{&quot;isTemplate&quot;:true,&quot;type&quot;:&quot;text&quot;}"/>
          <p:cNvSpPr txBox="1"/>
          <p:nvPr/>
        </p:nvSpPr>
        <p:spPr>
          <a:xfrm rot="0" flipH="0" flipV="0">
            <a:off x="381000" y="6619875"/>
            <a:ext cx="5915025" cy="152400"/>
          </a:xfrm>
          <a:prstGeom prst="rect"/>
        </p:spPr>
        <p:txBody>
          <a:bodyPr wrap="none" lIns="0" tIns="0" rIns="0" bIns="0"/>
          <a:p>
            <a:pPr>
              <a:lnSpc>
                <a:spcPct val="100000"/>
              </a:lnSpc>
            </a:pPr>
            <a:r>
              <a:rPr lang="en-US" sz="975">
                <a:solidFill>
                  <a:srgbClr val="8B97A8"/>
                </a:solidFill>
                <a:latin typeface="Microsoft YaHei"/>
                <a:ea typeface="Microsoft YaHei"/>
              </a:rPr>
              <a:t>ISAD · Fall 2026 · Say the name to the client. If it needs explaining, it is a design name that arrived too early</a:t>
            </a:r>
            <a:endParaRPr/>
          </a:p>
        </p:txBody>
      </p:sp>
      <p:sp>
        <p:nvSpPr>
          <p:cNvPr id="64" name="" descr="{&quot;isTemplate&quot;:true,&quot;type&quot;:&quot;text&quot;}"/>
          <p:cNvSpPr txBox="1"/>
          <p:nvPr/>
        </p:nvSpPr>
        <p:spPr>
          <a:xfrm rot="0" flipH="0" flipV="0">
            <a:off x="11401425" y="6619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11 / 39</a:t>
            </a:r>
            <a:endParaRPr/>
          </a:p>
        </p:txBody>
      </p:sp>
    </p:spTree>
  </p:cSld>
</p:sld>
</file>

<file path=ppt/slides/slide12.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65"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6 · CONCEPTUAL VS. DESIGN&lt;/Text&gt;&#10;  &lt;/Box&gt;&#10;  &lt;Box style={{ padding: '13px 40px 0 40px', flexDirection: 'row', alignItems: 'center', justifyContent: 'space-between' }}&gt;&#10;    &lt;Text style={{ fontSize: 29, fontWeight: 'bold', color: '#0E3F8C' }}&gt;Entity, Boundary, Control&lt;/Text&gt;&#10;    &lt;Text style={{ fontSize: 14, color: '#1E4FA8', fontWeight: 'bold' }}&gt;12 / 39&lt;/Text&gt;&#10;  &lt;/Box&gt;&#10;  &lt;Box style={{ flex: 1, padding: '6px 40px 0 40px', justifyContent: 'center', alignItems: 'center' }}&gt;&#10;    &lt;svg width={1180} height={392} viewBox='0 0 1180 392'&gt;&#10;      &lt;text x='10' y='16' fill='#8B97A8' fontSize='13'&gt;Every conceptual class is one of three kinds. The kind tells you what kind of responsibility it carries.&lt;/text&gt;&#10;&#10;      &lt;g transform='translate(0,34)'&gt;&#10;        &lt;rect x='0' y='0' width='376' height='300' rx='10' fill='#EAF6EC' stroke='#2B7A3D' strokeWidth='2.2' /&gt;&#10;        &lt;circle cx='44' cy='44' r='24' fill='#2B7A3D' /&gt;&#10;        &lt;text x='44' y='51' textAnchor='middle' fill='#FFFFFF' fontSize='19' fontWeight='bold'&gt;E&lt;/text&gt;&#10;        &lt;text x='80' y='50' fill='#2B7A3D' fontSize='19' fontWeight='bold'&gt;Entity class&lt;/text&gt;&#10;        &lt;text x='20' y='84' fill='#4A5568' fontSize='12.5'&gt;Stores the information the business&lt;/text&gt;&#10;        &lt;text x='20' y='102' fill='#4A5568' fontSize='12.5'&gt;needs to keep. Stable over time.&lt;/text&gt;&#10;        &lt;line x1='20' y1='120' x2='356' y2='120' stroke='#C9E0CD' strokeWidth='1' /&gt;&#10;        &lt;text x='20' y='146' fill='#2B7A3D' fontSize='12.5' fontWeight='bold'&gt;Ask:&lt;/text&gt;&#10;        &lt;text x='20' y='167' fill='#4A5568' fontSize='12'&gt;Would the client still care about&lt;/text&gt;&#10;        &lt;text x='20' y='184' fill='#4A5568' fontSize='12'&gt;this in a year, with no UI?&lt;/text&gt;&#10;        &lt;text x='20' y='214' fill='#2B7A3D' fontSize='12' fontWeight='bold'&gt;Worked example:&lt;/text&gt;&#10;        &lt;text x='20' y='234' fill='#4A5568' fontSize='12'&gt;Order · OrderLine · MenuItem&lt;/text&gt;&#10;        &lt;text x='20' y='252' fill='#4A5568' fontSize='12'&gt;Restaurant · Courier · Payment&lt;/text&gt;&#10;        &lt;rect x='20' y='266' width='336' height='24' rx='5' fill='#FFFFFF' /&gt;&#10;        &lt;text x='32' y='283' fill='#2B7A3D' fontSize='11.5'&gt;Most of your model lives here — 7 of 14&lt;/text&gt;&#10;      &lt;/g&gt;&#10;&#10;      &lt;g transform='translate(402,34)'&gt;&#10;        &lt;rect x='0' y='0' width='376' height='300' rx='10' fill='#FFF6E0' stroke='#FFC107' strokeWidth='2.2' /&gt;&#10;        &lt;circle cx='44' cy='44' r='24' fill='#996F00' /&gt;&#10;        &lt;text x='44' y='51' textAnchor='middle' fill='#FFFFFF' fontSize='19' fontWeight='bold'&gt;B&lt;/text&gt;&#10;        &lt;text x='80' y='50' fill='#996F00' fontSize='19' fontWeight='bold'&gt;Boundary class&lt;/text&gt;&#10;        &lt;text x='20' y='84' fill='#4A5568' fontSize='12.5'&gt;Sits at the edge. Talks to actors&lt;/text&gt;&#10;        &lt;text x='20' y='102' fill='#4A5568' fontSize='12.5'&gt;and translates their requests.&lt;/text&gt;&#10;        &lt;line x1='20' y1='120' x2='356' y2='120' stroke='#E8D9A8' strokeWidth='1' /&gt;&#10;        &lt;text x='20' y='146' fill='#996F00' fontSize='12.5' fontWeight='bold'&gt;Ask:&lt;/text&gt;&#10;        &lt;text x='20' y='167' fill='#4A5568' fontSize='12'&gt;Is someone outside the system&lt;/text&gt;&#10;        &lt;text x='20' y='184' fill='#4A5568' fontSize='12'&gt;doing something to the data?&lt;/text&gt;&#10;        &lt;text x='20' y='214' fill='#996F00' fontSize='12' fontWeight='bold'&gt;Worked example:&lt;/text&gt;&#10;        &lt;text x='20' y='234' fill='#4A5568' fontSize='12'&gt;StudentApp · KitchenDisplay&lt;/text&gt;&#10;        &lt;text x='20' y='252' fill='#4A5568' fontSize='12'&gt;CourierApp · RestaurantConsole&lt;/text&gt;&#10;        &lt;rect x='20' y='266' width='336' height='24' rx='5' fill='#FFFFFF' /&gt;&#10;        &lt;text x='32' y='283' fill='#996F00' fontSize='11.5'&gt;These are where your UI specs belong&lt;/text&gt;&#10;      &lt;/g&gt;&#10;&#10;      &lt;g transform='translate(804,34)'&gt;&#10;        &lt;rect x='0' y='0' width='376' height='300' rx='10' fill='#F0F5FC' stroke='#1E4FA8' strokeWidth='2.2' /&gt;&#10;        &lt;circle cx='44' cy='44' r='24' fill='#1E4FA8' /&gt;&#10;        &lt;text x='44' y='51' textAnchor='middle' fill='#FFFFFF' fontSize='19' fontWeight='bold'&gt;C&lt;/text&gt;&#10;        &lt;text x='80' y='50' fill='#0E3F8C' fontSize='19' fontWeight='bold'&gt;Control class&lt;/text&gt;&#10;        &lt;text x='20' y='84' fill='#4A5568' fontSize='12.5'&gt;Coordinates one use case from start&lt;/text&gt;&#10;        &lt;text x='20' y='102' fill='#4A5568' fontSize='12.5'&gt;to finish. Logic, not storage.&lt;/text&gt;&#10;        &lt;line x1='20' y1='120' x2='356' y2='120' stroke='#D6DCE5' strokeWidth='1' /&gt;&#10;        &lt;text x='20' y='146' fill='#0E3F8C' fontSize='12.5' fontWeight='bold'&gt;Ask:&lt;/text&gt;&#10;        &lt;text x='20' y='167' fill='#4A5568' fontSize='12'&gt;Does one use case need a sequence&lt;/text&gt;&#10;        &lt;text x='20' y='184' fill='#4A5568' fontSize='12'&gt;of decisions that no single entity owns?&lt;/text&gt;&#10;        &lt;text x='20' y='214' fill='#0E3F8C' fontSize='12' fontWeight='bold'&gt;Worked example:&lt;/text&gt;&#10;        &lt;text x='20' y='234' fill='#4A5568' fontSize='12'&gt;PlaceOrderController&lt;/text&gt;&#10;        &lt;text x='20' y='252' fill='#4A5568' fontSize='12'&gt;PayController&lt;/text&gt;&#10;        &lt;rect x='20' y='266' width='336' height='24' rx='5' fill='#FFFFFF' /&gt;&#10;        &lt;text x='32' y='283' fill='#0E3F8C' fontSize='11.5'&gt;One per use case — so keep it small&lt;/text&gt;&#10;      &lt;/g&gt;&#10;&#10;      &lt;text x='10' y='368' fill='#8B97A8' fontSize='12'&gt;Classifying a noun into one of these three takes thirty seconds and saves the whole model from turning into a pile of undifferentiated boxes.&lt;/text&gt;&#10;    &lt;/svg&gt;&#10;  &lt;/Box&gt;&#10;  &lt;Box style={{ height: 34, padding: '0 40px', flexDirection: 'row', alignItems: 'center', justifyContent: 'space-between' }}&gt;&#10;    &lt;Text style={{ fontSize: 13, color: '#8B97A8' }}&gt;ISAD · Fall 2026 · Every class is Entity, Boundary or Control. A box you cannot classify is a box whose responsibility nobody has agreed on&lt;/Text&gt;&#10;    &lt;Text style={{ fontSize: 14, color: '#1E4FA8', fontWeight: 'bold' }}&gt;12 / 39&lt;/Text&gt;&#10;  &lt;/Box&gt;&#10;&lt;/Slide&gt;&#10;"/>
        <p:cNvGrpSpPr/>
        <p:nvPr/>
      </p:nvGrpSpPr>
      <p:grpSpPr>
        <a:xfrm>
          <a:off x="0" y="0"/>
          <a:ext cx="0" cy="0"/>
          <a:chOff x="0" y="0"/>
          <a:chExt cx="0" cy="0"/>
        </a:xfrm>
      </p:grpSpPr>
      <p:sp>
        <p:nvSpPr>
          <p:cNvPr id="66" name=""/>
          <p:cNvSpPr/>
          <p:nvPr/>
        </p:nvSpPr>
        <p:spPr>
          <a:xfrm rot="0" flipH="0" flipV="0">
            <a:off x="0" y="0"/>
            <a:ext cx="12192000" cy="6858000"/>
          </a:xfrm>
          <a:prstGeom prst="rect">
            <a:avLst/>
          </a:prstGeom>
          <a:solidFill>
            <a:srgbClr val="FFFFFF"/>
          </a:solidFill>
          <a:ln/>
        </p:spPr>
        <p:txBody>
          <a:bodyPr/>
          <a:p/>
        </p:txBody>
      </p:sp>
      <p:sp>
        <p:nvSpPr>
          <p:cNvPr id="67" name=""/>
          <p:cNvSpPr/>
          <p:nvPr/>
        </p:nvSpPr>
        <p:spPr>
          <a:xfrm rot="0" flipH="0" flipV="0">
            <a:off x="0" y="0"/>
            <a:ext cx="12192000" cy="685800"/>
          </a:xfrm>
          <a:prstGeom prst="rect">
            <a:avLst/>
          </a:prstGeom>
          <a:solidFill>
            <a:srgbClr val="1E4FA8"/>
          </a:solidFill>
          <a:ln/>
        </p:spPr>
        <p:txBody>
          <a:bodyPr/>
          <a:p/>
        </p:txBody>
      </p:sp>
      <p:sp>
        <p:nvSpPr>
          <p:cNvPr id="68"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69" name="" descr="{&quot;isTemplate&quot;:true,&quot;type&quot;:&quot;text&quot;}"/>
          <p:cNvSpPr txBox="1"/>
          <p:nvPr/>
        </p:nvSpPr>
        <p:spPr>
          <a:xfrm rot="0" flipH="0" flipV="0">
            <a:off x="9553575" y="257175"/>
            <a:ext cx="2257425" cy="171450"/>
          </a:xfrm>
          <a:prstGeom prst="rect"/>
        </p:spPr>
        <p:txBody>
          <a:bodyPr wrap="none" lIns="0" tIns="0" rIns="0" bIns="0"/>
          <a:p>
            <a:pPr>
              <a:lnSpc>
                <a:spcPct val="100000"/>
              </a:lnSpc>
            </a:pPr>
            <a:r>
              <a:rPr lang="en-US" sz="1125">
                <a:solidFill>
                  <a:srgbClr val="B9CDF0"/>
                </a:solidFill>
                <a:latin typeface="Microsoft YaHei"/>
                <a:ea typeface="Microsoft YaHei"/>
              </a:rPr>
              <a:t>W06 · CONCEPTUAL VS. DESIGN</a:t>
            </a:r>
            <a:endParaRPr/>
          </a:p>
        </p:txBody>
      </p:sp>
      <p:sp>
        <p:nvSpPr>
          <p:cNvPr id="70" name="" descr="{&quot;isTemplate&quot;:true,&quot;type&quot;:&quot;text&quot;}"/>
          <p:cNvSpPr txBox="1"/>
          <p:nvPr/>
        </p:nvSpPr>
        <p:spPr>
          <a:xfrm rot="0" flipH="0" flipV="0">
            <a:off x="381000" y="809625"/>
            <a:ext cx="3305175" cy="333375"/>
          </a:xfrm>
          <a:prstGeom prst="rect"/>
        </p:spPr>
        <p:txBody>
          <a:bodyPr wrap="none" lIns="0" tIns="0" rIns="0" bIns="0"/>
          <a:p>
            <a:pPr>
              <a:lnSpc>
                <a:spcPct val="100000"/>
              </a:lnSpc>
            </a:pPr>
            <a:r>
              <a:rPr lang="en-US" sz="2175" b="1">
                <a:solidFill>
                  <a:srgbClr val="0E3F8C"/>
                </a:solidFill>
                <a:latin typeface="Microsoft YaHei"/>
                <a:ea typeface="Microsoft YaHei"/>
              </a:rPr>
              <a:t>Entity, Boundary, Control</a:t>
            </a:r>
            <a:endParaRPr/>
          </a:p>
        </p:txBody>
      </p:sp>
      <p:sp>
        <p:nvSpPr>
          <p:cNvPr id="71"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12 / 39</a:t>
            </a:r>
            <a:endParaRPr/>
          </a:p>
        </p:txBody>
      </p:sp>
      <p:pic>
        <p:nvPicPr>
          <p:cNvPr id="72" name=""/>
          <p:cNvPicPr>
            <a:picLocks noChangeAspect="1"/>
          </p:cNvPicPr>
          <p:nvPr/>
        </p:nvPicPr>
        <p:blipFill>
          <a:blip>
            <a:extLst>
              <a:ext uri="{96DAC541-7B7A-43D3-8B79-37D633B846F1}">
                <asvg:svgBlip r:embed="rId1"/>
              </a:ext>
            </a:extLst>
          </a:blip>
          <a:stretch>
            <a:fillRect/>
          </a:stretch>
        </p:blipFill>
        <p:spPr>
          <a:xfrm rot="0" flipH="0" flipV="0">
            <a:off x="476250" y="2000250"/>
            <a:ext cx="11239500" cy="3733800"/>
          </a:xfrm>
          <a:prstGeom prst="rect">
            <a:avLst/>
          </a:prstGeom>
          <a:ln/>
        </p:spPr>
      </p:pic>
      <p:sp>
        <p:nvSpPr>
          <p:cNvPr id="73" name="" descr="{&quot;isTemplate&quot;:true,&quot;type&quot;:&quot;text&quot;}"/>
          <p:cNvSpPr txBox="1"/>
          <p:nvPr/>
        </p:nvSpPr>
        <p:spPr>
          <a:xfrm rot="0" flipH="0" flipV="0">
            <a:off x="381000" y="6619875"/>
            <a:ext cx="7629525" cy="152400"/>
          </a:xfrm>
          <a:prstGeom prst="rect"/>
        </p:spPr>
        <p:txBody>
          <a:bodyPr wrap="none" lIns="0" tIns="0" rIns="0" bIns="0"/>
          <a:p>
            <a:pPr>
              <a:lnSpc>
                <a:spcPct val="100000"/>
              </a:lnSpc>
            </a:pPr>
            <a:r>
              <a:rPr lang="en-US" sz="975">
                <a:solidFill>
                  <a:srgbClr val="8B97A8"/>
                </a:solidFill>
                <a:latin typeface="Microsoft YaHei"/>
                <a:ea typeface="Microsoft YaHei"/>
              </a:rPr>
              <a:t>ISAD · Fall 2026 · Every class is Entity, Boundary or Control. A box you cannot classify is a box whose responsibility nobody has agreed on</a:t>
            </a:r>
            <a:endParaRPr/>
          </a:p>
        </p:txBody>
      </p:sp>
      <p:sp>
        <p:nvSpPr>
          <p:cNvPr id="74" name="" descr="{&quot;isTemplate&quot;:true,&quot;type&quot;:&quot;text&quot;}"/>
          <p:cNvSpPr txBox="1"/>
          <p:nvPr/>
        </p:nvSpPr>
        <p:spPr>
          <a:xfrm rot="0" flipH="0" flipV="0">
            <a:off x="11401425" y="6619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12 / 39</a:t>
            </a:r>
            <a:endParaRPr/>
          </a:p>
        </p:txBody>
      </p:sp>
    </p:spTree>
  </p:cSld>
</p:sld>
</file>

<file path=ppt/slides/slide13.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75"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6 · CONCEPTUAL VS. DESIGN&lt;/Text&gt;&#10;  &lt;/Box&gt;&#10;  &lt;Box style={{ padding: '13px 40px 0 40px', flexDirection: 'row', alignItems: 'center', justifyContent: 'space-between' }}&gt;&#10;    &lt;Text style={{ fontSize: 29, fontWeight: 'bold', color: '#0E3F8C' }}&gt;Why the Boundary Is Drawn&lt;/Text&gt;&#10;    &lt;Text style={{ fontSize: 14, color: '#1E4FA8', fontWeight: 'bold' }}&gt;13 / 39&lt;/Text&gt;&#10;  &lt;/Box&gt;&#10;  &lt;Box style={{ flex: 1, padding: '10px 40px 0 40px' }}&gt;&#10;    &lt;Table&#10;      style={{ width: '100%', height: '100%' }}&#10;      defaultTextStyle={{ fontSize: 13.5, textAlign: 'left', color: '#1A2230' }}&#10;      defaultCellStyle={{&#10;        border: {&#10;          left: { width: 1, color: '#E5E7EB' },&#10;          right: { width: 1, color: '#E5E7EB' },&#10;          top: { width: 1, color: '#E5E7EB' },&#10;          bottom: { width: 1, color: '#E5E7EB' },&#10;        },&#10;      }}&#10;      cells={[&#10;        [&#10;          { text: '', textStyle: { bold: true }, cellStyle: { background: { color: '#0E3F8C' } } },&#10;          { text: 'Entity class', textStyle: { bold: true, color: '#FFFFFF', fontSize: 15 }, cellStyle: { background: { color: '#2B7A3D' } } },&#10;          { text: 'Boundary class', textStyle: { bold: true, color: '#FFFFFF', fontSize: 15 }, cellStyle: { background: { color: '#996F00' } } },&#10;          { text: 'Control class', textStyle: { bold: true, color: '#FFFFFF', fontSize: 15 }, cellStyle: { background: { color: '#1E4FA8' } } },&#10;        ],&#10;        [&#10;          { text: 'Carries', textStyle: { bold: true, color: '#0E3F8C' }, cellStyle: { background: { color: '#F7F9FC' } } },&#10;          { text: 'Information the business keeps.', textStyle: { color: '#4A5568' }, cellStyle: { background: { color: '#F7F9FC' } } },&#10;          { text: 'Requests coming in, answers going out.', textStyle: { color: '#4A5568' }, cellStyle: { background: { color: '#F7F9FC' } } },&#10;          { text: 'The order of the steps.', textStyle: { color: '#4A5568' }, cellStyle: { background: { color: '#F7F9FC' } } },&#10;        ],&#10;        [&#10;          { text: 'Knows about', textStyle: { bold: true, color: '#0E3F8C' } },&#10;          { text: 'Other entities. Never actors.', textStyle: { color: '#4A5568' } },&#10;          { text: 'The entities it presents. Not the steps.', textStyle: { color: '#4A5568' } },&#10;          { text: 'All of them — that is its job.', textStyle: { color: '#4A5568' } },&#10;        ],&#10;        [&#10;          { text: 'Changes when', textStyle: { bold: true, color: '#0E3F8C' }, cellStyle: { background: { color: '#F7F9FC' } } },&#10;          { text: 'The business changes its mind about data.', textStyle: { color: '#4A5568' }, cellStyle: { background: { color: '#F7F9FC' } } },&#10;          { text: 'The interface changes — W10, not today.', textStyle: { color: '#4A5568' }, cellStyle: { background: { color: '#F7F9FC' } } },&#10;          { text: 'The use case gains or loses a step.', textStyle: { color: '#4A5568' }, cellStyle: { background: { color: '#F7F9FC' } } },&#10;        ],&#10;        [&#10;          { text: 'Worked example', textStyle: { bold: true, color: '#0E3F8C' } },&#10;          { text: 'Order, MenuItem, Courier, Payment', textStyle: { color: '#4A5568' } },&#10;          { text: 'StudentApp, KitchenDisplay, CourierApp', textStyle: { color: '#4A5568' } },&#10;          { text: 'PlaceOrderController, PayController', textStyle: { color: '#4A5568' } },&#10;        ],&#10;        [&#10;          { text: 'The trap', textStyle: { bold: true, color: '#0E3F8C' }, cellStyle: { background: { color: '#F7F9FC' } } },&#10;          { text: 'An entity with a method called printTicket() is doing a boundary’s job.', textStyle: { color: '#4A5568' }, cellStyle: { background: { color: '#F7F9FC' } } },&#10;          { text: 'A boundary containing business rules hides them from review.', textStyle: { color: '#4A5568' }, cellStyle: { background: { color: '#F7F9FC' } } },&#10;          { text: 'A control class that owns data is a god object with a good name.', textStyle: { color: '#4A5568' }, cellStyle: { background: { color: '#F7F9FC' } } },&#10;        ],&#10;      ]}&#10;    /&gt;&#10;  &lt;/Box&gt;&#10;  &lt;Box style={{ height: 46, background: '#0E3F8C', padding: '0 40px', flexDirection: 'row', alignItems: 'center', justifyContent: 'center' }}&gt;&#10;    &lt;Text style={{ fontSize: 16.5, color: '#FFFFFF', fontWeight: '600' }}&gt;The three kinds are a division of responsibility, not a folder structure. Keep them in one diagram.&lt;/Text&gt;&#10;  &lt;/Box&gt;&#10;&lt;/Slide&gt;&#10;"/>
        <p:cNvGrpSpPr/>
        <p:nvPr/>
      </p:nvGrpSpPr>
      <p:grpSpPr>
        <a:xfrm>
          <a:off x="0" y="0"/>
          <a:ext cx="0" cy="0"/>
          <a:chOff x="0" y="0"/>
          <a:chExt cx="0" cy="0"/>
        </a:xfrm>
      </p:grpSpPr>
      <p:sp>
        <p:nvSpPr>
          <p:cNvPr id="76" name=""/>
          <p:cNvSpPr/>
          <p:nvPr/>
        </p:nvSpPr>
        <p:spPr>
          <a:xfrm rot="0" flipH="0" flipV="0">
            <a:off x="0" y="0"/>
            <a:ext cx="12192000" cy="6858000"/>
          </a:xfrm>
          <a:prstGeom prst="rect">
            <a:avLst/>
          </a:prstGeom>
          <a:solidFill>
            <a:srgbClr val="FFFFFF"/>
          </a:solidFill>
          <a:ln/>
        </p:spPr>
        <p:txBody>
          <a:bodyPr/>
          <a:p/>
        </p:txBody>
      </p:sp>
      <p:sp>
        <p:nvSpPr>
          <p:cNvPr id="77" name=""/>
          <p:cNvSpPr/>
          <p:nvPr/>
        </p:nvSpPr>
        <p:spPr>
          <a:xfrm rot="0" flipH="0" flipV="0">
            <a:off x="0" y="0"/>
            <a:ext cx="12192000" cy="685800"/>
          </a:xfrm>
          <a:prstGeom prst="rect">
            <a:avLst/>
          </a:prstGeom>
          <a:solidFill>
            <a:srgbClr val="1E4FA8"/>
          </a:solidFill>
          <a:ln/>
        </p:spPr>
        <p:txBody>
          <a:bodyPr/>
          <a:p/>
        </p:txBody>
      </p:sp>
      <p:sp>
        <p:nvSpPr>
          <p:cNvPr id="78"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79" name="" descr="{&quot;isTemplate&quot;:true,&quot;type&quot;:&quot;text&quot;}"/>
          <p:cNvSpPr txBox="1"/>
          <p:nvPr/>
        </p:nvSpPr>
        <p:spPr>
          <a:xfrm rot="0" flipH="0" flipV="0">
            <a:off x="9553575" y="257175"/>
            <a:ext cx="2257425" cy="171450"/>
          </a:xfrm>
          <a:prstGeom prst="rect"/>
        </p:spPr>
        <p:txBody>
          <a:bodyPr wrap="none" lIns="0" tIns="0" rIns="0" bIns="0"/>
          <a:p>
            <a:pPr>
              <a:lnSpc>
                <a:spcPct val="100000"/>
              </a:lnSpc>
            </a:pPr>
            <a:r>
              <a:rPr lang="en-US" sz="1125">
                <a:solidFill>
                  <a:srgbClr val="B9CDF0"/>
                </a:solidFill>
                <a:latin typeface="Microsoft YaHei"/>
                <a:ea typeface="Microsoft YaHei"/>
              </a:rPr>
              <a:t>W06 · CONCEPTUAL VS. DESIGN</a:t>
            </a:r>
            <a:endParaRPr/>
          </a:p>
        </p:txBody>
      </p:sp>
      <p:sp>
        <p:nvSpPr>
          <p:cNvPr id="80" name="" descr="{&quot;isTemplate&quot;:true,&quot;type&quot;:&quot;text&quot;}"/>
          <p:cNvSpPr txBox="1"/>
          <p:nvPr/>
        </p:nvSpPr>
        <p:spPr>
          <a:xfrm rot="0" flipH="0" flipV="0">
            <a:off x="381000" y="809625"/>
            <a:ext cx="3676650" cy="333375"/>
          </a:xfrm>
          <a:prstGeom prst="rect"/>
        </p:spPr>
        <p:txBody>
          <a:bodyPr wrap="none" lIns="0" tIns="0" rIns="0" bIns="0"/>
          <a:p>
            <a:pPr>
              <a:lnSpc>
                <a:spcPct val="100000"/>
              </a:lnSpc>
            </a:pPr>
            <a:r>
              <a:rPr lang="en-US" sz="2175" b="1">
                <a:solidFill>
                  <a:srgbClr val="0E3F8C"/>
                </a:solidFill>
                <a:latin typeface="Microsoft YaHei"/>
                <a:ea typeface="Microsoft YaHei"/>
              </a:rPr>
              <a:t>Why the Boundary Is Drawn</a:t>
            </a:r>
            <a:endParaRPr/>
          </a:p>
        </p:txBody>
      </p:sp>
      <p:sp>
        <p:nvSpPr>
          <p:cNvPr id="81"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13 / 39</a:t>
            </a:r>
            <a:endParaRPr/>
          </a:p>
        </p:txBody>
      </p:sp>
      <p:graphicFrame>
        <p:nvGraphicFramePr>
          <p:cNvPr id="82" name=""/>
          <p:cNvGraphicFramePr/>
          <p:nvPr/>
        </p:nvGraphicFramePr>
        <p:xfrm rot="0" flipH="0" flipV="0">
          <a:off x="381000" y="1238250"/>
          <a:ext cx="11430000" cy="5181600"/>
        </p:xfrm>
        <a:graphic>
          <a:graphicData uri="http://schemas.openxmlformats.org/drawingml/2006/table">
            <a:tbl>
              <a:tblGrid>
                <a:gridCol w="1023426">
                  <a:extLst>
                    <a:ext uri="{9D8B030D-6E8A-4147-A177-3AD203B41FA5}">
                      <a16:colId val="1"/>
                    </a:ext>
                  </a:extLst>
                </a:gridCol>
                <a:gridCol w="3660315">
                  <a:extLst>
                    <a:ext uri="{9D8B030D-6E8A-4147-A177-3AD203B41FA5}">
                      <a16:colId val="2"/>
                    </a:ext>
                  </a:extLst>
                </a:gridCol>
                <a:gridCol w="3312211">
                  <a:extLst>
                    <a:ext uri="{9D8B030D-6E8A-4147-A177-3AD203B41FA5}">
                      <a16:colId val="3"/>
                    </a:ext>
                  </a:extLst>
                </a:gridCol>
                <a:gridCol w="3434048">
                  <a:extLst>
                    <a:ext uri="{9D8B030D-6E8A-4147-A177-3AD203B41FA5}">
                      <a16:colId val="4"/>
                    </a:ext>
                  </a:extLst>
                </a:gridCol>
              </a:tblGrid>
              <a:tr h="752475">
                <a:tc>
                  <a:txBody>
                    <a:bodyPr wrap="square" lIns="0" tIns="0" rIns="0" bIns="0" anchor="ctr">
                      <a:normAutofit/>
                    </a:bodyPr>
                    <a:p>
                      <a:pPr marL="114300" marR="114300" algn="l">
                        <a:lnSpc>
                          <a:spcPct val="120000"/>
                        </a:lnSpc>
                      </a:pP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Entity class</a:t>
                      </a:r>
                      <a:endParaRPr/>
                    </a:p>
                  </a:txBody>
                  <a:tcPr marL="45720" marR="45720" marT="45720" marB="45720" anchor="ctr">
                    <a:lnL>
                      <a:noFill/>
                    </a:lnL>
                    <a:lnR>
                      <a:noFill/>
                    </a:lnR>
                    <a:lnT>
                      <a:noFill/>
                    </a:lnT>
                    <a:lnB>
                      <a:noFill/>
                    </a:lnB>
                    <a:solidFill>
                      <a:srgbClr val="2B7A3D"/>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Boundary class</a:t>
                      </a:r>
                      <a:endParaRPr/>
                    </a:p>
                  </a:txBody>
                  <a:tcPr marL="45720" marR="45720" marT="45720" marB="45720" anchor="ctr">
                    <a:lnL>
                      <a:noFill/>
                    </a:lnL>
                    <a:lnR>
                      <a:noFill/>
                    </a:lnR>
                    <a:lnT>
                      <a:noFill/>
                    </a:lnT>
                    <a:lnB>
                      <a:noFill/>
                    </a:lnB>
                    <a:solidFill>
                      <a:srgbClr val="996F00"/>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Control class</a:t>
                      </a:r>
                      <a:endParaRPr/>
                    </a:p>
                  </a:txBody>
                  <a:tcPr marL="45720" marR="45720" marT="45720" marB="45720" anchor="ctr">
                    <a:lnL>
                      <a:noFill/>
                    </a:lnL>
                    <a:lnR>
                      <a:noFill/>
                    </a:lnR>
                    <a:lnT>
                      <a:noFill/>
                    </a:lnT>
                    <a:lnB>
                      <a:noFill/>
                    </a:lnB>
                    <a:solidFill>
                      <a:srgbClr val="1E4FA8"/>
                    </a:solidFill>
                  </a:tcPr>
                </a:tc>
                <a:extLst>
                  <a:ext uri="{0D108BD9-81ED-4DB2-BD59-A6C34878D82A}">
                    <a16:rowId val="1"/>
                  </a:ext>
                </a:extLst>
              </a:tr>
              <a:tr h="704850">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Carries</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Information the business keeps.</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Requests coming in, answers going out.</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order of the steps.</a:t>
                      </a:r>
                      <a:endParaRPr/>
                    </a:p>
                  </a:txBody>
                  <a:tcPr marL="45720" marR="45720" marT="45720" marB="45720" anchor="ctr">
                    <a:lnL>
                      <a:noFill/>
                    </a:lnL>
                    <a:lnR>
                      <a:noFill/>
                    </a:lnR>
                    <a:lnT>
                      <a:noFill/>
                    </a:lnT>
                    <a:lnB>
                      <a:noFill/>
                    </a:lnB>
                    <a:solidFill>
                      <a:srgbClr val="F7F9FC"/>
                    </a:solidFill>
                  </a:tcPr>
                </a:tc>
                <a:extLst>
                  <a:ext uri="{0D108BD9-81ED-4DB2-BD59-A6C34878D82A}">
                    <a16:rowId val="2"/>
                  </a:ext>
                </a:extLst>
              </a:tr>
              <a:tr h="704850">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Knows about</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Other entities. Never actors.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entities it presents. Not the steps.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All of them — that is its job.</a:t>
                      </a:r>
                      <a:endParaRPr/>
                    </a:p>
                  </a:txBody>
                  <a:tcPr marL="45720" marR="45720" marT="45720" marB="45720" anchor="ctr">
                    <a:lnL>
                      <a:noFill/>
                    </a:lnL>
                    <a:lnR>
                      <a:noFill/>
                    </a:lnR>
                    <a:lnT>
                      <a:noFill/>
                    </a:lnT>
                    <a:lnB>
                      <a:noFill/>
                    </a:lnB>
                  </a:tcPr>
                </a:tc>
                <a:extLst>
                  <a:ext uri="{0D108BD9-81ED-4DB2-BD59-A6C34878D82A}">
                    <a16:rowId val="3"/>
                  </a:ext>
                </a:extLst>
              </a:tr>
              <a:tr h="704850">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Changes when</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business changes its mind about data.</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interface changes — W10, not today.</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use case gains or loses a step.</a:t>
                      </a:r>
                      <a:endParaRPr/>
                    </a:p>
                  </a:txBody>
                  <a:tcPr marL="45720" marR="45720" marT="45720" marB="45720" anchor="ctr">
                    <a:lnL>
                      <a:noFill/>
                    </a:lnL>
                    <a:lnR>
                      <a:noFill/>
                    </a:lnR>
                    <a:lnT>
                      <a:noFill/>
                    </a:lnT>
                    <a:lnB>
                      <a:noFill/>
                    </a:lnB>
                    <a:solidFill>
                      <a:srgbClr val="F7F9FC"/>
                    </a:solidFill>
                  </a:tcPr>
                </a:tc>
                <a:extLst>
                  <a:ext uri="{0D108BD9-81ED-4DB2-BD59-A6C34878D82A}">
                    <a16:rowId val="4"/>
                  </a:ext>
                </a:extLst>
              </a:tr>
              <a:tr h="1157288">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Worked example</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Order, MenuItem, Courier, Payment</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StudentApp, KitchenDisplay, CourierApp</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PlaceOrderController, PayController</a:t>
                      </a:r>
                      <a:endParaRPr/>
                    </a:p>
                  </a:txBody>
                  <a:tcPr marL="45720" marR="45720" marT="45720" marB="45720" anchor="ctr">
                    <a:lnL>
                      <a:noFill/>
                    </a:lnL>
                    <a:lnR>
                      <a:noFill/>
                    </a:lnR>
                    <a:lnT>
                      <a:noFill/>
                    </a:lnT>
                    <a:lnB>
                      <a:noFill/>
                    </a:lnB>
                  </a:tcPr>
                </a:tc>
                <a:extLst>
                  <a:ext uri="{0D108BD9-81ED-4DB2-BD59-A6C34878D82A}">
                    <a16:rowId val="5"/>
                  </a:ext>
                </a:extLst>
              </a:tr>
              <a:tr h="1157288">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The trap</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An entity with a method called printTicket() is doing a boundary’s job.</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 boundary containing business rules hides them from review.</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 control class that owns data is a god object with a good name.</a:t>
                      </a:r>
                      <a:endParaRPr/>
                    </a:p>
                  </a:txBody>
                  <a:tcPr marL="45720" marR="45720" marT="45720" marB="45720" anchor="ctr">
                    <a:lnL>
                      <a:noFill/>
                    </a:lnL>
                    <a:lnR>
                      <a:noFill/>
                    </a:lnR>
                    <a:lnT>
                      <a:noFill/>
                    </a:lnT>
                    <a:lnB>
                      <a:noFill/>
                    </a:lnB>
                    <a:solidFill>
                      <a:srgbClr val="F7F9FC"/>
                    </a:solidFill>
                  </a:tcPr>
                </a:tc>
                <a:extLst>
                  <a:ext uri="{0D108BD9-81ED-4DB2-BD59-A6C34878D82A}">
                    <a16:rowId val="6"/>
                  </a:ext>
                </a:extLst>
              </a:tr>
            </a:tbl>
          </a:graphicData>
        </a:graphic>
      </p:graphicFrame>
      <p:sp>
        <p:nvSpPr>
          <p:cNvPr id="83" name=""/>
          <p:cNvSpPr/>
          <p:nvPr/>
        </p:nvSpPr>
        <p:spPr>
          <a:xfrm rot="0" flipH="0" flipV="0">
            <a:off x="0" y="6419850"/>
            <a:ext cx="12192000" cy="438150"/>
          </a:xfrm>
          <a:prstGeom prst="rect">
            <a:avLst/>
          </a:prstGeom>
          <a:solidFill>
            <a:srgbClr val="0E3F8C"/>
          </a:solidFill>
          <a:ln/>
        </p:spPr>
        <p:txBody>
          <a:bodyPr/>
          <a:p/>
        </p:txBody>
      </p:sp>
      <p:sp>
        <p:nvSpPr>
          <p:cNvPr id="84" name="" descr="{&quot;isTemplate&quot;:true,&quot;type&quot;:&quot;text&quot;}"/>
          <p:cNvSpPr txBox="1"/>
          <p:nvPr/>
        </p:nvSpPr>
        <p:spPr>
          <a:xfrm rot="0" flipH="0" flipV="0">
            <a:off x="2486025" y="6543675"/>
            <a:ext cx="7219950" cy="190500"/>
          </a:xfrm>
          <a:prstGeom prst="rect"/>
        </p:spPr>
        <p:txBody>
          <a:bodyPr wrap="none" lIns="0" tIns="0" rIns="0" bIns="0"/>
          <a:p>
            <a:pPr>
              <a:lnSpc>
                <a:spcPct val="100000"/>
              </a:lnSpc>
            </a:pPr>
            <a:r>
              <a:rPr lang="en-US" sz="1238" b="1">
                <a:solidFill>
                  <a:srgbClr val="FFFFFF"/>
                </a:solidFill>
                <a:latin typeface="Microsoft YaHei"/>
                <a:ea typeface="Microsoft YaHei"/>
              </a:rPr>
              <a:t>The three kinds are a division of responsibility, not a folder structure. Keep them in one diagram.</a:t>
            </a:r>
            <a:endParaRPr/>
          </a:p>
        </p:txBody>
      </p:sp>
    </p:spTree>
  </p:cSld>
</p:sld>
</file>

<file path=ppt/slides/slide14.xml><?xml version="1.0" encoding="utf-8"?>
<p:sld xmlns:p="http://schemas.openxmlformats.org/presentationml/2006/main" xmlns:a="http://schemas.openxmlformats.org/drawingml/2006/main">
  <p:cSld>
    <p:spTree>
      <p:nvGrpSpPr>
        <p:cNvPr id="85" name="" descr="&lt;Slide style={{ background: '#0E3F8C', padding: 0 }}&gt;&#10;  &lt;Box style={{ flexDirection: 'row', height: '100%', position: 'relative' }}&gt;&#10;    &lt;Box style={{ position: 'absolute', top: 0, left: 0, right: 0, height: 8, background: '#1E4FA8' }} /&gt;&#10;    &lt;Box style={{ width: 300, justifyContent: 'center', alignItems: 'center', borderRight: '1px solid #2B5793' }}&gt;&#10;      &lt;Text style={{ fontSize: 220, fontWeight: 'bold', color: '#3D7BD9', fontFamily: 'Georgia, serif', lineHeight: 1 }}&gt;03&lt;/Text&gt;&#10;    &lt;/Box&gt;&#10;    &lt;Box style={{ flex: 1, padding: '70px 64px', flexDirection: 'column', justifyContent: 'center' }}&gt;&#10;      &lt;Text style={{ fontSize: 15, color: '#7FA2D6', letterSpacing: 2, marginBottom: 18 }}&gt;PART 3 · LECTURE&lt;/Text&gt;&#10;      &lt;Text style={{ fontSize: 46, fontWeight: 'bold', color: '#FFFFFF', lineHeight: 1.18 }}&gt;Entity, Boundary,&lt;br /&gt;Control in Practice&lt;/Text&gt;&#10;      &lt;Box style={{ width: 64, height: 4, background: '#FFC107', marginTop: 26, marginBottom: 26 }} /&gt;&#10;      &lt;Box style={{ flexDirection: 'column', gap: 12 }}&gt;&#10;        {[&#10;          'One use case, three rooms, and who stands in each',&#10;          'A control class coordinates — it does not remember',&#10;          'The most common mistake: rules hiding in a boundary class'&#10;        ].map((t) =&gt; (&#10;          &lt;Box key={t} style={{ flexDirection: 'row', alignItems: 'center', gap: 12 }}&gt;&#10;            &lt;Box style={{ width: 8, height: 8, borderRadius: 4, background: '#3D7BD9' }} /&gt;&#10;            &lt;Text style={{ fontSize: 20, color: '#C5D4EA' }}&gt;{t}&lt;/Text&gt;&#10;          &lt;/Box&gt;&#10;        ))}&#10;      &lt;/Box&gt;&#10;    &lt;/Box&gt;&#10;  &lt;/Box&gt;&#10;&lt;/Slide&gt;&#10;"/>
        <p:cNvGrpSpPr/>
        <p:nvPr/>
      </p:nvGrpSpPr>
      <p:grpSpPr>
        <a:xfrm>
          <a:off x="0" y="0"/>
          <a:ext cx="0" cy="0"/>
          <a:chOff x="0" y="0"/>
          <a:chExt cx="0" cy="0"/>
        </a:xfrm>
      </p:grpSpPr>
      <p:sp>
        <p:nvSpPr>
          <p:cNvPr id="86" name=""/>
          <p:cNvSpPr/>
          <p:nvPr/>
        </p:nvSpPr>
        <p:spPr>
          <a:xfrm rot="0" flipH="0" flipV="0">
            <a:off x="0" y="0"/>
            <a:ext cx="12192000" cy="6858000"/>
          </a:xfrm>
          <a:prstGeom prst="rect">
            <a:avLst/>
          </a:prstGeom>
          <a:solidFill>
            <a:srgbClr val="0E3F8C"/>
          </a:solidFill>
          <a:ln/>
        </p:spPr>
        <p:txBody>
          <a:bodyPr/>
          <a:p/>
        </p:txBody>
      </p:sp>
      <p:sp>
        <p:nvSpPr>
          <p:cNvPr id="87" name=""/>
          <p:cNvSpPr/>
          <p:nvPr/>
        </p:nvSpPr>
        <p:spPr>
          <a:xfrm rot="0" flipH="0" flipV="0">
            <a:off x="0" y="0"/>
            <a:ext cx="2857500" cy="6858000"/>
          </a:xfrm>
          <a:custGeom>
            <a:pathLst>
              <a:path w="300" h="720">
                <a:moveTo>
                  <a:pt x="299" y="0"/>
                </a:moveTo>
                <a:lnTo>
                  <a:pt x="300" y="0"/>
                </a:lnTo>
                <a:lnTo>
                  <a:pt x="300" y="720"/>
                </a:lnTo>
                <a:lnTo>
                  <a:pt x="299" y="720"/>
                </a:lnTo>
                <a:close/>
              </a:path>
            </a:pathLst>
          </a:custGeom>
          <a:solidFill>
            <a:srgbClr val="2B5793"/>
          </a:solidFill>
          <a:ln/>
        </p:spPr>
        <p:txBody>
          <a:bodyPr/>
          <a:p/>
        </p:txBody>
      </p:sp>
      <p:sp>
        <p:nvSpPr>
          <p:cNvPr id="88" name="" descr="{&quot;isTemplate&quot;:true,&quot;type&quot;:&quot;text&quot;}"/>
          <p:cNvSpPr txBox="1"/>
          <p:nvPr/>
        </p:nvSpPr>
        <p:spPr>
          <a:xfrm rot="0" flipH="0" flipV="0">
            <a:off x="38100" y="2171700"/>
            <a:ext cx="2781300" cy="2514600"/>
          </a:xfrm>
          <a:prstGeom prst="rect"/>
        </p:spPr>
        <p:txBody>
          <a:bodyPr wrap="none" lIns="0" tIns="0" rIns="0" bIns="0"/>
          <a:p>
            <a:pPr>
              <a:lnSpc>
                <a:spcPct val="100000"/>
              </a:lnSpc>
            </a:pPr>
            <a:r>
              <a:rPr lang="en-US" sz="16500" b="1">
                <a:solidFill>
                  <a:srgbClr val="3D7BD9"/>
                </a:solidFill>
                <a:latin typeface="Georgia"/>
                <a:ea typeface="Georgia"/>
              </a:rPr>
              <a:t>03</a:t>
            </a:r>
            <a:endParaRPr/>
          </a:p>
        </p:txBody>
      </p:sp>
      <p:sp>
        <p:nvSpPr>
          <p:cNvPr id="89" name="" descr="{&quot;isTemplate&quot;:true,&quot;type&quot;:&quot;text&quot;}"/>
          <p:cNvSpPr txBox="1"/>
          <p:nvPr/>
        </p:nvSpPr>
        <p:spPr>
          <a:xfrm rot="0" flipH="0" flipV="0">
            <a:off x="3467100" y="1914525"/>
            <a:ext cx="8115300" cy="171450"/>
          </a:xfrm>
          <a:prstGeom prst="rect"/>
        </p:spPr>
        <p:txBody>
          <a:bodyPr wrap="none" lIns="0" tIns="0" rIns="0" bIns="0"/>
          <a:p>
            <a:pPr>
              <a:lnSpc>
                <a:spcPct val="100000"/>
              </a:lnSpc>
            </a:pPr>
            <a:r>
              <a:rPr lang="en-US" sz="1125" spc="150">
                <a:solidFill>
                  <a:srgbClr val="7FA2D6"/>
                </a:solidFill>
                <a:latin typeface="Microsoft YaHei"/>
                <a:ea typeface="Microsoft YaHei"/>
              </a:rPr>
              <a:t>PART 3 · LECTURE</a:t>
            </a:r>
            <a:endParaRPr/>
          </a:p>
        </p:txBody>
      </p:sp>
      <p:sp>
        <p:nvSpPr>
          <p:cNvPr id="90" name="" descr="{&quot;isTemplate&quot;:true,&quot;type&quot;:&quot;text&quot;}"/>
          <p:cNvSpPr txBox="1"/>
          <p:nvPr/>
        </p:nvSpPr>
        <p:spPr>
          <a:xfrm rot="0" flipH="0" flipV="0">
            <a:off x="3467100" y="2257425"/>
            <a:ext cx="8115300" cy="1247775"/>
          </a:xfrm>
          <a:prstGeom prst="rect"/>
        </p:spPr>
        <p:txBody>
          <a:bodyPr wrap="none" lIns="0" tIns="0" rIns="0" bIns="0"/>
          <a:p>
            <a:pPr>
              <a:lnSpc>
                <a:spcPct val="118000"/>
              </a:lnSpc>
            </a:pPr>
            <a:r>
              <a:rPr lang="en-US" sz="3450" b="1">
                <a:solidFill>
                  <a:srgbClr val="FFFFFF"/>
                </a:solidFill>
                <a:latin typeface="Microsoft YaHei"/>
                <a:ea typeface="Microsoft YaHei"/>
              </a:rPr>
              <a:t>Entity, Boundary,</a:t>
            </a:r>
            <a:endParaRPr/>
          </a:p>
          <a:p>
            <a:pPr>
              <a:lnSpc>
                <a:spcPct val="118000"/>
              </a:lnSpc>
            </a:pPr>
            <a:r>
              <a:rPr lang="en-US" sz="3450" b="1">
                <a:solidFill>
                  <a:srgbClr val="FFFFFF"/>
                </a:solidFill>
                <a:latin typeface="Microsoft YaHei"/>
                <a:ea typeface="Microsoft YaHei"/>
              </a:rPr>
              <a:t>Control in Practice</a:t>
            </a:r>
            <a:endParaRPr/>
          </a:p>
        </p:txBody>
      </p:sp>
      <p:sp>
        <p:nvSpPr>
          <p:cNvPr id="91" name=""/>
          <p:cNvSpPr/>
          <p:nvPr/>
        </p:nvSpPr>
        <p:spPr>
          <a:xfrm rot="0" flipH="0" flipV="0">
            <a:off x="3467100" y="3752850"/>
            <a:ext cx="609600" cy="38100"/>
          </a:xfrm>
          <a:prstGeom prst="rect">
            <a:avLst/>
          </a:prstGeom>
          <a:solidFill>
            <a:srgbClr val="FFC107"/>
          </a:solidFill>
          <a:ln/>
        </p:spPr>
        <p:txBody>
          <a:bodyPr/>
          <a:p/>
        </p:txBody>
      </p:sp>
      <p:sp>
        <p:nvSpPr>
          <p:cNvPr id="92" name=""/>
          <p:cNvSpPr/>
          <p:nvPr/>
        </p:nvSpPr>
        <p:spPr>
          <a:xfrm rot="0" flipH="0" flipV="0">
            <a:off x="3467100" y="4114800"/>
            <a:ext cx="76200" cy="76200"/>
          </a:xfrm>
          <a:prstGeom prst="roundRect">
            <a:avLst>
              <a:gd name="adj" fmla="val 50000"/>
            </a:avLst>
          </a:prstGeom>
          <a:solidFill>
            <a:srgbClr val="3D7BD9"/>
          </a:solidFill>
          <a:ln/>
        </p:spPr>
        <p:txBody>
          <a:bodyPr/>
          <a:p/>
        </p:txBody>
      </p:sp>
      <p:sp>
        <p:nvSpPr>
          <p:cNvPr id="93" name="" descr="{&quot;isTemplate&quot;:true,&quot;type&quot;:&quot;text&quot;}"/>
          <p:cNvSpPr txBox="1"/>
          <p:nvPr/>
        </p:nvSpPr>
        <p:spPr>
          <a:xfrm rot="0" flipH="0" flipV="0">
            <a:off x="3657600" y="4038600"/>
            <a:ext cx="4410075" cy="228600"/>
          </a:xfrm>
          <a:prstGeom prst="rect"/>
        </p:spPr>
        <p:txBody>
          <a:bodyPr wrap="none" lIns="0" tIns="0" rIns="0" bIns="0"/>
          <a:p>
            <a:pPr>
              <a:lnSpc>
                <a:spcPct val="100000"/>
              </a:lnSpc>
            </a:pPr>
            <a:r>
              <a:rPr lang="en-US" sz="1500">
                <a:solidFill>
                  <a:srgbClr val="C5D4EA"/>
                </a:solidFill>
                <a:latin typeface="Microsoft YaHei"/>
                <a:ea typeface="Microsoft YaHei"/>
              </a:rPr>
              <a:t>One use case, three rooms, and who stands in each</a:t>
            </a:r>
            <a:endParaRPr/>
          </a:p>
        </p:txBody>
      </p:sp>
      <p:sp>
        <p:nvSpPr>
          <p:cNvPr id="94" name=""/>
          <p:cNvSpPr/>
          <p:nvPr/>
        </p:nvSpPr>
        <p:spPr>
          <a:xfrm rot="0" flipH="0" flipV="0">
            <a:off x="3467100" y="4457700"/>
            <a:ext cx="76200" cy="76200"/>
          </a:xfrm>
          <a:prstGeom prst="roundRect">
            <a:avLst>
              <a:gd name="adj" fmla="val 50000"/>
            </a:avLst>
          </a:prstGeom>
          <a:solidFill>
            <a:srgbClr val="3D7BD9"/>
          </a:solidFill>
          <a:ln/>
        </p:spPr>
        <p:txBody>
          <a:bodyPr/>
          <a:p/>
        </p:txBody>
      </p:sp>
      <p:sp>
        <p:nvSpPr>
          <p:cNvPr id="95" name="" descr="{&quot;isTemplate&quot;:true,&quot;type&quot;:&quot;text&quot;}"/>
          <p:cNvSpPr txBox="1"/>
          <p:nvPr/>
        </p:nvSpPr>
        <p:spPr>
          <a:xfrm rot="0" flipH="0" flipV="0">
            <a:off x="3657600" y="4381500"/>
            <a:ext cx="4381500" cy="228600"/>
          </a:xfrm>
          <a:prstGeom prst="rect"/>
        </p:spPr>
        <p:txBody>
          <a:bodyPr wrap="none" lIns="0" tIns="0" rIns="0" bIns="0"/>
          <a:p>
            <a:pPr>
              <a:lnSpc>
                <a:spcPct val="100000"/>
              </a:lnSpc>
            </a:pPr>
            <a:r>
              <a:rPr lang="en-US" sz="1500">
                <a:solidFill>
                  <a:srgbClr val="C5D4EA"/>
                </a:solidFill>
                <a:latin typeface="Microsoft YaHei"/>
                <a:ea typeface="Microsoft YaHei"/>
              </a:rPr>
              <a:t>A control class coordinates — it does not remember</a:t>
            </a:r>
            <a:endParaRPr/>
          </a:p>
        </p:txBody>
      </p:sp>
      <p:sp>
        <p:nvSpPr>
          <p:cNvPr id="96" name=""/>
          <p:cNvSpPr/>
          <p:nvPr/>
        </p:nvSpPr>
        <p:spPr>
          <a:xfrm rot="0" flipH="0" flipV="0">
            <a:off x="3467100" y="4800600"/>
            <a:ext cx="76200" cy="76200"/>
          </a:xfrm>
          <a:prstGeom prst="roundRect">
            <a:avLst>
              <a:gd name="adj" fmla="val 50000"/>
            </a:avLst>
          </a:prstGeom>
          <a:solidFill>
            <a:srgbClr val="3D7BD9"/>
          </a:solidFill>
          <a:ln/>
        </p:spPr>
        <p:txBody>
          <a:bodyPr/>
          <a:p/>
        </p:txBody>
      </p:sp>
      <p:sp>
        <p:nvSpPr>
          <p:cNvPr id="97" name="" descr="{&quot;isTemplate&quot;:true,&quot;type&quot;:&quot;text&quot;}"/>
          <p:cNvSpPr txBox="1"/>
          <p:nvPr/>
        </p:nvSpPr>
        <p:spPr>
          <a:xfrm rot="0" flipH="0" flipV="0">
            <a:off x="3657600" y="4724400"/>
            <a:ext cx="5067300" cy="228600"/>
          </a:xfrm>
          <a:prstGeom prst="rect"/>
        </p:spPr>
        <p:txBody>
          <a:bodyPr wrap="none" lIns="0" tIns="0" rIns="0" bIns="0"/>
          <a:p>
            <a:pPr>
              <a:lnSpc>
                <a:spcPct val="100000"/>
              </a:lnSpc>
            </a:pPr>
            <a:r>
              <a:rPr lang="en-US" sz="1500">
                <a:solidFill>
                  <a:srgbClr val="C5D4EA"/>
                </a:solidFill>
                <a:latin typeface="Microsoft YaHei"/>
                <a:ea typeface="Microsoft YaHei"/>
              </a:rPr>
              <a:t>The most common mistake: rules hiding in a boundary class</a:t>
            </a:r>
            <a:endParaRPr/>
          </a:p>
        </p:txBody>
      </p:sp>
      <p:sp>
        <p:nvSpPr>
          <p:cNvPr id="98" name=""/>
          <p:cNvSpPr/>
          <p:nvPr/>
        </p:nvSpPr>
        <p:spPr>
          <a:xfrm rot="0" flipH="0" flipV="0">
            <a:off x="0" y="0"/>
            <a:ext cx="12192000" cy="76200"/>
          </a:xfrm>
          <a:prstGeom prst="rect">
            <a:avLst/>
          </a:prstGeom>
          <a:solidFill>
            <a:srgbClr val="1E4FA8"/>
          </a:solidFill>
          <a:ln/>
        </p:spPr>
        <p:txBody>
          <a:bodyPr/>
          <a:p/>
        </p:txBody>
      </p:sp>
    </p:spTree>
  </p:cSld>
</p:sld>
</file>

<file path=ppt/slides/slide15.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99"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6 · ENTITY, BOUNDARY, CONTROL&lt;/Text&gt;&#10;  &lt;/Box&gt;&#10;  &lt;Box style={{ padding: '13px 40px 0 40px', flexDirection: 'row', alignItems: 'center', justifyContent: 'space-between' }}&gt;&#10;    &lt;Text style={{ fontSize: 29, fontWeight: 'bold', color: '#0E3F8C' }}&gt;The Three Rooms Model&lt;/Text&gt;&#10;    &lt;Text style={{ fontSize: 14, color: '#1E4FA8', fontWeight: 'bold' }}&gt;15 / 39&lt;/Text&gt;&#10;  &lt;/Box&gt;&#10;  &lt;Box style={{ flex: 1, padding: '6px 40px 0 40px', justifyContent: 'center', alignItems: 'center' }}&gt;&#10;    &lt;svg width={1180} height={392} viewBox='0 0 1180 392'&gt;&#10;      &lt;text x='10' y='16' fill='#8B97A8' fontSize='13'&gt;One use case, three rooms. An actor never walks into the entity room — something translates for them.&lt;/text&gt;&#10;&#10;      &lt;rect x='0' y='32' width='240' height='250' rx='10' fill='#FFF6E0' stroke='#FFC107' strokeWidth='2' /&gt;&#10;      &lt;text x='120' y='60' textAnchor='middle' fill='#996F00' fontSize='16' fontWeight='bold'&gt;Boundary room&lt;/text&gt;&#10;      &lt;text x='120' y='80' textAnchor='middle' fill='#8B97A8' fontSize='11'&gt;StudentApp&lt;/text&gt;&#10;      &lt;rect x='30' y='98' width='180' height='42' rx='6' fill='#FFFFFF' stroke='#FFC107' strokeWidth='1.4' /&gt;&#10;      &lt;text x='120' y='124' textAnchor='middle' fill='#4A5568' fontSize='12.5'&gt;translates the request&lt;/text&gt;&#10;      &lt;rect x='30' y='156' width='180' height='42' rx='6' fill='#FFFFFF' stroke='#FFC107' strokeWidth='1.4' /&gt;&#10;      &lt;text x='120' y='182' textAnchor='middle' fill='#4A5568' fontSize='12.5'&gt;presents the answer&lt;/text&gt;&#10;      &lt;text x='120' y='232' textAnchor='middle' fill='#996F00' fontSize='11.5'&gt;knows actors + entities&lt;/text&gt;&#10;      &lt;text x='120' y='252' textAnchor='middle' fill='#996F00' fontSize='11.5'&gt;never the step order&lt;/text&gt;&#10;&#10;      &lt;rect x='470' y='32' width='240' height='250' rx='10' fill='#F0F5FC' stroke='#1E4FA8' strokeWidth='2' /&gt;&#10;      &lt;text x='590' y='60' textAnchor='middle' fill='#0E3F8C' fontSize='16' fontWeight='bold'&gt;Control room&lt;/text&gt;&#10;      &lt;text x='590' y='80' textAnchor='middle' fill='#8B97A8' fontSize='11'&gt;PlaceOrderController&lt;/text&gt;&#10;      &lt;rect x='500' y='98' width='180' height='42' rx='6' fill='#FFFFFF' stroke='#1E4FA8' strokeWidth='1.4' /&gt;&#10;      &lt;text x='590' y='124' textAnchor='middle' fill='#4A5568' fontSize='12.5'&gt;decides the sequence&lt;/text&gt;&#10;      &lt;rect x='500' y='156' width='180' height='42' rx='6' fill='#FFFFFF' stroke='#1E4FA8' strokeWidth='1.4' /&gt;&#10;      &lt;text x='590' y='182' textAnchor='middle' fill='#4A5568' fontSize='12.5'&gt;handles 4a 4b 4c&lt;/text&gt;&#10;      &lt;text x='590' y='232' textAnchor='middle' fill='#0E3F8C' fontSize='11.5'&gt;knows everyone&lt;/text&gt;&#10;      &lt;text x='590' y='252' textAnchor='middle' fill='#0E3F8C' fontSize='11.5'&gt;stores nothing&lt;/text&gt;&#10;&#10;      &lt;rect x='940' y='32' width='240' height='250' rx='10' fill='#EAF6EC' stroke='#2B7A3D' strokeWidth='2' /&gt;&#10;      &lt;text x='1060' y='60' textAnchor='middle' fill='#2B7A3D' fontSize='16' fontWeight='bold'&gt;Entity room&lt;/text&gt;&#10;      &lt;text x='1060' y='80' textAnchor='middle' fill='#8B97A8' fontSize='11'&gt;Order, Payment, MenuItem&lt;/text&gt;&#10;      &lt;rect x='970' y='98' width='180' height='42' rx='6' fill='#FFFFFF' stroke='#2B7A3D' strokeWidth='1.4' /&gt;&#10;      &lt;text x='1060' y='124' textAnchor='middle' fill='#4A5568' fontSize='12.5'&gt;keeps the information&lt;/text&gt;&#10;      &lt;rect x='970' y='156' width='180' height='42' rx='6' fill='#FFFFFF' stroke='#2B7A3D' strokeWidth='1.4' /&gt;&#10;      &lt;text x='1060' y='182' textAnchor='middle' fill='#4A5568' fontSize='12.5'&gt;applies the business rules&lt;/text&gt;&#10;      &lt;text x='1060' y='232' textAnchor='middle' fill='#2B7A3D' fontSize='11.5'&gt;knows only entities&lt;/text&gt;&#10;      &lt;text x='1060' y='252' textAnchor='middle' fill='#2B7A3D' fontSize='11.5'&gt;never an actor&lt;/text&gt;&#10;&#10;      &lt;line x1='240' y1='140' x2='470' y2='140' stroke='#1E4FA8' strokeWidth='2' markerEnd='url(#a6)' /&gt;&#10;      &lt;text x='355' y='128' textAnchor='middle' fill='#0E3F8C' fontSize='11.5'&gt;request&lt;/text&gt;&#10;      &lt;line x1='710' y1='170' x2='940' y2='170' stroke='#1E4FA8' strokeWidth='2' markerEnd='url(#a6)' /&gt;&#10;      &lt;text x='825' y='158' textAnchor='middle' fill='#0E3F8C' fontSize='11.5'&gt;ask the entities&lt;/text&gt;&#10;      &lt;line x1='470' y1='240' x2='240' y2='240' stroke='#2B7A3D' strokeWidth='2' strokeDasharray='6 4' markerEnd='url(#a7)' /&gt;&#10;      &lt;text x='355' y='268' textAnchor='middle' fill='#2B7A3D' fontSize='11.5'&gt;the answer, back out&lt;/text&gt;&#10;&#10;      &lt;g transform='translate(20,300)'&gt;&#10;        &lt;circle cx='14' cy='14' r='11' fill='none' stroke='#0E3F8C' strokeWidth='2' /&gt;&#10;        &lt;line x1='14' y1='25' x2='14' y2='46' stroke='#0E3F8C' strokeWidth='2' /&gt;&#10;        &lt;text x='34' y='22' fill='#0E3F8C' fontSize='12.5' fontWeight='bold'&gt;Student&lt;/text&gt;&#10;        &lt;text x='34' y='40' fill='#8B97A8' fontSize='11.5'&gt;an actor, not a class in this model&lt;/text&gt;&#10;        &lt;line x1='34' y1='58' x2='210' y2='58' stroke='#D9534F' strokeWidth='2' strokeDasharray='5 4' /&gt;&#10;        &lt;text x='34' y='76' fill='#D9534F' fontSize='11.5'&gt;no direct line to the entity room&lt;/text&gt;&#10;      &lt;/g&gt;&#10;&#10;      &lt;defs&gt;&#10;        &lt;marker id='a6' markerWidth='9' markerHeight='9' refX='8' refY='4.5' orient='auto'&gt;&#10;          &lt;path d='M0 0 L9 4.5 L0 9 z' fill='#1E4FA8' /&gt;&#10;        &lt;/marker&gt;&#10;        &lt;marker id='a7' markerWidth='9' markerHeight='9' refX='8' refY='4.5' orient='auto'&gt;&#10;          &lt;path d='M0 0 L9 4.5 L0 9 z' fill='#2B7A3D' /&gt;&#10;        &lt;/marker&gt;&#10;      &lt;/defs&gt;&#10;    &lt;/svg&gt;&#10;  &lt;/Box&gt;&#10;  &lt;Box style={{ height: 34, padding: '0 40px', flexDirection: 'row', alignItems: 'center', justifyContent: 'space-between' }}&gt;&#10;    &lt;Text style={{ fontSize: 13, color: '#8B97A8' }}&gt;ISAD · Fall 2026 · The red dashed line is the whole point. An actor talks to a boundary, never to an entity&lt;/Text&gt;&#10;    &lt;Text style={{ fontSize: 14, color: '#1E4FA8', fontWeight: 'bold' }}&gt;15 / 39&lt;/Text&gt;&#10;  &lt;/Box&gt;&#10;&lt;/Slide&gt;&#10;"/>
        <p:cNvGrpSpPr/>
        <p:nvPr/>
      </p:nvGrpSpPr>
      <p:grpSpPr>
        <a:xfrm>
          <a:off x="0" y="0"/>
          <a:ext cx="0" cy="0"/>
          <a:chOff x="0" y="0"/>
          <a:chExt cx="0" cy="0"/>
        </a:xfrm>
      </p:grpSpPr>
      <p:sp>
        <p:nvSpPr>
          <p:cNvPr id="100" name=""/>
          <p:cNvSpPr/>
          <p:nvPr/>
        </p:nvSpPr>
        <p:spPr>
          <a:xfrm rot="0" flipH="0" flipV="0">
            <a:off x="0" y="0"/>
            <a:ext cx="12192000" cy="6858000"/>
          </a:xfrm>
          <a:prstGeom prst="rect">
            <a:avLst/>
          </a:prstGeom>
          <a:solidFill>
            <a:srgbClr val="FFFFFF"/>
          </a:solidFill>
          <a:ln/>
        </p:spPr>
        <p:txBody>
          <a:bodyPr/>
          <a:p/>
        </p:txBody>
      </p:sp>
      <p:sp>
        <p:nvSpPr>
          <p:cNvPr id="101" name=""/>
          <p:cNvSpPr/>
          <p:nvPr/>
        </p:nvSpPr>
        <p:spPr>
          <a:xfrm rot="0" flipH="0" flipV="0">
            <a:off x="0" y="0"/>
            <a:ext cx="12192000" cy="685800"/>
          </a:xfrm>
          <a:prstGeom prst="rect">
            <a:avLst/>
          </a:prstGeom>
          <a:solidFill>
            <a:srgbClr val="1E4FA8"/>
          </a:solidFill>
          <a:ln/>
        </p:spPr>
        <p:txBody>
          <a:bodyPr/>
          <a:p/>
        </p:txBody>
      </p:sp>
      <p:sp>
        <p:nvSpPr>
          <p:cNvPr id="102"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103" name="" descr="{&quot;isTemplate&quot;:true,&quot;type&quot;:&quot;text&quot;}"/>
          <p:cNvSpPr txBox="1"/>
          <p:nvPr/>
        </p:nvSpPr>
        <p:spPr>
          <a:xfrm rot="0" flipH="0" flipV="0">
            <a:off x="9248775" y="257175"/>
            <a:ext cx="2562225" cy="171450"/>
          </a:xfrm>
          <a:prstGeom prst="rect"/>
        </p:spPr>
        <p:txBody>
          <a:bodyPr wrap="none" lIns="0" tIns="0" rIns="0" bIns="0"/>
          <a:p>
            <a:pPr>
              <a:lnSpc>
                <a:spcPct val="100000"/>
              </a:lnSpc>
            </a:pPr>
            <a:r>
              <a:rPr lang="en-US" sz="1125">
                <a:solidFill>
                  <a:srgbClr val="B9CDF0"/>
                </a:solidFill>
                <a:latin typeface="Microsoft YaHei"/>
                <a:ea typeface="Microsoft YaHei"/>
              </a:rPr>
              <a:t>W06 · ENTITY, BOUNDARY, CONTROL</a:t>
            </a:r>
            <a:endParaRPr/>
          </a:p>
        </p:txBody>
      </p:sp>
      <p:sp>
        <p:nvSpPr>
          <p:cNvPr id="104" name="" descr="{&quot;isTemplate&quot;:true,&quot;type&quot;:&quot;text&quot;}"/>
          <p:cNvSpPr txBox="1"/>
          <p:nvPr/>
        </p:nvSpPr>
        <p:spPr>
          <a:xfrm rot="0" flipH="0" flipV="0">
            <a:off x="381000" y="809625"/>
            <a:ext cx="3209925" cy="333375"/>
          </a:xfrm>
          <a:prstGeom prst="rect"/>
        </p:spPr>
        <p:txBody>
          <a:bodyPr wrap="none" lIns="0" tIns="0" rIns="0" bIns="0"/>
          <a:p>
            <a:pPr>
              <a:lnSpc>
                <a:spcPct val="100000"/>
              </a:lnSpc>
            </a:pPr>
            <a:r>
              <a:rPr lang="en-US" sz="2175" b="1">
                <a:solidFill>
                  <a:srgbClr val="0E3F8C"/>
                </a:solidFill>
                <a:latin typeface="Microsoft YaHei"/>
                <a:ea typeface="Microsoft YaHei"/>
              </a:rPr>
              <a:t>The Three Rooms Model</a:t>
            </a:r>
            <a:endParaRPr/>
          </a:p>
        </p:txBody>
      </p:sp>
      <p:sp>
        <p:nvSpPr>
          <p:cNvPr id="105"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15 / 39</a:t>
            </a:r>
            <a:endParaRPr/>
          </a:p>
        </p:txBody>
      </p:sp>
      <p:pic>
        <p:nvPicPr>
          <p:cNvPr id="106" name=""/>
          <p:cNvPicPr>
            <a:picLocks noChangeAspect="1"/>
          </p:cNvPicPr>
          <p:nvPr/>
        </p:nvPicPr>
        <p:blipFill>
          <a:blip>
            <a:extLst>
              <a:ext uri="{96DAC541-7B7A-43D3-8B79-37D633B846F1}">
                <asvg:svgBlip r:embed="rId1"/>
              </a:ext>
            </a:extLst>
          </a:blip>
          <a:stretch>
            <a:fillRect/>
          </a:stretch>
        </p:blipFill>
        <p:spPr>
          <a:xfrm rot="0" flipH="0" flipV="0">
            <a:off x="476250" y="2000250"/>
            <a:ext cx="11239500" cy="3733800"/>
          </a:xfrm>
          <a:prstGeom prst="rect">
            <a:avLst/>
          </a:prstGeom>
          <a:ln/>
        </p:spPr>
      </p:pic>
      <p:sp>
        <p:nvSpPr>
          <p:cNvPr id="107" name="" descr="{&quot;isTemplate&quot;:true,&quot;type&quot;:&quot;text&quot;}"/>
          <p:cNvSpPr txBox="1"/>
          <p:nvPr/>
        </p:nvSpPr>
        <p:spPr>
          <a:xfrm rot="0" flipH="0" flipV="0">
            <a:off x="381000" y="6619875"/>
            <a:ext cx="5734050" cy="152400"/>
          </a:xfrm>
          <a:prstGeom prst="rect"/>
        </p:spPr>
        <p:txBody>
          <a:bodyPr wrap="none" lIns="0" tIns="0" rIns="0" bIns="0"/>
          <a:p>
            <a:pPr>
              <a:lnSpc>
                <a:spcPct val="100000"/>
              </a:lnSpc>
            </a:pPr>
            <a:r>
              <a:rPr lang="en-US" sz="975">
                <a:solidFill>
                  <a:srgbClr val="8B97A8"/>
                </a:solidFill>
                <a:latin typeface="Microsoft YaHei"/>
                <a:ea typeface="Microsoft YaHei"/>
              </a:rPr>
              <a:t>ISAD · Fall 2026 · The red dashed line is the whole point. An actor talks to a boundary, never to an entity</a:t>
            </a:r>
            <a:endParaRPr/>
          </a:p>
        </p:txBody>
      </p:sp>
      <p:sp>
        <p:nvSpPr>
          <p:cNvPr id="108" name="" descr="{&quot;isTemplate&quot;:true,&quot;type&quot;:&quot;text&quot;}"/>
          <p:cNvSpPr txBox="1"/>
          <p:nvPr/>
        </p:nvSpPr>
        <p:spPr>
          <a:xfrm rot="0" flipH="0" flipV="0">
            <a:off x="11401425" y="6619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15 / 39</a:t>
            </a:r>
            <a:endParaRPr/>
          </a:p>
        </p:txBody>
      </p:sp>
    </p:spTree>
  </p:cSld>
</p:sld>
</file>

<file path=ppt/slides/slide16.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109"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6 · ENTITY, BOUNDARY, CONTROL&lt;/Text&gt;&#10;  &lt;/Box&gt;&#10;  &lt;Box style={{ padding: '13px 40px 0 40px', flexDirection: 'row', alignItems: 'center', justifyContent: 'space-between' }}&gt;&#10;    &lt;Text style={{ fontSize: 29, fontWeight: 'bold', color: '#0E3F8C' }}&gt;Finding Entity Classes&lt;/Text&gt;&#10;    &lt;Text style={{ fontSize: 14, color: '#1E4FA8', fontWeight: 'bold' }}&gt;16 / 39&lt;/Text&gt;&#10;  &lt;/Box&gt;&#10;  &lt;Box style={{ flex: 1, padding: '10px 40px 0 40px' }}&gt;&#10;    &lt;Table&#10;      style={{ width: '100%', height: '100%' }}&#10;      defaultTextStyle={{ fontSize: 13.5, textAlign: 'left', color: '#1A2230' }}&#10;      defaultCellStyle={{&#10;        border: {&#10;          left: { width: 1, color: '#E5E7EB' },&#10;          right: { width: 1, color: '#E5E7EB' },&#10;          top: { width: 1, color: '#E5E7EB' },&#10;          bottom: { width: 1, color: '#E5E7EB' },&#10;        },&#10;      }}&#10;      cells={[&#10;        [&#10;          { text: 'Test', textStyle: { bold: true, color: '#FFFFFF', fontSize: 15 }, cellStyle: { background: { color: '#0E3F8C' } } },&#10;          { text: 'Passing example', textStyle: { bold: true, color: '#FFFFFF', fontSize: 15 }, cellStyle: { background: { color: '#2B7A3D' } } },&#10;          { text: 'Failing example', textStyle: { bold: true, color: '#FFFFFF', fontSize: 15 }, cellStyle: { background: { color: '#8B3230' } } },&#10;        ],&#10;        [&#10;          { text: 'Can you point at one?', textStyle: { bold: true, color: '#0E3F8C' }, cellStyle: { background: { color: '#F7F9FC' } } },&#10;          { text: 'That order — CB-20419, placed Tuesday, state Accepted.', textStyle: { color: '#4A5568' }, cellStyle: { background: { color: '#F7F9FC' } } },&#10;          { text: 'That delivery time — you can only read it off an order.', textStyle: { color: '#4A5568' }, cellStyle: { background: { color: '#F7F9FC' } } },&#10;        ],&#10;        [&#10;          { text: 'Does the business keep it?', textStyle: { bold: true, color: '#0E3F8C' } },&#10;          { text: 'Yes — tomorrow’s kitchen needs to know about it without a screen.', textStyle: { color: '#4A5568' } },&#10;          { text: 'No — it lives for one request and is thrown away.', textStyle: { color: '#4A5568' } },&#10;        ],&#10;        [&#10;          { text: 'Is it a noun in your specs?', textStyle: { bold: true, color: '#0E3F8C' }, cellStyle: { background: { color: '#F7F9FC' } } },&#10;          { text: '“the order”, “the coupon”, “the delivery window”.', textStyle: { color: '#4A5568' }, cellStyle: { background: { color: '#F7F9FC' } } },&#10;          { text: '“the calculation”, “the validation” — gerunds are usually operations.', textStyle: { color: '#4A5568' }, cellStyle: { background: { color: '#F7F9FC' } } },&#10;        ],&#10;        [&#10;          { text: 'Six for Worked example', textStyle: { bold: true, color: '#0E3F8C' } },&#10;          { text: 'Order · OrderLine · MenuItem · Restaurant · Courier · Payment', textStyle: { color: '#2B7A3D', fontWeight: 'bold' } },&#10;          { text: 'Two more arrive on page 19: Coupon and DeliveryWindow.', textStyle: { color: '#4A5568' } },&#10;        ],&#10;        [&#10;          { text: 'The gerund warning', textStyle: { bold: true, color: '#0E3F8C' }, cellStyle: { background: { color: '#F7F9FC' } } },&#10;          { text: 'If a noun ends in -ing or -tion, ask whether someone would point at it. Usually not.', textStyle: { color: '#4A5568' }, cellStyle: { background: { color: '#F7F9FC' } } },&#10;          { text: 'Exception: “the reservation” and “the cancellation” are real nouns with identity.', textStyle: { color: '#4A5568' }, cellStyle: { background: { color: '#F7F9FC' } } },&#10;        ],&#10;      ]}&#10;    /&gt;&#10;  &lt;/Box&gt;&#10;  &lt;Box style={{ height: 46, background: '#0E3F8C', padding: '0 40px', flexDirection: 'row', alignItems: 'center', justifyContent: 'center' }}&gt;&#10;    &lt;Text style={{ fontSize: 16.5, color: '#FFFFFF', fontWeight: '600' }}&gt;An entity is something the business would still care about with the whole interface switched off.&lt;/Text&gt;&#10;  &lt;/Box&gt;&#10;&lt;/Slide&gt;&#10;"/>
        <p:cNvGrpSpPr/>
        <p:nvPr/>
      </p:nvGrpSpPr>
      <p:grpSpPr>
        <a:xfrm>
          <a:off x="0" y="0"/>
          <a:ext cx="0" cy="0"/>
          <a:chOff x="0" y="0"/>
          <a:chExt cx="0" cy="0"/>
        </a:xfrm>
      </p:grpSpPr>
      <p:sp>
        <p:nvSpPr>
          <p:cNvPr id="110" name=""/>
          <p:cNvSpPr/>
          <p:nvPr/>
        </p:nvSpPr>
        <p:spPr>
          <a:xfrm rot="0" flipH="0" flipV="0">
            <a:off x="0" y="0"/>
            <a:ext cx="12192000" cy="6858000"/>
          </a:xfrm>
          <a:prstGeom prst="rect">
            <a:avLst/>
          </a:prstGeom>
          <a:solidFill>
            <a:srgbClr val="FFFFFF"/>
          </a:solidFill>
          <a:ln/>
        </p:spPr>
        <p:txBody>
          <a:bodyPr/>
          <a:p/>
        </p:txBody>
      </p:sp>
      <p:sp>
        <p:nvSpPr>
          <p:cNvPr id="111" name=""/>
          <p:cNvSpPr/>
          <p:nvPr/>
        </p:nvSpPr>
        <p:spPr>
          <a:xfrm rot="0" flipH="0" flipV="0">
            <a:off x="0" y="0"/>
            <a:ext cx="12192000" cy="685800"/>
          </a:xfrm>
          <a:prstGeom prst="rect">
            <a:avLst/>
          </a:prstGeom>
          <a:solidFill>
            <a:srgbClr val="1E4FA8"/>
          </a:solidFill>
          <a:ln/>
        </p:spPr>
        <p:txBody>
          <a:bodyPr/>
          <a:p/>
        </p:txBody>
      </p:sp>
      <p:sp>
        <p:nvSpPr>
          <p:cNvPr id="112"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113" name="" descr="{&quot;isTemplate&quot;:true,&quot;type&quot;:&quot;text&quot;}"/>
          <p:cNvSpPr txBox="1"/>
          <p:nvPr/>
        </p:nvSpPr>
        <p:spPr>
          <a:xfrm rot="0" flipH="0" flipV="0">
            <a:off x="9248775" y="257175"/>
            <a:ext cx="2562225" cy="171450"/>
          </a:xfrm>
          <a:prstGeom prst="rect"/>
        </p:spPr>
        <p:txBody>
          <a:bodyPr wrap="none" lIns="0" tIns="0" rIns="0" bIns="0"/>
          <a:p>
            <a:pPr>
              <a:lnSpc>
                <a:spcPct val="100000"/>
              </a:lnSpc>
            </a:pPr>
            <a:r>
              <a:rPr lang="en-US" sz="1125">
                <a:solidFill>
                  <a:srgbClr val="B9CDF0"/>
                </a:solidFill>
                <a:latin typeface="Microsoft YaHei"/>
                <a:ea typeface="Microsoft YaHei"/>
              </a:rPr>
              <a:t>W06 · ENTITY, BOUNDARY, CONTROL</a:t>
            </a:r>
            <a:endParaRPr/>
          </a:p>
        </p:txBody>
      </p:sp>
      <p:sp>
        <p:nvSpPr>
          <p:cNvPr id="114" name="" descr="{&quot;isTemplate&quot;:true,&quot;type&quot;:&quot;text&quot;}"/>
          <p:cNvSpPr txBox="1"/>
          <p:nvPr/>
        </p:nvSpPr>
        <p:spPr>
          <a:xfrm rot="0" flipH="0" flipV="0">
            <a:off x="381000" y="809625"/>
            <a:ext cx="2971800" cy="333375"/>
          </a:xfrm>
          <a:prstGeom prst="rect"/>
        </p:spPr>
        <p:txBody>
          <a:bodyPr wrap="none" lIns="0" tIns="0" rIns="0" bIns="0"/>
          <a:p>
            <a:pPr>
              <a:lnSpc>
                <a:spcPct val="100000"/>
              </a:lnSpc>
            </a:pPr>
            <a:r>
              <a:rPr lang="en-US" sz="2175" b="1">
                <a:solidFill>
                  <a:srgbClr val="0E3F8C"/>
                </a:solidFill>
                <a:latin typeface="Microsoft YaHei"/>
                <a:ea typeface="Microsoft YaHei"/>
              </a:rPr>
              <a:t>Finding Entity Classes</a:t>
            </a:r>
            <a:endParaRPr/>
          </a:p>
        </p:txBody>
      </p:sp>
      <p:sp>
        <p:nvSpPr>
          <p:cNvPr id="115"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16 / 39</a:t>
            </a:r>
            <a:endParaRPr/>
          </a:p>
        </p:txBody>
      </p:sp>
      <p:graphicFrame>
        <p:nvGraphicFramePr>
          <p:cNvPr id="116" name=""/>
          <p:cNvGraphicFramePr/>
          <p:nvPr/>
        </p:nvGraphicFramePr>
        <p:xfrm rot="0" flipH="0" flipV="0">
          <a:off x="381000" y="1238250"/>
          <a:ext cx="11430000" cy="5181600"/>
        </p:xfrm>
        <a:graphic>
          <a:graphicData uri="http://schemas.openxmlformats.org/drawingml/2006/table">
            <a:tbl>
              <a:tblGrid>
                <a:gridCol w="1823978">
                  <a:extLst>
                    <a:ext uri="{9D8B030D-6E8A-4147-A177-3AD203B41FA5}">
                      <a16:colId val="1"/>
                    </a:ext>
                  </a:extLst>
                </a:gridCol>
                <a:gridCol w="4916639">
                  <a:extLst>
                    <a:ext uri="{9D8B030D-6E8A-4147-A177-3AD203B41FA5}">
                      <a16:colId val="2"/>
                    </a:ext>
                  </a:extLst>
                </a:gridCol>
                <a:gridCol w="4689383">
                  <a:extLst>
                    <a:ext uri="{9D8B030D-6E8A-4147-A177-3AD203B41FA5}">
                      <a16:colId val="3"/>
                    </a:ext>
                  </a:extLst>
                </a:gridCol>
              </a:tblGrid>
              <a:tr h="911685">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Test</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Passing example</a:t>
                      </a:r>
                      <a:endParaRPr/>
                    </a:p>
                  </a:txBody>
                  <a:tcPr marL="45720" marR="45720" marT="45720" marB="45720" anchor="ctr">
                    <a:lnL>
                      <a:noFill/>
                    </a:lnL>
                    <a:lnR>
                      <a:noFill/>
                    </a:lnR>
                    <a:lnT>
                      <a:noFill/>
                    </a:lnT>
                    <a:lnB>
                      <a:noFill/>
                    </a:lnB>
                    <a:solidFill>
                      <a:srgbClr val="2B7A3D"/>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Failing example</a:t>
                      </a:r>
                      <a:endParaRPr/>
                    </a:p>
                  </a:txBody>
                  <a:tcPr marL="45720" marR="45720" marT="45720" marB="45720" anchor="ctr">
                    <a:lnL>
                      <a:noFill/>
                    </a:lnL>
                    <a:lnR>
                      <a:noFill/>
                    </a:lnR>
                    <a:lnT>
                      <a:noFill/>
                    </a:lnT>
                    <a:lnB>
                      <a:noFill/>
                    </a:lnB>
                    <a:solidFill>
                      <a:srgbClr val="8B3230"/>
                    </a:solidFill>
                  </a:tcPr>
                </a:tc>
                <a:extLst>
                  <a:ext uri="{0D108BD9-81ED-4DB2-BD59-A6C34878D82A}">
                    <a16:rowId val="1"/>
                  </a:ext>
                </a:extLst>
              </a:tr>
              <a:tr h="853983">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Can you point at one?</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That order — CB-20419, placed Tuesday, state Accepted.</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That delivery time — you can only read it off an order.</a:t>
                      </a:r>
                      <a:endParaRPr/>
                    </a:p>
                  </a:txBody>
                  <a:tcPr marL="45720" marR="45720" marT="45720" marB="45720" anchor="ctr">
                    <a:lnL>
                      <a:noFill/>
                    </a:lnL>
                    <a:lnR>
                      <a:noFill/>
                    </a:lnR>
                    <a:lnT>
                      <a:noFill/>
                    </a:lnT>
                    <a:lnB>
                      <a:noFill/>
                    </a:lnB>
                    <a:solidFill>
                      <a:srgbClr val="F7F9FC"/>
                    </a:solidFill>
                  </a:tcPr>
                </a:tc>
                <a:extLst>
                  <a:ext uri="{0D108BD9-81ED-4DB2-BD59-A6C34878D82A}">
                    <a16:rowId val="2"/>
                  </a:ext>
                </a:extLst>
              </a:tr>
              <a:tr h="853983">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Does the business keep it?</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Yes — tomorrow’s kitchen needs to know about it without a screen.</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No — it lives for one request and is thrown away.</a:t>
                      </a:r>
                      <a:endParaRPr/>
                    </a:p>
                  </a:txBody>
                  <a:tcPr marL="45720" marR="45720" marT="45720" marB="45720" anchor="ctr">
                    <a:lnL>
                      <a:noFill/>
                    </a:lnL>
                    <a:lnR>
                      <a:noFill/>
                    </a:lnR>
                    <a:lnT>
                      <a:noFill/>
                    </a:lnT>
                    <a:lnB>
                      <a:noFill/>
                    </a:lnB>
                  </a:tcPr>
                </a:tc>
                <a:extLst>
                  <a:ext uri="{0D108BD9-81ED-4DB2-BD59-A6C34878D82A}">
                    <a16:rowId val="3"/>
                  </a:ext>
                </a:extLst>
              </a:tr>
              <a:tr h="853983">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Is it a noun in your specs?</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order”, “the coupon”, “the delivery window”.</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calculation”, “the validation” — gerunds are usually operations.</a:t>
                      </a:r>
                      <a:endParaRPr/>
                    </a:p>
                  </a:txBody>
                  <a:tcPr marL="45720" marR="45720" marT="45720" marB="45720" anchor="ctr">
                    <a:lnL>
                      <a:noFill/>
                    </a:lnL>
                    <a:lnR>
                      <a:noFill/>
                    </a:lnR>
                    <a:lnT>
                      <a:noFill/>
                    </a:lnT>
                    <a:lnB>
                      <a:noFill/>
                    </a:lnB>
                    <a:solidFill>
                      <a:srgbClr val="F7F9FC"/>
                    </a:solidFill>
                  </a:tcPr>
                </a:tc>
                <a:extLst>
                  <a:ext uri="{0D108BD9-81ED-4DB2-BD59-A6C34878D82A}">
                    <a16:rowId val="4"/>
                  </a:ext>
                </a:extLst>
              </a:tr>
              <a:tr h="853983">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Six for Worked example</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2B7A3D"/>
                          </a:solidFill>
                          <a:latin typeface="Microsoft YaHei"/>
                          <a:ea typeface="Microsoft YaHei"/>
                        </a:rPr>
                        <a:t>Order · OrderLine · MenuItem · Restaurant · Courier · Payment</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Two more arrive on page 19: Coupon and DeliveryWindow.</a:t>
                      </a:r>
                      <a:endParaRPr/>
                    </a:p>
                  </a:txBody>
                  <a:tcPr marL="45720" marR="45720" marT="45720" marB="45720" anchor="ctr">
                    <a:lnL>
                      <a:noFill/>
                    </a:lnL>
                    <a:lnR>
                      <a:noFill/>
                    </a:lnR>
                    <a:lnT>
                      <a:noFill/>
                    </a:lnT>
                    <a:lnB>
                      <a:noFill/>
                    </a:lnB>
                  </a:tcPr>
                </a:tc>
                <a:extLst>
                  <a:ext uri="{0D108BD9-81ED-4DB2-BD59-A6C34878D82A}">
                    <a16:rowId val="5"/>
                  </a:ext>
                </a:extLst>
              </a:tr>
              <a:tr h="853983">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The gerund warning</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If a noun ends in -ing or -tion, ask whether someone would point at it. Usually not.</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Exception: “the reservation” and “the cancellation” are real nouns with identity.</a:t>
                      </a:r>
                      <a:endParaRPr/>
                    </a:p>
                  </a:txBody>
                  <a:tcPr marL="45720" marR="45720" marT="45720" marB="45720" anchor="ctr">
                    <a:lnL>
                      <a:noFill/>
                    </a:lnL>
                    <a:lnR>
                      <a:noFill/>
                    </a:lnR>
                    <a:lnT>
                      <a:noFill/>
                    </a:lnT>
                    <a:lnB>
                      <a:noFill/>
                    </a:lnB>
                    <a:solidFill>
                      <a:srgbClr val="F7F9FC"/>
                    </a:solidFill>
                  </a:tcPr>
                </a:tc>
                <a:extLst>
                  <a:ext uri="{0D108BD9-81ED-4DB2-BD59-A6C34878D82A}">
                    <a16:rowId val="6"/>
                  </a:ext>
                </a:extLst>
              </a:tr>
            </a:tbl>
          </a:graphicData>
        </a:graphic>
      </p:graphicFrame>
      <p:sp>
        <p:nvSpPr>
          <p:cNvPr id="117" name=""/>
          <p:cNvSpPr/>
          <p:nvPr/>
        </p:nvSpPr>
        <p:spPr>
          <a:xfrm rot="0" flipH="0" flipV="0">
            <a:off x="0" y="6419850"/>
            <a:ext cx="12192000" cy="438150"/>
          </a:xfrm>
          <a:prstGeom prst="rect">
            <a:avLst/>
          </a:prstGeom>
          <a:solidFill>
            <a:srgbClr val="0E3F8C"/>
          </a:solidFill>
          <a:ln/>
        </p:spPr>
        <p:txBody>
          <a:bodyPr/>
          <a:p/>
        </p:txBody>
      </p:sp>
      <p:sp>
        <p:nvSpPr>
          <p:cNvPr id="118" name="" descr="{&quot;isTemplate&quot;:true,&quot;type&quot;:&quot;text&quot;}"/>
          <p:cNvSpPr txBox="1"/>
          <p:nvPr/>
        </p:nvSpPr>
        <p:spPr>
          <a:xfrm rot="0" flipH="0" flipV="0">
            <a:off x="2514600" y="6543675"/>
            <a:ext cx="7172325" cy="190500"/>
          </a:xfrm>
          <a:prstGeom prst="rect"/>
        </p:spPr>
        <p:txBody>
          <a:bodyPr wrap="none" lIns="0" tIns="0" rIns="0" bIns="0"/>
          <a:p>
            <a:pPr>
              <a:lnSpc>
                <a:spcPct val="100000"/>
              </a:lnSpc>
            </a:pPr>
            <a:r>
              <a:rPr lang="en-US" sz="1238" b="1">
                <a:solidFill>
                  <a:srgbClr val="FFFFFF"/>
                </a:solidFill>
                <a:latin typeface="Microsoft YaHei"/>
                <a:ea typeface="Microsoft YaHei"/>
              </a:rPr>
              <a:t>An entity is something the business would still care about with the whole interface switched off.</a:t>
            </a:r>
            <a:endParaRPr/>
          </a:p>
        </p:txBody>
      </p:sp>
    </p:spTree>
  </p:cSld>
</p:sld>
</file>

<file path=ppt/slides/slide17.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119"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6 · ENTITY, BOUNDARY, CONTROL&lt;/Text&gt;&#10;  &lt;/Box&gt;&#10;  &lt;Box style={{ padding: '13px 40px 0 40px', flexDirection: 'row', alignItems: 'center', justifyContent: 'space-between' }}&gt;&#10;    &lt;Text style={{ fontSize: 29, fontWeight: 'bold', color: '#0E3F8C' }}&gt;Finding Boundary Classes&lt;/Text&gt;&#10;    &lt;Text style={{ fontSize: 14, color: '#1E4FA8', fontWeight: 'bold' }}&gt;17 / 39&lt;/Text&gt;&#10;  &lt;/Box&gt;&#10;  &lt;Box style={{ flex: 1, padding: '10px 40px 0 40px', flexDirection: 'row', gap: 26 }}&gt;&#10;    &lt;Box style={{ width: 500, justifyContent: 'center' }}&gt;&#10;      &lt;svg width={500} height={340} viewBox='0 0 500 340'&gt;&#10;        &lt;text x='4' y='14' fill='#8B97A8' fontSize='12'&gt;One boundary class per way the outside world talks in.&lt;/text&gt;&#10;        &lt;g transform='translate(10,28)'&gt;&#10;          &lt;g&gt;&#10;            &lt;rect x='0' y='0' width='170' height='58' rx='7' fill='#F7F9FC' stroke='#D6DCE5' strokeWidth='1.4' /&gt;&#10;            &lt;text x='85' y='24' textAnchor='middle' fill='#0E3F8C' fontSize='13' fontWeight='bold'&gt;Student&lt;/text&gt;&#10;            &lt;text x='85' y='44' textAnchor='middle' fill='#8B97A8' fontSize='11'&gt;phone · laptop&lt;/text&gt;&#10;            &lt;line x1='170' y1='29' x2='228' y2='29' stroke='#996F00' strokeWidth='2' /&gt;&#10;            &lt;rect x='228' y='0' width='240' height='58' rx='7' fill='#FFF6E0' stroke='#FFC107' strokeWidth='1.8' /&gt;&#10;            &lt;text x='348' y='24' textAnchor='middle' fill='#996F00' fontSize='13' fontWeight='bold'&gt;StudentApp&lt;/text&gt;&#10;            &lt;text x='348' y='44' textAnchor='middle' fill='#8B97A8' fontSize='11'&gt;one boundary&lt;/text&gt;&#10;          &lt;/g&gt;&#10;          &lt;g transform='translate(0,74)'&gt;&#10;            &lt;rect x='0' y='0' width='170' height='58' rx='7' fill='#F7F9FC' stroke='#D6DCE5' strokeWidth='1.4' /&gt;&#10;            &lt;text x='85' y='24' textAnchor='middle' fill='#0E3F8C' fontSize='13' fontWeight='bold'&gt;Kitchen staff&lt;/text&gt;&#10;            &lt;text x='85' y='44' textAnchor='middle' fill='#8B97A8' fontSize='11'&gt;wall tablet&lt;/text&gt;&#10;            &lt;line x1='170' y1='29' x2='228' y2='29' stroke='#996F00' strokeWidth='2' /&gt;&#10;            &lt;rect x='228' y='0' width='240' height='58' rx='7' fill='#FFF6E0' stroke='#FFC107' strokeWidth='1.8' /&gt;&#10;            &lt;text x='348' y='24' textAnchor='middle' fill='#996F00' fontSize='13' fontWeight='bold'&gt;KitchenDisplay&lt;/text&gt;&#10;            &lt;text x='348' y='44' textAnchor='middle' fill='#8B97A8' fontSize='11'&gt;different job entirely&lt;/text&gt;&#10;          &lt;/g&gt;&#10;          &lt;g transform='translate(0,148)'&gt;&#10;            &lt;rect x='0' y='0' width='170' height='58' rx='7' fill='#F7F9FC' stroke='#D6DCE5' strokeWidth='1.4' /&gt;&#10;            &lt;text x='85' y='24' textAnchor='middle' fill='#0E3F8C' fontSize='13' fontWeight='bold'&gt;Courier&lt;/text&gt;&#10;            &lt;text x='85' y='44' textAnchor='middle' fill='#8B97A8' fontSize='11'&gt;own phone&lt;/text&gt;&#10;            &lt;line x1='170' y1='29' x2='228' y2='29' stroke='#996F00' strokeWidth='2' /&gt;&#10;            &lt;rect x='228' y='0' width='240' height='58' rx='7' fill='#FFF6E0' stroke='#FFC107' strokeWidth='1.8' /&gt;&#10;            &lt;text x='348' y='24' textAnchor='middle' fill='#996F00' fontSize='13' fontWeight='bold'&gt;CourierApp&lt;/text&gt;&#10;            &lt;text x='348' y='44' textAnchor='middle' fill='#8B97A8' fontSize='11'&gt;accepts and delivers&lt;/text&gt;&#10;          &lt;/g&gt;&#10;          &lt;g transform='translate(0,222)'&gt;&#10;            &lt;rect x='0' y='0' width='170' height='58' rx='7' fill='#F7F9FC' stroke='#D6DCE5' strokeWidth='1.4' /&gt;&#10;            &lt;text x='85' y='24' textAnchor='middle' fill='#0E3F8C' fontSize='13' fontWeight='bold'&gt;Manager&lt;/text&gt;&#10;            &lt;text x='85' y='44' textAnchor='middle' fill='#8B97A8' fontSize='11'&gt;back office&lt;/text&gt;&#10;            &lt;line x1='170' y1='29' x2='228' y2='29' stroke='#996F00' strokeWidth='2' /&gt;&#10;            &lt;rect x='228' y='0' width='240' height='58' rx='7' fill='#FFF6E0' stroke='#FFC107' strokeWidth='1.8' /&gt;&#10;            &lt;text x='348' y='24' textAnchor='middle' fill='#996F00' fontSize='13' fontWeight='bold'&gt;RestaurantConsole&lt;/text&gt;&#10;            &lt;text x='348' y='44' textAnchor='middle' fill='#8B97A8' fontSize='11'&gt;marks items sold out&lt;/text&gt;&#10;          &lt;/g&gt;&#10;        &lt;/g&gt;&#10;      &lt;/svg&gt;&#10;    &lt;/Box&gt;&#10;    &lt;Box style={{ flex: 1, flexDirection: 'column', justifyContent: 'center', gap: 13 }}&gt;&#10;      &lt;Box style={{ padding: '15px 17px', background: '#F0F5FC', borderRadius: 9, borderLeft: '4px solid #1E4FA8' }}&gt;&#10;        &lt;Text style={{ fontSize: 16, fontWeight: 'bold', color: '#0E3F8C' }}&gt;One actor, one boundary class&lt;/Text&gt;&#10;        &lt;Text style={{ fontSize: 13, color: '#4A5568', lineHeight: 1.6, marginTop: 5 }}&gt;&#10;          Not one per screen, and not one per actor role. The student uses StudentApp whether they are ordering or tracking.&#10;        &lt;/Text&gt;&#10;      &lt;/Box&gt;&#10;      &lt;Box style={{ padding: '15px 17px', background: '#FFFFFF', borderRadius: 9, border: '1px solid #D6DCE5' }}&gt;&#10;        &lt;Text style={{ fontSize: 16, fontWeight: 'bold', color: '#0E3F8C' }}&gt;The question to ask&lt;/Text&gt;&#10;        &lt;Text style={{ fontSize: 13, color: '#4A5568', lineHeight: 1.6, marginTop: 5 }}&gt;&#10;          If this actor needed a completely different application tomorrow, would it still be this class? No → new boundary class.&#10;        &lt;/Text&gt;&#10;      &lt;/Box&gt;&#10;      &lt;Box style={{ padding: '15px 17px', background: '#FDF3F3', borderRadius: 9, borderLeft: '4px solid #D9534F' }}&gt;&#10;        &lt;Text style={{ fontSize: 16, fontWeight: 'bold', color: '#D9534F' }}&gt;The trap for this course&lt;/Text&gt;&#10;        &lt;Text style={{ fontSize: 13, color: '#4A5568', lineHeight: 1.6, marginTop: 5 }}&gt;&#10;          You wrote “the student clicks Pay” in W04 and corrected it in W05. Boundary classes are where that UI detail belongs — not before W10.&#10;        &lt;/Text&gt;&#10;      &lt;/Box&gt;&#10;      &lt;Box style={{ padding: '12px 16px', background: '#F7F9FC', borderRadius: 8, border: '1px dashed #D6DCE5' }}&gt;&#10;        &lt;Text style={{ fontSize: 12.5, color: '#8B97A8', lineHeight: 1.55 }}&gt;&#10;          Four boundary classes in the worked example. Note that none of them is named after a page.&#10;        &lt;/Text&gt;&#10;      &lt;/Box&gt;&#10;    &lt;/Box&gt;&#10;  &lt;/Box&gt;&#10;  &lt;Box style={{ height: 34, padding: '0 40px', flexDirection: 'row', alignItems: 'center', justifyContent: 'space-between' }}&gt;&#10;    &lt;Text style={{ fontSize: 13, color: '#8B97A8' }}&gt;ISAD · Fall 2026 · A boundary class is named after who uses it, not after what it shows&lt;/Text&gt;&#10;    &lt;Text style={{ fontSize: 14, color: '#1E4FA8', fontWeight: 'bold' }}&gt;17 / 39&lt;/Text&gt;&#10;  &lt;/Box&gt;&#10;&lt;/Slide&gt;&#10;"/>
        <p:cNvGrpSpPr/>
        <p:nvPr/>
      </p:nvGrpSpPr>
      <p:grpSpPr>
        <a:xfrm>
          <a:off x="0" y="0"/>
          <a:ext cx="0" cy="0"/>
          <a:chOff x="0" y="0"/>
          <a:chExt cx="0" cy="0"/>
        </a:xfrm>
      </p:grpSpPr>
      <p:sp>
        <p:nvSpPr>
          <p:cNvPr id="120" name=""/>
          <p:cNvSpPr/>
          <p:nvPr/>
        </p:nvSpPr>
        <p:spPr>
          <a:xfrm rot="0" flipH="0" flipV="0">
            <a:off x="0" y="0"/>
            <a:ext cx="12192000" cy="6858000"/>
          </a:xfrm>
          <a:prstGeom prst="rect">
            <a:avLst/>
          </a:prstGeom>
          <a:solidFill>
            <a:srgbClr val="FFFFFF"/>
          </a:solidFill>
          <a:ln/>
        </p:spPr>
        <p:txBody>
          <a:bodyPr/>
          <a:p/>
        </p:txBody>
      </p:sp>
      <p:sp>
        <p:nvSpPr>
          <p:cNvPr id="121" name=""/>
          <p:cNvSpPr/>
          <p:nvPr/>
        </p:nvSpPr>
        <p:spPr>
          <a:xfrm rot="0" flipH="0" flipV="0">
            <a:off x="0" y="0"/>
            <a:ext cx="12192000" cy="685800"/>
          </a:xfrm>
          <a:prstGeom prst="rect">
            <a:avLst/>
          </a:prstGeom>
          <a:solidFill>
            <a:srgbClr val="1E4FA8"/>
          </a:solidFill>
          <a:ln/>
        </p:spPr>
        <p:txBody>
          <a:bodyPr/>
          <a:p/>
        </p:txBody>
      </p:sp>
      <p:sp>
        <p:nvSpPr>
          <p:cNvPr id="122"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123" name="" descr="{&quot;isTemplate&quot;:true,&quot;type&quot;:&quot;text&quot;}"/>
          <p:cNvSpPr txBox="1"/>
          <p:nvPr/>
        </p:nvSpPr>
        <p:spPr>
          <a:xfrm rot="0" flipH="0" flipV="0">
            <a:off x="9248775" y="257175"/>
            <a:ext cx="2562225" cy="171450"/>
          </a:xfrm>
          <a:prstGeom prst="rect"/>
        </p:spPr>
        <p:txBody>
          <a:bodyPr wrap="none" lIns="0" tIns="0" rIns="0" bIns="0"/>
          <a:p>
            <a:pPr>
              <a:lnSpc>
                <a:spcPct val="100000"/>
              </a:lnSpc>
            </a:pPr>
            <a:r>
              <a:rPr lang="en-US" sz="1125">
                <a:solidFill>
                  <a:srgbClr val="B9CDF0"/>
                </a:solidFill>
                <a:latin typeface="Microsoft YaHei"/>
                <a:ea typeface="Microsoft YaHei"/>
              </a:rPr>
              <a:t>W06 · ENTITY, BOUNDARY, CONTROL</a:t>
            </a:r>
            <a:endParaRPr/>
          </a:p>
        </p:txBody>
      </p:sp>
      <p:sp>
        <p:nvSpPr>
          <p:cNvPr id="124" name="" descr="{&quot;isTemplate&quot;:true,&quot;type&quot;:&quot;text&quot;}"/>
          <p:cNvSpPr txBox="1"/>
          <p:nvPr/>
        </p:nvSpPr>
        <p:spPr>
          <a:xfrm rot="0" flipH="0" flipV="0">
            <a:off x="381000" y="809625"/>
            <a:ext cx="3486150" cy="333375"/>
          </a:xfrm>
          <a:prstGeom prst="rect"/>
        </p:spPr>
        <p:txBody>
          <a:bodyPr wrap="none" lIns="0" tIns="0" rIns="0" bIns="0"/>
          <a:p>
            <a:pPr>
              <a:lnSpc>
                <a:spcPct val="100000"/>
              </a:lnSpc>
            </a:pPr>
            <a:r>
              <a:rPr lang="en-US" sz="2175" b="1">
                <a:solidFill>
                  <a:srgbClr val="0E3F8C"/>
                </a:solidFill>
                <a:latin typeface="Microsoft YaHei"/>
                <a:ea typeface="Microsoft YaHei"/>
              </a:rPr>
              <a:t>Finding Boundary Classes</a:t>
            </a:r>
            <a:endParaRPr/>
          </a:p>
        </p:txBody>
      </p:sp>
      <p:sp>
        <p:nvSpPr>
          <p:cNvPr id="125"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17 / 39</a:t>
            </a:r>
            <a:endParaRPr/>
          </a:p>
        </p:txBody>
      </p:sp>
      <p:pic>
        <p:nvPicPr>
          <p:cNvPr id="126" name=""/>
          <p:cNvPicPr>
            <a:picLocks noChangeAspect="1"/>
          </p:cNvPicPr>
          <p:nvPr/>
        </p:nvPicPr>
        <p:blipFill>
          <a:blip>
            <a:extLst>
              <a:ext uri="{96DAC541-7B7A-43D3-8B79-37D633B846F1}">
                <asvg:svgBlip r:embed="rId1"/>
              </a:ext>
            </a:extLst>
          </a:blip>
          <a:stretch>
            <a:fillRect/>
          </a:stretch>
        </p:blipFill>
        <p:spPr>
          <a:xfrm rot="0" flipH="0" flipV="0">
            <a:off x="381000" y="2266950"/>
            <a:ext cx="4762500" cy="3238500"/>
          </a:xfrm>
          <a:prstGeom prst="rect">
            <a:avLst/>
          </a:prstGeom>
          <a:ln/>
        </p:spPr>
      </p:pic>
      <p:sp>
        <p:nvSpPr>
          <p:cNvPr id="127" name=""/>
          <p:cNvSpPr/>
          <p:nvPr/>
        </p:nvSpPr>
        <p:spPr>
          <a:xfrm rot="0" flipH="0" flipV="0">
            <a:off x="5429250" y="1971675"/>
            <a:ext cx="6419850" cy="1000125"/>
          </a:xfrm>
          <a:prstGeom prst="roundRect">
            <a:avLst>
              <a:gd name="adj" fmla="val 8571"/>
            </a:avLst>
          </a:prstGeom>
          <a:solidFill>
            <a:srgbClr val="F0F5FC"/>
          </a:solidFill>
          <a:ln/>
        </p:spPr>
        <p:txBody>
          <a:bodyPr/>
          <a:p/>
        </p:txBody>
      </p:sp>
      <p:sp>
        <p:nvSpPr>
          <p:cNvPr id="128" name=""/>
          <p:cNvSpPr/>
          <p:nvPr/>
        </p:nvSpPr>
        <p:spPr>
          <a:xfrm rot="0" flipH="0" flipV="0">
            <a:off x="5429250" y="1971675"/>
            <a:ext cx="6419850" cy="1000125"/>
          </a:xfrm>
          <a:custGeom>
            <a:pathLst>
              <a:path w="674" h="105">
                <a:moveTo>
                  <a:pt x="9" y="0"/>
                </a:moveTo>
                <a:cubicBezTo>
                  <a:pt x="6" y="0"/>
                  <a:pt x="4" y="2"/>
                  <a:pt x="4" y="5"/>
                </a:cubicBezTo>
                <a:lnTo>
                  <a:pt x="4" y="100"/>
                </a:lnTo>
                <a:cubicBezTo>
                  <a:pt x="4" y="102"/>
                  <a:pt x="6" y="104"/>
                  <a:pt x="8" y="105"/>
                </a:cubicBezTo>
                <a:cubicBezTo>
                  <a:pt x="4" y="105"/>
                  <a:pt x="0" y="101"/>
                  <a:pt x="0" y="96"/>
                </a:cubicBezTo>
                <a:lnTo>
                  <a:pt x="0" y="9"/>
                </a:lnTo>
                <a:cubicBezTo>
                  <a:pt x="0" y="4"/>
                  <a:pt x="4" y="0"/>
                  <a:pt x="9" y="0"/>
                </a:cubicBezTo>
                <a:close/>
              </a:path>
            </a:pathLst>
          </a:custGeom>
          <a:solidFill>
            <a:srgbClr val="1E4FA8"/>
          </a:solidFill>
          <a:ln/>
        </p:spPr>
        <p:txBody>
          <a:bodyPr/>
          <a:p/>
        </p:txBody>
      </p:sp>
      <p:sp>
        <p:nvSpPr>
          <p:cNvPr id="129" name="" descr="{&quot;isTemplate&quot;:true,&quot;type&quot;:&quot;text&quot;}"/>
          <p:cNvSpPr txBox="1"/>
          <p:nvPr/>
        </p:nvSpPr>
        <p:spPr>
          <a:xfrm rot="0" flipH="0" flipV="0">
            <a:off x="5591175" y="2114550"/>
            <a:ext cx="6057900" cy="190500"/>
          </a:xfrm>
          <a:prstGeom prst="rect"/>
        </p:spPr>
        <p:txBody>
          <a:bodyPr wrap="none" lIns="0" tIns="0" rIns="0" bIns="0"/>
          <a:p>
            <a:pPr>
              <a:lnSpc>
                <a:spcPct val="100000"/>
              </a:lnSpc>
            </a:pPr>
            <a:r>
              <a:rPr lang="en-US" sz="1200" b="1">
                <a:solidFill>
                  <a:srgbClr val="0E3F8C"/>
                </a:solidFill>
                <a:latin typeface="Microsoft YaHei"/>
                <a:ea typeface="Microsoft YaHei"/>
              </a:rPr>
              <a:t>One actor, one boundary class</a:t>
            </a:r>
            <a:endParaRPr/>
          </a:p>
        </p:txBody>
      </p:sp>
      <p:sp>
        <p:nvSpPr>
          <p:cNvPr id="130" name="" descr="{&quot;isTemplate&quot;:true,&quot;type&quot;:&quot;text&quot;}"/>
          <p:cNvSpPr txBox="1"/>
          <p:nvPr/>
        </p:nvSpPr>
        <p:spPr>
          <a:xfrm rot="0" flipH="0" flipV="0">
            <a:off x="5591175" y="2352675"/>
            <a:ext cx="605790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Not one per screen, and not one per actor role. The student uses StudentApp whether they are ordering or tracking.</a:t>
            </a:r>
            <a:endParaRPr/>
          </a:p>
        </p:txBody>
      </p:sp>
      <p:sp>
        <p:nvSpPr>
          <p:cNvPr id="131" name=""/>
          <p:cNvSpPr/>
          <p:nvPr/>
        </p:nvSpPr>
        <p:spPr>
          <a:xfrm rot="0" flipH="0" flipV="0">
            <a:off x="5391150" y="3095625"/>
            <a:ext cx="6419850" cy="1000125"/>
          </a:xfrm>
          <a:prstGeom prst="roundRect">
            <a:avLst>
              <a:gd name="adj" fmla="val 8571"/>
            </a:avLst>
          </a:prstGeom>
          <a:solidFill>
            <a:srgbClr val="FFFFFF"/>
          </a:solidFill>
          <a:ln w="12700">
            <a:solidFill>
              <a:srgbClr val="D6DCE5"/>
            </a:solidFill>
            <a:prstDash val="solid"/>
          </a:ln>
        </p:spPr>
        <p:txBody>
          <a:bodyPr/>
          <a:p/>
        </p:txBody>
      </p:sp>
      <p:sp>
        <p:nvSpPr>
          <p:cNvPr id="132" name="" descr="{&quot;isTemplate&quot;:true,&quot;type&quot;:&quot;text&quot;}"/>
          <p:cNvSpPr txBox="1"/>
          <p:nvPr/>
        </p:nvSpPr>
        <p:spPr>
          <a:xfrm rot="0" flipH="0" flipV="0">
            <a:off x="5553075" y="3238500"/>
            <a:ext cx="6096000" cy="190500"/>
          </a:xfrm>
          <a:prstGeom prst="rect"/>
        </p:spPr>
        <p:txBody>
          <a:bodyPr wrap="none" lIns="0" tIns="0" rIns="0" bIns="0"/>
          <a:p>
            <a:pPr>
              <a:lnSpc>
                <a:spcPct val="100000"/>
              </a:lnSpc>
            </a:pPr>
            <a:r>
              <a:rPr lang="en-US" sz="1200" b="1">
                <a:solidFill>
                  <a:srgbClr val="0E3F8C"/>
                </a:solidFill>
                <a:latin typeface="Microsoft YaHei"/>
                <a:ea typeface="Microsoft YaHei"/>
              </a:rPr>
              <a:t>The question to ask</a:t>
            </a:r>
            <a:endParaRPr/>
          </a:p>
        </p:txBody>
      </p:sp>
      <p:sp>
        <p:nvSpPr>
          <p:cNvPr id="133" name="" descr="{&quot;isTemplate&quot;:true,&quot;type&quot;:&quot;text&quot;}"/>
          <p:cNvSpPr txBox="1"/>
          <p:nvPr/>
        </p:nvSpPr>
        <p:spPr>
          <a:xfrm rot="0" flipH="0" flipV="0">
            <a:off x="5553075" y="3476625"/>
            <a:ext cx="609600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If this actor needed a completely different application tomorrow, would it still be this class? No → new boundary class.</a:t>
            </a:r>
            <a:endParaRPr/>
          </a:p>
        </p:txBody>
      </p:sp>
      <p:sp>
        <p:nvSpPr>
          <p:cNvPr id="134" name=""/>
          <p:cNvSpPr/>
          <p:nvPr/>
        </p:nvSpPr>
        <p:spPr>
          <a:xfrm rot="0" flipH="0" flipV="0">
            <a:off x="5429250" y="4219575"/>
            <a:ext cx="6419850" cy="1000125"/>
          </a:xfrm>
          <a:prstGeom prst="roundRect">
            <a:avLst>
              <a:gd name="adj" fmla="val 8571"/>
            </a:avLst>
          </a:prstGeom>
          <a:solidFill>
            <a:srgbClr val="FDF3F3"/>
          </a:solidFill>
          <a:ln/>
        </p:spPr>
        <p:txBody>
          <a:bodyPr/>
          <a:p/>
        </p:txBody>
      </p:sp>
      <p:sp>
        <p:nvSpPr>
          <p:cNvPr id="135" name=""/>
          <p:cNvSpPr/>
          <p:nvPr/>
        </p:nvSpPr>
        <p:spPr>
          <a:xfrm rot="0" flipH="0" flipV="0">
            <a:off x="5429250" y="4219575"/>
            <a:ext cx="6419850" cy="1000125"/>
          </a:xfrm>
          <a:custGeom>
            <a:pathLst>
              <a:path w="674" h="105">
                <a:moveTo>
                  <a:pt x="9" y="0"/>
                </a:moveTo>
                <a:cubicBezTo>
                  <a:pt x="6" y="0"/>
                  <a:pt x="4" y="2"/>
                  <a:pt x="4" y="5"/>
                </a:cubicBezTo>
                <a:lnTo>
                  <a:pt x="4" y="100"/>
                </a:lnTo>
                <a:cubicBezTo>
                  <a:pt x="4" y="102"/>
                  <a:pt x="6" y="104"/>
                  <a:pt x="8" y="105"/>
                </a:cubicBezTo>
                <a:cubicBezTo>
                  <a:pt x="4" y="105"/>
                  <a:pt x="0" y="101"/>
                  <a:pt x="0" y="96"/>
                </a:cubicBezTo>
                <a:lnTo>
                  <a:pt x="0" y="9"/>
                </a:lnTo>
                <a:cubicBezTo>
                  <a:pt x="0" y="4"/>
                  <a:pt x="4" y="0"/>
                  <a:pt x="9" y="0"/>
                </a:cubicBezTo>
                <a:close/>
              </a:path>
            </a:pathLst>
          </a:custGeom>
          <a:solidFill>
            <a:srgbClr val="D9534F"/>
          </a:solidFill>
          <a:ln/>
        </p:spPr>
        <p:txBody>
          <a:bodyPr/>
          <a:p/>
        </p:txBody>
      </p:sp>
      <p:sp>
        <p:nvSpPr>
          <p:cNvPr id="136" name="" descr="{&quot;isTemplate&quot;:true,&quot;type&quot;:&quot;text&quot;}"/>
          <p:cNvSpPr txBox="1"/>
          <p:nvPr/>
        </p:nvSpPr>
        <p:spPr>
          <a:xfrm rot="0" flipH="0" flipV="0">
            <a:off x="5591175" y="4362450"/>
            <a:ext cx="6057900" cy="190500"/>
          </a:xfrm>
          <a:prstGeom prst="rect"/>
        </p:spPr>
        <p:txBody>
          <a:bodyPr wrap="none" lIns="0" tIns="0" rIns="0" bIns="0"/>
          <a:p>
            <a:pPr>
              <a:lnSpc>
                <a:spcPct val="100000"/>
              </a:lnSpc>
            </a:pPr>
            <a:r>
              <a:rPr lang="en-US" sz="1200" b="1">
                <a:solidFill>
                  <a:srgbClr val="D9534F"/>
                </a:solidFill>
                <a:latin typeface="Microsoft YaHei"/>
                <a:ea typeface="Microsoft YaHei"/>
              </a:rPr>
              <a:t>The trap for this course</a:t>
            </a:r>
            <a:endParaRPr/>
          </a:p>
        </p:txBody>
      </p:sp>
      <p:sp>
        <p:nvSpPr>
          <p:cNvPr id="137" name="" descr="{&quot;isTemplate&quot;:true,&quot;type&quot;:&quot;text&quot;}"/>
          <p:cNvSpPr txBox="1"/>
          <p:nvPr/>
        </p:nvSpPr>
        <p:spPr>
          <a:xfrm rot="0" flipH="0" flipV="0">
            <a:off x="5591175" y="4600575"/>
            <a:ext cx="605790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You wrote “the student clicks Pay” in W04 and corrected it in W05. Boundary classes are where that UI detail belongs — not before W10.</a:t>
            </a:r>
            <a:endParaRPr/>
          </a:p>
        </p:txBody>
      </p:sp>
      <p:sp>
        <p:nvSpPr>
          <p:cNvPr id="138" name=""/>
          <p:cNvSpPr/>
          <p:nvPr/>
        </p:nvSpPr>
        <p:spPr>
          <a:xfrm rot="0" flipH="0" flipV="0">
            <a:off x="5391150" y="5343525"/>
            <a:ext cx="6419850" cy="457200"/>
          </a:xfrm>
          <a:prstGeom prst="roundRect">
            <a:avLst>
              <a:gd name="adj" fmla="val 16667"/>
            </a:avLst>
          </a:prstGeom>
          <a:solidFill>
            <a:srgbClr val="F7F9FC"/>
          </a:solidFill>
          <a:ln w="12700">
            <a:solidFill>
              <a:srgbClr val="D6DCE5"/>
            </a:solidFill>
            <a:prstDash val="dash"/>
          </a:ln>
        </p:spPr>
        <p:txBody>
          <a:bodyPr/>
          <a:p/>
        </p:txBody>
      </p:sp>
      <p:sp>
        <p:nvSpPr>
          <p:cNvPr id="139" name="" descr="{&quot;isTemplate&quot;:true,&quot;type&quot;:&quot;text&quot;}"/>
          <p:cNvSpPr txBox="1"/>
          <p:nvPr/>
        </p:nvSpPr>
        <p:spPr>
          <a:xfrm rot="0" flipH="0" flipV="0">
            <a:off x="5543550" y="5457825"/>
            <a:ext cx="6115050" cy="228600"/>
          </a:xfrm>
          <a:prstGeom prst="rect"/>
        </p:spPr>
        <p:txBody>
          <a:bodyPr wrap="none" lIns="0" tIns="0" rIns="0" bIns="0"/>
          <a:p>
            <a:pPr>
              <a:lnSpc>
                <a:spcPct val="155000"/>
              </a:lnSpc>
            </a:pPr>
            <a:r>
              <a:rPr lang="en-US" sz="938">
                <a:solidFill>
                  <a:srgbClr val="8B97A8"/>
                </a:solidFill>
                <a:latin typeface="Microsoft YaHei"/>
                <a:ea typeface="Microsoft YaHei"/>
              </a:rPr>
              <a:t>Four boundary classes in the worked example. Note that none of them is named after a page.</a:t>
            </a:r>
            <a:endParaRPr/>
          </a:p>
        </p:txBody>
      </p:sp>
      <p:sp>
        <p:nvSpPr>
          <p:cNvPr id="140" name="" descr="{&quot;isTemplate&quot;:true,&quot;type&quot;:&quot;text&quot;}"/>
          <p:cNvSpPr txBox="1"/>
          <p:nvPr/>
        </p:nvSpPr>
        <p:spPr>
          <a:xfrm rot="0" flipH="0" flipV="0">
            <a:off x="381000" y="6619875"/>
            <a:ext cx="4743450" cy="152400"/>
          </a:xfrm>
          <a:prstGeom prst="rect"/>
        </p:spPr>
        <p:txBody>
          <a:bodyPr wrap="none" lIns="0" tIns="0" rIns="0" bIns="0"/>
          <a:p>
            <a:pPr>
              <a:lnSpc>
                <a:spcPct val="100000"/>
              </a:lnSpc>
            </a:pPr>
            <a:r>
              <a:rPr lang="en-US" sz="975">
                <a:solidFill>
                  <a:srgbClr val="8B97A8"/>
                </a:solidFill>
                <a:latin typeface="Microsoft YaHei"/>
                <a:ea typeface="Microsoft YaHei"/>
              </a:rPr>
              <a:t>ISAD · Fall 2026 · A boundary class is named after who uses it, not after what it shows</a:t>
            </a:r>
            <a:endParaRPr/>
          </a:p>
        </p:txBody>
      </p:sp>
      <p:sp>
        <p:nvSpPr>
          <p:cNvPr id="141" name="" descr="{&quot;isTemplate&quot;:true,&quot;type&quot;:&quot;text&quot;}"/>
          <p:cNvSpPr txBox="1"/>
          <p:nvPr/>
        </p:nvSpPr>
        <p:spPr>
          <a:xfrm rot="0" flipH="0" flipV="0">
            <a:off x="11401425" y="6619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17 / 39</a:t>
            </a:r>
            <a:endParaRPr/>
          </a:p>
        </p:txBody>
      </p:sp>
    </p:spTree>
  </p:cSld>
</p:sld>
</file>

<file path=ppt/slides/slide18.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142"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6 · ENTITY, BOUNDARY, CONTROL&lt;/Text&gt;&#10;  &lt;/Box&gt;&#10;  &lt;Box style={{ padding: '13px 40px 0 40px', flexDirection: 'row', alignItems: 'center', justifyContent: 'space-between' }}&gt;&#10;    &lt;Text style={{ fontSize: 29, fontWeight: 'bold', color: '#0E3F8C' }}&gt;Finding Control Classes&lt;/Text&gt;&#10;    &lt;Text style={{ fontSize: 14, color: '#1E4FA8', fontWeight: 'bold' }}&gt;18 / 39&lt;/Text&gt;&#10;  &lt;/Box&gt;&#10;  &lt;Box style={{ flex: 1, padding: '10px 40px 0 40px' }}&gt;&#10;    &lt;Table&#10;      style={{ width: '100%', height: '100%' }}&#10;      defaultTextStyle={{ fontSize: 13.5, textAlign: 'left', color: '#1A2230' }}&#10;      defaultCellStyle={{&#10;        border: {&#10;          left: { width: 1, color: '#E5E7EB' },&#10;          right: { width: 1, color: '#E5E7EB' },&#10;          top: { width: 1, color: '#E5E7EB' },&#10;          bottom: { width: 1, color: '#E5E7EB' },&#10;        },&#10;      }}&#10;      cells={[&#10;        [&#10;          { text: '', textStyle: { bold: true }, cellStyle: { background: { color: '#0E3F8C' } } },&#10;          { text: 'A control class', textStyle: { bold: true, color: '#FFFFFF', fontSize: 15 }, cellStyle: { background: { color: '#1E4FA8' } } },&#10;          { text: 'Not a control class', textStyle: { bold: true, color: '#FFFFFF', fontSize: 15 }, cellStyle: { background: { color: '#8B3230' } } },&#10;        ],&#10;        [&#10;          { text: 'One per use case', textStyle: { bold: true, color: '#0E3F8C' }, cellStyle: { background: { color: '#F7F9FC' } } },&#10;          { text: 'PlaceOrderController exists because “Place Order” is a use case.', textStyle: { color: '#4A5568' }, cellStyle: { background: { color: '#F7F9FC' } } },&#10;          { text: 'One per actor, or one per table — that is not a use case at all.', textStyle: { color: '#4A5568' }, cellStyle: { background: { color: '#F7F9FC' } } },&#10;        ],&#10;        [&#10;          { text: 'Holds the sequence', textStyle: { bold: true, color: '#0E3F8C' } },&#10;          { text: 'It knows step 3 happens before step 4, and that 4c ends the use case.', textStyle: { color: '#4A5568' } },&#10;          { text: '“The order knows its steps” — entities do not know the order of steps.', textStyle: { color: '#4A5568' } },&#10;        ],&#10;        [&#10;          { text: 'Stores nothing', textStyle: { bold: true, color: '#0E3F8C' }, cellStyle: { background: { color: '#F7F9FC' } } },&#10;          { text: 'It asks the entities to record things and forgets about them.', textStyle: { color: '#4A5568' }, cellStyle: { background: { color: '#F7F9FC' } } },&#10;          { text: 'PlaceOrderController with its own orderList field is a god object in waiting.', textStyle: { color: '#4A5568' }, cellStyle: { background: { color: '#F7F9FC' } } },&#10;        ],&#10;        [&#10;          { text: 'Worked example set', textStyle: { bold: true, color: '#0E3F8C' } },&#10;          { text: 'PlaceOrderController · PayController · DispatchController · CancelOrderController', textStyle: { color: '#1E4FA8', fontWeight: 'bold' } },&#10;          { text: 'OrderService · OrderHelper — those are W10 design names, and they hide the use cases.', textStyle: { color: '#4A5568' } },&#10;        ],&#10;        [&#10;          { text: 'The honest answer', textStyle: { bold: true, color: '#0E3F8C' }, cellStyle: { background: { color: '#F7F9FC' } } },&#10;          { text: 'Control classes are the least stable part of an analysis model. Expect to reshape them in W10.', textStyle: { color: '#4A5568' }, cellStyle: { background: { color: '#F7F9FC' } } },&#10;          { text: 'That is not a design failure. It means you modelled honestly instead of guessing early.', textStyle: { color: '#4A5568' }, cellStyle: { background: { color: '#F7F9FC' } } },&#10;        ],&#10;      ]}&#10;    /&gt;&#10;  &lt;/Box&gt;&#10;  &lt;Box style={{ height: 46, background: '#0E3F8C', padding: '0 40px', flexDirection: 'row', alignItems: 'center', justifyContent: 'center' }}&gt;&#10;    &lt;Text style={{ fontSize: 16.5, color: '#FFFFFF', fontWeight: '600' }}&gt;One control class per use case, holding no data. If yours is huge, the use case is probably two.&lt;/Text&gt;&#10;  &lt;/Box&gt;&#10;&lt;/Slide&gt;&#10;"/>
        <p:cNvGrpSpPr/>
        <p:nvPr/>
      </p:nvGrpSpPr>
      <p:grpSpPr>
        <a:xfrm>
          <a:off x="0" y="0"/>
          <a:ext cx="0" cy="0"/>
          <a:chOff x="0" y="0"/>
          <a:chExt cx="0" cy="0"/>
        </a:xfrm>
      </p:grpSpPr>
      <p:sp>
        <p:nvSpPr>
          <p:cNvPr id="143" name=""/>
          <p:cNvSpPr/>
          <p:nvPr/>
        </p:nvSpPr>
        <p:spPr>
          <a:xfrm rot="0" flipH="0" flipV="0">
            <a:off x="0" y="0"/>
            <a:ext cx="12192000" cy="6858000"/>
          </a:xfrm>
          <a:prstGeom prst="rect">
            <a:avLst/>
          </a:prstGeom>
          <a:solidFill>
            <a:srgbClr val="FFFFFF"/>
          </a:solidFill>
          <a:ln/>
        </p:spPr>
        <p:txBody>
          <a:bodyPr/>
          <a:p/>
        </p:txBody>
      </p:sp>
      <p:sp>
        <p:nvSpPr>
          <p:cNvPr id="144" name=""/>
          <p:cNvSpPr/>
          <p:nvPr/>
        </p:nvSpPr>
        <p:spPr>
          <a:xfrm rot="0" flipH="0" flipV="0">
            <a:off x="0" y="0"/>
            <a:ext cx="12192000" cy="685800"/>
          </a:xfrm>
          <a:prstGeom prst="rect">
            <a:avLst/>
          </a:prstGeom>
          <a:solidFill>
            <a:srgbClr val="1E4FA8"/>
          </a:solidFill>
          <a:ln/>
        </p:spPr>
        <p:txBody>
          <a:bodyPr/>
          <a:p/>
        </p:txBody>
      </p:sp>
      <p:sp>
        <p:nvSpPr>
          <p:cNvPr id="145"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146" name="" descr="{&quot;isTemplate&quot;:true,&quot;type&quot;:&quot;text&quot;}"/>
          <p:cNvSpPr txBox="1"/>
          <p:nvPr/>
        </p:nvSpPr>
        <p:spPr>
          <a:xfrm rot="0" flipH="0" flipV="0">
            <a:off x="9248775" y="257175"/>
            <a:ext cx="2562225" cy="171450"/>
          </a:xfrm>
          <a:prstGeom prst="rect"/>
        </p:spPr>
        <p:txBody>
          <a:bodyPr wrap="none" lIns="0" tIns="0" rIns="0" bIns="0"/>
          <a:p>
            <a:pPr>
              <a:lnSpc>
                <a:spcPct val="100000"/>
              </a:lnSpc>
            </a:pPr>
            <a:r>
              <a:rPr lang="en-US" sz="1125">
                <a:solidFill>
                  <a:srgbClr val="B9CDF0"/>
                </a:solidFill>
                <a:latin typeface="Microsoft YaHei"/>
                <a:ea typeface="Microsoft YaHei"/>
              </a:rPr>
              <a:t>W06 · ENTITY, BOUNDARY, CONTROL</a:t>
            </a:r>
            <a:endParaRPr/>
          </a:p>
        </p:txBody>
      </p:sp>
      <p:sp>
        <p:nvSpPr>
          <p:cNvPr id="147" name="" descr="{&quot;isTemplate&quot;:true,&quot;type&quot;:&quot;text&quot;}"/>
          <p:cNvSpPr txBox="1"/>
          <p:nvPr/>
        </p:nvSpPr>
        <p:spPr>
          <a:xfrm rot="0" flipH="0" flipV="0">
            <a:off x="381000" y="809625"/>
            <a:ext cx="3181350" cy="333375"/>
          </a:xfrm>
          <a:prstGeom prst="rect"/>
        </p:spPr>
        <p:txBody>
          <a:bodyPr wrap="none" lIns="0" tIns="0" rIns="0" bIns="0"/>
          <a:p>
            <a:pPr>
              <a:lnSpc>
                <a:spcPct val="100000"/>
              </a:lnSpc>
            </a:pPr>
            <a:r>
              <a:rPr lang="en-US" sz="2175" b="1">
                <a:solidFill>
                  <a:srgbClr val="0E3F8C"/>
                </a:solidFill>
                <a:latin typeface="Microsoft YaHei"/>
                <a:ea typeface="Microsoft YaHei"/>
              </a:rPr>
              <a:t>Finding Control Classes</a:t>
            </a:r>
            <a:endParaRPr/>
          </a:p>
        </p:txBody>
      </p:sp>
      <p:sp>
        <p:nvSpPr>
          <p:cNvPr id="148"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18 / 39</a:t>
            </a:r>
            <a:endParaRPr/>
          </a:p>
        </p:txBody>
      </p:sp>
      <p:graphicFrame>
        <p:nvGraphicFramePr>
          <p:cNvPr id="149" name=""/>
          <p:cNvGraphicFramePr/>
          <p:nvPr/>
        </p:nvGraphicFramePr>
        <p:xfrm rot="0" flipH="0" flipV="0">
          <a:off x="381000" y="1238250"/>
          <a:ext cx="11430000" cy="5181600"/>
        </p:xfrm>
        <a:graphic>
          <a:graphicData uri="http://schemas.openxmlformats.org/drawingml/2006/table">
            <a:tbl>
              <a:tblGrid>
                <a:gridCol w="1269599">
                  <a:extLst>
                    <a:ext uri="{9D8B030D-6E8A-4147-A177-3AD203B41FA5}">
                      <a16:colId val="1"/>
                    </a:ext>
                  </a:extLst>
                </a:gridCol>
                <a:gridCol w="5179529">
                  <a:extLst>
                    <a:ext uri="{9D8B030D-6E8A-4147-A177-3AD203B41FA5}">
                      <a16:colId val="2"/>
                    </a:ext>
                  </a:extLst>
                </a:gridCol>
                <a:gridCol w="4980872">
                  <a:extLst>
                    <a:ext uri="{9D8B030D-6E8A-4147-A177-3AD203B41FA5}">
                      <a16:colId val="3"/>
                    </a:ext>
                  </a:extLst>
                </a:gridCol>
              </a:tblGrid>
              <a:tr h="692048">
                <a:tc>
                  <a:txBody>
                    <a:bodyPr wrap="square" lIns="0" tIns="0" rIns="0" bIns="0" anchor="ctr">
                      <a:normAutofit/>
                    </a:bodyPr>
                    <a:p>
                      <a:pPr marL="114300" marR="114300" algn="l">
                        <a:lnSpc>
                          <a:spcPct val="120000"/>
                        </a:lnSpc>
                      </a:pP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A control class</a:t>
                      </a:r>
                      <a:endParaRPr/>
                    </a:p>
                  </a:txBody>
                  <a:tcPr marL="45720" marR="45720" marT="45720" marB="45720" anchor="ctr">
                    <a:lnL>
                      <a:noFill/>
                    </a:lnL>
                    <a:lnR>
                      <a:noFill/>
                    </a:lnR>
                    <a:lnT>
                      <a:noFill/>
                    </a:lnT>
                    <a:lnB>
                      <a:noFill/>
                    </a:lnB>
                    <a:solidFill>
                      <a:srgbClr val="1E4FA8"/>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Not a control class</a:t>
                      </a:r>
                      <a:endParaRPr/>
                    </a:p>
                  </a:txBody>
                  <a:tcPr marL="45720" marR="45720" marT="45720" marB="45720" anchor="ctr">
                    <a:lnL>
                      <a:noFill/>
                    </a:lnL>
                    <a:lnR>
                      <a:noFill/>
                    </a:lnR>
                    <a:lnT>
                      <a:noFill/>
                    </a:lnT>
                    <a:lnB>
                      <a:noFill/>
                    </a:lnB>
                    <a:solidFill>
                      <a:srgbClr val="8B3230"/>
                    </a:solidFill>
                  </a:tcPr>
                </a:tc>
                <a:extLst>
                  <a:ext uri="{0D108BD9-81ED-4DB2-BD59-A6C34878D82A}">
                    <a16:rowId val="1"/>
                  </a:ext>
                </a:extLst>
              </a:tr>
              <a:tr h="648248">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One per use case</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PlaceOrderController exists because “Place Order” is a use case.</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One per actor, or one per table — that is not a use case at all.</a:t>
                      </a:r>
                      <a:endParaRPr/>
                    </a:p>
                  </a:txBody>
                  <a:tcPr marL="45720" marR="45720" marT="45720" marB="45720" anchor="ctr">
                    <a:lnL>
                      <a:noFill/>
                    </a:lnL>
                    <a:lnR>
                      <a:noFill/>
                    </a:lnR>
                    <a:lnT>
                      <a:noFill/>
                    </a:lnT>
                    <a:lnB>
                      <a:noFill/>
                    </a:lnB>
                    <a:solidFill>
                      <a:srgbClr val="F7F9FC"/>
                    </a:solidFill>
                  </a:tcPr>
                </a:tc>
                <a:extLst>
                  <a:ext uri="{0D108BD9-81ED-4DB2-BD59-A6C34878D82A}">
                    <a16:rowId val="2"/>
                  </a:ext>
                </a:extLst>
              </a:tr>
              <a:tr h="1064352">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Holds the sequence</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It knows step 3 happens before step 4, and that 4c ends the use case.</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“The order knows its steps” — entities do not know the order of steps.</a:t>
                      </a:r>
                      <a:endParaRPr/>
                    </a:p>
                  </a:txBody>
                  <a:tcPr marL="45720" marR="45720" marT="45720" marB="45720" anchor="ctr">
                    <a:lnL>
                      <a:noFill/>
                    </a:lnL>
                    <a:lnR>
                      <a:noFill/>
                    </a:lnR>
                    <a:lnT>
                      <a:noFill/>
                    </a:lnT>
                    <a:lnB>
                      <a:noFill/>
                    </a:lnB>
                  </a:tcPr>
                </a:tc>
                <a:extLst>
                  <a:ext uri="{0D108BD9-81ED-4DB2-BD59-A6C34878D82A}">
                    <a16:rowId val="3"/>
                  </a:ext>
                </a:extLst>
              </a:tr>
              <a:tr h="648248">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Stores nothing</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It asks the entities to record things and forgets about them.</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PlaceOrderController with its own orderList field is a god object in waiting.</a:t>
                      </a:r>
                      <a:endParaRPr/>
                    </a:p>
                  </a:txBody>
                  <a:tcPr marL="45720" marR="45720" marT="45720" marB="45720" anchor="ctr">
                    <a:lnL>
                      <a:noFill/>
                    </a:lnL>
                    <a:lnR>
                      <a:noFill/>
                    </a:lnR>
                    <a:lnT>
                      <a:noFill/>
                    </a:lnT>
                    <a:lnB>
                      <a:noFill/>
                    </a:lnB>
                    <a:solidFill>
                      <a:srgbClr val="F7F9FC"/>
                    </a:solidFill>
                  </a:tcPr>
                </a:tc>
                <a:extLst>
                  <a:ext uri="{0D108BD9-81ED-4DB2-BD59-A6C34878D82A}">
                    <a16:rowId val="4"/>
                  </a:ext>
                </a:extLst>
              </a:tr>
              <a:tr h="1064352">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Worked example set</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1E4FA8"/>
                          </a:solidFill>
                          <a:latin typeface="Microsoft YaHei"/>
                          <a:ea typeface="Microsoft YaHei"/>
                        </a:rPr>
                        <a:t>PlaceOrderController · PayController · DispatchController · CancelOrderController</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OrderService · OrderHelper — those are W10 design names, and they hide the use cases.</a:t>
                      </a:r>
                      <a:endParaRPr/>
                    </a:p>
                  </a:txBody>
                  <a:tcPr marL="45720" marR="45720" marT="45720" marB="45720" anchor="ctr">
                    <a:lnL>
                      <a:noFill/>
                    </a:lnL>
                    <a:lnR>
                      <a:noFill/>
                    </a:lnR>
                    <a:lnT>
                      <a:noFill/>
                    </a:lnT>
                    <a:lnB>
                      <a:noFill/>
                    </a:lnB>
                  </a:tcPr>
                </a:tc>
                <a:extLst>
                  <a:ext uri="{0D108BD9-81ED-4DB2-BD59-A6C34878D82A}">
                    <a16:rowId val="5"/>
                  </a:ext>
                </a:extLst>
              </a:tr>
              <a:tr h="1064352">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The honest answer</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Control classes are the least stable part of an analysis model. Expect to reshape them in W10.</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That is not a design failure. It means you modelled honestly instead of guessing early.</a:t>
                      </a:r>
                      <a:endParaRPr/>
                    </a:p>
                  </a:txBody>
                  <a:tcPr marL="45720" marR="45720" marT="45720" marB="45720" anchor="ctr">
                    <a:lnL>
                      <a:noFill/>
                    </a:lnL>
                    <a:lnR>
                      <a:noFill/>
                    </a:lnR>
                    <a:lnT>
                      <a:noFill/>
                    </a:lnT>
                    <a:lnB>
                      <a:noFill/>
                    </a:lnB>
                    <a:solidFill>
                      <a:srgbClr val="F7F9FC"/>
                    </a:solidFill>
                  </a:tcPr>
                </a:tc>
                <a:extLst>
                  <a:ext uri="{0D108BD9-81ED-4DB2-BD59-A6C34878D82A}">
                    <a16:rowId val="6"/>
                  </a:ext>
                </a:extLst>
              </a:tr>
            </a:tbl>
          </a:graphicData>
        </a:graphic>
      </p:graphicFrame>
      <p:sp>
        <p:nvSpPr>
          <p:cNvPr id="150" name=""/>
          <p:cNvSpPr/>
          <p:nvPr/>
        </p:nvSpPr>
        <p:spPr>
          <a:xfrm rot="0" flipH="0" flipV="0">
            <a:off x="0" y="6419850"/>
            <a:ext cx="12192000" cy="438150"/>
          </a:xfrm>
          <a:prstGeom prst="rect">
            <a:avLst/>
          </a:prstGeom>
          <a:solidFill>
            <a:srgbClr val="0E3F8C"/>
          </a:solidFill>
          <a:ln/>
        </p:spPr>
        <p:txBody>
          <a:bodyPr/>
          <a:p/>
        </p:txBody>
      </p:sp>
      <p:sp>
        <p:nvSpPr>
          <p:cNvPr id="151" name="" descr="{&quot;isTemplate&quot;:true,&quot;type&quot;:&quot;text&quot;}"/>
          <p:cNvSpPr txBox="1"/>
          <p:nvPr/>
        </p:nvSpPr>
        <p:spPr>
          <a:xfrm rot="0" flipH="0" flipV="0">
            <a:off x="2552700" y="6543675"/>
            <a:ext cx="7096125" cy="190500"/>
          </a:xfrm>
          <a:prstGeom prst="rect"/>
        </p:spPr>
        <p:txBody>
          <a:bodyPr wrap="none" lIns="0" tIns="0" rIns="0" bIns="0"/>
          <a:p>
            <a:pPr>
              <a:lnSpc>
                <a:spcPct val="100000"/>
              </a:lnSpc>
            </a:pPr>
            <a:r>
              <a:rPr lang="en-US" sz="1238" b="1">
                <a:solidFill>
                  <a:srgbClr val="FFFFFF"/>
                </a:solidFill>
                <a:latin typeface="Microsoft YaHei"/>
                <a:ea typeface="Microsoft YaHei"/>
              </a:rPr>
              <a:t>One control class per use case, holding no data. If yours is huge, the use case is probably two.</a:t>
            </a:r>
            <a:endParaRPr/>
          </a:p>
        </p:txBody>
      </p:sp>
    </p:spTree>
  </p:cSld>
</p:sld>
</file>

<file path=ppt/slides/slide19.xml><?xml version="1.0" encoding="utf-8"?>
<p:sld xmlns:p="http://schemas.openxmlformats.org/presentationml/2006/main" xmlns:a="http://schemas.openxmlformats.org/drawingml/2006/main">
  <p:cSld>
    <p:spTree>
      <p:nvGrpSpPr>
        <p:cNvPr id="152"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6 · ENTITY, BOUNDARY, CONTROL&lt;/Text&gt;&#10;  &lt;/Box&gt;&#10;  &lt;Box style={{ padding: '13px 40px 0 40px', flexDirection: 'row', alignItems: 'center', justifyContent: 'space-between' }}&gt;&#10;    &lt;Text style={{ fontSize: 29, fontWeight: 'bold', color: '#0E3F8C' }}&gt;The Category Game&lt;/Text&gt;&#10;    &lt;Text style={{ fontSize: 14, color: '#1E4FA8', fontWeight: 'bold' }}&gt;19 / 39&lt;/Text&gt;&#10;  &lt;/Box&gt;&#10;  &lt;Box style={{ flex: 1, padding: '10px 40px 0 40px', flexDirection: 'column', gap: 10 }}&gt;&#10;    {[&#10;      { n: 'Order', c: 'Entity', k: 'E', col: '#2B7A3D' },&#10;      { n: 'OrderLine', c: 'Entity', k: 'E', col: '#2B7A3D' },&#10;      { n: 'MenuItem', c: 'Entity', k: 'E', col: '#2B7A3D' },&#10;      { n: 'Restaurant', c: 'Entity', k: 'E', col: '#2B7A3D' },&#10;      { n: 'Courier', c: 'Entity', k: 'E', col: '#2B7A3D' },&#10;      { n: 'Payment', c: 'Entity', k: 'E', col: '#2B7A3D' },&#10;      { n: 'Coupon', c: 'Entity', k: 'E', col: '#2B7A3D' },&#10;      { n: 'DeliveryWindow', c: 'Entity', k: 'E', col: '#2B7A3D' },&#10;      { n: 'StudentApp', c: 'Boundary', k: 'B', col: '#996F00' },&#10;      { n: 'KitchenDisplay', c: 'Boundary', k: 'B', col: '#996F00' },&#10;      { n: 'CourierApp', c: 'Boundary', k: 'B', col: '#996F00' },&#10;      { n: 'RestaurantConsole', c: 'Boundary', k: 'B', col: '#996F00' },&#10;      { n: 'PlaceOrderController', c: 'Control', k: 'C', col: '#1E4FA8' },&#10;      { n: 'PayController', c: 'Control', k: 'C', col: '#1E4FA8' },&#10;    ].map((c) =&gt; (&#10;      &lt;Box key={c.n} style={{ flex: 1, flexDirection: 'row', alignItems: 'center', padding: '7px 16px', background: '#F7F9FC', borderRadius: 8, border: '1px solid #E5E7EB' }}&gt;&#10;        &lt;Box style={{ width: 26, height: 26, borderRadius: 5, background: c.col, justifyContent: 'center', alignItems: 'center' }}&gt;&#10;          &lt;Text style={{ fontSize: 13, fontWeight: 'bold', color: '#FFFFFF' }}&gt;{c.k}&lt;/Text&gt;&#10;        &lt;/Box&gt;&#10;        &lt;Text style={{ width: 280, fontSize: 14.5, fontWeight: 'bold', color: '#0E3F8C', marginLeft: 12 }}&gt;{c.n}&lt;/Text&gt;&#10;        &lt;Text style={{ fontSize: 13, color: c.col, fontWeight: 'bold' }}&gt;{c.c}&lt;/Text&gt;&#10;      &lt;/Box&gt;&#10;    ))}&#10;  &lt;/Box&gt;&#10;  &lt;Box style={{ height: 46, background: '#0E3F8C', padding: '0 40px', flexDirection: 'row', alignItems: 'center', justifyContent: 'center' }}&gt;&#10;    &lt;Text style={{ fontSize: 16.5, color: '#FFFFFF', fontWeight: '600' }}&gt;Eight entities, four boundaries, two controls. Fourteen classes — and the model still only covers four use cases.&lt;/Text&gt;&#10;  &lt;/Box&gt;&#10;&lt;/Slide&gt;&#10;"/>
        <p:cNvGrpSpPr/>
        <p:nvPr/>
      </p:nvGrpSpPr>
      <p:grpSpPr>
        <a:xfrm>
          <a:off x="0" y="0"/>
          <a:ext cx="0" cy="0"/>
          <a:chOff x="0" y="0"/>
          <a:chExt cx="0" cy="0"/>
        </a:xfrm>
      </p:grpSpPr>
      <p:sp>
        <p:nvSpPr>
          <p:cNvPr id="153" name=""/>
          <p:cNvSpPr/>
          <p:nvPr/>
        </p:nvSpPr>
        <p:spPr>
          <a:xfrm rot="0" flipH="0" flipV="0">
            <a:off x="0" y="0"/>
            <a:ext cx="12192000" cy="6858000"/>
          </a:xfrm>
          <a:prstGeom prst="rect">
            <a:avLst/>
          </a:prstGeom>
          <a:solidFill>
            <a:srgbClr val="FFFFFF"/>
          </a:solidFill>
          <a:ln/>
        </p:spPr>
        <p:txBody>
          <a:bodyPr/>
          <a:p/>
        </p:txBody>
      </p:sp>
      <p:sp>
        <p:nvSpPr>
          <p:cNvPr id="154" name=""/>
          <p:cNvSpPr/>
          <p:nvPr/>
        </p:nvSpPr>
        <p:spPr>
          <a:xfrm rot="0" flipH="0" flipV="0">
            <a:off x="0" y="0"/>
            <a:ext cx="12192000" cy="685800"/>
          </a:xfrm>
          <a:prstGeom prst="rect">
            <a:avLst/>
          </a:prstGeom>
          <a:solidFill>
            <a:srgbClr val="1E4FA8"/>
          </a:solidFill>
          <a:ln/>
        </p:spPr>
        <p:txBody>
          <a:bodyPr/>
          <a:p/>
        </p:txBody>
      </p:sp>
      <p:sp>
        <p:nvSpPr>
          <p:cNvPr id="155"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156" name="" descr="{&quot;isTemplate&quot;:true,&quot;type&quot;:&quot;text&quot;}"/>
          <p:cNvSpPr txBox="1"/>
          <p:nvPr/>
        </p:nvSpPr>
        <p:spPr>
          <a:xfrm rot="0" flipH="0" flipV="0">
            <a:off x="9248775" y="257175"/>
            <a:ext cx="2562225" cy="171450"/>
          </a:xfrm>
          <a:prstGeom prst="rect"/>
        </p:spPr>
        <p:txBody>
          <a:bodyPr wrap="none" lIns="0" tIns="0" rIns="0" bIns="0"/>
          <a:p>
            <a:pPr>
              <a:lnSpc>
                <a:spcPct val="100000"/>
              </a:lnSpc>
            </a:pPr>
            <a:r>
              <a:rPr lang="en-US" sz="1125">
                <a:solidFill>
                  <a:srgbClr val="B9CDF0"/>
                </a:solidFill>
                <a:latin typeface="Microsoft YaHei"/>
                <a:ea typeface="Microsoft YaHei"/>
              </a:rPr>
              <a:t>W06 · ENTITY, BOUNDARY, CONTROL</a:t>
            </a:r>
            <a:endParaRPr/>
          </a:p>
        </p:txBody>
      </p:sp>
      <p:sp>
        <p:nvSpPr>
          <p:cNvPr id="157" name="" descr="{&quot;isTemplate&quot;:true,&quot;type&quot;:&quot;text&quot;}"/>
          <p:cNvSpPr txBox="1"/>
          <p:nvPr/>
        </p:nvSpPr>
        <p:spPr>
          <a:xfrm rot="0" flipH="0" flipV="0">
            <a:off x="381000" y="809625"/>
            <a:ext cx="2609850" cy="333375"/>
          </a:xfrm>
          <a:prstGeom prst="rect"/>
        </p:spPr>
        <p:txBody>
          <a:bodyPr wrap="none" lIns="0" tIns="0" rIns="0" bIns="0"/>
          <a:p>
            <a:pPr>
              <a:lnSpc>
                <a:spcPct val="100000"/>
              </a:lnSpc>
            </a:pPr>
            <a:r>
              <a:rPr lang="en-US" sz="2175" b="1">
                <a:solidFill>
                  <a:srgbClr val="0E3F8C"/>
                </a:solidFill>
                <a:latin typeface="Microsoft YaHei"/>
                <a:ea typeface="Microsoft YaHei"/>
              </a:rPr>
              <a:t>The Category Game</a:t>
            </a:r>
            <a:endParaRPr/>
          </a:p>
        </p:txBody>
      </p:sp>
      <p:sp>
        <p:nvSpPr>
          <p:cNvPr id="158"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19 / 39</a:t>
            </a:r>
            <a:endParaRPr/>
          </a:p>
        </p:txBody>
      </p:sp>
      <p:sp>
        <p:nvSpPr>
          <p:cNvPr id="159" name=""/>
          <p:cNvSpPr/>
          <p:nvPr/>
        </p:nvSpPr>
        <p:spPr>
          <a:xfrm rot="0" flipH="0" flipV="0">
            <a:off x="381000" y="1238250"/>
            <a:ext cx="11430000" cy="381000"/>
          </a:xfrm>
          <a:prstGeom prst="roundRect">
            <a:avLst>
              <a:gd name="adj" fmla="val 20000"/>
            </a:avLst>
          </a:prstGeom>
          <a:solidFill>
            <a:srgbClr val="F7F9FC"/>
          </a:solidFill>
          <a:ln w="12700">
            <a:solidFill>
              <a:srgbClr val="E5E7EB"/>
            </a:solidFill>
            <a:prstDash val="solid"/>
          </a:ln>
        </p:spPr>
        <p:txBody>
          <a:bodyPr/>
          <a:p/>
        </p:txBody>
      </p:sp>
      <p:sp>
        <p:nvSpPr>
          <p:cNvPr id="160" name=""/>
          <p:cNvSpPr/>
          <p:nvPr/>
        </p:nvSpPr>
        <p:spPr>
          <a:xfrm rot="0" flipH="0" flipV="0">
            <a:off x="533400" y="1304925"/>
            <a:ext cx="247650" cy="247650"/>
          </a:xfrm>
          <a:prstGeom prst="roundRect">
            <a:avLst>
              <a:gd name="adj" fmla="val 19231"/>
            </a:avLst>
          </a:prstGeom>
          <a:solidFill>
            <a:srgbClr val="2B7A3D"/>
          </a:solidFill>
          <a:ln/>
        </p:spPr>
        <p:txBody>
          <a:bodyPr/>
          <a:p/>
        </p:txBody>
      </p:sp>
      <p:sp>
        <p:nvSpPr>
          <p:cNvPr id="161" name="" descr="{&quot;isTemplate&quot;:true,&quot;type&quot;:&quot;text&quot;}"/>
          <p:cNvSpPr txBox="1"/>
          <p:nvPr/>
        </p:nvSpPr>
        <p:spPr>
          <a:xfrm rot="0" flipH="0" flipV="0">
            <a:off x="619125" y="1352550"/>
            <a:ext cx="85725" cy="152400"/>
          </a:xfrm>
          <a:prstGeom prst="rect"/>
        </p:spPr>
        <p:txBody>
          <a:bodyPr wrap="none" lIns="0" tIns="0" rIns="0" bIns="0"/>
          <a:p>
            <a:pPr>
              <a:lnSpc>
                <a:spcPct val="100000"/>
              </a:lnSpc>
            </a:pPr>
            <a:r>
              <a:rPr lang="en-US" sz="975" b="1">
                <a:solidFill>
                  <a:srgbClr val="FFFFFF"/>
                </a:solidFill>
                <a:latin typeface="Microsoft YaHei"/>
                <a:ea typeface="Microsoft YaHei"/>
              </a:rPr>
              <a:t>E</a:t>
            </a:r>
            <a:endParaRPr/>
          </a:p>
        </p:txBody>
      </p:sp>
      <p:sp>
        <p:nvSpPr>
          <p:cNvPr id="162" name="" descr="{&quot;isTemplate&quot;:true,&quot;type&quot;:&quot;text&quot;}"/>
          <p:cNvSpPr txBox="1"/>
          <p:nvPr/>
        </p:nvSpPr>
        <p:spPr>
          <a:xfrm rot="0" flipH="0" flipV="0">
            <a:off x="895350" y="1343025"/>
            <a:ext cx="2667000" cy="171450"/>
          </a:xfrm>
          <a:prstGeom prst="rect"/>
        </p:spPr>
        <p:txBody>
          <a:bodyPr wrap="none" lIns="0" tIns="0" rIns="0" bIns="0"/>
          <a:p>
            <a:pPr>
              <a:lnSpc>
                <a:spcPct val="100000"/>
              </a:lnSpc>
            </a:pPr>
            <a:r>
              <a:rPr lang="en-US" sz="1088" b="1">
                <a:solidFill>
                  <a:srgbClr val="0E3F8C"/>
                </a:solidFill>
                <a:latin typeface="Microsoft YaHei"/>
                <a:ea typeface="Microsoft YaHei"/>
              </a:rPr>
              <a:t>Order</a:t>
            </a:r>
            <a:endParaRPr/>
          </a:p>
        </p:txBody>
      </p:sp>
      <p:sp>
        <p:nvSpPr>
          <p:cNvPr id="163" name="" descr="{&quot;isTemplate&quot;:true,&quot;type&quot;:&quot;text&quot;}"/>
          <p:cNvSpPr txBox="1"/>
          <p:nvPr/>
        </p:nvSpPr>
        <p:spPr>
          <a:xfrm rot="0" flipH="0" flipV="0">
            <a:off x="3562350" y="1352550"/>
            <a:ext cx="352425" cy="152400"/>
          </a:xfrm>
          <a:prstGeom prst="rect"/>
        </p:spPr>
        <p:txBody>
          <a:bodyPr wrap="none" lIns="0" tIns="0" rIns="0" bIns="0"/>
          <a:p>
            <a:pPr>
              <a:lnSpc>
                <a:spcPct val="100000"/>
              </a:lnSpc>
            </a:pPr>
            <a:r>
              <a:rPr lang="en-US" sz="975" b="1">
                <a:solidFill>
                  <a:srgbClr val="2B7A3D"/>
                </a:solidFill>
                <a:latin typeface="Microsoft YaHei"/>
                <a:ea typeface="Microsoft YaHei"/>
              </a:rPr>
              <a:t>Entity</a:t>
            </a:r>
            <a:endParaRPr/>
          </a:p>
        </p:txBody>
      </p:sp>
      <p:sp>
        <p:nvSpPr>
          <p:cNvPr id="164" name=""/>
          <p:cNvSpPr/>
          <p:nvPr/>
        </p:nvSpPr>
        <p:spPr>
          <a:xfrm rot="0" flipH="0" flipV="0">
            <a:off x="381000" y="1714500"/>
            <a:ext cx="11430000" cy="381000"/>
          </a:xfrm>
          <a:prstGeom prst="roundRect">
            <a:avLst>
              <a:gd name="adj" fmla="val 20000"/>
            </a:avLst>
          </a:prstGeom>
          <a:solidFill>
            <a:srgbClr val="F7F9FC"/>
          </a:solidFill>
          <a:ln w="12700">
            <a:solidFill>
              <a:srgbClr val="E5E7EB"/>
            </a:solidFill>
            <a:prstDash val="solid"/>
          </a:ln>
        </p:spPr>
        <p:txBody>
          <a:bodyPr/>
          <a:p/>
        </p:txBody>
      </p:sp>
      <p:sp>
        <p:nvSpPr>
          <p:cNvPr id="165" name=""/>
          <p:cNvSpPr/>
          <p:nvPr/>
        </p:nvSpPr>
        <p:spPr>
          <a:xfrm rot="0" flipH="0" flipV="0">
            <a:off x="533400" y="1781175"/>
            <a:ext cx="247650" cy="247650"/>
          </a:xfrm>
          <a:prstGeom prst="roundRect">
            <a:avLst>
              <a:gd name="adj" fmla="val 19231"/>
            </a:avLst>
          </a:prstGeom>
          <a:solidFill>
            <a:srgbClr val="2B7A3D"/>
          </a:solidFill>
          <a:ln/>
        </p:spPr>
        <p:txBody>
          <a:bodyPr/>
          <a:p/>
        </p:txBody>
      </p:sp>
      <p:sp>
        <p:nvSpPr>
          <p:cNvPr id="166" name="" descr="{&quot;isTemplate&quot;:true,&quot;type&quot;:&quot;text&quot;}"/>
          <p:cNvSpPr txBox="1"/>
          <p:nvPr/>
        </p:nvSpPr>
        <p:spPr>
          <a:xfrm rot="0" flipH="0" flipV="0">
            <a:off x="619125" y="1828800"/>
            <a:ext cx="85725" cy="152400"/>
          </a:xfrm>
          <a:prstGeom prst="rect"/>
        </p:spPr>
        <p:txBody>
          <a:bodyPr wrap="none" lIns="0" tIns="0" rIns="0" bIns="0"/>
          <a:p>
            <a:pPr>
              <a:lnSpc>
                <a:spcPct val="100000"/>
              </a:lnSpc>
            </a:pPr>
            <a:r>
              <a:rPr lang="en-US" sz="975" b="1">
                <a:solidFill>
                  <a:srgbClr val="FFFFFF"/>
                </a:solidFill>
                <a:latin typeface="Microsoft YaHei"/>
                <a:ea typeface="Microsoft YaHei"/>
              </a:rPr>
              <a:t>E</a:t>
            </a:r>
            <a:endParaRPr/>
          </a:p>
        </p:txBody>
      </p:sp>
      <p:sp>
        <p:nvSpPr>
          <p:cNvPr id="167" name="" descr="{&quot;isTemplate&quot;:true,&quot;type&quot;:&quot;text&quot;}"/>
          <p:cNvSpPr txBox="1"/>
          <p:nvPr/>
        </p:nvSpPr>
        <p:spPr>
          <a:xfrm rot="0" flipH="0" flipV="0">
            <a:off x="895350" y="1819275"/>
            <a:ext cx="2667000" cy="171450"/>
          </a:xfrm>
          <a:prstGeom prst="rect"/>
        </p:spPr>
        <p:txBody>
          <a:bodyPr wrap="none" lIns="0" tIns="0" rIns="0" bIns="0"/>
          <a:p>
            <a:pPr>
              <a:lnSpc>
                <a:spcPct val="100000"/>
              </a:lnSpc>
            </a:pPr>
            <a:r>
              <a:rPr lang="en-US" sz="1088" b="1">
                <a:solidFill>
                  <a:srgbClr val="0E3F8C"/>
                </a:solidFill>
                <a:latin typeface="Microsoft YaHei"/>
                <a:ea typeface="Microsoft YaHei"/>
              </a:rPr>
              <a:t>OrderLine</a:t>
            </a:r>
            <a:endParaRPr/>
          </a:p>
        </p:txBody>
      </p:sp>
      <p:sp>
        <p:nvSpPr>
          <p:cNvPr id="168" name="" descr="{&quot;isTemplate&quot;:true,&quot;type&quot;:&quot;text&quot;}"/>
          <p:cNvSpPr txBox="1"/>
          <p:nvPr/>
        </p:nvSpPr>
        <p:spPr>
          <a:xfrm rot="0" flipH="0" flipV="0">
            <a:off x="3562350" y="1828800"/>
            <a:ext cx="352425" cy="152400"/>
          </a:xfrm>
          <a:prstGeom prst="rect"/>
        </p:spPr>
        <p:txBody>
          <a:bodyPr wrap="none" lIns="0" tIns="0" rIns="0" bIns="0"/>
          <a:p>
            <a:pPr>
              <a:lnSpc>
                <a:spcPct val="100000"/>
              </a:lnSpc>
            </a:pPr>
            <a:r>
              <a:rPr lang="en-US" sz="975" b="1">
                <a:solidFill>
                  <a:srgbClr val="2B7A3D"/>
                </a:solidFill>
                <a:latin typeface="Microsoft YaHei"/>
                <a:ea typeface="Microsoft YaHei"/>
              </a:rPr>
              <a:t>Entity</a:t>
            </a:r>
            <a:endParaRPr/>
          </a:p>
        </p:txBody>
      </p:sp>
      <p:sp>
        <p:nvSpPr>
          <p:cNvPr id="169" name=""/>
          <p:cNvSpPr/>
          <p:nvPr/>
        </p:nvSpPr>
        <p:spPr>
          <a:xfrm rot="0" flipH="0" flipV="0">
            <a:off x="381000" y="2190750"/>
            <a:ext cx="11430000" cy="381000"/>
          </a:xfrm>
          <a:prstGeom prst="roundRect">
            <a:avLst>
              <a:gd name="adj" fmla="val 20000"/>
            </a:avLst>
          </a:prstGeom>
          <a:solidFill>
            <a:srgbClr val="F7F9FC"/>
          </a:solidFill>
          <a:ln w="12700">
            <a:solidFill>
              <a:srgbClr val="E5E7EB"/>
            </a:solidFill>
            <a:prstDash val="solid"/>
          </a:ln>
        </p:spPr>
        <p:txBody>
          <a:bodyPr/>
          <a:p/>
        </p:txBody>
      </p:sp>
      <p:sp>
        <p:nvSpPr>
          <p:cNvPr id="170" name=""/>
          <p:cNvSpPr/>
          <p:nvPr/>
        </p:nvSpPr>
        <p:spPr>
          <a:xfrm rot="0" flipH="0" flipV="0">
            <a:off x="533400" y="2257425"/>
            <a:ext cx="247650" cy="247650"/>
          </a:xfrm>
          <a:prstGeom prst="roundRect">
            <a:avLst>
              <a:gd name="adj" fmla="val 19231"/>
            </a:avLst>
          </a:prstGeom>
          <a:solidFill>
            <a:srgbClr val="2B7A3D"/>
          </a:solidFill>
          <a:ln/>
        </p:spPr>
        <p:txBody>
          <a:bodyPr/>
          <a:p/>
        </p:txBody>
      </p:sp>
      <p:sp>
        <p:nvSpPr>
          <p:cNvPr id="171" name="" descr="{&quot;isTemplate&quot;:true,&quot;type&quot;:&quot;text&quot;}"/>
          <p:cNvSpPr txBox="1"/>
          <p:nvPr/>
        </p:nvSpPr>
        <p:spPr>
          <a:xfrm rot="0" flipH="0" flipV="0">
            <a:off x="619125" y="2305050"/>
            <a:ext cx="85725" cy="152400"/>
          </a:xfrm>
          <a:prstGeom prst="rect"/>
        </p:spPr>
        <p:txBody>
          <a:bodyPr wrap="none" lIns="0" tIns="0" rIns="0" bIns="0"/>
          <a:p>
            <a:pPr>
              <a:lnSpc>
                <a:spcPct val="100000"/>
              </a:lnSpc>
            </a:pPr>
            <a:r>
              <a:rPr lang="en-US" sz="975" b="1">
                <a:solidFill>
                  <a:srgbClr val="FFFFFF"/>
                </a:solidFill>
                <a:latin typeface="Microsoft YaHei"/>
                <a:ea typeface="Microsoft YaHei"/>
              </a:rPr>
              <a:t>E</a:t>
            </a:r>
            <a:endParaRPr/>
          </a:p>
        </p:txBody>
      </p:sp>
      <p:sp>
        <p:nvSpPr>
          <p:cNvPr id="172" name="" descr="{&quot;isTemplate&quot;:true,&quot;type&quot;:&quot;text&quot;}"/>
          <p:cNvSpPr txBox="1"/>
          <p:nvPr/>
        </p:nvSpPr>
        <p:spPr>
          <a:xfrm rot="0" flipH="0" flipV="0">
            <a:off x="895350" y="2295525"/>
            <a:ext cx="2667000" cy="171450"/>
          </a:xfrm>
          <a:prstGeom prst="rect"/>
        </p:spPr>
        <p:txBody>
          <a:bodyPr wrap="none" lIns="0" tIns="0" rIns="0" bIns="0"/>
          <a:p>
            <a:pPr>
              <a:lnSpc>
                <a:spcPct val="100000"/>
              </a:lnSpc>
            </a:pPr>
            <a:r>
              <a:rPr lang="en-US" sz="1088" b="1">
                <a:solidFill>
                  <a:srgbClr val="0E3F8C"/>
                </a:solidFill>
                <a:latin typeface="Microsoft YaHei"/>
                <a:ea typeface="Microsoft YaHei"/>
              </a:rPr>
              <a:t>MenuItem</a:t>
            </a:r>
            <a:endParaRPr/>
          </a:p>
        </p:txBody>
      </p:sp>
      <p:sp>
        <p:nvSpPr>
          <p:cNvPr id="173" name="" descr="{&quot;isTemplate&quot;:true,&quot;type&quot;:&quot;text&quot;}"/>
          <p:cNvSpPr txBox="1"/>
          <p:nvPr/>
        </p:nvSpPr>
        <p:spPr>
          <a:xfrm rot="0" flipH="0" flipV="0">
            <a:off x="3562350" y="2305050"/>
            <a:ext cx="352425" cy="152400"/>
          </a:xfrm>
          <a:prstGeom prst="rect"/>
        </p:spPr>
        <p:txBody>
          <a:bodyPr wrap="none" lIns="0" tIns="0" rIns="0" bIns="0"/>
          <a:p>
            <a:pPr>
              <a:lnSpc>
                <a:spcPct val="100000"/>
              </a:lnSpc>
            </a:pPr>
            <a:r>
              <a:rPr lang="en-US" sz="975" b="1">
                <a:solidFill>
                  <a:srgbClr val="2B7A3D"/>
                </a:solidFill>
                <a:latin typeface="Microsoft YaHei"/>
                <a:ea typeface="Microsoft YaHei"/>
              </a:rPr>
              <a:t>Entity</a:t>
            </a:r>
            <a:endParaRPr/>
          </a:p>
        </p:txBody>
      </p:sp>
      <p:sp>
        <p:nvSpPr>
          <p:cNvPr id="174" name=""/>
          <p:cNvSpPr/>
          <p:nvPr/>
        </p:nvSpPr>
        <p:spPr>
          <a:xfrm rot="0" flipH="0" flipV="0">
            <a:off x="381000" y="2667000"/>
            <a:ext cx="11430000" cy="381000"/>
          </a:xfrm>
          <a:prstGeom prst="roundRect">
            <a:avLst>
              <a:gd name="adj" fmla="val 20000"/>
            </a:avLst>
          </a:prstGeom>
          <a:solidFill>
            <a:srgbClr val="F7F9FC"/>
          </a:solidFill>
          <a:ln w="12700">
            <a:solidFill>
              <a:srgbClr val="E5E7EB"/>
            </a:solidFill>
            <a:prstDash val="solid"/>
          </a:ln>
        </p:spPr>
        <p:txBody>
          <a:bodyPr/>
          <a:p/>
        </p:txBody>
      </p:sp>
      <p:sp>
        <p:nvSpPr>
          <p:cNvPr id="175" name=""/>
          <p:cNvSpPr/>
          <p:nvPr/>
        </p:nvSpPr>
        <p:spPr>
          <a:xfrm rot="0" flipH="0" flipV="0">
            <a:off x="533400" y="2733675"/>
            <a:ext cx="247650" cy="247650"/>
          </a:xfrm>
          <a:prstGeom prst="roundRect">
            <a:avLst>
              <a:gd name="adj" fmla="val 19231"/>
            </a:avLst>
          </a:prstGeom>
          <a:solidFill>
            <a:srgbClr val="2B7A3D"/>
          </a:solidFill>
          <a:ln/>
        </p:spPr>
        <p:txBody>
          <a:bodyPr/>
          <a:p/>
        </p:txBody>
      </p:sp>
      <p:sp>
        <p:nvSpPr>
          <p:cNvPr id="176" name="" descr="{&quot;isTemplate&quot;:true,&quot;type&quot;:&quot;text&quot;}"/>
          <p:cNvSpPr txBox="1"/>
          <p:nvPr/>
        </p:nvSpPr>
        <p:spPr>
          <a:xfrm rot="0" flipH="0" flipV="0">
            <a:off x="619125" y="2781300"/>
            <a:ext cx="85725" cy="152400"/>
          </a:xfrm>
          <a:prstGeom prst="rect"/>
        </p:spPr>
        <p:txBody>
          <a:bodyPr wrap="none" lIns="0" tIns="0" rIns="0" bIns="0"/>
          <a:p>
            <a:pPr>
              <a:lnSpc>
                <a:spcPct val="100000"/>
              </a:lnSpc>
            </a:pPr>
            <a:r>
              <a:rPr lang="en-US" sz="975" b="1">
                <a:solidFill>
                  <a:srgbClr val="FFFFFF"/>
                </a:solidFill>
                <a:latin typeface="Microsoft YaHei"/>
                <a:ea typeface="Microsoft YaHei"/>
              </a:rPr>
              <a:t>E</a:t>
            </a:r>
            <a:endParaRPr/>
          </a:p>
        </p:txBody>
      </p:sp>
      <p:sp>
        <p:nvSpPr>
          <p:cNvPr id="177" name="" descr="{&quot;isTemplate&quot;:true,&quot;type&quot;:&quot;text&quot;}"/>
          <p:cNvSpPr txBox="1"/>
          <p:nvPr/>
        </p:nvSpPr>
        <p:spPr>
          <a:xfrm rot="0" flipH="0" flipV="0">
            <a:off x="895350" y="2771775"/>
            <a:ext cx="2667000" cy="171450"/>
          </a:xfrm>
          <a:prstGeom prst="rect"/>
        </p:spPr>
        <p:txBody>
          <a:bodyPr wrap="none" lIns="0" tIns="0" rIns="0" bIns="0"/>
          <a:p>
            <a:pPr>
              <a:lnSpc>
                <a:spcPct val="100000"/>
              </a:lnSpc>
            </a:pPr>
            <a:r>
              <a:rPr lang="en-US" sz="1088" b="1">
                <a:solidFill>
                  <a:srgbClr val="0E3F8C"/>
                </a:solidFill>
                <a:latin typeface="Microsoft YaHei"/>
                <a:ea typeface="Microsoft YaHei"/>
              </a:rPr>
              <a:t>Restaurant</a:t>
            </a:r>
            <a:endParaRPr/>
          </a:p>
        </p:txBody>
      </p:sp>
      <p:sp>
        <p:nvSpPr>
          <p:cNvPr id="178" name="" descr="{&quot;isTemplate&quot;:true,&quot;type&quot;:&quot;text&quot;}"/>
          <p:cNvSpPr txBox="1"/>
          <p:nvPr/>
        </p:nvSpPr>
        <p:spPr>
          <a:xfrm rot="0" flipH="0" flipV="0">
            <a:off x="3562350" y="2781300"/>
            <a:ext cx="352425" cy="152400"/>
          </a:xfrm>
          <a:prstGeom prst="rect"/>
        </p:spPr>
        <p:txBody>
          <a:bodyPr wrap="none" lIns="0" tIns="0" rIns="0" bIns="0"/>
          <a:p>
            <a:pPr>
              <a:lnSpc>
                <a:spcPct val="100000"/>
              </a:lnSpc>
            </a:pPr>
            <a:r>
              <a:rPr lang="en-US" sz="975" b="1">
                <a:solidFill>
                  <a:srgbClr val="2B7A3D"/>
                </a:solidFill>
                <a:latin typeface="Microsoft YaHei"/>
                <a:ea typeface="Microsoft YaHei"/>
              </a:rPr>
              <a:t>Entity</a:t>
            </a:r>
            <a:endParaRPr/>
          </a:p>
        </p:txBody>
      </p:sp>
      <p:sp>
        <p:nvSpPr>
          <p:cNvPr id="179" name=""/>
          <p:cNvSpPr/>
          <p:nvPr/>
        </p:nvSpPr>
        <p:spPr>
          <a:xfrm rot="0" flipH="0" flipV="0">
            <a:off x="381000" y="3143250"/>
            <a:ext cx="11430000" cy="381000"/>
          </a:xfrm>
          <a:prstGeom prst="roundRect">
            <a:avLst>
              <a:gd name="adj" fmla="val 20000"/>
            </a:avLst>
          </a:prstGeom>
          <a:solidFill>
            <a:srgbClr val="F7F9FC"/>
          </a:solidFill>
          <a:ln w="12700">
            <a:solidFill>
              <a:srgbClr val="E5E7EB"/>
            </a:solidFill>
            <a:prstDash val="solid"/>
          </a:ln>
        </p:spPr>
        <p:txBody>
          <a:bodyPr/>
          <a:p/>
        </p:txBody>
      </p:sp>
      <p:sp>
        <p:nvSpPr>
          <p:cNvPr id="180" name=""/>
          <p:cNvSpPr/>
          <p:nvPr/>
        </p:nvSpPr>
        <p:spPr>
          <a:xfrm rot="0" flipH="0" flipV="0">
            <a:off x="533400" y="3209925"/>
            <a:ext cx="247650" cy="247650"/>
          </a:xfrm>
          <a:prstGeom prst="roundRect">
            <a:avLst>
              <a:gd name="adj" fmla="val 19231"/>
            </a:avLst>
          </a:prstGeom>
          <a:solidFill>
            <a:srgbClr val="2B7A3D"/>
          </a:solidFill>
          <a:ln/>
        </p:spPr>
        <p:txBody>
          <a:bodyPr/>
          <a:p/>
        </p:txBody>
      </p:sp>
      <p:sp>
        <p:nvSpPr>
          <p:cNvPr id="181" name="" descr="{&quot;isTemplate&quot;:true,&quot;type&quot;:&quot;text&quot;}"/>
          <p:cNvSpPr txBox="1"/>
          <p:nvPr/>
        </p:nvSpPr>
        <p:spPr>
          <a:xfrm rot="0" flipH="0" flipV="0">
            <a:off x="619125" y="3257550"/>
            <a:ext cx="85725" cy="152400"/>
          </a:xfrm>
          <a:prstGeom prst="rect"/>
        </p:spPr>
        <p:txBody>
          <a:bodyPr wrap="none" lIns="0" tIns="0" rIns="0" bIns="0"/>
          <a:p>
            <a:pPr>
              <a:lnSpc>
                <a:spcPct val="100000"/>
              </a:lnSpc>
            </a:pPr>
            <a:r>
              <a:rPr lang="en-US" sz="975" b="1">
                <a:solidFill>
                  <a:srgbClr val="FFFFFF"/>
                </a:solidFill>
                <a:latin typeface="Microsoft YaHei"/>
                <a:ea typeface="Microsoft YaHei"/>
              </a:rPr>
              <a:t>E</a:t>
            </a:r>
            <a:endParaRPr/>
          </a:p>
        </p:txBody>
      </p:sp>
      <p:sp>
        <p:nvSpPr>
          <p:cNvPr id="182" name="" descr="{&quot;isTemplate&quot;:true,&quot;type&quot;:&quot;text&quot;}"/>
          <p:cNvSpPr txBox="1"/>
          <p:nvPr/>
        </p:nvSpPr>
        <p:spPr>
          <a:xfrm rot="0" flipH="0" flipV="0">
            <a:off x="895350" y="3248025"/>
            <a:ext cx="2667000" cy="171450"/>
          </a:xfrm>
          <a:prstGeom prst="rect"/>
        </p:spPr>
        <p:txBody>
          <a:bodyPr wrap="none" lIns="0" tIns="0" rIns="0" bIns="0"/>
          <a:p>
            <a:pPr>
              <a:lnSpc>
                <a:spcPct val="100000"/>
              </a:lnSpc>
            </a:pPr>
            <a:r>
              <a:rPr lang="en-US" sz="1088" b="1">
                <a:solidFill>
                  <a:srgbClr val="0E3F8C"/>
                </a:solidFill>
                <a:latin typeface="Microsoft YaHei"/>
                <a:ea typeface="Microsoft YaHei"/>
              </a:rPr>
              <a:t>Courier</a:t>
            </a:r>
            <a:endParaRPr/>
          </a:p>
        </p:txBody>
      </p:sp>
      <p:sp>
        <p:nvSpPr>
          <p:cNvPr id="183" name="" descr="{&quot;isTemplate&quot;:true,&quot;type&quot;:&quot;text&quot;}"/>
          <p:cNvSpPr txBox="1"/>
          <p:nvPr/>
        </p:nvSpPr>
        <p:spPr>
          <a:xfrm rot="0" flipH="0" flipV="0">
            <a:off x="3562350" y="3257550"/>
            <a:ext cx="352425" cy="152400"/>
          </a:xfrm>
          <a:prstGeom prst="rect"/>
        </p:spPr>
        <p:txBody>
          <a:bodyPr wrap="none" lIns="0" tIns="0" rIns="0" bIns="0"/>
          <a:p>
            <a:pPr>
              <a:lnSpc>
                <a:spcPct val="100000"/>
              </a:lnSpc>
            </a:pPr>
            <a:r>
              <a:rPr lang="en-US" sz="975" b="1">
                <a:solidFill>
                  <a:srgbClr val="2B7A3D"/>
                </a:solidFill>
                <a:latin typeface="Microsoft YaHei"/>
                <a:ea typeface="Microsoft YaHei"/>
              </a:rPr>
              <a:t>Entity</a:t>
            </a:r>
            <a:endParaRPr/>
          </a:p>
        </p:txBody>
      </p:sp>
      <p:sp>
        <p:nvSpPr>
          <p:cNvPr id="184" name=""/>
          <p:cNvSpPr/>
          <p:nvPr/>
        </p:nvSpPr>
        <p:spPr>
          <a:xfrm rot="0" flipH="0" flipV="0">
            <a:off x="381000" y="3619500"/>
            <a:ext cx="11430000" cy="381000"/>
          </a:xfrm>
          <a:prstGeom prst="roundRect">
            <a:avLst>
              <a:gd name="adj" fmla="val 20000"/>
            </a:avLst>
          </a:prstGeom>
          <a:solidFill>
            <a:srgbClr val="F7F9FC"/>
          </a:solidFill>
          <a:ln w="12700">
            <a:solidFill>
              <a:srgbClr val="E5E7EB"/>
            </a:solidFill>
            <a:prstDash val="solid"/>
          </a:ln>
        </p:spPr>
        <p:txBody>
          <a:bodyPr/>
          <a:p/>
        </p:txBody>
      </p:sp>
      <p:sp>
        <p:nvSpPr>
          <p:cNvPr id="185" name=""/>
          <p:cNvSpPr/>
          <p:nvPr/>
        </p:nvSpPr>
        <p:spPr>
          <a:xfrm rot="0" flipH="0" flipV="0">
            <a:off x="533400" y="3686175"/>
            <a:ext cx="247650" cy="247650"/>
          </a:xfrm>
          <a:prstGeom prst="roundRect">
            <a:avLst>
              <a:gd name="adj" fmla="val 19231"/>
            </a:avLst>
          </a:prstGeom>
          <a:solidFill>
            <a:srgbClr val="2B7A3D"/>
          </a:solidFill>
          <a:ln/>
        </p:spPr>
        <p:txBody>
          <a:bodyPr/>
          <a:p/>
        </p:txBody>
      </p:sp>
      <p:sp>
        <p:nvSpPr>
          <p:cNvPr id="186" name="" descr="{&quot;isTemplate&quot;:true,&quot;type&quot;:&quot;text&quot;}"/>
          <p:cNvSpPr txBox="1"/>
          <p:nvPr/>
        </p:nvSpPr>
        <p:spPr>
          <a:xfrm rot="0" flipH="0" flipV="0">
            <a:off x="619125" y="3733800"/>
            <a:ext cx="85725" cy="152400"/>
          </a:xfrm>
          <a:prstGeom prst="rect"/>
        </p:spPr>
        <p:txBody>
          <a:bodyPr wrap="none" lIns="0" tIns="0" rIns="0" bIns="0"/>
          <a:p>
            <a:pPr>
              <a:lnSpc>
                <a:spcPct val="100000"/>
              </a:lnSpc>
            </a:pPr>
            <a:r>
              <a:rPr lang="en-US" sz="975" b="1">
                <a:solidFill>
                  <a:srgbClr val="FFFFFF"/>
                </a:solidFill>
                <a:latin typeface="Microsoft YaHei"/>
                <a:ea typeface="Microsoft YaHei"/>
              </a:rPr>
              <a:t>E</a:t>
            </a:r>
            <a:endParaRPr/>
          </a:p>
        </p:txBody>
      </p:sp>
      <p:sp>
        <p:nvSpPr>
          <p:cNvPr id="187" name="" descr="{&quot;isTemplate&quot;:true,&quot;type&quot;:&quot;text&quot;}"/>
          <p:cNvSpPr txBox="1"/>
          <p:nvPr/>
        </p:nvSpPr>
        <p:spPr>
          <a:xfrm rot="0" flipH="0" flipV="0">
            <a:off x="895350" y="3724275"/>
            <a:ext cx="2667000" cy="171450"/>
          </a:xfrm>
          <a:prstGeom prst="rect"/>
        </p:spPr>
        <p:txBody>
          <a:bodyPr wrap="none" lIns="0" tIns="0" rIns="0" bIns="0"/>
          <a:p>
            <a:pPr>
              <a:lnSpc>
                <a:spcPct val="100000"/>
              </a:lnSpc>
            </a:pPr>
            <a:r>
              <a:rPr lang="en-US" sz="1088" b="1">
                <a:solidFill>
                  <a:srgbClr val="0E3F8C"/>
                </a:solidFill>
                <a:latin typeface="Microsoft YaHei"/>
                <a:ea typeface="Microsoft YaHei"/>
              </a:rPr>
              <a:t>Payment</a:t>
            </a:r>
            <a:endParaRPr/>
          </a:p>
        </p:txBody>
      </p:sp>
      <p:sp>
        <p:nvSpPr>
          <p:cNvPr id="188" name="" descr="{&quot;isTemplate&quot;:true,&quot;type&quot;:&quot;text&quot;}"/>
          <p:cNvSpPr txBox="1"/>
          <p:nvPr/>
        </p:nvSpPr>
        <p:spPr>
          <a:xfrm rot="0" flipH="0" flipV="0">
            <a:off x="3562350" y="3733800"/>
            <a:ext cx="352425" cy="152400"/>
          </a:xfrm>
          <a:prstGeom prst="rect"/>
        </p:spPr>
        <p:txBody>
          <a:bodyPr wrap="none" lIns="0" tIns="0" rIns="0" bIns="0"/>
          <a:p>
            <a:pPr>
              <a:lnSpc>
                <a:spcPct val="100000"/>
              </a:lnSpc>
            </a:pPr>
            <a:r>
              <a:rPr lang="en-US" sz="975" b="1">
                <a:solidFill>
                  <a:srgbClr val="2B7A3D"/>
                </a:solidFill>
                <a:latin typeface="Microsoft YaHei"/>
                <a:ea typeface="Microsoft YaHei"/>
              </a:rPr>
              <a:t>Entity</a:t>
            </a:r>
            <a:endParaRPr/>
          </a:p>
        </p:txBody>
      </p:sp>
      <p:sp>
        <p:nvSpPr>
          <p:cNvPr id="189" name=""/>
          <p:cNvSpPr/>
          <p:nvPr/>
        </p:nvSpPr>
        <p:spPr>
          <a:xfrm rot="0" flipH="0" flipV="0">
            <a:off x="381000" y="4095750"/>
            <a:ext cx="11430000" cy="381000"/>
          </a:xfrm>
          <a:prstGeom prst="roundRect">
            <a:avLst>
              <a:gd name="adj" fmla="val 20000"/>
            </a:avLst>
          </a:prstGeom>
          <a:solidFill>
            <a:srgbClr val="F7F9FC"/>
          </a:solidFill>
          <a:ln w="12700">
            <a:solidFill>
              <a:srgbClr val="E5E7EB"/>
            </a:solidFill>
            <a:prstDash val="solid"/>
          </a:ln>
        </p:spPr>
        <p:txBody>
          <a:bodyPr/>
          <a:p/>
        </p:txBody>
      </p:sp>
      <p:sp>
        <p:nvSpPr>
          <p:cNvPr id="190" name=""/>
          <p:cNvSpPr/>
          <p:nvPr/>
        </p:nvSpPr>
        <p:spPr>
          <a:xfrm rot="0" flipH="0" flipV="0">
            <a:off x="533400" y="4162425"/>
            <a:ext cx="247650" cy="247650"/>
          </a:xfrm>
          <a:prstGeom prst="roundRect">
            <a:avLst>
              <a:gd name="adj" fmla="val 19231"/>
            </a:avLst>
          </a:prstGeom>
          <a:solidFill>
            <a:srgbClr val="2B7A3D"/>
          </a:solidFill>
          <a:ln/>
        </p:spPr>
        <p:txBody>
          <a:bodyPr/>
          <a:p/>
        </p:txBody>
      </p:sp>
      <p:sp>
        <p:nvSpPr>
          <p:cNvPr id="191" name="" descr="{&quot;isTemplate&quot;:true,&quot;type&quot;:&quot;text&quot;}"/>
          <p:cNvSpPr txBox="1"/>
          <p:nvPr/>
        </p:nvSpPr>
        <p:spPr>
          <a:xfrm rot="0" flipH="0" flipV="0">
            <a:off x="619125" y="4210050"/>
            <a:ext cx="85725" cy="152400"/>
          </a:xfrm>
          <a:prstGeom prst="rect"/>
        </p:spPr>
        <p:txBody>
          <a:bodyPr wrap="none" lIns="0" tIns="0" rIns="0" bIns="0"/>
          <a:p>
            <a:pPr>
              <a:lnSpc>
                <a:spcPct val="100000"/>
              </a:lnSpc>
            </a:pPr>
            <a:r>
              <a:rPr lang="en-US" sz="975" b="1">
                <a:solidFill>
                  <a:srgbClr val="FFFFFF"/>
                </a:solidFill>
                <a:latin typeface="Microsoft YaHei"/>
                <a:ea typeface="Microsoft YaHei"/>
              </a:rPr>
              <a:t>E</a:t>
            </a:r>
            <a:endParaRPr/>
          </a:p>
        </p:txBody>
      </p:sp>
      <p:sp>
        <p:nvSpPr>
          <p:cNvPr id="192" name="" descr="{&quot;isTemplate&quot;:true,&quot;type&quot;:&quot;text&quot;}"/>
          <p:cNvSpPr txBox="1"/>
          <p:nvPr/>
        </p:nvSpPr>
        <p:spPr>
          <a:xfrm rot="0" flipH="0" flipV="0">
            <a:off x="895350" y="4200525"/>
            <a:ext cx="2667000" cy="171450"/>
          </a:xfrm>
          <a:prstGeom prst="rect"/>
        </p:spPr>
        <p:txBody>
          <a:bodyPr wrap="none" lIns="0" tIns="0" rIns="0" bIns="0"/>
          <a:p>
            <a:pPr>
              <a:lnSpc>
                <a:spcPct val="100000"/>
              </a:lnSpc>
            </a:pPr>
            <a:r>
              <a:rPr lang="en-US" sz="1088" b="1">
                <a:solidFill>
                  <a:srgbClr val="0E3F8C"/>
                </a:solidFill>
                <a:latin typeface="Microsoft YaHei"/>
                <a:ea typeface="Microsoft YaHei"/>
              </a:rPr>
              <a:t>Coupon</a:t>
            </a:r>
            <a:endParaRPr/>
          </a:p>
        </p:txBody>
      </p:sp>
      <p:sp>
        <p:nvSpPr>
          <p:cNvPr id="193" name="" descr="{&quot;isTemplate&quot;:true,&quot;type&quot;:&quot;text&quot;}"/>
          <p:cNvSpPr txBox="1"/>
          <p:nvPr/>
        </p:nvSpPr>
        <p:spPr>
          <a:xfrm rot="0" flipH="0" flipV="0">
            <a:off x="3562350" y="4210050"/>
            <a:ext cx="352425" cy="152400"/>
          </a:xfrm>
          <a:prstGeom prst="rect"/>
        </p:spPr>
        <p:txBody>
          <a:bodyPr wrap="none" lIns="0" tIns="0" rIns="0" bIns="0"/>
          <a:p>
            <a:pPr>
              <a:lnSpc>
                <a:spcPct val="100000"/>
              </a:lnSpc>
            </a:pPr>
            <a:r>
              <a:rPr lang="en-US" sz="975" b="1">
                <a:solidFill>
                  <a:srgbClr val="2B7A3D"/>
                </a:solidFill>
                <a:latin typeface="Microsoft YaHei"/>
                <a:ea typeface="Microsoft YaHei"/>
              </a:rPr>
              <a:t>Entity</a:t>
            </a:r>
            <a:endParaRPr/>
          </a:p>
        </p:txBody>
      </p:sp>
      <p:sp>
        <p:nvSpPr>
          <p:cNvPr id="194" name=""/>
          <p:cNvSpPr/>
          <p:nvPr/>
        </p:nvSpPr>
        <p:spPr>
          <a:xfrm rot="0" flipH="0" flipV="0">
            <a:off x="381000" y="4572000"/>
            <a:ext cx="11430000" cy="381000"/>
          </a:xfrm>
          <a:prstGeom prst="roundRect">
            <a:avLst>
              <a:gd name="adj" fmla="val 20000"/>
            </a:avLst>
          </a:prstGeom>
          <a:solidFill>
            <a:srgbClr val="F7F9FC"/>
          </a:solidFill>
          <a:ln w="12700">
            <a:solidFill>
              <a:srgbClr val="E5E7EB"/>
            </a:solidFill>
            <a:prstDash val="solid"/>
          </a:ln>
        </p:spPr>
        <p:txBody>
          <a:bodyPr/>
          <a:p/>
        </p:txBody>
      </p:sp>
      <p:sp>
        <p:nvSpPr>
          <p:cNvPr id="195" name=""/>
          <p:cNvSpPr/>
          <p:nvPr/>
        </p:nvSpPr>
        <p:spPr>
          <a:xfrm rot="0" flipH="0" flipV="0">
            <a:off x="533400" y="4638675"/>
            <a:ext cx="247650" cy="247650"/>
          </a:xfrm>
          <a:prstGeom prst="roundRect">
            <a:avLst>
              <a:gd name="adj" fmla="val 19231"/>
            </a:avLst>
          </a:prstGeom>
          <a:solidFill>
            <a:srgbClr val="2B7A3D"/>
          </a:solidFill>
          <a:ln/>
        </p:spPr>
        <p:txBody>
          <a:bodyPr/>
          <a:p/>
        </p:txBody>
      </p:sp>
      <p:sp>
        <p:nvSpPr>
          <p:cNvPr id="196" name="" descr="{&quot;isTemplate&quot;:true,&quot;type&quot;:&quot;text&quot;}"/>
          <p:cNvSpPr txBox="1"/>
          <p:nvPr/>
        </p:nvSpPr>
        <p:spPr>
          <a:xfrm rot="0" flipH="0" flipV="0">
            <a:off x="619125" y="4686300"/>
            <a:ext cx="85725" cy="152400"/>
          </a:xfrm>
          <a:prstGeom prst="rect"/>
        </p:spPr>
        <p:txBody>
          <a:bodyPr wrap="none" lIns="0" tIns="0" rIns="0" bIns="0"/>
          <a:p>
            <a:pPr>
              <a:lnSpc>
                <a:spcPct val="100000"/>
              </a:lnSpc>
            </a:pPr>
            <a:r>
              <a:rPr lang="en-US" sz="975" b="1">
                <a:solidFill>
                  <a:srgbClr val="FFFFFF"/>
                </a:solidFill>
                <a:latin typeface="Microsoft YaHei"/>
                <a:ea typeface="Microsoft YaHei"/>
              </a:rPr>
              <a:t>E</a:t>
            </a:r>
            <a:endParaRPr/>
          </a:p>
        </p:txBody>
      </p:sp>
      <p:sp>
        <p:nvSpPr>
          <p:cNvPr id="197" name="" descr="{&quot;isTemplate&quot;:true,&quot;type&quot;:&quot;text&quot;}"/>
          <p:cNvSpPr txBox="1"/>
          <p:nvPr/>
        </p:nvSpPr>
        <p:spPr>
          <a:xfrm rot="0" flipH="0" flipV="0">
            <a:off x="895350" y="4676775"/>
            <a:ext cx="2667000" cy="171450"/>
          </a:xfrm>
          <a:prstGeom prst="rect"/>
        </p:spPr>
        <p:txBody>
          <a:bodyPr wrap="none" lIns="0" tIns="0" rIns="0" bIns="0"/>
          <a:p>
            <a:pPr>
              <a:lnSpc>
                <a:spcPct val="100000"/>
              </a:lnSpc>
            </a:pPr>
            <a:r>
              <a:rPr lang="en-US" sz="1088" b="1">
                <a:solidFill>
                  <a:srgbClr val="0E3F8C"/>
                </a:solidFill>
                <a:latin typeface="Microsoft YaHei"/>
                <a:ea typeface="Microsoft YaHei"/>
              </a:rPr>
              <a:t>DeliveryWindow</a:t>
            </a:r>
            <a:endParaRPr/>
          </a:p>
        </p:txBody>
      </p:sp>
      <p:sp>
        <p:nvSpPr>
          <p:cNvPr id="198" name="" descr="{&quot;isTemplate&quot;:true,&quot;type&quot;:&quot;text&quot;}"/>
          <p:cNvSpPr txBox="1"/>
          <p:nvPr/>
        </p:nvSpPr>
        <p:spPr>
          <a:xfrm rot="0" flipH="0" flipV="0">
            <a:off x="3562350" y="4686300"/>
            <a:ext cx="352425" cy="152400"/>
          </a:xfrm>
          <a:prstGeom prst="rect"/>
        </p:spPr>
        <p:txBody>
          <a:bodyPr wrap="none" lIns="0" tIns="0" rIns="0" bIns="0"/>
          <a:p>
            <a:pPr>
              <a:lnSpc>
                <a:spcPct val="100000"/>
              </a:lnSpc>
            </a:pPr>
            <a:r>
              <a:rPr lang="en-US" sz="975" b="1">
                <a:solidFill>
                  <a:srgbClr val="2B7A3D"/>
                </a:solidFill>
                <a:latin typeface="Microsoft YaHei"/>
                <a:ea typeface="Microsoft YaHei"/>
              </a:rPr>
              <a:t>Entity</a:t>
            </a:r>
            <a:endParaRPr/>
          </a:p>
        </p:txBody>
      </p:sp>
      <p:sp>
        <p:nvSpPr>
          <p:cNvPr id="199" name=""/>
          <p:cNvSpPr/>
          <p:nvPr/>
        </p:nvSpPr>
        <p:spPr>
          <a:xfrm rot="0" flipH="0" flipV="0">
            <a:off x="381000" y="5048250"/>
            <a:ext cx="11430000" cy="381000"/>
          </a:xfrm>
          <a:prstGeom prst="roundRect">
            <a:avLst>
              <a:gd name="adj" fmla="val 20000"/>
            </a:avLst>
          </a:prstGeom>
          <a:solidFill>
            <a:srgbClr val="F7F9FC"/>
          </a:solidFill>
          <a:ln w="12700">
            <a:solidFill>
              <a:srgbClr val="E5E7EB"/>
            </a:solidFill>
            <a:prstDash val="solid"/>
          </a:ln>
        </p:spPr>
        <p:txBody>
          <a:bodyPr/>
          <a:p/>
        </p:txBody>
      </p:sp>
      <p:sp>
        <p:nvSpPr>
          <p:cNvPr id="200" name=""/>
          <p:cNvSpPr/>
          <p:nvPr/>
        </p:nvSpPr>
        <p:spPr>
          <a:xfrm rot="0" flipH="0" flipV="0">
            <a:off x="533400" y="5114925"/>
            <a:ext cx="247650" cy="247650"/>
          </a:xfrm>
          <a:prstGeom prst="roundRect">
            <a:avLst>
              <a:gd name="adj" fmla="val 19231"/>
            </a:avLst>
          </a:prstGeom>
          <a:solidFill>
            <a:srgbClr val="996F00"/>
          </a:solidFill>
          <a:ln/>
        </p:spPr>
        <p:txBody>
          <a:bodyPr/>
          <a:p/>
        </p:txBody>
      </p:sp>
      <p:sp>
        <p:nvSpPr>
          <p:cNvPr id="201" name="" descr="{&quot;isTemplate&quot;:true,&quot;type&quot;:&quot;text&quot;}"/>
          <p:cNvSpPr txBox="1"/>
          <p:nvPr/>
        </p:nvSpPr>
        <p:spPr>
          <a:xfrm rot="0" flipH="0" flipV="0">
            <a:off x="609600" y="5162550"/>
            <a:ext cx="95250" cy="152400"/>
          </a:xfrm>
          <a:prstGeom prst="rect"/>
        </p:spPr>
        <p:txBody>
          <a:bodyPr wrap="none" lIns="0" tIns="0" rIns="0" bIns="0"/>
          <a:p>
            <a:pPr>
              <a:lnSpc>
                <a:spcPct val="100000"/>
              </a:lnSpc>
            </a:pPr>
            <a:r>
              <a:rPr lang="en-US" sz="975" b="1">
                <a:solidFill>
                  <a:srgbClr val="FFFFFF"/>
                </a:solidFill>
                <a:latin typeface="Microsoft YaHei"/>
                <a:ea typeface="Microsoft YaHei"/>
              </a:rPr>
              <a:t>B</a:t>
            </a:r>
            <a:endParaRPr/>
          </a:p>
        </p:txBody>
      </p:sp>
      <p:sp>
        <p:nvSpPr>
          <p:cNvPr id="202" name="" descr="{&quot;isTemplate&quot;:true,&quot;type&quot;:&quot;text&quot;}"/>
          <p:cNvSpPr txBox="1"/>
          <p:nvPr/>
        </p:nvSpPr>
        <p:spPr>
          <a:xfrm rot="0" flipH="0" flipV="0">
            <a:off x="895350" y="5153025"/>
            <a:ext cx="2667000" cy="171450"/>
          </a:xfrm>
          <a:prstGeom prst="rect"/>
        </p:spPr>
        <p:txBody>
          <a:bodyPr wrap="none" lIns="0" tIns="0" rIns="0" bIns="0"/>
          <a:p>
            <a:pPr>
              <a:lnSpc>
                <a:spcPct val="100000"/>
              </a:lnSpc>
            </a:pPr>
            <a:r>
              <a:rPr lang="en-US" sz="1088" b="1">
                <a:solidFill>
                  <a:srgbClr val="0E3F8C"/>
                </a:solidFill>
                <a:latin typeface="Microsoft YaHei"/>
                <a:ea typeface="Microsoft YaHei"/>
              </a:rPr>
              <a:t>StudentApp</a:t>
            </a:r>
            <a:endParaRPr/>
          </a:p>
        </p:txBody>
      </p:sp>
      <p:sp>
        <p:nvSpPr>
          <p:cNvPr id="203" name="" descr="{&quot;isTemplate&quot;:true,&quot;type&quot;:&quot;text&quot;}"/>
          <p:cNvSpPr txBox="1"/>
          <p:nvPr/>
        </p:nvSpPr>
        <p:spPr>
          <a:xfrm rot="0" flipH="0" flipV="0">
            <a:off x="3562350" y="5162550"/>
            <a:ext cx="581025" cy="152400"/>
          </a:xfrm>
          <a:prstGeom prst="rect"/>
        </p:spPr>
        <p:txBody>
          <a:bodyPr wrap="none" lIns="0" tIns="0" rIns="0" bIns="0"/>
          <a:p>
            <a:pPr>
              <a:lnSpc>
                <a:spcPct val="100000"/>
              </a:lnSpc>
            </a:pPr>
            <a:r>
              <a:rPr lang="en-US" sz="975" b="1">
                <a:solidFill>
                  <a:srgbClr val="996F00"/>
                </a:solidFill>
                <a:latin typeface="Microsoft YaHei"/>
                <a:ea typeface="Microsoft YaHei"/>
              </a:rPr>
              <a:t>Boundary</a:t>
            </a:r>
            <a:endParaRPr/>
          </a:p>
        </p:txBody>
      </p:sp>
      <p:sp>
        <p:nvSpPr>
          <p:cNvPr id="204" name=""/>
          <p:cNvSpPr/>
          <p:nvPr/>
        </p:nvSpPr>
        <p:spPr>
          <a:xfrm rot="0" flipH="0" flipV="0">
            <a:off x="381000" y="5524500"/>
            <a:ext cx="11430000" cy="381000"/>
          </a:xfrm>
          <a:prstGeom prst="roundRect">
            <a:avLst>
              <a:gd name="adj" fmla="val 20000"/>
            </a:avLst>
          </a:prstGeom>
          <a:solidFill>
            <a:srgbClr val="F7F9FC"/>
          </a:solidFill>
          <a:ln w="12700">
            <a:solidFill>
              <a:srgbClr val="E5E7EB"/>
            </a:solidFill>
            <a:prstDash val="solid"/>
          </a:ln>
        </p:spPr>
        <p:txBody>
          <a:bodyPr/>
          <a:p/>
        </p:txBody>
      </p:sp>
      <p:sp>
        <p:nvSpPr>
          <p:cNvPr id="205" name=""/>
          <p:cNvSpPr/>
          <p:nvPr/>
        </p:nvSpPr>
        <p:spPr>
          <a:xfrm rot="0" flipH="0" flipV="0">
            <a:off x="533400" y="5591175"/>
            <a:ext cx="247650" cy="247650"/>
          </a:xfrm>
          <a:prstGeom prst="roundRect">
            <a:avLst>
              <a:gd name="adj" fmla="val 19231"/>
            </a:avLst>
          </a:prstGeom>
          <a:solidFill>
            <a:srgbClr val="996F00"/>
          </a:solidFill>
          <a:ln/>
        </p:spPr>
        <p:txBody>
          <a:bodyPr/>
          <a:p/>
        </p:txBody>
      </p:sp>
      <p:sp>
        <p:nvSpPr>
          <p:cNvPr id="206" name="" descr="{&quot;isTemplate&quot;:true,&quot;type&quot;:&quot;text&quot;}"/>
          <p:cNvSpPr txBox="1"/>
          <p:nvPr/>
        </p:nvSpPr>
        <p:spPr>
          <a:xfrm rot="0" flipH="0" flipV="0">
            <a:off x="609600" y="5638800"/>
            <a:ext cx="95250" cy="152400"/>
          </a:xfrm>
          <a:prstGeom prst="rect"/>
        </p:spPr>
        <p:txBody>
          <a:bodyPr wrap="none" lIns="0" tIns="0" rIns="0" bIns="0"/>
          <a:p>
            <a:pPr>
              <a:lnSpc>
                <a:spcPct val="100000"/>
              </a:lnSpc>
            </a:pPr>
            <a:r>
              <a:rPr lang="en-US" sz="975" b="1">
                <a:solidFill>
                  <a:srgbClr val="FFFFFF"/>
                </a:solidFill>
                <a:latin typeface="Microsoft YaHei"/>
                <a:ea typeface="Microsoft YaHei"/>
              </a:rPr>
              <a:t>B</a:t>
            </a:r>
            <a:endParaRPr/>
          </a:p>
        </p:txBody>
      </p:sp>
      <p:sp>
        <p:nvSpPr>
          <p:cNvPr id="207" name="" descr="{&quot;isTemplate&quot;:true,&quot;type&quot;:&quot;text&quot;}"/>
          <p:cNvSpPr txBox="1"/>
          <p:nvPr/>
        </p:nvSpPr>
        <p:spPr>
          <a:xfrm rot="0" flipH="0" flipV="0">
            <a:off x="895350" y="5629275"/>
            <a:ext cx="2667000" cy="171450"/>
          </a:xfrm>
          <a:prstGeom prst="rect"/>
        </p:spPr>
        <p:txBody>
          <a:bodyPr wrap="none" lIns="0" tIns="0" rIns="0" bIns="0"/>
          <a:p>
            <a:pPr>
              <a:lnSpc>
                <a:spcPct val="100000"/>
              </a:lnSpc>
            </a:pPr>
            <a:r>
              <a:rPr lang="en-US" sz="1088" b="1">
                <a:solidFill>
                  <a:srgbClr val="0E3F8C"/>
                </a:solidFill>
                <a:latin typeface="Microsoft YaHei"/>
                <a:ea typeface="Microsoft YaHei"/>
              </a:rPr>
              <a:t>KitchenDisplay</a:t>
            </a:r>
            <a:endParaRPr/>
          </a:p>
        </p:txBody>
      </p:sp>
      <p:sp>
        <p:nvSpPr>
          <p:cNvPr id="208" name="" descr="{&quot;isTemplate&quot;:true,&quot;type&quot;:&quot;text&quot;}"/>
          <p:cNvSpPr txBox="1"/>
          <p:nvPr/>
        </p:nvSpPr>
        <p:spPr>
          <a:xfrm rot="0" flipH="0" flipV="0">
            <a:off x="3562350" y="5638800"/>
            <a:ext cx="581025" cy="152400"/>
          </a:xfrm>
          <a:prstGeom prst="rect"/>
        </p:spPr>
        <p:txBody>
          <a:bodyPr wrap="none" lIns="0" tIns="0" rIns="0" bIns="0"/>
          <a:p>
            <a:pPr>
              <a:lnSpc>
                <a:spcPct val="100000"/>
              </a:lnSpc>
            </a:pPr>
            <a:r>
              <a:rPr lang="en-US" sz="975" b="1">
                <a:solidFill>
                  <a:srgbClr val="996F00"/>
                </a:solidFill>
                <a:latin typeface="Microsoft YaHei"/>
                <a:ea typeface="Microsoft YaHei"/>
              </a:rPr>
              <a:t>Boundary</a:t>
            </a:r>
            <a:endParaRPr/>
          </a:p>
        </p:txBody>
      </p:sp>
      <p:sp>
        <p:nvSpPr>
          <p:cNvPr id="209" name=""/>
          <p:cNvSpPr/>
          <p:nvPr/>
        </p:nvSpPr>
        <p:spPr>
          <a:xfrm rot="0" flipH="0" flipV="0">
            <a:off x="381000" y="6000750"/>
            <a:ext cx="11430000" cy="381000"/>
          </a:xfrm>
          <a:prstGeom prst="roundRect">
            <a:avLst>
              <a:gd name="adj" fmla="val 20000"/>
            </a:avLst>
          </a:prstGeom>
          <a:solidFill>
            <a:srgbClr val="F7F9FC"/>
          </a:solidFill>
          <a:ln w="12700">
            <a:solidFill>
              <a:srgbClr val="E5E7EB"/>
            </a:solidFill>
            <a:prstDash val="solid"/>
          </a:ln>
        </p:spPr>
        <p:txBody>
          <a:bodyPr/>
          <a:p/>
        </p:txBody>
      </p:sp>
      <p:sp>
        <p:nvSpPr>
          <p:cNvPr id="210" name=""/>
          <p:cNvSpPr/>
          <p:nvPr/>
        </p:nvSpPr>
        <p:spPr>
          <a:xfrm rot="0" flipH="0" flipV="0">
            <a:off x="533400" y="6067425"/>
            <a:ext cx="247650" cy="247650"/>
          </a:xfrm>
          <a:prstGeom prst="roundRect">
            <a:avLst>
              <a:gd name="adj" fmla="val 19231"/>
            </a:avLst>
          </a:prstGeom>
          <a:solidFill>
            <a:srgbClr val="996F00"/>
          </a:solidFill>
          <a:ln/>
        </p:spPr>
        <p:txBody>
          <a:bodyPr/>
          <a:p/>
        </p:txBody>
      </p:sp>
      <p:sp>
        <p:nvSpPr>
          <p:cNvPr id="211" name="" descr="{&quot;isTemplate&quot;:true,&quot;type&quot;:&quot;text&quot;}"/>
          <p:cNvSpPr txBox="1"/>
          <p:nvPr/>
        </p:nvSpPr>
        <p:spPr>
          <a:xfrm rot="0" flipH="0" flipV="0">
            <a:off x="609600" y="6115050"/>
            <a:ext cx="95250" cy="152400"/>
          </a:xfrm>
          <a:prstGeom prst="rect"/>
        </p:spPr>
        <p:txBody>
          <a:bodyPr wrap="none" lIns="0" tIns="0" rIns="0" bIns="0"/>
          <a:p>
            <a:pPr>
              <a:lnSpc>
                <a:spcPct val="100000"/>
              </a:lnSpc>
            </a:pPr>
            <a:r>
              <a:rPr lang="en-US" sz="975" b="1">
                <a:solidFill>
                  <a:srgbClr val="FFFFFF"/>
                </a:solidFill>
                <a:latin typeface="Microsoft YaHei"/>
                <a:ea typeface="Microsoft YaHei"/>
              </a:rPr>
              <a:t>B</a:t>
            </a:r>
            <a:endParaRPr/>
          </a:p>
        </p:txBody>
      </p:sp>
      <p:sp>
        <p:nvSpPr>
          <p:cNvPr id="212" name="" descr="{&quot;isTemplate&quot;:true,&quot;type&quot;:&quot;text&quot;}"/>
          <p:cNvSpPr txBox="1"/>
          <p:nvPr/>
        </p:nvSpPr>
        <p:spPr>
          <a:xfrm rot="0" flipH="0" flipV="0">
            <a:off x="895350" y="6105525"/>
            <a:ext cx="2667000" cy="171450"/>
          </a:xfrm>
          <a:prstGeom prst="rect"/>
        </p:spPr>
        <p:txBody>
          <a:bodyPr wrap="none" lIns="0" tIns="0" rIns="0" bIns="0"/>
          <a:p>
            <a:pPr>
              <a:lnSpc>
                <a:spcPct val="100000"/>
              </a:lnSpc>
            </a:pPr>
            <a:r>
              <a:rPr lang="en-US" sz="1088" b="1">
                <a:solidFill>
                  <a:srgbClr val="0E3F8C"/>
                </a:solidFill>
                <a:latin typeface="Microsoft YaHei"/>
                <a:ea typeface="Microsoft YaHei"/>
              </a:rPr>
              <a:t>CourierApp</a:t>
            </a:r>
            <a:endParaRPr/>
          </a:p>
        </p:txBody>
      </p:sp>
      <p:sp>
        <p:nvSpPr>
          <p:cNvPr id="213" name="" descr="{&quot;isTemplate&quot;:true,&quot;type&quot;:&quot;text&quot;}"/>
          <p:cNvSpPr txBox="1"/>
          <p:nvPr/>
        </p:nvSpPr>
        <p:spPr>
          <a:xfrm rot="0" flipH="0" flipV="0">
            <a:off x="3562350" y="6115050"/>
            <a:ext cx="581025" cy="152400"/>
          </a:xfrm>
          <a:prstGeom prst="rect"/>
        </p:spPr>
        <p:txBody>
          <a:bodyPr wrap="none" lIns="0" tIns="0" rIns="0" bIns="0"/>
          <a:p>
            <a:pPr>
              <a:lnSpc>
                <a:spcPct val="100000"/>
              </a:lnSpc>
            </a:pPr>
            <a:r>
              <a:rPr lang="en-US" sz="975" b="1">
                <a:solidFill>
                  <a:srgbClr val="996F00"/>
                </a:solidFill>
                <a:latin typeface="Microsoft YaHei"/>
                <a:ea typeface="Microsoft YaHei"/>
              </a:rPr>
              <a:t>Boundary</a:t>
            </a:r>
            <a:endParaRPr/>
          </a:p>
        </p:txBody>
      </p:sp>
      <p:sp>
        <p:nvSpPr>
          <p:cNvPr id="214" name=""/>
          <p:cNvSpPr/>
          <p:nvPr/>
        </p:nvSpPr>
        <p:spPr>
          <a:xfrm rot="0" flipH="0" flipV="0">
            <a:off x="381000" y="6477000"/>
            <a:ext cx="11430000" cy="381000"/>
          </a:xfrm>
          <a:prstGeom prst="roundRect">
            <a:avLst>
              <a:gd name="adj" fmla="val 20000"/>
            </a:avLst>
          </a:prstGeom>
          <a:solidFill>
            <a:srgbClr val="F7F9FC"/>
          </a:solidFill>
          <a:ln w="12700">
            <a:solidFill>
              <a:srgbClr val="E5E7EB"/>
            </a:solidFill>
            <a:prstDash val="solid"/>
          </a:ln>
        </p:spPr>
        <p:txBody>
          <a:bodyPr/>
          <a:p/>
        </p:txBody>
      </p:sp>
      <p:sp>
        <p:nvSpPr>
          <p:cNvPr id="215" name=""/>
          <p:cNvSpPr/>
          <p:nvPr/>
        </p:nvSpPr>
        <p:spPr>
          <a:xfrm rot="0" flipH="0" flipV="0">
            <a:off x="533400" y="6543675"/>
            <a:ext cx="247650" cy="247650"/>
          </a:xfrm>
          <a:prstGeom prst="roundRect">
            <a:avLst>
              <a:gd name="adj" fmla="val 19231"/>
            </a:avLst>
          </a:prstGeom>
          <a:solidFill>
            <a:srgbClr val="996F00"/>
          </a:solidFill>
          <a:ln/>
        </p:spPr>
        <p:txBody>
          <a:bodyPr/>
          <a:p/>
        </p:txBody>
      </p:sp>
      <p:sp>
        <p:nvSpPr>
          <p:cNvPr id="216" name="" descr="{&quot;isTemplate&quot;:true,&quot;type&quot;:&quot;text&quot;}"/>
          <p:cNvSpPr txBox="1"/>
          <p:nvPr/>
        </p:nvSpPr>
        <p:spPr>
          <a:xfrm rot="0" flipH="0" flipV="0">
            <a:off x="609600" y="6591300"/>
            <a:ext cx="95250" cy="152400"/>
          </a:xfrm>
          <a:prstGeom prst="rect"/>
        </p:spPr>
        <p:txBody>
          <a:bodyPr wrap="none" lIns="0" tIns="0" rIns="0" bIns="0"/>
          <a:p>
            <a:pPr>
              <a:lnSpc>
                <a:spcPct val="100000"/>
              </a:lnSpc>
            </a:pPr>
            <a:r>
              <a:rPr lang="en-US" sz="975" b="1">
                <a:solidFill>
                  <a:srgbClr val="FFFFFF"/>
                </a:solidFill>
                <a:latin typeface="Microsoft YaHei"/>
                <a:ea typeface="Microsoft YaHei"/>
              </a:rPr>
              <a:t>B</a:t>
            </a:r>
            <a:endParaRPr/>
          </a:p>
        </p:txBody>
      </p:sp>
      <p:sp>
        <p:nvSpPr>
          <p:cNvPr id="217" name="" descr="{&quot;isTemplate&quot;:true,&quot;type&quot;:&quot;text&quot;}"/>
          <p:cNvSpPr txBox="1"/>
          <p:nvPr/>
        </p:nvSpPr>
        <p:spPr>
          <a:xfrm rot="0" flipH="0" flipV="0">
            <a:off x="895350" y="6581775"/>
            <a:ext cx="2667000" cy="171450"/>
          </a:xfrm>
          <a:prstGeom prst="rect"/>
        </p:spPr>
        <p:txBody>
          <a:bodyPr wrap="none" lIns="0" tIns="0" rIns="0" bIns="0"/>
          <a:p>
            <a:pPr>
              <a:lnSpc>
                <a:spcPct val="100000"/>
              </a:lnSpc>
            </a:pPr>
            <a:r>
              <a:rPr lang="en-US" sz="1088" b="1">
                <a:solidFill>
                  <a:srgbClr val="0E3F8C"/>
                </a:solidFill>
                <a:latin typeface="Microsoft YaHei"/>
                <a:ea typeface="Microsoft YaHei"/>
              </a:rPr>
              <a:t>RestaurantConsole</a:t>
            </a:r>
            <a:endParaRPr/>
          </a:p>
        </p:txBody>
      </p:sp>
      <p:sp>
        <p:nvSpPr>
          <p:cNvPr id="218" name="" descr="{&quot;isTemplate&quot;:true,&quot;type&quot;:&quot;text&quot;}"/>
          <p:cNvSpPr txBox="1"/>
          <p:nvPr/>
        </p:nvSpPr>
        <p:spPr>
          <a:xfrm rot="0" flipH="0" flipV="0">
            <a:off x="3562350" y="6591300"/>
            <a:ext cx="581025" cy="152400"/>
          </a:xfrm>
          <a:prstGeom prst="rect"/>
        </p:spPr>
        <p:txBody>
          <a:bodyPr wrap="none" lIns="0" tIns="0" rIns="0" bIns="0"/>
          <a:p>
            <a:pPr>
              <a:lnSpc>
                <a:spcPct val="100000"/>
              </a:lnSpc>
            </a:pPr>
            <a:r>
              <a:rPr lang="en-US" sz="975" b="1">
                <a:solidFill>
                  <a:srgbClr val="996F00"/>
                </a:solidFill>
                <a:latin typeface="Microsoft YaHei"/>
                <a:ea typeface="Microsoft YaHei"/>
              </a:rPr>
              <a:t>Boundary</a:t>
            </a:r>
            <a:endParaRPr/>
          </a:p>
        </p:txBody>
      </p:sp>
      <p:sp>
        <p:nvSpPr>
          <p:cNvPr id="219" name=""/>
          <p:cNvSpPr/>
          <p:nvPr/>
        </p:nvSpPr>
        <p:spPr>
          <a:xfrm rot="0" flipH="0" flipV="0">
            <a:off x="381000" y="6953250"/>
            <a:ext cx="11430000" cy="381000"/>
          </a:xfrm>
          <a:prstGeom prst="roundRect">
            <a:avLst>
              <a:gd name="adj" fmla="val 20000"/>
            </a:avLst>
          </a:prstGeom>
          <a:solidFill>
            <a:srgbClr val="F7F9FC"/>
          </a:solidFill>
          <a:ln w="12700">
            <a:solidFill>
              <a:srgbClr val="E5E7EB"/>
            </a:solidFill>
            <a:prstDash val="solid"/>
          </a:ln>
        </p:spPr>
        <p:txBody>
          <a:bodyPr/>
          <a:p/>
        </p:txBody>
      </p:sp>
      <p:sp>
        <p:nvSpPr>
          <p:cNvPr id="220" name=""/>
          <p:cNvSpPr/>
          <p:nvPr/>
        </p:nvSpPr>
        <p:spPr>
          <a:xfrm rot="0" flipH="0" flipV="0">
            <a:off x="533400" y="7019925"/>
            <a:ext cx="247650" cy="247650"/>
          </a:xfrm>
          <a:prstGeom prst="roundRect">
            <a:avLst>
              <a:gd name="adj" fmla="val 19231"/>
            </a:avLst>
          </a:prstGeom>
          <a:solidFill>
            <a:srgbClr val="1E4FA8"/>
          </a:solidFill>
          <a:ln/>
        </p:spPr>
        <p:txBody>
          <a:bodyPr/>
          <a:p/>
        </p:txBody>
      </p:sp>
      <p:sp>
        <p:nvSpPr>
          <p:cNvPr id="221" name="" descr="{&quot;isTemplate&quot;:true,&quot;type&quot;:&quot;text&quot;}"/>
          <p:cNvSpPr txBox="1"/>
          <p:nvPr/>
        </p:nvSpPr>
        <p:spPr>
          <a:xfrm rot="0" flipH="0" flipV="0">
            <a:off x="609600" y="7067550"/>
            <a:ext cx="95250" cy="152400"/>
          </a:xfrm>
          <a:prstGeom prst="rect"/>
        </p:spPr>
        <p:txBody>
          <a:bodyPr wrap="none" lIns="0" tIns="0" rIns="0" bIns="0"/>
          <a:p>
            <a:pPr>
              <a:lnSpc>
                <a:spcPct val="100000"/>
              </a:lnSpc>
            </a:pPr>
            <a:r>
              <a:rPr lang="en-US" sz="975" b="1">
                <a:solidFill>
                  <a:srgbClr val="FFFFFF"/>
                </a:solidFill>
                <a:latin typeface="Microsoft YaHei"/>
                <a:ea typeface="Microsoft YaHei"/>
              </a:rPr>
              <a:t>C</a:t>
            </a:r>
            <a:endParaRPr/>
          </a:p>
        </p:txBody>
      </p:sp>
      <p:sp>
        <p:nvSpPr>
          <p:cNvPr id="222" name="" descr="{&quot;isTemplate&quot;:true,&quot;type&quot;:&quot;text&quot;}"/>
          <p:cNvSpPr txBox="1"/>
          <p:nvPr/>
        </p:nvSpPr>
        <p:spPr>
          <a:xfrm rot="0" flipH="0" flipV="0">
            <a:off x="895350" y="7058025"/>
            <a:ext cx="2667000" cy="171450"/>
          </a:xfrm>
          <a:prstGeom prst="rect"/>
        </p:spPr>
        <p:txBody>
          <a:bodyPr wrap="none" lIns="0" tIns="0" rIns="0" bIns="0"/>
          <a:p>
            <a:pPr>
              <a:lnSpc>
                <a:spcPct val="100000"/>
              </a:lnSpc>
            </a:pPr>
            <a:r>
              <a:rPr lang="en-US" sz="1088" b="1">
                <a:solidFill>
                  <a:srgbClr val="0E3F8C"/>
                </a:solidFill>
                <a:latin typeface="Microsoft YaHei"/>
                <a:ea typeface="Microsoft YaHei"/>
              </a:rPr>
              <a:t>PlaceOrderController</a:t>
            </a:r>
            <a:endParaRPr/>
          </a:p>
        </p:txBody>
      </p:sp>
      <p:sp>
        <p:nvSpPr>
          <p:cNvPr id="223" name="" descr="{&quot;isTemplate&quot;:true,&quot;type&quot;:&quot;text&quot;}"/>
          <p:cNvSpPr txBox="1"/>
          <p:nvPr/>
        </p:nvSpPr>
        <p:spPr>
          <a:xfrm rot="0" flipH="0" flipV="0">
            <a:off x="3562350" y="7067550"/>
            <a:ext cx="447675" cy="152400"/>
          </a:xfrm>
          <a:prstGeom prst="rect"/>
        </p:spPr>
        <p:txBody>
          <a:bodyPr wrap="none" lIns="0" tIns="0" rIns="0" bIns="0"/>
          <a:p>
            <a:pPr>
              <a:lnSpc>
                <a:spcPct val="100000"/>
              </a:lnSpc>
            </a:pPr>
            <a:r>
              <a:rPr lang="en-US" sz="975" b="1">
                <a:solidFill>
                  <a:srgbClr val="1E4FA8"/>
                </a:solidFill>
                <a:latin typeface="Microsoft YaHei"/>
                <a:ea typeface="Microsoft YaHei"/>
              </a:rPr>
              <a:t>Control</a:t>
            </a:r>
            <a:endParaRPr/>
          </a:p>
        </p:txBody>
      </p:sp>
      <p:sp>
        <p:nvSpPr>
          <p:cNvPr id="224" name=""/>
          <p:cNvSpPr/>
          <p:nvPr/>
        </p:nvSpPr>
        <p:spPr>
          <a:xfrm rot="0" flipH="0" flipV="0">
            <a:off x="381000" y="7429500"/>
            <a:ext cx="11430000" cy="381000"/>
          </a:xfrm>
          <a:prstGeom prst="roundRect">
            <a:avLst>
              <a:gd name="adj" fmla="val 20000"/>
            </a:avLst>
          </a:prstGeom>
          <a:solidFill>
            <a:srgbClr val="F7F9FC"/>
          </a:solidFill>
          <a:ln w="12700">
            <a:solidFill>
              <a:srgbClr val="E5E7EB"/>
            </a:solidFill>
            <a:prstDash val="solid"/>
          </a:ln>
        </p:spPr>
        <p:txBody>
          <a:bodyPr/>
          <a:p/>
        </p:txBody>
      </p:sp>
      <p:sp>
        <p:nvSpPr>
          <p:cNvPr id="225" name=""/>
          <p:cNvSpPr/>
          <p:nvPr/>
        </p:nvSpPr>
        <p:spPr>
          <a:xfrm rot="0" flipH="0" flipV="0">
            <a:off x="533400" y="7496175"/>
            <a:ext cx="247650" cy="247650"/>
          </a:xfrm>
          <a:prstGeom prst="roundRect">
            <a:avLst>
              <a:gd name="adj" fmla="val 19231"/>
            </a:avLst>
          </a:prstGeom>
          <a:solidFill>
            <a:srgbClr val="1E4FA8"/>
          </a:solidFill>
          <a:ln/>
        </p:spPr>
        <p:txBody>
          <a:bodyPr/>
          <a:p/>
        </p:txBody>
      </p:sp>
      <p:sp>
        <p:nvSpPr>
          <p:cNvPr id="226" name="" descr="{&quot;isTemplate&quot;:true,&quot;type&quot;:&quot;text&quot;}"/>
          <p:cNvSpPr txBox="1"/>
          <p:nvPr/>
        </p:nvSpPr>
        <p:spPr>
          <a:xfrm rot="0" flipH="0" flipV="0">
            <a:off x="609600" y="7543800"/>
            <a:ext cx="95250" cy="152400"/>
          </a:xfrm>
          <a:prstGeom prst="rect"/>
        </p:spPr>
        <p:txBody>
          <a:bodyPr wrap="none" lIns="0" tIns="0" rIns="0" bIns="0"/>
          <a:p>
            <a:pPr>
              <a:lnSpc>
                <a:spcPct val="100000"/>
              </a:lnSpc>
            </a:pPr>
            <a:r>
              <a:rPr lang="en-US" sz="975" b="1">
                <a:solidFill>
                  <a:srgbClr val="FFFFFF"/>
                </a:solidFill>
                <a:latin typeface="Microsoft YaHei"/>
                <a:ea typeface="Microsoft YaHei"/>
              </a:rPr>
              <a:t>C</a:t>
            </a:r>
            <a:endParaRPr/>
          </a:p>
        </p:txBody>
      </p:sp>
      <p:sp>
        <p:nvSpPr>
          <p:cNvPr id="227" name="" descr="{&quot;isTemplate&quot;:true,&quot;type&quot;:&quot;text&quot;}"/>
          <p:cNvSpPr txBox="1"/>
          <p:nvPr/>
        </p:nvSpPr>
        <p:spPr>
          <a:xfrm rot="0" flipH="0" flipV="0">
            <a:off x="895350" y="7534275"/>
            <a:ext cx="2667000" cy="171450"/>
          </a:xfrm>
          <a:prstGeom prst="rect"/>
        </p:spPr>
        <p:txBody>
          <a:bodyPr wrap="none" lIns="0" tIns="0" rIns="0" bIns="0"/>
          <a:p>
            <a:pPr>
              <a:lnSpc>
                <a:spcPct val="100000"/>
              </a:lnSpc>
            </a:pPr>
            <a:r>
              <a:rPr lang="en-US" sz="1088" b="1">
                <a:solidFill>
                  <a:srgbClr val="0E3F8C"/>
                </a:solidFill>
                <a:latin typeface="Microsoft YaHei"/>
                <a:ea typeface="Microsoft YaHei"/>
              </a:rPr>
              <a:t>PayController</a:t>
            </a:r>
            <a:endParaRPr/>
          </a:p>
        </p:txBody>
      </p:sp>
      <p:sp>
        <p:nvSpPr>
          <p:cNvPr id="228" name="" descr="{&quot;isTemplate&quot;:true,&quot;type&quot;:&quot;text&quot;}"/>
          <p:cNvSpPr txBox="1"/>
          <p:nvPr/>
        </p:nvSpPr>
        <p:spPr>
          <a:xfrm rot="0" flipH="0" flipV="0">
            <a:off x="3562350" y="7543800"/>
            <a:ext cx="447675" cy="152400"/>
          </a:xfrm>
          <a:prstGeom prst="rect"/>
        </p:spPr>
        <p:txBody>
          <a:bodyPr wrap="none" lIns="0" tIns="0" rIns="0" bIns="0"/>
          <a:p>
            <a:pPr>
              <a:lnSpc>
                <a:spcPct val="100000"/>
              </a:lnSpc>
            </a:pPr>
            <a:r>
              <a:rPr lang="en-US" sz="975" b="1">
                <a:solidFill>
                  <a:srgbClr val="1E4FA8"/>
                </a:solidFill>
                <a:latin typeface="Microsoft YaHei"/>
                <a:ea typeface="Microsoft YaHei"/>
              </a:rPr>
              <a:t>Control</a:t>
            </a:r>
            <a:endParaRPr/>
          </a:p>
        </p:txBody>
      </p:sp>
      <p:sp>
        <p:nvSpPr>
          <p:cNvPr id="229" name=""/>
          <p:cNvSpPr/>
          <p:nvPr/>
        </p:nvSpPr>
        <p:spPr>
          <a:xfrm rot="0" flipH="0" flipV="0">
            <a:off x="0" y="7810500"/>
            <a:ext cx="12192000" cy="438150"/>
          </a:xfrm>
          <a:prstGeom prst="rect">
            <a:avLst/>
          </a:prstGeom>
          <a:solidFill>
            <a:srgbClr val="0E3F8C"/>
          </a:solidFill>
          <a:ln/>
        </p:spPr>
        <p:txBody>
          <a:bodyPr/>
          <a:p/>
        </p:txBody>
      </p:sp>
      <p:sp>
        <p:nvSpPr>
          <p:cNvPr id="230" name="" descr="{&quot;isTemplate&quot;:true,&quot;type&quot;:&quot;text&quot;}"/>
          <p:cNvSpPr txBox="1"/>
          <p:nvPr/>
        </p:nvSpPr>
        <p:spPr>
          <a:xfrm rot="0" flipH="0" flipV="0">
            <a:off x="1895475" y="7934325"/>
            <a:ext cx="8401050" cy="190500"/>
          </a:xfrm>
          <a:prstGeom prst="rect"/>
        </p:spPr>
        <p:txBody>
          <a:bodyPr wrap="none" lIns="0" tIns="0" rIns="0" bIns="0"/>
          <a:p>
            <a:pPr>
              <a:lnSpc>
                <a:spcPct val="100000"/>
              </a:lnSpc>
            </a:pPr>
            <a:r>
              <a:rPr lang="en-US" sz="1238" b="1">
                <a:solidFill>
                  <a:srgbClr val="FFFFFF"/>
                </a:solidFill>
                <a:latin typeface="Microsoft YaHei"/>
                <a:ea typeface="Microsoft YaHei"/>
              </a:rPr>
              <a:t>Eight entities, four boundaries, two controls. Fourteen classes — and the model still only covers four use cases.</a:t>
            </a:r>
            <a:endParaRPr/>
          </a:p>
        </p:txBody>
      </p:sp>
    </p:spTree>
  </p:cSld>
</p:sld>
</file>

<file path=ppt/slides/slide20.xml><?xml version="1.0" encoding="utf-8"?>
<p:sld xmlns:p="http://schemas.openxmlformats.org/presentationml/2006/main" xmlns:a="http://schemas.openxmlformats.org/drawingml/2006/main">
  <p:cSld>
    <p:spTree>
      <p:nvGrpSpPr>
        <p:cNvPr id="268" name="" descr="&lt;Slide style={{ background: '#0E3F8C', padding: 0 }}&gt;&#10;  &lt;Box style={{ flexDirection: 'row', height: '100%', position: 'relative' }}&gt;&#10;    &lt;Box style={{ position: 'absolute', top: 0, left: 0, right: 0, height: 8, background: '#1E4FA8' }} /&gt;&#10;    &lt;Box style={{ width: 300, justifyContent: 'center', alignItems: 'center', borderRight: '1px solid #2B5793' }}&gt;&#10;      &lt;Text style={{ fontSize: 220, fontWeight: 'bold', color: '#3D7BD9', fontFamily: 'Georgia, serif', lineHeight: 1 }}&gt;04&lt;/Text&gt;&#10;    &lt;/Box&gt;&#10;    &lt;Box style={{ flex: 1, padding: '70px 64px', flexDirection: 'column', justifyContent: 'center' }}&gt;&#10;      &lt;Text style={{ fontSize: 15, color: '#7FA2D6', letterSpacing: 2, marginBottom: 18 }}&gt;PART 4 · LECTURE&lt;/Text&gt;&#10;      &lt;Text style={{ fontSize: 46, fontWeight: 'bold', color: '#FFFFFF', lineHeight: 1.18 }}&gt;Attributes and&lt;br /&gt;Operations&lt;/Text&gt;&#10;      &lt;Box style={{ width: 64, height: 4, background: '#FFC107', marginTop: 26, marginBottom: 26 }} /&gt;&#10;      &lt;Box style={{ flexDirection: 'column', gap: 12 }}&gt;&#10;        {[&#10;          'An attribute is a value you read off one object',&#10;          'A use case step is not automatically an operation',&#10;          'Collection operations and single-object operations are different things'&#10;        ].map((t) =&gt; (&#10;          &lt;Box key={t} style={{ flexDirection: 'row', alignItems: 'center', gap: 12 }}&gt;&#10;            &lt;Box style={{ width: 8, height: 8, borderRadius: 4, background: '#3D7BD9' }} /&gt;&#10;            &lt;Text style={{ fontSize: 20, color: '#C5D4EA' }}&gt;{t}&lt;/Text&gt;&#10;          &lt;/Box&gt;&#10;        ))}&#10;      &lt;/Box&gt;&#10;    &lt;/Box&gt;&#10;  &lt;/Box&gt;&#10;&lt;/Slide&gt;&#10;"/>
        <p:cNvGrpSpPr/>
        <p:nvPr/>
      </p:nvGrpSpPr>
      <p:grpSpPr>
        <a:xfrm>
          <a:off x="0" y="0"/>
          <a:ext cx="0" cy="0"/>
          <a:chOff x="0" y="0"/>
          <a:chExt cx="0" cy="0"/>
        </a:xfrm>
      </p:grpSpPr>
      <p:sp>
        <p:nvSpPr>
          <p:cNvPr id="269" name=""/>
          <p:cNvSpPr/>
          <p:nvPr/>
        </p:nvSpPr>
        <p:spPr>
          <a:xfrm rot="0" flipH="0" flipV="0">
            <a:off x="0" y="0"/>
            <a:ext cx="12192000" cy="6858000"/>
          </a:xfrm>
          <a:prstGeom prst="rect">
            <a:avLst/>
          </a:prstGeom>
          <a:solidFill>
            <a:srgbClr val="0E3F8C"/>
          </a:solidFill>
          <a:ln/>
        </p:spPr>
        <p:txBody>
          <a:bodyPr/>
          <a:p/>
        </p:txBody>
      </p:sp>
      <p:sp>
        <p:nvSpPr>
          <p:cNvPr id="270" name=""/>
          <p:cNvSpPr/>
          <p:nvPr/>
        </p:nvSpPr>
        <p:spPr>
          <a:xfrm rot="0" flipH="0" flipV="0">
            <a:off x="0" y="0"/>
            <a:ext cx="2857500" cy="6858000"/>
          </a:xfrm>
          <a:custGeom>
            <a:pathLst>
              <a:path w="300" h="720">
                <a:moveTo>
                  <a:pt x="299" y="0"/>
                </a:moveTo>
                <a:lnTo>
                  <a:pt x="300" y="0"/>
                </a:lnTo>
                <a:lnTo>
                  <a:pt x="300" y="720"/>
                </a:lnTo>
                <a:lnTo>
                  <a:pt x="299" y="720"/>
                </a:lnTo>
                <a:close/>
              </a:path>
            </a:pathLst>
          </a:custGeom>
          <a:solidFill>
            <a:srgbClr val="2B5793"/>
          </a:solidFill>
          <a:ln/>
        </p:spPr>
        <p:txBody>
          <a:bodyPr/>
          <a:p/>
        </p:txBody>
      </p:sp>
      <p:sp>
        <p:nvSpPr>
          <p:cNvPr id="271" name="" descr="{&quot;isTemplate&quot;:true,&quot;type&quot;:&quot;text&quot;}"/>
          <p:cNvSpPr txBox="1"/>
          <p:nvPr/>
        </p:nvSpPr>
        <p:spPr>
          <a:xfrm rot="0" flipH="0" flipV="0">
            <a:off x="9525" y="2171700"/>
            <a:ext cx="2838450" cy="2514600"/>
          </a:xfrm>
          <a:prstGeom prst="rect"/>
        </p:spPr>
        <p:txBody>
          <a:bodyPr wrap="none" lIns="0" tIns="0" rIns="0" bIns="0"/>
          <a:p>
            <a:pPr>
              <a:lnSpc>
                <a:spcPct val="100000"/>
              </a:lnSpc>
            </a:pPr>
            <a:r>
              <a:rPr lang="en-US" sz="16500" b="1">
                <a:solidFill>
                  <a:srgbClr val="3D7BD9"/>
                </a:solidFill>
                <a:latin typeface="Georgia"/>
                <a:ea typeface="Georgia"/>
              </a:rPr>
              <a:t>04</a:t>
            </a:r>
            <a:endParaRPr/>
          </a:p>
        </p:txBody>
      </p:sp>
      <p:sp>
        <p:nvSpPr>
          <p:cNvPr id="272" name="" descr="{&quot;isTemplate&quot;:true,&quot;type&quot;:&quot;text&quot;}"/>
          <p:cNvSpPr txBox="1"/>
          <p:nvPr/>
        </p:nvSpPr>
        <p:spPr>
          <a:xfrm rot="0" flipH="0" flipV="0">
            <a:off x="3467100" y="1914525"/>
            <a:ext cx="8115300" cy="171450"/>
          </a:xfrm>
          <a:prstGeom prst="rect"/>
        </p:spPr>
        <p:txBody>
          <a:bodyPr wrap="none" lIns="0" tIns="0" rIns="0" bIns="0"/>
          <a:p>
            <a:pPr>
              <a:lnSpc>
                <a:spcPct val="100000"/>
              </a:lnSpc>
            </a:pPr>
            <a:r>
              <a:rPr lang="en-US" sz="1125" spc="150">
                <a:solidFill>
                  <a:srgbClr val="7FA2D6"/>
                </a:solidFill>
                <a:latin typeface="Microsoft YaHei"/>
                <a:ea typeface="Microsoft YaHei"/>
              </a:rPr>
              <a:t>PART 4 · LECTURE</a:t>
            </a:r>
            <a:endParaRPr/>
          </a:p>
        </p:txBody>
      </p:sp>
      <p:sp>
        <p:nvSpPr>
          <p:cNvPr id="273" name="" descr="{&quot;isTemplate&quot;:true,&quot;type&quot;:&quot;text&quot;}"/>
          <p:cNvSpPr txBox="1"/>
          <p:nvPr/>
        </p:nvSpPr>
        <p:spPr>
          <a:xfrm rot="0" flipH="0" flipV="0">
            <a:off x="3467100" y="2257425"/>
            <a:ext cx="8115300" cy="1247775"/>
          </a:xfrm>
          <a:prstGeom prst="rect"/>
        </p:spPr>
        <p:txBody>
          <a:bodyPr wrap="none" lIns="0" tIns="0" rIns="0" bIns="0"/>
          <a:p>
            <a:pPr>
              <a:lnSpc>
                <a:spcPct val="118000"/>
              </a:lnSpc>
            </a:pPr>
            <a:r>
              <a:rPr lang="en-US" sz="3450" b="1">
                <a:solidFill>
                  <a:srgbClr val="FFFFFF"/>
                </a:solidFill>
                <a:latin typeface="Microsoft YaHei"/>
                <a:ea typeface="Microsoft YaHei"/>
              </a:rPr>
              <a:t>Attributes and</a:t>
            </a:r>
            <a:endParaRPr/>
          </a:p>
          <a:p>
            <a:pPr>
              <a:lnSpc>
                <a:spcPct val="118000"/>
              </a:lnSpc>
            </a:pPr>
            <a:r>
              <a:rPr lang="en-US" sz="3450" b="1">
                <a:solidFill>
                  <a:srgbClr val="FFFFFF"/>
                </a:solidFill>
                <a:latin typeface="Microsoft YaHei"/>
                <a:ea typeface="Microsoft YaHei"/>
              </a:rPr>
              <a:t>Operations</a:t>
            </a:r>
            <a:endParaRPr/>
          </a:p>
        </p:txBody>
      </p:sp>
      <p:sp>
        <p:nvSpPr>
          <p:cNvPr id="274" name=""/>
          <p:cNvSpPr/>
          <p:nvPr/>
        </p:nvSpPr>
        <p:spPr>
          <a:xfrm rot="0" flipH="0" flipV="0">
            <a:off x="3467100" y="3752850"/>
            <a:ext cx="609600" cy="38100"/>
          </a:xfrm>
          <a:prstGeom prst="rect">
            <a:avLst/>
          </a:prstGeom>
          <a:solidFill>
            <a:srgbClr val="FFC107"/>
          </a:solidFill>
          <a:ln/>
        </p:spPr>
        <p:txBody>
          <a:bodyPr/>
          <a:p/>
        </p:txBody>
      </p:sp>
      <p:sp>
        <p:nvSpPr>
          <p:cNvPr id="275" name=""/>
          <p:cNvSpPr/>
          <p:nvPr/>
        </p:nvSpPr>
        <p:spPr>
          <a:xfrm rot="0" flipH="0" flipV="0">
            <a:off x="3467100" y="4114800"/>
            <a:ext cx="76200" cy="76200"/>
          </a:xfrm>
          <a:prstGeom prst="roundRect">
            <a:avLst>
              <a:gd name="adj" fmla="val 50000"/>
            </a:avLst>
          </a:prstGeom>
          <a:solidFill>
            <a:srgbClr val="3D7BD9"/>
          </a:solidFill>
          <a:ln/>
        </p:spPr>
        <p:txBody>
          <a:bodyPr/>
          <a:p/>
        </p:txBody>
      </p:sp>
      <p:sp>
        <p:nvSpPr>
          <p:cNvPr id="276" name="" descr="{&quot;isTemplate&quot;:true,&quot;type&quot;:&quot;text&quot;}"/>
          <p:cNvSpPr txBox="1"/>
          <p:nvPr/>
        </p:nvSpPr>
        <p:spPr>
          <a:xfrm rot="0" flipH="0" flipV="0">
            <a:off x="3657600" y="4038600"/>
            <a:ext cx="3829050" cy="228600"/>
          </a:xfrm>
          <a:prstGeom prst="rect"/>
        </p:spPr>
        <p:txBody>
          <a:bodyPr wrap="none" lIns="0" tIns="0" rIns="0" bIns="0"/>
          <a:p>
            <a:pPr>
              <a:lnSpc>
                <a:spcPct val="100000"/>
              </a:lnSpc>
            </a:pPr>
            <a:r>
              <a:rPr lang="en-US" sz="1500">
                <a:solidFill>
                  <a:srgbClr val="C5D4EA"/>
                </a:solidFill>
                <a:latin typeface="Microsoft YaHei"/>
                <a:ea typeface="Microsoft YaHei"/>
              </a:rPr>
              <a:t>An attribute is a value you read off one object</a:t>
            </a:r>
            <a:endParaRPr/>
          </a:p>
        </p:txBody>
      </p:sp>
      <p:sp>
        <p:nvSpPr>
          <p:cNvPr id="277" name=""/>
          <p:cNvSpPr/>
          <p:nvPr/>
        </p:nvSpPr>
        <p:spPr>
          <a:xfrm rot="0" flipH="0" flipV="0">
            <a:off x="3467100" y="4457700"/>
            <a:ext cx="76200" cy="76200"/>
          </a:xfrm>
          <a:prstGeom prst="roundRect">
            <a:avLst>
              <a:gd name="adj" fmla="val 50000"/>
            </a:avLst>
          </a:prstGeom>
          <a:solidFill>
            <a:srgbClr val="3D7BD9"/>
          </a:solidFill>
          <a:ln/>
        </p:spPr>
        <p:txBody>
          <a:bodyPr/>
          <a:p/>
        </p:txBody>
      </p:sp>
      <p:sp>
        <p:nvSpPr>
          <p:cNvPr id="278" name="" descr="{&quot;isTemplate&quot;:true,&quot;type&quot;:&quot;text&quot;}"/>
          <p:cNvSpPr txBox="1"/>
          <p:nvPr/>
        </p:nvSpPr>
        <p:spPr>
          <a:xfrm rot="0" flipH="0" flipV="0">
            <a:off x="3657600" y="4381500"/>
            <a:ext cx="4143375" cy="228600"/>
          </a:xfrm>
          <a:prstGeom prst="rect"/>
        </p:spPr>
        <p:txBody>
          <a:bodyPr wrap="none" lIns="0" tIns="0" rIns="0" bIns="0"/>
          <a:p>
            <a:pPr>
              <a:lnSpc>
                <a:spcPct val="100000"/>
              </a:lnSpc>
            </a:pPr>
            <a:r>
              <a:rPr lang="en-US" sz="1500">
                <a:solidFill>
                  <a:srgbClr val="C5D4EA"/>
                </a:solidFill>
                <a:latin typeface="Microsoft YaHei"/>
                <a:ea typeface="Microsoft YaHei"/>
              </a:rPr>
              <a:t>A use case step is not automatically an operation</a:t>
            </a:r>
            <a:endParaRPr/>
          </a:p>
        </p:txBody>
      </p:sp>
      <p:sp>
        <p:nvSpPr>
          <p:cNvPr id="279" name=""/>
          <p:cNvSpPr/>
          <p:nvPr/>
        </p:nvSpPr>
        <p:spPr>
          <a:xfrm rot="0" flipH="0" flipV="0">
            <a:off x="3467100" y="4800600"/>
            <a:ext cx="76200" cy="76200"/>
          </a:xfrm>
          <a:prstGeom prst="roundRect">
            <a:avLst>
              <a:gd name="adj" fmla="val 50000"/>
            </a:avLst>
          </a:prstGeom>
          <a:solidFill>
            <a:srgbClr val="3D7BD9"/>
          </a:solidFill>
          <a:ln/>
        </p:spPr>
        <p:txBody>
          <a:bodyPr/>
          <a:p/>
        </p:txBody>
      </p:sp>
      <p:sp>
        <p:nvSpPr>
          <p:cNvPr id="280" name="" descr="{&quot;isTemplate&quot;:true,&quot;type&quot;:&quot;text&quot;}"/>
          <p:cNvSpPr txBox="1"/>
          <p:nvPr/>
        </p:nvSpPr>
        <p:spPr>
          <a:xfrm rot="0" flipH="0" flipV="0">
            <a:off x="3657600" y="4724400"/>
            <a:ext cx="5848350" cy="228600"/>
          </a:xfrm>
          <a:prstGeom prst="rect"/>
        </p:spPr>
        <p:txBody>
          <a:bodyPr wrap="none" lIns="0" tIns="0" rIns="0" bIns="0"/>
          <a:p>
            <a:pPr>
              <a:lnSpc>
                <a:spcPct val="100000"/>
              </a:lnSpc>
            </a:pPr>
            <a:r>
              <a:rPr lang="en-US" sz="1500">
                <a:solidFill>
                  <a:srgbClr val="C5D4EA"/>
                </a:solidFill>
                <a:latin typeface="Microsoft YaHei"/>
                <a:ea typeface="Microsoft YaHei"/>
              </a:rPr>
              <a:t>Collection operations and single-object operations are different things</a:t>
            </a:r>
            <a:endParaRPr/>
          </a:p>
        </p:txBody>
      </p:sp>
      <p:sp>
        <p:nvSpPr>
          <p:cNvPr id="281" name=""/>
          <p:cNvSpPr/>
          <p:nvPr/>
        </p:nvSpPr>
        <p:spPr>
          <a:xfrm rot="0" flipH="0" flipV="0">
            <a:off x="0" y="0"/>
            <a:ext cx="12192000" cy="76200"/>
          </a:xfrm>
          <a:prstGeom prst="rect">
            <a:avLst/>
          </a:prstGeom>
          <a:solidFill>
            <a:srgbClr val="1E4FA8"/>
          </a:solidFill>
          <a:ln/>
        </p:spPr>
        <p:txBody>
          <a:bodyPr/>
          <a:p/>
        </p:txBody>
      </p:sp>
    </p:spTree>
  </p:cSld>
</p:sld>
</file>

<file path=ppt/slides/slide21.xml><?xml version="1.0" encoding="utf-8"?>
<p:sld xmlns:p="http://schemas.openxmlformats.org/presentationml/2006/main" xmlns:a="http://schemas.openxmlformats.org/drawingml/2006/main">
  <p:cSld>
    <p:spTree>
      <p:nvGrpSpPr>
        <p:cNvPr id="282"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6 · ATTRIBUTES AND OPERATIONS&lt;/Text&gt;&#10;  &lt;/Box&gt;&#10;  &lt;Box style={{ padding: '13px 40px 0 40px', flexDirection: 'row', alignItems: 'center', justifyContent: 'space-between' }}&gt;&#10;    &lt;Text style={{ fontSize: 29, fontWeight: 'bold', color: '#0E3F8C' }}&gt;Attributes vs. Values&lt;/Text&gt;&#10;    &lt;Text style={{ fontSize: 14, color: '#1E4FA8', fontWeight: 'bold' }}&gt;21 / 39&lt;/Text&gt;&#10;  &lt;/Box&gt;&#10;  &lt;Box style={{ flex: 1, padding: '10px 40px 0 40px', flexDirection: 'row', gap: 26 }}&gt;&#10;    &lt;Box style={{ flex: 1, flexDirection: 'column', gap: 12 }}&gt;&#10;      &lt;Box style={{ padding: '12px 18px', background: '#FFF6E0', borderRadius: 9 }}&gt;&#10;        &lt;Text style={{ fontSize: 16, fontWeight: 'bold', color: '#996F00' }}&gt;So the answer was: it is an attribute&lt;/Text&gt;&#10;      &lt;/Box&gt;&#10;      &lt;Box style={{ padding: '18px 20px', background: '#FFFFFF', borderRadius: 10, border: '2px solid #FFC107' }}&gt;&#10;        &lt;Text style={{ fontSize: 19, fontWeight: 'bold', color: '#0E3F8C' }}&gt;Order&lt;/Text&gt;&#10;        &lt;Text style={{ fontSize: 13, color: '#8B97A8', marginTop: 4, marginBottom: 12 }}&gt;one concrete example&lt;/Text&gt;&#10;        &lt;Box style={{ height: 1, background: '#E5E7EB', marginBottom: 12 }} /&gt;&#10;        {[&#10;          'orderNumber : String',&#10;          'placedAt : DateTime',&#10;          'state : String',&#10;          'total : Money',&#10;          'note : String',&#10;        ].map((a) =&gt; (&#10;          &lt;Text key={a} style={{ fontSize: 14, color: '#4A5568', lineHeight: 1.9 }}&gt;{a}&lt;/Text&gt;&#10;        ))}&#10;      &lt;/Box&gt;&#10;    &lt;/Box&gt;&#10;    &lt;Box style={{ width: 130, justifyContent: 'center', alignItems: 'center' }}&gt;&#10;      &lt;Box style={{ width: 54, height: 54, borderRadius: 27, background: '#1E4FA8', justifyContent: 'center', alignItems: 'center' }}&gt;&#10;        &lt;Text style={{ fontSize: 26, color: '#FFFFFF', fontWeight: 'bold' }}&gt;→&lt;/Text&gt;&#10;      &lt;/Box&gt;&#10;    &lt;/Box&gt;&#10;    &lt;Box style={{ flex: 1, flexDirection: 'column', gap: 12 }}&gt;&#10;      &lt;Box style={{ padding: '12px 18px', background: '#FDF3F3', borderRadius: 9 }}&gt;&#10;        &lt;Text style={{ fontSize: 16, fontWeight: 'bold', color: '#D9534F' }}&gt;So the answer was: it is its own class&lt;/Text&gt;&#10;      &lt;/Box&gt;&#10;      &lt;Box style={{ padding: '18px 20px', background: '#FFFFFF', borderRadius: 10, border: '2px solid #D9534F' }}&gt;&#10;        &lt;Text style={{ fontSize: 19, fontWeight: 'bold', color: '#0E3F8C' }}&gt;DeliveryWindow&lt;/Text&gt;&#10;        &lt;Text style={{ fontSize: 13, color: '#8B97A8', marginTop: 4, marginBottom: 12 }}&gt;why it graduated&lt;/Text&gt;&#10;        &lt;Box style={{ height: 1, background: '#E5E7EB', marginBottom: 12 }} /&gt;&#10;        {[&#10;          'earliest : DateTime',&#10;          'latest : DateTime',&#10;          'fee : Money',&#10;        ].map((a) =&gt; (&#10;          &lt;Text key={a} style={{ fontSize: 14, color: '#4A5568', lineHeight: 1.9 }}&gt;{a}&lt;/Text&gt;&#10;        ))}&#10;        &lt;Text style={{ fontSize: 12.5, color: '#D9534F', lineHeight: 1.6, marginTop: 12 }}&gt;&#10;          It gained identity once the client asked: “can a restaurant charge different fees per window?” Now there are many of them and you point at one.&#10;        &lt;/Text&gt;&#10;      &lt;/Box&gt;&#10;    &lt;/Box&gt;&#10;  &lt;/Box&gt;&#10;  &lt;Box style={{ height: 46, background: '#0E3F8C', padding: '0 40px', flexDirection: 'row', alignItems: 'center', justifyContent: 'center' }}&gt;&#10;    &lt;Text style={{ fontSize: 16.5, color: '#FFFFFF', fontWeight: '600' }}&gt;Attributes graduate into classes when they gain identity — usually the first time the client asks a second question about them&lt;/Text&gt;&#10;  &lt;/Box&gt;&#10;&lt;/Slide&gt;&#10;"/>
        <p:cNvGrpSpPr/>
        <p:nvPr/>
      </p:nvGrpSpPr>
      <p:grpSpPr>
        <a:xfrm>
          <a:off x="0" y="0"/>
          <a:ext cx="0" cy="0"/>
          <a:chOff x="0" y="0"/>
          <a:chExt cx="0" cy="0"/>
        </a:xfrm>
      </p:grpSpPr>
      <p:sp>
        <p:nvSpPr>
          <p:cNvPr id="283" name=""/>
          <p:cNvSpPr/>
          <p:nvPr/>
        </p:nvSpPr>
        <p:spPr>
          <a:xfrm rot="0" flipH="0" flipV="0">
            <a:off x="0" y="0"/>
            <a:ext cx="12192000" cy="6858000"/>
          </a:xfrm>
          <a:prstGeom prst="rect">
            <a:avLst/>
          </a:prstGeom>
          <a:solidFill>
            <a:srgbClr val="FFFFFF"/>
          </a:solidFill>
          <a:ln/>
        </p:spPr>
        <p:txBody>
          <a:bodyPr/>
          <a:p/>
        </p:txBody>
      </p:sp>
      <p:sp>
        <p:nvSpPr>
          <p:cNvPr id="284" name=""/>
          <p:cNvSpPr/>
          <p:nvPr/>
        </p:nvSpPr>
        <p:spPr>
          <a:xfrm rot="0" flipH="0" flipV="0">
            <a:off x="0" y="0"/>
            <a:ext cx="12192000" cy="685800"/>
          </a:xfrm>
          <a:prstGeom prst="rect">
            <a:avLst/>
          </a:prstGeom>
          <a:solidFill>
            <a:srgbClr val="1E4FA8"/>
          </a:solidFill>
          <a:ln/>
        </p:spPr>
        <p:txBody>
          <a:bodyPr/>
          <a:p/>
        </p:txBody>
      </p:sp>
      <p:sp>
        <p:nvSpPr>
          <p:cNvPr id="285"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286" name="" descr="{&quot;isTemplate&quot;:true,&quot;type&quot;:&quot;text&quot;}"/>
          <p:cNvSpPr txBox="1"/>
          <p:nvPr/>
        </p:nvSpPr>
        <p:spPr>
          <a:xfrm rot="0" flipH="0" flipV="0">
            <a:off x="9201150" y="257175"/>
            <a:ext cx="2609850" cy="171450"/>
          </a:xfrm>
          <a:prstGeom prst="rect"/>
        </p:spPr>
        <p:txBody>
          <a:bodyPr wrap="none" lIns="0" tIns="0" rIns="0" bIns="0"/>
          <a:p>
            <a:pPr>
              <a:lnSpc>
                <a:spcPct val="100000"/>
              </a:lnSpc>
            </a:pPr>
            <a:r>
              <a:rPr lang="en-US" sz="1125">
                <a:solidFill>
                  <a:srgbClr val="B9CDF0"/>
                </a:solidFill>
                <a:latin typeface="Microsoft YaHei"/>
                <a:ea typeface="Microsoft YaHei"/>
              </a:rPr>
              <a:t>W06 · ATTRIBUTES AND OPERATIONS</a:t>
            </a:r>
            <a:endParaRPr/>
          </a:p>
        </p:txBody>
      </p:sp>
      <p:sp>
        <p:nvSpPr>
          <p:cNvPr id="287" name="" descr="{&quot;isTemplate&quot;:true,&quot;type&quot;:&quot;text&quot;}"/>
          <p:cNvSpPr txBox="1"/>
          <p:nvPr/>
        </p:nvSpPr>
        <p:spPr>
          <a:xfrm rot="0" flipH="0" flipV="0">
            <a:off x="381000" y="809625"/>
            <a:ext cx="2724150" cy="333375"/>
          </a:xfrm>
          <a:prstGeom prst="rect"/>
        </p:spPr>
        <p:txBody>
          <a:bodyPr wrap="none" lIns="0" tIns="0" rIns="0" bIns="0"/>
          <a:p>
            <a:pPr>
              <a:lnSpc>
                <a:spcPct val="100000"/>
              </a:lnSpc>
            </a:pPr>
            <a:r>
              <a:rPr lang="en-US" sz="2175" b="1">
                <a:solidFill>
                  <a:srgbClr val="0E3F8C"/>
                </a:solidFill>
                <a:latin typeface="Microsoft YaHei"/>
                <a:ea typeface="Microsoft YaHei"/>
              </a:rPr>
              <a:t>Attributes vs. Values</a:t>
            </a:r>
            <a:endParaRPr/>
          </a:p>
        </p:txBody>
      </p:sp>
      <p:sp>
        <p:nvSpPr>
          <p:cNvPr id="288"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21 / 39</a:t>
            </a:r>
            <a:endParaRPr/>
          </a:p>
        </p:txBody>
      </p:sp>
      <p:sp>
        <p:nvSpPr>
          <p:cNvPr id="289" name=""/>
          <p:cNvSpPr/>
          <p:nvPr/>
        </p:nvSpPr>
        <p:spPr>
          <a:xfrm rot="0" flipH="0" flipV="0">
            <a:off x="381000" y="1238250"/>
            <a:ext cx="4848225" cy="419100"/>
          </a:xfrm>
          <a:prstGeom prst="roundRect">
            <a:avLst>
              <a:gd name="adj" fmla="val 20455"/>
            </a:avLst>
          </a:prstGeom>
          <a:solidFill>
            <a:srgbClr val="FFF6E0"/>
          </a:solidFill>
          <a:ln/>
        </p:spPr>
        <p:txBody>
          <a:bodyPr/>
          <a:p/>
        </p:txBody>
      </p:sp>
      <p:sp>
        <p:nvSpPr>
          <p:cNvPr id="290" name="" descr="{&quot;isTemplate&quot;:true,&quot;type&quot;:&quot;text&quot;}"/>
          <p:cNvSpPr txBox="1"/>
          <p:nvPr/>
        </p:nvSpPr>
        <p:spPr>
          <a:xfrm rot="0" flipH="0" flipV="0">
            <a:off x="552450" y="1352550"/>
            <a:ext cx="4505325" cy="190500"/>
          </a:xfrm>
          <a:prstGeom prst="rect"/>
        </p:spPr>
        <p:txBody>
          <a:bodyPr wrap="none" lIns="0" tIns="0" rIns="0" bIns="0"/>
          <a:p>
            <a:pPr>
              <a:lnSpc>
                <a:spcPct val="100000"/>
              </a:lnSpc>
            </a:pPr>
            <a:r>
              <a:rPr lang="en-US" sz="1200" b="1">
                <a:solidFill>
                  <a:srgbClr val="996F00"/>
                </a:solidFill>
                <a:latin typeface="Microsoft YaHei"/>
                <a:ea typeface="Microsoft YaHei"/>
              </a:rPr>
              <a:t>So the answer was: it is an attribute</a:t>
            </a:r>
            <a:endParaRPr/>
          </a:p>
        </p:txBody>
      </p:sp>
      <p:sp>
        <p:nvSpPr>
          <p:cNvPr id="291" name=""/>
          <p:cNvSpPr/>
          <p:nvPr/>
        </p:nvSpPr>
        <p:spPr>
          <a:xfrm rot="0" flipH="0" flipV="0">
            <a:off x="381000" y="1771650"/>
            <a:ext cx="4848225" cy="2514600"/>
          </a:xfrm>
          <a:prstGeom prst="roundRect">
            <a:avLst>
              <a:gd name="adj" fmla="val 3788"/>
            </a:avLst>
          </a:prstGeom>
          <a:solidFill>
            <a:srgbClr val="FFFFFF"/>
          </a:solidFill>
          <a:ln w="25400">
            <a:solidFill>
              <a:srgbClr val="FFC107"/>
            </a:solidFill>
            <a:prstDash val="solid"/>
          </a:ln>
        </p:spPr>
        <p:txBody>
          <a:bodyPr/>
          <a:p/>
        </p:txBody>
      </p:sp>
      <p:sp>
        <p:nvSpPr>
          <p:cNvPr id="292" name="" descr="{&quot;isTemplate&quot;:true,&quot;type&quot;:&quot;text&quot;}"/>
          <p:cNvSpPr txBox="1"/>
          <p:nvPr/>
        </p:nvSpPr>
        <p:spPr>
          <a:xfrm rot="0" flipH="0" flipV="0">
            <a:off x="571500" y="1943100"/>
            <a:ext cx="4467225" cy="219075"/>
          </a:xfrm>
          <a:prstGeom prst="rect"/>
        </p:spPr>
        <p:txBody>
          <a:bodyPr wrap="none" lIns="0" tIns="0" rIns="0" bIns="0"/>
          <a:p>
            <a:pPr>
              <a:lnSpc>
                <a:spcPct val="100000"/>
              </a:lnSpc>
            </a:pPr>
            <a:r>
              <a:rPr lang="en-US" sz="1425" b="1">
                <a:solidFill>
                  <a:srgbClr val="0E3F8C"/>
                </a:solidFill>
                <a:latin typeface="Microsoft YaHei"/>
                <a:ea typeface="Microsoft YaHei"/>
              </a:rPr>
              <a:t>Order</a:t>
            </a:r>
            <a:endParaRPr/>
          </a:p>
        </p:txBody>
      </p:sp>
      <p:sp>
        <p:nvSpPr>
          <p:cNvPr id="293" name="" descr="{&quot;isTemplate&quot;:true,&quot;type&quot;:&quot;text&quot;}"/>
          <p:cNvSpPr txBox="1"/>
          <p:nvPr/>
        </p:nvSpPr>
        <p:spPr>
          <a:xfrm rot="0" flipH="0" flipV="0">
            <a:off x="571500" y="2200275"/>
            <a:ext cx="4467225" cy="152400"/>
          </a:xfrm>
          <a:prstGeom prst="rect"/>
        </p:spPr>
        <p:txBody>
          <a:bodyPr wrap="none" lIns="0" tIns="0" rIns="0" bIns="0"/>
          <a:p>
            <a:pPr>
              <a:lnSpc>
                <a:spcPct val="100000"/>
              </a:lnSpc>
            </a:pPr>
            <a:r>
              <a:rPr lang="en-US" sz="975">
                <a:solidFill>
                  <a:srgbClr val="8B97A8"/>
                </a:solidFill>
                <a:latin typeface="Microsoft YaHei"/>
                <a:ea typeface="Microsoft YaHei"/>
              </a:rPr>
              <a:t>one concrete example</a:t>
            </a:r>
            <a:endParaRPr/>
          </a:p>
        </p:txBody>
      </p:sp>
      <p:sp>
        <p:nvSpPr>
          <p:cNvPr id="294" name=""/>
          <p:cNvSpPr/>
          <p:nvPr/>
        </p:nvSpPr>
        <p:spPr>
          <a:xfrm rot="0" flipH="0" flipV="0">
            <a:off x="571500" y="2466975"/>
            <a:ext cx="4467225" cy="9525"/>
          </a:xfrm>
          <a:prstGeom prst="rect">
            <a:avLst/>
          </a:prstGeom>
          <a:solidFill>
            <a:srgbClr val="E5E7EB"/>
          </a:solidFill>
          <a:ln/>
        </p:spPr>
        <p:txBody>
          <a:bodyPr/>
          <a:p/>
        </p:txBody>
      </p:sp>
      <p:sp>
        <p:nvSpPr>
          <p:cNvPr id="295" name="" descr="{&quot;isTemplate&quot;:true,&quot;type&quot;:&quot;text&quot;}"/>
          <p:cNvSpPr txBox="1"/>
          <p:nvPr/>
        </p:nvSpPr>
        <p:spPr>
          <a:xfrm rot="0" flipH="0" flipV="0">
            <a:off x="571500" y="2590800"/>
            <a:ext cx="4467225" cy="304800"/>
          </a:xfrm>
          <a:prstGeom prst="rect"/>
        </p:spPr>
        <p:txBody>
          <a:bodyPr wrap="none" lIns="0" tIns="0" rIns="0" bIns="0"/>
          <a:p>
            <a:pPr>
              <a:lnSpc>
                <a:spcPct val="190000"/>
              </a:lnSpc>
            </a:pPr>
            <a:r>
              <a:rPr lang="en-US" sz="1050">
                <a:solidFill>
                  <a:srgbClr val="4A5568"/>
                </a:solidFill>
                <a:latin typeface="Microsoft YaHei"/>
                <a:ea typeface="Microsoft YaHei"/>
              </a:rPr>
              <a:t>orderNumber : String</a:t>
            </a:r>
            <a:endParaRPr/>
          </a:p>
        </p:txBody>
      </p:sp>
      <p:sp>
        <p:nvSpPr>
          <p:cNvPr id="296" name="" descr="{&quot;isTemplate&quot;:true,&quot;type&quot;:&quot;text&quot;}"/>
          <p:cNvSpPr txBox="1"/>
          <p:nvPr/>
        </p:nvSpPr>
        <p:spPr>
          <a:xfrm rot="0" flipH="0" flipV="0">
            <a:off x="571500" y="2895600"/>
            <a:ext cx="4467225" cy="304800"/>
          </a:xfrm>
          <a:prstGeom prst="rect"/>
        </p:spPr>
        <p:txBody>
          <a:bodyPr wrap="none" lIns="0" tIns="0" rIns="0" bIns="0"/>
          <a:p>
            <a:pPr>
              <a:lnSpc>
                <a:spcPct val="190000"/>
              </a:lnSpc>
            </a:pPr>
            <a:r>
              <a:rPr lang="en-US" sz="1050">
                <a:solidFill>
                  <a:srgbClr val="4A5568"/>
                </a:solidFill>
                <a:latin typeface="Microsoft YaHei"/>
                <a:ea typeface="Microsoft YaHei"/>
              </a:rPr>
              <a:t>placedAt : DateTime</a:t>
            </a:r>
            <a:endParaRPr/>
          </a:p>
        </p:txBody>
      </p:sp>
      <p:sp>
        <p:nvSpPr>
          <p:cNvPr id="297" name="" descr="{&quot;isTemplate&quot;:true,&quot;type&quot;:&quot;text&quot;}"/>
          <p:cNvSpPr txBox="1"/>
          <p:nvPr/>
        </p:nvSpPr>
        <p:spPr>
          <a:xfrm rot="0" flipH="0" flipV="0">
            <a:off x="571500" y="3200400"/>
            <a:ext cx="4467225" cy="304800"/>
          </a:xfrm>
          <a:prstGeom prst="rect"/>
        </p:spPr>
        <p:txBody>
          <a:bodyPr wrap="none" lIns="0" tIns="0" rIns="0" bIns="0"/>
          <a:p>
            <a:pPr>
              <a:lnSpc>
                <a:spcPct val="190000"/>
              </a:lnSpc>
            </a:pPr>
            <a:r>
              <a:rPr lang="en-US" sz="1050">
                <a:solidFill>
                  <a:srgbClr val="4A5568"/>
                </a:solidFill>
                <a:latin typeface="Microsoft YaHei"/>
                <a:ea typeface="Microsoft YaHei"/>
              </a:rPr>
              <a:t>state : String</a:t>
            </a:r>
            <a:endParaRPr/>
          </a:p>
        </p:txBody>
      </p:sp>
      <p:sp>
        <p:nvSpPr>
          <p:cNvPr id="298" name="" descr="{&quot;isTemplate&quot;:true,&quot;type&quot;:&quot;text&quot;}"/>
          <p:cNvSpPr txBox="1"/>
          <p:nvPr/>
        </p:nvSpPr>
        <p:spPr>
          <a:xfrm rot="0" flipH="0" flipV="0">
            <a:off x="571500" y="3505200"/>
            <a:ext cx="4467225" cy="304800"/>
          </a:xfrm>
          <a:prstGeom prst="rect"/>
        </p:spPr>
        <p:txBody>
          <a:bodyPr wrap="none" lIns="0" tIns="0" rIns="0" bIns="0"/>
          <a:p>
            <a:pPr>
              <a:lnSpc>
                <a:spcPct val="190000"/>
              </a:lnSpc>
            </a:pPr>
            <a:r>
              <a:rPr lang="en-US" sz="1050">
                <a:solidFill>
                  <a:srgbClr val="4A5568"/>
                </a:solidFill>
                <a:latin typeface="Microsoft YaHei"/>
                <a:ea typeface="Microsoft YaHei"/>
              </a:rPr>
              <a:t>total : Money</a:t>
            </a:r>
            <a:endParaRPr/>
          </a:p>
        </p:txBody>
      </p:sp>
      <p:sp>
        <p:nvSpPr>
          <p:cNvPr id="299" name="" descr="{&quot;isTemplate&quot;:true,&quot;type&quot;:&quot;text&quot;}"/>
          <p:cNvSpPr txBox="1"/>
          <p:nvPr/>
        </p:nvSpPr>
        <p:spPr>
          <a:xfrm rot="0" flipH="0" flipV="0">
            <a:off x="571500" y="3810000"/>
            <a:ext cx="4467225" cy="304800"/>
          </a:xfrm>
          <a:prstGeom prst="rect"/>
        </p:spPr>
        <p:txBody>
          <a:bodyPr wrap="none" lIns="0" tIns="0" rIns="0" bIns="0"/>
          <a:p>
            <a:pPr>
              <a:lnSpc>
                <a:spcPct val="190000"/>
              </a:lnSpc>
            </a:pPr>
            <a:r>
              <a:rPr lang="en-US" sz="1050">
                <a:solidFill>
                  <a:srgbClr val="4A5568"/>
                </a:solidFill>
                <a:latin typeface="Microsoft YaHei"/>
                <a:ea typeface="Microsoft YaHei"/>
              </a:rPr>
              <a:t>note : String</a:t>
            </a:r>
            <a:endParaRPr/>
          </a:p>
        </p:txBody>
      </p:sp>
      <p:sp>
        <p:nvSpPr>
          <p:cNvPr id="300" name=""/>
          <p:cNvSpPr/>
          <p:nvPr/>
        </p:nvSpPr>
        <p:spPr>
          <a:xfrm rot="0" flipH="0" flipV="0">
            <a:off x="5838825" y="3571875"/>
            <a:ext cx="514350" cy="514350"/>
          </a:xfrm>
          <a:prstGeom prst="roundRect">
            <a:avLst>
              <a:gd name="adj" fmla="val 50000"/>
            </a:avLst>
          </a:prstGeom>
          <a:solidFill>
            <a:srgbClr val="1E4FA8"/>
          </a:solidFill>
          <a:ln/>
        </p:spPr>
        <p:txBody>
          <a:bodyPr/>
          <a:p/>
        </p:txBody>
      </p:sp>
      <p:sp>
        <p:nvSpPr>
          <p:cNvPr id="301" name="" descr="{&quot;isTemplate&quot;:true,&quot;type&quot;:&quot;text&quot;}"/>
          <p:cNvSpPr txBox="1"/>
          <p:nvPr/>
        </p:nvSpPr>
        <p:spPr>
          <a:xfrm rot="0" flipH="0" flipV="0">
            <a:off x="5972175" y="3676650"/>
            <a:ext cx="247650" cy="304800"/>
          </a:xfrm>
          <a:prstGeom prst="rect"/>
        </p:spPr>
        <p:txBody>
          <a:bodyPr wrap="none" lIns="0" tIns="0" rIns="0" bIns="0"/>
          <a:p>
            <a:pPr>
              <a:lnSpc>
                <a:spcPct val="100000"/>
              </a:lnSpc>
            </a:pPr>
            <a:r>
              <a:rPr sz="1950" b="1">
                <a:solidFill>
                  <a:srgbClr val="FFFFFF"/>
                </a:solidFill>
                <a:latin typeface="Microsoft YaHei"/>
                <a:ea typeface="Microsoft YaHei"/>
              </a:rPr>
              <a:t>→</a:t>
            </a:r>
            <a:endParaRPr/>
          </a:p>
        </p:txBody>
      </p:sp>
      <p:sp>
        <p:nvSpPr>
          <p:cNvPr id="302" name=""/>
          <p:cNvSpPr/>
          <p:nvPr/>
        </p:nvSpPr>
        <p:spPr>
          <a:xfrm rot="0" flipH="0" flipV="0">
            <a:off x="6962775" y="1238250"/>
            <a:ext cx="4848225" cy="419100"/>
          </a:xfrm>
          <a:prstGeom prst="roundRect">
            <a:avLst>
              <a:gd name="adj" fmla="val 20455"/>
            </a:avLst>
          </a:prstGeom>
          <a:solidFill>
            <a:srgbClr val="FDF3F3"/>
          </a:solidFill>
          <a:ln/>
        </p:spPr>
        <p:txBody>
          <a:bodyPr/>
          <a:p/>
        </p:txBody>
      </p:sp>
      <p:sp>
        <p:nvSpPr>
          <p:cNvPr id="303" name="" descr="{&quot;isTemplate&quot;:true,&quot;type&quot;:&quot;text&quot;}"/>
          <p:cNvSpPr txBox="1"/>
          <p:nvPr/>
        </p:nvSpPr>
        <p:spPr>
          <a:xfrm rot="0" flipH="0" flipV="0">
            <a:off x="7134225" y="1352550"/>
            <a:ext cx="4505325" cy="190500"/>
          </a:xfrm>
          <a:prstGeom prst="rect"/>
        </p:spPr>
        <p:txBody>
          <a:bodyPr wrap="none" lIns="0" tIns="0" rIns="0" bIns="0"/>
          <a:p>
            <a:pPr>
              <a:lnSpc>
                <a:spcPct val="100000"/>
              </a:lnSpc>
            </a:pPr>
            <a:r>
              <a:rPr lang="en-US" sz="1200" b="1">
                <a:solidFill>
                  <a:srgbClr val="D9534F"/>
                </a:solidFill>
                <a:latin typeface="Microsoft YaHei"/>
                <a:ea typeface="Microsoft YaHei"/>
              </a:rPr>
              <a:t>So the answer was: it is its own class</a:t>
            </a:r>
            <a:endParaRPr/>
          </a:p>
        </p:txBody>
      </p:sp>
      <p:sp>
        <p:nvSpPr>
          <p:cNvPr id="304" name=""/>
          <p:cNvSpPr/>
          <p:nvPr/>
        </p:nvSpPr>
        <p:spPr>
          <a:xfrm rot="0" flipH="0" flipV="0">
            <a:off x="6962775" y="1771650"/>
            <a:ext cx="4848225" cy="2476500"/>
          </a:xfrm>
          <a:prstGeom prst="roundRect">
            <a:avLst>
              <a:gd name="adj" fmla="val 3846"/>
            </a:avLst>
          </a:prstGeom>
          <a:solidFill>
            <a:srgbClr val="FFFFFF"/>
          </a:solidFill>
          <a:ln w="25400">
            <a:solidFill>
              <a:srgbClr val="D9534F"/>
            </a:solidFill>
            <a:prstDash val="solid"/>
          </a:ln>
        </p:spPr>
        <p:txBody>
          <a:bodyPr/>
          <a:p/>
        </p:txBody>
      </p:sp>
      <p:sp>
        <p:nvSpPr>
          <p:cNvPr id="305" name="" descr="{&quot;isTemplate&quot;:true,&quot;type&quot;:&quot;text&quot;}"/>
          <p:cNvSpPr txBox="1"/>
          <p:nvPr/>
        </p:nvSpPr>
        <p:spPr>
          <a:xfrm rot="0" flipH="0" flipV="0">
            <a:off x="7153275" y="1943100"/>
            <a:ext cx="4467225" cy="219075"/>
          </a:xfrm>
          <a:prstGeom prst="rect"/>
        </p:spPr>
        <p:txBody>
          <a:bodyPr wrap="none" lIns="0" tIns="0" rIns="0" bIns="0"/>
          <a:p>
            <a:pPr>
              <a:lnSpc>
                <a:spcPct val="100000"/>
              </a:lnSpc>
            </a:pPr>
            <a:r>
              <a:rPr lang="en-US" sz="1425" b="1">
                <a:solidFill>
                  <a:srgbClr val="0E3F8C"/>
                </a:solidFill>
                <a:latin typeface="Microsoft YaHei"/>
                <a:ea typeface="Microsoft YaHei"/>
              </a:rPr>
              <a:t>DeliveryWindow</a:t>
            </a:r>
            <a:endParaRPr/>
          </a:p>
        </p:txBody>
      </p:sp>
      <p:sp>
        <p:nvSpPr>
          <p:cNvPr id="306" name="" descr="{&quot;isTemplate&quot;:true,&quot;type&quot;:&quot;text&quot;}"/>
          <p:cNvSpPr txBox="1"/>
          <p:nvPr/>
        </p:nvSpPr>
        <p:spPr>
          <a:xfrm rot="0" flipH="0" flipV="0">
            <a:off x="7153275" y="2200275"/>
            <a:ext cx="4467225" cy="152400"/>
          </a:xfrm>
          <a:prstGeom prst="rect"/>
        </p:spPr>
        <p:txBody>
          <a:bodyPr wrap="none" lIns="0" tIns="0" rIns="0" bIns="0"/>
          <a:p>
            <a:pPr>
              <a:lnSpc>
                <a:spcPct val="100000"/>
              </a:lnSpc>
            </a:pPr>
            <a:r>
              <a:rPr lang="en-US" sz="975">
                <a:solidFill>
                  <a:srgbClr val="8B97A8"/>
                </a:solidFill>
                <a:latin typeface="Microsoft YaHei"/>
                <a:ea typeface="Microsoft YaHei"/>
              </a:rPr>
              <a:t>why it graduated</a:t>
            </a:r>
            <a:endParaRPr/>
          </a:p>
        </p:txBody>
      </p:sp>
      <p:sp>
        <p:nvSpPr>
          <p:cNvPr id="307" name=""/>
          <p:cNvSpPr/>
          <p:nvPr/>
        </p:nvSpPr>
        <p:spPr>
          <a:xfrm rot="0" flipH="0" flipV="0">
            <a:off x="7153275" y="2466975"/>
            <a:ext cx="4467225" cy="9525"/>
          </a:xfrm>
          <a:prstGeom prst="rect">
            <a:avLst/>
          </a:prstGeom>
          <a:solidFill>
            <a:srgbClr val="E5E7EB"/>
          </a:solidFill>
          <a:ln/>
        </p:spPr>
        <p:txBody>
          <a:bodyPr/>
          <a:p/>
        </p:txBody>
      </p:sp>
      <p:sp>
        <p:nvSpPr>
          <p:cNvPr id="308" name="" descr="{&quot;isTemplate&quot;:true,&quot;type&quot;:&quot;text&quot;}"/>
          <p:cNvSpPr txBox="1"/>
          <p:nvPr/>
        </p:nvSpPr>
        <p:spPr>
          <a:xfrm rot="0" flipH="0" flipV="0">
            <a:off x="7153275" y="2590800"/>
            <a:ext cx="4467225" cy="304800"/>
          </a:xfrm>
          <a:prstGeom prst="rect"/>
        </p:spPr>
        <p:txBody>
          <a:bodyPr wrap="none" lIns="0" tIns="0" rIns="0" bIns="0"/>
          <a:p>
            <a:pPr>
              <a:lnSpc>
                <a:spcPct val="190000"/>
              </a:lnSpc>
            </a:pPr>
            <a:r>
              <a:rPr lang="en-US" sz="1050">
                <a:solidFill>
                  <a:srgbClr val="4A5568"/>
                </a:solidFill>
                <a:latin typeface="Microsoft YaHei"/>
                <a:ea typeface="Microsoft YaHei"/>
              </a:rPr>
              <a:t>earliest : DateTime</a:t>
            </a:r>
            <a:endParaRPr/>
          </a:p>
        </p:txBody>
      </p:sp>
      <p:sp>
        <p:nvSpPr>
          <p:cNvPr id="309" name="" descr="{&quot;isTemplate&quot;:true,&quot;type&quot;:&quot;text&quot;}"/>
          <p:cNvSpPr txBox="1"/>
          <p:nvPr/>
        </p:nvSpPr>
        <p:spPr>
          <a:xfrm rot="0" flipH="0" flipV="0">
            <a:off x="7153275" y="2895600"/>
            <a:ext cx="4467225" cy="304800"/>
          </a:xfrm>
          <a:prstGeom prst="rect"/>
        </p:spPr>
        <p:txBody>
          <a:bodyPr wrap="none" lIns="0" tIns="0" rIns="0" bIns="0"/>
          <a:p>
            <a:pPr>
              <a:lnSpc>
                <a:spcPct val="190000"/>
              </a:lnSpc>
            </a:pPr>
            <a:r>
              <a:rPr lang="en-US" sz="1050">
                <a:solidFill>
                  <a:srgbClr val="4A5568"/>
                </a:solidFill>
                <a:latin typeface="Microsoft YaHei"/>
                <a:ea typeface="Microsoft YaHei"/>
              </a:rPr>
              <a:t>latest : DateTime</a:t>
            </a:r>
            <a:endParaRPr/>
          </a:p>
        </p:txBody>
      </p:sp>
      <p:sp>
        <p:nvSpPr>
          <p:cNvPr id="310" name="" descr="{&quot;isTemplate&quot;:true,&quot;type&quot;:&quot;text&quot;}"/>
          <p:cNvSpPr txBox="1"/>
          <p:nvPr/>
        </p:nvSpPr>
        <p:spPr>
          <a:xfrm rot="0" flipH="0" flipV="0">
            <a:off x="7153275" y="3200400"/>
            <a:ext cx="4467225" cy="304800"/>
          </a:xfrm>
          <a:prstGeom prst="rect"/>
        </p:spPr>
        <p:txBody>
          <a:bodyPr wrap="none" lIns="0" tIns="0" rIns="0" bIns="0"/>
          <a:p>
            <a:pPr>
              <a:lnSpc>
                <a:spcPct val="190000"/>
              </a:lnSpc>
            </a:pPr>
            <a:r>
              <a:rPr lang="en-US" sz="1050">
                <a:solidFill>
                  <a:srgbClr val="4A5568"/>
                </a:solidFill>
                <a:latin typeface="Microsoft YaHei"/>
                <a:ea typeface="Microsoft YaHei"/>
              </a:rPr>
              <a:t>fee : Money</a:t>
            </a:r>
            <a:endParaRPr/>
          </a:p>
        </p:txBody>
      </p:sp>
      <p:sp>
        <p:nvSpPr>
          <p:cNvPr id="311" name="" descr="{&quot;isTemplate&quot;:true,&quot;type&quot;:&quot;text&quot;}"/>
          <p:cNvSpPr txBox="1"/>
          <p:nvPr/>
        </p:nvSpPr>
        <p:spPr>
          <a:xfrm rot="0" flipH="0" flipV="0">
            <a:off x="7153275" y="3619500"/>
            <a:ext cx="4467225" cy="457200"/>
          </a:xfrm>
          <a:prstGeom prst="rect"/>
        </p:spPr>
        <p:txBody>
          <a:bodyPr wrap="square" lIns="0" tIns="0" rIns="0" bIns="0">
            <a:normAutofit/>
          </a:bodyPr>
          <a:p>
            <a:pPr>
              <a:lnSpc>
                <a:spcPct val="160000"/>
              </a:lnSpc>
            </a:pPr>
            <a:r>
              <a:rPr lang="en-US" sz="938">
                <a:solidFill>
                  <a:srgbClr val="D9534F"/>
                </a:solidFill>
                <a:latin typeface="Microsoft YaHei"/>
                <a:ea typeface="Microsoft YaHei"/>
              </a:rPr>
              <a:t>It gained identity once the client asked: “can a restaurant charge different fees per window?” Now there are many of them and you point at one.</a:t>
            </a:r>
            <a:endParaRPr/>
          </a:p>
        </p:txBody>
      </p:sp>
      <p:sp>
        <p:nvSpPr>
          <p:cNvPr id="312" name=""/>
          <p:cNvSpPr/>
          <p:nvPr/>
        </p:nvSpPr>
        <p:spPr>
          <a:xfrm rot="0" flipH="0" flipV="0">
            <a:off x="0" y="6419850"/>
            <a:ext cx="12192000" cy="438150"/>
          </a:xfrm>
          <a:prstGeom prst="rect">
            <a:avLst/>
          </a:prstGeom>
          <a:solidFill>
            <a:srgbClr val="0E3F8C"/>
          </a:solidFill>
          <a:ln/>
        </p:spPr>
        <p:txBody>
          <a:bodyPr/>
          <a:p/>
        </p:txBody>
      </p:sp>
      <p:sp>
        <p:nvSpPr>
          <p:cNvPr id="313" name="" descr="{&quot;isTemplate&quot;:true,&quot;type&quot;:&quot;text&quot;}"/>
          <p:cNvSpPr txBox="1"/>
          <p:nvPr/>
        </p:nvSpPr>
        <p:spPr>
          <a:xfrm rot="0" flipH="0" flipV="0">
            <a:off x="1400175" y="6543675"/>
            <a:ext cx="9391650" cy="190500"/>
          </a:xfrm>
          <a:prstGeom prst="rect"/>
        </p:spPr>
        <p:txBody>
          <a:bodyPr wrap="none" lIns="0" tIns="0" rIns="0" bIns="0"/>
          <a:p>
            <a:pPr>
              <a:lnSpc>
                <a:spcPct val="100000"/>
              </a:lnSpc>
            </a:pPr>
            <a:r>
              <a:rPr lang="en-US" sz="1238" b="1">
                <a:solidFill>
                  <a:srgbClr val="FFFFFF"/>
                </a:solidFill>
                <a:latin typeface="Microsoft YaHei"/>
                <a:ea typeface="Microsoft YaHei"/>
              </a:rPr>
              <a:t>Attributes graduate into classes when they gain identity — usually the first time the client asks a second question about them</a:t>
            </a:r>
            <a:endParaRPr/>
          </a:p>
        </p:txBody>
      </p:sp>
    </p:spTree>
  </p:cSld>
</p:sld>
</file>

<file path=ppt/slides/slide22.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314"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6 · ATTRIBUTES AND OPERATIONS&lt;/Text&gt;&#10;  &lt;/Box&gt;&#10;  &lt;Box style={{ padding: '13px 40px 0 40px', flexDirection: 'row', alignItems: 'center', justifyContent: 'space-between' }}&gt;&#10;    &lt;Text style={{ fontSize: 29, fontWeight: 'bold', color: '#0E3F8C' }}&gt;Finding Attributes&lt;/Text&gt;&#10;    &lt;Text style={{ fontSize: 14, color: '#1E4FA8', fontWeight: 'bold' }}&gt;22 / 39&lt;/Text&gt;&#10;  &lt;/Box&gt;&#10;  &lt;Box style={{ flex: 1, padding: '10px 40px 0 40px' }}&gt;&#10;    &lt;Table&#10;      style={{ width: '100%', height: '100%' }}&#10;      defaultTextStyle={{ fontSize: 13.5, textAlign: 'left', color: '#1A2230' }}&#10;      defaultCellStyle={{&#10;        border: {&#10;          left: { width: 1, color: '#E5E7EB' },&#10;          right: { width: 1, color: '#E5E7EB' },&#10;          top: { width: 1, color: '#E5E7EB' },&#10;          bottom: { width: 1, color: '#E5E7EB' },&#10;        },&#10;      }}&#10;      cells={[&#10;        [&#10;          { text: 'Candidate', textStyle: { bold: true, color: '#FFFFFF', fontSize: 15 }, cellStyle: { background: { color: '#0E3F8C' } } },&#10;          { text: 'Attribute of', textStyle: { bold: true, color: '#FFFFFF', fontSize: 15 }, cellStyle: { background: { color: '#996F00' } } },&#10;          { text: 'Type worth using', textStyle: { bold: true, color: '#FFFFFF', fontSize: 15 }, cellStyle: { background: { color: '#1E4FA8' } } },&#10;          { text: 'Note', textStyle: { bold: true, color: '#FFFFFF', fontSize: 15 }, cellStyle: { background: { color: '#2B5793' } } },&#10;        ],&#10;        [&#10;          { text: 'order number', textStyle: { bold: true, color: '#0E3F8C' }, cellStyle: { background: { color: '#F7F9FC' } } },&#10;          { text: 'Order', textStyle: { color: '#4A5568' }, cellStyle: { background: { color: '#F7F9FC' } } },&#10;          { text: 'String, or Money if arithmetic happens to it', textStyle: { color: '#4A5568' }, cellStyle: { background: { color: '#F7F9FC' } } },&#10;          { text: 'Namespaced by restaurant — CB-20419, not 20419.', textStyle: { color: '#4A5568' }, cellStyle: { background: { color: '#F7F9FC' } } },&#10;        ],&#10;        [&#10;          { text: 'state', textStyle: { bold: true, color: '#0E3F8C' } },&#10;          { text: 'Order', textStyle: { color: '#4A5568' } },&#10;          { text: 'String, with a fixed list of values', textStyle: { color: '#4A5568' } },&#10;          { text: 'Accepted · Scheduled · Pending Payment · Cancelled. W09 turns this into a state machine.', textStyle: { color: '#4A5568' } },&#10;        ],&#10;        [&#10;          { text: 'quantity', textStyle: { bold: true, color: '#0E3F8C' }, cellStyle: { background: { color: '#F7F9FC' } } },&#10;          { text: 'OrderLine — not Order', textStyle: { color: '#4A5568' }, cellStyle: { background: { color: '#F7F9FC' } } },&#10;          { text: 'Integer', textStyle: { color: '#4A5568' }, cellStyle: { background: { color: '#F7F9FC' } } },&#10;          { text: 'Quantity belongs to a line. Two burgers is not a property of the order.', textStyle: { color: '#4A5568' }, cellStyle: { background: { color: '#F7F9FC' } } },&#10;        ],&#10;        [&#10;          { text: 'price', textStyle: { bold: true, color: '#0E3F8C' } },&#10;          { text: 'MenuItem', textStyle: { color: '#4A5568' } },&#10;          { text: 'Money', textStyle: { color: '#4A5568' } },&#10;          { text: 'Never a float. This is a modelling decision, not a code one.', textStyle: { color: '#4A5568' } },&#10;        ],&#10;        [&#10;          { text: 'isAvailable', textStyle: { bold: true, color: '#0E3F8C' }, cellStyle: { background: { color: '#F7F9FC' } } },&#10;          { text: 'MenuItem and Courier', textStyle: { color: '#4A5568' }, cellStyle: { background: { color: '#F7F9FC' } } },&#10;          { text: 'Boolean', textStyle: { color: '#4A5568' }, cellStyle: { background: { color: '#F7F9FC' } } },&#10;          { text: 'Two classes can share an attribute name. That is not duplication.', textStyle: { color: '#4A5568' }, cellStyle: { background: { color: '#F7F9FC' } } },&#10;        ],&#10;        [&#10;          { text: 'Two traps', textStyle: { bold: true, color: '#D9534F' }, cellStyle: { background: { color: '#F7F9FC' } } },&#10;          { text: '“order total” — derived from the lines', textStyle: { color: '#4A5568' }, cellStyle: { background: { color: '#F7F9FC' } } },&#10;          { text: 'Decide deliberately: store it, or calculate it', textStyle: { color: '#4A5568' }, cellStyle: { background: { color: '#F7F9FC' } } },&#10;          { text: '“createdAt / updatedAt / deletedAt” — audit columns are an implementation decision, not analysis.', textStyle: { color: '#4A5568' }, cellStyle: { background: { color: '#F7F9FC' } } },&#10;        ],&#10;      ]}&#10;    /&gt;&#10;  &lt;/Box&gt;&#10;  &lt;Box style={{ height: 46, background: '#0E3F8C', padding: '0 40px', flexDirection: 'row', alignItems: 'center', justifyContent: 'center' }}&gt;&#10;    &lt;Text style={{ fontSize: 16.5, color: '#FFFFFF', fontWeight: '600' }}&gt;Derived values are a decision, not an accident. Say out loud whether you store it or calculate it.&lt;/Text&gt;&#10;  &lt;/Box&gt;&#10;&lt;/Slide&gt;&#10;"/>
        <p:cNvGrpSpPr/>
        <p:nvPr/>
      </p:nvGrpSpPr>
      <p:grpSpPr>
        <a:xfrm>
          <a:off x="0" y="0"/>
          <a:ext cx="0" cy="0"/>
          <a:chOff x="0" y="0"/>
          <a:chExt cx="0" cy="0"/>
        </a:xfrm>
      </p:grpSpPr>
      <p:sp>
        <p:nvSpPr>
          <p:cNvPr id="315" name=""/>
          <p:cNvSpPr/>
          <p:nvPr/>
        </p:nvSpPr>
        <p:spPr>
          <a:xfrm rot="0" flipH="0" flipV="0">
            <a:off x="0" y="0"/>
            <a:ext cx="12192000" cy="6858000"/>
          </a:xfrm>
          <a:prstGeom prst="rect">
            <a:avLst/>
          </a:prstGeom>
          <a:solidFill>
            <a:srgbClr val="FFFFFF"/>
          </a:solidFill>
          <a:ln/>
        </p:spPr>
        <p:txBody>
          <a:bodyPr/>
          <a:p/>
        </p:txBody>
      </p:sp>
      <p:sp>
        <p:nvSpPr>
          <p:cNvPr id="316" name=""/>
          <p:cNvSpPr/>
          <p:nvPr/>
        </p:nvSpPr>
        <p:spPr>
          <a:xfrm rot="0" flipH="0" flipV="0">
            <a:off x="0" y="0"/>
            <a:ext cx="12192000" cy="685800"/>
          </a:xfrm>
          <a:prstGeom prst="rect">
            <a:avLst/>
          </a:prstGeom>
          <a:solidFill>
            <a:srgbClr val="1E4FA8"/>
          </a:solidFill>
          <a:ln/>
        </p:spPr>
        <p:txBody>
          <a:bodyPr/>
          <a:p/>
        </p:txBody>
      </p:sp>
      <p:sp>
        <p:nvSpPr>
          <p:cNvPr id="317"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318" name="" descr="{&quot;isTemplate&quot;:true,&quot;type&quot;:&quot;text&quot;}"/>
          <p:cNvSpPr txBox="1"/>
          <p:nvPr/>
        </p:nvSpPr>
        <p:spPr>
          <a:xfrm rot="0" flipH="0" flipV="0">
            <a:off x="9201150" y="257175"/>
            <a:ext cx="2609850" cy="171450"/>
          </a:xfrm>
          <a:prstGeom prst="rect"/>
        </p:spPr>
        <p:txBody>
          <a:bodyPr wrap="none" lIns="0" tIns="0" rIns="0" bIns="0"/>
          <a:p>
            <a:pPr>
              <a:lnSpc>
                <a:spcPct val="100000"/>
              </a:lnSpc>
            </a:pPr>
            <a:r>
              <a:rPr lang="en-US" sz="1125">
                <a:solidFill>
                  <a:srgbClr val="B9CDF0"/>
                </a:solidFill>
                <a:latin typeface="Microsoft YaHei"/>
                <a:ea typeface="Microsoft YaHei"/>
              </a:rPr>
              <a:t>W06 · ATTRIBUTES AND OPERATIONS</a:t>
            </a:r>
            <a:endParaRPr/>
          </a:p>
        </p:txBody>
      </p:sp>
      <p:sp>
        <p:nvSpPr>
          <p:cNvPr id="319" name="" descr="{&quot;isTemplate&quot;:true,&quot;type&quot;:&quot;text&quot;}"/>
          <p:cNvSpPr txBox="1"/>
          <p:nvPr/>
        </p:nvSpPr>
        <p:spPr>
          <a:xfrm rot="0" flipH="0" flipV="0">
            <a:off x="381000" y="809625"/>
            <a:ext cx="2381250" cy="333375"/>
          </a:xfrm>
          <a:prstGeom prst="rect"/>
        </p:spPr>
        <p:txBody>
          <a:bodyPr wrap="none" lIns="0" tIns="0" rIns="0" bIns="0"/>
          <a:p>
            <a:pPr>
              <a:lnSpc>
                <a:spcPct val="100000"/>
              </a:lnSpc>
            </a:pPr>
            <a:r>
              <a:rPr lang="en-US" sz="2175" b="1">
                <a:solidFill>
                  <a:srgbClr val="0E3F8C"/>
                </a:solidFill>
                <a:latin typeface="Microsoft YaHei"/>
                <a:ea typeface="Microsoft YaHei"/>
              </a:rPr>
              <a:t>Finding Attributes</a:t>
            </a:r>
            <a:endParaRPr/>
          </a:p>
        </p:txBody>
      </p:sp>
      <p:sp>
        <p:nvSpPr>
          <p:cNvPr id="320"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22 / 39</a:t>
            </a:r>
            <a:endParaRPr/>
          </a:p>
        </p:txBody>
      </p:sp>
      <p:graphicFrame>
        <p:nvGraphicFramePr>
          <p:cNvPr id="321" name=""/>
          <p:cNvGraphicFramePr/>
          <p:nvPr/>
        </p:nvGraphicFramePr>
        <p:xfrm rot="0" flipH="0" flipV="0">
          <a:off x="381000" y="1238250"/>
          <a:ext cx="11430000" cy="5181600"/>
        </p:xfrm>
        <a:graphic>
          <a:graphicData uri="http://schemas.openxmlformats.org/drawingml/2006/table">
            <a:tbl>
              <a:tblGrid>
                <a:gridCol w="941090">
                  <a:extLst>
                    <a:ext uri="{9D8B030D-6E8A-4147-A177-3AD203B41FA5}">
                      <a16:colId val="1"/>
                    </a:ext>
                  </a:extLst>
                </a:gridCol>
                <a:gridCol w="2213875">
                  <a:extLst>
                    <a:ext uri="{9D8B030D-6E8A-4147-A177-3AD203B41FA5}">
                      <a16:colId val="2"/>
                    </a:ext>
                  </a:extLst>
                </a:gridCol>
                <a:gridCol w="2532072">
                  <a:extLst>
                    <a:ext uri="{9D8B030D-6E8A-4147-A177-3AD203B41FA5}">
                      <a16:colId val="3"/>
                    </a:ext>
                  </a:extLst>
                </a:gridCol>
                <a:gridCol w="5742963">
                  <a:extLst>
                    <a:ext uri="{9D8B030D-6E8A-4147-A177-3AD203B41FA5}">
                      <a16:colId val="4"/>
                    </a:ext>
                  </a:extLst>
                </a:gridCol>
              </a:tblGrid>
              <a:tr h="782689">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Candidate</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Attribute of</a:t>
                      </a:r>
                      <a:endParaRPr/>
                    </a:p>
                  </a:txBody>
                  <a:tcPr marL="45720" marR="45720" marT="45720" marB="45720" anchor="ctr">
                    <a:lnL>
                      <a:noFill/>
                    </a:lnL>
                    <a:lnR>
                      <a:noFill/>
                    </a:lnR>
                    <a:lnT>
                      <a:noFill/>
                    </a:lnT>
                    <a:lnB>
                      <a:noFill/>
                    </a:lnB>
                    <a:solidFill>
                      <a:srgbClr val="996F00"/>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Type worth using</a:t>
                      </a:r>
                      <a:endParaRPr/>
                    </a:p>
                  </a:txBody>
                  <a:tcPr marL="45720" marR="45720" marT="45720" marB="45720" anchor="ctr">
                    <a:lnL>
                      <a:noFill/>
                    </a:lnL>
                    <a:lnR>
                      <a:noFill/>
                    </a:lnR>
                    <a:lnT>
                      <a:noFill/>
                    </a:lnT>
                    <a:lnB>
                      <a:noFill/>
                    </a:lnB>
                    <a:solidFill>
                      <a:srgbClr val="1E4FA8"/>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Note</a:t>
                      </a:r>
                      <a:endParaRPr/>
                    </a:p>
                  </a:txBody>
                  <a:tcPr marL="45720" marR="45720" marT="45720" marB="45720" anchor="ctr">
                    <a:lnL>
                      <a:noFill/>
                    </a:lnL>
                    <a:lnR>
                      <a:noFill/>
                    </a:lnR>
                    <a:lnT>
                      <a:noFill/>
                    </a:lnT>
                    <a:lnB>
                      <a:noFill/>
                    </a:lnB>
                    <a:solidFill>
                      <a:srgbClr val="2B5793"/>
                    </a:solidFill>
                  </a:tcPr>
                </a:tc>
                <a:extLst>
                  <a:ext uri="{0D108BD9-81ED-4DB2-BD59-A6C34878D82A}">
                    <a16:rowId val="1"/>
                  </a:ext>
                </a:extLst>
              </a:tr>
              <a:tr h="733152">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order number</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Order</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String, or Money if arithmetic happens to it</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Namespaced by restaurant — CB-20419, not 20419.</a:t>
                      </a:r>
                      <a:endParaRPr/>
                    </a:p>
                  </a:txBody>
                  <a:tcPr marL="45720" marR="45720" marT="45720" marB="45720" anchor="ctr">
                    <a:lnL>
                      <a:noFill/>
                    </a:lnL>
                    <a:lnR>
                      <a:noFill/>
                    </a:lnR>
                    <a:lnT>
                      <a:noFill/>
                    </a:lnT>
                    <a:lnB>
                      <a:noFill/>
                    </a:lnB>
                    <a:solidFill>
                      <a:srgbClr val="F7F9FC"/>
                    </a:solidFill>
                  </a:tcPr>
                </a:tc>
                <a:extLst>
                  <a:ext uri="{0D108BD9-81ED-4DB2-BD59-A6C34878D82A}">
                    <a16:rowId val="2"/>
                  </a:ext>
                </a:extLst>
              </a:tr>
              <a:tr h="733152">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state</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Order</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String, with a fixed list of values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Accepted · Scheduled · Pending Payment · Cancelled. W09 turns this into a state machine.</a:t>
                      </a:r>
                      <a:endParaRPr/>
                    </a:p>
                  </a:txBody>
                  <a:tcPr marL="45720" marR="45720" marT="45720" marB="45720" anchor="ctr">
                    <a:lnL>
                      <a:noFill/>
                    </a:lnL>
                    <a:lnR>
                      <a:noFill/>
                    </a:lnR>
                    <a:lnT>
                      <a:noFill/>
                    </a:lnT>
                    <a:lnB>
                      <a:noFill/>
                    </a:lnB>
                  </a:tcPr>
                </a:tc>
                <a:extLst>
                  <a:ext uri="{0D108BD9-81ED-4DB2-BD59-A6C34878D82A}">
                    <a16:rowId val="3"/>
                  </a:ext>
                </a:extLst>
              </a:tr>
              <a:tr h="733152">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quantity</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OrderLine — not Order</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Integer</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Quantity belongs to a line. Two burgers is not a property of the order.</a:t>
                      </a:r>
                      <a:endParaRPr/>
                    </a:p>
                  </a:txBody>
                  <a:tcPr marL="45720" marR="45720" marT="45720" marB="45720" anchor="ctr">
                    <a:lnL>
                      <a:noFill/>
                    </a:lnL>
                    <a:lnR>
                      <a:noFill/>
                    </a:lnR>
                    <a:lnT>
                      <a:noFill/>
                    </a:lnT>
                    <a:lnB>
                      <a:noFill/>
                    </a:lnB>
                    <a:solidFill>
                      <a:srgbClr val="F7F9FC"/>
                    </a:solidFill>
                  </a:tcPr>
                </a:tc>
                <a:extLst>
                  <a:ext uri="{0D108BD9-81ED-4DB2-BD59-A6C34878D82A}">
                    <a16:rowId val="4"/>
                  </a:ext>
                </a:extLst>
              </a:tr>
              <a:tr h="733152">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price</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MenuItem</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Money</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Never a float. This is a modelling decision, not a code one.</a:t>
                      </a:r>
                      <a:endParaRPr/>
                    </a:p>
                  </a:txBody>
                  <a:tcPr marL="45720" marR="45720" marT="45720" marB="45720" anchor="ctr">
                    <a:lnL>
                      <a:noFill/>
                    </a:lnL>
                    <a:lnR>
                      <a:noFill/>
                    </a:lnR>
                    <a:lnT>
                      <a:noFill/>
                    </a:lnT>
                    <a:lnB>
                      <a:noFill/>
                    </a:lnB>
                  </a:tcPr>
                </a:tc>
                <a:extLst>
                  <a:ext uri="{0D108BD9-81ED-4DB2-BD59-A6C34878D82A}">
                    <a16:rowId val="5"/>
                  </a:ext>
                </a:extLst>
              </a:tr>
              <a:tr h="733152">
                <a:tc>
                  <a:txBody>
                    <a:bodyPr wrap="square" lIns="0" tIns="0" rIns="0" bIns="0" anchor="ctr">
                      <a:normAutofit/>
                    </a:bodyPr>
                    <a:p>
                      <a:pPr marL="114300" marR="114300" algn="l">
                        <a:lnSpc>
                          <a:spcPct val="120000"/>
                        </a:lnSpc>
                      </a:pPr>
                      <a:r>
                        <a:rPr sz="1013" b="1">
                          <a:solidFill>
                            <a:srgbClr val="0E3F8C"/>
                          </a:solidFill>
                          <a:latin typeface="Microsoft YaHei"/>
                          <a:ea typeface="Microsoft YaHei"/>
                        </a:rPr>
                        <a:t>isAvailable</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MenuItem and Courier</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Boolean</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Two classes can share an attribute name. That is not duplication.</a:t>
                      </a:r>
                      <a:endParaRPr/>
                    </a:p>
                  </a:txBody>
                  <a:tcPr marL="45720" marR="45720" marT="45720" marB="45720" anchor="ctr">
                    <a:lnL>
                      <a:noFill/>
                    </a:lnL>
                    <a:lnR>
                      <a:noFill/>
                    </a:lnR>
                    <a:lnT>
                      <a:noFill/>
                    </a:lnT>
                    <a:lnB>
                      <a:noFill/>
                    </a:lnB>
                    <a:solidFill>
                      <a:srgbClr val="F7F9FC"/>
                    </a:solidFill>
                  </a:tcPr>
                </a:tc>
                <a:extLst>
                  <a:ext uri="{0D108BD9-81ED-4DB2-BD59-A6C34878D82A}">
                    <a16:rowId val="6"/>
                  </a:ext>
                </a:extLst>
              </a:tr>
              <a:tr h="733152">
                <a:tc>
                  <a:txBody>
                    <a:bodyPr wrap="square" lIns="0" tIns="0" rIns="0" bIns="0" anchor="ctr">
                      <a:normAutofit/>
                    </a:bodyPr>
                    <a:p>
                      <a:pPr marL="114300" marR="114300" algn="l">
                        <a:lnSpc>
                          <a:spcPct val="120000"/>
                        </a:lnSpc>
                      </a:pPr>
                      <a:r>
                        <a:rPr sz="1013" b="1">
                          <a:solidFill>
                            <a:srgbClr val="D9534F"/>
                          </a:solidFill>
                          <a:latin typeface="Microsoft YaHei"/>
                          <a:ea typeface="Microsoft YaHei"/>
                        </a:rPr>
                        <a:t>Two traps</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“order total” — derived from the lines</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Decide deliberately: store it, or calculate it</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13">
                          <a:solidFill>
                            <a:srgbClr val="4A5568"/>
                          </a:solidFill>
                          <a:latin typeface="Microsoft YaHei"/>
                          <a:ea typeface="Microsoft YaHei"/>
                        </a:rPr>
                        <a:t>“createdAt / updatedAt / deletedAt” — audit columns are an implementation decision, not analysis.</a:t>
                      </a:r>
                      <a:endParaRPr/>
                    </a:p>
                  </a:txBody>
                  <a:tcPr marL="45720" marR="45720" marT="45720" marB="45720" anchor="ctr">
                    <a:lnL>
                      <a:noFill/>
                    </a:lnL>
                    <a:lnR>
                      <a:noFill/>
                    </a:lnR>
                    <a:lnT>
                      <a:noFill/>
                    </a:lnT>
                    <a:lnB>
                      <a:noFill/>
                    </a:lnB>
                    <a:solidFill>
                      <a:srgbClr val="F7F9FC"/>
                    </a:solidFill>
                  </a:tcPr>
                </a:tc>
                <a:extLst>
                  <a:ext uri="{0D108BD9-81ED-4DB2-BD59-A6C34878D82A}">
                    <a16:rowId val="7"/>
                  </a:ext>
                </a:extLst>
              </a:tr>
            </a:tbl>
          </a:graphicData>
        </a:graphic>
      </p:graphicFrame>
      <p:sp>
        <p:nvSpPr>
          <p:cNvPr id="322" name=""/>
          <p:cNvSpPr/>
          <p:nvPr/>
        </p:nvSpPr>
        <p:spPr>
          <a:xfrm rot="0" flipH="0" flipV="0">
            <a:off x="0" y="6419850"/>
            <a:ext cx="12192000" cy="438150"/>
          </a:xfrm>
          <a:prstGeom prst="rect">
            <a:avLst/>
          </a:prstGeom>
          <a:solidFill>
            <a:srgbClr val="0E3F8C"/>
          </a:solidFill>
          <a:ln/>
        </p:spPr>
        <p:txBody>
          <a:bodyPr/>
          <a:p/>
        </p:txBody>
      </p:sp>
      <p:sp>
        <p:nvSpPr>
          <p:cNvPr id="323" name="" descr="{&quot;isTemplate&quot;:true,&quot;type&quot;:&quot;text&quot;}"/>
          <p:cNvSpPr txBox="1"/>
          <p:nvPr/>
        </p:nvSpPr>
        <p:spPr>
          <a:xfrm rot="0" flipH="0" flipV="0">
            <a:off x="2543175" y="6543675"/>
            <a:ext cx="7115175" cy="190500"/>
          </a:xfrm>
          <a:prstGeom prst="rect"/>
        </p:spPr>
        <p:txBody>
          <a:bodyPr wrap="none" lIns="0" tIns="0" rIns="0" bIns="0"/>
          <a:p>
            <a:pPr>
              <a:lnSpc>
                <a:spcPct val="100000"/>
              </a:lnSpc>
            </a:pPr>
            <a:r>
              <a:rPr lang="en-US" sz="1238" b="1">
                <a:solidFill>
                  <a:srgbClr val="FFFFFF"/>
                </a:solidFill>
                <a:latin typeface="Microsoft YaHei"/>
                <a:ea typeface="Microsoft YaHei"/>
              </a:rPr>
              <a:t>Derived values are a decision, not an accident. Say out loud whether you store it or calculate it.</a:t>
            </a:r>
            <a:endParaRPr/>
          </a:p>
        </p:txBody>
      </p:sp>
    </p:spTree>
  </p:cSld>
</p:sld>
</file>

<file path=ppt/slides/slide23.xml><?xml version="1.0" encoding="utf-8"?>
<p:sld xmlns:p="http://schemas.openxmlformats.org/presentationml/2006/main" xmlns:a="http://schemas.openxmlformats.org/drawingml/2006/main">
  <p:cSld>
    <p:spTree>
      <p:nvGrpSpPr>
        <p:cNvPr id="324"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6 · ATTRIBUTES AND OPERATIONS&lt;/Text&gt;&#10;  &lt;/Box&gt;&#10;  &lt;Box style={{ padding: '13px 40px 0 40px', flexDirection: 'row', alignItems: 'center', justifyContent: 'space-between' }}&gt;&#10;    &lt;Text style={{ fontSize: 29, fontWeight: 'bold', color: '#0E3F8C' }}&gt;Operations Are Not Steps&lt;/Text&gt;&#10;    &lt;Text style={{ fontSize: 14, color: '#1E4FA8', fontWeight: 'bold' }}&gt;23 / 39&lt;/Text&gt;&#10;  &lt;/Box&gt;&#10;  &lt;Box style={{ flex: 1, padding: '10px 40px 0 40px', flexDirection: 'row', gap: 26 }}&gt;&#10;    &lt;Box style={{ flex: 1, flexDirection: 'column', gap: 12 }}&gt;&#10;      &lt;Box style={{ padding: '12px 18px', background: '#F0F5FC', borderRadius: 9 }}&gt;&#10;        &lt;Text style={{ fontSize: 16, fontWeight: 'bold', color: '#0E3F8C' }}&gt;Two kinds of operation&lt;/Text&gt;&#10;      &lt;/Box&gt;&#10;      &lt;Box style={{ padding: '16px 18px', background: '#FFFFFF', borderRadius: 9, border: '1px solid #D6DCE5' }}&gt;&#10;        &lt;Text style={{ fontSize: 14.5, fontWeight: 'bold', color: '#2B7A3D' }}&gt;Instance — about one object&lt;/Text&gt;&#10;        &lt;Text style={{ fontSize: 13, color: '#4A5568', lineHeight: 1.65, marginTop: 6 }}&gt;&#10;          Order.cancel(reason)&lt;br /&gt;&#10;          OrderLine.lineTotal()&lt;br /&gt;&#10;          Courier.isAvailableAt(time)&#10;        &lt;/Text&gt;&#10;        &lt;Text style={{ fontSize: 12.5, color: '#8B97A8', marginTop: 8 }}&gt;&#10;          The object in the name is the one being asked.&#10;        &lt;/Text&gt;&#10;      &lt;/Box&gt;&#10;      &lt;Box style={{ padding: '16px 18px', background: '#FFFFFF', borderRadius: 9, border: '1px solid #D6DCE5' }}&gt;&#10;        &lt;Text style={{ fontSize: 14.5, fontWeight: 'bold', color: '#1E4FA8' }}&gt;Collection — about many objects&lt;/Text&gt;&#10;        &lt;Text style={{ fontSize: 13, color: '#4A5568', lineHeight: 1.65, marginTop: 6 }}&gt;&#10;          Order.findOpenFor(student)&lt;br /&gt;&#10;          MenuItem.availableAt(time)&lt;br /&gt;&#10;          Courier.nearestTo(building)&#10;        &lt;/Text&gt;&#10;        &lt;Text style={{ fontSize: 12.5, color: '#8B97A8', marginTop: 8 }}&gt;&#10;          These belong to the control class or to a collection — never to a single instance.&#10;        &lt;/Text&gt;&#10;      &lt;/Box&gt;&#10;    &lt;/Box&gt;&#10;    &lt;Box style={{ width: 130, justifyContent: 'center', alignItems: 'center' }}&gt;&#10;      &lt;Box style={{ width: 54, height: 54, borderRadius: 27, background: '#1E4FA8', justifyContent: 'center', alignItems: 'center' }}&gt;&#10;        &lt;Text style={{ fontSize: 26, color: '#FFFFFF', fontWeight: 'bold' }}&gt;→&lt;/Text&gt;&#10;      &lt;/Box&gt;&#10;    &lt;/Box&gt;&#10;    &lt;Box style={{ flex: 1, flexDirection: 'column', justifyContent: 'center', gap: 13 }}&gt;&#10;      &lt;Box style={{ padding: '15px 17px', background: '#FDF3F3', borderRadius: 9, borderLeft: '4px solid #D9534F' }}&gt;&#10;        &lt;Text style={{ fontSize: 16, fontWeight: 'bold', color: '#D9534F' }}&gt;The step-to-operation trap&lt;/Text&gt;&#10;        &lt;Text style={{ fontSize: 13, color: '#4A5568', lineHeight: 1.6, marginTop: 5 }}&gt;&#10;          W05 step 5 was “the system creates the order in state Accepted”. That is one sentence, not one operation. Creating an order involves the Order and the Payment.&#10;        &lt;/Text&gt;&#10;      &lt;/Box&gt;&#10;      &lt;Box style={{ padding: '15px 17px', background: '#FFF6E0', borderRadius: 9, borderLeft: '4px solid #FFC107' }}&gt;&#10;        &lt;Text style={{ fontSize: 16, fontWeight: 'bold', color: '#996F00' }}&gt;Two operations, one sentence&lt;/Text&gt;&#10;        &lt;Text style={{ fontSize: 13, color: '#4A5568', lineHeight: 1.6, marginTop: 5 }}&gt;&#10;          An operation should be one responsibility. If the name contains “and”, split it — that is the signal, not the judgement.&#10;        &lt;/Text&gt;&#10;      &lt;/Box&gt;&#10;      &lt;Box style={{ padding: '15px 17px', background: '#EAF6EC', borderRadius: 9, borderLeft: '4px solid #2B7A3D' }}&gt;&#10;        &lt;Text style={{ fontSize: 16, fontWeight: 'bold', color: '#2B7A3D' }}&gt;So what do you do with the steps?&lt;/Text&gt;&#10;        &lt;Text style={{ fontSize: 13, color: '#4A5568', lineHeight: 1.6, marginTop: 5 }}&gt;&#10;          The steps stay in the specification. In this week’s model you write only the operations the nouns support — the rest is W08 and W10.&#10;        &lt;/Text&gt;&#10;      &lt;/Box&gt;&#10;      &lt;Box style={{ padding: '12px 16px', background: '#F7F9FC', borderRadius: 8, border: '1px dashed #D6DCE5' }}&gt;&#10;        &lt;Text style={{ fontSize: 12.5, color: '#8B97A8', lineHeight: 1.55 }}&gt;&#10;          Resist the urge to write every operation you can think of. Three honest operations beat twelve speculative ones.&#10;        &lt;/Text&gt;&#10;      &lt;/Box&gt;&#10;    &lt;/Box&gt;&#10;  &lt;/Box&gt;&#10;  &lt;Box style={{ height: 34, padding: '0 40px', flexDirection: 'row', alignItems: 'center', justifyContent: 'space-between' }}&gt;&#10;    &lt;Text style={{ fontSize: 13, color: '#8B97A8' }}&gt;ISAD · Fall 2026 · One operation, one responsibility. If the name contains “and”, you have not finished deciding yet&lt;/Text&gt;&#10;    &lt;Text style={{ fontSize: 14, color: '#1E4FA8', fontWeight: 'bold' }}&gt;23 / 39&lt;/Text&gt;&#10;  &lt;/Box&gt;&#10;&lt;/Slide&gt;&#10;"/>
        <p:cNvGrpSpPr/>
        <p:nvPr/>
      </p:nvGrpSpPr>
      <p:grpSpPr>
        <a:xfrm>
          <a:off x="0" y="0"/>
          <a:ext cx="0" cy="0"/>
          <a:chOff x="0" y="0"/>
          <a:chExt cx="0" cy="0"/>
        </a:xfrm>
      </p:grpSpPr>
      <p:sp>
        <p:nvSpPr>
          <p:cNvPr id="325" name=""/>
          <p:cNvSpPr/>
          <p:nvPr/>
        </p:nvSpPr>
        <p:spPr>
          <a:xfrm rot="0" flipH="0" flipV="0">
            <a:off x="0" y="0"/>
            <a:ext cx="12192000" cy="6858000"/>
          </a:xfrm>
          <a:prstGeom prst="rect">
            <a:avLst/>
          </a:prstGeom>
          <a:solidFill>
            <a:srgbClr val="FFFFFF"/>
          </a:solidFill>
          <a:ln/>
        </p:spPr>
        <p:txBody>
          <a:bodyPr/>
          <a:p/>
        </p:txBody>
      </p:sp>
      <p:sp>
        <p:nvSpPr>
          <p:cNvPr id="326" name=""/>
          <p:cNvSpPr/>
          <p:nvPr/>
        </p:nvSpPr>
        <p:spPr>
          <a:xfrm rot="0" flipH="0" flipV="0">
            <a:off x="0" y="0"/>
            <a:ext cx="12192000" cy="685800"/>
          </a:xfrm>
          <a:prstGeom prst="rect">
            <a:avLst/>
          </a:prstGeom>
          <a:solidFill>
            <a:srgbClr val="1E4FA8"/>
          </a:solidFill>
          <a:ln/>
        </p:spPr>
        <p:txBody>
          <a:bodyPr/>
          <a:p/>
        </p:txBody>
      </p:sp>
      <p:sp>
        <p:nvSpPr>
          <p:cNvPr id="327"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328" name="" descr="{&quot;isTemplate&quot;:true,&quot;type&quot;:&quot;text&quot;}"/>
          <p:cNvSpPr txBox="1"/>
          <p:nvPr/>
        </p:nvSpPr>
        <p:spPr>
          <a:xfrm rot="0" flipH="0" flipV="0">
            <a:off x="9201150" y="257175"/>
            <a:ext cx="2609850" cy="171450"/>
          </a:xfrm>
          <a:prstGeom prst="rect"/>
        </p:spPr>
        <p:txBody>
          <a:bodyPr wrap="none" lIns="0" tIns="0" rIns="0" bIns="0"/>
          <a:p>
            <a:pPr>
              <a:lnSpc>
                <a:spcPct val="100000"/>
              </a:lnSpc>
            </a:pPr>
            <a:r>
              <a:rPr lang="en-US" sz="1125">
                <a:solidFill>
                  <a:srgbClr val="B9CDF0"/>
                </a:solidFill>
                <a:latin typeface="Microsoft YaHei"/>
                <a:ea typeface="Microsoft YaHei"/>
              </a:rPr>
              <a:t>W06 · ATTRIBUTES AND OPERATIONS</a:t>
            </a:r>
            <a:endParaRPr/>
          </a:p>
        </p:txBody>
      </p:sp>
      <p:sp>
        <p:nvSpPr>
          <p:cNvPr id="329" name="" descr="{&quot;isTemplate&quot;:true,&quot;type&quot;:&quot;text&quot;}"/>
          <p:cNvSpPr txBox="1"/>
          <p:nvPr/>
        </p:nvSpPr>
        <p:spPr>
          <a:xfrm rot="0" flipH="0" flipV="0">
            <a:off x="381000" y="809625"/>
            <a:ext cx="3362325" cy="333375"/>
          </a:xfrm>
          <a:prstGeom prst="rect"/>
        </p:spPr>
        <p:txBody>
          <a:bodyPr wrap="none" lIns="0" tIns="0" rIns="0" bIns="0"/>
          <a:p>
            <a:pPr>
              <a:lnSpc>
                <a:spcPct val="100000"/>
              </a:lnSpc>
            </a:pPr>
            <a:r>
              <a:rPr lang="en-US" sz="2175" b="1">
                <a:solidFill>
                  <a:srgbClr val="0E3F8C"/>
                </a:solidFill>
                <a:latin typeface="Microsoft YaHei"/>
                <a:ea typeface="Microsoft YaHei"/>
              </a:rPr>
              <a:t>Operations Are Not Steps</a:t>
            </a:r>
            <a:endParaRPr/>
          </a:p>
        </p:txBody>
      </p:sp>
      <p:sp>
        <p:nvSpPr>
          <p:cNvPr id="330"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23 / 39</a:t>
            </a:r>
            <a:endParaRPr/>
          </a:p>
        </p:txBody>
      </p:sp>
      <p:sp>
        <p:nvSpPr>
          <p:cNvPr id="331" name=""/>
          <p:cNvSpPr/>
          <p:nvPr/>
        </p:nvSpPr>
        <p:spPr>
          <a:xfrm rot="0" flipH="0" flipV="0">
            <a:off x="381000" y="1238250"/>
            <a:ext cx="4848225" cy="419100"/>
          </a:xfrm>
          <a:prstGeom prst="roundRect">
            <a:avLst>
              <a:gd name="adj" fmla="val 20455"/>
            </a:avLst>
          </a:prstGeom>
          <a:solidFill>
            <a:srgbClr val="F0F5FC"/>
          </a:solidFill>
          <a:ln/>
        </p:spPr>
        <p:txBody>
          <a:bodyPr/>
          <a:p/>
        </p:txBody>
      </p:sp>
      <p:sp>
        <p:nvSpPr>
          <p:cNvPr id="332" name="" descr="{&quot;isTemplate&quot;:true,&quot;type&quot;:&quot;text&quot;}"/>
          <p:cNvSpPr txBox="1"/>
          <p:nvPr/>
        </p:nvSpPr>
        <p:spPr>
          <a:xfrm rot="0" flipH="0" flipV="0">
            <a:off x="552450" y="1352550"/>
            <a:ext cx="4505325" cy="190500"/>
          </a:xfrm>
          <a:prstGeom prst="rect"/>
        </p:spPr>
        <p:txBody>
          <a:bodyPr wrap="none" lIns="0" tIns="0" rIns="0" bIns="0"/>
          <a:p>
            <a:pPr>
              <a:lnSpc>
                <a:spcPct val="100000"/>
              </a:lnSpc>
            </a:pPr>
            <a:r>
              <a:rPr lang="en-US" sz="1200" b="1">
                <a:solidFill>
                  <a:srgbClr val="0E3F8C"/>
                </a:solidFill>
                <a:latin typeface="Microsoft YaHei"/>
                <a:ea typeface="Microsoft YaHei"/>
              </a:rPr>
              <a:t>Two kinds of operation</a:t>
            </a:r>
            <a:endParaRPr/>
          </a:p>
        </p:txBody>
      </p:sp>
      <p:sp>
        <p:nvSpPr>
          <p:cNvPr id="333" name=""/>
          <p:cNvSpPr/>
          <p:nvPr/>
        </p:nvSpPr>
        <p:spPr>
          <a:xfrm rot="0" flipH="0" flipV="0">
            <a:off x="381000" y="1771650"/>
            <a:ext cx="4848225" cy="1495425"/>
          </a:xfrm>
          <a:prstGeom prst="roundRect">
            <a:avLst>
              <a:gd name="adj" fmla="val 5732"/>
            </a:avLst>
          </a:prstGeom>
          <a:solidFill>
            <a:srgbClr val="FFFFFF"/>
          </a:solidFill>
          <a:ln w="12700">
            <a:solidFill>
              <a:srgbClr val="D6DCE5"/>
            </a:solidFill>
            <a:prstDash val="solid"/>
          </a:ln>
        </p:spPr>
        <p:txBody>
          <a:bodyPr/>
          <a:p/>
        </p:txBody>
      </p:sp>
      <p:sp>
        <p:nvSpPr>
          <p:cNvPr id="334" name="" descr="{&quot;isTemplate&quot;:true,&quot;type&quot;:&quot;text&quot;}"/>
          <p:cNvSpPr txBox="1"/>
          <p:nvPr/>
        </p:nvSpPr>
        <p:spPr>
          <a:xfrm rot="0" flipH="0" flipV="0">
            <a:off x="552450" y="1924050"/>
            <a:ext cx="4505325" cy="171450"/>
          </a:xfrm>
          <a:prstGeom prst="rect"/>
        </p:spPr>
        <p:txBody>
          <a:bodyPr wrap="none" lIns="0" tIns="0" rIns="0" bIns="0"/>
          <a:p>
            <a:pPr>
              <a:lnSpc>
                <a:spcPct val="100000"/>
              </a:lnSpc>
            </a:pPr>
            <a:r>
              <a:rPr lang="en-US" sz="1088" b="1">
                <a:solidFill>
                  <a:srgbClr val="2B7A3D"/>
                </a:solidFill>
                <a:latin typeface="Microsoft YaHei"/>
                <a:ea typeface="Microsoft YaHei"/>
              </a:rPr>
              <a:t>Instance — about one object</a:t>
            </a:r>
            <a:endParaRPr/>
          </a:p>
        </p:txBody>
      </p:sp>
      <p:sp>
        <p:nvSpPr>
          <p:cNvPr id="335" name="" descr="{&quot;isTemplate&quot;:true,&quot;type&quot;:&quot;text&quot;}"/>
          <p:cNvSpPr txBox="1"/>
          <p:nvPr/>
        </p:nvSpPr>
        <p:spPr>
          <a:xfrm rot="0" flipH="0" flipV="0">
            <a:off x="552450" y="2152650"/>
            <a:ext cx="4505325" cy="742950"/>
          </a:xfrm>
          <a:prstGeom prst="rect"/>
        </p:spPr>
        <p:txBody>
          <a:bodyPr wrap="none" lIns="0" tIns="0" rIns="0" bIns="0"/>
          <a:p>
            <a:pPr>
              <a:lnSpc>
                <a:spcPct val="165000"/>
              </a:lnSpc>
            </a:pPr>
            <a:r>
              <a:rPr lang="en-US" sz="975">
                <a:solidFill>
                  <a:srgbClr val="4A5568"/>
                </a:solidFill>
                <a:latin typeface="Microsoft YaHei"/>
                <a:ea typeface="Microsoft YaHei"/>
              </a:rPr>
              <a:t>Order.cancel(reason)</a:t>
            </a:r>
            <a:endParaRPr/>
          </a:p>
          <a:p>
            <a:pPr>
              <a:lnSpc>
                <a:spcPct val="165000"/>
              </a:lnSpc>
            </a:pPr>
            <a:r>
              <a:rPr lang="en-US" sz="975">
                <a:solidFill>
                  <a:srgbClr val="4A5568"/>
                </a:solidFill>
                <a:latin typeface="Microsoft YaHei"/>
                <a:ea typeface="Microsoft YaHei"/>
              </a:rPr>
              <a:t>OrderLine.lineTotal()</a:t>
            </a:r>
            <a:endParaRPr/>
          </a:p>
          <a:p>
            <a:pPr>
              <a:lnSpc>
                <a:spcPct val="165000"/>
              </a:lnSpc>
            </a:pPr>
            <a:r>
              <a:rPr lang="en-US" sz="975">
                <a:solidFill>
                  <a:srgbClr val="4A5568"/>
                </a:solidFill>
                <a:latin typeface="Microsoft YaHei"/>
                <a:ea typeface="Microsoft YaHei"/>
              </a:rPr>
              <a:t>Courier.isAvailableAt(time)</a:t>
            </a:r>
            <a:endParaRPr/>
          </a:p>
        </p:txBody>
      </p:sp>
      <p:sp>
        <p:nvSpPr>
          <p:cNvPr id="336" name="" descr="{&quot;isTemplate&quot;:true,&quot;type&quot;:&quot;text&quot;}"/>
          <p:cNvSpPr txBox="1"/>
          <p:nvPr/>
        </p:nvSpPr>
        <p:spPr>
          <a:xfrm rot="0" flipH="0" flipV="0">
            <a:off x="552450" y="2971800"/>
            <a:ext cx="4505325" cy="142875"/>
          </a:xfrm>
          <a:prstGeom prst="rect"/>
        </p:spPr>
        <p:txBody>
          <a:bodyPr wrap="none" lIns="0" tIns="0" rIns="0" bIns="0"/>
          <a:p>
            <a:pPr>
              <a:lnSpc>
                <a:spcPct val="100000"/>
              </a:lnSpc>
            </a:pPr>
            <a:r>
              <a:rPr lang="en-US" sz="938">
                <a:solidFill>
                  <a:srgbClr val="8B97A8"/>
                </a:solidFill>
                <a:latin typeface="Microsoft YaHei"/>
                <a:ea typeface="Microsoft YaHei"/>
              </a:rPr>
              <a:t>The object in the name is the one being asked.</a:t>
            </a:r>
            <a:endParaRPr/>
          </a:p>
        </p:txBody>
      </p:sp>
      <p:sp>
        <p:nvSpPr>
          <p:cNvPr id="337" name=""/>
          <p:cNvSpPr/>
          <p:nvPr/>
        </p:nvSpPr>
        <p:spPr>
          <a:xfrm rot="0" flipH="0" flipV="0">
            <a:off x="381000" y="3381375"/>
            <a:ext cx="4848225" cy="1495425"/>
          </a:xfrm>
          <a:prstGeom prst="roundRect">
            <a:avLst>
              <a:gd name="adj" fmla="val 5732"/>
            </a:avLst>
          </a:prstGeom>
          <a:solidFill>
            <a:srgbClr val="FFFFFF"/>
          </a:solidFill>
          <a:ln w="12700">
            <a:solidFill>
              <a:srgbClr val="D6DCE5"/>
            </a:solidFill>
            <a:prstDash val="solid"/>
          </a:ln>
        </p:spPr>
        <p:txBody>
          <a:bodyPr/>
          <a:p/>
        </p:txBody>
      </p:sp>
      <p:sp>
        <p:nvSpPr>
          <p:cNvPr id="338" name="" descr="{&quot;isTemplate&quot;:true,&quot;type&quot;:&quot;text&quot;}"/>
          <p:cNvSpPr txBox="1"/>
          <p:nvPr/>
        </p:nvSpPr>
        <p:spPr>
          <a:xfrm rot="0" flipH="0" flipV="0">
            <a:off x="552450" y="3533775"/>
            <a:ext cx="4505325" cy="171450"/>
          </a:xfrm>
          <a:prstGeom prst="rect"/>
        </p:spPr>
        <p:txBody>
          <a:bodyPr wrap="none" lIns="0" tIns="0" rIns="0" bIns="0"/>
          <a:p>
            <a:pPr>
              <a:lnSpc>
                <a:spcPct val="100000"/>
              </a:lnSpc>
            </a:pPr>
            <a:r>
              <a:rPr lang="en-US" sz="1088" b="1">
                <a:solidFill>
                  <a:srgbClr val="1E4FA8"/>
                </a:solidFill>
                <a:latin typeface="Microsoft YaHei"/>
                <a:ea typeface="Microsoft YaHei"/>
              </a:rPr>
              <a:t>Collection — about many objects</a:t>
            </a:r>
            <a:endParaRPr/>
          </a:p>
        </p:txBody>
      </p:sp>
      <p:sp>
        <p:nvSpPr>
          <p:cNvPr id="339" name="" descr="{&quot;isTemplate&quot;:true,&quot;type&quot;:&quot;text&quot;}"/>
          <p:cNvSpPr txBox="1"/>
          <p:nvPr/>
        </p:nvSpPr>
        <p:spPr>
          <a:xfrm rot="0" flipH="0" flipV="0">
            <a:off x="552450" y="3762375"/>
            <a:ext cx="4505325" cy="742950"/>
          </a:xfrm>
          <a:prstGeom prst="rect"/>
        </p:spPr>
        <p:txBody>
          <a:bodyPr wrap="none" lIns="0" tIns="0" rIns="0" bIns="0"/>
          <a:p>
            <a:pPr>
              <a:lnSpc>
                <a:spcPct val="165000"/>
              </a:lnSpc>
            </a:pPr>
            <a:r>
              <a:rPr lang="en-US" sz="975">
                <a:solidFill>
                  <a:srgbClr val="4A5568"/>
                </a:solidFill>
                <a:latin typeface="Microsoft YaHei"/>
                <a:ea typeface="Microsoft YaHei"/>
              </a:rPr>
              <a:t>Order.findOpenFor(student)</a:t>
            </a:r>
            <a:endParaRPr/>
          </a:p>
          <a:p>
            <a:pPr>
              <a:lnSpc>
                <a:spcPct val="165000"/>
              </a:lnSpc>
            </a:pPr>
            <a:r>
              <a:rPr lang="en-US" sz="975">
                <a:solidFill>
                  <a:srgbClr val="4A5568"/>
                </a:solidFill>
                <a:latin typeface="Microsoft YaHei"/>
                <a:ea typeface="Microsoft YaHei"/>
              </a:rPr>
              <a:t>MenuItem.availableAt(time)</a:t>
            </a:r>
            <a:endParaRPr/>
          </a:p>
          <a:p>
            <a:pPr>
              <a:lnSpc>
                <a:spcPct val="165000"/>
              </a:lnSpc>
            </a:pPr>
            <a:r>
              <a:rPr lang="en-US" sz="975">
                <a:solidFill>
                  <a:srgbClr val="4A5568"/>
                </a:solidFill>
                <a:latin typeface="Microsoft YaHei"/>
                <a:ea typeface="Microsoft YaHei"/>
              </a:rPr>
              <a:t>Courier.nearestTo(building)</a:t>
            </a:r>
            <a:endParaRPr/>
          </a:p>
        </p:txBody>
      </p:sp>
      <p:sp>
        <p:nvSpPr>
          <p:cNvPr id="340" name="" descr="{&quot;isTemplate&quot;:true,&quot;type&quot;:&quot;text&quot;}"/>
          <p:cNvSpPr txBox="1"/>
          <p:nvPr/>
        </p:nvSpPr>
        <p:spPr>
          <a:xfrm rot="0" flipH="0" flipV="0">
            <a:off x="552450" y="4581525"/>
            <a:ext cx="4505325" cy="142875"/>
          </a:xfrm>
          <a:prstGeom prst="rect"/>
        </p:spPr>
        <p:txBody>
          <a:bodyPr wrap="none" lIns="0" tIns="0" rIns="0" bIns="0"/>
          <a:p>
            <a:pPr>
              <a:lnSpc>
                <a:spcPct val="100000"/>
              </a:lnSpc>
            </a:pPr>
            <a:r>
              <a:rPr lang="en-US" sz="938">
                <a:solidFill>
                  <a:srgbClr val="8B97A8"/>
                </a:solidFill>
                <a:latin typeface="Microsoft YaHei"/>
                <a:ea typeface="Microsoft YaHei"/>
              </a:rPr>
              <a:t>These belong to the control class or to a collection — never to a single instance.</a:t>
            </a:r>
            <a:endParaRPr/>
          </a:p>
        </p:txBody>
      </p:sp>
      <p:sp>
        <p:nvSpPr>
          <p:cNvPr id="341" name=""/>
          <p:cNvSpPr/>
          <p:nvPr/>
        </p:nvSpPr>
        <p:spPr>
          <a:xfrm rot="0" flipH="0" flipV="0">
            <a:off x="5838825" y="3629025"/>
            <a:ext cx="514350" cy="514350"/>
          </a:xfrm>
          <a:prstGeom prst="roundRect">
            <a:avLst>
              <a:gd name="adj" fmla="val 50000"/>
            </a:avLst>
          </a:prstGeom>
          <a:solidFill>
            <a:srgbClr val="1E4FA8"/>
          </a:solidFill>
          <a:ln/>
        </p:spPr>
        <p:txBody>
          <a:bodyPr/>
          <a:p/>
        </p:txBody>
      </p:sp>
      <p:sp>
        <p:nvSpPr>
          <p:cNvPr id="342" name="" descr="{&quot;isTemplate&quot;:true,&quot;type&quot;:&quot;text&quot;}"/>
          <p:cNvSpPr txBox="1"/>
          <p:nvPr/>
        </p:nvSpPr>
        <p:spPr>
          <a:xfrm rot="0" flipH="0" flipV="0">
            <a:off x="5972175" y="3733800"/>
            <a:ext cx="247650" cy="304800"/>
          </a:xfrm>
          <a:prstGeom prst="rect"/>
        </p:spPr>
        <p:txBody>
          <a:bodyPr wrap="none" lIns="0" tIns="0" rIns="0" bIns="0"/>
          <a:p>
            <a:pPr>
              <a:lnSpc>
                <a:spcPct val="100000"/>
              </a:lnSpc>
            </a:pPr>
            <a:r>
              <a:rPr sz="1950" b="1">
                <a:solidFill>
                  <a:srgbClr val="FFFFFF"/>
                </a:solidFill>
                <a:latin typeface="Microsoft YaHei"/>
                <a:ea typeface="Microsoft YaHei"/>
              </a:rPr>
              <a:t>→</a:t>
            </a:r>
            <a:endParaRPr/>
          </a:p>
        </p:txBody>
      </p:sp>
      <p:sp>
        <p:nvSpPr>
          <p:cNvPr id="343" name=""/>
          <p:cNvSpPr/>
          <p:nvPr/>
        </p:nvSpPr>
        <p:spPr>
          <a:xfrm rot="0" flipH="0" flipV="0">
            <a:off x="7000875" y="1743075"/>
            <a:ext cx="4848225" cy="1238250"/>
          </a:xfrm>
          <a:prstGeom prst="roundRect">
            <a:avLst>
              <a:gd name="adj" fmla="val 6923"/>
            </a:avLst>
          </a:prstGeom>
          <a:solidFill>
            <a:srgbClr val="FDF3F3"/>
          </a:solidFill>
          <a:ln/>
        </p:spPr>
        <p:txBody>
          <a:bodyPr/>
          <a:p/>
        </p:txBody>
      </p:sp>
      <p:sp>
        <p:nvSpPr>
          <p:cNvPr id="344" name=""/>
          <p:cNvSpPr/>
          <p:nvPr/>
        </p:nvSpPr>
        <p:spPr>
          <a:xfrm rot="0" flipH="0" flipV="0">
            <a:off x="7000875" y="1743075"/>
            <a:ext cx="4848225" cy="1238250"/>
          </a:xfrm>
          <a:custGeom>
            <a:pathLst>
              <a:path w="509" h="130">
                <a:moveTo>
                  <a:pt x="9" y="0"/>
                </a:moveTo>
                <a:cubicBezTo>
                  <a:pt x="6" y="0"/>
                  <a:pt x="4" y="2"/>
                  <a:pt x="4" y="5"/>
                </a:cubicBezTo>
                <a:lnTo>
                  <a:pt x="4" y="125"/>
                </a:lnTo>
                <a:cubicBezTo>
                  <a:pt x="4" y="127"/>
                  <a:pt x="6" y="129"/>
                  <a:pt x="8" y="130"/>
                </a:cubicBezTo>
                <a:cubicBezTo>
                  <a:pt x="4" y="130"/>
                  <a:pt x="0" y="126"/>
                  <a:pt x="0" y="121"/>
                </a:cubicBezTo>
                <a:lnTo>
                  <a:pt x="0" y="9"/>
                </a:lnTo>
                <a:cubicBezTo>
                  <a:pt x="0" y="4"/>
                  <a:pt x="4" y="0"/>
                  <a:pt x="9" y="0"/>
                </a:cubicBezTo>
                <a:close/>
              </a:path>
            </a:pathLst>
          </a:custGeom>
          <a:solidFill>
            <a:srgbClr val="D9534F"/>
          </a:solidFill>
          <a:ln/>
        </p:spPr>
        <p:txBody>
          <a:bodyPr/>
          <a:p/>
        </p:txBody>
      </p:sp>
      <p:sp>
        <p:nvSpPr>
          <p:cNvPr id="345" name="" descr="{&quot;isTemplate&quot;:true,&quot;type&quot;:&quot;text&quot;}"/>
          <p:cNvSpPr txBox="1"/>
          <p:nvPr/>
        </p:nvSpPr>
        <p:spPr>
          <a:xfrm rot="0" flipH="0" flipV="0">
            <a:off x="7162800" y="1885950"/>
            <a:ext cx="4486275" cy="190500"/>
          </a:xfrm>
          <a:prstGeom prst="rect"/>
        </p:spPr>
        <p:txBody>
          <a:bodyPr wrap="none" lIns="0" tIns="0" rIns="0" bIns="0"/>
          <a:p>
            <a:pPr>
              <a:lnSpc>
                <a:spcPct val="100000"/>
              </a:lnSpc>
            </a:pPr>
            <a:r>
              <a:rPr lang="en-US" sz="1200" b="1">
                <a:solidFill>
                  <a:srgbClr val="D9534F"/>
                </a:solidFill>
                <a:latin typeface="Microsoft YaHei"/>
                <a:ea typeface="Microsoft YaHei"/>
              </a:rPr>
              <a:t>The step-to-operation trap</a:t>
            </a:r>
            <a:endParaRPr/>
          </a:p>
        </p:txBody>
      </p:sp>
      <p:sp>
        <p:nvSpPr>
          <p:cNvPr id="346" name="" descr="{&quot;isTemplate&quot;:true,&quot;type&quot;:&quot;text&quot;}"/>
          <p:cNvSpPr txBox="1"/>
          <p:nvPr/>
        </p:nvSpPr>
        <p:spPr>
          <a:xfrm rot="0" flipH="0" flipV="0">
            <a:off x="7162800" y="2124075"/>
            <a:ext cx="4486275" cy="714375"/>
          </a:xfrm>
          <a:prstGeom prst="rect"/>
        </p:spPr>
        <p:txBody>
          <a:bodyPr wrap="square" lIns="0" tIns="0" rIns="0" bIns="0">
            <a:normAutofit/>
          </a:bodyPr>
          <a:p>
            <a:pPr>
              <a:lnSpc>
                <a:spcPct val="160000"/>
              </a:lnSpc>
            </a:pPr>
            <a:r>
              <a:rPr lang="en-US" sz="975">
                <a:solidFill>
                  <a:srgbClr val="4A5568"/>
                </a:solidFill>
                <a:latin typeface="Microsoft YaHei"/>
                <a:ea typeface="Microsoft YaHei"/>
              </a:rPr>
              <a:t>W05 step 5 was “the system creates the order in state Accepted”. That is one sentence, not one operation. Creating an order involves the Order and the Payment.</a:t>
            </a:r>
            <a:endParaRPr/>
          </a:p>
        </p:txBody>
      </p:sp>
      <p:sp>
        <p:nvSpPr>
          <p:cNvPr id="347" name=""/>
          <p:cNvSpPr/>
          <p:nvPr/>
        </p:nvSpPr>
        <p:spPr>
          <a:xfrm rot="0" flipH="0" flipV="0">
            <a:off x="7000875" y="3105150"/>
            <a:ext cx="4848225" cy="1000125"/>
          </a:xfrm>
          <a:prstGeom prst="roundRect">
            <a:avLst>
              <a:gd name="adj" fmla="val 8571"/>
            </a:avLst>
          </a:prstGeom>
          <a:solidFill>
            <a:srgbClr val="FFF6E0"/>
          </a:solidFill>
          <a:ln/>
        </p:spPr>
        <p:txBody>
          <a:bodyPr/>
          <a:p/>
        </p:txBody>
      </p:sp>
      <p:sp>
        <p:nvSpPr>
          <p:cNvPr id="348" name=""/>
          <p:cNvSpPr/>
          <p:nvPr/>
        </p:nvSpPr>
        <p:spPr>
          <a:xfrm rot="0" flipH="0" flipV="0">
            <a:off x="7000875" y="3105150"/>
            <a:ext cx="4848225" cy="1000125"/>
          </a:xfrm>
          <a:custGeom>
            <a:pathLst>
              <a:path w="509" h="105">
                <a:moveTo>
                  <a:pt x="9" y="0"/>
                </a:moveTo>
                <a:cubicBezTo>
                  <a:pt x="6" y="0"/>
                  <a:pt x="4" y="2"/>
                  <a:pt x="4" y="5"/>
                </a:cubicBezTo>
                <a:lnTo>
                  <a:pt x="4" y="100"/>
                </a:lnTo>
                <a:cubicBezTo>
                  <a:pt x="4" y="102"/>
                  <a:pt x="6" y="104"/>
                  <a:pt x="8" y="105"/>
                </a:cubicBezTo>
                <a:cubicBezTo>
                  <a:pt x="4" y="105"/>
                  <a:pt x="0" y="101"/>
                  <a:pt x="0" y="96"/>
                </a:cubicBezTo>
                <a:lnTo>
                  <a:pt x="0" y="9"/>
                </a:lnTo>
                <a:cubicBezTo>
                  <a:pt x="0" y="4"/>
                  <a:pt x="4" y="0"/>
                  <a:pt x="9" y="0"/>
                </a:cubicBezTo>
                <a:close/>
              </a:path>
            </a:pathLst>
          </a:custGeom>
          <a:solidFill>
            <a:srgbClr val="FFC107"/>
          </a:solidFill>
          <a:ln/>
        </p:spPr>
        <p:txBody>
          <a:bodyPr/>
          <a:p/>
        </p:txBody>
      </p:sp>
      <p:sp>
        <p:nvSpPr>
          <p:cNvPr id="349" name="" descr="{&quot;isTemplate&quot;:true,&quot;type&quot;:&quot;text&quot;}"/>
          <p:cNvSpPr txBox="1"/>
          <p:nvPr/>
        </p:nvSpPr>
        <p:spPr>
          <a:xfrm rot="0" flipH="0" flipV="0">
            <a:off x="7162800" y="3248025"/>
            <a:ext cx="4486275" cy="190500"/>
          </a:xfrm>
          <a:prstGeom prst="rect"/>
        </p:spPr>
        <p:txBody>
          <a:bodyPr wrap="none" lIns="0" tIns="0" rIns="0" bIns="0"/>
          <a:p>
            <a:pPr>
              <a:lnSpc>
                <a:spcPct val="100000"/>
              </a:lnSpc>
            </a:pPr>
            <a:r>
              <a:rPr lang="en-US" sz="1200" b="1">
                <a:solidFill>
                  <a:srgbClr val="996F00"/>
                </a:solidFill>
                <a:latin typeface="Microsoft YaHei"/>
                <a:ea typeface="Microsoft YaHei"/>
              </a:rPr>
              <a:t>Two operations, one sentence</a:t>
            </a:r>
            <a:endParaRPr/>
          </a:p>
        </p:txBody>
      </p:sp>
      <p:sp>
        <p:nvSpPr>
          <p:cNvPr id="350" name="" descr="{&quot;isTemplate&quot;:true,&quot;type&quot;:&quot;text&quot;}"/>
          <p:cNvSpPr txBox="1"/>
          <p:nvPr/>
        </p:nvSpPr>
        <p:spPr>
          <a:xfrm rot="0" flipH="0" flipV="0">
            <a:off x="7162800" y="3486150"/>
            <a:ext cx="4486275"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An operation should be one responsibility. If the name contains “and”, split it — that is the signal, not the judgement.</a:t>
            </a:r>
            <a:endParaRPr/>
          </a:p>
        </p:txBody>
      </p:sp>
      <p:sp>
        <p:nvSpPr>
          <p:cNvPr id="351" name=""/>
          <p:cNvSpPr/>
          <p:nvPr/>
        </p:nvSpPr>
        <p:spPr>
          <a:xfrm rot="0" flipH="0" flipV="0">
            <a:off x="7000875" y="4229100"/>
            <a:ext cx="4848225" cy="1000125"/>
          </a:xfrm>
          <a:prstGeom prst="roundRect">
            <a:avLst>
              <a:gd name="adj" fmla="val 8571"/>
            </a:avLst>
          </a:prstGeom>
          <a:solidFill>
            <a:srgbClr val="EAF6EC"/>
          </a:solidFill>
          <a:ln/>
        </p:spPr>
        <p:txBody>
          <a:bodyPr/>
          <a:p/>
        </p:txBody>
      </p:sp>
      <p:sp>
        <p:nvSpPr>
          <p:cNvPr id="352" name=""/>
          <p:cNvSpPr/>
          <p:nvPr/>
        </p:nvSpPr>
        <p:spPr>
          <a:xfrm rot="0" flipH="0" flipV="0">
            <a:off x="7000875" y="4229100"/>
            <a:ext cx="4848225" cy="1000125"/>
          </a:xfrm>
          <a:custGeom>
            <a:pathLst>
              <a:path w="509" h="105">
                <a:moveTo>
                  <a:pt x="9" y="0"/>
                </a:moveTo>
                <a:cubicBezTo>
                  <a:pt x="6" y="0"/>
                  <a:pt x="4" y="2"/>
                  <a:pt x="4" y="5"/>
                </a:cubicBezTo>
                <a:lnTo>
                  <a:pt x="4" y="100"/>
                </a:lnTo>
                <a:cubicBezTo>
                  <a:pt x="4" y="102"/>
                  <a:pt x="6" y="104"/>
                  <a:pt x="8" y="105"/>
                </a:cubicBezTo>
                <a:cubicBezTo>
                  <a:pt x="4" y="105"/>
                  <a:pt x="0" y="101"/>
                  <a:pt x="0" y="96"/>
                </a:cubicBezTo>
                <a:lnTo>
                  <a:pt x="0" y="9"/>
                </a:lnTo>
                <a:cubicBezTo>
                  <a:pt x="0" y="4"/>
                  <a:pt x="4" y="0"/>
                  <a:pt x="9" y="0"/>
                </a:cubicBezTo>
                <a:close/>
              </a:path>
            </a:pathLst>
          </a:custGeom>
          <a:solidFill>
            <a:srgbClr val="2B7A3D"/>
          </a:solidFill>
          <a:ln/>
        </p:spPr>
        <p:txBody>
          <a:bodyPr/>
          <a:p/>
        </p:txBody>
      </p:sp>
      <p:sp>
        <p:nvSpPr>
          <p:cNvPr id="353" name="" descr="{&quot;isTemplate&quot;:true,&quot;type&quot;:&quot;text&quot;}"/>
          <p:cNvSpPr txBox="1"/>
          <p:nvPr/>
        </p:nvSpPr>
        <p:spPr>
          <a:xfrm rot="0" flipH="0" flipV="0">
            <a:off x="7162800" y="4371975"/>
            <a:ext cx="4486275" cy="190500"/>
          </a:xfrm>
          <a:prstGeom prst="rect"/>
        </p:spPr>
        <p:txBody>
          <a:bodyPr wrap="none" lIns="0" tIns="0" rIns="0" bIns="0"/>
          <a:p>
            <a:pPr>
              <a:lnSpc>
                <a:spcPct val="100000"/>
              </a:lnSpc>
            </a:pPr>
            <a:r>
              <a:rPr lang="en-US" sz="1200" b="1">
                <a:solidFill>
                  <a:srgbClr val="2B7A3D"/>
                </a:solidFill>
                <a:latin typeface="Microsoft YaHei"/>
                <a:ea typeface="Microsoft YaHei"/>
              </a:rPr>
              <a:t>So what do you do with the steps?</a:t>
            </a:r>
            <a:endParaRPr/>
          </a:p>
        </p:txBody>
      </p:sp>
      <p:sp>
        <p:nvSpPr>
          <p:cNvPr id="354" name="" descr="{&quot;isTemplate&quot;:true,&quot;type&quot;:&quot;text&quot;}"/>
          <p:cNvSpPr txBox="1"/>
          <p:nvPr/>
        </p:nvSpPr>
        <p:spPr>
          <a:xfrm rot="0" flipH="0" flipV="0">
            <a:off x="7162800" y="4610100"/>
            <a:ext cx="4486275"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The steps stay in the specification. In this week’s model you write only the operations the nouns support — the rest is W08 and W10.</a:t>
            </a:r>
            <a:endParaRPr/>
          </a:p>
        </p:txBody>
      </p:sp>
      <p:sp>
        <p:nvSpPr>
          <p:cNvPr id="355" name=""/>
          <p:cNvSpPr/>
          <p:nvPr/>
        </p:nvSpPr>
        <p:spPr>
          <a:xfrm rot="0" flipH="0" flipV="0">
            <a:off x="6962775" y="5353050"/>
            <a:ext cx="4848225" cy="676275"/>
          </a:xfrm>
          <a:prstGeom prst="roundRect">
            <a:avLst>
              <a:gd name="adj" fmla="val 11268"/>
            </a:avLst>
          </a:prstGeom>
          <a:solidFill>
            <a:srgbClr val="F7F9FC"/>
          </a:solidFill>
          <a:ln w="12700">
            <a:solidFill>
              <a:srgbClr val="D6DCE5"/>
            </a:solidFill>
            <a:prstDash val="dash"/>
          </a:ln>
        </p:spPr>
        <p:txBody>
          <a:bodyPr/>
          <a:p/>
        </p:txBody>
      </p:sp>
      <p:sp>
        <p:nvSpPr>
          <p:cNvPr id="356" name="" descr="{&quot;isTemplate&quot;:true,&quot;type&quot;:&quot;text&quot;}"/>
          <p:cNvSpPr txBox="1"/>
          <p:nvPr/>
        </p:nvSpPr>
        <p:spPr>
          <a:xfrm rot="0" flipH="0" flipV="0">
            <a:off x="7115175" y="5467350"/>
            <a:ext cx="4543425" cy="447675"/>
          </a:xfrm>
          <a:prstGeom prst="rect"/>
        </p:spPr>
        <p:txBody>
          <a:bodyPr wrap="square" lIns="0" tIns="0" rIns="0" bIns="0">
            <a:normAutofit/>
          </a:bodyPr>
          <a:p>
            <a:pPr>
              <a:lnSpc>
                <a:spcPct val="155000"/>
              </a:lnSpc>
            </a:pPr>
            <a:r>
              <a:rPr lang="en-US" sz="938">
                <a:solidFill>
                  <a:srgbClr val="8B97A8"/>
                </a:solidFill>
                <a:latin typeface="Microsoft YaHei"/>
                <a:ea typeface="Microsoft YaHei"/>
              </a:rPr>
              <a:t>Resist the urge to write every operation you can think of. Three honest operations beat twelve speculative ones.</a:t>
            </a:r>
            <a:endParaRPr/>
          </a:p>
        </p:txBody>
      </p:sp>
      <p:sp>
        <p:nvSpPr>
          <p:cNvPr id="357" name="" descr="{&quot;isTemplate&quot;:true,&quot;type&quot;:&quot;text&quot;}"/>
          <p:cNvSpPr txBox="1"/>
          <p:nvPr/>
        </p:nvSpPr>
        <p:spPr>
          <a:xfrm rot="0" flipH="0" flipV="0">
            <a:off x="381000" y="6619875"/>
            <a:ext cx="6267450" cy="152400"/>
          </a:xfrm>
          <a:prstGeom prst="rect"/>
        </p:spPr>
        <p:txBody>
          <a:bodyPr wrap="none" lIns="0" tIns="0" rIns="0" bIns="0"/>
          <a:p>
            <a:pPr>
              <a:lnSpc>
                <a:spcPct val="100000"/>
              </a:lnSpc>
            </a:pPr>
            <a:r>
              <a:rPr lang="en-US" sz="975">
                <a:solidFill>
                  <a:srgbClr val="8B97A8"/>
                </a:solidFill>
                <a:latin typeface="Microsoft YaHei"/>
                <a:ea typeface="Microsoft YaHei"/>
              </a:rPr>
              <a:t>ISAD · Fall 2026 · One operation, one responsibility. If the name contains “and”, you have not finished deciding yet</a:t>
            </a:r>
            <a:endParaRPr/>
          </a:p>
        </p:txBody>
      </p:sp>
      <p:sp>
        <p:nvSpPr>
          <p:cNvPr id="358" name="" descr="{&quot;isTemplate&quot;:true,&quot;type&quot;:&quot;text&quot;}"/>
          <p:cNvSpPr txBox="1"/>
          <p:nvPr/>
        </p:nvSpPr>
        <p:spPr>
          <a:xfrm rot="0" flipH="0" flipV="0">
            <a:off x="11401425" y="6619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23 / 39</a:t>
            </a:r>
            <a:endParaRPr/>
          </a:p>
        </p:txBody>
      </p:sp>
    </p:spTree>
  </p:cSld>
</p:sld>
</file>

<file path=ppt/slides/slide24.xml><?xml version="1.0" encoding="utf-8"?>
<p:sld xmlns:p="http://schemas.openxmlformats.org/presentationml/2006/main" xmlns:a="http://schemas.openxmlformats.org/drawingml/2006/main">
  <p:cSld>
    <p:spTree>
      <p:nvGrpSpPr>
        <p:cNvPr id="359"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6 · ATTRIBUTES AND OPERATIONS&lt;/Text&gt;&#10;  &lt;/Box&gt;&#10;  &lt;Box style={{ padding: '13px 40px 0 40px', flexDirection: 'row', alignItems: 'center', justifyContent: 'space-between' }}&gt;&#10;    &lt;Text style={{ fontSize: 29, fontWeight: 'bold', color: '#0E3F8C' }}&gt;Order, Complete&lt;/Text&gt;&#10;    &lt;Text style={{ fontSize: 14, color: '#1E4FA8', fontWeight: 'bold' }}&gt;24 / 39&lt;/Text&gt;&#10;  &lt;/Box&gt;&#10;  &lt;Box style={{ flex: 1, padding: '10px 40px 0 40px', flexDirection: 'row', gap: 26 }}&gt;&#10;    &lt;Box style={{ width: 460, justifyContent: 'center' }}&gt;&#10;      &lt;Box style={{ padding: '18px 20px', background: '#FFFFFF', borderRadius: 10, border: '2px solid #1E4FA8' }}&gt;&#10;        &lt;Text style={{ fontSize: 20, fontWeight: 'bold', color: '#0E3F8C' }}&gt;Order&lt;/Text&gt;&#10;        &lt;Text style={{ fontSize: 12.5, color: '#8B97A8', marginTop: 4, marginBottom: 14 }}&gt;entity class · from Place Order and Track Order&lt;/Text&gt;&#10;        &lt;Box style={{ height: 1, background: '#E5E7EB', marginBottom: 14 }} /&gt;&#10;        &lt;Text style={{ fontSize: 12, color: '#8B97A8', letterSpacing: 1, marginBottom: 8 }}&gt;ATTRIBUTES&lt;/Text&gt;&#10;        {[&#10;          'orderNumber : String',&#10;          'placedAt : DateTime',&#10;          'state : String',&#10;          'note : String',&#10;        ].map((a) =&gt; (&#10;          &lt;Text key={a} style={{ fontSize: 14, color: '#4A5568', lineHeight: 1.9 }}&gt;{a}&lt;/Text&gt;&#10;        ))}&#10;        &lt;Box style={{ height: 1, background: '#E5E7EB', marginTop: 12, marginBottom: 14 }} /&gt;&#10;        &lt;Text style={{ fontSize: 12, color: '#8B97A8', letterSpacing: 1, marginBottom: 8 }}&gt;OPERATIONS&lt;/Text&gt;&#10;        {[&#10;          'cancel(reason) : void',&#10;          'isOpen() : Boolean',&#10;          'estimatedReadyAt() : DateTime',&#10;        ].map((o) =&gt; (&#10;          &lt;Text key={o} style={{ fontSize: 14, color: '#4A5568', lineHeight: 1.9 }}&gt;{o}&lt;/Text&gt;&#10;        ))}&#10;      &lt;/Box&gt;&#10;    &lt;/Box&gt;&#10;    &lt;Box style={{ flex: 1, flexDirection: 'column', justifyContent: 'center', gap: 13 }}&gt;&#10;      &lt;Box style={{ padding: '15px 17px', background: '#EAF6EC', borderRadius: 9, borderLeft: '4px solid #2B7A3D' }}&gt;&#10;        &lt;Text style={{ fontSize: 16, fontWeight: 'bold', color: '#2B7A3D' }}&gt;Four attributes, three operations&lt;/Text&gt;&#10;        &lt;Text style={{ fontSize: 13, color: '#4A5568', lineHeight: 1.6, marginTop: 5 }}&gt;&#10;          That is the whole class. Seven lines of content, and every one of them is traceable to a sentence in a W05 specification.&#10;        &lt;/Text&gt;&#10;      &lt;/Box&gt;&#10;      &lt;Box style={{ padding: '15px 17px', background: '#FFFFFF', borderRadius: 9, border: '1px solid #D6DCE5' }}&gt;&#10;        &lt;Text style={{ fontSize: 16, fontWeight: 'bold', color: '#0E3F8C' }}&gt;total is not on the list&lt;/Text&gt;&#10;        &lt;Text style={{ fontSize: 13, color: '#4A5568', lineHeight: 1.6, marginTop: 5 }}&gt;&#10;          It is calculated from the lines. The client never asked to store it, so we did not invent it.&#10;        &lt;/Text&gt;&#10;      &lt;/Box&gt;&#10;      &lt;Box style={{ padding: '15px 17px', background: '#FFF6E0', borderRadius: 9, borderLeft: '4px solid #FFC107' }}&gt;&#10;        &lt;Text style={{ fontSize: 16, fontWeight: 'bold', color: '#996F00' }}&gt;no findOpenFor here&lt;/Text&gt;&#10;        &lt;Text style={{ fontSize: 13, color: '#4A5568', lineHeight: 1.6, marginTop: 5 }}&gt;&#10;          That is a collection operation. It belongs to the control class, not to one order.&#10;        &lt;/Text&gt;&#10;      &lt;/Box&gt;&#10;      &lt;Box style={{ padding: '12px 16px', background: '#F7F9FC', borderRadius: 8, border: '1px dashed #D6DCE5' }}&gt;&#10;        &lt;Text style={{ fontSize: 12.5, color: '#8B97A8', lineHeight: 1.55 }}&gt;&#10;          Visibility marks are a W10 topic. In an analysis model every member is public, so we do not write them yet.&#10;        &lt;/Text&gt;&#10;      &lt;/Box&gt;&#10;    &lt;/Box&gt;&#10;  &lt;/Box&gt;&#10;  &lt;Box style={{ height: 34, padding: '0 40px', flexDirection: 'row', alignItems: 'center', justifyContent: 'space-between' }}&gt;&#10;    &lt;Text style={{ fontSize: 13, color: '#8B97A8' }}&gt;ISAD · Fall 2026 · Seven lines, every one traceable to a sentence. That is the standard for every class in your model&lt;/Text&gt;&#10;    &lt;Text style={{ fontSize: 14, color: '#1E4FA8', fontWeight: 'bold' }}&gt;24 / 39&lt;/Text&gt;&#10;  &lt;/Box&gt;&#10;&lt;/Slide&gt;&#10;"/>
        <p:cNvGrpSpPr/>
        <p:nvPr/>
      </p:nvGrpSpPr>
      <p:grpSpPr>
        <a:xfrm>
          <a:off x="0" y="0"/>
          <a:ext cx="0" cy="0"/>
          <a:chOff x="0" y="0"/>
          <a:chExt cx="0" cy="0"/>
        </a:xfrm>
      </p:grpSpPr>
      <p:sp>
        <p:nvSpPr>
          <p:cNvPr id="360" name=""/>
          <p:cNvSpPr/>
          <p:nvPr/>
        </p:nvSpPr>
        <p:spPr>
          <a:xfrm rot="0" flipH="0" flipV="0">
            <a:off x="0" y="0"/>
            <a:ext cx="12192000" cy="6858000"/>
          </a:xfrm>
          <a:prstGeom prst="rect">
            <a:avLst/>
          </a:prstGeom>
          <a:solidFill>
            <a:srgbClr val="FFFFFF"/>
          </a:solidFill>
          <a:ln/>
        </p:spPr>
        <p:txBody>
          <a:bodyPr/>
          <a:p/>
        </p:txBody>
      </p:sp>
      <p:sp>
        <p:nvSpPr>
          <p:cNvPr id="361" name=""/>
          <p:cNvSpPr/>
          <p:nvPr/>
        </p:nvSpPr>
        <p:spPr>
          <a:xfrm rot="0" flipH="0" flipV="0">
            <a:off x="0" y="0"/>
            <a:ext cx="12192000" cy="685800"/>
          </a:xfrm>
          <a:prstGeom prst="rect">
            <a:avLst/>
          </a:prstGeom>
          <a:solidFill>
            <a:srgbClr val="1E4FA8"/>
          </a:solidFill>
          <a:ln/>
        </p:spPr>
        <p:txBody>
          <a:bodyPr/>
          <a:p/>
        </p:txBody>
      </p:sp>
      <p:sp>
        <p:nvSpPr>
          <p:cNvPr id="362"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363" name="" descr="{&quot;isTemplate&quot;:true,&quot;type&quot;:&quot;text&quot;}"/>
          <p:cNvSpPr txBox="1"/>
          <p:nvPr/>
        </p:nvSpPr>
        <p:spPr>
          <a:xfrm rot="0" flipH="0" flipV="0">
            <a:off x="9201150" y="257175"/>
            <a:ext cx="2609850" cy="171450"/>
          </a:xfrm>
          <a:prstGeom prst="rect"/>
        </p:spPr>
        <p:txBody>
          <a:bodyPr wrap="none" lIns="0" tIns="0" rIns="0" bIns="0"/>
          <a:p>
            <a:pPr>
              <a:lnSpc>
                <a:spcPct val="100000"/>
              </a:lnSpc>
            </a:pPr>
            <a:r>
              <a:rPr lang="en-US" sz="1125">
                <a:solidFill>
                  <a:srgbClr val="B9CDF0"/>
                </a:solidFill>
                <a:latin typeface="Microsoft YaHei"/>
                <a:ea typeface="Microsoft YaHei"/>
              </a:rPr>
              <a:t>W06 · ATTRIBUTES AND OPERATIONS</a:t>
            </a:r>
            <a:endParaRPr/>
          </a:p>
        </p:txBody>
      </p:sp>
      <p:sp>
        <p:nvSpPr>
          <p:cNvPr id="364" name="" descr="{&quot;isTemplate&quot;:true,&quot;type&quot;:&quot;text&quot;}"/>
          <p:cNvSpPr txBox="1"/>
          <p:nvPr/>
        </p:nvSpPr>
        <p:spPr>
          <a:xfrm rot="0" flipH="0" flipV="0">
            <a:off x="381000" y="809625"/>
            <a:ext cx="2152650" cy="333375"/>
          </a:xfrm>
          <a:prstGeom prst="rect"/>
        </p:spPr>
        <p:txBody>
          <a:bodyPr wrap="none" lIns="0" tIns="0" rIns="0" bIns="0"/>
          <a:p>
            <a:pPr>
              <a:lnSpc>
                <a:spcPct val="100000"/>
              </a:lnSpc>
            </a:pPr>
            <a:r>
              <a:rPr lang="en-US" sz="2175" b="1">
                <a:solidFill>
                  <a:srgbClr val="0E3F8C"/>
                </a:solidFill>
                <a:latin typeface="Microsoft YaHei"/>
                <a:ea typeface="Microsoft YaHei"/>
              </a:rPr>
              <a:t>Order, Complete</a:t>
            </a:r>
            <a:endParaRPr/>
          </a:p>
        </p:txBody>
      </p:sp>
      <p:sp>
        <p:nvSpPr>
          <p:cNvPr id="365"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24 / 39</a:t>
            </a:r>
            <a:endParaRPr/>
          </a:p>
        </p:txBody>
      </p:sp>
      <p:sp>
        <p:nvSpPr>
          <p:cNvPr id="366" name=""/>
          <p:cNvSpPr/>
          <p:nvPr/>
        </p:nvSpPr>
        <p:spPr>
          <a:xfrm rot="0" flipH="0" flipV="0">
            <a:off x="381000" y="1962150"/>
            <a:ext cx="4381500" cy="3857625"/>
          </a:xfrm>
          <a:prstGeom prst="roundRect">
            <a:avLst>
              <a:gd name="adj" fmla="val 2469"/>
            </a:avLst>
          </a:prstGeom>
          <a:solidFill>
            <a:srgbClr val="FFFFFF"/>
          </a:solidFill>
          <a:ln w="25400">
            <a:solidFill>
              <a:srgbClr val="1E4FA8"/>
            </a:solidFill>
            <a:prstDash val="solid"/>
          </a:ln>
        </p:spPr>
        <p:txBody>
          <a:bodyPr/>
          <a:p/>
        </p:txBody>
      </p:sp>
      <p:sp>
        <p:nvSpPr>
          <p:cNvPr id="367" name="" descr="{&quot;isTemplate&quot;:true,&quot;type&quot;:&quot;text&quot;}"/>
          <p:cNvSpPr txBox="1"/>
          <p:nvPr/>
        </p:nvSpPr>
        <p:spPr>
          <a:xfrm rot="0" flipH="0" flipV="0">
            <a:off x="571500" y="2133600"/>
            <a:ext cx="4000500" cy="228600"/>
          </a:xfrm>
          <a:prstGeom prst="rect"/>
        </p:spPr>
        <p:txBody>
          <a:bodyPr wrap="none" lIns="0" tIns="0" rIns="0" bIns="0"/>
          <a:p>
            <a:pPr>
              <a:lnSpc>
                <a:spcPct val="100000"/>
              </a:lnSpc>
            </a:pPr>
            <a:r>
              <a:rPr lang="en-US" sz="1500" b="1">
                <a:solidFill>
                  <a:srgbClr val="0E3F8C"/>
                </a:solidFill>
                <a:latin typeface="Microsoft YaHei"/>
                <a:ea typeface="Microsoft YaHei"/>
              </a:rPr>
              <a:t>Order</a:t>
            </a:r>
            <a:endParaRPr/>
          </a:p>
        </p:txBody>
      </p:sp>
      <p:sp>
        <p:nvSpPr>
          <p:cNvPr id="368" name="" descr="{&quot;isTemplate&quot;:true,&quot;type&quot;:&quot;text&quot;}"/>
          <p:cNvSpPr txBox="1"/>
          <p:nvPr/>
        </p:nvSpPr>
        <p:spPr>
          <a:xfrm rot="0" flipH="0" flipV="0">
            <a:off x="571500" y="2400300"/>
            <a:ext cx="4000500" cy="142875"/>
          </a:xfrm>
          <a:prstGeom prst="rect"/>
        </p:spPr>
        <p:txBody>
          <a:bodyPr wrap="none" lIns="0" tIns="0" rIns="0" bIns="0"/>
          <a:p>
            <a:pPr>
              <a:lnSpc>
                <a:spcPct val="100000"/>
              </a:lnSpc>
            </a:pPr>
            <a:r>
              <a:rPr lang="en-US" sz="938">
                <a:solidFill>
                  <a:srgbClr val="8B97A8"/>
                </a:solidFill>
                <a:latin typeface="Microsoft YaHei"/>
                <a:ea typeface="Microsoft YaHei"/>
              </a:rPr>
              <a:t>entity class · from Place Order and Track Order</a:t>
            </a:r>
            <a:endParaRPr/>
          </a:p>
        </p:txBody>
      </p:sp>
      <p:sp>
        <p:nvSpPr>
          <p:cNvPr id="369" name=""/>
          <p:cNvSpPr/>
          <p:nvPr/>
        </p:nvSpPr>
        <p:spPr>
          <a:xfrm rot="0" flipH="0" flipV="0">
            <a:off x="571500" y="2676525"/>
            <a:ext cx="4000500" cy="9525"/>
          </a:xfrm>
          <a:prstGeom prst="rect">
            <a:avLst/>
          </a:prstGeom>
          <a:solidFill>
            <a:srgbClr val="E5E7EB"/>
          </a:solidFill>
          <a:ln/>
        </p:spPr>
        <p:txBody>
          <a:bodyPr/>
          <a:p/>
        </p:txBody>
      </p:sp>
      <p:sp>
        <p:nvSpPr>
          <p:cNvPr id="370" name="" descr="{&quot;isTemplate&quot;:true,&quot;type&quot;:&quot;text&quot;}"/>
          <p:cNvSpPr txBox="1"/>
          <p:nvPr/>
        </p:nvSpPr>
        <p:spPr>
          <a:xfrm rot="0" flipH="0" flipV="0">
            <a:off x="571500" y="2819400"/>
            <a:ext cx="4000500" cy="142875"/>
          </a:xfrm>
          <a:prstGeom prst="rect"/>
        </p:spPr>
        <p:txBody>
          <a:bodyPr wrap="none" lIns="0" tIns="0" rIns="0" bIns="0"/>
          <a:p>
            <a:pPr>
              <a:lnSpc>
                <a:spcPct val="100000"/>
              </a:lnSpc>
            </a:pPr>
            <a:r>
              <a:rPr lang="en-US" sz="900" spc="75">
                <a:solidFill>
                  <a:srgbClr val="8B97A8"/>
                </a:solidFill>
                <a:latin typeface="Microsoft YaHei"/>
                <a:ea typeface="Microsoft YaHei"/>
              </a:rPr>
              <a:t>ATTRIBUTES</a:t>
            </a:r>
            <a:endParaRPr/>
          </a:p>
        </p:txBody>
      </p:sp>
      <p:sp>
        <p:nvSpPr>
          <p:cNvPr id="371" name="" descr="{&quot;isTemplate&quot;:true,&quot;type&quot;:&quot;text&quot;}"/>
          <p:cNvSpPr txBox="1"/>
          <p:nvPr/>
        </p:nvSpPr>
        <p:spPr>
          <a:xfrm rot="0" flipH="0" flipV="0">
            <a:off x="571500" y="3038475"/>
            <a:ext cx="4000500" cy="304800"/>
          </a:xfrm>
          <a:prstGeom prst="rect"/>
        </p:spPr>
        <p:txBody>
          <a:bodyPr wrap="none" lIns="0" tIns="0" rIns="0" bIns="0"/>
          <a:p>
            <a:pPr>
              <a:lnSpc>
                <a:spcPct val="190000"/>
              </a:lnSpc>
            </a:pPr>
            <a:r>
              <a:rPr lang="en-US" sz="1050">
                <a:solidFill>
                  <a:srgbClr val="4A5568"/>
                </a:solidFill>
                <a:latin typeface="Microsoft YaHei"/>
                <a:ea typeface="Microsoft YaHei"/>
              </a:rPr>
              <a:t>orderNumber : String</a:t>
            </a:r>
            <a:endParaRPr/>
          </a:p>
        </p:txBody>
      </p:sp>
      <p:sp>
        <p:nvSpPr>
          <p:cNvPr id="372" name="" descr="{&quot;isTemplate&quot;:true,&quot;type&quot;:&quot;text&quot;}"/>
          <p:cNvSpPr txBox="1"/>
          <p:nvPr/>
        </p:nvSpPr>
        <p:spPr>
          <a:xfrm rot="0" flipH="0" flipV="0">
            <a:off x="571500" y="3343275"/>
            <a:ext cx="4000500" cy="304800"/>
          </a:xfrm>
          <a:prstGeom prst="rect"/>
        </p:spPr>
        <p:txBody>
          <a:bodyPr wrap="none" lIns="0" tIns="0" rIns="0" bIns="0"/>
          <a:p>
            <a:pPr>
              <a:lnSpc>
                <a:spcPct val="190000"/>
              </a:lnSpc>
            </a:pPr>
            <a:r>
              <a:rPr lang="en-US" sz="1050">
                <a:solidFill>
                  <a:srgbClr val="4A5568"/>
                </a:solidFill>
                <a:latin typeface="Microsoft YaHei"/>
                <a:ea typeface="Microsoft YaHei"/>
              </a:rPr>
              <a:t>placedAt : DateTime</a:t>
            </a:r>
            <a:endParaRPr/>
          </a:p>
        </p:txBody>
      </p:sp>
      <p:sp>
        <p:nvSpPr>
          <p:cNvPr id="373" name="" descr="{&quot;isTemplate&quot;:true,&quot;type&quot;:&quot;text&quot;}"/>
          <p:cNvSpPr txBox="1"/>
          <p:nvPr/>
        </p:nvSpPr>
        <p:spPr>
          <a:xfrm rot="0" flipH="0" flipV="0">
            <a:off x="571500" y="3648075"/>
            <a:ext cx="4000500" cy="304800"/>
          </a:xfrm>
          <a:prstGeom prst="rect"/>
        </p:spPr>
        <p:txBody>
          <a:bodyPr wrap="none" lIns="0" tIns="0" rIns="0" bIns="0"/>
          <a:p>
            <a:pPr>
              <a:lnSpc>
                <a:spcPct val="190000"/>
              </a:lnSpc>
            </a:pPr>
            <a:r>
              <a:rPr lang="en-US" sz="1050">
                <a:solidFill>
                  <a:srgbClr val="4A5568"/>
                </a:solidFill>
                <a:latin typeface="Microsoft YaHei"/>
                <a:ea typeface="Microsoft YaHei"/>
              </a:rPr>
              <a:t>state : String</a:t>
            </a:r>
            <a:endParaRPr/>
          </a:p>
        </p:txBody>
      </p:sp>
      <p:sp>
        <p:nvSpPr>
          <p:cNvPr id="374" name="" descr="{&quot;isTemplate&quot;:true,&quot;type&quot;:&quot;text&quot;}"/>
          <p:cNvSpPr txBox="1"/>
          <p:nvPr/>
        </p:nvSpPr>
        <p:spPr>
          <a:xfrm rot="0" flipH="0" flipV="0">
            <a:off x="571500" y="3952875"/>
            <a:ext cx="4000500" cy="304800"/>
          </a:xfrm>
          <a:prstGeom prst="rect"/>
        </p:spPr>
        <p:txBody>
          <a:bodyPr wrap="none" lIns="0" tIns="0" rIns="0" bIns="0"/>
          <a:p>
            <a:pPr>
              <a:lnSpc>
                <a:spcPct val="190000"/>
              </a:lnSpc>
            </a:pPr>
            <a:r>
              <a:rPr lang="en-US" sz="1050">
                <a:solidFill>
                  <a:srgbClr val="4A5568"/>
                </a:solidFill>
                <a:latin typeface="Microsoft YaHei"/>
                <a:ea typeface="Microsoft YaHei"/>
              </a:rPr>
              <a:t>note : String</a:t>
            </a:r>
            <a:endParaRPr/>
          </a:p>
        </p:txBody>
      </p:sp>
      <p:sp>
        <p:nvSpPr>
          <p:cNvPr id="375" name=""/>
          <p:cNvSpPr/>
          <p:nvPr/>
        </p:nvSpPr>
        <p:spPr>
          <a:xfrm rot="0" flipH="0" flipV="0">
            <a:off x="571500" y="4371975"/>
            <a:ext cx="4000500" cy="9525"/>
          </a:xfrm>
          <a:prstGeom prst="rect">
            <a:avLst/>
          </a:prstGeom>
          <a:solidFill>
            <a:srgbClr val="E5E7EB"/>
          </a:solidFill>
          <a:ln/>
        </p:spPr>
        <p:txBody>
          <a:bodyPr/>
          <a:p/>
        </p:txBody>
      </p:sp>
      <p:sp>
        <p:nvSpPr>
          <p:cNvPr id="376" name="" descr="{&quot;isTemplate&quot;:true,&quot;type&quot;:&quot;text&quot;}"/>
          <p:cNvSpPr txBox="1"/>
          <p:nvPr/>
        </p:nvSpPr>
        <p:spPr>
          <a:xfrm rot="0" flipH="0" flipV="0">
            <a:off x="571500" y="4514850"/>
            <a:ext cx="4000500" cy="142875"/>
          </a:xfrm>
          <a:prstGeom prst="rect"/>
        </p:spPr>
        <p:txBody>
          <a:bodyPr wrap="none" lIns="0" tIns="0" rIns="0" bIns="0"/>
          <a:p>
            <a:pPr>
              <a:lnSpc>
                <a:spcPct val="100000"/>
              </a:lnSpc>
            </a:pPr>
            <a:r>
              <a:rPr lang="en-US" sz="900" spc="75">
                <a:solidFill>
                  <a:srgbClr val="8B97A8"/>
                </a:solidFill>
                <a:latin typeface="Microsoft YaHei"/>
                <a:ea typeface="Microsoft YaHei"/>
              </a:rPr>
              <a:t>OPERATIONS</a:t>
            </a:r>
            <a:endParaRPr/>
          </a:p>
        </p:txBody>
      </p:sp>
      <p:sp>
        <p:nvSpPr>
          <p:cNvPr id="377" name="" descr="{&quot;isTemplate&quot;:true,&quot;type&quot;:&quot;text&quot;}"/>
          <p:cNvSpPr txBox="1"/>
          <p:nvPr/>
        </p:nvSpPr>
        <p:spPr>
          <a:xfrm rot="0" flipH="0" flipV="0">
            <a:off x="571500" y="4733925"/>
            <a:ext cx="4000500" cy="304800"/>
          </a:xfrm>
          <a:prstGeom prst="rect"/>
        </p:spPr>
        <p:txBody>
          <a:bodyPr wrap="none" lIns="0" tIns="0" rIns="0" bIns="0"/>
          <a:p>
            <a:pPr>
              <a:lnSpc>
                <a:spcPct val="190000"/>
              </a:lnSpc>
            </a:pPr>
            <a:r>
              <a:rPr lang="en-US" sz="1050">
                <a:solidFill>
                  <a:srgbClr val="4A5568"/>
                </a:solidFill>
                <a:latin typeface="Microsoft YaHei"/>
                <a:ea typeface="Microsoft YaHei"/>
              </a:rPr>
              <a:t>cancel(reason) : void</a:t>
            </a:r>
            <a:endParaRPr/>
          </a:p>
        </p:txBody>
      </p:sp>
      <p:sp>
        <p:nvSpPr>
          <p:cNvPr id="378" name="" descr="{&quot;isTemplate&quot;:true,&quot;type&quot;:&quot;text&quot;}"/>
          <p:cNvSpPr txBox="1"/>
          <p:nvPr/>
        </p:nvSpPr>
        <p:spPr>
          <a:xfrm rot="0" flipH="0" flipV="0">
            <a:off x="571500" y="5038725"/>
            <a:ext cx="4000500" cy="304800"/>
          </a:xfrm>
          <a:prstGeom prst="rect"/>
        </p:spPr>
        <p:txBody>
          <a:bodyPr wrap="none" lIns="0" tIns="0" rIns="0" bIns="0"/>
          <a:p>
            <a:pPr>
              <a:lnSpc>
                <a:spcPct val="190000"/>
              </a:lnSpc>
            </a:pPr>
            <a:r>
              <a:rPr lang="en-US" sz="1050">
                <a:solidFill>
                  <a:srgbClr val="4A5568"/>
                </a:solidFill>
                <a:latin typeface="Microsoft YaHei"/>
                <a:ea typeface="Microsoft YaHei"/>
              </a:rPr>
              <a:t>isOpen() : Boolean</a:t>
            </a:r>
            <a:endParaRPr/>
          </a:p>
        </p:txBody>
      </p:sp>
      <p:sp>
        <p:nvSpPr>
          <p:cNvPr id="379" name="" descr="{&quot;isTemplate&quot;:true,&quot;type&quot;:&quot;text&quot;}"/>
          <p:cNvSpPr txBox="1"/>
          <p:nvPr/>
        </p:nvSpPr>
        <p:spPr>
          <a:xfrm rot="0" flipH="0" flipV="0">
            <a:off x="571500" y="5343525"/>
            <a:ext cx="4000500" cy="304800"/>
          </a:xfrm>
          <a:prstGeom prst="rect"/>
        </p:spPr>
        <p:txBody>
          <a:bodyPr wrap="none" lIns="0" tIns="0" rIns="0" bIns="0"/>
          <a:p>
            <a:pPr>
              <a:lnSpc>
                <a:spcPct val="190000"/>
              </a:lnSpc>
            </a:pPr>
            <a:r>
              <a:rPr lang="en-US" sz="1050">
                <a:solidFill>
                  <a:srgbClr val="4A5568"/>
                </a:solidFill>
                <a:latin typeface="Microsoft YaHei"/>
                <a:ea typeface="Microsoft YaHei"/>
              </a:rPr>
              <a:t>estimatedReadyAt() : DateTime</a:t>
            </a:r>
            <a:endParaRPr/>
          </a:p>
        </p:txBody>
      </p:sp>
      <p:sp>
        <p:nvSpPr>
          <p:cNvPr id="380" name=""/>
          <p:cNvSpPr/>
          <p:nvPr/>
        </p:nvSpPr>
        <p:spPr>
          <a:xfrm rot="0" flipH="0" flipV="0">
            <a:off x="5048250" y="2209800"/>
            <a:ext cx="6800850" cy="1000125"/>
          </a:xfrm>
          <a:prstGeom prst="roundRect">
            <a:avLst>
              <a:gd name="adj" fmla="val 8571"/>
            </a:avLst>
          </a:prstGeom>
          <a:solidFill>
            <a:srgbClr val="EAF6EC"/>
          </a:solidFill>
          <a:ln/>
        </p:spPr>
        <p:txBody>
          <a:bodyPr/>
          <a:p/>
        </p:txBody>
      </p:sp>
      <p:sp>
        <p:nvSpPr>
          <p:cNvPr id="381" name=""/>
          <p:cNvSpPr/>
          <p:nvPr/>
        </p:nvSpPr>
        <p:spPr>
          <a:xfrm rot="0" flipH="0" flipV="0">
            <a:off x="5048250" y="2209800"/>
            <a:ext cx="6800850" cy="1000125"/>
          </a:xfrm>
          <a:custGeom>
            <a:pathLst>
              <a:path w="714" h="105">
                <a:moveTo>
                  <a:pt x="9" y="0"/>
                </a:moveTo>
                <a:cubicBezTo>
                  <a:pt x="6" y="0"/>
                  <a:pt x="4" y="2"/>
                  <a:pt x="4" y="5"/>
                </a:cubicBezTo>
                <a:lnTo>
                  <a:pt x="4" y="100"/>
                </a:lnTo>
                <a:cubicBezTo>
                  <a:pt x="4" y="102"/>
                  <a:pt x="6" y="104"/>
                  <a:pt x="8" y="105"/>
                </a:cubicBezTo>
                <a:cubicBezTo>
                  <a:pt x="4" y="105"/>
                  <a:pt x="0" y="101"/>
                  <a:pt x="0" y="96"/>
                </a:cubicBezTo>
                <a:lnTo>
                  <a:pt x="0" y="9"/>
                </a:lnTo>
                <a:cubicBezTo>
                  <a:pt x="0" y="4"/>
                  <a:pt x="4" y="0"/>
                  <a:pt x="9" y="0"/>
                </a:cubicBezTo>
                <a:close/>
              </a:path>
            </a:pathLst>
          </a:custGeom>
          <a:solidFill>
            <a:srgbClr val="2B7A3D"/>
          </a:solidFill>
          <a:ln/>
        </p:spPr>
        <p:txBody>
          <a:bodyPr/>
          <a:p/>
        </p:txBody>
      </p:sp>
      <p:sp>
        <p:nvSpPr>
          <p:cNvPr id="382" name="" descr="{&quot;isTemplate&quot;:true,&quot;type&quot;:&quot;text&quot;}"/>
          <p:cNvSpPr txBox="1"/>
          <p:nvPr/>
        </p:nvSpPr>
        <p:spPr>
          <a:xfrm rot="0" flipH="0" flipV="0">
            <a:off x="5210175" y="2352675"/>
            <a:ext cx="6438900" cy="190500"/>
          </a:xfrm>
          <a:prstGeom prst="rect"/>
        </p:spPr>
        <p:txBody>
          <a:bodyPr wrap="none" lIns="0" tIns="0" rIns="0" bIns="0"/>
          <a:p>
            <a:pPr>
              <a:lnSpc>
                <a:spcPct val="100000"/>
              </a:lnSpc>
            </a:pPr>
            <a:r>
              <a:rPr lang="en-US" sz="1200" b="1">
                <a:solidFill>
                  <a:srgbClr val="2B7A3D"/>
                </a:solidFill>
                <a:latin typeface="Microsoft YaHei"/>
                <a:ea typeface="Microsoft YaHei"/>
              </a:rPr>
              <a:t>Four attributes, three operations</a:t>
            </a:r>
            <a:endParaRPr/>
          </a:p>
        </p:txBody>
      </p:sp>
      <p:sp>
        <p:nvSpPr>
          <p:cNvPr id="383" name="" descr="{&quot;isTemplate&quot;:true,&quot;type&quot;:&quot;text&quot;}"/>
          <p:cNvSpPr txBox="1"/>
          <p:nvPr/>
        </p:nvSpPr>
        <p:spPr>
          <a:xfrm rot="0" flipH="0" flipV="0">
            <a:off x="5210175" y="2590800"/>
            <a:ext cx="6438900"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That is the whole class. Seven lines of content, and every one of them is traceable to a sentence in a W05 specification.</a:t>
            </a:r>
            <a:endParaRPr/>
          </a:p>
        </p:txBody>
      </p:sp>
      <p:sp>
        <p:nvSpPr>
          <p:cNvPr id="384" name=""/>
          <p:cNvSpPr/>
          <p:nvPr/>
        </p:nvSpPr>
        <p:spPr>
          <a:xfrm rot="0" flipH="0" flipV="0">
            <a:off x="5010150" y="3333750"/>
            <a:ext cx="6800850" cy="762000"/>
          </a:xfrm>
          <a:prstGeom prst="roundRect">
            <a:avLst>
              <a:gd name="adj" fmla="val 11250"/>
            </a:avLst>
          </a:prstGeom>
          <a:solidFill>
            <a:srgbClr val="FFFFFF"/>
          </a:solidFill>
          <a:ln w="12700">
            <a:solidFill>
              <a:srgbClr val="D6DCE5"/>
            </a:solidFill>
            <a:prstDash val="solid"/>
          </a:ln>
        </p:spPr>
        <p:txBody>
          <a:bodyPr/>
          <a:p/>
        </p:txBody>
      </p:sp>
      <p:sp>
        <p:nvSpPr>
          <p:cNvPr id="385" name="" descr="{&quot;isTemplate&quot;:true,&quot;type&quot;:&quot;text&quot;}"/>
          <p:cNvSpPr txBox="1"/>
          <p:nvPr/>
        </p:nvSpPr>
        <p:spPr>
          <a:xfrm rot="0" flipH="0" flipV="0">
            <a:off x="5172075" y="3476625"/>
            <a:ext cx="6477000" cy="190500"/>
          </a:xfrm>
          <a:prstGeom prst="rect"/>
        </p:spPr>
        <p:txBody>
          <a:bodyPr wrap="none" lIns="0" tIns="0" rIns="0" bIns="0"/>
          <a:p>
            <a:pPr>
              <a:lnSpc>
                <a:spcPct val="100000"/>
              </a:lnSpc>
            </a:pPr>
            <a:r>
              <a:rPr lang="en-US" sz="1200" b="1">
                <a:solidFill>
                  <a:srgbClr val="0E3F8C"/>
                </a:solidFill>
                <a:latin typeface="Microsoft YaHei"/>
                <a:ea typeface="Microsoft YaHei"/>
              </a:rPr>
              <a:t>total is not on the list</a:t>
            </a:r>
            <a:endParaRPr/>
          </a:p>
        </p:txBody>
      </p:sp>
      <p:sp>
        <p:nvSpPr>
          <p:cNvPr id="386" name="" descr="{&quot;isTemplate&quot;:true,&quot;type&quot;:&quot;text&quot;}"/>
          <p:cNvSpPr txBox="1"/>
          <p:nvPr/>
        </p:nvSpPr>
        <p:spPr>
          <a:xfrm rot="0" flipH="0" flipV="0">
            <a:off x="5172075" y="3714750"/>
            <a:ext cx="6477000" cy="238125"/>
          </a:xfrm>
          <a:prstGeom prst="rect"/>
        </p:spPr>
        <p:txBody>
          <a:bodyPr wrap="none" lIns="0" tIns="0" rIns="0" bIns="0"/>
          <a:p>
            <a:pPr>
              <a:lnSpc>
                <a:spcPct val="160000"/>
              </a:lnSpc>
            </a:pPr>
            <a:r>
              <a:rPr lang="en-US" sz="975">
                <a:solidFill>
                  <a:srgbClr val="4A5568"/>
                </a:solidFill>
                <a:latin typeface="Microsoft YaHei"/>
                <a:ea typeface="Microsoft YaHei"/>
              </a:rPr>
              <a:t>It is calculated from the lines. The client never asked to store it, so we did not invent it.</a:t>
            </a:r>
            <a:endParaRPr/>
          </a:p>
        </p:txBody>
      </p:sp>
      <p:sp>
        <p:nvSpPr>
          <p:cNvPr id="387" name=""/>
          <p:cNvSpPr/>
          <p:nvPr/>
        </p:nvSpPr>
        <p:spPr>
          <a:xfrm rot="0" flipH="0" flipV="0">
            <a:off x="5048250" y="4219575"/>
            <a:ext cx="6800850" cy="762000"/>
          </a:xfrm>
          <a:prstGeom prst="roundRect">
            <a:avLst>
              <a:gd name="adj" fmla="val 11250"/>
            </a:avLst>
          </a:prstGeom>
          <a:solidFill>
            <a:srgbClr val="FFF6E0"/>
          </a:solidFill>
          <a:ln/>
        </p:spPr>
        <p:txBody>
          <a:bodyPr/>
          <a:p/>
        </p:txBody>
      </p:sp>
      <p:sp>
        <p:nvSpPr>
          <p:cNvPr id="388" name=""/>
          <p:cNvSpPr/>
          <p:nvPr/>
        </p:nvSpPr>
        <p:spPr>
          <a:xfrm rot="0" flipH="0" flipV="0">
            <a:off x="5048250" y="4219575"/>
            <a:ext cx="6800850" cy="762000"/>
          </a:xfrm>
          <a:custGeom>
            <a:pathLst>
              <a:path w="714" h="80">
                <a:moveTo>
                  <a:pt x="9" y="0"/>
                </a:moveTo>
                <a:cubicBezTo>
                  <a:pt x="6" y="0"/>
                  <a:pt x="4" y="2"/>
                  <a:pt x="4" y="5"/>
                </a:cubicBezTo>
                <a:lnTo>
                  <a:pt x="4" y="75"/>
                </a:lnTo>
                <a:cubicBezTo>
                  <a:pt x="4" y="77"/>
                  <a:pt x="6" y="79"/>
                  <a:pt x="8" y="80"/>
                </a:cubicBezTo>
                <a:cubicBezTo>
                  <a:pt x="4" y="80"/>
                  <a:pt x="0" y="76"/>
                  <a:pt x="0" y="71"/>
                </a:cubicBezTo>
                <a:lnTo>
                  <a:pt x="0" y="9"/>
                </a:lnTo>
                <a:cubicBezTo>
                  <a:pt x="0" y="4"/>
                  <a:pt x="4" y="0"/>
                  <a:pt x="9" y="0"/>
                </a:cubicBezTo>
                <a:close/>
              </a:path>
            </a:pathLst>
          </a:custGeom>
          <a:solidFill>
            <a:srgbClr val="FFC107"/>
          </a:solidFill>
          <a:ln/>
        </p:spPr>
        <p:txBody>
          <a:bodyPr/>
          <a:p/>
        </p:txBody>
      </p:sp>
      <p:sp>
        <p:nvSpPr>
          <p:cNvPr id="389" name="" descr="{&quot;isTemplate&quot;:true,&quot;type&quot;:&quot;text&quot;}"/>
          <p:cNvSpPr txBox="1"/>
          <p:nvPr/>
        </p:nvSpPr>
        <p:spPr>
          <a:xfrm rot="0" flipH="0" flipV="0">
            <a:off x="5210175" y="4362450"/>
            <a:ext cx="6438900" cy="190500"/>
          </a:xfrm>
          <a:prstGeom prst="rect"/>
        </p:spPr>
        <p:txBody>
          <a:bodyPr wrap="none" lIns="0" tIns="0" rIns="0" bIns="0"/>
          <a:p>
            <a:pPr>
              <a:lnSpc>
                <a:spcPct val="100000"/>
              </a:lnSpc>
            </a:pPr>
            <a:r>
              <a:rPr lang="en-US" sz="1200" b="1">
                <a:solidFill>
                  <a:srgbClr val="996F00"/>
                </a:solidFill>
                <a:latin typeface="Microsoft YaHei"/>
                <a:ea typeface="Microsoft YaHei"/>
              </a:rPr>
              <a:t>no findOpenFor here</a:t>
            </a:r>
            <a:endParaRPr/>
          </a:p>
        </p:txBody>
      </p:sp>
      <p:sp>
        <p:nvSpPr>
          <p:cNvPr id="390" name="" descr="{&quot;isTemplate&quot;:true,&quot;type&quot;:&quot;text&quot;}"/>
          <p:cNvSpPr txBox="1"/>
          <p:nvPr/>
        </p:nvSpPr>
        <p:spPr>
          <a:xfrm rot="0" flipH="0" flipV="0">
            <a:off x="5210175" y="4600575"/>
            <a:ext cx="6438900" cy="238125"/>
          </a:xfrm>
          <a:prstGeom prst="rect"/>
        </p:spPr>
        <p:txBody>
          <a:bodyPr wrap="none" lIns="0" tIns="0" rIns="0" bIns="0"/>
          <a:p>
            <a:pPr>
              <a:lnSpc>
                <a:spcPct val="160000"/>
              </a:lnSpc>
            </a:pPr>
            <a:r>
              <a:rPr lang="en-US" sz="975">
                <a:solidFill>
                  <a:srgbClr val="4A5568"/>
                </a:solidFill>
                <a:latin typeface="Microsoft YaHei"/>
                <a:ea typeface="Microsoft YaHei"/>
              </a:rPr>
              <a:t>That is a collection operation. It belongs to the control class, not to one order.</a:t>
            </a:r>
            <a:endParaRPr/>
          </a:p>
        </p:txBody>
      </p:sp>
      <p:sp>
        <p:nvSpPr>
          <p:cNvPr id="391" name=""/>
          <p:cNvSpPr/>
          <p:nvPr/>
        </p:nvSpPr>
        <p:spPr>
          <a:xfrm rot="0" flipH="0" flipV="0">
            <a:off x="5010150" y="5105400"/>
            <a:ext cx="6800850" cy="457200"/>
          </a:xfrm>
          <a:prstGeom prst="roundRect">
            <a:avLst>
              <a:gd name="adj" fmla="val 16667"/>
            </a:avLst>
          </a:prstGeom>
          <a:solidFill>
            <a:srgbClr val="F7F9FC"/>
          </a:solidFill>
          <a:ln w="12700">
            <a:solidFill>
              <a:srgbClr val="D6DCE5"/>
            </a:solidFill>
            <a:prstDash val="dash"/>
          </a:ln>
        </p:spPr>
        <p:txBody>
          <a:bodyPr/>
          <a:p/>
        </p:txBody>
      </p:sp>
      <p:sp>
        <p:nvSpPr>
          <p:cNvPr id="392" name="" descr="{&quot;isTemplate&quot;:true,&quot;type&quot;:&quot;text&quot;}"/>
          <p:cNvSpPr txBox="1"/>
          <p:nvPr/>
        </p:nvSpPr>
        <p:spPr>
          <a:xfrm rot="0" flipH="0" flipV="0">
            <a:off x="5162550" y="5219700"/>
            <a:ext cx="6496050" cy="228600"/>
          </a:xfrm>
          <a:prstGeom prst="rect"/>
        </p:spPr>
        <p:txBody>
          <a:bodyPr wrap="none" lIns="0" tIns="0" rIns="0" bIns="0"/>
          <a:p>
            <a:pPr>
              <a:lnSpc>
                <a:spcPct val="155000"/>
              </a:lnSpc>
            </a:pPr>
            <a:r>
              <a:rPr lang="en-US" sz="938">
                <a:solidFill>
                  <a:srgbClr val="8B97A8"/>
                </a:solidFill>
                <a:latin typeface="Microsoft YaHei"/>
                <a:ea typeface="Microsoft YaHei"/>
              </a:rPr>
              <a:t>Visibility marks are a W10 topic. In an analysis model every member is public, so we do not write them yet.</a:t>
            </a:r>
            <a:endParaRPr/>
          </a:p>
        </p:txBody>
      </p:sp>
      <p:sp>
        <p:nvSpPr>
          <p:cNvPr id="393" name="" descr="{&quot;isTemplate&quot;:true,&quot;type&quot;:&quot;text&quot;}"/>
          <p:cNvSpPr txBox="1"/>
          <p:nvPr/>
        </p:nvSpPr>
        <p:spPr>
          <a:xfrm rot="0" flipH="0" flipV="0">
            <a:off x="381000" y="6619875"/>
            <a:ext cx="6372225" cy="152400"/>
          </a:xfrm>
          <a:prstGeom prst="rect"/>
        </p:spPr>
        <p:txBody>
          <a:bodyPr wrap="none" lIns="0" tIns="0" rIns="0" bIns="0"/>
          <a:p>
            <a:pPr>
              <a:lnSpc>
                <a:spcPct val="100000"/>
              </a:lnSpc>
            </a:pPr>
            <a:r>
              <a:rPr lang="en-US" sz="975">
                <a:solidFill>
                  <a:srgbClr val="8B97A8"/>
                </a:solidFill>
                <a:latin typeface="Microsoft YaHei"/>
                <a:ea typeface="Microsoft YaHei"/>
              </a:rPr>
              <a:t>ISAD · Fall 2026 · Seven lines, every one traceable to a sentence. That is the standard for every class in your model</a:t>
            </a:r>
            <a:endParaRPr/>
          </a:p>
        </p:txBody>
      </p:sp>
      <p:sp>
        <p:nvSpPr>
          <p:cNvPr id="394" name="" descr="{&quot;isTemplate&quot;:true,&quot;type&quot;:&quot;text&quot;}"/>
          <p:cNvSpPr txBox="1"/>
          <p:nvPr/>
        </p:nvSpPr>
        <p:spPr>
          <a:xfrm rot="0" flipH="0" flipV="0">
            <a:off x="11401425" y="6619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24 / 39</a:t>
            </a:r>
            <a:endParaRPr/>
          </a:p>
        </p:txBody>
      </p:sp>
    </p:spTree>
  </p:cSld>
</p:sld>
</file>

<file path=ppt/slides/slide25.xml><?xml version="1.0" encoding="utf-8"?>
<p:sld xmlns:p="http://schemas.openxmlformats.org/presentationml/2006/main" xmlns:a="http://schemas.openxmlformats.org/drawingml/2006/main">
  <p:cSld>
    <p:spTree>
      <p:nvGrpSpPr>
        <p:cNvPr id="395" name="" descr="&lt;Slide style={{ background: '#0E3F8C', padding: 0 }}&gt;&#10;  &lt;Box style={{ flexDirection: 'row', height: '100%', position: 'relative' }}&gt;&#10;    &lt;Box style={{ position: 'absolute', top: 0, left: 0, right: 0, height: 8, background: '#1E4FA8' }} /&gt;&#10;    &lt;Box style={{ width: 300, justifyContent: 'center', alignItems: 'center', borderRight: '1px solid #2B5793' }}&gt;&#10;      &lt;Text style={{ fontSize: 220, fontWeight: 'bold', color: '#3D7BD9', fontFamily: 'Georgia, serif', lineHeight: 1 }}&gt;05&lt;/Text&gt;&#10;    &lt;/Box&gt;&#10;    &lt;Box style={{ flex: 1, padding: '70px 64px', flexDirection: 'column', justifyContent: 'center' }}&gt;&#10;      &lt;Text style={{ fontSize: 15, color: '#7FA2D6', letterSpacing: 2, marginBottom: 18 }}&gt;PART 5 · LECTURE&lt;/Text&gt;&#10;      &lt;Text style={{ fontSize: 46, fontWeight: 'bold', color: '#FFFFFF', lineHeight: 1.18 }}&gt;Building&lt;br /&gt;the Model&lt;/Text&gt;&#10;      &lt;Box style={{ width: 64, height: 4, background: '#FFC107', marginTop: 26, marginBottom: 26 }} /&gt;&#10;      &lt;Box style={{ flexDirection: 'column', gap: 12 }}&gt;&#10;        {[&#10;          'Ten classes is a smell test, not a quota',&#10;          'Associations this week — multiplicities and aggregation next week',&#10;          'Then you change it, because ΔC1 arrives on Monday'&#10;        ].map((t) =&gt; (&#10;          &lt;Box key={t} style={{ flexDirection: 'row', alignItems: 'center', gap: 12 }}&gt;&#10;            &lt;Box style={{ width: 8, height: 8, borderRadius: 4, background: '#3D7BD9' }} /&gt;&#10;            &lt;Text style={{ fontSize: 20, color: '#C5D4EA' }}&gt;{t}&lt;/Text&gt;&#10;          &lt;/Box&gt;&#10;        ))}&#10;      &lt;/Box&gt;&#10;    &lt;/Box&gt;&#10;  &lt;/Box&gt;&#10;&lt;/Slide&gt;&#10;"/>
        <p:cNvGrpSpPr/>
        <p:nvPr/>
      </p:nvGrpSpPr>
      <p:grpSpPr>
        <a:xfrm>
          <a:off x="0" y="0"/>
          <a:ext cx="0" cy="0"/>
          <a:chOff x="0" y="0"/>
          <a:chExt cx="0" cy="0"/>
        </a:xfrm>
      </p:grpSpPr>
      <p:sp>
        <p:nvSpPr>
          <p:cNvPr id="396" name=""/>
          <p:cNvSpPr/>
          <p:nvPr/>
        </p:nvSpPr>
        <p:spPr>
          <a:xfrm rot="0" flipH="0" flipV="0">
            <a:off x="0" y="0"/>
            <a:ext cx="12192000" cy="6858000"/>
          </a:xfrm>
          <a:prstGeom prst="rect">
            <a:avLst/>
          </a:prstGeom>
          <a:solidFill>
            <a:srgbClr val="0E3F8C"/>
          </a:solidFill>
          <a:ln/>
        </p:spPr>
        <p:txBody>
          <a:bodyPr/>
          <a:p/>
        </p:txBody>
      </p:sp>
      <p:sp>
        <p:nvSpPr>
          <p:cNvPr id="397" name=""/>
          <p:cNvSpPr/>
          <p:nvPr/>
        </p:nvSpPr>
        <p:spPr>
          <a:xfrm rot="0" flipH="0" flipV="0">
            <a:off x="0" y="0"/>
            <a:ext cx="2857500" cy="6858000"/>
          </a:xfrm>
          <a:custGeom>
            <a:pathLst>
              <a:path w="300" h="720">
                <a:moveTo>
                  <a:pt x="299" y="0"/>
                </a:moveTo>
                <a:lnTo>
                  <a:pt x="300" y="0"/>
                </a:lnTo>
                <a:lnTo>
                  <a:pt x="300" y="720"/>
                </a:lnTo>
                <a:lnTo>
                  <a:pt x="299" y="720"/>
                </a:lnTo>
                <a:close/>
              </a:path>
            </a:pathLst>
          </a:custGeom>
          <a:solidFill>
            <a:srgbClr val="2B5793"/>
          </a:solidFill>
          <a:ln/>
        </p:spPr>
        <p:txBody>
          <a:bodyPr/>
          <a:p/>
        </p:txBody>
      </p:sp>
      <p:sp>
        <p:nvSpPr>
          <p:cNvPr id="398" name="" descr="{&quot;isTemplate&quot;:true,&quot;type&quot;:&quot;text&quot;}"/>
          <p:cNvSpPr txBox="1"/>
          <p:nvPr/>
        </p:nvSpPr>
        <p:spPr>
          <a:xfrm rot="0" flipH="0" flipV="0">
            <a:off x="57150" y="2171700"/>
            <a:ext cx="2733675" cy="2514600"/>
          </a:xfrm>
          <a:prstGeom prst="rect"/>
        </p:spPr>
        <p:txBody>
          <a:bodyPr wrap="none" lIns="0" tIns="0" rIns="0" bIns="0"/>
          <a:p>
            <a:pPr>
              <a:lnSpc>
                <a:spcPct val="100000"/>
              </a:lnSpc>
            </a:pPr>
            <a:r>
              <a:rPr lang="en-US" sz="16500" b="1">
                <a:solidFill>
                  <a:srgbClr val="3D7BD9"/>
                </a:solidFill>
                <a:latin typeface="Georgia"/>
                <a:ea typeface="Georgia"/>
              </a:rPr>
              <a:t>05</a:t>
            </a:r>
            <a:endParaRPr/>
          </a:p>
        </p:txBody>
      </p:sp>
      <p:sp>
        <p:nvSpPr>
          <p:cNvPr id="399" name="" descr="{&quot;isTemplate&quot;:true,&quot;type&quot;:&quot;text&quot;}"/>
          <p:cNvSpPr txBox="1"/>
          <p:nvPr/>
        </p:nvSpPr>
        <p:spPr>
          <a:xfrm rot="0" flipH="0" flipV="0">
            <a:off x="3467100" y="1914525"/>
            <a:ext cx="8115300" cy="171450"/>
          </a:xfrm>
          <a:prstGeom prst="rect"/>
        </p:spPr>
        <p:txBody>
          <a:bodyPr wrap="none" lIns="0" tIns="0" rIns="0" bIns="0"/>
          <a:p>
            <a:pPr>
              <a:lnSpc>
                <a:spcPct val="100000"/>
              </a:lnSpc>
            </a:pPr>
            <a:r>
              <a:rPr lang="en-US" sz="1125" spc="150">
                <a:solidFill>
                  <a:srgbClr val="7FA2D6"/>
                </a:solidFill>
                <a:latin typeface="Microsoft YaHei"/>
                <a:ea typeface="Microsoft YaHei"/>
              </a:rPr>
              <a:t>PART 5 · LECTURE</a:t>
            </a:r>
            <a:endParaRPr/>
          </a:p>
        </p:txBody>
      </p:sp>
      <p:sp>
        <p:nvSpPr>
          <p:cNvPr id="400" name="" descr="{&quot;isTemplate&quot;:true,&quot;type&quot;:&quot;text&quot;}"/>
          <p:cNvSpPr txBox="1"/>
          <p:nvPr/>
        </p:nvSpPr>
        <p:spPr>
          <a:xfrm rot="0" flipH="0" flipV="0">
            <a:off x="3467100" y="2257425"/>
            <a:ext cx="8115300" cy="1247775"/>
          </a:xfrm>
          <a:prstGeom prst="rect"/>
        </p:spPr>
        <p:txBody>
          <a:bodyPr wrap="none" lIns="0" tIns="0" rIns="0" bIns="0"/>
          <a:p>
            <a:pPr>
              <a:lnSpc>
                <a:spcPct val="118000"/>
              </a:lnSpc>
            </a:pPr>
            <a:r>
              <a:rPr lang="en-US" sz="3450" b="1">
                <a:solidFill>
                  <a:srgbClr val="FFFFFF"/>
                </a:solidFill>
                <a:latin typeface="Microsoft YaHei"/>
                <a:ea typeface="Microsoft YaHei"/>
              </a:rPr>
              <a:t>Building</a:t>
            </a:r>
            <a:endParaRPr/>
          </a:p>
          <a:p>
            <a:pPr>
              <a:lnSpc>
                <a:spcPct val="118000"/>
              </a:lnSpc>
            </a:pPr>
            <a:r>
              <a:rPr lang="en-US" sz="3450" b="1">
                <a:solidFill>
                  <a:srgbClr val="FFFFFF"/>
                </a:solidFill>
                <a:latin typeface="Microsoft YaHei"/>
                <a:ea typeface="Microsoft YaHei"/>
              </a:rPr>
              <a:t>the Model</a:t>
            </a:r>
            <a:endParaRPr/>
          </a:p>
        </p:txBody>
      </p:sp>
      <p:sp>
        <p:nvSpPr>
          <p:cNvPr id="401" name=""/>
          <p:cNvSpPr/>
          <p:nvPr/>
        </p:nvSpPr>
        <p:spPr>
          <a:xfrm rot="0" flipH="0" flipV="0">
            <a:off x="3467100" y="3752850"/>
            <a:ext cx="609600" cy="38100"/>
          </a:xfrm>
          <a:prstGeom prst="rect">
            <a:avLst/>
          </a:prstGeom>
          <a:solidFill>
            <a:srgbClr val="FFC107"/>
          </a:solidFill>
          <a:ln/>
        </p:spPr>
        <p:txBody>
          <a:bodyPr/>
          <a:p/>
        </p:txBody>
      </p:sp>
      <p:sp>
        <p:nvSpPr>
          <p:cNvPr id="402" name=""/>
          <p:cNvSpPr/>
          <p:nvPr/>
        </p:nvSpPr>
        <p:spPr>
          <a:xfrm rot="0" flipH="0" flipV="0">
            <a:off x="3467100" y="4114800"/>
            <a:ext cx="76200" cy="76200"/>
          </a:xfrm>
          <a:prstGeom prst="roundRect">
            <a:avLst>
              <a:gd name="adj" fmla="val 50000"/>
            </a:avLst>
          </a:prstGeom>
          <a:solidFill>
            <a:srgbClr val="3D7BD9"/>
          </a:solidFill>
          <a:ln/>
        </p:spPr>
        <p:txBody>
          <a:bodyPr/>
          <a:p/>
        </p:txBody>
      </p:sp>
      <p:sp>
        <p:nvSpPr>
          <p:cNvPr id="403" name="" descr="{&quot;isTemplate&quot;:true,&quot;type&quot;:&quot;text&quot;}"/>
          <p:cNvSpPr txBox="1"/>
          <p:nvPr/>
        </p:nvSpPr>
        <p:spPr>
          <a:xfrm rot="0" flipH="0" flipV="0">
            <a:off x="3657600" y="4038600"/>
            <a:ext cx="3267075" cy="228600"/>
          </a:xfrm>
          <a:prstGeom prst="rect"/>
        </p:spPr>
        <p:txBody>
          <a:bodyPr wrap="none" lIns="0" tIns="0" rIns="0" bIns="0"/>
          <a:p>
            <a:pPr>
              <a:lnSpc>
                <a:spcPct val="100000"/>
              </a:lnSpc>
            </a:pPr>
            <a:r>
              <a:rPr lang="en-US" sz="1500">
                <a:solidFill>
                  <a:srgbClr val="C5D4EA"/>
                </a:solidFill>
                <a:latin typeface="Microsoft YaHei"/>
                <a:ea typeface="Microsoft YaHei"/>
              </a:rPr>
              <a:t>Ten classes is a smell test, not a quota</a:t>
            </a:r>
            <a:endParaRPr/>
          </a:p>
        </p:txBody>
      </p:sp>
      <p:sp>
        <p:nvSpPr>
          <p:cNvPr id="404" name=""/>
          <p:cNvSpPr/>
          <p:nvPr/>
        </p:nvSpPr>
        <p:spPr>
          <a:xfrm rot="0" flipH="0" flipV="0">
            <a:off x="3467100" y="4457700"/>
            <a:ext cx="76200" cy="76200"/>
          </a:xfrm>
          <a:prstGeom prst="roundRect">
            <a:avLst>
              <a:gd name="adj" fmla="val 50000"/>
            </a:avLst>
          </a:prstGeom>
          <a:solidFill>
            <a:srgbClr val="3D7BD9"/>
          </a:solidFill>
          <a:ln/>
        </p:spPr>
        <p:txBody>
          <a:bodyPr/>
          <a:p/>
        </p:txBody>
      </p:sp>
      <p:sp>
        <p:nvSpPr>
          <p:cNvPr id="405" name="" descr="{&quot;isTemplate&quot;:true,&quot;type&quot;:&quot;text&quot;}"/>
          <p:cNvSpPr txBox="1"/>
          <p:nvPr/>
        </p:nvSpPr>
        <p:spPr>
          <a:xfrm rot="0" flipH="0" flipV="0">
            <a:off x="3657600" y="4381500"/>
            <a:ext cx="5581650" cy="228600"/>
          </a:xfrm>
          <a:prstGeom prst="rect"/>
        </p:spPr>
        <p:txBody>
          <a:bodyPr wrap="none" lIns="0" tIns="0" rIns="0" bIns="0"/>
          <a:p>
            <a:pPr>
              <a:lnSpc>
                <a:spcPct val="100000"/>
              </a:lnSpc>
            </a:pPr>
            <a:r>
              <a:rPr lang="en-US" sz="1500">
                <a:solidFill>
                  <a:srgbClr val="C5D4EA"/>
                </a:solidFill>
                <a:latin typeface="Microsoft YaHei"/>
                <a:ea typeface="Microsoft YaHei"/>
              </a:rPr>
              <a:t>Associations this week — multiplicities and aggregation next week</a:t>
            </a:r>
            <a:endParaRPr/>
          </a:p>
        </p:txBody>
      </p:sp>
      <p:sp>
        <p:nvSpPr>
          <p:cNvPr id="406" name=""/>
          <p:cNvSpPr/>
          <p:nvPr/>
        </p:nvSpPr>
        <p:spPr>
          <a:xfrm rot="0" flipH="0" flipV="0">
            <a:off x="3467100" y="4800600"/>
            <a:ext cx="76200" cy="76200"/>
          </a:xfrm>
          <a:prstGeom prst="roundRect">
            <a:avLst>
              <a:gd name="adj" fmla="val 50000"/>
            </a:avLst>
          </a:prstGeom>
          <a:solidFill>
            <a:srgbClr val="3D7BD9"/>
          </a:solidFill>
          <a:ln/>
        </p:spPr>
        <p:txBody>
          <a:bodyPr/>
          <a:p/>
        </p:txBody>
      </p:sp>
      <p:sp>
        <p:nvSpPr>
          <p:cNvPr id="407" name="" descr="{&quot;isTemplate&quot;:true,&quot;type&quot;:&quot;text&quot;}"/>
          <p:cNvSpPr txBox="1"/>
          <p:nvPr/>
        </p:nvSpPr>
        <p:spPr>
          <a:xfrm rot="0" flipH="0" flipV="0">
            <a:off x="3657600" y="4724400"/>
            <a:ext cx="4495800" cy="228600"/>
          </a:xfrm>
          <a:prstGeom prst="rect"/>
        </p:spPr>
        <p:txBody>
          <a:bodyPr wrap="none" lIns="0" tIns="0" rIns="0" bIns="0"/>
          <a:p>
            <a:pPr>
              <a:lnSpc>
                <a:spcPct val="100000"/>
              </a:lnSpc>
            </a:pPr>
            <a:r>
              <a:rPr lang="en-US" sz="1500">
                <a:solidFill>
                  <a:srgbClr val="C5D4EA"/>
                </a:solidFill>
                <a:latin typeface="Microsoft YaHei"/>
                <a:ea typeface="Microsoft YaHei"/>
              </a:rPr>
              <a:t>Then you change it, because ΔC1 arrives on Monday</a:t>
            </a:r>
            <a:endParaRPr/>
          </a:p>
        </p:txBody>
      </p:sp>
      <p:sp>
        <p:nvSpPr>
          <p:cNvPr id="408" name=""/>
          <p:cNvSpPr/>
          <p:nvPr/>
        </p:nvSpPr>
        <p:spPr>
          <a:xfrm rot="0" flipH="0" flipV="0">
            <a:off x="0" y="0"/>
            <a:ext cx="12192000" cy="76200"/>
          </a:xfrm>
          <a:prstGeom prst="rect">
            <a:avLst/>
          </a:prstGeom>
          <a:solidFill>
            <a:srgbClr val="1E4FA8"/>
          </a:solidFill>
          <a:ln/>
        </p:spPr>
        <p:txBody>
          <a:bodyPr/>
          <a:p/>
        </p:txBody>
      </p:sp>
    </p:spTree>
  </p:cSld>
</p:sld>
</file>

<file path=ppt/slides/slide26.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409"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6 · BUILDING THE MODEL&lt;/Text&gt;&#10;  &lt;/Box&gt;&#10;  &lt;Box style={{ padding: '13px 40px 0 40px', flexDirection: 'row', alignItems: 'center', justifyContent: 'space-between' }}&gt;&#10;    &lt;Text style={{ fontSize: 29, fontWeight: 'bold', color: '#0E3F8C' }}&gt;The Eight-Class Floor&lt;/Text&gt;&#10;    &lt;Text style={{ fontSize: 14, color: '#1E4FA8', fontWeight: 'bold' }}&gt;26 / 39&lt;/Text&gt;&#10;  &lt;/Box&gt;&#10;  &lt;Box style={{ flex: 1, padding: '6px 40px 0 40px', justifyContent: 'center', alignItems: 'center' }}&gt;&#10;    &lt;svg width={1180} height={392} viewBox='0 0 1180 392'&gt;&#10;      &lt;text x='10' y='16' fill='#8B97A8' fontSize='13'&gt;Where you are now, and where today ends. Your own numbers, from your own requirements.&lt;/text&gt;&#10;&#10;      &lt;g transform='translate(0,34)'&gt;&#10;        &lt;rect x='0' y='0' width='368' height='300' rx='8' fill='#F7F9FC' stroke='#D6DCE5' strokeWidth='1.5' /&gt;&#10;        &lt;text x='20' y='30' fill='#0E3F8C' fontSize='15' fontWeight='bold'&gt;Your trajectory&lt;/text&gt;&#10;        &lt;text x='20' y='62' fill='#8B97A8' fontSize='11.5'&gt;Today - W06&lt;/text&gt;&#10;        &lt;text x='20' y='84' fill='#4A5568' fontSize='13'&gt;12 requirements read&lt;/text&gt;&#10;        &lt;text x='20' y='106' fill='#4A5568' fontSize='13'&gt;about 24 nouns scanned&lt;/text&gt;&#10;        &lt;text x='20' y='128' fill='#4A5568' fontSize='13'&gt;8 classes or more drawn&lt;/text&gt;&#10;        &lt;line x1='20' y1='146' x2='348' y2='146' stroke='#D6DCE5' strokeWidth='1' /&gt;&#10;        &lt;text x='20' y='170' fill='#8B97A8' fontSize='11.5'&gt;Next - W07&lt;/text&gt;&#10;        &lt;text x='20' y='192' fill='#4A5568' fontSize='13'&gt;multiplicities on every association&lt;/text&gt;&#10;        &lt;text x='20' y='214' fill='#4A5568' fontSize='13'&gt;aggregation vs. composition&lt;/text&gt;&#10;        &lt;line x1='20' y1='232' x2='348' y2='232' stroke='#D6DCE5' strokeWidth='1' /&gt;&#10;        &lt;text x='20' y='256' fill='#8B97A8' fontSize='11.5'&gt;Then - W08&lt;/text&gt;&#10;        &lt;text x='20' y='278' fill='#4A5568' fontSize='13'&gt;two more use cases, two more sets of nouns&lt;/text&gt;&#10;      &lt;/g&gt;&#10;&#10;      &lt;g transform='translate(406,34)'&gt;&#10;        &lt;rect x='0' y='0' width='368' height='300' rx='8' fill='#F7F9FC' stroke='#D6DCE5' strokeWidth='1.5' /&gt;&#10;        &lt;text x='20' y='30' fill='#0E3F8C' fontSize='15' fontWeight='bold'&gt;Where your classes come from&lt;/text&gt;&#10;        &lt;text x='20' y='54' fill='#8B97A8' fontSize='11.5'&gt;Every class names the FR line it came from.&lt;/text&gt;&#10;        &lt;text x='20' y='84' fill='#0E3F8C' fontSize='12.5' fontWeight='bold'&gt;Entities - have identity, change over time&lt;/text&gt;&#10;        &lt;text x='20' y='106' fill='#4A5568' fontSize='11.5'&gt;Analysis · Finding · Image · Client profile&lt;/text&gt;&#10;        &lt;text x='20' y='124' fill='#4A5568' fontSize='11.5'&gt;TreatmentPlan · Regimen · Product&lt;/text&gt;&#10;        &lt;text x='20' y='150' fill='#0E3F8C' fontSize='12.5' fontWeight='bold'&gt;Boundaries - what a person touches&lt;/text&gt;&#10;        &lt;text x='20' y='172' fill='#4A5568' fontSize='11.5'&gt;ClientApp · PractitionerConsole&lt;/text&gt;&#10;        &lt;text x='20' y='198' fill='#0E3F8C' fontSize='12.5' fontWeight='bold'&gt;Controls - one per use case&lt;/text&gt;&#10;        &lt;text x='20' y='220' fill='#4A5568' fontSize='11.5'&gt;AnalysisController · ReviewController&lt;/text&gt;&#10;        &lt;rect x='20' y='240' width='328' height='42' rx='6' fill='#FFFFFF' stroke='#D9534F' strokeWidth='1.2' /&gt;&#10;        &lt;text x='34' y='258' fill='#D9534F' fontSize='11.5' fontWeight='bold'&gt;Outside your boundary:&lt;/text&gt;&#10;        &lt;text x='34' y='274' fill='#D9534F' fontSize='11.5'&gt;AI engine · product catalogue · payment&lt;/text&gt;&#10;      &lt;/g&gt;&#10;&#10;      &lt;g transform='translate(812,34)'&gt;&#10;        &lt;rect x='0' y='0' width='368' height='300' rx='8' fill='#FFF6E0' stroke='#FFC107' strokeWidth='1.5' /&gt;&#10;        &lt;text x='20' y='30' fill='#996F00' fontSize='15' fontWeight='bold'&gt;What the number is for&lt;/text&gt;&#10;        &lt;text x='20' y='58' fill='#4A5568' fontSize='11.5'&gt;It is a floor. It catches two common mistakes:&lt;/text&gt;&#10;        &lt;text x='20' y='86' fill='#996F00' fontSize='12.5' fontWeight='bold'&gt;Too few&lt;/text&gt;&#10;        &lt;text x='20' y='106' fill='#4A5568' fontSize='11.5'&gt;You modelled only the nouns you&lt;/text&gt;&#10;        &lt;text x='20' y='122' fill='#4A5568' fontSize='11.5'&gt;happened to read carefully.&lt;/text&gt;&#10;        &lt;text x='20' y='150' fill='#996F00' fontSize='12.5' fontWeight='bold'&gt;Too many&lt;/text&gt;&#10;        &lt;text x='20' y='170' fill='#4A5568' fontSize='11.5'&gt;Every noun became a class. Look for&lt;/text&gt;&#10;        &lt;text x='20' y='186' fill='#4A5568' fontSize='11.5'&gt;names ending in Manager, Helper,&lt;/text&gt;&#10;        &lt;text x='20' y='202' fill='#4A5568' fontSize='11.5'&gt;Service, DTO - or classes nothing&lt;/text&gt;&#10;        &lt;text x='20' y='218' fill='#4A5568' fontSize='11.5'&gt;can be traced to.&lt;/text&gt;&#10;        &lt;rect x='20' y='240' width='328' height='42' rx='6' fill='#FFFFFF' /&gt;&#10;        &lt;text x='34' y='258' fill='#0E3F8C' fontSize='11.5' fontWeight='bold'&gt;Eight is a floor, not a quota.&lt;/text&gt;&#10;        &lt;text x='34' y='274' fill='#0E3F8C' fontSize='11.5'&gt;A model of four missed the domain.&lt;/text&gt;&#10;      &lt;/g&gt;&#10;    &lt;/svg&gt;&#10;  &lt;/Box&gt;&#10;&lt;/Slide&gt;&#10;"/>
        <p:cNvGrpSpPr/>
        <p:nvPr/>
      </p:nvGrpSpPr>
      <p:grpSpPr>
        <a:xfrm>
          <a:off x="0" y="0"/>
          <a:ext cx="0" cy="0"/>
          <a:chOff x="0" y="0"/>
          <a:chExt cx="0" cy="0"/>
        </a:xfrm>
      </p:grpSpPr>
      <p:sp>
        <p:nvSpPr>
          <p:cNvPr id="410" name=""/>
          <p:cNvSpPr/>
          <p:nvPr/>
        </p:nvSpPr>
        <p:spPr>
          <a:xfrm rot="0" flipH="0" flipV="0">
            <a:off x="0" y="0"/>
            <a:ext cx="12192000" cy="6858000"/>
          </a:xfrm>
          <a:prstGeom prst="rect">
            <a:avLst/>
          </a:prstGeom>
          <a:solidFill>
            <a:srgbClr val="FFFFFF"/>
          </a:solidFill>
          <a:ln/>
        </p:spPr>
        <p:txBody>
          <a:bodyPr/>
          <a:p/>
        </p:txBody>
      </p:sp>
      <p:sp>
        <p:nvSpPr>
          <p:cNvPr id="411" name=""/>
          <p:cNvSpPr/>
          <p:nvPr/>
        </p:nvSpPr>
        <p:spPr>
          <a:xfrm rot="0" flipH="0" flipV="0">
            <a:off x="0" y="0"/>
            <a:ext cx="12192000" cy="685800"/>
          </a:xfrm>
          <a:prstGeom prst="rect">
            <a:avLst/>
          </a:prstGeom>
          <a:solidFill>
            <a:srgbClr val="1E4FA8"/>
          </a:solidFill>
          <a:ln/>
        </p:spPr>
        <p:txBody>
          <a:bodyPr/>
          <a:p/>
        </p:txBody>
      </p:sp>
      <p:sp>
        <p:nvSpPr>
          <p:cNvPr id="412"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413" name="" descr="{&quot;isTemplate&quot;:true,&quot;type&quot;:&quot;text&quot;}"/>
          <p:cNvSpPr txBox="1"/>
          <p:nvPr/>
        </p:nvSpPr>
        <p:spPr>
          <a:xfrm rot="0" flipH="0" flipV="0">
            <a:off x="9839325" y="257175"/>
            <a:ext cx="1971675" cy="171450"/>
          </a:xfrm>
          <a:prstGeom prst="rect"/>
        </p:spPr>
        <p:txBody>
          <a:bodyPr wrap="none" lIns="0" tIns="0" rIns="0" bIns="0"/>
          <a:p>
            <a:pPr>
              <a:lnSpc>
                <a:spcPct val="100000"/>
              </a:lnSpc>
            </a:pPr>
            <a:r>
              <a:rPr lang="en-US" sz="1125">
                <a:solidFill>
                  <a:srgbClr val="B9CDF0"/>
                </a:solidFill>
                <a:latin typeface="Microsoft YaHei"/>
                <a:ea typeface="Microsoft YaHei"/>
              </a:rPr>
              <a:t>W06 · BUILDING THE MODEL</a:t>
            </a:r>
            <a:endParaRPr/>
          </a:p>
        </p:txBody>
      </p:sp>
      <p:sp>
        <p:nvSpPr>
          <p:cNvPr id="414" name="" descr="{&quot;isTemplate&quot;:true,&quot;type&quot;:&quot;text&quot;}"/>
          <p:cNvSpPr txBox="1"/>
          <p:nvPr/>
        </p:nvSpPr>
        <p:spPr>
          <a:xfrm rot="0" flipH="0" flipV="0">
            <a:off x="381000" y="809625"/>
            <a:ext cx="2857500" cy="333375"/>
          </a:xfrm>
          <a:prstGeom prst="rect"/>
        </p:spPr>
        <p:txBody>
          <a:bodyPr wrap="none" lIns="0" tIns="0" rIns="0" bIns="0"/>
          <a:p>
            <a:pPr>
              <a:lnSpc>
                <a:spcPct val="100000"/>
              </a:lnSpc>
            </a:pPr>
            <a:r>
              <a:rPr lang="en-US" sz="2175" b="1">
                <a:solidFill>
                  <a:srgbClr val="0E3F8C"/>
                </a:solidFill>
                <a:latin typeface="Microsoft YaHei"/>
                <a:ea typeface="Microsoft YaHei"/>
              </a:rPr>
              <a:t>The Eight-Class Floor</a:t>
            </a:r>
            <a:endParaRPr/>
          </a:p>
        </p:txBody>
      </p:sp>
      <p:sp>
        <p:nvSpPr>
          <p:cNvPr id="415"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26 / 39</a:t>
            </a:r>
            <a:endParaRPr/>
          </a:p>
        </p:txBody>
      </p:sp>
      <p:pic>
        <p:nvPicPr>
          <p:cNvPr id="416" name=""/>
          <p:cNvPicPr>
            <a:picLocks noChangeAspect="1"/>
          </p:cNvPicPr>
          <p:nvPr/>
        </p:nvPicPr>
        <p:blipFill>
          <a:blip>
            <a:extLst>
              <a:ext uri="{96DAC541-7B7A-43D3-8B79-37D633B846F1}">
                <asvg:svgBlip r:embed="rId1"/>
              </a:ext>
            </a:extLst>
          </a:blip>
          <a:stretch>
            <a:fillRect/>
          </a:stretch>
        </p:blipFill>
        <p:spPr>
          <a:xfrm rot="0" flipH="0" flipV="0">
            <a:off x="476250" y="2162175"/>
            <a:ext cx="11239500" cy="3733800"/>
          </a:xfrm>
          <a:prstGeom prst="rect">
            <a:avLst/>
          </a:prstGeom>
          <a:ln/>
        </p:spPr>
      </p:pic>
    </p:spTree>
  </p:cSld>
</p:sld>
</file>

<file path=ppt/slides/slide27.xml><?xml version="1.0" encoding="utf-8"?>
<p:sld xmlns:p="http://schemas.openxmlformats.org/presentationml/2006/main" xmlns:a="http://schemas.openxmlformats.org/drawingml/2006/main">
  <p:cSld>
    <p:spTree>
      <p:nvGrpSpPr>
        <p:cNvPr id="417"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6 · BUILDING THE MODEL&lt;/Text&gt;&#10;  &lt;/Box&gt;&#10;  &lt;Box style={{ padding: '13px 40px 0 40px', flexDirection: 'row', alignItems: 'center', justifyContent: 'space-between' }}&gt;&#10;    &lt;Text style={{ fontSize: 29, fontWeight: 'bold', color: '#0E3F8C' }}&gt;Association First, Multiplicity Next&lt;/Text&gt;&#10;    &lt;Text style={{ fontSize: 14, color: '#1E4FA8', fontWeight: 'bold' }}&gt;27 / 39&lt;/Text&gt;&#10;  &lt;/Box&gt;&#10;  &lt;Box style={{ flex: 1, padding: '10px 40px 0 40px', flexDirection: 'row', gap: 26 }}&gt;&#10;    &lt;Box style={{ flex: 1, flexDirection: 'column', gap: 12 }}&gt;&#10;      &lt;Box style={{ padding: '12px 18px', background: '#EAF6EC', borderRadius: 9 }}&gt;&#10;        &lt;Text style={{ fontSize: 16, fontWeight: 'bold', color: '#2B7A3D' }}&gt;Draw this week&lt;/Text&gt;&#10;      &lt;/Box&gt;&#10;      {[&#10;        'The classes themselves, named and classified E / B / C',&#10;        'Their attributes and instance operations',&#10;        'Which class knows which — an association line',&#10;        'A direction you can say out loud: “an order has lines”',&#10;      ].map((t) =&gt; (&#10;        &lt;Box key={t} style={{ flex: 1, padding: '13px 16px', background: '#FFFFFF', borderRadius: 8, border: '1px solid #E5E7EB' }}&gt;&#10;          &lt;Text style={{ fontSize: 14, color: '#4A5568', lineHeight: 1.5 }}&gt;{t}&lt;/Text&gt;&#10;        &lt;/Box&gt;&#10;      ))}&#10;    &lt;/Box&gt;&#10;    &lt;Box style={{ width: 130, justifyContent: 'center', alignItems: 'center' }}&gt;&#10;      &lt;Box style={{ width: 54, height: 54, borderRadius: 27, background: '#1E4FA8', justifyContent: 'center', alignItems: 'center' }}&gt;&#10;        &lt;Text style={{ fontSize: 26, color: '#FFFFFF', fontWeight: 'bold' }}&gt;→&lt;/Text&gt;&#10;      &lt;/Box&gt;&#10;    &lt;/Box&gt;&#10;    &lt;Box style={{ flex: 1, flexDirection: 'column', gap: 12 }}&gt;&#10;      &lt;Box style={{ padding: '12px 18px', background: '#FFF6E0', borderRadius: 9 }}&gt;&#10;        &lt;Text style={{ fontSize: 16, fontWeight: 'bold', color: '#996F00' }}&gt;Next week — W07&lt;/Text&gt;&#10;      &lt;/Box&gt;&#10;      {[&#10;        'Multiplicities: exactly one, zero or more, one or more',&#10;        'Aggregation and composition, and which one an order line really is',&#10;        'Attributes that turn out to be classes — last week’s DeliveryWindow',&#10;        'Refining the associations you drew roughly today',&#10;      ].map((t) =&gt; (&#10;        &lt;Box key={t} style={{ flex: 1, padding: '13px 16px', background: '#FFFFFF', borderRadius: 8, border: '1px solid #E5E7EB' }}&gt;&#10;          &lt;Text style={{ fontSize: 14, color: '#4A5568', lineHeight: 1.5 }}&gt;{t}&lt;/Text&gt;&#10;        &lt;/Box&gt;&#10;      ))}&#10;      &lt;Box style={{ padding: '13px 16px', background: '#FDF3F3', borderRadius: 8, borderLeft: '4px solid #D9534F' }}&gt;&#10;        &lt;Text style={{ fontSize: 13, color: '#4A5568', lineHeight: 1.6 }}&gt;&#10;          Do not add multiplicities today even if you are sure of them. Guessing them early is how you end up with “1..*” on everything by W07.&#10;        &lt;/Text&gt;&#10;      &lt;/Box&gt;&#10;    &lt;/Box&gt;&#10;  &lt;/Box&gt;&#10;  &lt;Box style={{ height: 46, background: '#0E3F8C', padding: '0 40px', flexDirection: 'row', alignItems: 'center', justifyContent: 'center' }}&gt;&#10;    &lt;Text style={{ fontSize: 16.5, color: '#FFFFFF', fontWeight: '600' }}&gt;Associations today, multiplicities next week. The order is not laziness — it stops you guessing twice&lt;/Text&gt;&#10;  &lt;/Box&gt;&#10;&lt;/Slide&gt;&#10;"/>
        <p:cNvGrpSpPr/>
        <p:nvPr/>
      </p:nvGrpSpPr>
      <p:grpSpPr>
        <a:xfrm>
          <a:off x="0" y="0"/>
          <a:ext cx="0" cy="0"/>
          <a:chOff x="0" y="0"/>
          <a:chExt cx="0" cy="0"/>
        </a:xfrm>
      </p:grpSpPr>
      <p:sp>
        <p:nvSpPr>
          <p:cNvPr id="418" name=""/>
          <p:cNvSpPr/>
          <p:nvPr/>
        </p:nvSpPr>
        <p:spPr>
          <a:xfrm rot="0" flipH="0" flipV="0">
            <a:off x="0" y="0"/>
            <a:ext cx="12192000" cy="6858000"/>
          </a:xfrm>
          <a:prstGeom prst="rect">
            <a:avLst/>
          </a:prstGeom>
          <a:solidFill>
            <a:srgbClr val="FFFFFF"/>
          </a:solidFill>
          <a:ln/>
        </p:spPr>
        <p:txBody>
          <a:bodyPr/>
          <a:p/>
        </p:txBody>
      </p:sp>
      <p:sp>
        <p:nvSpPr>
          <p:cNvPr id="419" name=""/>
          <p:cNvSpPr/>
          <p:nvPr/>
        </p:nvSpPr>
        <p:spPr>
          <a:xfrm rot="0" flipH="0" flipV="0">
            <a:off x="0" y="0"/>
            <a:ext cx="12192000" cy="685800"/>
          </a:xfrm>
          <a:prstGeom prst="rect">
            <a:avLst/>
          </a:prstGeom>
          <a:solidFill>
            <a:srgbClr val="1E4FA8"/>
          </a:solidFill>
          <a:ln/>
        </p:spPr>
        <p:txBody>
          <a:bodyPr/>
          <a:p/>
        </p:txBody>
      </p:sp>
      <p:sp>
        <p:nvSpPr>
          <p:cNvPr id="420"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421" name="" descr="{&quot;isTemplate&quot;:true,&quot;type&quot;:&quot;text&quot;}"/>
          <p:cNvSpPr txBox="1"/>
          <p:nvPr/>
        </p:nvSpPr>
        <p:spPr>
          <a:xfrm rot="0" flipH="0" flipV="0">
            <a:off x="9839325" y="257175"/>
            <a:ext cx="1971675" cy="171450"/>
          </a:xfrm>
          <a:prstGeom prst="rect"/>
        </p:spPr>
        <p:txBody>
          <a:bodyPr wrap="none" lIns="0" tIns="0" rIns="0" bIns="0"/>
          <a:p>
            <a:pPr>
              <a:lnSpc>
                <a:spcPct val="100000"/>
              </a:lnSpc>
            </a:pPr>
            <a:r>
              <a:rPr lang="en-US" sz="1125">
                <a:solidFill>
                  <a:srgbClr val="B9CDF0"/>
                </a:solidFill>
                <a:latin typeface="Microsoft YaHei"/>
                <a:ea typeface="Microsoft YaHei"/>
              </a:rPr>
              <a:t>W06 · BUILDING THE MODEL</a:t>
            </a:r>
            <a:endParaRPr/>
          </a:p>
        </p:txBody>
      </p:sp>
      <p:sp>
        <p:nvSpPr>
          <p:cNvPr id="422" name="" descr="{&quot;isTemplate&quot;:true,&quot;type&quot;:&quot;text&quot;}"/>
          <p:cNvSpPr txBox="1"/>
          <p:nvPr/>
        </p:nvSpPr>
        <p:spPr>
          <a:xfrm rot="0" flipH="0" flipV="0">
            <a:off x="381000" y="809625"/>
            <a:ext cx="4514850" cy="333375"/>
          </a:xfrm>
          <a:prstGeom prst="rect"/>
        </p:spPr>
        <p:txBody>
          <a:bodyPr wrap="none" lIns="0" tIns="0" rIns="0" bIns="0"/>
          <a:p>
            <a:pPr>
              <a:lnSpc>
                <a:spcPct val="100000"/>
              </a:lnSpc>
            </a:pPr>
            <a:r>
              <a:rPr lang="en-US" sz="2175" b="1">
                <a:solidFill>
                  <a:srgbClr val="0E3F8C"/>
                </a:solidFill>
                <a:latin typeface="Microsoft YaHei"/>
                <a:ea typeface="Microsoft YaHei"/>
              </a:rPr>
              <a:t>Association First, Multiplicity Next</a:t>
            </a:r>
            <a:endParaRPr/>
          </a:p>
        </p:txBody>
      </p:sp>
      <p:sp>
        <p:nvSpPr>
          <p:cNvPr id="423"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27 / 39</a:t>
            </a:r>
            <a:endParaRPr/>
          </a:p>
        </p:txBody>
      </p:sp>
      <p:sp>
        <p:nvSpPr>
          <p:cNvPr id="424" name=""/>
          <p:cNvSpPr/>
          <p:nvPr/>
        </p:nvSpPr>
        <p:spPr>
          <a:xfrm rot="0" flipH="0" flipV="0">
            <a:off x="381000" y="1238250"/>
            <a:ext cx="4848225" cy="419100"/>
          </a:xfrm>
          <a:prstGeom prst="roundRect">
            <a:avLst>
              <a:gd name="adj" fmla="val 20455"/>
            </a:avLst>
          </a:prstGeom>
          <a:solidFill>
            <a:srgbClr val="EAF6EC"/>
          </a:solidFill>
          <a:ln/>
        </p:spPr>
        <p:txBody>
          <a:bodyPr/>
          <a:p/>
        </p:txBody>
      </p:sp>
      <p:sp>
        <p:nvSpPr>
          <p:cNvPr id="425" name="" descr="{&quot;isTemplate&quot;:true,&quot;type&quot;:&quot;text&quot;}"/>
          <p:cNvSpPr txBox="1"/>
          <p:nvPr/>
        </p:nvSpPr>
        <p:spPr>
          <a:xfrm rot="0" flipH="0" flipV="0">
            <a:off x="552450" y="1352550"/>
            <a:ext cx="4505325" cy="190500"/>
          </a:xfrm>
          <a:prstGeom prst="rect"/>
        </p:spPr>
        <p:txBody>
          <a:bodyPr wrap="none" lIns="0" tIns="0" rIns="0" bIns="0"/>
          <a:p>
            <a:pPr>
              <a:lnSpc>
                <a:spcPct val="100000"/>
              </a:lnSpc>
            </a:pPr>
            <a:r>
              <a:rPr lang="en-US" sz="1200" b="1">
                <a:solidFill>
                  <a:srgbClr val="2B7A3D"/>
                </a:solidFill>
                <a:latin typeface="Microsoft YaHei"/>
                <a:ea typeface="Microsoft YaHei"/>
              </a:rPr>
              <a:t>Draw this week</a:t>
            </a:r>
            <a:endParaRPr/>
          </a:p>
        </p:txBody>
      </p:sp>
      <p:sp>
        <p:nvSpPr>
          <p:cNvPr id="426" name=""/>
          <p:cNvSpPr/>
          <p:nvPr/>
        </p:nvSpPr>
        <p:spPr>
          <a:xfrm rot="0" flipH="0" flipV="0">
            <a:off x="381000" y="1771650"/>
            <a:ext cx="4848225" cy="1076325"/>
          </a:xfrm>
          <a:prstGeom prst="roundRect">
            <a:avLst>
              <a:gd name="adj" fmla="val 7080"/>
            </a:avLst>
          </a:prstGeom>
          <a:solidFill>
            <a:srgbClr val="FFFFFF"/>
          </a:solidFill>
          <a:ln w="12700">
            <a:solidFill>
              <a:srgbClr val="E5E7EB"/>
            </a:solidFill>
            <a:prstDash val="solid"/>
          </a:ln>
        </p:spPr>
        <p:txBody>
          <a:bodyPr/>
          <a:p/>
        </p:txBody>
      </p:sp>
      <p:sp>
        <p:nvSpPr>
          <p:cNvPr id="427" name="" descr="{&quot;isTemplate&quot;:true,&quot;type&quot;:&quot;text&quot;}"/>
          <p:cNvSpPr txBox="1"/>
          <p:nvPr/>
        </p:nvSpPr>
        <p:spPr>
          <a:xfrm rot="0" flipH="0" flipV="0">
            <a:off x="533400" y="1895475"/>
            <a:ext cx="4543425" cy="247650"/>
          </a:xfrm>
          <a:prstGeom prst="rect"/>
        </p:spPr>
        <p:txBody>
          <a:bodyPr wrap="none" lIns="0" tIns="0" rIns="0" bIns="0"/>
          <a:p>
            <a:pPr>
              <a:lnSpc>
                <a:spcPct val="150000"/>
              </a:lnSpc>
            </a:pPr>
            <a:r>
              <a:rPr lang="en-US" sz="1050">
                <a:solidFill>
                  <a:srgbClr val="4A5568"/>
                </a:solidFill>
                <a:latin typeface="Microsoft YaHei"/>
                <a:ea typeface="Microsoft YaHei"/>
              </a:rPr>
              <a:t>The classes themselves, named and classified E / B / C</a:t>
            </a:r>
            <a:endParaRPr/>
          </a:p>
        </p:txBody>
      </p:sp>
      <p:sp>
        <p:nvSpPr>
          <p:cNvPr id="428" name=""/>
          <p:cNvSpPr/>
          <p:nvPr/>
        </p:nvSpPr>
        <p:spPr>
          <a:xfrm rot="0" flipH="0" flipV="0">
            <a:off x="381000" y="2962275"/>
            <a:ext cx="4848225" cy="1076325"/>
          </a:xfrm>
          <a:prstGeom prst="roundRect">
            <a:avLst>
              <a:gd name="adj" fmla="val 7080"/>
            </a:avLst>
          </a:prstGeom>
          <a:solidFill>
            <a:srgbClr val="FFFFFF"/>
          </a:solidFill>
          <a:ln w="12700">
            <a:solidFill>
              <a:srgbClr val="E5E7EB"/>
            </a:solidFill>
            <a:prstDash val="solid"/>
          </a:ln>
        </p:spPr>
        <p:txBody>
          <a:bodyPr/>
          <a:p/>
        </p:txBody>
      </p:sp>
      <p:sp>
        <p:nvSpPr>
          <p:cNvPr id="429" name="" descr="{&quot;isTemplate&quot;:true,&quot;type&quot;:&quot;text&quot;}"/>
          <p:cNvSpPr txBox="1"/>
          <p:nvPr/>
        </p:nvSpPr>
        <p:spPr>
          <a:xfrm rot="0" flipH="0" flipV="0">
            <a:off x="533400" y="3086100"/>
            <a:ext cx="4543425" cy="247650"/>
          </a:xfrm>
          <a:prstGeom prst="rect"/>
        </p:spPr>
        <p:txBody>
          <a:bodyPr wrap="none" lIns="0" tIns="0" rIns="0" bIns="0"/>
          <a:p>
            <a:pPr>
              <a:lnSpc>
                <a:spcPct val="150000"/>
              </a:lnSpc>
            </a:pPr>
            <a:r>
              <a:rPr lang="en-US" sz="1050">
                <a:solidFill>
                  <a:srgbClr val="4A5568"/>
                </a:solidFill>
                <a:latin typeface="Microsoft YaHei"/>
                <a:ea typeface="Microsoft YaHei"/>
              </a:rPr>
              <a:t>Their attributes and instance operations</a:t>
            </a:r>
            <a:endParaRPr/>
          </a:p>
        </p:txBody>
      </p:sp>
      <p:sp>
        <p:nvSpPr>
          <p:cNvPr id="430" name=""/>
          <p:cNvSpPr/>
          <p:nvPr/>
        </p:nvSpPr>
        <p:spPr>
          <a:xfrm rot="0" flipH="0" flipV="0">
            <a:off x="381000" y="4152900"/>
            <a:ext cx="4848225" cy="1076325"/>
          </a:xfrm>
          <a:prstGeom prst="roundRect">
            <a:avLst>
              <a:gd name="adj" fmla="val 7080"/>
            </a:avLst>
          </a:prstGeom>
          <a:solidFill>
            <a:srgbClr val="FFFFFF"/>
          </a:solidFill>
          <a:ln w="12700">
            <a:solidFill>
              <a:srgbClr val="E5E7EB"/>
            </a:solidFill>
            <a:prstDash val="solid"/>
          </a:ln>
        </p:spPr>
        <p:txBody>
          <a:bodyPr/>
          <a:p/>
        </p:txBody>
      </p:sp>
      <p:sp>
        <p:nvSpPr>
          <p:cNvPr id="431" name="" descr="{&quot;isTemplate&quot;:true,&quot;type&quot;:&quot;text&quot;}"/>
          <p:cNvSpPr txBox="1"/>
          <p:nvPr/>
        </p:nvSpPr>
        <p:spPr>
          <a:xfrm rot="0" flipH="0" flipV="0">
            <a:off x="533400" y="4276725"/>
            <a:ext cx="4543425" cy="247650"/>
          </a:xfrm>
          <a:prstGeom prst="rect"/>
        </p:spPr>
        <p:txBody>
          <a:bodyPr wrap="none" lIns="0" tIns="0" rIns="0" bIns="0"/>
          <a:p>
            <a:pPr>
              <a:lnSpc>
                <a:spcPct val="150000"/>
              </a:lnSpc>
            </a:pPr>
            <a:r>
              <a:rPr lang="en-US" sz="1050">
                <a:solidFill>
                  <a:srgbClr val="4A5568"/>
                </a:solidFill>
                <a:latin typeface="Microsoft YaHei"/>
                <a:ea typeface="Microsoft YaHei"/>
              </a:rPr>
              <a:t>Which class knows which — an association line</a:t>
            </a:r>
            <a:endParaRPr/>
          </a:p>
        </p:txBody>
      </p:sp>
      <p:sp>
        <p:nvSpPr>
          <p:cNvPr id="432" name=""/>
          <p:cNvSpPr/>
          <p:nvPr/>
        </p:nvSpPr>
        <p:spPr>
          <a:xfrm rot="0" flipH="0" flipV="0">
            <a:off x="381000" y="5343525"/>
            <a:ext cx="4848225" cy="1076325"/>
          </a:xfrm>
          <a:prstGeom prst="roundRect">
            <a:avLst>
              <a:gd name="adj" fmla="val 7080"/>
            </a:avLst>
          </a:prstGeom>
          <a:solidFill>
            <a:srgbClr val="FFFFFF"/>
          </a:solidFill>
          <a:ln w="12700">
            <a:solidFill>
              <a:srgbClr val="E5E7EB"/>
            </a:solidFill>
            <a:prstDash val="solid"/>
          </a:ln>
        </p:spPr>
        <p:txBody>
          <a:bodyPr/>
          <a:p/>
        </p:txBody>
      </p:sp>
      <p:sp>
        <p:nvSpPr>
          <p:cNvPr id="433" name="" descr="{&quot;isTemplate&quot;:true,&quot;type&quot;:&quot;text&quot;}"/>
          <p:cNvSpPr txBox="1"/>
          <p:nvPr/>
        </p:nvSpPr>
        <p:spPr>
          <a:xfrm rot="0" flipH="0" flipV="0">
            <a:off x="533400" y="5467350"/>
            <a:ext cx="4543425" cy="247650"/>
          </a:xfrm>
          <a:prstGeom prst="rect"/>
        </p:spPr>
        <p:txBody>
          <a:bodyPr wrap="none" lIns="0" tIns="0" rIns="0" bIns="0"/>
          <a:p>
            <a:pPr>
              <a:lnSpc>
                <a:spcPct val="150000"/>
              </a:lnSpc>
            </a:pPr>
            <a:r>
              <a:rPr lang="en-US" sz="1050">
                <a:solidFill>
                  <a:srgbClr val="4A5568"/>
                </a:solidFill>
                <a:latin typeface="Microsoft YaHei"/>
                <a:ea typeface="Microsoft YaHei"/>
              </a:rPr>
              <a:t>A direction you can say out loud: “an order has lines”</a:t>
            </a:r>
            <a:endParaRPr/>
          </a:p>
        </p:txBody>
      </p:sp>
      <p:sp>
        <p:nvSpPr>
          <p:cNvPr id="434" name=""/>
          <p:cNvSpPr/>
          <p:nvPr/>
        </p:nvSpPr>
        <p:spPr>
          <a:xfrm rot="0" flipH="0" flipV="0">
            <a:off x="5838825" y="3571875"/>
            <a:ext cx="514350" cy="514350"/>
          </a:xfrm>
          <a:prstGeom prst="roundRect">
            <a:avLst>
              <a:gd name="adj" fmla="val 50000"/>
            </a:avLst>
          </a:prstGeom>
          <a:solidFill>
            <a:srgbClr val="1E4FA8"/>
          </a:solidFill>
          <a:ln/>
        </p:spPr>
        <p:txBody>
          <a:bodyPr/>
          <a:p/>
        </p:txBody>
      </p:sp>
      <p:sp>
        <p:nvSpPr>
          <p:cNvPr id="435" name="" descr="{&quot;isTemplate&quot;:true,&quot;type&quot;:&quot;text&quot;}"/>
          <p:cNvSpPr txBox="1"/>
          <p:nvPr/>
        </p:nvSpPr>
        <p:spPr>
          <a:xfrm rot="0" flipH="0" flipV="0">
            <a:off x="5972175" y="3676650"/>
            <a:ext cx="247650" cy="304800"/>
          </a:xfrm>
          <a:prstGeom prst="rect"/>
        </p:spPr>
        <p:txBody>
          <a:bodyPr wrap="none" lIns="0" tIns="0" rIns="0" bIns="0"/>
          <a:p>
            <a:pPr>
              <a:lnSpc>
                <a:spcPct val="100000"/>
              </a:lnSpc>
            </a:pPr>
            <a:r>
              <a:rPr sz="1950" b="1">
                <a:solidFill>
                  <a:srgbClr val="FFFFFF"/>
                </a:solidFill>
                <a:latin typeface="Microsoft YaHei"/>
                <a:ea typeface="Microsoft YaHei"/>
              </a:rPr>
              <a:t>→</a:t>
            </a:r>
            <a:endParaRPr/>
          </a:p>
        </p:txBody>
      </p:sp>
      <p:sp>
        <p:nvSpPr>
          <p:cNvPr id="436" name=""/>
          <p:cNvSpPr/>
          <p:nvPr/>
        </p:nvSpPr>
        <p:spPr>
          <a:xfrm rot="0" flipH="0" flipV="0">
            <a:off x="6962775" y="1238250"/>
            <a:ext cx="4848225" cy="419100"/>
          </a:xfrm>
          <a:prstGeom prst="roundRect">
            <a:avLst>
              <a:gd name="adj" fmla="val 20455"/>
            </a:avLst>
          </a:prstGeom>
          <a:solidFill>
            <a:srgbClr val="FFF6E0"/>
          </a:solidFill>
          <a:ln/>
        </p:spPr>
        <p:txBody>
          <a:bodyPr/>
          <a:p/>
        </p:txBody>
      </p:sp>
      <p:sp>
        <p:nvSpPr>
          <p:cNvPr id="437" name="" descr="{&quot;isTemplate&quot;:true,&quot;type&quot;:&quot;text&quot;}"/>
          <p:cNvSpPr txBox="1"/>
          <p:nvPr/>
        </p:nvSpPr>
        <p:spPr>
          <a:xfrm rot="0" flipH="0" flipV="0">
            <a:off x="7134225" y="1352550"/>
            <a:ext cx="4505325" cy="190500"/>
          </a:xfrm>
          <a:prstGeom prst="rect"/>
        </p:spPr>
        <p:txBody>
          <a:bodyPr wrap="none" lIns="0" tIns="0" rIns="0" bIns="0"/>
          <a:p>
            <a:pPr>
              <a:lnSpc>
                <a:spcPct val="100000"/>
              </a:lnSpc>
            </a:pPr>
            <a:r>
              <a:rPr lang="en-US" sz="1200" b="1">
                <a:solidFill>
                  <a:srgbClr val="996F00"/>
                </a:solidFill>
                <a:latin typeface="Microsoft YaHei"/>
                <a:ea typeface="Microsoft YaHei"/>
              </a:rPr>
              <a:t>Next week — W07</a:t>
            </a:r>
            <a:endParaRPr/>
          </a:p>
        </p:txBody>
      </p:sp>
      <p:sp>
        <p:nvSpPr>
          <p:cNvPr id="438" name=""/>
          <p:cNvSpPr/>
          <p:nvPr/>
        </p:nvSpPr>
        <p:spPr>
          <a:xfrm rot="0" flipH="0" flipV="0">
            <a:off x="6962775" y="1771650"/>
            <a:ext cx="4848225" cy="866775"/>
          </a:xfrm>
          <a:prstGeom prst="roundRect">
            <a:avLst>
              <a:gd name="adj" fmla="val 8791"/>
            </a:avLst>
          </a:prstGeom>
          <a:solidFill>
            <a:srgbClr val="FFFFFF"/>
          </a:solidFill>
          <a:ln w="12700">
            <a:solidFill>
              <a:srgbClr val="E5E7EB"/>
            </a:solidFill>
            <a:prstDash val="solid"/>
          </a:ln>
        </p:spPr>
        <p:txBody>
          <a:bodyPr/>
          <a:p/>
        </p:txBody>
      </p:sp>
      <p:sp>
        <p:nvSpPr>
          <p:cNvPr id="439" name="" descr="{&quot;isTemplate&quot;:true,&quot;type&quot;:&quot;text&quot;}"/>
          <p:cNvSpPr txBox="1"/>
          <p:nvPr/>
        </p:nvSpPr>
        <p:spPr>
          <a:xfrm rot="0" flipH="0" flipV="0">
            <a:off x="7115175" y="1895475"/>
            <a:ext cx="4543425" cy="247650"/>
          </a:xfrm>
          <a:prstGeom prst="rect"/>
        </p:spPr>
        <p:txBody>
          <a:bodyPr wrap="none" lIns="0" tIns="0" rIns="0" bIns="0"/>
          <a:p>
            <a:pPr>
              <a:lnSpc>
                <a:spcPct val="150000"/>
              </a:lnSpc>
            </a:pPr>
            <a:r>
              <a:rPr lang="en-US" sz="1050">
                <a:solidFill>
                  <a:srgbClr val="4A5568"/>
                </a:solidFill>
                <a:latin typeface="Microsoft YaHei"/>
                <a:ea typeface="Microsoft YaHei"/>
              </a:rPr>
              <a:t>Multiplicities: exactly one, zero or more, one or more</a:t>
            </a:r>
            <a:endParaRPr/>
          </a:p>
        </p:txBody>
      </p:sp>
      <p:sp>
        <p:nvSpPr>
          <p:cNvPr id="440" name=""/>
          <p:cNvSpPr/>
          <p:nvPr/>
        </p:nvSpPr>
        <p:spPr>
          <a:xfrm rot="0" flipH="0" flipV="0">
            <a:off x="6962775" y="2752725"/>
            <a:ext cx="4848225" cy="866775"/>
          </a:xfrm>
          <a:prstGeom prst="roundRect">
            <a:avLst>
              <a:gd name="adj" fmla="val 8791"/>
            </a:avLst>
          </a:prstGeom>
          <a:solidFill>
            <a:srgbClr val="FFFFFF"/>
          </a:solidFill>
          <a:ln w="12700">
            <a:solidFill>
              <a:srgbClr val="E5E7EB"/>
            </a:solidFill>
            <a:prstDash val="solid"/>
          </a:ln>
        </p:spPr>
        <p:txBody>
          <a:bodyPr/>
          <a:p/>
        </p:txBody>
      </p:sp>
      <p:sp>
        <p:nvSpPr>
          <p:cNvPr id="441" name="" descr="{&quot;isTemplate&quot;:true,&quot;type&quot;:&quot;text&quot;}"/>
          <p:cNvSpPr txBox="1"/>
          <p:nvPr/>
        </p:nvSpPr>
        <p:spPr>
          <a:xfrm rot="0" flipH="0" flipV="0">
            <a:off x="7115175" y="2876550"/>
            <a:ext cx="4543425" cy="247650"/>
          </a:xfrm>
          <a:prstGeom prst="rect"/>
        </p:spPr>
        <p:txBody>
          <a:bodyPr wrap="none" lIns="0" tIns="0" rIns="0" bIns="0"/>
          <a:p>
            <a:pPr>
              <a:lnSpc>
                <a:spcPct val="150000"/>
              </a:lnSpc>
            </a:pPr>
            <a:r>
              <a:rPr lang="en-US" sz="1050">
                <a:solidFill>
                  <a:srgbClr val="4A5568"/>
                </a:solidFill>
                <a:latin typeface="Microsoft YaHei"/>
                <a:ea typeface="Microsoft YaHei"/>
              </a:rPr>
              <a:t>Aggregation and composition, and which one an order line really is</a:t>
            </a:r>
            <a:endParaRPr/>
          </a:p>
        </p:txBody>
      </p:sp>
      <p:sp>
        <p:nvSpPr>
          <p:cNvPr id="442" name=""/>
          <p:cNvSpPr/>
          <p:nvPr/>
        </p:nvSpPr>
        <p:spPr>
          <a:xfrm rot="0" flipH="0" flipV="0">
            <a:off x="6962775" y="3733800"/>
            <a:ext cx="4848225" cy="866775"/>
          </a:xfrm>
          <a:prstGeom prst="roundRect">
            <a:avLst>
              <a:gd name="adj" fmla="val 8791"/>
            </a:avLst>
          </a:prstGeom>
          <a:solidFill>
            <a:srgbClr val="FFFFFF"/>
          </a:solidFill>
          <a:ln w="12700">
            <a:solidFill>
              <a:srgbClr val="E5E7EB"/>
            </a:solidFill>
            <a:prstDash val="solid"/>
          </a:ln>
        </p:spPr>
        <p:txBody>
          <a:bodyPr/>
          <a:p/>
        </p:txBody>
      </p:sp>
      <p:sp>
        <p:nvSpPr>
          <p:cNvPr id="443" name="" descr="{&quot;isTemplate&quot;:true,&quot;type&quot;:&quot;text&quot;}"/>
          <p:cNvSpPr txBox="1"/>
          <p:nvPr/>
        </p:nvSpPr>
        <p:spPr>
          <a:xfrm rot="0" flipH="0" flipV="0">
            <a:off x="7115175" y="3857625"/>
            <a:ext cx="4543425" cy="247650"/>
          </a:xfrm>
          <a:prstGeom prst="rect"/>
        </p:spPr>
        <p:txBody>
          <a:bodyPr wrap="none" lIns="0" tIns="0" rIns="0" bIns="0"/>
          <a:p>
            <a:pPr>
              <a:lnSpc>
                <a:spcPct val="150000"/>
              </a:lnSpc>
            </a:pPr>
            <a:r>
              <a:rPr lang="en-US" sz="1050">
                <a:solidFill>
                  <a:srgbClr val="4A5568"/>
                </a:solidFill>
                <a:latin typeface="Microsoft YaHei"/>
                <a:ea typeface="Microsoft YaHei"/>
              </a:rPr>
              <a:t>Attributes that turn out to be classes — last week’s DeliveryWindow</a:t>
            </a:r>
            <a:endParaRPr/>
          </a:p>
        </p:txBody>
      </p:sp>
      <p:sp>
        <p:nvSpPr>
          <p:cNvPr id="444" name=""/>
          <p:cNvSpPr/>
          <p:nvPr/>
        </p:nvSpPr>
        <p:spPr>
          <a:xfrm rot="0" flipH="0" flipV="0">
            <a:off x="6962775" y="4714875"/>
            <a:ext cx="4848225" cy="866775"/>
          </a:xfrm>
          <a:prstGeom prst="roundRect">
            <a:avLst>
              <a:gd name="adj" fmla="val 8791"/>
            </a:avLst>
          </a:prstGeom>
          <a:solidFill>
            <a:srgbClr val="FFFFFF"/>
          </a:solidFill>
          <a:ln w="12700">
            <a:solidFill>
              <a:srgbClr val="E5E7EB"/>
            </a:solidFill>
            <a:prstDash val="solid"/>
          </a:ln>
        </p:spPr>
        <p:txBody>
          <a:bodyPr/>
          <a:p/>
        </p:txBody>
      </p:sp>
      <p:sp>
        <p:nvSpPr>
          <p:cNvPr id="445" name="" descr="{&quot;isTemplate&quot;:true,&quot;type&quot;:&quot;text&quot;}"/>
          <p:cNvSpPr txBox="1"/>
          <p:nvPr/>
        </p:nvSpPr>
        <p:spPr>
          <a:xfrm rot="0" flipH="0" flipV="0">
            <a:off x="7115175" y="4838700"/>
            <a:ext cx="4543425" cy="247650"/>
          </a:xfrm>
          <a:prstGeom prst="rect"/>
        </p:spPr>
        <p:txBody>
          <a:bodyPr wrap="none" lIns="0" tIns="0" rIns="0" bIns="0"/>
          <a:p>
            <a:pPr>
              <a:lnSpc>
                <a:spcPct val="150000"/>
              </a:lnSpc>
            </a:pPr>
            <a:r>
              <a:rPr lang="en-US" sz="1050">
                <a:solidFill>
                  <a:srgbClr val="4A5568"/>
                </a:solidFill>
                <a:latin typeface="Microsoft YaHei"/>
                <a:ea typeface="Microsoft YaHei"/>
              </a:rPr>
              <a:t>Refining the associations you drew roughly today</a:t>
            </a:r>
            <a:endParaRPr/>
          </a:p>
        </p:txBody>
      </p:sp>
      <p:sp>
        <p:nvSpPr>
          <p:cNvPr id="446" name=""/>
          <p:cNvSpPr/>
          <p:nvPr/>
        </p:nvSpPr>
        <p:spPr>
          <a:xfrm rot="0" flipH="0" flipV="0">
            <a:off x="7000875" y="5695950"/>
            <a:ext cx="4848225" cy="723900"/>
          </a:xfrm>
          <a:prstGeom prst="roundRect">
            <a:avLst>
              <a:gd name="adj" fmla="val 10526"/>
            </a:avLst>
          </a:prstGeom>
          <a:solidFill>
            <a:srgbClr val="FDF3F3"/>
          </a:solidFill>
          <a:ln/>
        </p:spPr>
        <p:txBody>
          <a:bodyPr/>
          <a:p/>
        </p:txBody>
      </p:sp>
      <p:sp>
        <p:nvSpPr>
          <p:cNvPr id="447" name=""/>
          <p:cNvSpPr/>
          <p:nvPr/>
        </p:nvSpPr>
        <p:spPr>
          <a:xfrm rot="0" flipH="0" flipV="0">
            <a:off x="7000875" y="5695950"/>
            <a:ext cx="4848225" cy="723900"/>
          </a:xfrm>
          <a:custGeom>
            <a:pathLst>
              <a:path w="509" h="76">
                <a:moveTo>
                  <a:pt x="8" y="0"/>
                </a:moveTo>
                <a:cubicBezTo>
                  <a:pt x="6" y="0"/>
                  <a:pt x="4" y="2"/>
                  <a:pt x="4" y="4"/>
                </a:cubicBezTo>
                <a:lnTo>
                  <a:pt x="4" y="72"/>
                </a:lnTo>
                <a:cubicBezTo>
                  <a:pt x="4" y="74"/>
                  <a:pt x="5" y="76"/>
                  <a:pt x="7" y="76"/>
                </a:cubicBezTo>
                <a:cubicBezTo>
                  <a:pt x="3" y="76"/>
                  <a:pt x="0" y="72"/>
                  <a:pt x="0" y="68"/>
                </a:cubicBezTo>
                <a:lnTo>
                  <a:pt x="0" y="8"/>
                </a:lnTo>
                <a:cubicBezTo>
                  <a:pt x="0" y="4"/>
                  <a:pt x="3" y="0"/>
                  <a:pt x="8" y="0"/>
                </a:cubicBezTo>
                <a:close/>
              </a:path>
            </a:pathLst>
          </a:custGeom>
          <a:solidFill>
            <a:srgbClr val="D9534F"/>
          </a:solidFill>
          <a:ln/>
        </p:spPr>
        <p:txBody>
          <a:bodyPr/>
          <a:p/>
        </p:txBody>
      </p:sp>
      <p:sp>
        <p:nvSpPr>
          <p:cNvPr id="448" name="" descr="{&quot;isTemplate&quot;:true,&quot;type&quot;:&quot;text&quot;}"/>
          <p:cNvSpPr txBox="1"/>
          <p:nvPr/>
        </p:nvSpPr>
        <p:spPr>
          <a:xfrm rot="0" flipH="0" flipV="0">
            <a:off x="7153275" y="5819775"/>
            <a:ext cx="4505325" cy="476250"/>
          </a:xfrm>
          <a:prstGeom prst="rect"/>
        </p:spPr>
        <p:txBody>
          <a:bodyPr wrap="square" lIns="0" tIns="0" rIns="0" bIns="0">
            <a:normAutofit/>
          </a:bodyPr>
          <a:p>
            <a:pPr>
              <a:lnSpc>
                <a:spcPct val="160000"/>
              </a:lnSpc>
            </a:pPr>
            <a:r>
              <a:rPr lang="en-US" sz="975">
                <a:solidFill>
                  <a:srgbClr val="4A5568"/>
                </a:solidFill>
                <a:latin typeface="Microsoft YaHei"/>
                <a:ea typeface="Microsoft YaHei"/>
              </a:rPr>
              <a:t>Do not add multiplicities today even if you are sure of them. Guessing them early is how you end up with “1..*” on everything by W07.</a:t>
            </a:r>
            <a:endParaRPr/>
          </a:p>
        </p:txBody>
      </p:sp>
      <p:sp>
        <p:nvSpPr>
          <p:cNvPr id="449" name=""/>
          <p:cNvSpPr/>
          <p:nvPr/>
        </p:nvSpPr>
        <p:spPr>
          <a:xfrm rot="0" flipH="0" flipV="0">
            <a:off x="0" y="6419850"/>
            <a:ext cx="12192000" cy="438150"/>
          </a:xfrm>
          <a:prstGeom prst="rect">
            <a:avLst/>
          </a:prstGeom>
          <a:solidFill>
            <a:srgbClr val="0E3F8C"/>
          </a:solidFill>
          <a:ln/>
        </p:spPr>
        <p:txBody>
          <a:bodyPr/>
          <a:p/>
        </p:txBody>
      </p:sp>
      <p:sp>
        <p:nvSpPr>
          <p:cNvPr id="450" name="" descr="{&quot;isTemplate&quot;:true,&quot;type&quot;:&quot;text&quot;}"/>
          <p:cNvSpPr txBox="1"/>
          <p:nvPr/>
        </p:nvSpPr>
        <p:spPr>
          <a:xfrm rot="0" flipH="0" flipV="0">
            <a:off x="2343150" y="6543675"/>
            <a:ext cx="7505700" cy="190500"/>
          </a:xfrm>
          <a:prstGeom prst="rect"/>
        </p:spPr>
        <p:txBody>
          <a:bodyPr wrap="none" lIns="0" tIns="0" rIns="0" bIns="0"/>
          <a:p>
            <a:pPr>
              <a:lnSpc>
                <a:spcPct val="100000"/>
              </a:lnSpc>
            </a:pPr>
            <a:r>
              <a:rPr lang="en-US" sz="1238" b="1">
                <a:solidFill>
                  <a:srgbClr val="FFFFFF"/>
                </a:solidFill>
                <a:latin typeface="Microsoft YaHei"/>
                <a:ea typeface="Microsoft YaHei"/>
              </a:rPr>
              <a:t>Associations today, multiplicities next week. The order is not laziness — it stops you guessing twice</a:t>
            </a:r>
            <a:endParaRPr/>
          </a:p>
        </p:txBody>
      </p:sp>
    </p:spTree>
  </p:cSld>
</p:sld>
</file>

<file path=ppt/slides/slide28.xml><?xml version="1.0" encoding="utf-8"?>
<p:sld xmlns:p="http://schemas.openxmlformats.org/presentationml/2006/main" xmlns:a="http://schemas.openxmlformats.org/drawingml/2006/main">
  <p:cSld>
    <p:spTree>
      <p:nvGrpSpPr>
        <p:cNvPr id="451" name="" descr="&lt;Slide style={{ background: '#0E3F8C', padding: 0 }}&gt;&#10;  &lt;Box style={{ flexDirection: 'row', height: '100%', position: 'relative' }}&gt;&#10;    &lt;Box style={{ position: 'absolute', top: 0, left: 0, right: 0, height: 8, background: '#1E4FA8' }} /&gt;&#10;    &lt;Box style={{ width: 300, justifyContent: 'center', alignItems: 'center', borderRight: '1px solid #2B5793' }}&gt;&#10;      &lt;Text style={{ fontSize: 220, fontWeight: 'bold', color: '#3D7BD9', fontFamily: 'Georgia, serif', lineHeight: 1 }}&gt;06&lt;/Text&gt;&#10;    &lt;/Box&gt;&#10;    &lt;Box style={{ flex: 1, padding: '70px 64px', flexDirection: 'column', justifyContent: 'center' }}&gt;&#10;      &lt;Text style={{ fontSize: 15, color: '#7FA2D6', letterSpacing: 2, marginBottom: 18 }}&gt;PART 6 · LAB · 2 HOURS&lt;/Text&gt;&#10;      &lt;Text style={{ fontSize: 46, fontWeight: 'bold', color: '#FFFFFF', lineHeight: 1.18 }}&gt;Exercise 6.1,&lt;br /&gt;6.2 &amp;amp; Change ΔC1&lt;/Text&gt;&#10;      &lt;Box style={{ width: 64, height: 4, background: '#FFC107', marginTop: 26, marginBottom: 26 }} /&gt;&#10;      &lt;Box style={{ flexDirection: 'column', gap: 12 }}&gt;&#10;        {[&#10;          'Sort eighteen words into classes, attributes and noise',&#10;          'Draw the first domain model — ten classes or more',&#10;          'ΔC1 lands online this week; fold it in, do not restart'&#10;        ].map((t) =&gt; (&#10;          &lt;Box key={t} style={{ flexDirection: 'row', alignItems: 'center', gap: 12 }}&gt;&#10;            &lt;Box style={{ width: 8, height: 8, borderRadius: 4, background: '#3D7BD9' }} /&gt;&#10;            &lt;Text style={{ fontSize: 20, color: '#C5D4EA' }}&gt;{t}&lt;/Text&gt;&#10;          &lt;/Box&gt;&#10;        ))}&#10;      &lt;/Box&gt;&#10;    &lt;/Box&gt;&#10;  &lt;/Box&gt;&#10;&lt;/Slide&gt;&#10;"/>
        <p:cNvGrpSpPr/>
        <p:nvPr/>
      </p:nvGrpSpPr>
      <p:grpSpPr>
        <a:xfrm>
          <a:off x="0" y="0"/>
          <a:ext cx="0" cy="0"/>
          <a:chOff x="0" y="0"/>
          <a:chExt cx="0" cy="0"/>
        </a:xfrm>
      </p:grpSpPr>
      <p:sp>
        <p:nvSpPr>
          <p:cNvPr id="452" name=""/>
          <p:cNvSpPr/>
          <p:nvPr/>
        </p:nvSpPr>
        <p:spPr>
          <a:xfrm rot="0" flipH="0" flipV="0">
            <a:off x="0" y="0"/>
            <a:ext cx="12192000" cy="6858000"/>
          </a:xfrm>
          <a:prstGeom prst="rect">
            <a:avLst/>
          </a:prstGeom>
          <a:solidFill>
            <a:srgbClr val="0E3F8C"/>
          </a:solidFill>
          <a:ln/>
        </p:spPr>
        <p:txBody>
          <a:bodyPr/>
          <a:p/>
        </p:txBody>
      </p:sp>
      <p:sp>
        <p:nvSpPr>
          <p:cNvPr id="453" name=""/>
          <p:cNvSpPr/>
          <p:nvPr/>
        </p:nvSpPr>
        <p:spPr>
          <a:xfrm rot="0" flipH="0" flipV="0">
            <a:off x="0" y="0"/>
            <a:ext cx="2857500" cy="6858000"/>
          </a:xfrm>
          <a:custGeom>
            <a:pathLst>
              <a:path w="300" h="720">
                <a:moveTo>
                  <a:pt x="299" y="0"/>
                </a:moveTo>
                <a:lnTo>
                  <a:pt x="300" y="0"/>
                </a:lnTo>
                <a:lnTo>
                  <a:pt x="300" y="720"/>
                </a:lnTo>
                <a:lnTo>
                  <a:pt x="299" y="720"/>
                </a:lnTo>
                <a:close/>
              </a:path>
            </a:pathLst>
          </a:custGeom>
          <a:solidFill>
            <a:srgbClr val="2B5793"/>
          </a:solidFill>
          <a:ln/>
        </p:spPr>
        <p:txBody>
          <a:bodyPr/>
          <a:p/>
        </p:txBody>
      </p:sp>
      <p:sp>
        <p:nvSpPr>
          <p:cNvPr id="454" name="" descr="{&quot;isTemplate&quot;:true,&quot;type&quot;:&quot;text&quot;}"/>
          <p:cNvSpPr txBox="1"/>
          <p:nvPr/>
        </p:nvSpPr>
        <p:spPr>
          <a:xfrm rot="0" flipH="0" flipV="0">
            <a:off x="9525" y="2171700"/>
            <a:ext cx="2828925" cy="2514600"/>
          </a:xfrm>
          <a:prstGeom prst="rect"/>
        </p:spPr>
        <p:txBody>
          <a:bodyPr wrap="none" lIns="0" tIns="0" rIns="0" bIns="0"/>
          <a:p>
            <a:pPr>
              <a:lnSpc>
                <a:spcPct val="100000"/>
              </a:lnSpc>
            </a:pPr>
            <a:r>
              <a:rPr lang="en-US" sz="16500" b="1">
                <a:solidFill>
                  <a:srgbClr val="3D7BD9"/>
                </a:solidFill>
                <a:latin typeface="Georgia"/>
                <a:ea typeface="Georgia"/>
              </a:rPr>
              <a:t>06</a:t>
            </a:r>
            <a:endParaRPr/>
          </a:p>
        </p:txBody>
      </p:sp>
      <p:sp>
        <p:nvSpPr>
          <p:cNvPr id="455" name="" descr="{&quot;isTemplate&quot;:true,&quot;type&quot;:&quot;text&quot;}"/>
          <p:cNvSpPr txBox="1"/>
          <p:nvPr/>
        </p:nvSpPr>
        <p:spPr>
          <a:xfrm rot="0" flipH="0" flipV="0">
            <a:off x="3467100" y="1914525"/>
            <a:ext cx="8115300" cy="171450"/>
          </a:xfrm>
          <a:prstGeom prst="rect"/>
        </p:spPr>
        <p:txBody>
          <a:bodyPr wrap="none" lIns="0" tIns="0" rIns="0" bIns="0"/>
          <a:p>
            <a:pPr>
              <a:lnSpc>
                <a:spcPct val="100000"/>
              </a:lnSpc>
            </a:pPr>
            <a:r>
              <a:rPr lang="en-US" sz="1125" spc="150">
                <a:solidFill>
                  <a:srgbClr val="7FA2D6"/>
                </a:solidFill>
                <a:latin typeface="Microsoft YaHei"/>
                <a:ea typeface="Microsoft YaHei"/>
              </a:rPr>
              <a:t>PART 6 · LAB · 2 HOURS</a:t>
            </a:r>
            <a:endParaRPr/>
          </a:p>
        </p:txBody>
      </p:sp>
      <p:sp>
        <p:nvSpPr>
          <p:cNvPr id="456" name="" descr="{&quot;isTemplate&quot;:true,&quot;type&quot;:&quot;text&quot;}"/>
          <p:cNvSpPr txBox="1"/>
          <p:nvPr/>
        </p:nvSpPr>
        <p:spPr>
          <a:xfrm rot="0" flipH="0" flipV="0">
            <a:off x="3467100" y="2257425"/>
            <a:ext cx="8115300" cy="1247775"/>
          </a:xfrm>
          <a:prstGeom prst="rect"/>
        </p:spPr>
        <p:txBody>
          <a:bodyPr wrap="none" lIns="0" tIns="0" rIns="0" bIns="0"/>
          <a:p>
            <a:pPr>
              <a:lnSpc>
                <a:spcPct val="118000"/>
              </a:lnSpc>
            </a:pPr>
            <a:r>
              <a:rPr lang="en-US" sz="3450" b="1">
                <a:solidFill>
                  <a:srgbClr val="FFFFFF"/>
                </a:solidFill>
                <a:latin typeface="Microsoft YaHei"/>
                <a:ea typeface="Microsoft YaHei"/>
              </a:rPr>
              <a:t>Exercise 6.1,</a:t>
            </a:r>
            <a:endParaRPr/>
          </a:p>
          <a:p>
            <a:pPr>
              <a:lnSpc>
                <a:spcPct val="118000"/>
              </a:lnSpc>
            </a:pPr>
            <a:r>
              <a:rPr lang="en-US" sz="3450" b="1">
                <a:solidFill>
                  <a:srgbClr val="FFFFFF"/>
                </a:solidFill>
                <a:latin typeface="Microsoft YaHei"/>
                <a:ea typeface="Microsoft YaHei"/>
              </a:rPr>
              <a:t>6.2 &amp; Change ΔC1</a:t>
            </a:r>
            <a:endParaRPr/>
          </a:p>
        </p:txBody>
      </p:sp>
      <p:sp>
        <p:nvSpPr>
          <p:cNvPr id="457" name=""/>
          <p:cNvSpPr/>
          <p:nvPr/>
        </p:nvSpPr>
        <p:spPr>
          <a:xfrm rot="0" flipH="0" flipV="0">
            <a:off x="3467100" y="3752850"/>
            <a:ext cx="609600" cy="38100"/>
          </a:xfrm>
          <a:prstGeom prst="rect">
            <a:avLst/>
          </a:prstGeom>
          <a:solidFill>
            <a:srgbClr val="FFC107"/>
          </a:solidFill>
          <a:ln/>
        </p:spPr>
        <p:txBody>
          <a:bodyPr/>
          <a:p/>
        </p:txBody>
      </p:sp>
      <p:sp>
        <p:nvSpPr>
          <p:cNvPr id="458" name=""/>
          <p:cNvSpPr/>
          <p:nvPr/>
        </p:nvSpPr>
        <p:spPr>
          <a:xfrm rot="0" flipH="0" flipV="0">
            <a:off x="3467100" y="4114800"/>
            <a:ext cx="76200" cy="76200"/>
          </a:xfrm>
          <a:prstGeom prst="roundRect">
            <a:avLst>
              <a:gd name="adj" fmla="val 50000"/>
            </a:avLst>
          </a:prstGeom>
          <a:solidFill>
            <a:srgbClr val="3D7BD9"/>
          </a:solidFill>
          <a:ln/>
        </p:spPr>
        <p:txBody>
          <a:bodyPr/>
          <a:p/>
        </p:txBody>
      </p:sp>
      <p:sp>
        <p:nvSpPr>
          <p:cNvPr id="459" name="" descr="{&quot;isTemplate&quot;:true,&quot;type&quot;:&quot;text&quot;}"/>
          <p:cNvSpPr txBox="1"/>
          <p:nvPr/>
        </p:nvSpPr>
        <p:spPr>
          <a:xfrm rot="0" flipH="0" flipV="0">
            <a:off x="3657600" y="4038600"/>
            <a:ext cx="4514850" cy="228600"/>
          </a:xfrm>
          <a:prstGeom prst="rect"/>
        </p:spPr>
        <p:txBody>
          <a:bodyPr wrap="none" lIns="0" tIns="0" rIns="0" bIns="0"/>
          <a:p>
            <a:pPr>
              <a:lnSpc>
                <a:spcPct val="100000"/>
              </a:lnSpc>
            </a:pPr>
            <a:r>
              <a:rPr lang="en-US" sz="1500">
                <a:solidFill>
                  <a:srgbClr val="C5D4EA"/>
                </a:solidFill>
                <a:latin typeface="Microsoft YaHei"/>
                <a:ea typeface="Microsoft YaHei"/>
              </a:rPr>
              <a:t>Sort eighteen words into classes, attributes and noise</a:t>
            </a:r>
            <a:endParaRPr/>
          </a:p>
        </p:txBody>
      </p:sp>
      <p:sp>
        <p:nvSpPr>
          <p:cNvPr id="460" name=""/>
          <p:cNvSpPr/>
          <p:nvPr/>
        </p:nvSpPr>
        <p:spPr>
          <a:xfrm rot="0" flipH="0" flipV="0">
            <a:off x="3467100" y="4457700"/>
            <a:ext cx="76200" cy="76200"/>
          </a:xfrm>
          <a:prstGeom prst="roundRect">
            <a:avLst>
              <a:gd name="adj" fmla="val 50000"/>
            </a:avLst>
          </a:prstGeom>
          <a:solidFill>
            <a:srgbClr val="3D7BD9"/>
          </a:solidFill>
          <a:ln/>
        </p:spPr>
        <p:txBody>
          <a:bodyPr/>
          <a:p/>
        </p:txBody>
      </p:sp>
      <p:sp>
        <p:nvSpPr>
          <p:cNvPr id="461" name="" descr="{&quot;isTemplate&quot;:true,&quot;type&quot;:&quot;text&quot;}"/>
          <p:cNvSpPr txBox="1"/>
          <p:nvPr/>
        </p:nvSpPr>
        <p:spPr>
          <a:xfrm rot="0" flipH="0" flipV="0">
            <a:off x="3657600" y="4381500"/>
            <a:ext cx="4333875" cy="228600"/>
          </a:xfrm>
          <a:prstGeom prst="rect"/>
        </p:spPr>
        <p:txBody>
          <a:bodyPr wrap="none" lIns="0" tIns="0" rIns="0" bIns="0"/>
          <a:p>
            <a:pPr>
              <a:lnSpc>
                <a:spcPct val="100000"/>
              </a:lnSpc>
            </a:pPr>
            <a:r>
              <a:rPr lang="en-US" sz="1500">
                <a:solidFill>
                  <a:srgbClr val="C5D4EA"/>
                </a:solidFill>
                <a:latin typeface="Microsoft YaHei"/>
                <a:ea typeface="Microsoft YaHei"/>
              </a:rPr>
              <a:t>Draw the first domain model — ten classes or more</a:t>
            </a:r>
            <a:endParaRPr/>
          </a:p>
        </p:txBody>
      </p:sp>
      <p:sp>
        <p:nvSpPr>
          <p:cNvPr id="462" name=""/>
          <p:cNvSpPr/>
          <p:nvPr/>
        </p:nvSpPr>
        <p:spPr>
          <a:xfrm rot="0" flipH="0" flipV="0">
            <a:off x="3467100" y="4800600"/>
            <a:ext cx="76200" cy="76200"/>
          </a:xfrm>
          <a:prstGeom prst="roundRect">
            <a:avLst>
              <a:gd name="adj" fmla="val 50000"/>
            </a:avLst>
          </a:prstGeom>
          <a:solidFill>
            <a:srgbClr val="3D7BD9"/>
          </a:solidFill>
          <a:ln/>
        </p:spPr>
        <p:txBody>
          <a:bodyPr/>
          <a:p/>
        </p:txBody>
      </p:sp>
      <p:sp>
        <p:nvSpPr>
          <p:cNvPr id="463" name="" descr="{&quot;isTemplate&quot;:true,&quot;type&quot;:&quot;text&quot;}"/>
          <p:cNvSpPr txBox="1"/>
          <p:nvPr/>
        </p:nvSpPr>
        <p:spPr>
          <a:xfrm rot="0" flipH="0" flipV="0">
            <a:off x="3657600" y="4724400"/>
            <a:ext cx="4286250" cy="228600"/>
          </a:xfrm>
          <a:prstGeom prst="rect"/>
        </p:spPr>
        <p:txBody>
          <a:bodyPr wrap="none" lIns="0" tIns="0" rIns="0" bIns="0"/>
          <a:p>
            <a:pPr>
              <a:lnSpc>
                <a:spcPct val="100000"/>
              </a:lnSpc>
            </a:pPr>
            <a:r>
              <a:rPr lang="en-US" sz="1500">
                <a:solidFill>
                  <a:srgbClr val="C5D4EA"/>
                </a:solidFill>
                <a:latin typeface="Microsoft YaHei"/>
                <a:ea typeface="Microsoft YaHei"/>
              </a:rPr>
              <a:t>ΔC1 lands online this week; fold it in, do not restart</a:t>
            </a:r>
            <a:endParaRPr/>
          </a:p>
        </p:txBody>
      </p:sp>
      <p:sp>
        <p:nvSpPr>
          <p:cNvPr id="464" name=""/>
          <p:cNvSpPr/>
          <p:nvPr/>
        </p:nvSpPr>
        <p:spPr>
          <a:xfrm rot="0" flipH="0" flipV="0">
            <a:off x="0" y="0"/>
            <a:ext cx="12192000" cy="76200"/>
          </a:xfrm>
          <a:prstGeom prst="rect">
            <a:avLst/>
          </a:prstGeom>
          <a:solidFill>
            <a:srgbClr val="1E4FA8"/>
          </a:solidFill>
          <a:ln/>
        </p:spPr>
        <p:txBody>
          <a:bodyPr/>
          <a:p/>
        </p:txBody>
      </p:sp>
    </p:spTree>
  </p:cSld>
</p:sld>
</file>

<file path=ppt/slides/slide29.xml><?xml version="1.0" encoding="utf-8"?>
<p:sld xmlns:p="http://schemas.openxmlformats.org/presentationml/2006/main" xmlns:a="http://schemas.openxmlformats.org/drawingml/2006/main">
  <p:cSld>
    <p:spTree>
      <p:nvGrpSpPr>
        <p:cNvPr id="465"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6 · LAB · EXERCISE 6.1&lt;/Text&gt;&#10;  &lt;/Box&gt;&#10;  &lt;Box style={{ padding: '13px 40px 0 40px', flexDirection: 'row', alignItems: 'center', justifyContent: 'space-between' }}&gt;&#10;    &lt;Text style={{ fontSize: 29, fontWeight: 'bold', color: '#0E3F8C' }}&gt;Exercise 6.1 — The Messy List&lt;/Text&gt;&#10;    &lt;Text style={{ fontSize: 14, color: '#1E4FA8', fontWeight: 'bold' }}&gt;29 / 39&lt;/Text&gt;&#10;  &lt;/Box&gt;&#10;  &lt;Box style={{ flex: 1, padding: '10px 40px 0 40px', flexDirection: 'row', gap: 26 }}&gt;&#10;    &lt;Box style={{ flex: 5, justifyContent: 'center' }}&gt;&#10;      &lt;CodeBlock theme='one-dark-pro' code={`Words collected from the Worked example&#10;specifications, requirements pack and two&#10;team meetings. Sorted by nobody.&#10;&#10;  order          OrderLine      menu item&#10;  total          payment        provider&#10;  cart           coupon         code&#10;  kitchen ticket order time     rating&#10;  delivery       window         fee&#10;  student        validation     calculation&#10;  logging        server         service&#10;  table          interface      ui&#10;&#10;Eighteen words. Four of them are actors,&#10;three are implementation, and the rest&#10;are a mixture of classes and attributes.`} language='text' /&gt;&#10;    &lt;/Box&gt;&#10;    &lt;Box style={{ flex: 2, flexDirection: 'column', justifyContent: 'center', gap: 12 }}&gt;&#10;      &lt;Box style={{ padding: '15px 17px', background: '#F0F5FC', borderRadius: 9, borderLeft: '4px solid #1E4FA8' }}&gt;&#10;        &lt;Text style={{ fontSize: 15.5, fontWeight: 'bold', color: '#0E3F8C' }}&gt;The exercise&lt;/Text&gt;&#10;        &lt;Text style={{ fontSize: 12.8, color: '#4A5568', lineHeight: 1.6, marginTop: 5 }}&gt;&#10;          Sort all eighteen into four buckets: conceptual class, attribute, external actor, discard. Then decide whether each class is Entity, Boundary or Control.&#10;        &lt;/Text&gt;&#10;      &lt;/Box&gt;&#10;      &lt;Box style={{ padding: '15px 17px', background: '#FFF6E0', borderRadius: 9, borderLeft: '4px solid #FFC107' }}&gt;&#10;        &lt;Text style={{ fontSize: 15.5, fontWeight: 'bold', color: '#996F00' }}&gt;Five minutes alone first&lt;/Text&gt;&#10;        &lt;Text style={{ fontSize: 12.8, color: '#4A5568', lineHeight: 1.6, marginTop: 5 }}&gt;&#10;          Then merge onto the Recorder's page. Keep the rows you disagreed on — those are the ones to argue about.&#10;        &lt;/Text&gt;&#10;      &lt;/Box&gt;&#10;      &lt;Box style={{ padding: '15px 17px', background: '#FFFFFF', borderRadius: 9, border: '1px solid #D6DCE5' }}&gt;&#10;        &lt;Text style={{ fontSize: 15.5, fontWeight: 'bold', color: '#0E3F8C' }}&gt;The four hardest&lt;/Text&gt;&#10;        &lt;Text style={{ fontSize: 12.8, color: '#4A5568', lineHeight: 1.6, marginTop: 5 }}&gt;&#10;          delivery window · coupon code · rating · kitchen ticket. Decide these yourself before looking at page 33.&#10;        &lt;/Text&gt;&#10;      &lt;/Box&gt;&#10;      &lt;Box style={{ padding: '12px 16px', background: '#F7F9FC', borderRadius: 8, border: '1px dashed #D6DCE5' }}&gt;&#10;        &lt;Text style={{ fontSize: 12.8, color: '#8B97A8', lineHeight: 1.6 }}&gt;&#10;          For each class you keep, write the one specification sentence it came from. No sentence, no class.&#10;        &lt;/Text&gt;&#10;      &lt;/Box&gt;&#10;    &lt;/Box&gt;&#10;  &lt;/Box&gt;&#10;  &lt;Box style={{ height: 46, background: '#0E3F8C', padding: '0 40px', flexDirection: 'row', alignItems: 'center', justifyContent: 'center' }}&gt;&#10;    &lt;Text style={{ fontSize: 16.5, color: '#FFFFFF', fontWeight: '600' }}&gt;Twenty-four words in, eight classes out. Most of the work is deciding what to throw away&lt;/Text&gt;&#10;  &lt;/Box&gt;&#10;&lt;/Slide&gt;&#10;"/>
        <p:cNvGrpSpPr/>
        <p:nvPr/>
      </p:nvGrpSpPr>
      <p:grpSpPr>
        <a:xfrm>
          <a:off x="0" y="0"/>
          <a:ext cx="0" cy="0"/>
          <a:chOff x="0" y="0"/>
          <a:chExt cx="0" cy="0"/>
        </a:xfrm>
      </p:grpSpPr>
      <p:sp>
        <p:nvSpPr>
          <p:cNvPr id="466" name=""/>
          <p:cNvSpPr/>
          <p:nvPr/>
        </p:nvSpPr>
        <p:spPr>
          <a:xfrm rot="0" flipH="0" flipV="0">
            <a:off x="0" y="0"/>
            <a:ext cx="12192000" cy="6858000"/>
          </a:xfrm>
          <a:prstGeom prst="rect">
            <a:avLst/>
          </a:prstGeom>
          <a:solidFill>
            <a:srgbClr val="FFFFFF"/>
          </a:solidFill>
          <a:ln/>
        </p:spPr>
        <p:txBody>
          <a:bodyPr/>
          <a:p/>
        </p:txBody>
      </p:sp>
      <p:sp>
        <p:nvSpPr>
          <p:cNvPr id="467" name=""/>
          <p:cNvSpPr/>
          <p:nvPr/>
        </p:nvSpPr>
        <p:spPr>
          <a:xfrm rot="0" flipH="0" flipV="0">
            <a:off x="0" y="0"/>
            <a:ext cx="12192000" cy="685800"/>
          </a:xfrm>
          <a:prstGeom prst="rect">
            <a:avLst/>
          </a:prstGeom>
          <a:solidFill>
            <a:srgbClr val="1E4FA8"/>
          </a:solidFill>
          <a:ln/>
        </p:spPr>
        <p:txBody>
          <a:bodyPr/>
          <a:p/>
        </p:txBody>
      </p:sp>
      <p:sp>
        <p:nvSpPr>
          <p:cNvPr id="468"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469" name="" descr="{&quot;isTemplate&quot;:true,&quot;type&quot;:&quot;text&quot;}"/>
          <p:cNvSpPr txBox="1"/>
          <p:nvPr/>
        </p:nvSpPr>
        <p:spPr>
          <a:xfrm rot="0" flipH="0" flipV="0">
            <a:off x="10029825" y="257175"/>
            <a:ext cx="1781175" cy="171450"/>
          </a:xfrm>
          <a:prstGeom prst="rect"/>
        </p:spPr>
        <p:txBody>
          <a:bodyPr wrap="none" lIns="0" tIns="0" rIns="0" bIns="0"/>
          <a:p>
            <a:pPr>
              <a:lnSpc>
                <a:spcPct val="100000"/>
              </a:lnSpc>
            </a:pPr>
            <a:r>
              <a:rPr lang="en-US" sz="1125">
                <a:solidFill>
                  <a:srgbClr val="B9CDF0"/>
                </a:solidFill>
                <a:latin typeface="Microsoft YaHei"/>
                <a:ea typeface="Microsoft YaHei"/>
              </a:rPr>
              <a:t>W06 · LAB · EXERCISE 6.1</a:t>
            </a:r>
            <a:endParaRPr/>
          </a:p>
        </p:txBody>
      </p:sp>
      <p:sp>
        <p:nvSpPr>
          <p:cNvPr id="470" name="" descr="{&quot;isTemplate&quot;:true,&quot;type&quot;:&quot;text&quot;}"/>
          <p:cNvSpPr txBox="1"/>
          <p:nvPr/>
        </p:nvSpPr>
        <p:spPr>
          <a:xfrm rot="0" flipH="0" flipV="0">
            <a:off x="381000" y="809625"/>
            <a:ext cx="4010025" cy="333375"/>
          </a:xfrm>
          <a:prstGeom prst="rect"/>
        </p:spPr>
        <p:txBody>
          <a:bodyPr wrap="none" lIns="0" tIns="0" rIns="0" bIns="0"/>
          <a:p>
            <a:pPr>
              <a:lnSpc>
                <a:spcPct val="100000"/>
              </a:lnSpc>
            </a:pPr>
            <a:r>
              <a:rPr lang="en-US" sz="2175" b="1">
                <a:solidFill>
                  <a:srgbClr val="0E3F8C"/>
                </a:solidFill>
                <a:latin typeface="Microsoft YaHei"/>
                <a:ea typeface="Microsoft YaHei"/>
              </a:rPr>
              <a:t>Exercise 6.1 — The Messy List</a:t>
            </a:r>
            <a:endParaRPr/>
          </a:p>
        </p:txBody>
      </p:sp>
      <p:sp>
        <p:nvSpPr>
          <p:cNvPr id="471"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29 / 39</a:t>
            </a:r>
            <a:endParaRPr/>
          </a:p>
        </p:txBody>
      </p:sp>
      <p:sp>
        <p:nvSpPr>
          <p:cNvPr id="472" name=""/>
          <p:cNvSpPr/>
          <p:nvPr/>
        </p:nvSpPr>
        <p:spPr>
          <a:xfrm rot="0" flipH="0" flipV="0">
            <a:off x="8658225" y="1476375"/>
            <a:ext cx="3190875" cy="1219200"/>
          </a:xfrm>
          <a:prstGeom prst="roundRect">
            <a:avLst>
              <a:gd name="adj" fmla="val 7031"/>
            </a:avLst>
          </a:prstGeom>
          <a:solidFill>
            <a:srgbClr val="F0F5FC"/>
          </a:solidFill>
          <a:ln/>
        </p:spPr>
        <p:txBody>
          <a:bodyPr/>
          <a:p/>
        </p:txBody>
      </p:sp>
      <p:sp>
        <p:nvSpPr>
          <p:cNvPr id="473" name=""/>
          <p:cNvSpPr/>
          <p:nvPr/>
        </p:nvSpPr>
        <p:spPr>
          <a:xfrm rot="0" flipH="0" flipV="0">
            <a:off x="8658225" y="1476375"/>
            <a:ext cx="3190875" cy="1219200"/>
          </a:xfrm>
          <a:custGeom>
            <a:pathLst>
              <a:path w="335" h="128">
                <a:moveTo>
                  <a:pt x="9" y="0"/>
                </a:moveTo>
                <a:cubicBezTo>
                  <a:pt x="6" y="0"/>
                  <a:pt x="4" y="2"/>
                  <a:pt x="4" y="5"/>
                </a:cubicBezTo>
                <a:lnTo>
                  <a:pt x="4" y="123"/>
                </a:lnTo>
                <a:cubicBezTo>
                  <a:pt x="4" y="125"/>
                  <a:pt x="6" y="127"/>
                  <a:pt x="8" y="128"/>
                </a:cubicBezTo>
                <a:cubicBezTo>
                  <a:pt x="4" y="128"/>
                  <a:pt x="0" y="124"/>
                  <a:pt x="0" y="119"/>
                </a:cubicBezTo>
                <a:lnTo>
                  <a:pt x="0" y="9"/>
                </a:lnTo>
                <a:cubicBezTo>
                  <a:pt x="0" y="4"/>
                  <a:pt x="4" y="0"/>
                  <a:pt x="9" y="0"/>
                </a:cubicBezTo>
                <a:close/>
              </a:path>
            </a:pathLst>
          </a:custGeom>
          <a:solidFill>
            <a:srgbClr val="1E4FA8"/>
          </a:solidFill>
          <a:ln/>
        </p:spPr>
        <p:txBody>
          <a:bodyPr/>
          <a:p/>
        </p:txBody>
      </p:sp>
      <p:sp>
        <p:nvSpPr>
          <p:cNvPr id="474" name="" descr="{&quot;isTemplate&quot;:true,&quot;type&quot;:&quot;text&quot;}"/>
          <p:cNvSpPr txBox="1"/>
          <p:nvPr/>
        </p:nvSpPr>
        <p:spPr>
          <a:xfrm rot="0" flipH="0" flipV="0">
            <a:off x="8820150" y="1619250"/>
            <a:ext cx="2828925" cy="180975"/>
          </a:xfrm>
          <a:prstGeom prst="rect"/>
        </p:spPr>
        <p:txBody>
          <a:bodyPr wrap="none" lIns="0" tIns="0" rIns="0" bIns="0"/>
          <a:p>
            <a:pPr>
              <a:lnSpc>
                <a:spcPct val="100000"/>
              </a:lnSpc>
            </a:pPr>
            <a:r>
              <a:rPr lang="en-US" sz="1163" b="1">
                <a:solidFill>
                  <a:srgbClr val="0E3F8C"/>
                </a:solidFill>
                <a:latin typeface="Microsoft YaHei"/>
                <a:ea typeface="Microsoft YaHei"/>
              </a:rPr>
              <a:t>The exercise</a:t>
            </a:r>
            <a:endParaRPr/>
          </a:p>
        </p:txBody>
      </p:sp>
      <p:sp>
        <p:nvSpPr>
          <p:cNvPr id="475" name="" descr="{&quot;isTemplate&quot;:true,&quot;type&quot;:&quot;text&quot;}"/>
          <p:cNvSpPr txBox="1"/>
          <p:nvPr/>
        </p:nvSpPr>
        <p:spPr>
          <a:xfrm rot="0" flipH="0" flipV="0">
            <a:off x="8820150" y="1847850"/>
            <a:ext cx="2828925" cy="704850"/>
          </a:xfrm>
          <a:prstGeom prst="rect"/>
        </p:spPr>
        <p:txBody>
          <a:bodyPr wrap="square" lIns="0" tIns="0" rIns="0" bIns="0">
            <a:normAutofit/>
          </a:bodyPr>
          <a:p>
            <a:pPr>
              <a:lnSpc>
                <a:spcPct val="160000"/>
              </a:lnSpc>
            </a:pPr>
            <a:r>
              <a:rPr lang="en-US" sz="960">
                <a:solidFill>
                  <a:srgbClr val="4A5568"/>
                </a:solidFill>
                <a:latin typeface="Microsoft YaHei"/>
                <a:ea typeface="Microsoft YaHei"/>
              </a:rPr>
              <a:t>Sort all eighteen into four buckets: conceptual class, attribute, external actor, discard. Then decide whether each class is Entity, Boundary or Control.</a:t>
            </a:r>
            <a:endParaRPr/>
          </a:p>
        </p:txBody>
      </p:sp>
      <p:sp>
        <p:nvSpPr>
          <p:cNvPr id="476" name=""/>
          <p:cNvSpPr/>
          <p:nvPr/>
        </p:nvSpPr>
        <p:spPr>
          <a:xfrm rot="0" flipH="0" flipV="0">
            <a:off x="8658225" y="2809875"/>
            <a:ext cx="3190875" cy="1219200"/>
          </a:xfrm>
          <a:prstGeom prst="roundRect">
            <a:avLst>
              <a:gd name="adj" fmla="val 7031"/>
            </a:avLst>
          </a:prstGeom>
          <a:solidFill>
            <a:srgbClr val="FFF6E0"/>
          </a:solidFill>
          <a:ln/>
        </p:spPr>
        <p:txBody>
          <a:bodyPr/>
          <a:p/>
        </p:txBody>
      </p:sp>
      <p:sp>
        <p:nvSpPr>
          <p:cNvPr id="477" name=""/>
          <p:cNvSpPr/>
          <p:nvPr/>
        </p:nvSpPr>
        <p:spPr>
          <a:xfrm rot="0" flipH="0" flipV="0">
            <a:off x="8658225" y="2809875"/>
            <a:ext cx="3190875" cy="1219200"/>
          </a:xfrm>
          <a:custGeom>
            <a:pathLst>
              <a:path w="335" h="128">
                <a:moveTo>
                  <a:pt x="9" y="0"/>
                </a:moveTo>
                <a:cubicBezTo>
                  <a:pt x="6" y="0"/>
                  <a:pt x="4" y="2"/>
                  <a:pt x="4" y="5"/>
                </a:cubicBezTo>
                <a:lnTo>
                  <a:pt x="4" y="123"/>
                </a:lnTo>
                <a:cubicBezTo>
                  <a:pt x="4" y="125"/>
                  <a:pt x="6" y="127"/>
                  <a:pt x="8" y="128"/>
                </a:cubicBezTo>
                <a:cubicBezTo>
                  <a:pt x="4" y="128"/>
                  <a:pt x="0" y="124"/>
                  <a:pt x="0" y="119"/>
                </a:cubicBezTo>
                <a:lnTo>
                  <a:pt x="0" y="9"/>
                </a:lnTo>
                <a:cubicBezTo>
                  <a:pt x="0" y="4"/>
                  <a:pt x="4" y="0"/>
                  <a:pt x="9" y="0"/>
                </a:cubicBezTo>
                <a:close/>
              </a:path>
            </a:pathLst>
          </a:custGeom>
          <a:solidFill>
            <a:srgbClr val="FFC107"/>
          </a:solidFill>
          <a:ln/>
        </p:spPr>
        <p:txBody>
          <a:bodyPr/>
          <a:p/>
        </p:txBody>
      </p:sp>
      <p:sp>
        <p:nvSpPr>
          <p:cNvPr id="478" name="" descr="{&quot;isTemplate&quot;:true,&quot;type&quot;:&quot;text&quot;}"/>
          <p:cNvSpPr txBox="1"/>
          <p:nvPr/>
        </p:nvSpPr>
        <p:spPr>
          <a:xfrm rot="0" flipH="0" flipV="0">
            <a:off x="8820150" y="2952750"/>
            <a:ext cx="2828925" cy="180975"/>
          </a:xfrm>
          <a:prstGeom prst="rect"/>
        </p:spPr>
        <p:txBody>
          <a:bodyPr wrap="none" lIns="0" tIns="0" rIns="0" bIns="0"/>
          <a:p>
            <a:pPr>
              <a:lnSpc>
                <a:spcPct val="100000"/>
              </a:lnSpc>
            </a:pPr>
            <a:r>
              <a:rPr lang="en-US" sz="1163" b="1">
                <a:solidFill>
                  <a:srgbClr val="996F00"/>
                </a:solidFill>
                <a:latin typeface="Microsoft YaHei"/>
                <a:ea typeface="Microsoft YaHei"/>
              </a:rPr>
              <a:t>Five minutes alone first</a:t>
            </a:r>
            <a:endParaRPr/>
          </a:p>
        </p:txBody>
      </p:sp>
      <p:sp>
        <p:nvSpPr>
          <p:cNvPr id="479" name="" descr="{&quot;isTemplate&quot;:true,&quot;type&quot;:&quot;text&quot;}"/>
          <p:cNvSpPr txBox="1"/>
          <p:nvPr/>
        </p:nvSpPr>
        <p:spPr>
          <a:xfrm rot="0" flipH="0" flipV="0">
            <a:off x="8820150" y="3181350"/>
            <a:ext cx="2828925" cy="704850"/>
          </a:xfrm>
          <a:prstGeom prst="rect"/>
        </p:spPr>
        <p:txBody>
          <a:bodyPr wrap="square" lIns="0" tIns="0" rIns="0" bIns="0">
            <a:normAutofit/>
          </a:bodyPr>
          <a:p>
            <a:pPr>
              <a:lnSpc>
                <a:spcPct val="160000"/>
              </a:lnSpc>
            </a:pPr>
            <a:r>
              <a:rPr lang="en-US" sz="960">
                <a:solidFill>
                  <a:srgbClr val="4A5568"/>
                </a:solidFill>
                <a:latin typeface="Microsoft YaHei"/>
                <a:ea typeface="Microsoft YaHei"/>
              </a:rPr>
              <a:t>Then merge onto the Recorder's page. Keep the rows you disagreed on — those are the ones to argue about.</a:t>
            </a:r>
            <a:endParaRPr/>
          </a:p>
        </p:txBody>
      </p:sp>
      <p:sp>
        <p:nvSpPr>
          <p:cNvPr id="480" name=""/>
          <p:cNvSpPr/>
          <p:nvPr/>
        </p:nvSpPr>
        <p:spPr>
          <a:xfrm rot="0" flipH="0" flipV="0">
            <a:off x="8620125" y="4143375"/>
            <a:ext cx="3190875" cy="1219200"/>
          </a:xfrm>
          <a:prstGeom prst="roundRect">
            <a:avLst>
              <a:gd name="adj" fmla="val 7031"/>
            </a:avLst>
          </a:prstGeom>
          <a:solidFill>
            <a:srgbClr val="FFFFFF"/>
          </a:solidFill>
          <a:ln w="12700">
            <a:solidFill>
              <a:srgbClr val="D6DCE5"/>
            </a:solidFill>
            <a:prstDash val="solid"/>
          </a:ln>
        </p:spPr>
        <p:txBody>
          <a:bodyPr/>
          <a:p/>
        </p:txBody>
      </p:sp>
      <p:sp>
        <p:nvSpPr>
          <p:cNvPr id="481" name="" descr="{&quot;isTemplate&quot;:true,&quot;type&quot;:&quot;text&quot;}"/>
          <p:cNvSpPr txBox="1"/>
          <p:nvPr/>
        </p:nvSpPr>
        <p:spPr>
          <a:xfrm rot="0" flipH="0" flipV="0">
            <a:off x="8782050" y="4286250"/>
            <a:ext cx="2867025" cy="180975"/>
          </a:xfrm>
          <a:prstGeom prst="rect"/>
        </p:spPr>
        <p:txBody>
          <a:bodyPr wrap="none" lIns="0" tIns="0" rIns="0" bIns="0"/>
          <a:p>
            <a:pPr>
              <a:lnSpc>
                <a:spcPct val="100000"/>
              </a:lnSpc>
            </a:pPr>
            <a:r>
              <a:rPr lang="en-US" sz="1163" b="1">
                <a:solidFill>
                  <a:srgbClr val="0E3F8C"/>
                </a:solidFill>
                <a:latin typeface="Microsoft YaHei"/>
                <a:ea typeface="Microsoft YaHei"/>
              </a:rPr>
              <a:t>The four hardest</a:t>
            </a:r>
            <a:endParaRPr/>
          </a:p>
        </p:txBody>
      </p:sp>
      <p:sp>
        <p:nvSpPr>
          <p:cNvPr id="482" name="" descr="{&quot;isTemplate&quot;:true,&quot;type&quot;:&quot;text&quot;}"/>
          <p:cNvSpPr txBox="1"/>
          <p:nvPr/>
        </p:nvSpPr>
        <p:spPr>
          <a:xfrm rot="0" flipH="0" flipV="0">
            <a:off x="8782050" y="4514850"/>
            <a:ext cx="2867025" cy="704850"/>
          </a:xfrm>
          <a:prstGeom prst="rect"/>
        </p:spPr>
        <p:txBody>
          <a:bodyPr wrap="square" lIns="0" tIns="0" rIns="0" bIns="0">
            <a:normAutofit/>
          </a:bodyPr>
          <a:p>
            <a:pPr>
              <a:lnSpc>
                <a:spcPct val="160000"/>
              </a:lnSpc>
            </a:pPr>
            <a:r>
              <a:rPr lang="en-US" sz="960">
                <a:solidFill>
                  <a:srgbClr val="4A5568"/>
                </a:solidFill>
                <a:latin typeface="Microsoft YaHei"/>
                <a:ea typeface="Microsoft YaHei"/>
              </a:rPr>
              <a:t>delivery window · coupon code · rating · kitchen ticket. Decide these yourself before looking at page 33.</a:t>
            </a:r>
            <a:endParaRPr/>
          </a:p>
        </p:txBody>
      </p:sp>
      <p:sp>
        <p:nvSpPr>
          <p:cNvPr id="483" name=""/>
          <p:cNvSpPr/>
          <p:nvPr/>
        </p:nvSpPr>
        <p:spPr>
          <a:xfrm rot="0" flipH="0" flipV="0">
            <a:off x="8620125" y="5476875"/>
            <a:ext cx="3190875" cy="704850"/>
          </a:xfrm>
          <a:prstGeom prst="roundRect">
            <a:avLst>
              <a:gd name="adj" fmla="val 10811"/>
            </a:avLst>
          </a:prstGeom>
          <a:solidFill>
            <a:srgbClr val="F7F9FC"/>
          </a:solidFill>
          <a:ln w="12700">
            <a:solidFill>
              <a:srgbClr val="D6DCE5"/>
            </a:solidFill>
            <a:prstDash val="dash"/>
          </a:ln>
        </p:spPr>
        <p:txBody>
          <a:bodyPr/>
          <a:p/>
        </p:txBody>
      </p:sp>
      <p:sp>
        <p:nvSpPr>
          <p:cNvPr id="484" name="" descr="{&quot;isTemplate&quot;:true,&quot;type&quot;:&quot;text&quot;}"/>
          <p:cNvSpPr txBox="1"/>
          <p:nvPr/>
        </p:nvSpPr>
        <p:spPr>
          <a:xfrm rot="0" flipH="0" flipV="0">
            <a:off x="8772525" y="5591175"/>
            <a:ext cx="2886075" cy="476250"/>
          </a:xfrm>
          <a:prstGeom prst="rect"/>
        </p:spPr>
        <p:txBody>
          <a:bodyPr wrap="square" lIns="0" tIns="0" rIns="0" bIns="0">
            <a:normAutofit/>
          </a:bodyPr>
          <a:p>
            <a:pPr>
              <a:lnSpc>
                <a:spcPct val="160000"/>
              </a:lnSpc>
            </a:pPr>
            <a:r>
              <a:rPr lang="en-US" sz="960">
                <a:solidFill>
                  <a:srgbClr val="8B97A8"/>
                </a:solidFill>
                <a:latin typeface="Microsoft YaHei"/>
                <a:ea typeface="Microsoft YaHei"/>
              </a:rPr>
              <a:t>For each class you keep, write the one specification sentence it came from. No sentence, no class.</a:t>
            </a:r>
            <a:endParaRPr/>
          </a:p>
        </p:txBody>
      </p:sp>
      <p:sp>
        <p:nvSpPr>
          <p:cNvPr id="485" name=""/>
          <p:cNvSpPr/>
          <p:nvPr/>
        </p:nvSpPr>
        <p:spPr>
          <a:xfrm rot="0" flipH="0" flipV="0">
            <a:off x="0" y="6419850"/>
            <a:ext cx="12192000" cy="438150"/>
          </a:xfrm>
          <a:prstGeom prst="rect">
            <a:avLst/>
          </a:prstGeom>
          <a:solidFill>
            <a:srgbClr val="0E3F8C"/>
          </a:solidFill>
          <a:ln/>
        </p:spPr>
        <p:txBody>
          <a:bodyPr/>
          <a:p/>
        </p:txBody>
      </p:sp>
      <p:sp>
        <p:nvSpPr>
          <p:cNvPr id="486" name="" descr="{&quot;isTemplate&quot;:true,&quot;type&quot;:&quot;text&quot;}"/>
          <p:cNvSpPr txBox="1"/>
          <p:nvPr/>
        </p:nvSpPr>
        <p:spPr>
          <a:xfrm rot="0" flipH="0" flipV="0">
            <a:off x="2781300" y="6543675"/>
            <a:ext cx="6638925" cy="190500"/>
          </a:xfrm>
          <a:prstGeom prst="rect"/>
        </p:spPr>
        <p:txBody>
          <a:bodyPr wrap="none" lIns="0" tIns="0" rIns="0" bIns="0"/>
          <a:p>
            <a:pPr>
              <a:lnSpc>
                <a:spcPct val="100000"/>
              </a:lnSpc>
            </a:pPr>
            <a:r>
              <a:rPr lang="en-US" sz="1238" b="1">
                <a:solidFill>
                  <a:srgbClr val="FFFFFF"/>
                </a:solidFill>
                <a:latin typeface="Microsoft YaHei"/>
                <a:ea typeface="Microsoft YaHei"/>
              </a:rPr>
              <a:t>Twenty-four words in, eight classes out. Most of the work is deciding what to throw away</a:t>
            </a:r>
            <a:endParaRPr/>
          </a:p>
        </p:txBody>
      </p:sp>
      <p:sp>
        <p:nvSpPr>
          <p:cNvPr id="487" name=""/>
          <p:cNvSpPr/>
          <p:nvPr/>
        </p:nvSpPr>
        <p:spPr>
          <a:xfrm rot="0" flipH="0" flipV="0">
            <a:off x="381000" y="2600325"/>
            <a:ext cx="7991475" cy="2466975"/>
          </a:xfrm>
          <a:prstGeom prst="roundRect">
            <a:avLst>
              <a:gd name="adj" fmla="val 3089"/>
            </a:avLst>
          </a:prstGeom>
          <a:solidFill>
            <a:srgbClr val="0E1116"/>
          </a:solidFill>
          <a:ln/>
        </p:spPr>
        <p:txBody>
          <a:bodyPr/>
          <a:p/>
        </p:txBody>
      </p:sp>
      <p:sp>
        <p:nvSpPr>
          <p:cNvPr id="488" name=""/>
          <p:cNvSpPr txBox="1"/>
          <p:nvPr/>
        </p:nvSpPr>
        <p:spPr>
          <a:xfrm rot="0" flipH="0" flipV="0">
            <a:off x="533400" y="2733675"/>
            <a:ext cx="7686675" cy="2200275"/>
          </a:xfrm>
          <a:prstGeom prst="rect"/>
        </p:spPr>
        <p:txBody>
          <a:bodyPr wrap="square" lIns="0" tIns="0" rIns="0" bIns="0">
            <a:normAutofit/>
          </a:bodyPr>
          <a:p>
            <a:pPr/>
            <a:r>
              <a:rPr sz="900">
                <a:solidFill>
                  <a:srgbClr val="E5E7EB"/>
                </a:solidFill>
                <a:latin typeface="Menlo"/>
                <a:ea typeface="Menlo"/>
              </a:rPr>
              <a:t>Words collected from the Worked example
specifications, requirements pack and two
team meetings. Sorted by nobody.
  order          OrderLine      menu item
  total          payment        provider
  cart           coupon         code
  kitchen ticket order time     rating
  delivery       window         fee
  student        validation     calculation
  logging        server         service
  table          interface      ui
Eighteen words. Four of them are actors,
three are implementation, and the rest
are a mixture of classes and attributes.</a:t>
            </a:r>
            <a:endParaRPr/>
          </a:p>
        </p:txBody>
      </p:sp>
    </p:spTree>
  </p:cSld>
</p:sld>
</file>

<file path=ppt/slides/slide30.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503"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6 · LAB · EXERCISE 6.1&lt;/Text&gt;&#10;  &lt;/Box&gt;&#10;  &lt;Box style={{ padding: '13px 40px 0 40px', flexDirection: 'row', alignItems: 'center', justifyContent: 'space-between' }}&gt;&#10;    &lt;Text style={{ fontSize: 29, fontWeight: 'bold', color: '#0E3F8C' }}&gt;Exercise 6.1 — Sort Them&lt;/Text&gt;&#10;    &lt;Text style={{ fontSize: 14, color: '#1E4FA8', fontWeight: 'bold' }}&gt;30 / 39&lt;/Text&gt;&#10;  &lt;/Box&gt;&#10;  &lt;Box style={{ flex: 1, padding: '10px 40px 0 40px' }}&gt;&#10;    &lt;Table&#10;      style={{ width: '100%', height: '100%' }}&#10;      defaultTextStyle={{ fontSize: 13, textAlign: 'left', color: '#1A2230' }}&#10;      defaultCellStyle={{&#10;        border: {&#10;          left: { width: 1, color: '#E5E7EB' },&#10;          right: { width: 1, color: '#E5E7EB' },&#10;          top: { width: 1, color: '#E5E7EB' },&#10;          bottom: { width: 1, color: '#E5E7EB' },&#10;        },&#10;      }}&#10;      cells={[&#10;        [&#10;          { text: 'Word', textStyle: { bold: true, color: '#FFFFFF', fontSize: 14 }, cellStyle: { background: { color: '#0E3F8C' } } },&#10;          { text: 'Your call', textStyle: { bold: true, color: '#FFFFFF', fontSize: 14 }, cellStyle: { background: { color: '#1E4FA8' } } },&#10;          { text: 'If a class, then', textStyle: { bold: true, color: '#FFFFFF', fontSize: 14 }, cellStyle: { background: { color: '#2B5793' } } },&#10;        ],&#10;        [&#10;          { text: 'order · OrderLine · menu item', textStyle: { bold: true, color: '#0E3F8C' }, cellStyle: { background: { color: '#F7F9FC' } } },&#10;          { text: 'Class', textStyle: { color: '#2B7A3D', fontWeight: 'bold' }, cellStyle: { background: { color: '#F7F9FC' } } },&#10;          { text: 'Three entities. Note “menu item”, not “item” — say which catalogue.', textStyle: { color: '#4A5568' }, cellStyle: { background: { color: '#F7F9FC' } } },&#10;        ],&#10;        [&#10;          { text: 'cart', textStyle: { bold: true, color: '#0E3F8C' } },&#10;          { text: 'Discard, or attribute', textStyle: { color: '#996F00', fontWeight: 'bold' } },&#10;          { text: '“The cart total” is one sentence. A cart is not a thing the kitchen ever hears about.', textStyle: { color: '#4A5568' } },&#10;        ],&#10;        [&#10;          { text: 'total', textStyle: { bold: true, color: '#0E3F8C' }, cellStyle: { background: { color: '#F7F9FC' } } },&#10;          { text: 'Attribute', textStyle: { color: '#996F00', fontWeight: 'bold' }, cellStyle: { background: { color: '#F7F9FC' } } },&#10;          { text: 'Of OrderLine, and derived. Or of Order if you decide to store it — say which.', textStyle: { color: '#4A5568' }, cellStyle: { background: { color: '#F7F9FC' } } },&#10;        ],&#10;        [&#10;          { text: 'payment · provider', textStyle: { bold: true, color: '#0E3F8C' } },&#10;          { text: 'One class, one actor', textStyle: { color: '#D9534F', fontWeight: 'bold' } },&#10;          { text: 'Payment is a record we keep. The provider is outside the boundary — it was on your use case diagram.', textStyle: { color: '#4A5568' } },&#10;        ],&#10;        [&#10;          { text: 'coupon · code', textStyle: { bold: true, color: '#0E3F8C' }, cellStyle: { background: { color: '#F7F9FC' } } },&#10;          { text: 'Class + attribute', textStyle: { color: '#2B7A3D', fontWeight: 'bold' }, cellStyle: { background: { color: '#F7F9FC' } } },&#10;          { text: 'Coupon is an entity — students point at their coupons. Code is its attribute.', textStyle: { color: '#4A5568' }, cellStyle: { background: { color: '#F7F9FC' } } },&#10;        ],&#10;        [&#10;          { text: 'delivery · window · fee', textStyle: { bold: true, color: '#0E3F8C' } },&#10;          { text: 'Class', textStyle: { color: '#2B7A3D', fontWeight: 'bold' } },&#10;          { text: 'DeliveryWindow is an entity once fees vary by window. Window and fee are its attributes.', textStyle: { color: '#4A5568' } },&#10;        ],&#10;        [&#10;          { text: 'validation · calculation · logging', textStyle: { bold: true, color: '#0E3F8C' }, cellStyle: { background: { color: '#F7F9FC' } } },&#10;          { text: 'Discard', textStyle: { color: '#D9534F', fontWeight: 'bold' }, cellStyle: { background: { color: '#F7F9FC' } } },&#10;          { text: 'Gerunds and technology words. None of them is in a specification sentence.', textStyle: { color: '#4A5568' }, cellStyle: { background: { color: '#F7F9FC' } } },&#10;        ],&#10;        [&#10;          { text: 'server · service · table · interface · ui', textStyle: { bold: true, color: '#0E3F8C' } },&#10;          { text: 'Discard', textStyle: { color: '#D9534F', fontWeight: 'bold' } },&#10;          { text: 'Implementation words. If one of these appears in your model, the model is a design model.' , textStyle: { color: '#4A5568' } },&#10;        ],&#10;      ]}&#10;    /&gt;&#10;  &lt;/Box&gt;&#10;  &lt;Box style={{ height: 46, background: '#0E3F8C', padding: '0 40px', flexDirection: 'row', alignItems: 'center', justifyContent: 'center' }}&gt;&#10;    &lt;Text style={{ fontSize: 16.5, color: '#FFFFFF', fontWeight: '600' }}&gt;The words you throw away are as important as the ones you keep — they tell you where the boundary is&lt;/Text&gt;&#10;  &lt;/Box&gt;&#10;&lt;/Slide&gt;&#10;"/>
        <p:cNvGrpSpPr/>
        <p:nvPr/>
      </p:nvGrpSpPr>
      <p:grpSpPr>
        <a:xfrm>
          <a:off x="0" y="0"/>
          <a:ext cx="0" cy="0"/>
          <a:chOff x="0" y="0"/>
          <a:chExt cx="0" cy="0"/>
        </a:xfrm>
      </p:grpSpPr>
      <p:sp>
        <p:nvSpPr>
          <p:cNvPr id="504" name=""/>
          <p:cNvSpPr/>
          <p:nvPr/>
        </p:nvSpPr>
        <p:spPr>
          <a:xfrm rot="0" flipH="0" flipV="0">
            <a:off x="0" y="0"/>
            <a:ext cx="12192000" cy="6858000"/>
          </a:xfrm>
          <a:prstGeom prst="rect">
            <a:avLst/>
          </a:prstGeom>
          <a:solidFill>
            <a:srgbClr val="FFFFFF"/>
          </a:solidFill>
          <a:ln/>
        </p:spPr>
        <p:txBody>
          <a:bodyPr/>
          <a:p/>
        </p:txBody>
      </p:sp>
      <p:sp>
        <p:nvSpPr>
          <p:cNvPr id="505" name=""/>
          <p:cNvSpPr/>
          <p:nvPr/>
        </p:nvSpPr>
        <p:spPr>
          <a:xfrm rot="0" flipH="0" flipV="0">
            <a:off x="0" y="0"/>
            <a:ext cx="12192000" cy="685800"/>
          </a:xfrm>
          <a:prstGeom prst="rect">
            <a:avLst/>
          </a:prstGeom>
          <a:solidFill>
            <a:srgbClr val="1E4FA8"/>
          </a:solidFill>
          <a:ln/>
        </p:spPr>
        <p:txBody>
          <a:bodyPr/>
          <a:p/>
        </p:txBody>
      </p:sp>
      <p:sp>
        <p:nvSpPr>
          <p:cNvPr id="506"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507" name="" descr="{&quot;isTemplate&quot;:true,&quot;type&quot;:&quot;text&quot;}"/>
          <p:cNvSpPr txBox="1"/>
          <p:nvPr/>
        </p:nvSpPr>
        <p:spPr>
          <a:xfrm rot="0" flipH="0" flipV="0">
            <a:off x="10029825" y="257175"/>
            <a:ext cx="1781175" cy="171450"/>
          </a:xfrm>
          <a:prstGeom prst="rect"/>
        </p:spPr>
        <p:txBody>
          <a:bodyPr wrap="none" lIns="0" tIns="0" rIns="0" bIns="0"/>
          <a:p>
            <a:pPr>
              <a:lnSpc>
                <a:spcPct val="100000"/>
              </a:lnSpc>
            </a:pPr>
            <a:r>
              <a:rPr lang="en-US" sz="1125">
                <a:solidFill>
                  <a:srgbClr val="B9CDF0"/>
                </a:solidFill>
                <a:latin typeface="Microsoft YaHei"/>
                <a:ea typeface="Microsoft YaHei"/>
              </a:rPr>
              <a:t>W06 · LAB · EXERCISE 6.1</a:t>
            </a:r>
            <a:endParaRPr/>
          </a:p>
        </p:txBody>
      </p:sp>
      <p:sp>
        <p:nvSpPr>
          <p:cNvPr id="508" name="" descr="{&quot;isTemplate&quot;:true,&quot;type&quot;:&quot;text&quot;}"/>
          <p:cNvSpPr txBox="1"/>
          <p:nvPr/>
        </p:nvSpPr>
        <p:spPr>
          <a:xfrm rot="0" flipH="0" flipV="0">
            <a:off x="381000" y="809625"/>
            <a:ext cx="3400425" cy="333375"/>
          </a:xfrm>
          <a:prstGeom prst="rect"/>
        </p:spPr>
        <p:txBody>
          <a:bodyPr wrap="none" lIns="0" tIns="0" rIns="0" bIns="0"/>
          <a:p>
            <a:pPr>
              <a:lnSpc>
                <a:spcPct val="100000"/>
              </a:lnSpc>
            </a:pPr>
            <a:r>
              <a:rPr lang="en-US" sz="2175" b="1">
                <a:solidFill>
                  <a:srgbClr val="0E3F8C"/>
                </a:solidFill>
                <a:latin typeface="Microsoft YaHei"/>
                <a:ea typeface="Microsoft YaHei"/>
              </a:rPr>
              <a:t>Exercise 6.1 — Sort Them</a:t>
            </a:r>
            <a:endParaRPr/>
          </a:p>
        </p:txBody>
      </p:sp>
      <p:sp>
        <p:nvSpPr>
          <p:cNvPr id="509"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30 / 39</a:t>
            </a:r>
            <a:endParaRPr/>
          </a:p>
        </p:txBody>
      </p:sp>
      <p:graphicFrame>
        <p:nvGraphicFramePr>
          <p:cNvPr id="510" name=""/>
          <p:cNvGraphicFramePr/>
          <p:nvPr/>
        </p:nvGraphicFramePr>
        <p:xfrm rot="0" flipH="0" flipV="0">
          <a:off x="381000" y="1238250"/>
          <a:ext cx="11430000" cy="5181600"/>
        </p:xfrm>
        <a:graphic>
          <a:graphicData uri="http://schemas.openxmlformats.org/drawingml/2006/table">
            <a:tbl>
              <a:tblGrid>
                <a:gridCol w="2779953">
                  <a:extLst>
                    <a:ext uri="{9D8B030D-6E8A-4147-A177-3AD203B41FA5}">
                      <a16:colId val="1"/>
                    </a:ext>
                  </a:extLst>
                </a:gridCol>
                <a:gridCol w="1522747">
                  <a:extLst>
                    <a:ext uri="{9D8B030D-6E8A-4147-A177-3AD203B41FA5}">
                      <a16:colId val="2"/>
                    </a:ext>
                  </a:extLst>
                </a:gridCol>
                <a:gridCol w="7127301">
                  <a:extLst>
                    <a:ext uri="{9D8B030D-6E8A-4147-A177-3AD203B41FA5}">
                      <a16:colId val="3"/>
                    </a:ext>
                  </a:extLst>
                </a:gridCol>
              </a:tblGrid>
              <a:tr h="611245">
                <a:tc>
                  <a:txBody>
                    <a:bodyPr wrap="square" lIns="0" tIns="0" rIns="0" bIns="0" anchor="ctr">
                      <a:normAutofit/>
                    </a:bodyPr>
                    <a:p>
                      <a:pPr marL="114300" marR="114300" algn="l">
                        <a:lnSpc>
                          <a:spcPct val="120000"/>
                        </a:lnSpc>
                      </a:pPr>
                      <a:r>
                        <a:rPr sz="1050" b="1">
                          <a:solidFill>
                            <a:srgbClr val="FFFFFF"/>
                          </a:solidFill>
                          <a:latin typeface="Microsoft YaHei"/>
                          <a:ea typeface="Microsoft YaHei"/>
                        </a:rPr>
                        <a:t>Word</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050" b="1">
                          <a:solidFill>
                            <a:srgbClr val="FFFFFF"/>
                          </a:solidFill>
                          <a:latin typeface="Microsoft YaHei"/>
                          <a:ea typeface="Microsoft YaHei"/>
                        </a:rPr>
                        <a:t>Your call</a:t>
                      </a:r>
                      <a:endParaRPr/>
                    </a:p>
                  </a:txBody>
                  <a:tcPr marL="45720" marR="45720" marT="45720" marB="45720" anchor="ctr">
                    <a:lnL>
                      <a:noFill/>
                    </a:lnL>
                    <a:lnR>
                      <a:noFill/>
                    </a:lnR>
                    <a:lnT>
                      <a:noFill/>
                    </a:lnT>
                    <a:lnB>
                      <a:noFill/>
                    </a:lnB>
                    <a:solidFill>
                      <a:srgbClr val="1E4FA8"/>
                    </a:solidFill>
                  </a:tcPr>
                </a:tc>
                <a:tc>
                  <a:txBody>
                    <a:bodyPr wrap="square" lIns="0" tIns="0" rIns="0" bIns="0" anchor="ctr">
                      <a:normAutofit/>
                    </a:bodyPr>
                    <a:p>
                      <a:pPr marL="114300" marR="114300" algn="l">
                        <a:lnSpc>
                          <a:spcPct val="120000"/>
                        </a:lnSpc>
                      </a:pPr>
                      <a:r>
                        <a:rPr sz="1050" b="1">
                          <a:solidFill>
                            <a:srgbClr val="FFFFFF"/>
                          </a:solidFill>
                          <a:latin typeface="Microsoft YaHei"/>
                          <a:ea typeface="Microsoft YaHei"/>
                        </a:rPr>
                        <a:t>If a class, then</a:t>
                      </a:r>
                      <a:endParaRPr/>
                    </a:p>
                  </a:txBody>
                  <a:tcPr marL="45720" marR="45720" marT="45720" marB="45720" anchor="ctr">
                    <a:lnL>
                      <a:noFill/>
                    </a:lnL>
                    <a:lnR>
                      <a:noFill/>
                    </a:lnR>
                    <a:lnT>
                      <a:noFill/>
                    </a:lnT>
                    <a:lnB>
                      <a:noFill/>
                    </a:lnB>
                    <a:solidFill>
                      <a:srgbClr val="2B5793"/>
                    </a:solidFill>
                  </a:tcPr>
                </a:tc>
                <a:extLst>
                  <a:ext uri="{0D108BD9-81ED-4DB2-BD59-A6C34878D82A}">
                    <a16:rowId val="1"/>
                  </a:ext>
                </a:extLst>
              </a:tr>
              <a:tr h="571294">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order · OrderLine · menu item</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2B7A3D"/>
                          </a:solidFill>
                          <a:latin typeface="Microsoft YaHei"/>
                          <a:ea typeface="Microsoft YaHei"/>
                        </a:rPr>
                        <a:t>Class</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Three entities. Note “menu item”, not “item” — say which catalogue.</a:t>
                      </a:r>
                      <a:endParaRPr/>
                    </a:p>
                  </a:txBody>
                  <a:tcPr marL="45720" marR="45720" marT="45720" marB="45720" anchor="ctr">
                    <a:lnL>
                      <a:noFill/>
                    </a:lnL>
                    <a:lnR>
                      <a:noFill/>
                    </a:lnR>
                    <a:lnT>
                      <a:noFill/>
                    </a:lnT>
                    <a:lnB>
                      <a:noFill/>
                    </a:lnB>
                    <a:solidFill>
                      <a:srgbClr val="F7F9FC"/>
                    </a:solidFill>
                  </a:tcPr>
                </a:tc>
                <a:extLst>
                  <a:ext uri="{0D108BD9-81ED-4DB2-BD59-A6C34878D82A}">
                    <a16:rowId val="2"/>
                  </a:ext>
                </a:extLst>
              </a:tr>
              <a:tr h="571294">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cart</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996F00"/>
                          </a:solidFill>
                          <a:latin typeface="Microsoft YaHei"/>
                          <a:ea typeface="Microsoft YaHei"/>
                        </a:rPr>
                        <a:t>Discard, or attribute</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“The cart total” is one sentence. A cart is not a thing the kitchen ever hears about.</a:t>
                      </a:r>
                      <a:endParaRPr/>
                    </a:p>
                  </a:txBody>
                  <a:tcPr marL="45720" marR="45720" marT="45720" marB="45720" anchor="ctr">
                    <a:lnL>
                      <a:noFill/>
                    </a:lnL>
                    <a:lnR>
                      <a:noFill/>
                    </a:lnR>
                    <a:lnT>
                      <a:noFill/>
                    </a:lnT>
                    <a:lnB>
                      <a:noFill/>
                    </a:lnB>
                  </a:tcPr>
                </a:tc>
                <a:extLst>
                  <a:ext uri="{0D108BD9-81ED-4DB2-BD59-A6C34878D82A}">
                    <a16:rowId val="3"/>
                  </a:ext>
                </a:extLst>
              </a:tr>
              <a:tr h="571294">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total</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996F00"/>
                          </a:solidFill>
                          <a:latin typeface="Microsoft YaHei"/>
                          <a:ea typeface="Microsoft YaHei"/>
                        </a:rPr>
                        <a:t>Attribute</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Of OrderLine, and derived. Or of Order if you decide to store it — say which.</a:t>
                      </a:r>
                      <a:endParaRPr/>
                    </a:p>
                  </a:txBody>
                  <a:tcPr marL="45720" marR="45720" marT="45720" marB="45720" anchor="ctr">
                    <a:lnL>
                      <a:noFill/>
                    </a:lnL>
                    <a:lnR>
                      <a:noFill/>
                    </a:lnR>
                    <a:lnT>
                      <a:noFill/>
                    </a:lnT>
                    <a:lnB>
                      <a:noFill/>
                    </a:lnB>
                    <a:solidFill>
                      <a:srgbClr val="F7F9FC"/>
                    </a:solidFill>
                  </a:tcPr>
                </a:tc>
                <a:extLst>
                  <a:ext uri="{0D108BD9-81ED-4DB2-BD59-A6C34878D82A}">
                    <a16:rowId val="4"/>
                  </a:ext>
                </a:extLst>
              </a:tr>
              <a:tr h="571294">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payment · provider</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D9534F"/>
                          </a:solidFill>
                          <a:latin typeface="Microsoft YaHei"/>
                          <a:ea typeface="Microsoft YaHei"/>
                        </a:rPr>
                        <a:t>One class, one actor</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Payment is a record we keep. The provider is outside the boundary — it was on your use case diagram.</a:t>
                      </a:r>
                      <a:endParaRPr/>
                    </a:p>
                  </a:txBody>
                  <a:tcPr marL="45720" marR="45720" marT="45720" marB="45720" anchor="ctr">
                    <a:lnL>
                      <a:noFill/>
                    </a:lnL>
                    <a:lnR>
                      <a:noFill/>
                    </a:lnR>
                    <a:lnT>
                      <a:noFill/>
                    </a:lnT>
                    <a:lnB>
                      <a:noFill/>
                    </a:lnB>
                  </a:tcPr>
                </a:tc>
                <a:extLst>
                  <a:ext uri="{0D108BD9-81ED-4DB2-BD59-A6C34878D82A}">
                    <a16:rowId val="5"/>
                  </a:ext>
                </a:extLst>
              </a:tr>
              <a:tr h="571294">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coupon · code</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2B7A3D"/>
                          </a:solidFill>
                          <a:latin typeface="Microsoft YaHei"/>
                          <a:ea typeface="Microsoft YaHei"/>
                        </a:rPr>
                        <a:t>Class + attribute</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Coupon is an entity — students point at their coupons. Code is its attribute.</a:t>
                      </a:r>
                      <a:endParaRPr/>
                    </a:p>
                  </a:txBody>
                  <a:tcPr marL="45720" marR="45720" marT="45720" marB="45720" anchor="ctr">
                    <a:lnL>
                      <a:noFill/>
                    </a:lnL>
                    <a:lnR>
                      <a:noFill/>
                    </a:lnR>
                    <a:lnT>
                      <a:noFill/>
                    </a:lnT>
                    <a:lnB>
                      <a:noFill/>
                    </a:lnB>
                    <a:solidFill>
                      <a:srgbClr val="F7F9FC"/>
                    </a:solidFill>
                  </a:tcPr>
                </a:tc>
                <a:extLst>
                  <a:ext uri="{0D108BD9-81ED-4DB2-BD59-A6C34878D82A}">
                    <a16:rowId val="6"/>
                  </a:ext>
                </a:extLst>
              </a:tr>
              <a:tr h="571294">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delivery · window · fee</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2B7A3D"/>
                          </a:solidFill>
                          <a:latin typeface="Microsoft YaHei"/>
                          <a:ea typeface="Microsoft YaHei"/>
                        </a:rPr>
                        <a:t>Class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DeliveryWindow is an entity once fees vary by window. Window and fee are its attributes.</a:t>
                      </a:r>
                      <a:endParaRPr/>
                    </a:p>
                  </a:txBody>
                  <a:tcPr marL="45720" marR="45720" marT="45720" marB="45720" anchor="ctr">
                    <a:lnL>
                      <a:noFill/>
                    </a:lnL>
                    <a:lnR>
                      <a:noFill/>
                    </a:lnR>
                    <a:lnT>
                      <a:noFill/>
                    </a:lnT>
                    <a:lnB>
                      <a:noFill/>
                    </a:lnB>
                  </a:tcPr>
                </a:tc>
                <a:extLst>
                  <a:ext uri="{0D108BD9-81ED-4DB2-BD59-A6C34878D82A}">
                    <a16:rowId val="7"/>
                  </a:ext>
                </a:extLst>
              </a:tr>
              <a:tr h="571294">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validation · calculation · logging</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D9534F"/>
                          </a:solidFill>
                          <a:latin typeface="Microsoft YaHei"/>
                          <a:ea typeface="Microsoft YaHei"/>
                        </a:rPr>
                        <a:t>Discard</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Gerunds and technology words. None of them is in a specification sentence.</a:t>
                      </a:r>
                      <a:endParaRPr/>
                    </a:p>
                  </a:txBody>
                  <a:tcPr marL="45720" marR="45720" marT="45720" marB="45720" anchor="ctr">
                    <a:lnL>
                      <a:noFill/>
                    </a:lnL>
                    <a:lnR>
                      <a:noFill/>
                    </a:lnR>
                    <a:lnT>
                      <a:noFill/>
                    </a:lnT>
                    <a:lnB>
                      <a:noFill/>
                    </a:lnB>
                    <a:solidFill>
                      <a:srgbClr val="F7F9FC"/>
                    </a:solidFill>
                  </a:tcPr>
                </a:tc>
                <a:extLst>
                  <a:ext uri="{0D108BD9-81ED-4DB2-BD59-A6C34878D82A}">
                    <a16:rowId val="8"/>
                  </a:ext>
                </a:extLst>
              </a:tr>
              <a:tr h="571294">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server · service · table · interface · ui</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D9534F"/>
                          </a:solidFill>
                          <a:latin typeface="Microsoft YaHei"/>
                          <a:ea typeface="Microsoft YaHei"/>
                        </a:rPr>
                        <a:t>Discard</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Implementation words. If one of these appears in your model, the model is a design model.</a:t>
                      </a:r>
                      <a:endParaRPr/>
                    </a:p>
                  </a:txBody>
                  <a:tcPr marL="45720" marR="45720" marT="45720" marB="45720" anchor="ctr">
                    <a:lnL>
                      <a:noFill/>
                    </a:lnL>
                    <a:lnR>
                      <a:noFill/>
                    </a:lnR>
                    <a:lnT>
                      <a:noFill/>
                    </a:lnT>
                    <a:lnB>
                      <a:noFill/>
                    </a:lnB>
                  </a:tcPr>
                </a:tc>
                <a:extLst>
                  <a:ext uri="{0D108BD9-81ED-4DB2-BD59-A6C34878D82A}">
                    <a16:rowId val="9"/>
                  </a:ext>
                </a:extLst>
              </a:tr>
            </a:tbl>
          </a:graphicData>
        </a:graphic>
      </p:graphicFrame>
      <p:sp>
        <p:nvSpPr>
          <p:cNvPr id="511" name=""/>
          <p:cNvSpPr/>
          <p:nvPr/>
        </p:nvSpPr>
        <p:spPr>
          <a:xfrm rot="0" flipH="0" flipV="0">
            <a:off x="0" y="6419850"/>
            <a:ext cx="12192000" cy="438150"/>
          </a:xfrm>
          <a:prstGeom prst="rect">
            <a:avLst/>
          </a:prstGeom>
          <a:solidFill>
            <a:srgbClr val="0E3F8C"/>
          </a:solidFill>
          <a:ln/>
        </p:spPr>
        <p:txBody>
          <a:bodyPr/>
          <a:p/>
        </p:txBody>
      </p:sp>
      <p:sp>
        <p:nvSpPr>
          <p:cNvPr id="512" name="" descr="{&quot;isTemplate&quot;:true,&quot;type&quot;:&quot;text&quot;}"/>
          <p:cNvSpPr txBox="1"/>
          <p:nvPr/>
        </p:nvSpPr>
        <p:spPr>
          <a:xfrm rot="0" flipH="0" flipV="0">
            <a:off x="2209800" y="6543675"/>
            <a:ext cx="7781925" cy="190500"/>
          </a:xfrm>
          <a:prstGeom prst="rect"/>
        </p:spPr>
        <p:txBody>
          <a:bodyPr wrap="none" lIns="0" tIns="0" rIns="0" bIns="0"/>
          <a:p>
            <a:pPr>
              <a:lnSpc>
                <a:spcPct val="100000"/>
              </a:lnSpc>
            </a:pPr>
            <a:r>
              <a:rPr lang="en-US" sz="1238" b="1">
                <a:solidFill>
                  <a:srgbClr val="FFFFFF"/>
                </a:solidFill>
                <a:latin typeface="Microsoft YaHei"/>
                <a:ea typeface="Microsoft YaHei"/>
              </a:rPr>
              <a:t>The words you throw away are as important as the ones you keep — they tell you where the boundary is</a:t>
            </a:r>
            <a:endParaRPr/>
          </a:p>
        </p:txBody>
      </p:sp>
    </p:spTree>
  </p:cSld>
</p:sld>
</file>

<file path=ppt/slides/slide31.xml><?xml version="1.0" encoding="utf-8"?>
<p:sld xmlns:p="http://schemas.openxmlformats.org/presentationml/2006/main" xmlns:a="http://schemas.openxmlformats.org/drawingml/2006/main">
  <p:cSld>
    <p:spTree>
      <p:nvGrpSpPr>
        <p:cNvPr id="513"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6 · LAB · EXERCISE 6.1&lt;/Text&gt;&#10;  &lt;/Box&gt;&#10;  &lt;Box style={{ padding: '13px 40px 0 40px', flexDirection: 'row', alignItems: 'center', justifyContent: 'space-between' }}&gt;&#10;    &lt;Text style={{ fontSize: 29, fontWeight: 'bold', color: '#0E3F8C' }}&gt;Exercise 6.1 — Answers&lt;/Text&gt;&#10;    &lt;Text style={{ fontSize: 14, color: '#1E4FA8', fontWeight: 'bold' }}&gt;31 / 39&lt;/Text&gt;&#10;  &lt;/Box&gt;&#10;  &lt;Box style={{ flex: 1, padding: '10px 40px 0 40px', flexDirection: 'row', gap: 26 }}&gt;&#10;    &lt;Box style={{ flex: 1, flexDirection: 'column', gap: 11 }}&gt;&#10;      {[&#10;        { k: 'Ten classes', b: 'Order · OrderLine · MenuItem · Restaurant · Courier · Payment · Coupon · DeliveryWindow · StudentApp · KitchenDisplay (+ CourierApp, RestaurantConsole, PlaceOrderController, PayController) — 14 if you classify the boundaries and controls too.' },&#10;        { k: 'Eight are entities', b: 'The business keeps them, they have identity, and every one appeared in a W05 specification sentence.' },&#10;        { k: 'Four are boundaries, two are controls', b: 'One per way the outside world talks in; one per use case that needs sequencing.' },&#10;        { k: 'Eight words discarded', b: 'validation · calculation · logging · server · service · table · interface · ui. None can be pointed at, and none appears in a spec sentence.' },&#10;      ].map((c) =&gt; (&#10;        &lt;Box key={c.k} style={{ padding: '14px 17px', background: '#F7F9FC', borderRadius: 9, borderLeft: '4px solid #1E4FA8' }}&gt;&#10;          &lt;Text style={{ fontSize: 15.5, fontWeight: 'bold', color: '#0E3F8C' }}&gt;{c.k}&lt;/Text&gt;&#10;          &lt;Text style={{ fontSize: 12.8, color: '#4A5568', lineHeight: 1.6, marginTop: 5 }}&gt;{c.b}&lt;/Text&gt;&#10;        &lt;/Box&gt;&#10;      ))}&#10;    &lt;/Box&gt;&#10;    &lt;Box style={{ width: 430, justifyContent: 'center', flexDirection: 'column', gap: 13 }}&gt;&#10;      &lt;Box style={{ padding: '17px 19px', background: '#FDF3F3', borderRadius: 10, borderLeft: '4px solid #D9534F' }}&gt;&#10;        &lt;Text style={{ fontSize: 16, fontWeight: 'bold', color: '#D9534F' }}&gt;Three ways teams get this wrong&lt;/Text&gt;&#10;      &lt;/Box&gt;&#10;      &lt;Box style={{ padding: '14px 17px', background: '#FFFFFF', borderRadius: 9, border: '1px solid #E5E7EB' }}&gt;&#10;        &lt;Text style={{ fontSize: 14.5, fontWeight: 'bold', color: '#0E3F8C' }}&gt;1. Keeping “Cart”&lt;/Text&gt;&#10;        &lt;Text style={{ fontSize: 12.8, color: '#4A5568', lineHeight: 1.6, marginTop: 4 }}&gt;&#10;          It sounds like a thing, but it only exists between browsing and paying. The order lines carry the same information and they do survive.&#10;        &lt;/Text&gt;&#10;      &lt;/Box&gt;&#10;      &lt;Box style={{ padding: '14px 17px', background: '#FFFFFF', borderRadius: 9, border: '1px solid #E5E7EB' }}&gt;&#10;        &lt;Text style={{ fontSize: 14.5, fontWeight: 'bold', color: '#0E3F8C' }}&gt;2. Dropping “Provider”&lt;/Text&gt;&#10;        &lt;Text style={{ fontSize: 12.8, color: '#4A5568', lineHeight: 1.6, marginTop: 4 }}&gt;&#10;          It stays outside the boundary. A class called PaymentProvider would be a design decision made in the wrong week.&#10;        &lt;/Text&gt;&#10;      &lt;/Box&gt;&#10;      &lt;Box style={{ padding: '14px 17px', background: '#FFFFFF', borderRadius: 9, border: '1px solid #E5E7EB' }}&gt;&#10;        &lt;Text style={{ fontSize: 14.5, fontWeight: 'bold', color: '#0E3F8C' }}&gt;3. Turning “Rating” into a class&lt;/Text&gt;&#10;        &lt;Text style={{ fontSize: 12.8, color: '#4A5568', lineHeight: 1.6, marginTop: 4 }}&gt;&#10;          Rating belongs to Rate Restaurant, which you have not specified yet. Keep the word in your appendix; add the class when the use case exists.&#10;        &lt;/Text&gt;&#10;      &lt;/Box&gt;&#10;    &lt;/Box&gt;&#10;  &lt;/Box&gt;&#10;  &lt;Box style={{ height: 46, background: '#0E3F8C', padding: '0 40px', flexDirection: 'row', alignItems: 'center', justifyContent: 'center' }}&gt;&#10;    &lt;Text style={{ fontSize: 16.5, color: '#FFFFFF', fontWeight: '600' }}&gt;Most teams keep Cart. It is the single most common mistake in this week’s exercise&lt;/Text&gt;&#10;  &lt;/Box&gt;&#10;&lt;/Slide&gt;&#10;"/>
        <p:cNvGrpSpPr/>
        <p:nvPr/>
      </p:nvGrpSpPr>
      <p:grpSpPr>
        <a:xfrm>
          <a:off x="0" y="0"/>
          <a:ext cx="0" cy="0"/>
          <a:chOff x="0" y="0"/>
          <a:chExt cx="0" cy="0"/>
        </a:xfrm>
      </p:grpSpPr>
      <p:sp>
        <p:nvSpPr>
          <p:cNvPr id="514" name=""/>
          <p:cNvSpPr/>
          <p:nvPr/>
        </p:nvSpPr>
        <p:spPr>
          <a:xfrm rot="0" flipH="0" flipV="0">
            <a:off x="0" y="0"/>
            <a:ext cx="12192000" cy="6858000"/>
          </a:xfrm>
          <a:prstGeom prst="rect">
            <a:avLst/>
          </a:prstGeom>
          <a:solidFill>
            <a:srgbClr val="FFFFFF"/>
          </a:solidFill>
          <a:ln/>
        </p:spPr>
        <p:txBody>
          <a:bodyPr/>
          <a:p/>
        </p:txBody>
      </p:sp>
      <p:sp>
        <p:nvSpPr>
          <p:cNvPr id="515" name=""/>
          <p:cNvSpPr/>
          <p:nvPr/>
        </p:nvSpPr>
        <p:spPr>
          <a:xfrm rot="0" flipH="0" flipV="0">
            <a:off x="0" y="0"/>
            <a:ext cx="12192000" cy="685800"/>
          </a:xfrm>
          <a:prstGeom prst="rect">
            <a:avLst/>
          </a:prstGeom>
          <a:solidFill>
            <a:srgbClr val="1E4FA8"/>
          </a:solidFill>
          <a:ln/>
        </p:spPr>
        <p:txBody>
          <a:bodyPr/>
          <a:p/>
        </p:txBody>
      </p:sp>
      <p:sp>
        <p:nvSpPr>
          <p:cNvPr id="516"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517" name="" descr="{&quot;isTemplate&quot;:true,&quot;type&quot;:&quot;text&quot;}"/>
          <p:cNvSpPr txBox="1"/>
          <p:nvPr/>
        </p:nvSpPr>
        <p:spPr>
          <a:xfrm rot="0" flipH="0" flipV="0">
            <a:off x="10029825" y="257175"/>
            <a:ext cx="1781175" cy="171450"/>
          </a:xfrm>
          <a:prstGeom prst="rect"/>
        </p:spPr>
        <p:txBody>
          <a:bodyPr wrap="none" lIns="0" tIns="0" rIns="0" bIns="0"/>
          <a:p>
            <a:pPr>
              <a:lnSpc>
                <a:spcPct val="100000"/>
              </a:lnSpc>
            </a:pPr>
            <a:r>
              <a:rPr lang="en-US" sz="1125">
                <a:solidFill>
                  <a:srgbClr val="B9CDF0"/>
                </a:solidFill>
                <a:latin typeface="Microsoft YaHei"/>
                <a:ea typeface="Microsoft YaHei"/>
              </a:rPr>
              <a:t>W06 · LAB · EXERCISE 6.1</a:t>
            </a:r>
            <a:endParaRPr/>
          </a:p>
        </p:txBody>
      </p:sp>
      <p:sp>
        <p:nvSpPr>
          <p:cNvPr id="518" name="" descr="{&quot;isTemplate&quot;:true,&quot;type&quot;:&quot;text&quot;}"/>
          <p:cNvSpPr txBox="1"/>
          <p:nvPr/>
        </p:nvSpPr>
        <p:spPr>
          <a:xfrm rot="0" flipH="0" flipV="0">
            <a:off x="381000" y="809625"/>
            <a:ext cx="3181350" cy="333375"/>
          </a:xfrm>
          <a:prstGeom prst="rect"/>
        </p:spPr>
        <p:txBody>
          <a:bodyPr wrap="none" lIns="0" tIns="0" rIns="0" bIns="0"/>
          <a:p>
            <a:pPr>
              <a:lnSpc>
                <a:spcPct val="100000"/>
              </a:lnSpc>
            </a:pPr>
            <a:r>
              <a:rPr lang="en-US" sz="2175" b="1">
                <a:solidFill>
                  <a:srgbClr val="0E3F8C"/>
                </a:solidFill>
                <a:latin typeface="Microsoft YaHei"/>
                <a:ea typeface="Microsoft YaHei"/>
              </a:rPr>
              <a:t>Exercise 6.1 — Answers</a:t>
            </a:r>
            <a:endParaRPr/>
          </a:p>
        </p:txBody>
      </p:sp>
      <p:sp>
        <p:nvSpPr>
          <p:cNvPr id="519"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31 / 39</a:t>
            </a:r>
            <a:endParaRPr/>
          </a:p>
        </p:txBody>
      </p:sp>
      <p:sp>
        <p:nvSpPr>
          <p:cNvPr id="520" name=""/>
          <p:cNvSpPr/>
          <p:nvPr/>
        </p:nvSpPr>
        <p:spPr>
          <a:xfrm rot="0" flipH="0" flipV="0">
            <a:off x="419100" y="1238250"/>
            <a:ext cx="7086600" cy="1200150"/>
          </a:xfrm>
          <a:prstGeom prst="roundRect">
            <a:avLst>
              <a:gd name="adj" fmla="val 7143"/>
            </a:avLst>
          </a:prstGeom>
          <a:solidFill>
            <a:srgbClr val="F7F9FC"/>
          </a:solidFill>
          <a:ln/>
        </p:spPr>
        <p:txBody>
          <a:bodyPr/>
          <a:p/>
        </p:txBody>
      </p:sp>
      <p:sp>
        <p:nvSpPr>
          <p:cNvPr id="521" name=""/>
          <p:cNvSpPr/>
          <p:nvPr/>
        </p:nvSpPr>
        <p:spPr>
          <a:xfrm rot="0" flipH="0" flipV="0">
            <a:off x="419100" y="1238250"/>
            <a:ext cx="7086600" cy="1200150"/>
          </a:xfrm>
          <a:custGeom>
            <a:pathLst>
              <a:path w="744" h="126">
                <a:moveTo>
                  <a:pt x="9" y="0"/>
                </a:moveTo>
                <a:cubicBezTo>
                  <a:pt x="6" y="0"/>
                  <a:pt x="4" y="2"/>
                  <a:pt x="4" y="5"/>
                </a:cubicBezTo>
                <a:lnTo>
                  <a:pt x="4" y="121"/>
                </a:lnTo>
                <a:cubicBezTo>
                  <a:pt x="4" y="123"/>
                  <a:pt x="6" y="125"/>
                  <a:pt x="8" y="126"/>
                </a:cubicBezTo>
                <a:cubicBezTo>
                  <a:pt x="4" y="126"/>
                  <a:pt x="0" y="122"/>
                  <a:pt x="0" y="117"/>
                </a:cubicBezTo>
                <a:lnTo>
                  <a:pt x="0" y="9"/>
                </a:lnTo>
                <a:cubicBezTo>
                  <a:pt x="0" y="4"/>
                  <a:pt x="4" y="0"/>
                  <a:pt x="9" y="0"/>
                </a:cubicBezTo>
                <a:close/>
              </a:path>
            </a:pathLst>
          </a:custGeom>
          <a:solidFill>
            <a:srgbClr val="1E4FA8"/>
          </a:solidFill>
          <a:ln/>
        </p:spPr>
        <p:txBody>
          <a:bodyPr/>
          <a:p/>
        </p:txBody>
      </p:sp>
      <p:sp>
        <p:nvSpPr>
          <p:cNvPr id="522" name="" descr="{&quot;isTemplate&quot;:true,&quot;type&quot;:&quot;text&quot;}"/>
          <p:cNvSpPr txBox="1"/>
          <p:nvPr/>
        </p:nvSpPr>
        <p:spPr>
          <a:xfrm rot="0" flipH="0" flipV="0">
            <a:off x="581025" y="1371600"/>
            <a:ext cx="6724650" cy="180975"/>
          </a:xfrm>
          <a:prstGeom prst="rect"/>
        </p:spPr>
        <p:txBody>
          <a:bodyPr wrap="none" lIns="0" tIns="0" rIns="0" bIns="0"/>
          <a:p>
            <a:pPr>
              <a:lnSpc>
                <a:spcPct val="100000"/>
              </a:lnSpc>
            </a:pPr>
            <a:r>
              <a:rPr lang="en-US" sz="1163" b="1">
                <a:solidFill>
                  <a:srgbClr val="0E3F8C"/>
                </a:solidFill>
                <a:latin typeface="Microsoft YaHei"/>
                <a:ea typeface="Microsoft YaHei"/>
              </a:rPr>
              <a:t>Ten classes</a:t>
            </a:r>
            <a:endParaRPr/>
          </a:p>
        </p:txBody>
      </p:sp>
      <p:sp>
        <p:nvSpPr>
          <p:cNvPr id="523" name="" descr="{&quot;isTemplate&quot;:true,&quot;type&quot;:&quot;text&quot;}"/>
          <p:cNvSpPr txBox="1"/>
          <p:nvPr/>
        </p:nvSpPr>
        <p:spPr>
          <a:xfrm rot="0" flipH="0" flipV="0">
            <a:off x="581025" y="1600200"/>
            <a:ext cx="6724650" cy="704850"/>
          </a:xfrm>
          <a:prstGeom prst="rect"/>
        </p:spPr>
        <p:txBody>
          <a:bodyPr wrap="square" lIns="0" tIns="0" rIns="0" bIns="0">
            <a:normAutofit/>
          </a:bodyPr>
          <a:p>
            <a:pPr>
              <a:lnSpc>
                <a:spcPct val="160000"/>
              </a:lnSpc>
            </a:pPr>
            <a:r>
              <a:rPr lang="en-US" sz="960">
                <a:solidFill>
                  <a:srgbClr val="4A5568"/>
                </a:solidFill>
                <a:latin typeface="Microsoft YaHei"/>
                <a:ea typeface="Microsoft YaHei"/>
              </a:rPr>
              <a:t>Order · OrderLine · MenuItem · Restaurant · Courier · Payment · Coupon · DeliveryWindow · StudentApp · KitchenDisplay (+ CourierApp, RestaurantConsole, PlaceOrderController, PayController) — 14 if you classify the boundaries and controls too.</a:t>
            </a:r>
            <a:endParaRPr/>
          </a:p>
        </p:txBody>
      </p:sp>
      <p:sp>
        <p:nvSpPr>
          <p:cNvPr id="524" name=""/>
          <p:cNvSpPr/>
          <p:nvPr/>
        </p:nvSpPr>
        <p:spPr>
          <a:xfrm rot="0" flipH="0" flipV="0">
            <a:off x="419100" y="2543175"/>
            <a:ext cx="7086600" cy="733425"/>
          </a:xfrm>
          <a:prstGeom prst="roundRect">
            <a:avLst>
              <a:gd name="adj" fmla="val 11688"/>
            </a:avLst>
          </a:prstGeom>
          <a:solidFill>
            <a:srgbClr val="F7F9FC"/>
          </a:solidFill>
          <a:ln/>
        </p:spPr>
        <p:txBody>
          <a:bodyPr/>
          <a:p/>
        </p:txBody>
      </p:sp>
      <p:sp>
        <p:nvSpPr>
          <p:cNvPr id="525" name=""/>
          <p:cNvSpPr/>
          <p:nvPr/>
        </p:nvSpPr>
        <p:spPr>
          <a:xfrm rot="0" flipH="0" flipV="0">
            <a:off x="419100" y="2543175"/>
            <a:ext cx="7086600" cy="733425"/>
          </a:xfrm>
          <a:custGeom>
            <a:pathLst>
              <a:path w="744" h="77">
                <a:moveTo>
                  <a:pt x="9" y="0"/>
                </a:moveTo>
                <a:cubicBezTo>
                  <a:pt x="6" y="0"/>
                  <a:pt x="4" y="2"/>
                  <a:pt x="4" y="5"/>
                </a:cubicBezTo>
                <a:lnTo>
                  <a:pt x="4" y="72"/>
                </a:lnTo>
                <a:cubicBezTo>
                  <a:pt x="4" y="74"/>
                  <a:pt x="6" y="76"/>
                  <a:pt x="8" y="77"/>
                </a:cubicBezTo>
                <a:cubicBezTo>
                  <a:pt x="4" y="77"/>
                  <a:pt x="0" y="73"/>
                  <a:pt x="0" y="68"/>
                </a:cubicBezTo>
                <a:lnTo>
                  <a:pt x="0" y="9"/>
                </a:lnTo>
                <a:cubicBezTo>
                  <a:pt x="0" y="4"/>
                  <a:pt x="4" y="0"/>
                  <a:pt x="9" y="0"/>
                </a:cubicBezTo>
                <a:close/>
              </a:path>
            </a:pathLst>
          </a:custGeom>
          <a:solidFill>
            <a:srgbClr val="1E4FA8"/>
          </a:solidFill>
          <a:ln/>
        </p:spPr>
        <p:txBody>
          <a:bodyPr/>
          <a:p/>
        </p:txBody>
      </p:sp>
      <p:sp>
        <p:nvSpPr>
          <p:cNvPr id="526" name="" descr="{&quot;isTemplate&quot;:true,&quot;type&quot;:&quot;text&quot;}"/>
          <p:cNvSpPr txBox="1"/>
          <p:nvPr/>
        </p:nvSpPr>
        <p:spPr>
          <a:xfrm rot="0" flipH="0" flipV="0">
            <a:off x="581025" y="2676525"/>
            <a:ext cx="6724650" cy="180975"/>
          </a:xfrm>
          <a:prstGeom prst="rect"/>
        </p:spPr>
        <p:txBody>
          <a:bodyPr wrap="none" lIns="0" tIns="0" rIns="0" bIns="0"/>
          <a:p>
            <a:pPr>
              <a:lnSpc>
                <a:spcPct val="100000"/>
              </a:lnSpc>
            </a:pPr>
            <a:r>
              <a:rPr lang="en-US" sz="1163" b="1">
                <a:solidFill>
                  <a:srgbClr val="0E3F8C"/>
                </a:solidFill>
                <a:latin typeface="Microsoft YaHei"/>
                <a:ea typeface="Microsoft YaHei"/>
              </a:rPr>
              <a:t>Eight are entities</a:t>
            </a:r>
            <a:endParaRPr/>
          </a:p>
        </p:txBody>
      </p:sp>
      <p:sp>
        <p:nvSpPr>
          <p:cNvPr id="527" name="" descr="{&quot;isTemplate&quot;:true,&quot;type&quot;:&quot;text&quot;}"/>
          <p:cNvSpPr txBox="1"/>
          <p:nvPr/>
        </p:nvSpPr>
        <p:spPr>
          <a:xfrm rot="0" flipH="0" flipV="0">
            <a:off x="581025" y="2905125"/>
            <a:ext cx="6724650" cy="238125"/>
          </a:xfrm>
          <a:prstGeom prst="rect"/>
        </p:spPr>
        <p:txBody>
          <a:bodyPr wrap="none" lIns="0" tIns="0" rIns="0" bIns="0"/>
          <a:p>
            <a:pPr>
              <a:lnSpc>
                <a:spcPct val="160000"/>
              </a:lnSpc>
            </a:pPr>
            <a:r>
              <a:rPr lang="en-US" sz="960">
                <a:solidFill>
                  <a:srgbClr val="4A5568"/>
                </a:solidFill>
                <a:latin typeface="Microsoft YaHei"/>
                <a:ea typeface="Microsoft YaHei"/>
              </a:rPr>
              <a:t>The business keeps them, they have identity, and every one appeared in a W05 specification sentence.</a:t>
            </a:r>
            <a:endParaRPr/>
          </a:p>
        </p:txBody>
      </p:sp>
      <p:sp>
        <p:nvSpPr>
          <p:cNvPr id="528" name=""/>
          <p:cNvSpPr/>
          <p:nvPr/>
        </p:nvSpPr>
        <p:spPr>
          <a:xfrm rot="0" flipH="0" flipV="0">
            <a:off x="419100" y="3381375"/>
            <a:ext cx="7086600" cy="733425"/>
          </a:xfrm>
          <a:prstGeom prst="roundRect">
            <a:avLst>
              <a:gd name="adj" fmla="val 11688"/>
            </a:avLst>
          </a:prstGeom>
          <a:solidFill>
            <a:srgbClr val="F7F9FC"/>
          </a:solidFill>
          <a:ln/>
        </p:spPr>
        <p:txBody>
          <a:bodyPr/>
          <a:p/>
        </p:txBody>
      </p:sp>
      <p:sp>
        <p:nvSpPr>
          <p:cNvPr id="529" name=""/>
          <p:cNvSpPr/>
          <p:nvPr/>
        </p:nvSpPr>
        <p:spPr>
          <a:xfrm rot="0" flipH="0" flipV="0">
            <a:off x="419100" y="3381375"/>
            <a:ext cx="7086600" cy="733425"/>
          </a:xfrm>
          <a:custGeom>
            <a:pathLst>
              <a:path w="744" h="77">
                <a:moveTo>
                  <a:pt x="9" y="0"/>
                </a:moveTo>
                <a:cubicBezTo>
                  <a:pt x="6" y="0"/>
                  <a:pt x="4" y="2"/>
                  <a:pt x="4" y="5"/>
                </a:cubicBezTo>
                <a:lnTo>
                  <a:pt x="4" y="72"/>
                </a:lnTo>
                <a:cubicBezTo>
                  <a:pt x="4" y="74"/>
                  <a:pt x="6" y="76"/>
                  <a:pt x="8" y="77"/>
                </a:cubicBezTo>
                <a:cubicBezTo>
                  <a:pt x="4" y="77"/>
                  <a:pt x="0" y="73"/>
                  <a:pt x="0" y="68"/>
                </a:cubicBezTo>
                <a:lnTo>
                  <a:pt x="0" y="9"/>
                </a:lnTo>
                <a:cubicBezTo>
                  <a:pt x="0" y="4"/>
                  <a:pt x="4" y="0"/>
                  <a:pt x="9" y="0"/>
                </a:cubicBezTo>
                <a:close/>
              </a:path>
            </a:pathLst>
          </a:custGeom>
          <a:solidFill>
            <a:srgbClr val="1E4FA8"/>
          </a:solidFill>
          <a:ln/>
        </p:spPr>
        <p:txBody>
          <a:bodyPr/>
          <a:p/>
        </p:txBody>
      </p:sp>
      <p:sp>
        <p:nvSpPr>
          <p:cNvPr id="530" name="" descr="{&quot;isTemplate&quot;:true,&quot;type&quot;:&quot;text&quot;}"/>
          <p:cNvSpPr txBox="1"/>
          <p:nvPr/>
        </p:nvSpPr>
        <p:spPr>
          <a:xfrm rot="0" flipH="0" flipV="0">
            <a:off x="581025" y="3514725"/>
            <a:ext cx="6724650" cy="180975"/>
          </a:xfrm>
          <a:prstGeom prst="rect"/>
        </p:spPr>
        <p:txBody>
          <a:bodyPr wrap="none" lIns="0" tIns="0" rIns="0" bIns="0"/>
          <a:p>
            <a:pPr>
              <a:lnSpc>
                <a:spcPct val="100000"/>
              </a:lnSpc>
            </a:pPr>
            <a:r>
              <a:rPr lang="en-US" sz="1163" b="1">
                <a:solidFill>
                  <a:srgbClr val="0E3F8C"/>
                </a:solidFill>
                <a:latin typeface="Microsoft YaHei"/>
                <a:ea typeface="Microsoft YaHei"/>
              </a:rPr>
              <a:t>Four are boundaries, two are controls</a:t>
            </a:r>
            <a:endParaRPr/>
          </a:p>
        </p:txBody>
      </p:sp>
      <p:sp>
        <p:nvSpPr>
          <p:cNvPr id="531" name="" descr="{&quot;isTemplate&quot;:true,&quot;type&quot;:&quot;text&quot;}"/>
          <p:cNvSpPr txBox="1"/>
          <p:nvPr/>
        </p:nvSpPr>
        <p:spPr>
          <a:xfrm rot="0" flipH="0" flipV="0">
            <a:off x="581025" y="3743325"/>
            <a:ext cx="6724650" cy="238125"/>
          </a:xfrm>
          <a:prstGeom prst="rect"/>
        </p:spPr>
        <p:txBody>
          <a:bodyPr wrap="none" lIns="0" tIns="0" rIns="0" bIns="0"/>
          <a:p>
            <a:pPr>
              <a:lnSpc>
                <a:spcPct val="160000"/>
              </a:lnSpc>
            </a:pPr>
            <a:r>
              <a:rPr lang="en-US" sz="960">
                <a:solidFill>
                  <a:srgbClr val="4A5568"/>
                </a:solidFill>
                <a:latin typeface="Microsoft YaHei"/>
                <a:ea typeface="Microsoft YaHei"/>
              </a:rPr>
              <a:t>One per way the outside world talks in; one per use case that needs sequencing.</a:t>
            </a:r>
            <a:endParaRPr/>
          </a:p>
        </p:txBody>
      </p:sp>
      <p:sp>
        <p:nvSpPr>
          <p:cNvPr id="532" name=""/>
          <p:cNvSpPr/>
          <p:nvPr/>
        </p:nvSpPr>
        <p:spPr>
          <a:xfrm rot="0" flipH="0" flipV="0">
            <a:off x="419100" y="4219575"/>
            <a:ext cx="7086600" cy="971550"/>
          </a:xfrm>
          <a:prstGeom prst="roundRect">
            <a:avLst>
              <a:gd name="adj" fmla="val 8824"/>
            </a:avLst>
          </a:prstGeom>
          <a:solidFill>
            <a:srgbClr val="F7F9FC"/>
          </a:solidFill>
          <a:ln/>
        </p:spPr>
        <p:txBody>
          <a:bodyPr/>
          <a:p/>
        </p:txBody>
      </p:sp>
      <p:sp>
        <p:nvSpPr>
          <p:cNvPr id="533" name=""/>
          <p:cNvSpPr/>
          <p:nvPr/>
        </p:nvSpPr>
        <p:spPr>
          <a:xfrm rot="0" flipH="0" flipV="0">
            <a:off x="419100" y="4219575"/>
            <a:ext cx="7086600" cy="971550"/>
          </a:xfrm>
          <a:custGeom>
            <a:pathLst>
              <a:path w="744" h="102">
                <a:moveTo>
                  <a:pt x="9" y="0"/>
                </a:moveTo>
                <a:cubicBezTo>
                  <a:pt x="6" y="0"/>
                  <a:pt x="4" y="2"/>
                  <a:pt x="4" y="5"/>
                </a:cubicBezTo>
                <a:lnTo>
                  <a:pt x="4" y="97"/>
                </a:lnTo>
                <a:cubicBezTo>
                  <a:pt x="4" y="99"/>
                  <a:pt x="6" y="101"/>
                  <a:pt x="8" y="102"/>
                </a:cubicBezTo>
                <a:cubicBezTo>
                  <a:pt x="4" y="102"/>
                  <a:pt x="0" y="98"/>
                  <a:pt x="0" y="93"/>
                </a:cubicBezTo>
                <a:lnTo>
                  <a:pt x="0" y="9"/>
                </a:lnTo>
                <a:cubicBezTo>
                  <a:pt x="0" y="4"/>
                  <a:pt x="4" y="0"/>
                  <a:pt x="9" y="0"/>
                </a:cubicBezTo>
                <a:close/>
              </a:path>
            </a:pathLst>
          </a:custGeom>
          <a:solidFill>
            <a:srgbClr val="1E4FA8"/>
          </a:solidFill>
          <a:ln/>
        </p:spPr>
        <p:txBody>
          <a:bodyPr/>
          <a:p/>
        </p:txBody>
      </p:sp>
      <p:sp>
        <p:nvSpPr>
          <p:cNvPr id="534" name="" descr="{&quot;isTemplate&quot;:true,&quot;type&quot;:&quot;text&quot;}"/>
          <p:cNvSpPr txBox="1"/>
          <p:nvPr/>
        </p:nvSpPr>
        <p:spPr>
          <a:xfrm rot="0" flipH="0" flipV="0">
            <a:off x="581025" y="4352925"/>
            <a:ext cx="6724650" cy="180975"/>
          </a:xfrm>
          <a:prstGeom prst="rect"/>
        </p:spPr>
        <p:txBody>
          <a:bodyPr wrap="none" lIns="0" tIns="0" rIns="0" bIns="0"/>
          <a:p>
            <a:pPr>
              <a:lnSpc>
                <a:spcPct val="100000"/>
              </a:lnSpc>
            </a:pPr>
            <a:r>
              <a:rPr lang="en-US" sz="1163" b="1">
                <a:solidFill>
                  <a:srgbClr val="0E3F8C"/>
                </a:solidFill>
                <a:latin typeface="Microsoft YaHei"/>
                <a:ea typeface="Microsoft YaHei"/>
              </a:rPr>
              <a:t>Eight words discarded</a:t>
            </a:r>
            <a:endParaRPr/>
          </a:p>
        </p:txBody>
      </p:sp>
      <p:sp>
        <p:nvSpPr>
          <p:cNvPr id="535" name="" descr="{&quot;isTemplate&quot;:true,&quot;type&quot;:&quot;text&quot;}"/>
          <p:cNvSpPr txBox="1"/>
          <p:nvPr/>
        </p:nvSpPr>
        <p:spPr>
          <a:xfrm rot="0" flipH="0" flipV="0">
            <a:off x="581025" y="4581525"/>
            <a:ext cx="6724650" cy="476250"/>
          </a:xfrm>
          <a:prstGeom prst="rect"/>
        </p:spPr>
        <p:txBody>
          <a:bodyPr wrap="square" lIns="0" tIns="0" rIns="0" bIns="0">
            <a:normAutofit/>
          </a:bodyPr>
          <a:p>
            <a:pPr>
              <a:lnSpc>
                <a:spcPct val="160000"/>
              </a:lnSpc>
            </a:pPr>
            <a:r>
              <a:rPr lang="en-US" sz="960">
                <a:solidFill>
                  <a:srgbClr val="4A5568"/>
                </a:solidFill>
                <a:latin typeface="Microsoft YaHei"/>
                <a:ea typeface="Microsoft YaHei"/>
              </a:rPr>
              <a:t>validation · calculation · logging · server · service · table · interface · ui. None can be pointed at, and none appears in a spec sentence.</a:t>
            </a:r>
            <a:endParaRPr/>
          </a:p>
        </p:txBody>
      </p:sp>
      <p:sp>
        <p:nvSpPr>
          <p:cNvPr id="536" name=""/>
          <p:cNvSpPr/>
          <p:nvPr/>
        </p:nvSpPr>
        <p:spPr>
          <a:xfrm rot="0" flipH="0" flipV="0">
            <a:off x="7753350" y="1847850"/>
            <a:ext cx="4095750" cy="514350"/>
          </a:xfrm>
          <a:prstGeom prst="roundRect">
            <a:avLst>
              <a:gd name="adj" fmla="val 18519"/>
            </a:avLst>
          </a:prstGeom>
          <a:solidFill>
            <a:srgbClr val="FDF3F3"/>
          </a:solidFill>
          <a:ln/>
        </p:spPr>
        <p:txBody>
          <a:bodyPr/>
          <a:p/>
        </p:txBody>
      </p:sp>
      <p:sp>
        <p:nvSpPr>
          <p:cNvPr id="537" name=""/>
          <p:cNvSpPr/>
          <p:nvPr/>
        </p:nvSpPr>
        <p:spPr>
          <a:xfrm rot="0" flipH="0" flipV="0">
            <a:off x="7753350" y="1847850"/>
            <a:ext cx="4095750" cy="514350"/>
          </a:xfrm>
          <a:custGeom>
            <a:pathLst>
              <a:path w="430" h="54">
                <a:moveTo>
                  <a:pt x="9" y="0"/>
                </a:moveTo>
                <a:cubicBezTo>
                  <a:pt x="6" y="0"/>
                  <a:pt x="4" y="3"/>
                  <a:pt x="4" y="6"/>
                </a:cubicBezTo>
                <a:lnTo>
                  <a:pt x="4" y="48"/>
                </a:lnTo>
                <a:cubicBezTo>
                  <a:pt x="4" y="51"/>
                  <a:pt x="6" y="53"/>
                  <a:pt x="9" y="54"/>
                </a:cubicBezTo>
                <a:cubicBezTo>
                  <a:pt x="4" y="53"/>
                  <a:pt x="0" y="49"/>
                  <a:pt x="0" y="44"/>
                </a:cubicBezTo>
                <a:lnTo>
                  <a:pt x="0" y="10"/>
                </a:lnTo>
                <a:cubicBezTo>
                  <a:pt x="0" y="5"/>
                  <a:pt x="4" y="0"/>
                  <a:pt x="10" y="0"/>
                </a:cubicBezTo>
                <a:close/>
              </a:path>
            </a:pathLst>
          </a:custGeom>
          <a:solidFill>
            <a:srgbClr val="D9534F"/>
          </a:solidFill>
          <a:ln/>
        </p:spPr>
        <p:txBody>
          <a:bodyPr/>
          <a:p/>
        </p:txBody>
      </p:sp>
      <p:sp>
        <p:nvSpPr>
          <p:cNvPr id="538" name="" descr="{&quot;isTemplate&quot;:true,&quot;type&quot;:&quot;text&quot;}"/>
          <p:cNvSpPr txBox="1"/>
          <p:nvPr/>
        </p:nvSpPr>
        <p:spPr>
          <a:xfrm rot="0" flipH="0" flipV="0">
            <a:off x="7934325" y="2009775"/>
            <a:ext cx="3695700" cy="190500"/>
          </a:xfrm>
          <a:prstGeom prst="rect"/>
        </p:spPr>
        <p:txBody>
          <a:bodyPr wrap="none" lIns="0" tIns="0" rIns="0" bIns="0"/>
          <a:p>
            <a:pPr>
              <a:lnSpc>
                <a:spcPct val="100000"/>
              </a:lnSpc>
            </a:pPr>
            <a:r>
              <a:rPr lang="en-US" sz="1200" b="1">
                <a:solidFill>
                  <a:srgbClr val="D9534F"/>
                </a:solidFill>
                <a:latin typeface="Microsoft YaHei"/>
                <a:ea typeface="Microsoft YaHei"/>
              </a:rPr>
              <a:t>Three ways teams get this wrong</a:t>
            </a:r>
            <a:endParaRPr/>
          </a:p>
        </p:txBody>
      </p:sp>
      <p:sp>
        <p:nvSpPr>
          <p:cNvPr id="539" name=""/>
          <p:cNvSpPr/>
          <p:nvPr/>
        </p:nvSpPr>
        <p:spPr>
          <a:xfrm rot="0" flipH="0" flipV="0">
            <a:off x="7715250" y="2486025"/>
            <a:ext cx="4095750" cy="952500"/>
          </a:xfrm>
          <a:prstGeom prst="roundRect">
            <a:avLst>
              <a:gd name="adj" fmla="val 9000"/>
            </a:avLst>
          </a:prstGeom>
          <a:solidFill>
            <a:srgbClr val="FFFFFF"/>
          </a:solidFill>
          <a:ln w="12700">
            <a:solidFill>
              <a:srgbClr val="E5E7EB"/>
            </a:solidFill>
            <a:prstDash val="solid"/>
          </a:ln>
        </p:spPr>
        <p:txBody>
          <a:bodyPr/>
          <a:p/>
        </p:txBody>
      </p:sp>
      <p:sp>
        <p:nvSpPr>
          <p:cNvPr id="540" name="" descr="{&quot;isTemplate&quot;:true,&quot;type&quot;:&quot;text&quot;}"/>
          <p:cNvSpPr txBox="1"/>
          <p:nvPr/>
        </p:nvSpPr>
        <p:spPr>
          <a:xfrm rot="0" flipH="0" flipV="0">
            <a:off x="7877175" y="2619375"/>
            <a:ext cx="3771900" cy="171450"/>
          </a:xfrm>
          <a:prstGeom prst="rect"/>
        </p:spPr>
        <p:txBody>
          <a:bodyPr wrap="none" lIns="0" tIns="0" rIns="0" bIns="0"/>
          <a:p>
            <a:pPr>
              <a:lnSpc>
                <a:spcPct val="100000"/>
              </a:lnSpc>
            </a:pPr>
            <a:r>
              <a:rPr lang="en-US" sz="1088" b="1">
                <a:solidFill>
                  <a:srgbClr val="0E3F8C"/>
                </a:solidFill>
                <a:latin typeface="Microsoft YaHei"/>
                <a:ea typeface="Microsoft YaHei"/>
              </a:rPr>
              <a:t>1. Keeping “Cart”</a:t>
            </a:r>
            <a:endParaRPr/>
          </a:p>
        </p:txBody>
      </p:sp>
      <p:sp>
        <p:nvSpPr>
          <p:cNvPr id="541" name="" descr="{&quot;isTemplate&quot;:true,&quot;type&quot;:&quot;text&quot;}"/>
          <p:cNvSpPr txBox="1"/>
          <p:nvPr/>
        </p:nvSpPr>
        <p:spPr>
          <a:xfrm rot="0" flipH="0" flipV="0">
            <a:off x="7877175" y="2828925"/>
            <a:ext cx="3771900" cy="476250"/>
          </a:xfrm>
          <a:prstGeom prst="rect"/>
        </p:spPr>
        <p:txBody>
          <a:bodyPr wrap="square" lIns="0" tIns="0" rIns="0" bIns="0">
            <a:normAutofit/>
          </a:bodyPr>
          <a:p>
            <a:pPr>
              <a:lnSpc>
                <a:spcPct val="160000"/>
              </a:lnSpc>
            </a:pPr>
            <a:r>
              <a:rPr lang="en-US" sz="960">
                <a:solidFill>
                  <a:srgbClr val="4A5568"/>
                </a:solidFill>
                <a:latin typeface="Microsoft YaHei"/>
                <a:ea typeface="Microsoft YaHei"/>
              </a:rPr>
              <a:t>It sounds like a thing, but it only exists between browsing and paying. The order lines carry the same information and they do survive.</a:t>
            </a:r>
            <a:endParaRPr/>
          </a:p>
        </p:txBody>
      </p:sp>
      <p:sp>
        <p:nvSpPr>
          <p:cNvPr id="542" name=""/>
          <p:cNvSpPr/>
          <p:nvPr/>
        </p:nvSpPr>
        <p:spPr>
          <a:xfrm rot="0" flipH="0" flipV="0">
            <a:off x="7715250" y="3562350"/>
            <a:ext cx="4095750" cy="952500"/>
          </a:xfrm>
          <a:prstGeom prst="roundRect">
            <a:avLst>
              <a:gd name="adj" fmla="val 9000"/>
            </a:avLst>
          </a:prstGeom>
          <a:solidFill>
            <a:srgbClr val="FFFFFF"/>
          </a:solidFill>
          <a:ln w="12700">
            <a:solidFill>
              <a:srgbClr val="E5E7EB"/>
            </a:solidFill>
            <a:prstDash val="solid"/>
          </a:ln>
        </p:spPr>
        <p:txBody>
          <a:bodyPr/>
          <a:p/>
        </p:txBody>
      </p:sp>
      <p:sp>
        <p:nvSpPr>
          <p:cNvPr id="543" name="" descr="{&quot;isTemplate&quot;:true,&quot;type&quot;:&quot;text&quot;}"/>
          <p:cNvSpPr txBox="1"/>
          <p:nvPr/>
        </p:nvSpPr>
        <p:spPr>
          <a:xfrm rot="0" flipH="0" flipV="0">
            <a:off x="7877175" y="3695700"/>
            <a:ext cx="3771900" cy="171450"/>
          </a:xfrm>
          <a:prstGeom prst="rect"/>
        </p:spPr>
        <p:txBody>
          <a:bodyPr wrap="none" lIns="0" tIns="0" rIns="0" bIns="0"/>
          <a:p>
            <a:pPr>
              <a:lnSpc>
                <a:spcPct val="100000"/>
              </a:lnSpc>
            </a:pPr>
            <a:r>
              <a:rPr lang="en-US" sz="1088" b="1">
                <a:solidFill>
                  <a:srgbClr val="0E3F8C"/>
                </a:solidFill>
                <a:latin typeface="Microsoft YaHei"/>
                <a:ea typeface="Microsoft YaHei"/>
              </a:rPr>
              <a:t>2. Dropping “Provider”</a:t>
            </a:r>
            <a:endParaRPr/>
          </a:p>
        </p:txBody>
      </p:sp>
      <p:sp>
        <p:nvSpPr>
          <p:cNvPr id="544" name="" descr="{&quot;isTemplate&quot;:true,&quot;type&quot;:&quot;text&quot;}"/>
          <p:cNvSpPr txBox="1"/>
          <p:nvPr/>
        </p:nvSpPr>
        <p:spPr>
          <a:xfrm rot="0" flipH="0" flipV="0">
            <a:off x="7877175" y="3905250"/>
            <a:ext cx="3771900" cy="476250"/>
          </a:xfrm>
          <a:prstGeom prst="rect"/>
        </p:spPr>
        <p:txBody>
          <a:bodyPr wrap="square" lIns="0" tIns="0" rIns="0" bIns="0">
            <a:normAutofit/>
          </a:bodyPr>
          <a:p>
            <a:pPr>
              <a:lnSpc>
                <a:spcPct val="160000"/>
              </a:lnSpc>
            </a:pPr>
            <a:r>
              <a:rPr lang="en-US" sz="960">
                <a:solidFill>
                  <a:srgbClr val="4A5568"/>
                </a:solidFill>
                <a:latin typeface="Microsoft YaHei"/>
                <a:ea typeface="Microsoft YaHei"/>
              </a:rPr>
              <a:t>It stays outside the boundary. A class called PaymentProvider would be a design decision made in the wrong week.</a:t>
            </a:r>
            <a:endParaRPr/>
          </a:p>
        </p:txBody>
      </p:sp>
      <p:sp>
        <p:nvSpPr>
          <p:cNvPr id="545" name=""/>
          <p:cNvSpPr/>
          <p:nvPr/>
        </p:nvSpPr>
        <p:spPr>
          <a:xfrm rot="0" flipH="0" flipV="0">
            <a:off x="7715250" y="4638675"/>
            <a:ext cx="4095750" cy="1181100"/>
          </a:xfrm>
          <a:prstGeom prst="roundRect">
            <a:avLst>
              <a:gd name="adj" fmla="val 7258"/>
            </a:avLst>
          </a:prstGeom>
          <a:solidFill>
            <a:srgbClr val="FFFFFF"/>
          </a:solidFill>
          <a:ln w="12700">
            <a:solidFill>
              <a:srgbClr val="E5E7EB"/>
            </a:solidFill>
            <a:prstDash val="solid"/>
          </a:ln>
        </p:spPr>
        <p:txBody>
          <a:bodyPr/>
          <a:p/>
        </p:txBody>
      </p:sp>
      <p:sp>
        <p:nvSpPr>
          <p:cNvPr id="546" name="" descr="{&quot;isTemplate&quot;:true,&quot;type&quot;:&quot;text&quot;}"/>
          <p:cNvSpPr txBox="1"/>
          <p:nvPr/>
        </p:nvSpPr>
        <p:spPr>
          <a:xfrm rot="0" flipH="0" flipV="0">
            <a:off x="7877175" y="4772025"/>
            <a:ext cx="3771900" cy="171450"/>
          </a:xfrm>
          <a:prstGeom prst="rect"/>
        </p:spPr>
        <p:txBody>
          <a:bodyPr wrap="none" lIns="0" tIns="0" rIns="0" bIns="0"/>
          <a:p>
            <a:pPr>
              <a:lnSpc>
                <a:spcPct val="100000"/>
              </a:lnSpc>
            </a:pPr>
            <a:r>
              <a:rPr lang="en-US" sz="1088" b="1">
                <a:solidFill>
                  <a:srgbClr val="0E3F8C"/>
                </a:solidFill>
                <a:latin typeface="Microsoft YaHei"/>
                <a:ea typeface="Microsoft YaHei"/>
              </a:rPr>
              <a:t>3. Turning “Rating” into a class</a:t>
            </a:r>
            <a:endParaRPr/>
          </a:p>
        </p:txBody>
      </p:sp>
      <p:sp>
        <p:nvSpPr>
          <p:cNvPr id="547" name="" descr="{&quot;isTemplate&quot;:true,&quot;type&quot;:&quot;text&quot;}"/>
          <p:cNvSpPr txBox="1"/>
          <p:nvPr/>
        </p:nvSpPr>
        <p:spPr>
          <a:xfrm rot="0" flipH="0" flipV="0">
            <a:off x="7877175" y="4981575"/>
            <a:ext cx="3771900" cy="704850"/>
          </a:xfrm>
          <a:prstGeom prst="rect"/>
        </p:spPr>
        <p:txBody>
          <a:bodyPr wrap="square" lIns="0" tIns="0" rIns="0" bIns="0">
            <a:normAutofit/>
          </a:bodyPr>
          <a:p>
            <a:pPr>
              <a:lnSpc>
                <a:spcPct val="160000"/>
              </a:lnSpc>
            </a:pPr>
            <a:r>
              <a:rPr lang="en-US" sz="960">
                <a:solidFill>
                  <a:srgbClr val="4A5568"/>
                </a:solidFill>
                <a:latin typeface="Microsoft YaHei"/>
                <a:ea typeface="Microsoft YaHei"/>
              </a:rPr>
              <a:t>Rating belongs to Rate Restaurant, which you have not specified yet. Keep the word in your appendix; add the class when the use case exists.</a:t>
            </a:r>
            <a:endParaRPr/>
          </a:p>
        </p:txBody>
      </p:sp>
      <p:sp>
        <p:nvSpPr>
          <p:cNvPr id="548" name=""/>
          <p:cNvSpPr/>
          <p:nvPr/>
        </p:nvSpPr>
        <p:spPr>
          <a:xfrm rot="0" flipH="0" flipV="0">
            <a:off x="0" y="6419850"/>
            <a:ext cx="12192000" cy="438150"/>
          </a:xfrm>
          <a:prstGeom prst="rect">
            <a:avLst/>
          </a:prstGeom>
          <a:solidFill>
            <a:srgbClr val="0E3F8C"/>
          </a:solidFill>
          <a:ln/>
        </p:spPr>
        <p:txBody>
          <a:bodyPr/>
          <a:p/>
        </p:txBody>
      </p:sp>
      <p:sp>
        <p:nvSpPr>
          <p:cNvPr id="549" name="" descr="{&quot;isTemplate&quot;:true,&quot;type&quot;:&quot;text&quot;}"/>
          <p:cNvSpPr txBox="1"/>
          <p:nvPr/>
        </p:nvSpPr>
        <p:spPr>
          <a:xfrm rot="0" flipH="0" flipV="0">
            <a:off x="2971800" y="6543675"/>
            <a:ext cx="6248400" cy="190500"/>
          </a:xfrm>
          <a:prstGeom prst="rect"/>
        </p:spPr>
        <p:txBody>
          <a:bodyPr wrap="none" lIns="0" tIns="0" rIns="0" bIns="0"/>
          <a:p>
            <a:pPr>
              <a:lnSpc>
                <a:spcPct val="100000"/>
              </a:lnSpc>
            </a:pPr>
            <a:r>
              <a:rPr lang="en-US" sz="1238" b="1">
                <a:solidFill>
                  <a:srgbClr val="FFFFFF"/>
                </a:solidFill>
                <a:latin typeface="Microsoft YaHei"/>
                <a:ea typeface="Microsoft YaHei"/>
              </a:rPr>
              <a:t>Most teams keep Cart. It is the single most common mistake in this week’s exercise</a:t>
            </a:r>
            <a:endParaRPr/>
          </a:p>
        </p:txBody>
      </p:sp>
    </p:spTree>
  </p:cSld>
</p:sld>
</file>

<file path=ppt/slides/slide32.xml><?xml version="1.0" encoding="utf-8"?>
<p:sld xmlns:p="http://schemas.openxmlformats.org/presentationml/2006/main" xmlns:a="http://schemas.openxmlformats.org/drawingml/2006/main">
  <p:cSld>
    <p:spTree>
      <p:nvGrpSpPr>
        <p:cNvPr id="550"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6 · LAB · EXERCISE 6.2&lt;/Text&gt;&#10;  &lt;/Box&gt;&#10;  &lt;Box style={{ padding: '13px 40px 0 40px', flexDirection: 'row', alignItems: 'center', justifyContent: 'space-between' }}&gt;&#10;    &lt;Text style={{ fontSize: 29, fontWeight: 'bold', color: '#0E3F8C' }}&gt;Exercise 6.2 — Draw the Model&lt;/Text&gt;&#10;    &lt;Text style={{ fontSize: 14, color: '#1E4FA8', fontWeight: 'bold' }}&gt;32 / 39&lt;/Text&gt;&#10;  &lt;/Box&gt;&#10;  &lt;Box style={{ flex: 1, padding: '10px 40px 0 40px', flexDirection: 'row', gap: 24 }}&gt;&#10;    &lt;Box style={{ flex: 1, flexDirection: 'column', gap: 12 }}&gt;&#10;      &lt;Box style={{ padding: '16px 19px', background: '#F0F5FC', borderRadius: 10, borderLeft: '4px solid #1E4FA8' }}&gt;&#10;        &lt;Text style={{ fontSize: 16.5, fontWeight: 'bold', color: '#0E3F8C' }}&gt;The task&lt;/Text&gt;&#10;        &lt;Text style={{ fontSize: 13, color: '#4A5568', lineHeight: 1.65, marginTop: 6 }}&gt;&#10;Draw your own domain model in PlantUML. Entities, boundaries and controls, plus the associations between them. No multiplicities, no aggregation diamonds, no attributes, no methods — those come later. Source file: docs/diagrams/domain-model-v1.puml.&#10;        &lt;/Text&gt;&#10;        &lt;Box style={{ padding: '11px 13px', background: '#FFFFFF', borderRadius: 7, marginTop: 12 }}&gt;&#10;          &lt;Text style={{ fontSize: 12.5, color: '#0E3F8C', fontFamily: 'Menlo, monospace' }}&gt;docs/diagrams/domain-model-v1.puml&lt;/Text&gt;&#10;        &lt;/Box&gt;&#10;      &lt;/Box&gt;&#10;      &lt;Box style={{ padding: '16px 19px', background: '#FFF6E0', borderRadius: 10, borderLeft: '4px solid #FFC107' }}&gt;&#10;        &lt;Text style={{ fontSize: 16.5, fontWeight: 'bold', color: '#996F00' }}&gt;Four roles, four jobs&lt;/Text&gt;&#10;        &lt;Text style={{ fontSize: 13, color: '#4A5568', lineHeight: 1.7, marginTop: 6 }}&gt;&#10;          &lt;Text style={{ fontWeight: 'bold' }}&gt;Lead&lt;/Text&gt; — keeps the clock, calls the disagreements&lt;br /&gt;&#10;          &lt;Text style={{ fontWeight: 'bold' }}&gt;Recorder&lt;/Text&gt; — owns the .puml file, and only that file&lt;br /&gt;&#10;          &lt;Text style={{ fontWeight: 'bold' }}&gt;Reviewer&lt;/Text&gt; — checks every class against its spec sentence&lt;br /&gt;&#10;          &lt;Text style={{ fontWeight: 'bold' }}&gt;Release Manager&lt;/Text&gt; — pushes, and confirms the file is in the repo&#10;        &lt;/Text&gt;&#10;      &lt;/Box&gt;&#10;    &lt;/Box&gt;&#10;    &lt;Box style={{ width: 460, justifyContent: 'center' }}&gt;&#10;      &lt;Box style={{ padding: '18px 20px', background: '#FFFFFF', borderRadius: 10, border: '1px solid #D6DCE5' }}&gt;&#10;        &lt;Text style={{ fontSize: 15.5, fontWeight: 'bold', color: '#0E3F8C', marginBottom: 14 }}&gt;Self-check before you commit&lt;/Text&gt;&#10;        {[&#10;'Eight classes or more, and every one traceable to a requirement line',&#10;          'Every class is Entity, Boundary or Control',&#10;          'No name ends in Service, Manager, Helper, DTO or Entity',&#10;          'No actor is a class: Student, Provider, Admin stay outside',&#10;          'Attributes and instance operations only — no visibility marks',&#10;          'No multiplicities, no aggregation diamonds yet',&#10;          'Both the .puml source and a rendered PNG are committed',&#10;        ].map((t) =&gt; (&#10;          &lt;Box key={t} style={{ flexDirection: 'row', gap: 10, marginBottom: 11 }}&gt;&#10;            &lt;Box style={{ width: 18, height: 18, borderRadius: 3, border: '1.6px solid #1E4FA8', background: '#FFFFFF' }} /&gt;&#10;            &lt;Text style={{ flex: 1, fontSize: 13, color: '#4A5568', lineHeight: 1.5 }}&gt;{t}&lt;/Text&gt;&#10;          &lt;/Box&gt;&#10;        ))}&#10;        &lt;Box style={{ padding: '12px 14px', background: '#FDF3F3', borderRadius: 7, marginTop: 6, border: '1px solid #F0C9C7' }}&gt;&#10;          &lt;Text style={{ fontSize: 12.5, color: '#D9534F', lineHeight: 1.55 }}&gt;&#10;            A PNG alone is not a diagram. Commit the PlantUML source — the PNG is what you look at, the source is what you can change.&#10;          &lt;/Text&gt;&#10;        &lt;/Box&gt;&#10;      &lt;/Box&gt;&#10;    &lt;/Box&gt;&#10;  &lt;/Box&gt;&#10;  &lt;Box style={{ height: 46, background: '#0E3F8C', padding: '0 40px', flexDirection: 'row', alignItems: 'center', justifyContent: 'center' }}&gt;&#10;    &lt;Text style={{ fontSize: 16.5, color: '#FFFFFF', fontWeight: '600' }}&gt;Eight classes or more, no multiplicities, both source and PNG. Everything else on that list is negotiable&lt;/Text&gt;&#10;  &lt;/Box&gt;&#10;&lt;/Slide&gt;&#10;"/>
        <p:cNvGrpSpPr/>
        <p:nvPr/>
      </p:nvGrpSpPr>
      <p:grpSpPr>
        <a:xfrm>
          <a:off x="0" y="0"/>
          <a:ext cx="0" cy="0"/>
          <a:chOff x="0" y="0"/>
          <a:chExt cx="0" cy="0"/>
        </a:xfrm>
      </p:grpSpPr>
      <p:sp>
        <p:nvSpPr>
          <p:cNvPr id="551" name=""/>
          <p:cNvSpPr/>
          <p:nvPr/>
        </p:nvSpPr>
        <p:spPr>
          <a:xfrm rot="0" flipH="0" flipV="0">
            <a:off x="0" y="0"/>
            <a:ext cx="12192000" cy="6858000"/>
          </a:xfrm>
          <a:prstGeom prst="rect">
            <a:avLst/>
          </a:prstGeom>
          <a:solidFill>
            <a:srgbClr val="FFFFFF"/>
          </a:solidFill>
          <a:ln/>
        </p:spPr>
        <p:txBody>
          <a:bodyPr/>
          <a:p/>
        </p:txBody>
      </p:sp>
      <p:sp>
        <p:nvSpPr>
          <p:cNvPr id="552" name=""/>
          <p:cNvSpPr/>
          <p:nvPr/>
        </p:nvSpPr>
        <p:spPr>
          <a:xfrm rot="0" flipH="0" flipV="0">
            <a:off x="0" y="0"/>
            <a:ext cx="12192000" cy="685800"/>
          </a:xfrm>
          <a:prstGeom prst="rect">
            <a:avLst/>
          </a:prstGeom>
          <a:solidFill>
            <a:srgbClr val="1E4FA8"/>
          </a:solidFill>
          <a:ln/>
        </p:spPr>
        <p:txBody>
          <a:bodyPr/>
          <a:p/>
        </p:txBody>
      </p:sp>
      <p:sp>
        <p:nvSpPr>
          <p:cNvPr id="553"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554" name="" descr="{&quot;isTemplate&quot;:true,&quot;type&quot;:&quot;text&quot;}"/>
          <p:cNvSpPr txBox="1"/>
          <p:nvPr/>
        </p:nvSpPr>
        <p:spPr>
          <a:xfrm rot="0" flipH="0" flipV="0">
            <a:off x="10029825" y="257175"/>
            <a:ext cx="1781175" cy="171450"/>
          </a:xfrm>
          <a:prstGeom prst="rect"/>
        </p:spPr>
        <p:txBody>
          <a:bodyPr wrap="none" lIns="0" tIns="0" rIns="0" bIns="0"/>
          <a:p>
            <a:pPr>
              <a:lnSpc>
                <a:spcPct val="100000"/>
              </a:lnSpc>
            </a:pPr>
            <a:r>
              <a:rPr lang="en-US" sz="1125">
                <a:solidFill>
                  <a:srgbClr val="B9CDF0"/>
                </a:solidFill>
                <a:latin typeface="Microsoft YaHei"/>
                <a:ea typeface="Microsoft YaHei"/>
              </a:rPr>
              <a:t>W06 · LAB · EXERCISE 6.2</a:t>
            </a:r>
            <a:endParaRPr/>
          </a:p>
        </p:txBody>
      </p:sp>
      <p:sp>
        <p:nvSpPr>
          <p:cNvPr id="555" name="" descr="{&quot;isTemplate&quot;:true,&quot;type&quot;:&quot;text&quot;}"/>
          <p:cNvSpPr txBox="1"/>
          <p:nvPr/>
        </p:nvSpPr>
        <p:spPr>
          <a:xfrm rot="0" flipH="0" flipV="0">
            <a:off x="381000" y="809625"/>
            <a:ext cx="4076700" cy="333375"/>
          </a:xfrm>
          <a:prstGeom prst="rect"/>
        </p:spPr>
        <p:txBody>
          <a:bodyPr wrap="none" lIns="0" tIns="0" rIns="0" bIns="0"/>
          <a:p>
            <a:pPr>
              <a:lnSpc>
                <a:spcPct val="100000"/>
              </a:lnSpc>
            </a:pPr>
            <a:r>
              <a:rPr lang="en-US" sz="2175" b="1">
                <a:solidFill>
                  <a:srgbClr val="0E3F8C"/>
                </a:solidFill>
                <a:latin typeface="Microsoft YaHei"/>
                <a:ea typeface="Microsoft YaHei"/>
              </a:rPr>
              <a:t>Exercise 6.2 — Draw the Model</a:t>
            </a:r>
            <a:endParaRPr/>
          </a:p>
        </p:txBody>
      </p:sp>
      <p:sp>
        <p:nvSpPr>
          <p:cNvPr id="556"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32 / 39</a:t>
            </a:r>
            <a:endParaRPr/>
          </a:p>
        </p:txBody>
      </p:sp>
      <p:sp>
        <p:nvSpPr>
          <p:cNvPr id="557" name=""/>
          <p:cNvSpPr/>
          <p:nvPr/>
        </p:nvSpPr>
        <p:spPr>
          <a:xfrm rot="0" flipH="0" flipV="0">
            <a:off x="419100" y="1238250"/>
            <a:ext cx="6819900" cy="1762125"/>
          </a:xfrm>
          <a:prstGeom prst="roundRect">
            <a:avLst>
              <a:gd name="adj" fmla="val 5405"/>
            </a:avLst>
          </a:prstGeom>
          <a:solidFill>
            <a:srgbClr val="F0F5FC"/>
          </a:solidFill>
          <a:ln/>
        </p:spPr>
        <p:txBody>
          <a:bodyPr/>
          <a:p/>
        </p:txBody>
      </p:sp>
      <p:sp>
        <p:nvSpPr>
          <p:cNvPr id="558" name=""/>
          <p:cNvSpPr/>
          <p:nvPr/>
        </p:nvSpPr>
        <p:spPr>
          <a:xfrm rot="0" flipH="0" flipV="0">
            <a:off x="419100" y="1238250"/>
            <a:ext cx="6819900" cy="1762125"/>
          </a:xfrm>
          <a:custGeom>
            <a:pathLst>
              <a:path w="716" h="185">
                <a:moveTo>
                  <a:pt x="9" y="0"/>
                </a:moveTo>
                <a:cubicBezTo>
                  <a:pt x="6" y="0"/>
                  <a:pt x="4" y="3"/>
                  <a:pt x="4" y="6"/>
                </a:cubicBezTo>
                <a:lnTo>
                  <a:pt x="4" y="179"/>
                </a:lnTo>
                <a:cubicBezTo>
                  <a:pt x="4" y="182"/>
                  <a:pt x="6" y="184"/>
                  <a:pt x="9" y="185"/>
                </a:cubicBezTo>
                <a:cubicBezTo>
                  <a:pt x="4" y="184"/>
                  <a:pt x="0" y="180"/>
                  <a:pt x="0" y="175"/>
                </a:cubicBezTo>
                <a:lnTo>
                  <a:pt x="0" y="10"/>
                </a:lnTo>
                <a:cubicBezTo>
                  <a:pt x="0" y="5"/>
                  <a:pt x="4" y="0"/>
                  <a:pt x="10" y="0"/>
                </a:cubicBezTo>
                <a:close/>
              </a:path>
            </a:pathLst>
          </a:custGeom>
          <a:solidFill>
            <a:srgbClr val="1E4FA8"/>
          </a:solidFill>
          <a:ln/>
        </p:spPr>
        <p:txBody>
          <a:bodyPr/>
          <a:p/>
        </p:txBody>
      </p:sp>
      <p:sp>
        <p:nvSpPr>
          <p:cNvPr id="559" name="" descr="{&quot;isTemplate&quot;:true,&quot;type&quot;:&quot;text&quot;}"/>
          <p:cNvSpPr txBox="1"/>
          <p:nvPr/>
        </p:nvSpPr>
        <p:spPr>
          <a:xfrm rot="0" flipH="0" flipV="0">
            <a:off x="600075" y="1390650"/>
            <a:ext cx="6419850" cy="190500"/>
          </a:xfrm>
          <a:prstGeom prst="rect"/>
        </p:spPr>
        <p:txBody>
          <a:bodyPr wrap="none" lIns="0" tIns="0" rIns="0" bIns="0"/>
          <a:p>
            <a:pPr>
              <a:lnSpc>
                <a:spcPct val="100000"/>
              </a:lnSpc>
            </a:pPr>
            <a:r>
              <a:rPr lang="en-US" sz="1238" b="1">
                <a:solidFill>
                  <a:srgbClr val="0E3F8C"/>
                </a:solidFill>
                <a:latin typeface="Microsoft YaHei"/>
                <a:ea typeface="Microsoft YaHei"/>
              </a:rPr>
              <a:t>The task</a:t>
            </a:r>
            <a:endParaRPr/>
          </a:p>
        </p:txBody>
      </p:sp>
      <p:sp>
        <p:nvSpPr>
          <p:cNvPr id="560" name="" descr="{&quot;isTemplate&quot;:true,&quot;type&quot;:&quot;text&quot;}"/>
          <p:cNvSpPr txBox="1"/>
          <p:nvPr/>
        </p:nvSpPr>
        <p:spPr>
          <a:xfrm rot="0" flipH="0" flipV="0">
            <a:off x="600075" y="1638300"/>
            <a:ext cx="6419850" cy="742950"/>
          </a:xfrm>
          <a:prstGeom prst="rect"/>
        </p:spPr>
        <p:txBody>
          <a:bodyPr wrap="square" lIns="0" tIns="0" rIns="0" bIns="0">
            <a:normAutofit/>
          </a:bodyPr>
          <a:p>
            <a:pPr>
              <a:lnSpc>
                <a:spcPct val="165000"/>
              </a:lnSpc>
            </a:pPr>
            <a:r>
              <a:rPr lang="en-US" sz="975">
                <a:solidFill>
                  <a:srgbClr val="4A5568"/>
                </a:solidFill>
                <a:latin typeface="Microsoft YaHei"/>
                <a:ea typeface="Microsoft YaHei"/>
              </a:rPr>
              <a:t>Draw your own domain model in PlantUML. Entities, boundaries and controls, plus the associations between them. No multiplicities, no aggregation diamonds, no attributes, no methods — those come later. Source file: docs/diagrams/domain-model-v1.puml.</a:t>
            </a:r>
            <a:endParaRPr/>
          </a:p>
        </p:txBody>
      </p:sp>
      <p:sp>
        <p:nvSpPr>
          <p:cNvPr id="561" name=""/>
          <p:cNvSpPr/>
          <p:nvPr/>
        </p:nvSpPr>
        <p:spPr>
          <a:xfrm rot="0" flipH="0" flipV="0">
            <a:off x="600075" y="2495550"/>
            <a:ext cx="6419850" cy="352425"/>
          </a:xfrm>
          <a:prstGeom prst="roundRect">
            <a:avLst>
              <a:gd name="adj" fmla="val 18919"/>
            </a:avLst>
          </a:prstGeom>
          <a:solidFill>
            <a:srgbClr val="FFFFFF"/>
          </a:solidFill>
          <a:ln/>
        </p:spPr>
        <p:txBody>
          <a:bodyPr/>
          <a:p/>
        </p:txBody>
      </p:sp>
      <p:sp>
        <p:nvSpPr>
          <p:cNvPr id="562" name="" descr="{&quot;isTemplate&quot;:true,&quot;type&quot;:&quot;text&quot;}"/>
          <p:cNvSpPr txBox="1"/>
          <p:nvPr/>
        </p:nvSpPr>
        <p:spPr>
          <a:xfrm rot="0" flipH="0" flipV="0">
            <a:off x="723900" y="2600325"/>
            <a:ext cx="6172200" cy="142875"/>
          </a:xfrm>
          <a:prstGeom prst="rect"/>
        </p:spPr>
        <p:txBody>
          <a:bodyPr wrap="none" lIns="0" tIns="0" rIns="0" bIns="0"/>
          <a:p>
            <a:pPr>
              <a:lnSpc>
                <a:spcPct val="100000"/>
              </a:lnSpc>
            </a:pPr>
            <a:r>
              <a:rPr lang="en-US" sz="938">
                <a:solidFill>
                  <a:srgbClr val="0E3F8C"/>
                </a:solidFill>
                <a:latin typeface="Menlo"/>
                <a:ea typeface="Menlo"/>
              </a:rPr>
              <a:t>docs/diagrams/domain-model-v1.puml</a:t>
            </a:r>
            <a:endParaRPr/>
          </a:p>
        </p:txBody>
      </p:sp>
      <p:sp>
        <p:nvSpPr>
          <p:cNvPr id="563" name=""/>
          <p:cNvSpPr/>
          <p:nvPr/>
        </p:nvSpPr>
        <p:spPr>
          <a:xfrm rot="0" flipH="0" flipV="0">
            <a:off x="419100" y="3114675"/>
            <a:ext cx="6819900" cy="1571625"/>
          </a:xfrm>
          <a:prstGeom prst="roundRect">
            <a:avLst>
              <a:gd name="adj" fmla="val 6061"/>
            </a:avLst>
          </a:prstGeom>
          <a:solidFill>
            <a:srgbClr val="FFF6E0"/>
          </a:solidFill>
          <a:ln/>
        </p:spPr>
        <p:txBody>
          <a:bodyPr/>
          <a:p/>
        </p:txBody>
      </p:sp>
      <p:sp>
        <p:nvSpPr>
          <p:cNvPr id="564" name=""/>
          <p:cNvSpPr/>
          <p:nvPr/>
        </p:nvSpPr>
        <p:spPr>
          <a:xfrm rot="0" flipH="0" flipV="0">
            <a:off x="419100" y="3114675"/>
            <a:ext cx="6819900" cy="1571625"/>
          </a:xfrm>
          <a:custGeom>
            <a:pathLst>
              <a:path w="716" h="165">
                <a:moveTo>
                  <a:pt x="9" y="0"/>
                </a:moveTo>
                <a:cubicBezTo>
                  <a:pt x="6" y="0"/>
                  <a:pt x="4" y="3"/>
                  <a:pt x="4" y="6"/>
                </a:cubicBezTo>
                <a:lnTo>
                  <a:pt x="4" y="159"/>
                </a:lnTo>
                <a:cubicBezTo>
                  <a:pt x="4" y="162"/>
                  <a:pt x="6" y="164"/>
                  <a:pt x="9" y="165"/>
                </a:cubicBezTo>
                <a:cubicBezTo>
                  <a:pt x="4" y="164"/>
                  <a:pt x="0" y="160"/>
                  <a:pt x="0" y="155"/>
                </a:cubicBezTo>
                <a:lnTo>
                  <a:pt x="0" y="10"/>
                </a:lnTo>
                <a:cubicBezTo>
                  <a:pt x="0" y="5"/>
                  <a:pt x="4" y="0"/>
                  <a:pt x="10" y="0"/>
                </a:cubicBezTo>
                <a:close/>
              </a:path>
            </a:pathLst>
          </a:custGeom>
          <a:solidFill>
            <a:srgbClr val="FFC107"/>
          </a:solidFill>
          <a:ln/>
        </p:spPr>
        <p:txBody>
          <a:bodyPr/>
          <a:p/>
        </p:txBody>
      </p:sp>
      <p:sp>
        <p:nvSpPr>
          <p:cNvPr id="565" name="" descr="{&quot;isTemplate&quot;:true,&quot;type&quot;:&quot;text&quot;}"/>
          <p:cNvSpPr txBox="1"/>
          <p:nvPr/>
        </p:nvSpPr>
        <p:spPr>
          <a:xfrm rot="0" flipH="0" flipV="0">
            <a:off x="600075" y="3267075"/>
            <a:ext cx="6419850" cy="190500"/>
          </a:xfrm>
          <a:prstGeom prst="rect"/>
        </p:spPr>
        <p:txBody>
          <a:bodyPr wrap="none" lIns="0" tIns="0" rIns="0" bIns="0"/>
          <a:p>
            <a:pPr>
              <a:lnSpc>
                <a:spcPct val="100000"/>
              </a:lnSpc>
            </a:pPr>
            <a:r>
              <a:rPr lang="en-US" sz="1238" b="1">
                <a:solidFill>
                  <a:srgbClr val="996F00"/>
                </a:solidFill>
                <a:latin typeface="Microsoft YaHei"/>
                <a:ea typeface="Microsoft YaHei"/>
              </a:rPr>
              <a:t>Four roles, four jobs</a:t>
            </a:r>
            <a:endParaRPr/>
          </a:p>
        </p:txBody>
      </p:sp>
      <p:sp>
        <p:nvSpPr>
          <p:cNvPr id="566" name="" descr="{&quot;isTemplate&quot;:true,&quot;type&quot;:&quot;text&quot;}"/>
          <p:cNvSpPr txBox="1"/>
          <p:nvPr/>
        </p:nvSpPr>
        <p:spPr>
          <a:xfrm rot="0" flipH="0" flipV="0">
            <a:off x="600075" y="3514725"/>
            <a:ext cx="6419850" cy="1019175"/>
          </a:xfrm>
          <a:prstGeom prst="rect"/>
        </p:spPr>
        <p:txBody>
          <a:bodyPr wrap="none" lIns="0" tIns="0" rIns="0" bIns="0"/>
          <a:p>
            <a:pPr>
              <a:lnSpc>
                <a:spcPct val="170000"/>
              </a:lnSpc>
            </a:pPr>
            <a:r>
              <a:rPr lang="en-US" sz="975">
                <a:solidFill>
                  <a:srgbClr val="4A5568"/>
                </a:solidFill>
                <a:latin typeface="Microsoft YaHei"/>
                <a:ea typeface="Microsoft YaHei"/>
              </a:rPr>
              <a:t>Lead</a:t>
            </a:r>
            <a:r>
              <a:rPr lang="en-US" sz="975">
                <a:solidFill>
                  <a:srgbClr val="4A5568"/>
                </a:solidFill>
                <a:latin typeface="Microsoft YaHei"/>
                <a:ea typeface="Microsoft YaHei"/>
              </a:rPr>
              <a:t xml:space="preserve"> — keeps the clock, calls the disagreements</a:t>
            </a:r>
            <a:endParaRPr/>
          </a:p>
          <a:p>
            <a:pPr>
              <a:lnSpc>
                <a:spcPct val="170000"/>
              </a:lnSpc>
            </a:pPr>
            <a:r>
              <a:rPr lang="en-US" sz="975">
                <a:solidFill>
                  <a:srgbClr val="4A5568"/>
                </a:solidFill>
                <a:latin typeface="Microsoft YaHei"/>
                <a:ea typeface="Microsoft YaHei"/>
              </a:rPr>
              <a:t>Recorder</a:t>
            </a:r>
            <a:r>
              <a:rPr lang="en-US" sz="975">
                <a:solidFill>
                  <a:srgbClr val="4A5568"/>
                </a:solidFill>
                <a:latin typeface="Microsoft YaHei"/>
                <a:ea typeface="Microsoft YaHei"/>
              </a:rPr>
              <a:t xml:space="preserve"> — owns the .puml file, and only that file</a:t>
            </a:r>
            <a:endParaRPr/>
          </a:p>
          <a:p>
            <a:pPr>
              <a:lnSpc>
                <a:spcPct val="170000"/>
              </a:lnSpc>
            </a:pPr>
            <a:r>
              <a:rPr lang="en-US" sz="975">
                <a:solidFill>
                  <a:srgbClr val="4A5568"/>
                </a:solidFill>
                <a:latin typeface="Microsoft YaHei"/>
                <a:ea typeface="Microsoft YaHei"/>
              </a:rPr>
              <a:t>Reviewer</a:t>
            </a:r>
            <a:r>
              <a:rPr lang="en-US" sz="975">
                <a:solidFill>
                  <a:srgbClr val="4A5568"/>
                </a:solidFill>
                <a:latin typeface="Microsoft YaHei"/>
                <a:ea typeface="Microsoft YaHei"/>
              </a:rPr>
              <a:t xml:space="preserve"> — checks every class against its spec sentence</a:t>
            </a:r>
            <a:endParaRPr/>
          </a:p>
          <a:p>
            <a:pPr>
              <a:lnSpc>
                <a:spcPct val="170000"/>
              </a:lnSpc>
            </a:pPr>
            <a:r>
              <a:rPr lang="en-US" sz="975">
                <a:solidFill>
                  <a:srgbClr val="4A5568"/>
                </a:solidFill>
                <a:latin typeface="Microsoft YaHei"/>
                <a:ea typeface="Microsoft YaHei"/>
              </a:rPr>
              <a:t>Release Manager</a:t>
            </a:r>
            <a:r>
              <a:rPr lang="en-US" sz="975">
                <a:solidFill>
                  <a:srgbClr val="4A5568"/>
                </a:solidFill>
                <a:latin typeface="Microsoft YaHei"/>
                <a:ea typeface="Microsoft YaHei"/>
              </a:rPr>
              <a:t xml:space="preserve"> — pushes, and confirms the file is in the repo</a:t>
            </a:r>
            <a:endParaRPr/>
          </a:p>
        </p:txBody>
      </p:sp>
      <p:sp>
        <p:nvSpPr>
          <p:cNvPr id="567" name=""/>
          <p:cNvSpPr/>
          <p:nvPr/>
        </p:nvSpPr>
        <p:spPr>
          <a:xfrm rot="0" flipH="0" flipV="0">
            <a:off x="7429500" y="1857375"/>
            <a:ext cx="4381500" cy="3943350"/>
          </a:xfrm>
          <a:prstGeom prst="roundRect">
            <a:avLst>
              <a:gd name="adj" fmla="val 2415"/>
            </a:avLst>
          </a:prstGeom>
          <a:solidFill>
            <a:srgbClr val="FFFFFF"/>
          </a:solidFill>
          <a:ln w="12700">
            <a:solidFill>
              <a:srgbClr val="D6DCE5"/>
            </a:solidFill>
            <a:prstDash val="solid"/>
          </a:ln>
        </p:spPr>
        <p:txBody>
          <a:bodyPr/>
          <a:p/>
        </p:txBody>
      </p:sp>
      <p:sp>
        <p:nvSpPr>
          <p:cNvPr id="568" name="" descr="{&quot;isTemplate&quot;:true,&quot;type&quot;:&quot;text&quot;}"/>
          <p:cNvSpPr txBox="1"/>
          <p:nvPr/>
        </p:nvSpPr>
        <p:spPr>
          <a:xfrm rot="0" flipH="0" flipV="0">
            <a:off x="7620000" y="2028825"/>
            <a:ext cx="4000500" cy="180975"/>
          </a:xfrm>
          <a:prstGeom prst="rect"/>
        </p:spPr>
        <p:txBody>
          <a:bodyPr wrap="none" lIns="0" tIns="0" rIns="0" bIns="0"/>
          <a:p>
            <a:pPr>
              <a:lnSpc>
                <a:spcPct val="100000"/>
              </a:lnSpc>
            </a:pPr>
            <a:r>
              <a:rPr lang="en-US" sz="1163" b="1">
                <a:solidFill>
                  <a:srgbClr val="0E3F8C"/>
                </a:solidFill>
                <a:latin typeface="Microsoft YaHei"/>
                <a:ea typeface="Microsoft YaHei"/>
              </a:rPr>
              <a:t>Self-check before you commit</a:t>
            </a:r>
            <a:endParaRPr/>
          </a:p>
        </p:txBody>
      </p:sp>
      <p:sp>
        <p:nvSpPr>
          <p:cNvPr id="569" name=""/>
          <p:cNvSpPr/>
          <p:nvPr/>
        </p:nvSpPr>
        <p:spPr>
          <a:xfrm rot="0" flipH="0" flipV="0">
            <a:off x="7620000" y="2343150"/>
            <a:ext cx="171450" cy="171450"/>
          </a:xfrm>
          <a:prstGeom prst="roundRect">
            <a:avLst>
              <a:gd name="adj" fmla="val 16667"/>
            </a:avLst>
          </a:prstGeom>
          <a:solidFill>
            <a:srgbClr val="FFFFFF"/>
          </a:solidFill>
          <a:ln w="20320">
            <a:solidFill>
              <a:srgbClr val="1E4FA8"/>
            </a:solidFill>
            <a:prstDash val="solid"/>
          </a:ln>
        </p:spPr>
        <p:txBody>
          <a:bodyPr/>
          <a:p/>
        </p:txBody>
      </p:sp>
      <p:sp>
        <p:nvSpPr>
          <p:cNvPr id="570" name="" descr="{&quot;isTemplate&quot;:true,&quot;type&quot;:&quot;text&quot;}"/>
          <p:cNvSpPr txBox="1"/>
          <p:nvPr/>
        </p:nvSpPr>
        <p:spPr>
          <a:xfrm rot="0" flipH="0" flipV="0">
            <a:off x="7886700" y="2343150"/>
            <a:ext cx="3733800" cy="447675"/>
          </a:xfrm>
          <a:prstGeom prst="rect"/>
        </p:spPr>
        <p:txBody>
          <a:bodyPr wrap="square" lIns="0" tIns="0" rIns="0" bIns="0">
            <a:normAutofit/>
          </a:bodyPr>
          <a:p>
            <a:pPr>
              <a:lnSpc>
                <a:spcPct val="150000"/>
              </a:lnSpc>
            </a:pPr>
            <a:r>
              <a:rPr lang="en-US" sz="975">
                <a:solidFill>
                  <a:srgbClr val="4A5568"/>
                </a:solidFill>
                <a:latin typeface="Microsoft YaHei"/>
                <a:ea typeface="Microsoft YaHei"/>
              </a:rPr>
              <a:t>Eight classes or more, and every one traceable to a requirement line</a:t>
            </a:r>
            <a:endParaRPr/>
          </a:p>
        </p:txBody>
      </p:sp>
      <p:sp>
        <p:nvSpPr>
          <p:cNvPr id="571" name=""/>
          <p:cNvSpPr/>
          <p:nvPr/>
        </p:nvSpPr>
        <p:spPr>
          <a:xfrm rot="0" flipH="0" flipV="0">
            <a:off x="7620000" y="2895600"/>
            <a:ext cx="171450" cy="171450"/>
          </a:xfrm>
          <a:prstGeom prst="roundRect">
            <a:avLst>
              <a:gd name="adj" fmla="val 16667"/>
            </a:avLst>
          </a:prstGeom>
          <a:solidFill>
            <a:srgbClr val="FFFFFF"/>
          </a:solidFill>
          <a:ln w="20320">
            <a:solidFill>
              <a:srgbClr val="1E4FA8"/>
            </a:solidFill>
            <a:prstDash val="solid"/>
          </a:ln>
        </p:spPr>
        <p:txBody>
          <a:bodyPr/>
          <a:p/>
        </p:txBody>
      </p:sp>
      <p:sp>
        <p:nvSpPr>
          <p:cNvPr id="572" name="" descr="{&quot;isTemplate&quot;:true,&quot;type&quot;:&quot;text&quot;}"/>
          <p:cNvSpPr txBox="1"/>
          <p:nvPr/>
        </p:nvSpPr>
        <p:spPr>
          <a:xfrm rot="0" flipH="0" flipV="0">
            <a:off x="7886700" y="2895600"/>
            <a:ext cx="3733800" cy="228600"/>
          </a:xfrm>
          <a:prstGeom prst="rect"/>
        </p:spPr>
        <p:txBody>
          <a:bodyPr wrap="none" lIns="0" tIns="0" rIns="0" bIns="0"/>
          <a:p>
            <a:pPr>
              <a:lnSpc>
                <a:spcPct val="150000"/>
              </a:lnSpc>
            </a:pPr>
            <a:r>
              <a:rPr lang="en-US" sz="975">
                <a:solidFill>
                  <a:srgbClr val="4A5568"/>
                </a:solidFill>
                <a:latin typeface="Microsoft YaHei"/>
                <a:ea typeface="Microsoft YaHei"/>
              </a:rPr>
              <a:t>Every class is Entity, Boundary or Control</a:t>
            </a:r>
            <a:endParaRPr/>
          </a:p>
        </p:txBody>
      </p:sp>
      <p:sp>
        <p:nvSpPr>
          <p:cNvPr id="573" name=""/>
          <p:cNvSpPr/>
          <p:nvPr/>
        </p:nvSpPr>
        <p:spPr>
          <a:xfrm rot="0" flipH="0" flipV="0">
            <a:off x="7620000" y="3228975"/>
            <a:ext cx="171450" cy="171450"/>
          </a:xfrm>
          <a:prstGeom prst="roundRect">
            <a:avLst>
              <a:gd name="adj" fmla="val 16667"/>
            </a:avLst>
          </a:prstGeom>
          <a:solidFill>
            <a:srgbClr val="FFFFFF"/>
          </a:solidFill>
          <a:ln w="20320">
            <a:solidFill>
              <a:srgbClr val="1E4FA8"/>
            </a:solidFill>
            <a:prstDash val="solid"/>
          </a:ln>
        </p:spPr>
        <p:txBody>
          <a:bodyPr/>
          <a:p/>
        </p:txBody>
      </p:sp>
      <p:sp>
        <p:nvSpPr>
          <p:cNvPr id="574" name="" descr="{&quot;isTemplate&quot;:true,&quot;type&quot;:&quot;text&quot;}"/>
          <p:cNvSpPr txBox="1"/>
          <p:nvPr/>
        </p:nvSpPr>
        <p:spPr>
          <a:xfrm rot="0" flipH="0" flipV="0">
            <a:off x="7886700" y="3228975"/>
            <a:ext cx="3733800" cy="228600"/>
          </a:xfrm>
          <a:prstGeom prst="rect"/>
        </p:spPr>
        <p:txBody>
          <a:bodyPr wrap="none" lIns="0" tIns="0" rIns="0" bIns="0"/>
          <a:p>
            <a:pPr>
              <a:lnSpc>
                <a:spcPct val="150000"/>
              </a:lnSpc>
            </a:pPr>
            <a:r>
              <a:rPr lang="en-US" sz="975">
                <a:solidFill>
                  <a:srgbClr val="4A5568"/>
                </a:solidFill>
                <a:latin typeface="Microsoft YaHei"/>
                <a:ea typeface="Microsoft YaHei"/>
              </a:rPr>
              <a:t>No name ends in Service, Manager, Helper, DTO or Entity</a:t>
            </a:r>
            <a:endParaRPr/>
          </a:p>
        </p:txBody>
      </p:sp>
      <p:sp>
        <p:nvSpPr>
          <p:cNvPr id="575" name=""/>
          <p:cNvSpPr/>
          <p:nvPr/>
        </p:nvSpPr>
        <p:spPr>
          <a:xfrm rot="0" flipH="0" flipV="0">
            <a:off x="7620000" y="3562350"/>
            <a:ext cx="171450" cy="171450"/>
          </a:xfrm>
          <a:prstGeom prst="roundRect">
            <a:avLst>
              <a:gd name="adj" fmla="val 16667"/>
            </a:avLst>
          </a:prstGeom>
          <a:solidFill>
            <a:srgbClr val="FFFFFF"/>
          </a:solidFill>
          <a:ln w="20320">
            <a:solidFill>
              <a:srgbClr val="1E4FA8"/>
            </a:solidFill>
            <a:prstDash val="solid"/>
          </a:ln>
        </p:spPr>
        <p:txBody>
          <a:bodyPr/>
          <a:p/>
        </p:txBody>
      </p:sp>
      <p:sp>
        <p:nvSpPr>
          <p:cNvPr id="576" name="" descr="{&quot;isTemplate&quot;:true,&quot;type&quot;:&quot;text&quot;}"/>
          <p:cNvSpPr txBox="1"/>
          <p:nvPr/>
        </p:nvSpPr>
        <p:spPr>
          <a:xfrm rot="0" flipH="0" flipV="0">
            <a:off x="7886700" y="3562350"/>
            <a:ext cx="3733800" cy="228600"/>
          </a:xfrm>
          <a:prstGeom prst="rect"/>
        </p:spPr>
        <p:txBody>
          <a:bodyPr wrap="none" lIns="0" tIns="0" rIns="0" bIns="0"/>
          <a:p>
            <a:pPr>
              <a:lnSpc>
                <a:spcPct val="150000"/>
              </a:lnSpc>
            </a:pPr>
            <a:r>
              <a:rPr lang="en-US" sz="975">
                <a:solidFill>
                  <a:srgbClr val="4A5568"/>
                </a:solidFill>
                <a:latin typeface="Microsoft YaHei"/>
                <a:ea typeface="Microsoft YaHei"/>
              </a:rPr>
              <a:t>No actor is a class: Student, Provider, Admin stay outside</a:t>
            </a:r>
            <a:endParaRPr/>
          </a:p>
        </p:txBody>
      </p:sp>
      <p:sp>
        <p:nvSpPr>
          <p:cNvPr id="577" name=""/>
          <p:cNvSpPr/>
          <p:nvPr/>
        </p:nvSpPr>
        <p:spPr>
          <a:xfrm rot="0" flipH="0" flipV="0">
            <a:off x="7620000" y="3895725"/>
            <a:ext cx="171450" cy="171450"/>
          </a:xfrm>
          <a:prstGeom prst="roundRect">
            <a:avLst>
              <a:gd name="adj" fmla="val 16667"/>
            </a:avLst>
          </a:prstGeom>
          <a:solidFill>
            <a:srgbClr val="FFFFFF"/>
          </a:solidFill>
          <a:ln w="20320">
            <a:solidFill>
              <a:srgbClr val="1E4FA8"/>
            </a:solidFill>
            <a:prstDash val="solid"/>
          </a:ln>
        </p:spPr>
        <p:txBody>
          <a:bodyPr/>
          <a:p/>
        </p:txBody>
      </p:sp>
      <p:sp>
        <p:nvSpPr>
          <p:cNvPr id="578" name="" descr="{&quot;isTemplate&quot;:true,&quot;type&quot;:&quot;text&quot;}"/>
          <p:cNvSpPr txBox="1"/>
          <p:nvPr/>
        </p:nvSpPr>
        <p:spPr>
          <a:xfrm rot="0" flipH="0" flipV="0">
            <a:off x="7886700" y="3895725"/>
            <a:ext cx="3733800" cy="228600"/>
          </a:xfrm>
          <a:prstGeom prst="rect"/>
        </p:spPr>
        <p:txBody>
          <a:bodyPr wrap="none" lIns="0" tIns="0" rIns="0" bIns="0"/>
          <a:p>
            <a:pPr>
              <a:lnSpc>
                <a:spcPct val="150000"/>
              </a:lnSpc>
            </a:pPr>
            <a:r>
              <a:rPr lang="en-US" sz="975">
                <a:solidFill>
                  <a:srgbClr val="4A5568"/>
                </a:solidFill>
                <a:latin typeface="Microsoft YaHei"/>
                <a:ea typeface="Microsoft YaHei"/>
              </a:rPr>
              <a:t>Attributes and instance operations only — no visibility marks</a:t>
            </a:r>
            <a:endParaRPr/>
          </a:p>
        </p:txBody>
      </p:sp>
      <p:sp>
        <p:nvSpPr>
          <p:cNvPr id="579" name=""/>
          <p:cNvSpPr/>
          <p:nvPr/>
        </p:nvSpPr>
        <p:spPr>
          <a:xfrm rot="0" flipH="0" flipV="0">
            <a:off x="7620000" y="4229100"/>
            <a:ext cx="171450" cy="171450"/>
          </a:xfrm>
          <a:prstGeom prst="roundRect">
            <a:avLst>
              <a:gd name="adj" fmla="val 16667"/>
            </a:avLst>
          </a:prstGeom>
          <a:solidFill>
            <a:srgbClr val="FFFFFF"/>
          </a:solidFill>
          <a:ln w="20320">
            <a:solidFill>
              <a:srgbClr val="1E4FA8"/>
            </a:solidFill>
            <a:prstDash val="solid"/>
          </a:ln>
        </p:spPr>
        <p:txBody>
          <a:bodyPr/>
          <a:p/>
        </p:txBody>
      </p:sp>
      <p:sp>
        <p:nvSpPr>
          <p:cNvPr id="580" name="" descr="{&quot;isTemplate&quot;:true,&quot;type&quot;:&quot;text&quot;}"/>
          <p:cNvSpPr txBox="1"/>
          <p:nvPr/>
        </p:nvSpPr>
        <p:spPr>
          <a:xfrm rot="0" flipH="0" flipV="0">
            <a:off x="7886700" y="4229100"/>
            <a:ext cx="3733800" cy="228600"/>
          </a:xfrm>
          <a:prstGeom prst="rect"/>
        </p:spPr>
        <p:txBody>
          <a:bodyPr wrap="none" lIns="0" tIns="0" rIns="0" bIns="0"/>
          <a:p>
            <a:pPr>
              <a:lnSpc>
                <a:spcPct val="150000"/>
              </a:lnSpc>
            </a:pPr>
            <a:r>
              <a:rPr lang="en-US" sz="975">
                <a:solidFill>
                  <a:srgbClr val="4A5568"/>
                </a:solidFill>
                <a:latin typeface="Microsoft YaHei"/>
                <a:ea typeface="Microsoft YaHei"/>
              </a:rPr>
              <a:t>No multiplicities, no aggregation diamonds yet</a:t>
            </a:r>
            <a:endParaRPr/>
          </a:p>
        </p:txBody>
      </p:sp>
      <p:sp>
        <p:nvSpPr>
          <p:cNvPr id="581" name=""/>
          <p:cNvSpPr/>
          <p:nvPr/>
        </p:nvSpPr>
        <p:spPr>
          <a:xfrm rot="0" flipH="0" flipV="0">
            <a:off x="7620000" y="4562475"/>
            <a:ext cx="171450" cy="171450"/>
          </a:xfrm>
          <a:prstGeom prst="roundRect">
            <a:avLst>
              <a:gd name="adj" fmla="val 16667"/>
            </a:avLst>
          </a:prstGeom>
          <a:solidFill>
            <a:srgbClr val="FFFFFF"/>
          </a:solidFill>
          <a:ln w="20320">
            <a:solidFill>
              <a:srgbClr val="1E4FA8"/>
            </a:solidFill>
            <a:prstDash val="solid"/>
          </a:ln>
        </p:spPr>
        <p:txBody>
          <a:bodyPr/>
          <a:p/>
        </p:txBody>
      </p:sp>
      <p:sp>
        <p:nvSpPr>
          <p:cNvPr id="582" name="" descr="{&quot;isTemplate&quot;:true,&quot;type&quot;:&quot;text&quot;}"/>
          <p:cNvSpPr txBox="1"/>
          <p:nvPr/>
        </p:nvSpPr>
        <p:spPr>
          <a:xfrm rot="0" flipH="0" flipV="0">
            <a:off x="7886700" y="4562475"/>
            <a:ext cx="3733800" cy="228600"/>
          </a:xfrm>
          <a:prstGeom prst="rect"/>
        </p:spPr>
        <p:txBody>
          <a:bodyPr wrap="none" lIns="0" tIns="0" rIns="0" bIns="0"/>
          <a:p>
            <a:pPr>
              <a:lnSpc>
                <a:spcPct val="150000"/>
              </a:lnSpc>
            </a:pPr>
            <a:r>
              <a:rPr lang="en-US" sz="975">
                <a:solidFill>
                  <a:srgbClr val="4A5568"/>
                </a:solidFill>
                <a:latin typeface="Microsoft YaHei"/>
                <a:ea typeface="Microsoft YaHei"/>
              </a:rPr>
              <a:t>Both the .puml source and a rendered PNG are committed</a:t>
            </a:r>
            <a:endParaRPr/>
          </a:p>
        </p:txBody>
      </p:sp>
      <p:sp>
        <p:nvSpPr>
          <p:cNvPr id="583" name=""/>
          <p:cNvSpPr/>
          <p:nvPr/>
        </p:nvSpPr>
        <p:spPr>
          <a:xfrm rot="0" flipH="0" flipV="0">
            <a:off x="7620000" y="4953000"/>
            <a:ext cx="4000500" cy="676275"/>
          </a:xfrm>
          <a:prstGeom prst="roundRect">
            <a:avLst>
              <a:gd name="adj" fmla="val 9859"/>
            </a:avLst>
          </a:prstGeom>
          <a:solidFill>
            <a:srgbClr val="FDF3F3"/>
          </a:solidFill>
          <a:ln w="12700">
            <a:solidFill>
              <a:srgbClr val="F0C9C7"/>
            </a:solidFill>
            <a:prstDash val="solid"/>
          </a:ln>
        </p:spPr>
        <p:txBody>
          <a:bodyPr/>
          <a:p/>
        </p:txBody>
      </p:sp>
      <p:sp>
        <p:nvSpPr>
          <p:cNvPr id="584" name="" descr="{&quot;isTemplate&quot;:true,&quot;type&quot;:&quot;text&quot;}"/>
          <p:cNvSpPr txBox="1"/>
          <p:nvPr/>
        </p:nvSpPr>
        <p:spPr>
          <a:xfrm rot="0" flipH="0" flipV="0">
            <a:off x="7753350" y="5067300"/>
            <a:ext cx="3733800" cy="447675"/>
          </a:xfrm>
          <a:prstGeom prst="rect"/>
        </p:spPr>
        <p:txBody>
          <a:bodyPr wrap="square" lIns="0" tIns="0" rIns="0" bIns="0">
            <a:normAutofit/>
          </a:bodyPr>
          <a:p>
            <a:pPr>
              <a:lnSpc>
                <a:spcPct val="155000"/>
              </a:lnSpc>
            </a:pPr>
            <a:r>
              <a:rPr lang="en-US" sz="938">
                <a:solidFill>
                  <a:srgbClr val="D9534F"/>
                </a:solidFill>
                <a:latin typeface="Microsoft YaHei"/>
                <a:ea typeface="Microsoft YaHei"/>
              </a:rPr>
              <a:t>A PNG alone is not a diagram. Commit the PlantUML source — the PNG is what you look at, the source is what you can change.</a:t>
            </a:r>
            <a:endParaRPr/>
          </a:p>
        </p:txBody>
      </p:sp>
      <p:sp>
        <p:nvSpPr>
          <p:cNvPr id="585" name=""/>
          <p:cNvSpPr/>
          <p:nvPr/>
        </p:nvSpPr>
        <p:spPr>
          <a:xfrm rot="0" flipH="0" flipV="0">
            <a:off x="0" y="6419850"/>
            <a:ext cx="12192000" cy="438150"/>
          </a:xfrm>
          <a:prstGeom prst="rect">
            <a:avLst/>
          </a:prstGeom>
          <a:solidFill>
            <a:srgbClr val="0E3F8C"/>
          </a:solidFill>
          <a:ln/>
        </p:spPr>
        <p:txBody>
          <a:bodyPr/>
          <a:p/>
        </p:txBody>
      </p:sp>
      <p:sp>
        <p:nvSpPr>
          <p:cNvPr id="586" name="" descr="{&quot;isTemplate&quot;:true,&quot;type&quot;:&quot;text&quot;}"/>
          <p:cNvSpPr txBox="1"/>
          <p:nvPr/>
        </p:nvSpPr>
        <p:spPr>
          <a:xfrm rot="0" flipH="0" flipV="0">
            <a:off x="2247900" y="6543675"/>
            <a:ext cx="7705725" cy="190500"/>
          </a:xfrm>
          <a:prstGeom prst="rect"/>
        </p:spPr>
        <p:txBody>
          <a:bodyPr wrap="none" lIns="0" tIns="0" rIns="0" bIns="0"/>
          <a:p>
            <a:pPr>
              <a:lnSpc>
                <a:spcPct val="100000"/>
              </a:lnSpc>
            </a:pPr>
            <a:r>
              <a:rPr lang="en-US" sz="1238" b="1">
                <a:solidFill>
                  <a:srgbClr val="FFFFFF"/>
                </a:solidFill>
                <a:latin typeface="Microsoft YaHei"/>
                <a:ea typeface="Microsoft YaHei"/>
              </a:rPr>
              <a:t>Eight classes or more, no multiplicities, both source and PNG. Everything else on that list is negotiable</a:t>
            </a:r>
            <a:endParaRPr/>
          </a:p>
        </p:txBody>
      </p:sp>
    </p:spTree>
  </p:cSld>
</p:sld>
</file>

<file path=ppt/slides/slide33.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587"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6 · LAB · MODEL REVIEW&lt;/Text&gt;&#10;  &lt;/Box&gt;&#10;  &lt;Box style={{ padding: '13px 40px 0 40px', flexDirection: 'row', alignItems: 'center', justifyContent: 'space-between' }}&gt;&#10;    &lt;Text style={{ fontSize: 29, fontWeight: 'bold', color: '#0E3F8C' }}&gt;Model Review Before You Commit&lt;/Text&gt;&#10;    &lt;Text style={{ fontSize: 14, color: '#1E4FA8', fontWeight: 'bold' }}&gt;33 / 39&lt;/Text&gt;&#10;  &lt;/Box&gt;&#10;  &lt;Box style={{ flex: 1, padding: '10px 40px 0 40px' }}&gt;&#10;    &lt;Table&#10;      style={{ width: '100%', height: '100%' }}&#10;      defaultTextStyle={{ fontSize: 13, textAlign: 'left', color: '#1A2230' }}&#10;      defaultCellStyle={{&#10;        border: {&#10;          left: { width: 1, color: '#E5E7EB' },&#10;          right: { width: 1, color: '#E5E7EB' },&#10;          top: { width: 1, color: '#E5E7EB' },&#10;          bottom: { width: 1, color: '#E5E7EB' },&#10;        },&#10;      }}&#10;      cells={[&#10;        [&#10;          { text: 'Ask this', textStyle: { bold: true, color: '#FFFFFF', fontSize: 14 }, cellStyle: { background: { color: '#0E3F8C' } } },&#10;          { text: 'A pass looks like', textStyle: { bold: true, color: '#FFFFFF', fontSize: 14 }, cellStyle: { background: { color: '#2B7A3D' } } },&#10;          { text: 'A fail looks like', textStyle: { bold: true, color: '#FFFFFF', fontSize: 14 }, cellStyle: { background: { color: '#8B3230' } } },&#10;        ],&#10;        [&#10;          { text: 'Can I point at the sentence for this class?', textStyle: { bold: true, color: '#0E3F8C' }, cellStyle: { background: { color: '#F7F9FC' } } },&#10;          { text: '“Order” comes from W05 step 5, “System creates the order”.', textStyle: { color: '#4A5568' }, cellStyle: { background: { color: '#F7F9FC' } } },&#10;          { text: '“We will probably need it later.” That is not a sentence.', textStyle: { color: '#4A5568' }, cellStyle: { background: { color: '#F7F9FC' } } },&#10;        ],&#10;        [&#10;          { text: 'Which of E, B, C is it?', textStyle: { bold: true, color: '#0E3F8C' } },&#10;          { text: 'Marked, and the marking is defensible in one sentence.', textStyle: { color: '#4A5568' } },&#10;          { text: 'Nothing marked. “Conceptual class” is not a category.', textStyle: { color: '#4A5568' } },&#10;        ],&#10;        [&#10;          { text: 'Does any name come from a screen?', textStyle: { bold: true, color: '#0E3F8C' }, cellStyle: { background: { color: '#F7F9FC' } } },&#10;          { text: 'All names are business words: Order, Courier, Coupon.', textStyle: { color: '#4A5568' }, cellStyle: { background: { color: '#F7F9FC' } } },&#10;          { text: 'CartPage, OrderForm, PaymentDTO — the model has become a design.', textStyle: { color: '#4A5568' }, cellStyle: { background: { color: '#F7F9FC' } } },&#10;        ],&#10;        [&#10;          { text: 'Did a technology word sneak in?', textStyle: { bold: true, color: '#0E3F8C' } },&#10;          { text: 'No server, no service, no table, no interface.', textStyle: { color: '#4A5568' } },&#10;          { text: 'PaymentService, UserTable — delete and re-add as business nouns.', textStyle: { color: '#4A5568' } },&#10;        ],&#10;        [&#10;          { text: 'Is every association sayable aloud?', textStyle: { bold: true, color: '#0E3F8C' }, cellStyle: { background: { color: '#F7F9FC' } } },&#10;          { text: '“An order has one or more lines”, “A restaurant owns a menu”.', textStyle: { color: '#4A5568' }, cellStyle: { background: { color: '#F7F9FC' } } },&#10;          { text: 'An arrow between two boxes with no way to phrase it in English.', textStyle: { color: '#4A5568' }, cellStyle: { background: { color: '#F7F9FC' } } },&#10;        ],&#10;        [&#10;          { text: 'Could you delete a class?', textStyle: { bold: true, color: '#0E3F8C' } },&#10;          { text: 'Someone would notice within a day. Keep it.', textStyle: { color: '#4A5568' } },&#10;          { text: 'Nothing would notice. Then it is padding — delete it.', textStyle: { color: '#4A5568' } },&#10;        ],&#10;      ]}&#10;    /&gt;&#10;  &lt;/Box&gt;&#10;  &lt;Box style={{ height: 46, background: '#0E3F8C', padding: '0 40px', flexDirection: 'row', alignItems: 'center', justifyContent: 'center' }}&gt;&#10;    &lt;Text style={{ fontSize: 16.5, color: '#FFFFFF', fontWeight: '600' }}&gt;Seven questions. A model that passes all seven is ready for the change that arrives on Monday&lt;/Text&gt;&#10;  &lt;/Box&gt;&#10;&lt;/Slide&gt;&#10;"/>
        <p:cNvGrpSpPr/>
        <p:nvPr/>
      </p:nvGrpSpPr>
      <p:grpSpPr>
        <a:xfrm>
          <a:off x="0" y="0"/>
          <a:ext cx="0" cy="0"/>
          <a:chOff x="0" y="0"/>
          <a:chExt cx="0" cy="0"/>
        </a:xfrm>
      </p:grpSpPr>
      <p:sp>
        <p:nvSpPr>
          <p:cNvPr id="588" name=""/>
          <p:cNvSpPr/>
          <p:nvPr/>
        </p:nvSpPr>
        <p:spPr>
          <a:xfrm rot="0" flipH="0" flipV="0">
            <a:off x="0" y="0"/>
            <a:ext cx="12192000" cy="6858000"/>
          </a:xfrm>
          <a:prstGeom prst="rect">
            <a:avLst/>
          </a:prstGeom>
          <a:solidFill>
            <a:srgbClr val="FFFFFF"/>
          </a:solidFill>
          <a:ln/>
        </p:spPr>
        <p:txBody>
          <a:bodyPr/>
          <a:p/>
        </p:txBody>
      </p:sp>
      <p:sp>
        <p:nvSpPr>
          <p:cNvPr id="589" name=""/>
          <p:cNvSpPr/>
          <p:nvPr/>
        </p:nvSpPr>
        <p:spPr>
          <a:xfrm rot="0" flipH="0" flipV="0">
            <a:off x="0" y="0"/>
            <a:ext cx="12192000" cy="685800"/>
          </a:xfrm>
          <a:prstGeom prst="rect">
            <a:avLst/>
          </a:prstGeom>
          <a:solidFill>
            <a:srgbClr val="1E4FA8"/>
          </a:solidFill>
          <a:ln/>
        </p:spPr>
        <p:txBody>
          <a:bodyPr/>
          <a:p/>
        </p:txBody>
      </p:sp>
      <p:sp>
        <p:nvSpPr>
          <p:cNvPr id="590"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591" name="" descr="{&quot;isTemplate&quot;:true,&quot;type&quot;:&quot;text&quot;}"/>
          <p:cNvSpPr txBox="1"/>
          <p:nvPr/>
        </p:nvSpPr>
        <p:spPr>
          <a:xfrm rot="0" flipH="0" flipV="0">
            <a:off x="9877425" y="257175"/>
            <a:ext cx="1933575" cy="171450"/>
          </a:xfrm>
          <a:prstGeom prst="rect"/>
        </p:spPr>
        <p:txBody>
          <a:bodyPr wrap="none" lIns="0" tIns="0" rIns="0" bIns="0"/>
          <a:p>
            <a:pPr>
              <a:lnSpc>
                <a:spcPct val="100000"/>
              </a:lnSpc>
            </a:pPr>
            <a:r>
              <a:rPr lang="en-US" sz="1125">
                <a:solidFill>
                  <a:srgbClr val="B9CDF0"/>
                </a:solidFill>
                <a:latin typeface="Microsoft YaHei"/>
                <a:ea typeface="Microsoft YaHei"/>
              </a:rPr>
              <a:t>W06 · LAB · MODEL REVIEW</a:t>
            </a:r>
            <a:endParaRPr/>
          </a:p>
        </p:txBody>
      </p:sp>
      <p:sp>
        <p:nvSpPr>
          <p:cNvPr id="592" name="" descr="{&quot;isTemplate&quot;:true,&quot;type&quot;:&quot;text&quot;}"/>
          <p:cNvSpPr txBox="1"/>
          <p:nvPr/>
        </p:nvSpPr>
        <p:spPr>
          <a:xfrm rot="0" flipH="0" flipV="0">
            <a:off x="381000" y="809625"/>
            <a:ext cx="4467225" cy="333375"/>
          </a:xfrm>
          <a:prstGeom prst="rect"/>
        </p:spPr>
        <p:txBody>
          <a:bodyPr wrap="none" lIns="0" tIns="0" rIns="0" bIns="0"/>
          <a:p>
            <a:pPr>
              <a:lnSpc>
                <a:spcPct val="100000"/>
              </a:lnSpc>
            </a:pPr>
            <a:r>
              <a:rPr lang="en-US" sz="2175" b="1">
                <a:solidFill>
                  <a:srgbClr val="0E3F8C"/>
                </a:solidFill>
                <a:latin typeface="Microsoft YaHei"/>
                <a:ea typeface="Microsoft YaHei"/>
              </a:rPr>
              <a:t>Model Review Before You Commit</a:t>
            </a:r>
            <a:endParaRPr/>
          </a:p>
        </p:txBody>
      </p:sp>
      <p:sp>
        <p:nvSpPr>
          <p:cNvPr id="593"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33 / 39</a:t>
            </a:r>
            <a:endParaRPr/>
          </a:p>
        </p:txBody>
      </p:sp>
      <p:graphicFrame>
        <p:nvGraphicFramePr>
          <p:cNvPr id="594" name=""/>
          <p:cNvGraphicFramePr/>
          <p:nvPr/>
        </p:nvGraphicFramePr>
        <p:xfrm rot="0" flipH="0" flipV="0">
          <a:off x="381000" y="1238250"/>
          <a:ext cx="11430000" cy="5181600"/>
        </p:xfrm>
        <a:graphic>
          <a:graphicData uri="http://schemas.openxmlformats.org/drawingml/2006/table">
            <a:tbl>
              <a:tblGrid>
                <a:gridCol w="2869833">
                  <a:extLst>
                    <a:ext uri="{9D8B030D-6E8A-4147-A177-3AD203B41FA5}">
                      <a16:colId val="1"/>
                    </a:ext>
                  </a:extLst>
                </a:gridCol>
                <a:gridCol w="3952991">
                  <a:extLst>
                    <a:ext uri="{9D8B030D-6E8A-4147-A177-3AD203B41FA5}">
                      <a16:colId val="2"/>
                    </a:ext>
                  </a:extLst>
                </a:gridCol>
                <a:gridCol w="4607176">
                  <a:extLst>
                    <a:ext uri="{9D8B030D-6E8A-4147-A177-3AD203B41FA5}">
                      <a16:colId val="3"/>
                    </a:ext>
                  </a:extLst>
                </a:gridCol>
              </a:tblGrid>
              <a:tr h="784159">
                <a:tc>
                  <a:txBody>
                    <a:bodyPr wrap="square" lIns="0" tIns="0" rIns="0" bIns="0" anchor="ctr">
                      <a:normAutofit/>
                    </a:bodyPr>
                    <a:p>
                      <a:pPr marL="114300" marR="114300" algn="l">
                        <a:lnSpc>
                          <a:spcPct val="120000"/>
                        </a:lnSpc>
                      </a:pPr>
                      <a:r>
                        <a:rPr sz="1050" b="1">
                          <a:solidFill>
                            <a:srgbClr val="FFFFFF"/>
                          </a:solidFill>
                          <a:latin typeface="Microsoft YaHei"/>
                          <a:ea typeface="Microsoft YaHei"/>
                        </a:rPr>
                        <a:t>Ask this</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050" b="1">
                          <a:solidFill>
                            <a:srgbClr val="FFFFFF"/>
                          </a:solidFill>
                          <a:latin typeface="Microsoft YaHei"/>
                          <a:ea typeface="Microsoft YaHei"/>
                        </a:rPr>
                        <a:t>A pass looks like</a:t>
                      </a:r>
                      <a:endParaRPr/>
                    </a:p>
                  </a:txBody>
                  <a:tcPr marL="45720" marR="45720" marT="45720" marB="45720" anchor="ctr">
                    <a:lnL>
                      <a:noFill/>
                    </a:lnL>
                    <a:lnR>
                      <a:noFill/>
                    </a:lnR>
                    <a:lnT>
                      <a:noFill/>
                    </a:lnT>
                    <a:lnB>
                      <a:noFill/>
                    </a:lnB>
                    <a:solidFill>
                      <a:srgbClr val="2B7A3D"/>
                    </a:solidFill>
                  </a:tcPr>
                </a:tc>
                <a:tc>
                  <a:txBody>
                    <a:bodyPr wrap="square" lIns="0" tIns="0" rIns="0" bIns="0" anchor="ctr">
                      <a:normAutofit/>
                    </a:bodyPr>
                    <a:p>
                      <a:pPr marL="114300" marR="114300" algn="l">
                        <a:lnSpc>
                          <a:spcPct val="120000"/>
                        </a:lnSpc>
                      </a:pPr>
                      <a:r>
                        <a:rPr sz="1050" b="1">
                          <a:solidFill>
                            <a:srgbClr val="FFFFFF"/>
                          </a:solidFill>
                          <a:latin typeface="Microsoft YaHei"/>
                          <a:ea typeface="Microsoft YaHei"/>
                        </a:rPr>
                        <a:t>A fail looks like</a:t>
                      </a:r>
                      <a:endParaRPr/>
                    </a:p>
                  </a:txBody>
                  <a:tcPr marL="45720" marR="45720" marT="45720" marB="45720" anchor="ctr">
                    <a:lnL>
                      <a:noFill/>
                    </a:lnL>
                    <a:lnR>
                      <a:noFill/>
                    </a:lnR>
                    <a:lnT>
                      <a:noFill/>
                    </a:lnT>
                    <a:lnB>
                      <a:noFill/>
                    </a:lnB>
                    <a:solidFill>
                      <a:srgbClr val="8B3230"/>
                    </a:solidFill>
                  </a:tcPr>
                </a:tc>
                <a:extLst>
                  <a:ext uri="{0D108BD9-81ED-4DB2-BD59-A6C34878D82A}">
                    <a16:rowId val="1"/>
                  </a:ext>
                </a:extLst>
              </a:tr>
              <a:tr h="732907">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Can I point at the sentence for this class?</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“Order” comes from W05 step 5, “System creates the order”.</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“We will probably need it later.” That is not a sentence.</a:t>
                      </a:r>
                      <a:endParaRPr/>
                    </a:p>
                  </a:txBody>
                  <a:tcPr marL="45720" marR="45720" marT="45720" marB="45720" anchor="ctr">
                    <a:lnL>
                      <a:noFill/>
                    </a:lnL>
                    <a:lnR>
                      <a:noFill/>
                    </a:lnR>
                    <a:lnT>
                      <a:noFill/>
                    </a:lnT>
                    <a:lnB>
                      <a:noFill/>
                    </a:lnB>
                    <a:solidFill>
                      <a:srgbClr val="F7F9FC"/>
                    </a:solidFill>
                  </a:tcPr>
                </a:tc>
                <a:extLst>
                  <a:ext uri="{0D108BD9-81ED-4DB2-BD59-A6C34878D82A}">
                    <a16:rowId val="2"/>
                  </a:ext>
                </a:extLst>
              </a:tr>
              <a:tr h="732907">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Which of E, B, C is it?</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Marked, and the marking is defensible in one sentence.</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Nothing marked. “Conceptual class” is not a category.</a:t>
                      </a:r>
                      <a:endParaRPr/>
                    </a:p>
                  </a:txBody>
                  <a:tcPr marL="45720" marR="45720" marT="45720" marB="45720" anchor="ctr">
                    <a:lnL>
                      <a:noFill/>
                    </a:lnL>
                    <a:lnR>
                      <a:noFill/>
                    </a:lnR>
                    <a:lnT>
                      <a:noFill/>
                    </a:lnT>
                    <a:lnB>
                      <a:noFill/>
                    </a:lnB>
                  </a:tcPr>
                </a:tc>
                <a:extLst>
                  <a:ext uri="{0D108BD9-81ED-4DB2-BD59-A6C34878D82A}">
                    <a16:rowId val="3"/>
                  </a:ext>
                </a:extLst>
              </a:tr>
              <a:tr h="732907">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Does any name come from a screen?</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All names are business words: Order, Courier, Coupon.</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CartPage, OrderForm, PaymentDTO — the model has become a design.</a:t>
                      </a:r>
                      <a:endParaRPr/>
                    </a:p>
                  </a:txBody>
                  <a:tcPr marL="45720" marR="45720" marT="45720" marB="45720" anchor="ctr">
                    <a:lnL>
                      <a:noFill/>
                    </a:lnL>
                    <a:lnR>
                      <a:noFill/>
                    </a:lnR>
                    <a:lnT>
                      <a:noFill/>
                    </a:lnT>
                    <a:lnB>
                      <a:noFill/>
                    </a:lnB>
                    <a:solidFill>
                      <a:srgbClr val="F7F9FC"/>
                    </a:solidFill>
                  </a:tcPr>
                </a:tc>
                <a:extLst>
                  <a:ext uri="{0D108BD9-81ED-4DB2-BD59-A6C34878D82A}">
                    <a16:rowId val="4"/>
                  </a:ext>
                </a:extLst>
              </a:tr>
              <a:tr h="732907">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Did a technology word sneak in?</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No server, no service, no table, no interface.</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PaymentService, UserTable — delete and re-add as business nouns.</a:t>
                      </a:r>
                      <a:endParaRPr/>
                    </a:p>
                  </a:txBody>
                  <a:tcPr marL="45720" marR="45720" marT="45720" marB="45720" anchor="ctr">
                    <a:lnL>
                      <a:noFill/>
                    </a:lnL>
                    <a:lnR>
                      <a:noFill/>
                    </a:lnR>
                    <a:lnT>
                      <a:noFill/>
                    </a:lnT>
                    <a:lnB>
                      <a:noFill/>
                    </a:lnB>
                  </a:tcPr>
                </a:tc>
                <a:extLst>
                  <a:ext uri="{0D108BD9-81ED-4DB2-BD59-A6C34878D82A}">
                    <a16:rowId val="5"/>
                  </a:ext>
                </a:extLst>
              </a:tr>
              <a:tr h="732907">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Is every association sayable aloud?</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“An order has one or more lines”, “A restaurant owns a menu”.</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An arrow between two boxes with no way to phrase it in English.</a:t>
                      </a:r>
                      <a:endParaRPr/>
                    </a:p>
                  </a:txBody>
                  <a:tcPr marL="45720" marR="45720" marT="45720" marB="45720" anchor="ctr">
                    <a:lnL>
                      <a:noFill/>
                    </a:lnL>
                    <a:lnR>
                      <a:noFill/>
                    </a:lnR>
                    <a:lnT>
                      <a:noFill/>
                    </a:lnT>
                    <a:lnB>
                      <a:noFill/>
                    </a:lnB>
                    <a:solidFill>
                      <a:srgbClr val="F7F9FC"/>
                    </a:solidFill>
                  </a:tcPr>
                </a:tc>
                <a:extLst>
                  <a:ext uri="{0D108BD9-81ED-4DB2-BD59-A6C34878D82A}">
                    <a16:rowId val="6"/>
                  </a:ext>
                </a:extLst>
              </a:tr>
              <a:tr h="732907">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Could you delete a class?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Someone would notice within a day. Keep it.</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Nothing would notice. Then it is padding — delete it.</a:t>
                      </a:r>
                      <a:endParaRPr/>
                    </a:p>
                  </a:txBody>
                  <a:tcPr marL="45720" marR="45720" marT="45720" marB="45720" anchor="ctr">
                    <a:lnL>
                      <a:noFill/>
                    </a:lnL>
                    <a:lnR>
                      <a:noFill/>
                    </a:lnR>
                    <a:lnT>
                      <a:noFill/>
                    </a:lnT>
                    <a:lnB>
                      <a:noFill/>
                    </a:lnB>
                  </a:tcPr>
                </a:tc>
                <a:extLst>
                  <a:ext uri="{0D108BD9-81ED-4DB2-BD59-A6C34878D82A}">
                    <a16:rowId val="7"/>
                  </a:ext>
                </a:extLst>
              </a:tr>
            </a:tbl>
          </a:graphicData>
        </a:graphic>
      </p:graphicFrame>
      <p:sp>
        <p:nvSpPr>
          <p:cNvPr id="595" name=""/>
          <p:cNvSpPr/>
          <p:nvPr/>
        </p:nvSpPr>
        <p:spPr>
          <a:xfrm rot="0" flipH="0" flipV="0">
            <a:off x="0" y="6419850"/>
            <a:ext cx="12192000" cy="438150"/>
          </a:xfrm>
          <a:prstGeom prst="rect">
            <a:avLst/>
          </a:prstGeom>
          <a:solidFill>
            <a:srgbClr val="0E3F8C"/>
          </a:solidFill>
          <a:ln/>
        </p:spPr>
        <p:txBody>
          <a:bodyPr/>
          <a:p/>
        </p:txBody>
      </p:sp>
      <p:sp>
        <p:nvSpPr>
          <p:cNvPr id="596" name="" descr="{&quot;isTemplate&quot;:true,&quot;type&quot;:&quot;text&quot;}"/>
          <p:cNvSpPr txBox="1"/>
          <p:nvPr/>
        </p:nvSpPr>
        <p:spPr>
          <a:xfrm rot="0" flipH="0" flipV="0">
            <a:off x="2543175" y="6543675"/>
            <a:ext cx="7105650" cy="190500"/>
          </a:xfrm>
          <a:prstGeom prst="rect"/>
        </p:spPr>
        <p:txBody>
          <a:bodyPr wrap="none" lIns="0" tIns="0" rIns="0" bIns="0"/>
          <a:p>
            <a:pPr>
              <a:lnSpc>
                <a:spcPct val="100000"/>
              </a:lnSpc>
            </a:pPr>
            <a:r>
              <a:rPr lang="en-US" sz="1238" b="1">
                <a:solidFill>
                  <a:srgbClr val="FFFFFF"/>
                </a:solidFill>
                <a:latin typeface="Microsoft YaHei"/>
                <a:ea typeface="Microsoft YaHei"/>
              </a:rPr>
              <a:t>Seven questions. A model that passes all seven is ready for the change that arrives on Monday</a:t>
            </a:r>
            <a:endParaRPr/>
          </a:p>
        </p:txBody>
      </p:sp>
    </p:spTree>
  </p:cSld>
</p:sld>
</file>

<file path=ppt/slides/slide34.xml><?xml version="1.0" encoding="utf-8"?>
<p:sld xmlns:asvg="http://schemas.microsoft.com/office/drawing/2016/SVG/main" xmlns:r="http://schemas.openxmlformats.org/officeDocument/2006/relationships" xmlns:p="http://schemas.openxmlformats.org/presentationml/2006/main" xmlns:a="http://schemas.openxmlformats.org/drawingml/2006/main" xmlns:mc="http://schemas.openxmlformats.org/markup-compatibility/2006" mc:Ignorable="asvg">
  <p:cSld>
    <p:spTree>
      <p:nvGrpSpPr>
        <p:cNvPr id="597"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6 · CHANGE INJECTIONS&lt;/Text&gt;&#10;  &lt;/Box&gt;&#10;  &lt;Box style={{ padding: '13px 40px 0 40px', flexDirection: 'row', alignItems: 'center', justifyContent: 'space-between' }}&gt;&#10;    &lt;Text style={{ fontSize: 29, fontWeight: 'bold', color: '#0E3F8C' }}&gt;Change Injections — Only Two This Term&lt;/Text&gt;&#10;    &lt;Text style={{ fontSize: 14, color: '#1E4FA8', fontWeight: 'bold' }}&gt;34 / 39&lt;/Text&gt;&#10;  &lt;/Box&gt;&#10;  &lt;Box style={{ flex: 1, padding: '6px 40px 0 40px', justifyContent: 'center', alignItems: 'center' }}&gt;&#10;    &lt;svg width={1180} height={392} viewBox='0 0 1180 392'&gt;&#10;      &lt;text x='10' y='16' fill='#8B97A8' fontSize='13'&gt;Two requirement changes land in this term. ΔC1 was cancelled; ΔC2 and ΔC3 remain.&lt;/text&gt;&#10;&#10;      &lt;g transform='translate(0,34)'&gt;&#10;        &lt;rect x='0' y='0' width='368' height='300' rx='8' fill='#FDF3F3' stroke='#D9534F' strokeWidth='2' /&gt;&#10;        &lt;text x='20' y='30' fill='#D9534F' fontSize='15' fontWeight='bold'&gt;What arrives&lt;/text&gt;&#10;        &lt;rect x='20' y='46' width='328' height='70' rx='6' fill='#FFFFFF' stroke='#D6DCE5' strokeWidth='1.2' /&gt;&#10;        &lt;text x='34' y='70' fill='#4A5568' fontSize='11.5'&gt;A new requirement lands in your&lt;/text&gt;&#10;        &lt;text x='34' y='88' fill='#4A5568' fontSize='11.5'&gt;repository, in the changes/ folder.&lt;/text&gt;&#10;        &lt;text x='34' y='106' fill='#8B97A8' fontSize='11'&gt;Announced online, after a milestone review.&lt;/text&gt;&#10;        &lt;text x='20' y='150' fill='#0E3F8C' fontSize='12.5' fontWeight='bold'&gt;The two injections this term&lt;/text&gt;&#10;        &lt;text x='20' y='172' fill='#4A5568' fontSize='11.5'&gt;&lt;/text&gt;&#10;        &lt;text x='20' y='192' fill='#4A5568' fontSize='11.5'&gt;&lt;/text&gt;&#10;        &lt;text x='20' y='212' fill='#4A5568' fontSize='11.5'&gt;&lt;/text&gt;&#10;        &lt;rect x='20' y='232' width='328' height='50' rx='6' fill='#FFFFFF' /&gt;&#10;        &lt;text x='34' y='254' fill='#D9534F' fontSize='11.5' fontWeight='bold'&gt;They are not exams. They are&lt;/text&gt;&#10;        &lt;text x='34' y='272' fill='#D9534F' fontSize='11.5'&gt;how we prove the model absorbs change.&lt;/text&gt;&#10;      &lt;/g&gt;&#10;&#10;      &lt;g transform='translate(406,34)'&gt;&#10;        &lt;rect x='0' y='0' width='368' height='300' rx='8' fill='#EAF6EC' stroke='#2B7A3D' strokeWidth='2' /&gt;&#10;        &lt;text x='20' y='30' fill='#2B7A3D' fontSize='15' fontWeight='bold'&gt;What you do about it&lt;/text&gt;&#10;        {[&#10;          ['1', 'Read it twice before reacting.'],&#10;          ['2', 'Name the nouns it introduces.'],&#10;          ['3', 'Decide: new class, new attribute, or nothing.'],&#10;          ['4', 'Write the sentence in your log.'],&#10;          ['5', 'Update the diagram and commit both.'],&#10;        ].map((r, i) =&gt; (&#10;          &lt;g transform={`translate(20,${52 + i * 46})`}&gt;&#10;            &lt;circle cx='14' cy='14' r='13' fill='#2B7A3D' /&gt;&#10;            &lt;text x='14' y='19' textAnchor='middle' fill='#FFFFFF' fontSize='13' fontWeight='bold'&gt;{r[0]}&lt;/text&gt;&#10;            &lt;text x='38' y='19' fill='#4A5568' fontSize='12'&gt;{r[1]}&lt;/text&gt;&#10;          &lt;/g&gt;&#10;        ))}&#10;        &lt;rect x='20' y='272' width='328' height='20' rx='4' fill='#FFFFFF' /&gt;&#10;        &lt;text x='30' y='287' fill='#2B7A3D' fontSize='11'&gt;Time budget: 30 minutes, inside M2.&lt;/text&gt;&#10;      &lt;/g&gt;&#10;&#10;      &lt;g transform='translate(812,34)'&gt;&#10;        &lt;rect x='0' y='0' width='368' height='300' rx='8' fill='#FFF6E0' stroke='#FFC107' strokeWidth='2' /&gt;&#10;        &lt;text x='20' y='30' fill='#996F00' fontSize='15' fontWeight='bold'&gt;What it costs if you model well&lt;/text&gt;&#10;        &lt;text x='20' y='62' fill='#4A5568' fontSize='12'&gt;A good analysis model makes a&lt;/text&gt;&#10;        &lt;text x='20' y='80' fill='#4A5568' fontSize='12'&gt;change local: two or three boxes&lt;/text&gt;&#10;        &lt;text x='20' y='98' fill='#4A5568' fontSize='12'&gt;move, and nothing else does.&lt;/text&gt;&#10;        &lt;line x1='20' y1='118' x2='348' y2='118' stroke='#E8D9A8' strokeWidth='1' /&gt;&#10;        &lt;text x='20' y='142' fill='#996F00' fontSize='12' fontWeight='bold'&gt;A bad one makes it global:&lt;/text&gt;&#10;        &lt;text x='20' y='164' fill='#4A5568' fontSize='12'&gt;you redraw the diagram, rewrite&lt;/text&gt;&#10;        &lt;text x='20' y='182' fill='#4A5568' fontSize='12'&gt;the specifications, and re-do&lt;/text&gt;&#10;        &lt;text x='20' y='200' fill='#4A5568' fontSize='12'&gt;the sequence diagrams.&lt;/text&gt;&#10;        &lt;rect x='20' y='218' width='328' height='64' rx='6' fill='#FFFFFF' /&gt;&#10;        &lt;text x='34' y='242' fill='#D9534F' fontSize='11.5' fontWeight='bold'&gt;Three injections is the test.&lt;/text&gt;&#10;        &lt;text x='34' y='260' fill='#4A5568' fontSize='11.5'&gt;If the first one costs you a day,&lt;/text&gt;&#10;        &lt;text x='34' y='276' fill='#4A5568' fontSize='11.5'&gt;the model was not finished yet.&lt;/text&gt;&#10;      &lt;/g&gt;&#10;    &lt;/svg&gt;&#10;  &lt;/Box&gt;&#10;  &lt;Box style={{ height: 34, padding: '0 40px', flexDirection: 'row', alignItems: 'center', justifyContent: 'space-between' }}&gt;&#10;    &lt;Text style={{ fontSize: 13, color: '#8B97A8' }}&gt;ISAD · Fall 2026 · The change is not the test. How far the change travels through your model is the test&lt;/Text&gt;&#10;    &lt;Text style={{ fontSize: 14, color: '#1E4FA8', fontWeight: 'bold' }}&gt;34 / 39&lt;/Text&gt;&#10;  &lt;/Box&gt;&#10;&lt;/Slide&gt;&#10;"/>
        <p:cNvGrpSpPr/>
        <p:nvPr/>
      </p:nvGrpSpPr>
      <p:grpSpPr>
        <a:xfrm>
          <a:off x="0" y="0"/>
          <a:ext cx="0" cy="0"/>
          <a:chOff x="0" y="0"/>
          <a:chExt cx="0" cy="0"/>
        </a:xfrm>
      </p:grpSpPr>
      <p:sp>
        <p:nvSpPr>
          <p:cNvPr id="598" name=""/>
          <p:cNvSpPr/>
          <p:nvPr/>
        </p:nvSpPr>
        <p:spPr>
          <a:xfrm rot="0" flipH="0" flipV="0">
            <a:off x="0" y="0"/>
            <a:ext cx="12192000" cy="6858000"/>
          </a:xfrm>
          <a:prstGeom prst="rect">
            <a:avLst/>
          </a:prstGeom>
          <a:solidFill>
            <a:srgbClr val="FFFFFF"/>
          </a:solidFill>
          <a:ln/>
        </p:spPr>
        <p:txBody>
          <a:bodyPr/>
          <a:p/>
        </p:txBody>
      </p:sp>
      <p:sp>
        <p:nvSpPr>
          <p:cNvPr id="599" name=""/>
          <p:cNvSpPr/>
          <p:nvPr/>
        </p:nvSpPr>
        <p:spPr>
          <a:xfrm rot="0" flipH="0" flipV="0">
            <a:off x="0" y="0"/>
            <a:ext cx="12192000" cy="685800"/>
          </a:xfrm>
          <a:prstGeom prst="rect">
            <a:avLst/>
          </a:prstGeom>
          <a:solidFill>
            <a:srgbClr val="1E4FA8"/>
          </a:solidFill>
          <a:ln/>
        </p:spPr>
        <p:txBody>
          <a:bodyPr/>
          <a:p/>
        </p:txBody>
      </p:sp>
      <p:sp>
        <p:nvSpPr>
          <p:cNvPr id="600"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601" name="" descr="{&quot;isTemplate&quot;:true,&quot;type&quot;:&quot;text&quot;}"/>
          <p:cNvSpPr txBox="1"/>
          <p:nvPr/>
        </p:nvSpPr>
        <p:spPr>
          <a:xfrm rot="0" flipH="0" flipV="0">
            <a:off x="9886950" y="257175"/>
            <a:ext cx="1924050" cy="171450"/>
          </a:xfrm>
          <a:prstGeom prst="rect"/>
        </p:spPr>
        <p:txBody>
          <a:bodyPr wrap="none" lIns="0" tIns="0" rIns="0" bIns="0"/>
          <a:p>
            <a:pPr>
              <a:lnSpc>
                <a:spcPct val="100000"/>
              </a:lnSpc>
            </a:pPr>
            <a:r>
              <a:rPr lang="en-US" sz="1125">
                <a:solidFill>
                  <a:srgbClr val="B9CDF0"/>
                </a:solidFill>
                <a:latin typeface="Microsoft YaHei"/>
                <a:ea typeface="Microsoft YaHei"/>
              </a:rPr>
              <a:t>W06 · CHANGE INJECTIONS</a:t>
            </a:r>
            <a:endParaRPr/>
          </a:p>
        </p:txBody>
      </p:sp>
      <p:sp>
        <p:nvSpPr>
          <p:cNvPr id="602" name="" descr="{&quot;isTemplate&quot;:true,&quot;type&quot;:&quot;text&quot;}"/>
          <p:cNvSpPr txBox="1"/>
          <p:nvPr/>
        </p:nvSpPr>
        <p:spPr>
          <a:xfrm rot="0" flipH="0" flipV="0">
            <a:off x="381000" y="809625"/>
            <a:ext cx="5410200" cy="333375"/>
          </a:xfrm>
          <a:prstGeom prst="rect"/>
        </p:spPr>
        <p:txBody>
          <a:bodyPr wrap="none" lIns="0" tIns="0" rIns="0" bIns="0"/>
          <a:p>
            <a:pPr>
              <a:lnSpc>
                <a:spcPct val="100000"/>
              </a:lnSpc>
            </a:pPr>
            <a:r>
              <a:rPr lang="en-US" sz="2175" b="1">
                <a:solidFill>
                  <a:srgbClr val="0E3F8C"/>
                </a:solidFill>
                <a:latin typeface="Microsoft YaHei"/>
                <a:ea typeface="Microsoft YaHei"/>
              </a:rPr>
              <a:t>Change Injections — Only Two This Term</a:t>
            </a:r>
            <a:endParaRPr/>
          </a:p>
        </p:txBody>
      </p:sp>
      <p:sp>
        <p:nvSpPr>
          <p:cNvPr id="603"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34 / 39</a:t>
            </a:r>
            <a:endParaRPr/>
          </a:p>
        </p:txBody>
      </p:sp>
      <p:pic>
        <p:nvPicPr>
          <p:cNvPr id="604" name=""/>
          <p:cNvPicPr>
            <a:picLocks noChangeAspect="1"/>
          </p:cNvPicPr>
          <p:nvPr/>
        </p:nvPicPr>
        <p:blipFill>
          <a:blip>
            <a:extLst>
              <a:ext uri="{96DAC541-7B7A-43D3-8B79-37D633B846F1}">
                <asvg:svgBlip r:embed="rId1"/>
              </a:ext>
            </a:extLst>
          </a:blip>
          <a:stretch>
            <a:fillRect/>
          </a:stretch>
        </p:blipFill>
        <p:spPr>
          <a:xfrm rot="0" flipH="0" flipV="0">
            <a:off x="476250" y="2000250"/>
            <a:ext cx="11239500" cy="3733800"/>
          </a:xfrm>
          <a:prstGeom prst="rect">
            <a:avLst/>
          </a:prstGeom>
          <a:ln/>
        </p:spPr>
      </p:pic>
      <p:sp>
        <p:nvSpPr>
          <p:cNvPr id="605" name="" descr="{&quot;isTemplate&quot;:true,&quot;type&quot;:&quot;text&quot;}"/>
          <p:cNvSpPr txBox="1"/>
          <p:nvPr/>
        </p:nvSpPr>
        <p:spPr>
          <a:xfrm rot="0" flipH="0" flipV="0">
            <a:off x="381000" y="6619875"/>
            <a:ext cx="5657850" cy="152400"/>
          </a:xfrm>
          <a:prstGeom prst="rect"/>
        </p:spPr>
        <p:txBody>
          <a:bodyPr wrap="none" lIns="0" tIns="0" rIns="0" bIns="0"/>
          <a:p>
            <a:pPr>
              <a:lnSpc>
                <a:spcPct val="100000"/>
              </a:lnSpc>
            </a:pPr>
            <a:r>
              <a:rPr lang="en-US" sz="975">
                <a:solidFill>
                  <a:srgbClr val="8B97A8"/>
                </a:solidFill>
                <a:latin typeface="Microsoft YaHei"/>
                <a:ea typeface="Microsoft YaHei"/>
              </a:rPr>
              <a:t>ISAD · Fall 2026 · The change is not the test. How far the change travels through your model is the test</a:t>
            </a:r>
            <a:endParaRPr/>
          </a:p>
        </p:txBody>
      </p:sp>
      <p:sp>
        <p:nvSpPr>
          <p:cNvPr id="606" name="" descr="{&quot;isTemplate&quot;:true,&quot;type&quot;:&quot;text&quot;}"/>
          <p:cNvSpPr txBox="1"/>
          <p:nvPr/>
        </p:nvSpPr>
        <p:spPr>
          <a:xfrm rot="0" flipH="0" flipV="0">
            <a:off x="11401425" y="6619875"/>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34 / 39</a:t>
            </a:r>
            <a:endParaRPr/>
          </a:p>
        </p:txBody>
      </p:sp>
    </p:spTree>
  </p:cSld>
</p:sld>
</file>

<file path=ppt/slides/slide35.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607"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6 · CHANGE INJECTIONS&lt;/Text&gt;&#10;  &lt;/Box&gt;&#10;  &lt;Box style={{ padding: '13px 40px 0 40px', flexDirection: 'row', alignItems: 'center', justifyContent: 'space-between' }}&gt;&#10;    &lt;Text style={{ fontSize: 29, fontWeight: 'bold', color: '#0E3F8C' }}&gt;Folding ΔC1 In Without Restarting&lt;/Text&gt;&#10;    &lt;Text style={{ fontSize: 14, color: '#1E4FA8', fontWeight: 'bold' }}&gt;35 / 39&lt;/Text&gt;&#10;  &lt;/Box&gt;&#10;  &lt;Box style={{ flex: 1, padding: '10px 40px 0 40px' }}&gt;&#10;    &lt;Table&#10;      style={{ width: '100%', height: '100%' }}&#10;      defaultTextStyle={{ fontSize: 13, textAlign: 'left', color: '#1A2230' }}&#10;      defaultCellStyle={{&#10;        border: {&#10;          left: { width: 1, color: '#E5E7EB' },&#10;          right: { width: 1, color: '#E5E7EB' },&#10;          top: { width: 1, color: '#E5E7EB' },&#10;          bottom: { width: 1, color: '#E5E7EB' },&#10;        },&#10;      }}&#10;      cells={[&#10;        [&#10;          { text: 'The change says', textStyle: { bold: true, color: '#FFFFFF', fontSize: 14 }, cellStyle: { background: { color: '#0E3F8C' } } },&#10;          { text: 'It touches', textStyle: { bold: true, color: '#FFFFFF', fontSize: 14 }, cellStyle: { background: { color: '#1E4FA8' } } },&#10;          { text: 'You write down', textStyle: { bold: true, color: '#FFFFFF', fontSize: 14 }, cellStyle: { background: { color: '#2B5793' } } },&#10;        ],&#10;        [&#10;          { text: '“Students may rate the courier, not only the restaurant.”', textStyle: { bold: true, color: '#0E3F8C' }, cellStyle: { background: { color: '#F7F9FC' } } },&#10;          { text: 'Rating (new entity) · Courier (already there)', textStyle: { color: '#4A5568' }, cellStyle: { background: { color: '#F7F9FC' } } },&#10;          { text: 'Rating is a new class with a target; Courier gains no new attribute. Two boxes touched.', textStyle: { color: '#4A5568' }, cellStyle: { background: { color: '#F7F9FC' } } },&#10;        ],&#10;        [&#10;          { text: '“Restaurants may print the kitchen ticket themselves.”', textStyle: { bold: true, color: '#0E3F8C' } },&#10;          { text: 'KitchenDisplay (existing boundary)', textStyle: { color: '#4A5568' } },&#10;          { text: 'One association added. No new class — the boundary was already there from page 17.', textStyle: { color: '#4A5568' } },&#10;        ],&#10;        [&#10;          { text: '“Orders can be scheduled for tomorrow.”', textStyle: { bold: true, color: '#0E3F8C' }, cellStyle: { background: { color: '#F7F9FC' } } },&#10;          { text: 'Order.state gains a value · DeliveryWindow', textStyle: { color: '#4A5568' }, cellStyle: { background: { color: '#F7F9FC' } } },&#10;          { text: 'No new class at all. But the W09 state machine gains a state, so plan for it.', textStyle: { color: '#4A5568' }, cellStyle: { background: { color: '#F7F9FC' } } },&#10;        ],&#10;        [&#10;          { text: '“The campus card centre becomes an actor.”', textStyle: { bold: true, color: '#0E3F8C' } },&#10;          { text: 'Use case diagram, not the domain model', textStyle: { color: '#4A5568' } },&#10;          { text: 'Nothing to change here — and that is a perfectly good answer.', textStyle: { color: '#4A5568' } },&#10;        ],&#10;        [&#10;          { text: 'Where the response goes', textStyle: { bold: true, color: '#0E3F8C' }, cellStyle: { background: { color: '#F7F9FC' } } },&#10;          { text: 'changes/C1-response.md', textStyle: { color: '#1E4FA8', fontWeight: 'bold' }, cellStyle: { background: { color: '#F7F9FC' } } },&#10;          { text: 'One short paragraph per change: what it touches, what you changed, what you decided not to change.', textStyle: { color: '#4A5568' }, cellStyle: { background: { color: '#F7F9FC' } } },&#10;        ],&#10;      ]}&#10;    /&gt;&#10;  &lt;/Box&gt;&#10;  &lt;Box style={{ height: 46, background: '#0E3F8C', padding: '0 40px', flexDirection: 'row', alignItems: 'center', justifyContent: 'center' }}&gt;&#10;    &lt;Text style={{ fontSize: 16.5, color: '#FFFFFF', fontWeight: '600' }}&gt;“Nothing to change here” is a legitimate finding. Writing it down is what makes it a finding.&lt;/Text&gt;&#10;  &lt;/Box&gt;&#10;&lt;/Slide&gt;&#10;"/>
        <p:cNvGrpSpPr/>
        <p:nvPr/>
      </p:nvGrpSpPr>
      <p:grpSpPr>
        <a:xfrm>
          <a:off x="0" y="0"/>
          <a:ext cx="0" cy="0"/>
          <a:chOff x="0" y="0"/>
          <a:chExt cx="0" cy="0"/>
        </a:xfrm>
      </p:grpSpPr>
      <p:sp>
        <p:nvSpPr>
          <p:cNvPr id="608" name=""/>
          <p:cNvSpPr/>
          <p:nvPr/>
        </p:nvSpPr>
        <p:spPr>
          <a:xfrm rot="0" flipH="0" flipV="0">
            <a:off x="0" y="0"/>
            <a:ext cx="12192000" cy="6858000"/>
          </a:xfrm>
          <a:prstGeom prst="rect">
            <a:avLst/>
          </a:prstGeom>
          <a:solidFill>
            <a:srgbClr val="FFFFFF"/>
          </a:solidFill>
          <a:ln/>
        </p:spPr>
        <p:txBody>
          <a:bodyPr/>
          <a:p/>
        </p:txBody>
      </p:sp>
      <p:sp>
        <p:nvSpPr>
          <p:cNvPr id="609" name=""/>
          <p:cNvSpPr/>
          <p:nvPr/>
        </p:nvSpPr>
        <p:spPr>
          <a:xfrm rot="0" flipH="0" flipV="0">
            <a:off x="0" y="0"/>
            <a:ext cx="12192000" cy="685800"/>
          </a:xfrm>
          <a:prstGeom prst="rect">
            <a:avLst/>
          </a:prstGeom>
          <a:solidFill>
            <a:srgbClr val="1E4FA8"/>
          </a:solidFill>
          <a:ln/>
        </p:spPr>
        <p:txBody>
          <a:bodyPr/>
          <a:p/>
        </p:txBody>
      </p:sp>
      <p:sp>
        <p:nvSpPr>
          <p:cNvPr id="610"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611" name="" descr="{&quot;isTemplate&quot;:true,&quot;type&quot;:&quot;text&quot;}"/>
          <p:cNvSpPr txBox="1"/>
          <p:nvPr/>
        </p:nvSpPr>
        <p:spPr>
          <a:xfrm rot="0" flipH="0" flipV="0">
            <a:off x="9886950" y="257175"/>
            <a:ext cx="1924050" cy="171450"/>
          </a:xfrm>
          <a:prstGeom prst="rect"/>
        </p:spPr>
        <p:txBody>
          <a:bodyPr wrap="none" lIns="0" tIns="0" rIns="0" bIns="0"/>
          <a:p>
            <a:pPr>
              <a:lnSpc>
                <a:spcPct val="100000"/>
              </a:lnSpc>
            </a:pPr>
            <a:r>
              <a:rPr lang="en-US" sz="1125">
                <a:solidFill>
                  <a:srgbClr val="B9CDF0"/>
                </a:solidFill>
                <a:latin typeface="Microsoft YaHei"/>
                <a:ea typeface="Microsoft YaHei"/>
              </a:rPr>
              <a:t>W06 · CHANGE INJECTIONS</a:t>
            </a:r>
            <a:endParaRPr/>
          </a:p>
        </p:txBody>
      </p:sp>
      <p:sp>
        <p:nvSpPr>
          <p:cNvPr id="612" name="" descr="{&quot;isTemplate&quot;:true,&quot;type&quot;:&quot;text&quot;}"/>
          <p:cNvSpPr txBox="1"/>
          <p:nvPr/>
        </p:nvSpPr>
        <p:spPr>
          <a:xfrm rot="0" flipH="0" flipV="0">
            <a:off x="381000" y="809625"/>
            <a:ext cx="4495800" cy="333375"/>
          </a:xfrm>
          <a:prstGeom prst="rect"/>
        </p:spPr>
        <p:txBody>
          <a:bodyPr wrap="none" lIns="0" tIns="0" rIns="0" bIns="0"/>
          <a:p>
            <a:pPr>
              <a:lnSpc>
                <a:spcPct val="100000"/>
              </a:lnSpc>
            </a:pPr>
            <a:r>
              <a:rPr lang="en-US" sz="2175" b="1">
                <a:solidFill>
                  <a:srgbClr val="0E3F8C"/>
                </a:solidFill>
                <a:latin typeface="Microsoft YaHei"/>
                <a:ea typeface="Microsoft YaHei"/>
              </a:rPr>
              <a:t>Folding ΔC1 In Without Restarting</a:t>
            </a:r>
            <a:endParaRPr/>
          </a:p>
        </p:txBody>
      </p:sp>
      <p:sp>
        <p:nvSpPr>
          <p:cNvPr id="613"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35 / 39</a:t>
            </a:r>
            <a:endParaRPr/>
          </a:p>
        </p:txBody>
      </p:sp>
      <p:graphicFrame>
        <p:nvGraphicFramePr>
          <p:cNvPr id="614" name=""/>
          <p:cNvGraphicFramePr/>
          <p:nvPr/>
        </p:nvGraphicFramePr>
        <p:xfrm rot="0" flipH="0" flipV="0">
          <a:off x="381000" y="1238250"/>
          <a:ext cx="11430000" cy="5181600"/>
        </p:xfrm>
        <a:graphic>
          <a:graphicData uri="http://schemas.openxmlformats.org/drawingml/2006/table">
            <a:tbl>
              <a:tblGrid>
                <a:gridCol w="3356354">
                  <a:extLst>
                    <a:ext uri="{9D8B030D-6E8A-4147-A177-3AD203B41FA5}">
                      <a16:colId val="1"/>
                    </a:ext>
                  </a:extLst>
                </a:gridCol>
                <a:gridCol w="2445934">
                  <a:extLst>
                    <a:ext uri="{9D8B030D-6E8A-4147-A177-3AD203B41FA5}">
                      <a16:colId val="2"/>
                    </a:ext>
                  </a:extLst>
                </a:gridCol>
                <a:gridCol w="5627712">
                  <a:extLst>
                    <a:ext uri="{9D8B030D-6E8A-4147-A177-3AD203B41FA5}">
                      <a16:colId val="3"/>
                    </a:ext>
                  </a:extLst>
                </a:gridCol>
              </a:tblGrid>
              <a:tr h="687584">
                <a:tc>
                  <a:txBody>
                    <a:bodyPr wrap="square" lIns="0" tIns="0" rIns="0" bIns="0" anchor="ctr">
                      <a:normAutofit/>
                    </a:bodyPr>
                    <a:p>
                      <a:pPr marL="114300" marR="114300" algn="l">
                        <a:lnSpc>
                          <a:spcPct val="120000"/>
                        </a:lnSpc>
                      </a:pPr>
                      <a:r>
                        <a:rPr sz="1050" b="1">
                          <a:solidFill>
                            <a:srgbClr val="FFFFFF"/>
                          </a:solidFill>
                          <a:latin typeface="Microsoft YaHei"/>
                          <a:ea typeface="Microsoft YaHei"/>
                        </a:rPr>
                        <a:t>The change says</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050" b="1">
                          <a:solidFill>
                            <a:srgbClr val="FFFFFF"/>
                          </a:solidFill>
                          <a:latin typeface="Microsoft YaHei"/>
                          <a:ea typeface="Microsoft YaHei"/>
                        </a:rPr>
                        <a:t>It touches</a:t>
                      </a:r>
                      <a:endParaRPr/>
                    </a:p>
                  </a:txBody>
                  <a:tcPr marL="45720" marR="45720" marT="45720" marB="45720" anchor="ctr">
                    <a:lnL>
                      <a:noFill/>
                    </a:lnL>
                    <a:lnR>
                      <a:noFill/>
                    </a:lnR>
                    <a:lnT>
                      <a:noFill/>
                    </a:lnT>
                    <a:lnB>
                      <a:noFill/>
                    </a:lnB>
                    <a:solidFill>
                      <a:srgbClr val="1E4FA8"/>
                    </a:solidFill>
                  </a:tcPr>
                </a:tc>
                <a:tc>
                  <a:txBody>
                    <a:bodyPr wrap="square" lIns="0" tIns="0" rIns="0" bIns="0" anchor="ctr">
                      <a:normAutofit/>
                    </a:bodyPr>
                    <a:p>
                      <a:pPr marL="114300" marR="114300" algn="l">
                        <a:lnSpc>
                          <a:spcPct val="120000"/>
                        </a:lnSpc>
                      </a:pPr>
                      <a:r>
                        <a:rPr sz="1050" b="1">
                          <a:solidFill>
                            <a:srgbClr val="FFFFFF"/>
                          </a:solidFill>
                          <a:latin typeface="Microsoft YaHei"/>
                          <a:ea typeface="Microsoft YaHei"/>
                        </a:rPr>
                        <a:t>You write down</a:t>
                      </a:r>
                      <a:endParaRPr/>
                    </a:p>
                  </a:txBody>
                  <a:tcPr marL="45720" marR="45720" marT="45720" marB="45720" anchor="ctr">
                    <a:lnL>
                      <a:noFill/>
                    </a:lnL>
                    <a:lnR>
                      <a:noFill/>
                    </a:lnR>
                    <a:lnT>
                      <a:noFill/>
                    </a:lnT>
                    <a:lnB>
                      <a:noFill/>
                    </a:lnB>
                    <a:solidFill>
                      <a:srgbClr val="2B5793"/>
                    </a:solidFill>
                  </a:tcPr>
                </a:tc>
                <a:extLst>
                  <a:ext uri="{0D108BD9-81ED-4DB2-BD59-A6C34878D82A}">
                    <a16:rowId val="1"/>
                  </a:ext>
                </a:extLst>
              </a:tr>
              <a:tr h="1069576">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“Students may rate the courier, not only the restaurant.”</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Rating (new entity) · Courier (already there)</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Rating is a new class with a target; Courier gains no new attribute. Two boxes touched.</a:t>
                      </a:r>
                      <a:endParaRPr/>
                    </a:p>
                  </a:txBody>
                  <a:tcPr marL="45720" marR="45720" marT="45720" marB="45720" anchor="ctr">
                    <a:lnL>
                      <a:noFill/>
                    </a:lnL>
                    <a:lnR>
                      <a:noFill/>
                    </a:lnR>
                    <a:lnT>
                      <a:noFill/>
                    </a:lnT>
                    <a:lnB>
                      <a:noFill/>
                    </a:lnB>
                    <a:solidFill>
                      <a:srgbClr val="F7F9FC"/>
                    </a:solidFill>
                  </a:tcPr>
                </a:tc>
                <a:extLst>
                  <a:ext uri="{0D108BD9-81ED-4DB2-BD59-A6C34878D82A}">
                    <a16:rowId val="2"/>
                  </a:ext>
                </a:extLst>
              </a:tr>
              <a:tr h="642644">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“Restaurants may print the kitchen ticket themselves.”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KitchenDisplay (existing boundary)</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One association added. No new class — the boundary was already there from page 17.</a:t>
                      </a:r>
                      <a:endParaRPr/>
                    </a:p>
                  </a:txBody>
                  <a:tcPr marL="45720" marR="45720" marT="45720" marB="45720" anchor="ctr">
                    <a:lnL>
                      <a:noFill/>
                    </a:lnL>
                    <a:lnR>
                      <a:noFill/>
                    </a:lnR>
                    <a:lnT>
                      <a:noFill/>
                    </a:lnT>
                    <a:lnB>
                      <a:noFill/>
                    </a:lnB>
                  </a:tcPr>
                </a:tc>
                <a:extLst>
                  <a:ext uri="{0D108BD9-81ED-4DB2-BD59-A6C34878D82A}">
                    <a16:rowId val="3"/>
                  </a:ext>
                </a:extLst>
              </a:tr>
              <a:tr h="1069576">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“Orders can be scheduled for tomorrow.”</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Order.state gains a value · DeliveryWindow</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No new class at all. But the W09 state machine gains a state, so plan for it.</a:t>
                      </a:r>
                      <a:endParaRPr/>
                    </a:p>
                  </a:txBody>
                  <a:tcPr marL="45720" marR="45720" marT="45720" marB="45720" anchor="ctr">
                    <a:lnL>
                      <a:noFill/>
                    </a:lnL>
                    <a:lnR>
                      <a:noFill/>
                    </a:lnR>
                    <a:lnT>
                      <a:noFill/>
                    </a:lnT>
                    <a:lnB>
                      <a:noFill/>
                    </a:lnB>
                    <a:solidFill>
                      <a:srgbClr val="F7F9FC"/>
                    </a:solidFill>
                  </a:tcPr>
                </a:tc>
                <a:extLst>
                  <a:ext uri="{0D108BD9-81ED-4DB2-BD59-A6C34878D82A}">
                    <a16:rowId val="4"/>
                  </a:ext>
                </a:extLst>
              </a:tr>
              <a:tr h="642644">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“The campus card centre becomes an actor.”</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Use case diagram, not the domain model</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Nothing to change here — and that is a perfectly good answer.</a:t>
                      </a:r>
                      <a:endParaRPr/>
                    </a:p>
                  </a:txBody>
                  <a:tcPr marL="45720" marR="45720" marT="45720" marB="45720" anchor="ctr">
                    <a:lnL>
                      <a:noFill/>
                    </a:lnL>
                    <a:lnR>
                      <a:noFill/>
                    </a:lnR>
                    <a:lnT>
                      <a:noFill/>
                    </a:lnT>
                    <a:lnB>
                      <a:noFill/>
                    </a:lnB>
                  </a:tcPr>
                </a:tc>
                <a:extLst>
                  <a:ext uri="{0D108BD9-81ED-4DB2-BD59-A6C34878D82A}">
                    <a16:rowId val="5"/>
                  </a:ext>
                </a:extLst>
              </a:tr>
              <a:tr h="1069576">
                <a:tc>
                  <a:txBody>
                    <a:bodyPr wrap="square" lIns="0" tIns="0" rIns="0" bIns="0" anchor="ctr">
                      <a:normAutofit/>
                    </a:bodyPr>
                    <a:p>
                      <a:pPr marL="114300" marR="114300" algn="l">
                        <a:lnSpc>
                          <a:spcPct val="120000"/>
                        </a:lnSpc>
                      </a:pPr>
                      <a:r>
                        <a:rPr sz="975" b="1">
                          <a:solidFill>
                            <a:srgbClr val="0E3F8C"/>
                          </a:solidFill>
                          <a:latin typeface="Microsoft YaHei"/>
                          <a:ea typeface="Microsoft YaHei"/>
                        </a:rPr>
                        <a:t>Where the response goes</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1E4FA8"/>
                          </a:solidFill>
                          <a:latin typeface="Microsoft YaHei"/>
                          <a:ea typeface="Microsoft YaHei"/>
                        </a:rPr>
                        <a:t>changes/C1-response.md</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975">
                          <a:solidFill>
                            <a:srgbClr val="4A5568"/>
                          </a:solidFill>
                          <a:latin typeface="Microsoft YaHei"/>
                          <a:ea typeface="Microsoft YaHei"/>
                        </a:rPr>
                        <a:t>One short paragraph per change: what it touches, what you changed, what you decided not to change.</a:t>
                      </a:r>
                      <a:endParaRPr/>
                    </a:p>
                  </a:txBody>
                  <a:tcPr marL="45720" marR="45720" marT="45720" marB="45720" anchor="ctr">
                    <a:lnL>
                      <a:noFill/>
                    </a:lnL>
                    <a:lnR>
                      <a:noFill/>
                    </a:lnR>
                    <a:lnT>
                      <a:noFill/>
                    </a:lnT>
                    <a:lnB>
                      <a:noFill/>
                    </a:lnB>
                    <a:solidFill>
                      <a:srgbClr val="F7F9FC"/>
                    </a:solidFill>
                  </a:tcPr>
                </a:tc>
                <a:extLst>
                  <a:ext uri="{0D108BD9-81ED-4DB2-BD59-A6C34878D82A}">
                    <a16:rowId val="6"/>
                  </a:ext>
                </a:extLst>
              </a:tr>
            </a:tbl>
          </a:graphicData>
        </a:graphic>
      </p:graphicFrame>
      <p:sp>
        <p:nvSpPr>
          <p:cNvPr id="615" name=""/>
          <p:cNvSpPr/>
          <p:nvPr/>
        </p:nvSpPr>
        <p:spPr>
          <a:xfrm rot="0" flipH="0" flipV="0">
            <a:off x="0" y="6419850"/>
            <a:ext cx="12192000" cy="438150"/>
          </a:xfrm>
          <a:prstGeom prst="rect">
            <a:avLst/>
          </a:prstGeom>
          <a:solidFill>
            <a:srgbClr val="0E3F8C"/>
          </a:solidFill>
          <a:ln/>
        </p:spPr>
        <p:txBody>
          <a:bodyPr/>
          <a:p/>
        </p:txBody>
      </p:sp>
      <p:sp>
        <p:nvSpPr>
          <p:cNvPr id="616" name="" descr="{&quot;isTemplate&quot;:true,&quot;type&quot;:&quot;text&quot;}"/>
          <p:cNvSpPr txBox="1"/>
          <p:nvPr/>
        </p:nvSpPr>
        <p:spPr>
          <a:xfrm rot="0" flipH="0" flipV="0">
            <a:off x="2705100" y="6543675"/>
            <a:ext cx="6781800" cy="190500"/>
          </a:xfrm>
          <a:prstGeom prst="rect"/>
        </p:spPr>
        <p:txBody>
          <a:bodyPr wrap="none" lIns="0" tIns="0" rIns="0" bIns="0"/>
          <a:p>
            <a:pPr>
              <a:lnSpc>
                <a:spcPct val="100000"/>
              </a:lnSpc>
            </a:pPr>
            <a:r>
              <a:rPr lang="en-US" sz="1238" b="1">
                <a:solidFill>
                  <a:srgbClr val="FFFFFF"/>
                </a:solidFill>
                <a:latin typeface="Microsoft YaHei"/>
                <a:ea typeface="Microsoft YaHei"/>
              </a:rPr>
              <a:t>“Nothing to change here” is a legitimate finding. Writing it down is what makes it a finding.</a:t>
            </a:r>
            <a:endParaRPr/>
          </a:p>
        </p:txBody>
      </p:sp>
    </p:spTree>
  </p:cSld>
</p:sld>
</file>

<file path=ppt/slides/slide36.xml><?xml version="1.0" encoding="utf-8"?>
<p:sld xmlns:p="http://schemas.openxmlformats.org/presentationml/2006/main" xmlns:a="http://schemas.openxmlformats.org/drawingml/2006/main">
  <p:cSld>
    <p:spTree>
      <p:nvGrpSpPr>
        <p:cNvPr id="617"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6 · LOOKING AHEAD&lt;/Text&gt;&#10;  &lt;/Box&gt;&#10;  &lt;Box style={{ padding: '13px 40px 0 40px', flexDirection: 'row', alignItems: 'center', justifyContent: 'space-between' }}&gt;&#10;    &lt;Text style={{ fontSize: 29, fontWeight: 'bold', color: '#0E3F8C' }}&gt;Where This Week Goes Next&lt;/Text&gt;&#10;    &lt;Text style={{ fontSize: 14, color: '#1E4FA8', fontWeight: 'bold' }}&gt;36 / 39&lt;/Text&gt;&#10;  &lt;/Box&gt;&#10;  &lt;Box style={{ flex: 1, padding: '10px 40px 0 40px', flexDirection: 'row', gap: 24 }}&gt;&#10;    &lt;Box style={{ flex: 1, flexDirection: 'column', gap: 12 }}&gt;&#10;      &lt;Box style={{ padding: '16px 19px', background: '#F0F5FC', borderRadius: 10, borderLeft: '4px solid #1E4FA8' }}&gt;&#10;        &lt;Text style={{ fontSize: 16.5, fontWeight: 'bold', color: '#0E3F8C' }}&gt;Homework&lt;/Text&gt;&#10;        &lt;Text style={{ fontSize: 13, color: '#4A5568', lineHeight: 1.65, marginTop: 6 }}&gt;&#10;          Write the other five open decisions — one line each, naming what you would need in order to decide. Extend your requirements list for M1: use case diagram plus two detailed specifications.&#10;        &lt;/Text&gt;&#10;      &lt;/Box&gt;&#10;      &lt;Box style={{ padding: '16px 19px', background: '#FFFFFF', borderRadius: 10, border: '1px solid #D6DCE5' }}&gt;&#10;        &lt;Text style={{ fontSize: 16.5, fontWeight: 'bold', color: '#0E3F8C' }}&gt;Read&lt;/Text&gt;&#10;        &lt;Text style={{ fontSize: 13, color: '#4A5568', lineHeight: 1.65, marginTop: 6 }}&gt;&#10;          Larman chapter 4 — the nine-field use case template. Also skim association and multiplicity, because next week is entirely about them.&#10;        &lt;/Text&gt;&#10;      &lt;/Box&gt;&#10;      &lt;Box style={{ padding: '16px 19px', background: '#FFF6E0', borderRadius: 10, borderLeft: '4px solid #FFC107' }}&gt;&#10;        &lt;Text style={{ fontSize: 16.5, fontWeight: 'bold', color: '#996F00' }}&gt;Also&lt;/Text&gt;&#10;        &lt;Text style={{ fontSize: 13, color: '#4A5568', lineHeight: 1.65, marginTop: 6 }}&gt;&#10;          Bring your M1 questions — the client review is next week, and the instructor plays the client.&#10;        &lt;/Text&gt;&#10;      &lt;/Box&gt;&#10;    &lt;/Box&gt;&#10;    &lt;Box style={{ width: 470, justifyContent: 'center' }}&gt;&#10;      &lt;Box style={{ padding: '20px 22px', background: '#0E3F8C', borderRadius: 10 }}&gt;&#10;        &lt;Text style={{ fontSize: 14, color: '#7FA2D6', letterSpacing: 2, marginBottom: 12 }}&gt;NEXT WEEK · W07&lt;/Text&gt;&#10;        &lt;Text style={{ fontSize: 32, fontWeight: 'bold', color: '#FFFFFF', fontFamily: 'Georgia, serif', lineHeight: 1.2 }}&gt;&#10;          Domain Relationships&#10;        &lt;/Text&gt;&#10;        &lt;Box style={{ width: 60, height: 4, background: '#FFC107', marginTop: 16, marginBottom: 18 }} /&gt;&#10;        &lt;Text style={{ fontSize: 15, color: '#C5D4EA', lineHeight: 1.6 }}&gt;&#10;          The lines you drew today are still rough. Next week you say how many — and which end owns the whole.&#10;        &lt;/Text&gt;&#10;        &lt;Box style={{ marginTop: 18, paddingTop: 16, borderTop: '1px solid #2B5793' }}&gt;&#10;          {[&#10;            'Multiplicities: 1, 0..*, 1..*',&#10;            'Aggregation vs. composition — and the difference that matters',&#10;            'Attributes that turn out to be classes',&#10;            'The M1 client review happens in this week’s class',&#10;          ].map((t) =&gt; (&#10;            &lt;Box key={t} style={{ flexDirection: 'row', alignItems: 'center', gap: 10, marginBottom: 8 }}&gt;&#10;              &lt;Box style={{ width: 6, height: 6, borderRadius: 3, background: '#3D7BD9' }} /&gt;&#10;              &lt;Text style={{ fontSize: 14.5, color: '#C5D4EA' }}&gt;{t}&lt;/Text&gt;&#10;            &lt;/Box&gt;&#10;          ))}&#10;        &lt;/Box&gt;&#10;        &lt;Box style={{ marginTop: 14, paddingTop: 14, borderTop: '1px solid #2B5793' }}&gt;&#10;          &lt;Text style={{ fontSize: 13, color: '#7FA2D6', letterSpacing: 1, marginBottom: 6 }}&gt;REMINDER&lt;/Text&gt;&#10;          &lt;Text style={{ fontSize: 14.5, color: '#FFFFFF', lineHeight: 1.5 }}&gt;&#10;            The instructor plays the client. Bring your questions from the M1 review.&#10;          &lt;/Text&gt;&#10;        &lt;/Box&gt;&#10;      &lt;/Box&gt;&#10;    &lt;/Box&gt;&#10;  &lt;/Box&gt;&#10;  &lt;Box style={{ height: 46, background: '#0E3F8C', padding: '0 40px', flexDirection: 'row', alignItems: 'center', justifyContent: 'center' }}&gt;&#10;    &lt;Text style={{ fontSize: 16.5, color: '#FFFFFF', fontWeight: '600' }}&gt;Finish the model, answer the change, and bring your questions — next week the client is in the room&lt;/Text&gt;&#10;  &lt;/Box&gt;&#10;&lt;/Slide&gt;&#10;"/>
        <p:cNvGrpSpPr/>
        <p:nvPr/>
      </p:nvGrpSpPr>
      <p:grpSpPr>
        <a:xfrm>
          <a:off x="0" y="0"/>
          <a:ext cx="0" cy="0"/>
          <a:chOff x="0" y="0"/>
          <a:chExt cx="0" cy="0"/>
        </a:xfrm>
      </p:grpSpPr>
      <p:sp>
        <p:nvSpPr>
          <p:cNvPr id="618" name=""/>
          <p:cNvSpPr/>
          <p:nvPr/>
        </p:nvSpPr>
        <p:spPr>
          <a:xfrm rot="0" flipH="0" flipV="0">
            <a:off x="0" y="0"/>
            <a:ext cx="12192000" cy="6858000"/>
          </a:xfrm>
          <a:prstGeom prst="rect">
            <a:avLst/>
          </a:prstGeom>
          <a:solidFill>
            <a:srgbClr val="FFFFFF"/>
          </a:solidFill>
          <a:ln/>
        </p:spPr>
        <p:txBody>
          <a:bodyPr/>
          <a:p/>
        </p:txBody>
      </p:sp>
      <p:sp>
        <p:nvSpPr>
          <p:cNvPr id="619" name=""/>
          <p:cNvSpPr/>
          <p:nvPr/>
        </p:nvSpPr>
        <p:spPr>
          <a:xfrm rot="0" flipH="0" flipV="0">
            <a:off x="0" y="0"/>
            <a:ext cx="12192000" cy="685800"/>
          </a:xfrm>
          <a:prstGeom prst="rect">
            <a:avLst/>
          </a:prstGeom>
          <a:solidFill>
            <a:srgbClr val="1E4FA8"/>
          </a:solidFill>
          <a:ln/>
        </p:spPr>
        <p:txBody>
          <a:bodyPr/>
          <a:p/>
        </p:txBody>
      </p:sp>
      <p:sp>
        <p:nvSpPr>
          <p:cNvPr id="620"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621" name="" descr="{&quot;isTemplate&quot;:true,&quot;type&quot;:&quot;text&quot;}"/>
          <p:cNvSpPr txBox="1"/>
          <p:nvPr/>
        </p:nvSpPr>
        <p:spPr>
          <a:xfrm rot="0" flipH="0" flipV="0">
            <a:off x="10201275" y="257175"/>
            <a:ext cx="1609725" cy="171450"/>
          </a:xfrm>
          <a:prstGeom prst="rect"/>
        </p:spPr>
        <p:txBody>
          <a:bodyPr wrap="none" lIns="0" tIns="0" rIns="0" bIns="0"/>
          <a:p>
            <a:pPr>
              <a:lnSpc>
                <a:spcPct val="100000"/>
              </a:lnSpc>
            </a:pPr>
            <a:r>
              <a:rPr lang="en-US" sz="1125">
                <a:solidFill>
                  <a:srgbClr val="B9CDF0"/>
                </a:solidFill>
                <a:latin typeface="Microsoft YaHei"/>
                <a:ea typeface="Microsoft YaHei"/>
              </a:rPr>
              <a:t>W06 · LOOKING AHEAD</a:t>
            </a:r>
            <a:endParaRPr/>
          </a:p>
        </p:txBody>
      </p:sp>
      <p:sp>
        <p:nvSpPr>
          <p:cNvPr id="622" name="" descr="{&quot;isTemplate&quot;:true,&quot;type&quot;:&quot;text&quot;}"/>
          <p:cNvSpPr txBox="1"/>
          <p:nvPr/>
        </p:nvSpPr>
        <p:spPr>
          <a:xfrm rot="0" flipH="0" flipV="0">
            <a:off x="381000" y="809625"/>
            <a:ext cx="3733800" cy="333375"/>
          </a:xfrm>
          <a:prstGeom prst="rect"/>
        </p:spPr>
        <p:txBody>
          <a:bodyPr wrap="none" lIns="0" tIns="0" rIns="0" bIns="0"/>
          <a:p>
            <a:pPr>
              <a:lnSpc>
                <a:spcPct val="100000"/>
              </a:lnSpc>
            </a:pPr>
            <a:r>
              <a:rPr lang="en-US" sz="2175" b="1">
                <a:solidFill>
                  <a:srgbClr val="0E3F8C"/>
                </a:solidFill>
                <a:latin typeface="Microsoft YaHei"/>
                <a:ea typeface="Microsoft YaHei"/>
              </a:rPr>
              <a:t>Where This Week Goes Next</a:t>
            </a:r>
            <a:endParaRPr/>
          </a:p>
        </p:txBody>
      </p:sp>
      <p:sp>
        <p:nvSpPr>
          <p:cNvPr id="623"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36 / 39</a:t>
            </a:r>
            <a:endParaRPr/>
          </a:p>
        </p:txBody>
      </p:sp>
      <p:sp>
        <p:nvSpPr>
          <p:cNvPr id="624" name=""/>
          <p:cNvSpPr/>
          <p:nvPr/>
        </p:nvSpPr>
        <p:spPr>
          <a:xfrm rot="0" flipH="0" flipV="0">
            <a:off x="419100" y="1238250"/>
            <a:ext cx="6724650" cy="1047750"/>
          </a:xfrm>
          <a:prstGeom prst="roundRect">
            <a:avLst>
              <a:gd name="adj" fmla="val 9091"/>
            </a:avLst>
          </a:prstGeom>
          <a:solidFill>
            <a:srgbClr val="F0F5FC"/>
          </a:solidFill>
          <a:ln/>
        </p:spPr>
        <p:txBody>
          <a:bodyPr/>
          <a:p/>
        </p:txBody>
      </p:sp>
      <p:sp>
        <p:nvSpPr>
          <p:cNvPr id="625" name=""/>
          <p:cNvSpPr/>
          <p:nvPr/>
        </p:nvSpPr>
        <p:spPr>
          <a:xfrm rot="0" flipH="0" flipV="0">
            <a:off x="419100" y="1238250"/>
            <a:ext cx="6724650" cy="1047750"/>
          </a:xfrm>
          <a:custGeom>
            <a:pathLst>
              <a:path w="706" h="110">
                <a:moveTo>
                  <a:pt x="9" y="0"/>
                </a:moveTo>
                <a:cubicBezTo>
                  <a:pt x="6" y="0"/>
                  <a:pt x="4" y="3"/>
                  <a:pt x="4" y="6"/>
                </a:cubicBezTo>
                <a:lnTo>
                  <a:pt x="4" y="104"/>
                </a:lnTo>
                <a:cubicBezTo>
                  <a:pt x="4" y="107"/>
                  <a:pt x="6" y="109"/>
                  <a:pt x="9" y="110"/>
                </a:cubicBezTo>
                <a:cubicBezTo>
                  <a:pt x="4" y="109"/>
                  <a:pt x="0" y="105"/>
                  <a:pt x="0" y="100"/>
                </a:cubicBezTo>
                <a:lnTo>
                  <a:pt x="0" y="10"/>
                </a:lnTo>
                <a:cubicBezTo>
                  <a:pt x="0" y="5"/>
                  <a:pt x="4" y="0"/>
                  <a:pt x="10" y="0"/>
                </a:cubicBezTo>
                <a:close/>
              </a:path>
            </a:pathLst>
          </a:custGeom>
          <a:solidFill>
            <a:srgbClr val="1E4FA8"/>
          </a:solidFill>
          <a:ln/>
        </p:spPr>
        <p:txBody>
          <a:bodyPr/>
          <a:p/>
        </p:txBody>
      </p:sp>
      <p:sp>
        <p:nvSpPr>
          <p:cNvPr id="626" name="" descr="{&quot;isTemplate&quot;:true,&quot;type&quot;:&quot;text&quot;}"/>
          <p:cNvSpPr txBox="1"/>
          <p:nvPr/>
        </p:nvSpPr>
        <p:spPr>
          <a:xfrm rot="0" flipH="0" flipV="0">
            <a:off x="600075" y="1390650"/>
            <a:ext cx="6324600" cy="190500"/>
          </a:xfrm>
          <a:prstGeom prst="rect"/>
        </p:spPr>
        <p:txBody>
          <a:bodyPr wrap="none" lIns="0" tIns="0" rIns="0" bIns="0"/>
          <a:p>
            <a:pPr>
              <a:lnSpc>
                <a:spcPct val="100000"/>
              </a:lnSpc>
            </a:pPr>
            <a:r>
              <a:rPr lang="en-US" sz="1238" b="1">
                <a:solidFill>
                  <a:srgbClr val="0E3F8C"/>
                </a:solidFill>
                <a:latin typeface="Microsoft YaHei"/>
                <a:ea typeface="Microsoft YaHei"/>
              </a:rPr>
              <a:t>Homework</a:t>
            </a:r>
            <a:endParaRPr/>
          </a:p>
        </p:txBody>
      </p:sp>
      <p:sp>
        <p:nvSpPr>
          <p:cNvPr id="627" name="" descr="{&quot;isTemplate&quot;:true,&quot;type&quot;:&quot;text&quot;}"/>
          <p:cNvSpPr txBox="1"/>
          <p:nvPr/>
        </p:nvSpPr>
        <p:spPr>
          <a:xfrm rot="0" flipH="0" flipV="0">
            <a:off x="600075" y="1638300"/>
            <a:ext cx="6324600" cy="495300"/>
          </a:xfrm>
          <a:prstGeom prst="rect"/>
        </p:spPr>
        <p:txBody>
          <a:bodyPr wrap="square" lIns="0" tIns="0" rIns="0" bIns="0">
            <a:normAutofit/>
          </a:bodyPr>
          <a:p>
            <a:pPr>
              <a:lnSpc>
                <a:spcPct val="165000"/>
              </a:lnSpc>
            </a:pPr>
            <a:r>
              <a:rPr lang="en-US" sz="975">
                <a:solidFill>
                  <a:srgbClr val="4A5568"/>
                </a:solidFill>
                <a:latin typeface="Microsoft YaHei"/>
                <a:ea typeface="Microsoft YaHei"/>
              </a:rPr>
              <a:t>Write the other five open decisions — one line each, naming what you would need in order to decide. Extend your requirements list for M1: use case diagram plus two detailed specifications.</a:t>
            </a:r>
            <a:endParaRPr/>
          </a:p>
        </p:txBody>
      </p:sp>
      <p:sp>
        <p:nvSpPr>
          <p:cNvPr id="628" name=""/>
          <p:cNvSpPr/>
          <p:nvPr/>
        </p:nvSpPr>
        <p:spPr>
          <a:xfrm rot="0" flipH="0" flipV="0">
            <a:off x="381000" y="2400300"/>
            <a:ext cx="6724650" cy="1047750"/>
          </a:xfrm>
          <a:prstGeom prst="roundRect">
            <a:avLst>
              <a:gd name="adj" fmla="val 9091"/>
            </a:avLst>
          </a:prstGeom>
          <a:solidFill>
            <a:srgbClr val="FFFFFF"/>
          </a:solidFill>
          <a:ln w="12700">
            <a:solidFill>
              <a:srgbClr val="D6DCE5"/>
            </a:solidFill>
            <a:prstDash val="solid"/>
          </a:ln>
        </p:spPr>
        <p:txBody>
          <a:bodyPr/>
          <a:p/>
        </p:txBody>
      </p:sp>
      <p:sp>
        <p:nvSpPr>
          <p:cNvPr id="629" name="" descr="{&quot;isTemplate&quot;:true,&quot;type&quot;:&quot;text&quot;}"/>
          <p:cNvSpPr txBox="1"/>
          <p:nvPr/>
        </p:nvSpPr>
        <p:spPr>
          <a:xfrm rot="0" flipH="0" flipV="0">
            <a:off x="561975" y="2552700"/>
            <a:ext cx="6362700" cy="190500"/>
          </a:xfrm>
          <a:prstGeom prst="rect"/>
        </p:spPr>
        <p:txBody>
          <a:bodyPr wrap="none" lIns="0" tIns="0" rIns="0" bIns="0"/>
          <a:p>
            <a:pPr>
              <a:lnSpc>
                <a:spcPct val="100000"/>
              </a:lnSpc>
            </a:pPr>
            <a:r>
              <a:rPr lang="en-US" sz="1238" b="1">
                <a:solidFill>
                  <a:srgbClr val="0E3F8C"/>
                </a:solidFill>
                <a:latin typeface="Microsoft YaHei"/>
                <a:ea typeface="Microsoft YaHei"/>
              </a:rPr>
              <a:t>Read</a:t>
            </a:r>
            <a:endParaRPr/>
          </a:p>
        </p:txBody>
      </p:sp>
      <p:sp>
        <p:nvSpPr>
          <p:cNvPr id="630" name="" descr="{&quot;isTemplate&quot;:true,&quot;type&quot;:&quot;text&quot;}"/>
          <p:cNvSpPr txBox="1"/>
          <p:nvPr/>
        </p:nvSpPr>
        <p:spPr>
          <a:xfrm rot="0" flipH="0" flipV="0">
            <a:off x="561975" y="2800350"/>
            <a:ext cx="6362700" cy="495300"/>
          </a:xfrm>
          <a:prstGeom prst="rect"/>
        </p:spPr>
        <p:txBody>
          <a:bodyPr wrap="square" lIns="0" tIns="0" rIns="0" bIns="0">
            <a:normAutofit/>
          </a:bodyPr>
          <a:p>
            <a:pPr>
              <a:lnSpc>
                <a:spcPct val="165000"/>
              </a:lnSpc>
            </a:pPr>
            <a:r>
              <a:rPr lang="en-US" sz="975">
                <a:solidFill>
                  <a:srgbClr val="4A5568"/>
                </a:solidFill>
                <a:latin typeface="Microsoft YaHei"/>
                <a:ea typeface="Microsoft YaHei"/>
              </a:rPr>
              <a:t>Larman chapter 4 — the nine-field use case template. Also skim association and multiplicity, because next week is entirely about them.</a:t>
            </a:r>
            <a:endParaRPr/>
          </a:p>
        </p:txBody>
      </p:sp>
      <p:sp>
        <p:nvSpPr>
          <p:cNvPr id="631" name=""/>
          <p:cNvSpPr/>
          <p:nvPr/>
        </p:nvSpPr>
        <p:spPr>
          <a:xfrm rot="0" flipH="0" flipV="0">
            <a:off x="419100" y="3562350"/>
            <a:ext cx="6724650" cy="800100"/>
          </a:xfrm>
          <a:prstGeom prst="roundRect">
            <a:avLst>
              <a:gd name="adj" fmla="val 11905"/>
            </a:avLst>
          </a:prstGeom>
          <a:solidFill>
            <a:srgbClr val="FFF6E0"/>
          </a:solidFill>
          <a:ln/>
        </p:spPr>
        <p:txBody>
          <a:bodyPr/>
          <a:p/>
        </p:txBody>
      </p:sp>
      <p:sp>
        <p:nvSpPr>
          <p:cNvPr id="632" name=""/>
          <p:cNvSpPr/>
          <p:nvPr/>
        </p:nvSpPr>
        <p:spPr>
          <a:xfrm rot="0" flipH="0" flipV="0">
            <a:off x="419100" y="3562350"/>
            <a:ext cx="6724650" cy="800100"/>
          </a:xfrm>
          <a:custGeom>
            <a:pathLst>
              <a:path w="706" h="84">
                <a:moveTo>
                  <a:pt x="9" y="0"/>
                </a:moveTo>
                <a:cubicBezTo>
                  <a:pt x="6" y="0"/>
                  <a:pt x="4" y="3"/>
                  <a:pt x="4" y="6"/>
                </a:cubicBezTo>
                <a:lnTo>
                  <a:pt x="4" y="78"/>
                </a:lnTo>
                <a:cubicBezTo>
                  <a:pt x="4" y="81"/>
                  <a:pt x="6" y="83"/>
                  <a:pt x="9" y="84"/>
                </a:cubicBezTo>
                <a:cubicBezTo>
                  <a:pt x="4" y="83"/>
                  <a:pt x="0" y="79"/>
                  <a:pt x="0" y="74"/>
                </a:cubicBezTo>
                <a:lnTo>
                  <a:pt x="0" y="10"/>
                </a:lnTo>
                <a:cubicBezTo>
                  <a:pt x="0" y="5"/>
                  <a:pt x="4" y="0"/>
                  <a:pt x="10" y="0"/>
                </a:cubicBezTo>
                <a:close/>
              </a:path>
            </a:pathLst>
          </a:custGeom>
          <a:solidFill>
            <a:srgbClr val="FFC107"/>
          </a:solidFill>
          <a:ln/>
        </p:spPr>
        <p:txBody>
          <a:bodyPr/>
          <a:p/>
        </p:txBody>
      </p:sp>
      <p:sp>
        <p:nvSpPr>
          <p:cNvPr id="633" name="" descr="{&quot;isTemplate&quot;:true,&quot;type&quot;:&quot;text&quot;}"/>
          <p:cNvSpPr txBox="1"/>
          <p:nvPr/>
        </p:nvSpPr>
        <p:spPr>
          <a:xfrm rot="0" flipH="0" flipV="0">
            <a:off x="600075" y="3714750"/>
            <a:ext cx="6324600" cy="190500"/>
          </a:xfrm>
          <a:prstGeom prst="rect"/>
        </p:spPr>
        <p:txBody>
          <a:bodyPr wrap="none" lIns="0" tIns="0" rIns="0" bIns="0"/>
          <a:p>
            <a:pPr>
              <a:lnSpc>
                <a:spcPct val="100000"/>
              </a:lnSpc>
            </a:pPr>
            <a:r>
              <a:rPr lang="en-US" sz="1238" b="1">
                <a:solidFill>
                  <a:srgbClr val="996F00"/>
                </a:solidFill>
                <a:latin typeface="Microsoft YaHei"/>
                <a:ea typeface="Microsoft YaHei"/>
              </a:rPr>
              <a:t>Also</a:t>
            </a:r>
            <a:endParaRPr/>
          </a:p>
        </p:txBody>
      </p:sp>
      <p:sp>
        <p:nvSpPr>
          <p:cNvPr id="634" name="" descr="{&quot;isTemplate&quot;:true,&quot;type&quot;:&quot;text&quot;}"/>
          <p:cNvSpPr txBox="1"/>
          <p:nvPr/>
        </p:nvSpPr>
        <p:spPr>
          <a:xfrm rot="0" flipH="0" flipV="0">
            <a:off x="600075" y="3962400"/>
            <a:ext cx="6324600" cy="247650"/>
          </a:xfrm>
          <a:prstGeom prst="rect"/>
        </p:spPr>
        <p:txBody>
          <a:bodyPr wrap="none" lIns="0" tIns="0" rIns="0" bIns="0"/>
          <a:p>
            <a:pPr>
              <a:lnSpc>
                <a:spcPct val="165000"/>
              </a:lnSpc>
            </a:pPr>
            <a:r>
              <a:rPr lang="en-US" sz="975">
                <a:solidFill>
                  <a:srgbClr val="4A5568"/>
                </a:solidFill>
                <a:latin typeface="Microsoft YaHei"/>
                <a:ea typeface="Microsoft YaHei"/>
              </a:rPr>
              <a:t>Bring your M1 questions — the client review is next week, and the instructor plays the client.</a:t>
            </a:r>
            <a:endParaRPr/>
          </a:p>
        </p:txBody>
      </p:sp>
      <p:sp>
        <p:nvSpPr>
          <p:cNvPr id="635" name=""/>
          <p:cNvSpPr/>
          <p:nvPr/>
        </p:nvSpPr>
        <p:spPr>
          <a:xfrm rot="0" flipH="0" flipV="0">
            <a:off x="7334250" y="1666875"/>
            <a:ext cx="4476750" cy="4333875"/>
          </a:xfrm>
          <a:prstGeom prst="roundRect">
            <a:avLst>
              <a:gd name="adj" fmla="val 2198"/>
            </a:avLst>
          </a:prstGeom>
          <a:solidFill>
            <a:srgbClr val="0E3F8C"/>
          </a:solidFill>
          <a:ln/>
        </p:spPr>
        <p:txBody>
          <a:bodyPr/>
          <a:p/>
        </p:txBody>
      </p:sp>
      <p:sp>
        <p:nvSpPr>
          <p:cNvPr id="636" name="" descr="{&quot;isTemplate&quot;:true,&quot;type&quot;:&quot;text&quot;}"/>
          <p:cNvSpPr txBox="1"/>
          <p:nvPr/>
        </p:nvSpPr>
        <p:spPr>
          <a:xfrm rot="0" flipH="0" flipV="0">
            <a:off x="7543800" y="1857375"/>
            <a:ext cx="4057650" cy="161925"/>
          </a:xfrm>
          <a:prstGeom prst="rect"/>
        </p:spPr>
        <p:txBody>
          <a:bodyPr wrap="none" lIns="0" tIns="0" rIns="0" bIns="0"/>
          <a:p>
            <a:pPr>
              <a:lnSpc>
                <a:spcPct val="100000"/>
              </a:lnSpc>
            </a:pPr>
            <a:r>
              <a:rPr lang="en-US" sz="1050" spc="150">
                <a:solidFill>
                  <a:srgbClr val="7FA2D6"/>
                </a:solidFill>
                <a:latin typeface="Microsoft YaHei"/>
                <a:ea typeface="Microsoft YaHei"/>
              </a:rPr>
              <a:t>NEXT WEEK · W07</a:t>
            </a:r>
            <a:endParaRPr/>
          </a:p>
        </p:txBody>
      </p:sp>
      <p:sp>
        <p:nvSpPr>
          <p:cNvPr id="637" name="" descr="{&quot;isTemplate&quot;:true,&quot;type&quot;:&quot;text&quot;}"/>
          <p:cNvSpPr txBox="1"/>
          <p:nvPr/>
        </p:nvSpPr>
        <p:spPr>
          <a:xfrm rot="0" flipH="0" flipV="0">
            <a:off x="7543800" y="2133600"/>
            <a:ext cx="4057650" cy="447675"/>
          </a:xfrm>
          <a:prstGeom prst="rect"/>
        </p:spPr>
        <p:txBody>
          <a:bodyPr wrap="none" lIns="0" tIns="0" rIns="0" bIns="0"/>
          <a:p>
            <a:pPr>
              <a:lnSpc>
                <a:spcPct val="120000"/>
              </a:lnSpc>
            </a:pPr>
            <a:r>
              <a:rPr lang="en-US" sz="2400" b="1">
                <a:solidFill>
                  <a:srgbClr val="FFFFFF"/>
                </a:solidFill>
                <a:latin typeface="Georgia"/>
                <a:ea typeface="Georgia"/>
              </a:rPr>
              <a:t>Domain Relationships</a:t>
            </a:r>
            <a:endParaRPr/>
          </a:p>
        </p:txBody>
      </p:sp>
      <p:sp>
        <p:nvSpPr>
          <p:cNvPr id="638" name=""/>
          <p:cNvSpPr/>
          <p:nvPr/>
        </p:nvSpPr>
        <p:spPr>
          <a:xfrm rot="0" flipH="0" flipV="0">
            <a:off x="7543800" y="2733675"/>
            <a:ext cx="571500" cy="38100"/>
          </a:xfrm>
          <a:prstGeom prst="rect">
            <a:avLst/>
          </a:prstGeom>
          <a:solidFill>
            <a:srgbClr val="FFC107"/>
          </a:solidFill>
          <a:ln/>
        </p:spPr>
        <p:txBody>
          <a:bodyPr/>
          <a:p/>
        </p:txBody>
      </p:sp>
      <p:sp>
        <p:nvSpPr>
          <p:cNvPr id="639" name="" descr="{&quot;isTemplate&quot;:true,&quot;type&quot;:&quot;text&quot;}"/>
          <p:cNvSpPr txBox="1"/>
          <p:nvPr/>
        </p:nvSpPr>
        <p:spPr>
          <a:xfrm rot="0" flipH="0" flipV="0">
            <a:off x="7543800" y="2943225"/>
            <a:ext cx="4057650" cy="552450"/>
          </a:xfrm>
          <a:prstGeom prst="rect"/>
        </p:spPr>
        <p:txBody>
          <a:bodyPr wrap="square" lIns="0" tIns="0" rIns="0" bIns="0">
            <a:normAutofit/>
          </a:bodyPr>
          <a:p>
            <a:pPr>
              <a:lnSpc>
                <a:spcPct val="160000"/>
              </a:lnSpc>
            </a:pPr>
            <a:r>
              <a:rPr lang="en-US" sz="1125">
                <a:solidFill>
                  <a:srgbClr val="C5D4EA"/>
                </a:solidFill>
                <a:latin typeface="Microsoft YaHei"/>
                <a:ea typeface="Microsoft YaHei"/>
              </a:rPr>
              <a:t>The lines you drew today are still rough. Next week you say how many — and which end owns the whole.</a:t>
            </a:r>
            <a:endParaRPr/>
          </a:p>
        </p:txBody>
      </p:sp>
      <p:sp>
        <p:nvSpPr>
          <p:cNvPr id="640" name=""/>
          <p:cNvSpPr/>
          <p:nvPr/>
        </p:nvSpPr>
        <p:spPr>
          <a:xfrm rot="0" flipH="0" flipV="0">
            <a:off x="7543800" y="3667125"/>
            <a:ext cx="4057650" cy="1162050"/>
          </a:xfrm>
          <a:custGeom>
            <a:pathLst>
              <a:path w="426" h="122">
                <a:moveTo>
                  <a:pt x="0" y="0"/>
                </a:moveTo>
                <a:lnTo>
                  <a:pt x="426" y="0"/>
                </a:lnTo>
                <a:lnTo>
                  <a:pt x="426" y="1"/>
                </a:lnTo>
                <a:lnTo>
                  <a:pt x="0" y="1"/>
                </a:lnTo>
                <a:close/>
              </a:path>
            </a:pathLst>
          </a:custGeom>
          <a:solidFill>
            <a:srgbClr val="2B5793"/>
          </a:solidFill>
          <a:ln/>
        </p:spPr>
        <p:txBody>
          <a:bodyPr/>
          <a:p/>
        </p:txBody>
      </p:sp>
      <p:sp>
        <p:nvSpPr>
          <p:cNvPr id="641" name=""/>
          <p:cNvSpPr/>
          <p:nvPr/>
        </p:nvSpPr>
        <p:spPr>
          <a:xfrm rot="0" flipH="0" flipV="0">
            <a:off x="7543800" y="3886200"/>
            <a:ext cx="57150" cy="57150"/>
          </a:xfrm>
          <a:prstGeom prst="roundRect">
            <a:avLst>
              <a:gd name="adj" fmla="val 50000"/>
            </a:avLst>
          </a:prstGeom>
          <a:solidFill>
            <a:srgbClr val="3D7BD9"/>
          </a:solidFill>
          <a:ln/>
        </p:spPr>
        <p:txBody>
          <a:bodyPr/>
          <a:p/>
        </p:txBody>
      </p:sp>
      <p:sp>
        <p:nvSpPr>
          <p:cNvPr id="642" name="" descr="{&quot;isTemplate&quot;:true,&quot;type&quot;:&quot;text&quot;}"/>
          <p:cNvSpPr txBox="1"/>
          <p:nvPr/>
        </p:nvSpPr>
        <p:spPr>
          <a:xfrm rot="0" flipH="0" flipV="0">
            <a:off x="7696200" y="3829050"/>
            <a:ext cx="1466850" cy="171450"/>
          </a:xfrm>
          <a:prstGeom prst="rect"/>
        </p:spPr>
        <p:txBody>
          <a:bodyPr wrap="none" lIns="0" tIns="0" rIns="0" bIns="0"/>
          <a:p>
            <a:pPr>
              <a:lnSpc>
                <a:spcPct val="100000"/>
              </a:lnSpc>
            </a:pPr>
            <a:r>
              <a:rPr lang="en-US" sz="1088">
                <a:solidFill>
                  <a:srgbClr val="C5D4EA"/>
                </a:solidFill>
                <a:latin typeface="Microsoft YaHei"/>
                <a:ea typeface="Microsoft YaHei"/>
              </a:rPr>
              <a:t>Multiplicities: 1, 0..*, 1..*</a:t>
            </a:r>
            <a:endParaRPr/>
          </a:p>
        </p:txBody>
      </p:sp>
      <p:sp>
        <p:nvSpPr>
          <p:cNvPr id="643" name=""/>
          <p:cNvSpPr/>
          <p:nvPr/>
        </p:nvSpPr>
        <p:spPr>
          <a:xfrm rot="0" flipH="0" flipV="0">
            <a:off x="7543800" y="4133850"/>
            <a:ext cx="57150" cy="57150"/>
          </a:xfrm>
          <a:prstGeom prst="roundRect">
            <a:avLst>
              <a:gd name="adj" fmla="val 50000"/>
            </a:avLst>
          </a:prstGeom>
          <a:solidFill>
            <a:srgbClr val="3D7BD9"/>
          </a:solidFill>
          <a:ln/>
        </p:spPr>
        <p:txBody>
          <a:bodyPr/>
          <a:p/>
        </p:txBody>
      </p:sp>
      <p:sp>
        <p:nvSpPr>
          <p:cNvPr id="644" name="" descr="{&quot;isTemplate&quot;:true,&quot;type&quot;:&quot;text&quot;}"/>
          <p:cNvSpPr txBox="1"/>
          <p:nvPr/>
        </p:nvSpPr>
        <p:spPr>
          <a:xfrm rot="0" flipH="0" flipV="0">
            <a:off x="7696200" y="4076700"/>
            <a:ext cx="3829050" cy="171450"/>
          </a:xfrm>
          <a:prstGeom prst="rect"/>
        </p:spPr>
        <p:txBody>
          <a:bodyPr wrap="none" lIns="0" tIns="0" rIns="0" bIns="0"/>
          <a:p>
            <a:pPr>
              <a:lnSpc>
                <a:spcPct val="100000"/>
              </a:lnSpc>
            </a:pPr>
            <a:r>
              <a:rPr lang="en-US" sz="1088">
                <a:solidFill>
                  <a:srgbClr val="C5D4EA"/>
                </a:solidFill>
                <a:latin typeface="Microsoft YaHei"/>
                <a:ea typeface="Microsoft YaHei"/>
              </a:rPr>
              <a:t>Aggregation vs. composition — and the difference that matters</a:t>
            </a:r>
            <a:endParaRPr/>
          </a:p>
        </p:txBody>
      </p:sp>
      <p:sp>
        <p:nvSpPr>
          <p:cNvPr id="645" name=""/>
          <p:cNvSpPr/>
          <p:nvPr/>
        </p:nvSpPr>
        <p:spPr>
          <a:xfrm rot="0" flipH="0" flipV="0">
            <a:off x="7543800" y="4381500"/>
            <a:ext cx="57150" cy="57150"/>
          </a:xfrm>
          <a:prstGeom prst="roundRect">
            <a:avLst>
              <a:gd name="adj" fmla="val 50000"/>
            </a:avLst>
          </a:prstGeom>
          <a:solidFill>
            <a:srgbClr val="3D7BD9"/>
          </a:solidFill>
          <a:ln/>
        </p:spPr>
        <p:txBody>
          <a:bodyPr/>
          <a:p/>
        </p:txBody>
      </p:sp>
      <p:sp>
        <p:nvSpPr>
          <p:cNvPr id="646" name="" descr="{&quot;isTemplate&quot;:true,&quot;type&quot;:&quot;text&quot;}"/>
          <p:cNvSpPr txBox="1"/>
          <p:nvPr/>
        </p:nvSpPr>
        <p:spPr>
          <a:xfrm rot="0" flipH="0" flipV="0">
            <a:off x="7696200" y="4324350"/>
            <a:ext cx="2209800" cy="171450"/>
          </a:xfrm>
          <a:prstGeom prst="rect"/>
        </p:spPr>
        <p:txBody>
          <a:bodyPr wrap="none" lIns="0" tIns="0" rIns="0" bIns="0"/>
          <a:p>
            <a:pPr>
              <a:lnSpc>
                <a:spcPct val="100000"/>
              </a:lnSpc>
            </a:pPr>
            <a:r>
              <a:rPr lang="en-US" sz="1088">
                <a:solidFill>
                  <a:srgbClr val="C5D4EA"/>
                </a:solidFill>
                <a:latin typeface="Microsoft YaHei"/>
                <a:ea typeface="Microsoft YaHei"/>
              </a:rPr>
              <a:t>Attributes that turn out to be classes</a:t>
            </a:r>
            <a:endParaRPr/>
          </a:p>
        </p:txBody>
      </p:sp>
      <p:sp>
        <p:nvSpPr>
          <p:cNvPr id="647" name=""/>
          <p:cNvSpPr/>
          <p:nvPr/>
        </p:nvSpPr>
        <p:spPr>
          <a:xfrm rot="0" flipH="0" flipV="0">
            <a:off x="7543800" y="4629150"/>
            <a:ext cx="57150" cy="57150"/>
          </a:xfrm>
          <a:prstGeom prst="roundRect">
            <a:avLst>
              <a:gd name="adj" fmla="val 50000"/>
            </a:avLst>
          </a:prstGeom>
          <a:solidFill>
            <a:srgbClr val="3D7BD9"/>
          </a:solidFill>
          <a:ln/>
        </p:spPr>
        <p:txBody>
          <a:bodyPr/>
          <a:p/>
        </p:txBody>
      </p:sp>
      <p:sp>
        <p:nvSpPr>
          <p:cNvPr id="648" name="" descr="{&quot;isTemplate&quot;:true,&quot;type&quot;:&quot;text&quot;}"/>
          <p:cNvSpPr txBox="1"/>
          <p:nvPr/>
        </p:nvSpPr>
        <p:spPr>
          <a:xfrm rot="0" flipH="0" flipV="0">
            <a:off x="7696200" y="4572000"/>
            <a:ext cx="3048000" cy="171450"/>
          </a:xfrm>
          <a:prstGeom prst="rect"/>
        </p:spPr>
        <p:txBody>
          <a:bodyPr wrap="none" lIns="0" tIns="0" rIns="0" bIns="0"/>
          <a:p>
            <a:pPr>
              <a:lnSpc>
                <a:spcPct val="100000"/>
              </a:lnSpc>
            </a:pPr>
            <a:r>
              <a:rPr lang="en-US" sz="1088">
                <a:solidFill>
                  <a:srgbClr val="C5D4EA"/>
                </a:solidFill>
                <a:latin typeface="Microsoft YaHei"/>
                <a:ea typeface="Microsoft YaHei"/>
              </a:rPr>
              <a:t>The M1 client review happens in this week’s class</a:t>
            </a:r>
            <a:endParaRPr/>
          </a:p>
        </p:txBody>
      </p:sp>
      <p:sp>
        <p:nvSpPr>
          <p:cNvPr id="649" name=""/>
          <p:cNvSpPr/>
          <p:nvPr/>
        </p:nvSpPr>
        <p:spPr>
          <a:xfrm rot="0" flipH="0" flipV="0">
            <a:off x="7543800" y="4953000"/>
            <a:ext cx="4057650" cy="866775"/>
          </a:xfrm>
          <a:custGeom>
            <a:pathLst>
              <a:path w="426" h="91">
                <a:moveTo>
                  <a:pt x="0" y="0"/>
                </a:moveTo>
                <a:lnTo>
                  <a:pt x="426" y="0"/>
                </a:lnTo>
                <a:lnTo>
                  <a:pt x="426" y="1"/>
                </a:lnTo>
                <a:lnTo>
                  <a:pt x="0" y="1"/>
                </a:lnTo>
                <a:close/>
              </a:path>
            </a:pathLst>
          </a:custGeom>
          <a:solidFill>
            <a:srgbClr val="2B5793"/>
          </a:solidFill>
          <a:ln/>
        </p:spPr>
        <p:txBody>
          <a:bodyPr/>
          <a:p/>
        </p:txBody>
      </p:sp>
      <p:sp>
        <p:nvSpPr>
          <p:cNvPr id="650" name="" descr="{&quot;isTemplate&quot;:true,&quot;type&quot;:&quot;text&quot;}"/>
          <p:cNvSpPr txBox="1"/>
          <p:nvPr/>
        </p:nvSpPr>
        <p:spPr>
          <a:xfrm rot="0" flipH="0" flipV="0">
            <a:off x="7543800" y="5095875"/>
            <a:ext cx="4057650" cy="152400"/>
          </a:xfrm>
          <a:prstGeom prst="rect"/>
        </p:spPr>
        <p:txBody>
          <a:bodyPr wrap="none" lIns="0" tIns="0" rIns="0" bIns="0"/>
          <a:p>
            <a:pPr>
              <a:lnSpc>
                <a:spcPct val="100000"/>
              </a:lnSpc>
            </a:pPr>
            <a:r>
              <a:rPr lang="en-US" sz="975" spc="75">
                <a:solidFill>
                  <a:srgbClr val="7FA2D6"/>
                </a:solidFill>
                <a:latin typeface="Microsoft YaHei"/>
                <a:ea typeface="Microsoft YaHei"/>
              </a:rPr>
              <a:t>REMINDER</a:t>
            </a:r>
            <a:endParaRPr/>
          </a:p>
        </p:txBody>
      </p:sp>
      <p:sp>
        <p:nvSpPr>
          <p:cNvPr id="651" name="" descr="{&quot;isTemplate&quot;:true,&quot;type&quot;:&quot;text&quot;}"/>
          <p:cNvSpPr txBox="1"/>
          <p:nvPr/>
        </p:nvSpPr>
        <p:spPr>
          <a:xfrm rot="0" flipH="0" flipV="0">
            <a:off x="7543800" y="5305425"/>
            <a:ext cx="4057650" cy="504825"/>
          </a:xfrm>
          <a:prstGeom prst="rect"/>
        </p:spPr>
        <p:txBody>
          <a:bodyPr wrap="square" lIns="0" tIns="0" rIns="0" bIns="0">
            <a:normAutofit/>
          </a:bodyPr>
          <a:p>
            <a:pPr>
              <a:lnSpc>
                <a:spcPct val="150000"/>
              </a:lnSpc>
            </a:pPr>
            <a:r>
              <a:rPr lang="en-US" sz="1088">
                <a:solidFill>
                  <a:srgbClr val="FFFFFF"/>
                </a:solidFill>
                <a:latin typeface="Microsoft YaHei"/>
                <a:ea typeface="Microsoft YaHei"/>
              </a:rPr>
              <a:t>The instructor plays the client. Bring your questions from the M1 review.</a:t>
            </a:r>
            <a:endParaRPr/>
          </a:p>
        </p:txBody>
      </p:sp>
      <p:sp>
        <p:nvSpPr>
          <p:cNvPr id="652" name=""/>
          <p:cNvSpPr/>
          <p:nvPr/>
        </p:nvSpPr>
        <p:spPr>
          <a:xfrm rot="0" flipH="0" flipV="0">
            <a:off x="0" y="6419850"/>
            <a:ext cx="12192000" cy="438150"/>
          </a:xfrm>
          <a:prstGeom prst="rect">
            <a:avLst/>
          </a:prstGeom>
          <a:solidFill>
            <a:srgbClr val="0E3F8C"/>
          </a:solidFill>
          <a:ln/>
        </p:spPr>
        <p:txBody>
          <a:bodyPr/>
          <a:p/>
        </p:txBody>
      </p:sp>
      <p:sp>
        <p:nvSpPr>
          <p:cNvPr id="653" name="" descr="{&quot;isTemplate&quot;:true,&quot;type&quot;:&quot;text&quot;}"/>
          <p:cNvSpPr txBox="1"/>
          <p:nvPr/>
        </p:nvSpPr>
        <p:spPr>
          <a:xfrm rot="0" flipH="0" flipV="0">
            <a:off x="2333625" y="6543675"/>
            <a:ext cx="7534275" cy="190500"/>
          </a:xfrm>
          <a:prstGeom prst="rect"/>
        </p:spPr>
        <p:txBody>
          <a:bodyPr wrap="none" lIns="0" tIns="0" rIns="0" bIns="0"/>
          <a:p>
            <a:pPr>
              <a:lnSpc>
                <a:spcPct val="100000"/>
              </a:lnSpc>
            </a:pPr>
            <a:r>
              <a:rPr lang="en-US" sz="1238" b="1">
                <a:solidFill>
                  <a:srgbClr val="FFFFFF"/>
                </a:solidFill>
                <a:latin typeface="Microsoft YaHei"/>
                <a:ea typeface="Microsoft YaHei"/>
              </a:rPr>
              <a:t>Finish the model, answer the change, and bring your questions — next week the client is in the room</a:t>
            </a:r>
            <a:endParaRPr/>
          </a:p>
        </p:txBody>
      </p:sp>
    </p:spTree>
  </p:cSld>
</p:sld>
</file>

<file path=ppt/slides/slide37.xml><?xml version="1.0" encoding="utf-8"?>
<p:sld xmlns:a16="http://schemas.microsoft.com/office/drawing/2014/main" xmlns:p="http://schemas.openxmlformats.org/presentationml/2006/main" xmlns:a="http://schemas.openxmlformats.org/drawingml/2006/main" xmlns:mc="http://schemas.openxmlformats.org/markup-compatibility/2006" mc:Ignorable="a16">
  <p:cSld>
    <p:spTree>
      <p:nvGrpSpPr>
        <p:cNvPr id="654"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6 · WRAP-UP&lt;/Text&gt;&#10;  &lt;/Box&gt;&#10;  &lt;Box style={{ padding: '13px 40px 0 40px', flexDirection: 'row', alignItems: 'center', justifyContent: 'space-between' }}&gt;&#10;    &lt;Text style={{ fontSize: 29, fontWeight: 'bold', color: '#0E3F8C' }}&gt;Five Things To Take Home&lt;/Text&gt;&#10;    &lt;Text style={{ fontSize: 14, color: '#1E4FA8', fontWeight: 'bold' }}&gt;37 / 39&lt;/Text&gt;&#10;  &lt;/Box&gt;&#10;  &lt;Box style={{ flex: 1, padding: '10px 40px 0 40px' }}&gt;&#10;    &lt;Table&#10;      style={{ width: '100%', height: '100%' }}&#10;      defaultTextStyle={{ fontSize: 14, textAlign: 'left', color: '#1A2230' }}&#10;      defaultCellStyle={{&#10;        border: {&#10;          left: { width: 1, color: '#E5E7EB' },&#10;          right: { width: 1, color: '#E5E7EB' },&#10;          top: { width: 1, color: '#E5E7EB' },&#10;          bottom: { width: 1, color: '#E5E7EB' },&#10;        },&#10;      }}&#10;      cells={[&#10;        [&#10;          { text: '#', textStyle: { bold: true, color: '#FFFFFF', fontSize: 15 }, cellStyle: { background: { color: '#0E3F8C' } } },&#10;          { text: 'The sentence', textStyle: { bold: true, color: '#FFFFFF', fontSize: 15 }, cellStyle: { background: { color: '#1E4FA8' } } },&#10;          { text: 'Why it is the one to remember', textStyle: { bold: true, color: '#FFFFFF', fontSize: 15 }, cellStyle: { background: { color: '#2B5793' } } },&#10;        ],&#10;        [&#10;          { text: '01', textStyle: { bold: true, color: '#0E3F8C', fontSize: 16 }, cellStyle: { background: { color: '#F7F9FC' } } },&#10;          { text: 'If you can point at it, it is a class.', textStyle: { bold: true, color: '#1A2230' }, cellStyle: { background: { color: '#F7F9FC' } } },&#10;          { text: 'It settles in one sentence most arguments that otherwise take ten minutes.', textStyle: { color: '#4A5568' }, cellStyle: { background: { color: '#F7F9FC' } } },&#10;        ],&#10;        [&#10;          { text: '02', textStyle: { bold: true, color: '#0E3F8C', fontSize: 16 } },&#10;          { text: 'A class with no sentence behind it is a guess.', textStyle: { bold: true, color: '#1A2230' } },&#10;          { text: 'Guesses become tables you cannot change. Traceability is the discipline.', textStyle: { color: '#4A5568' } },&#10;        ],&#10;        [&#10;          { text: '03', textStyle: { bold: true, color: '#0E3F8C', fontSize: 16 }, cellStyle: { background: { color: '#F7F9FC' } } },&#10;          { text: 'Entity, Boundary, Control — one kind each, no exceptions.', textStyle: { bold: true, color: '#1A2230' }, cellStyle: { background: { color: '#F7F9FC' } } },&#10;          { text: 'A box you cannot classify is a box whose responsibility nobody agreed on.', textStyle: { color: '#4A5568' }, cellStyle: { background: { color: '#F7F9FC' } } },&#10;        ],&#10;        [&#10;          { text: '04', textStyle: { bold: true, color: '#0E3F8C', fontSize: 16 } },&#10;          { text: 'If it would survive a language change, it belongs in this model.', textStyle: { bold: true, color: '#1A2230' } },&#10;          { text: 'Service, Manager, DTO and Table are W10 words arriving two weeks early.', textStyle: { color: '#4A5568' } },&#10;        ],&#10;        [&#10;          { text: '05', textStyle: { bold: true, color: '#0E3F8C', fontSize: 16 }, cellStyle: { background: { color: '#F7F9FC' } } },&#10;          { text: 'The words you throw away matter as much as the ones you keep.', textStyle: { bold: true, color: '#1A2230' }, cellStyle: { background: { color: '#F7F9FC' } } },&#10;          { text: 'Discarding server, service and table is how you know where the boundary is.', textStyle: { color: '#4A5568' }, cellStyle: { background: { color: '#F7F9FC' } } },&#10;        ],&#10;      ]}&#10;    /&gt;&#10;  &lt;/Box&gt;&#10;  &lt;Box style={{ height: 46, background: '#0E3F8C', padding: '0 40px', flexDirection: 'row', alignItems: 'center', justifyContent: 'center' }}&gt;&#10;    &lt;Text style={{ fontSize: 16.5, color: '#FFFFFF', fontWeight: '600' }}&gt;If you remember only one of these, make it 01. It is the question that ends the argument.&lt;/Text&gt;&#10;  &lt;/Box&gt;&#10;&lt;/Slide&gt;&#10;"/>
        <p:cNvGrpSpPr/>
        <p:nvPr/>
      </p:nvGrpSpPr>
      <p:grpSpPr>
        <a:xfrm>
          <a:off x="0" y="0"/>
          <a:ext cx="0" cy="0"/>
          <a:chOff x="0" y="0"/>
          <a:chExt cx="0" cy="0"/>
        </a:xfrm>
      </p:grpSpPr>
      <p:sp>
        <p:nvSpPr>
          <p:cNvPr id="655" name=""/>
          <p:cNvSpPr/>
          <p:nvPr/>
        </p:nvSpPr>
        <p:spPr>
          <a:xfrm rot="0" flipH="0" flipV="0">
            <a:off x="0" y="0"/>
            <a:ext cx="12192000" cy="6858000"/>
          </a:xfrm>
          <a:prstGeom prst="rect">
            <a:avLst/>
          </a:prstGeom>
          <a:solidFill>
            <a:srgbClr val="FFFFFF"/>
          </a:solidFill>
          <a:ln/>
        </p:spPr>
        <p:txBody>
          <a:bodyPr/>
          <a:p/>
        </p:txBody>
      </p:sp>
      <p:sp>
        <p:nvSpPr>
          <p:cNvPr id="656" name=""/>
          <p:cNvSpPr/>
          <p:nvPr/>
        </p:nvSpPr>
        <p:spPr>
          <a:xfrm rot="0" flipH="0" flipV="0">
            <a:off x="0" y="0"/>
            <a:ext cx="12192000" cy="685800"/>
          </a:xfrm>
          <a:prstGeom prst="rect">
            <a:avLst/>
          </a:prstGeom>
          <a:solidFill>
            <a:srgbClr val="1E4FA8"/>
          </a:solidFill>
          <a:ln/>
        </p:spPr>
        <p:txBody>
          <a:bodyPr/>
          <a:p/>
        </p:txBody>
      </p:sp>
      <p:sp>
        <p:nvSpPr>
          <p:cNvPr id="657"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658" name="" descr="{&quot;isTemplate&quot;:true,&quot;type&quot;:&quot;text&quot;}"/>
          <p:cNvSpPr txBox="1"/>
          <p:nvPr/>
        </p:nvSpPr>
        <p:spPr>
          <a:xfrm rot="0" flipH="0" flipV="0">
            <a:off x="10706100" y="257175"/>
            <a:ext cx="1104900" cy="171450"/>
          </a:xfrm>
          <a:prstGeom prst="rect"/>
        </p:spPr>
        <p:txBody>
          <a:bodyPr wrap="none" lIns="0" tIns="0" rIns="0" bIns="0"/>
          <a:p>
            <a:pPr>
              <a:lnSpc>
                <a:spcPct val="100000"/>
              </a:lnSpc>
            </a:pPr>
            <a:r>
              <a:rPr lang="en-US" sz="1125">
                <a:solidFill>
                  <a:srgbClr val="B9CDF0"/>
                </a:solidFill>
                <a:latin typeface="Microsoft YaHei"/>
                <a:ea typeface="Microsoft YaHei"/>
              </a:rPr>
              <a:t>W06 · WRAP-UP</a:t>
            </a:r>
            <a:endParaRPr/>
          </a:p>
        </p:txBody>
      </p:sp>
      <p:sp>
        <p:nvSpPr>
          <p:cNvPr id="659" name="" descr="{&quot;isTemplate&quot;:true,&quot;type&quot;:&quot;text&quot;}"/>
          <p:cNvSpPr txBox="1"/>
          <p:nvPr/>
        </p:nvSpPr>
        <p:spPr>
          <a:xfrm rot="0" flipH="0" flipV="0">
            <a:off x="381000" y="809625"/>
            <a:ext cx="3467100" cy="333375"/>
          </a:xfrm>
          <a:prstGeom prst="rect"/>
        </p:spPr>
        <p:txBody>
          <a:bodyPr wrap="none" lIns="0" tIns="0" rIns="0" bIns="0"/>
          <a:p>
            <a:pPr>
              <a:lnSpc>
                <a:spcPct val="100000"/>
              </a:lnSpc>
            </a:pPr>
            <a:r>
              <a:rPr lang="en-US" sz="2175" b="1">
                <a:solidFill>
                  <a:srgbClr val="0E3F8C"/>
                </a:solidFill>
                <a:latin typeface="Microsoft YaHei"/>
                <a:ea typeface="Microsoft YaHei"/>
              </a:rPr>
              <a:t>Five Things To Take Home</a:t>
            </a:r>
            <a:endParaRPr/>
          </a:p>
        </p:txBody>
      </p:sp>
      <p:sp>
        <p:nvSpPr>
          <p:cNvPr id="660"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37 / 39</a:t>
            </a:r>
            <a:endParaRPr/>
          </a:p>
        </p:txBody>
      </p:sp>
      <p:graphicFrame>
        <p:nvGraphicFramePr>
          <p:cNvPr id="661" name=""/>
          <p:cNvGraphicFramePr/>
          <p:nvPr/>
        </p:nvGraphicFramePr>
        <p:xfrm rot="0" flipH="0" flipV="0">
          <a:off x="381000" y="1238250"/>
          <a:ext cx="11430000" cy="5181600"/>
        </p:xfrm>
        <a:graphic>
          <a:graphicData uri="http://schemas.openxmlformats.org/drawingml/2006/table">
            <a:tbl>
              <a:tblGrid>
                <a:gridCol w="329712">
                  <a:extLst>
                    <a:ext uri="{9D8B030D-6E8A-4147-A177-3AD203B41FA5}">
                      <a16:colId val="1"/>
                    </a:ext>
                  </a:extLst>
                </a:gridCol>
                <a:gridCol w="5323169">
                  <a:extLst>
                    <a:ext uri="{9D8B030D-6E8A-4147-A177-3AD203B41FA5}">
                      <a16:colId val="2"/>
                    </a:ext>
                  </a:extLst>
                </a:gridCol>
                <a:gridCol w="5777120">
                  <a:extLst>
                    <a:ext uri="{9D8B030D-6E8A-4147-A177-3AD203B41FA5}">
                      <a16:colId val="3"/>
                    </a:ext>
                  </a:extLst>
                </a:gridCol>
              </a:tblGrid>
              <a:tr h="820333">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a:t>
                      </a:r>
                      <a:endParaRPr/>
                    </a:p>
                  </a:txBody>
                  <a:tcPr marL="45720" marR="45720" marT="45720" marB="45720" anchor="ctr">
                    <a:lnL>
                      <a:noFill/>
                    </a:lnL>
                    <a:lnR>
                      <a:noFill/>
                    </a:lnR>
                    <a:lnT>
                      <a:noFill/>
                    </a:lnT>
                    <a:lnB>
                      <a:noFill/>
                    </a:lnB>
                    <a:solidFill>
                      <a:srgbClr val="0E3F8C"/>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The sentence</a:t>
                      </a:r>
                      <a:endParaRPr/>
                    </a:p>
                  </a:txBody>
                  <a:tcPr marL="45720" marR="45720" marT="45720" marB="45720" anchor="ctr">
                    <a:lnL>
                      <a:noFill/>
                    </a:lnL>
                    <a:lnR>
                      <a:noFill/>
                    </a:lnR>
                    <a:lnT>
                      <a:noFill/>
                    </a:lnT>
                    <a:lnB>
                      <a:noFill/>
                    </a:lnB>
                    <a:solidFill>
                      <a:srgbClr val="1E4FA8"/>
                    </a:solidFill>
                  </a:tcPr>
                </a:tc>
                <a:tc>
                  <a:txBody>
                    <a:bodyPr wrap="square" lIns="0" tIns="0" rIns="0" bIns="0" anchor="ctr">
                      <a:normAutofit/>
                    </a:bodyPr>
                    <a:p>
                      <a:pPr marL="114300" marR="114300" algn="l">
                        <a:lnSpc>
                          <a:spcPct val="120000"/>
                        </a:lnSpc>
                      </a:pPr>
                      <a:r>
                        <a:rPr sz="1125" b="1">
                          <a:solidFill>
                            <a:srgbClr val="FFFFFF"/>
                          </a:solidFill>
                          <a:latin typeface="Microsoft YaHei"/>
                          <a:ea typeface="Microsoft YaHei"/>
                        </a:rPr>
                        <a:t>Why it is the one to remember</a:t>
                      </a:r>
                      <a:endParaRPr/>
                    </a:p>
                  </a:txBody>
                  <a:tcPr marL="45720" marR="45720" marT="45720" marB="45720" anchor="ctr">
                    <a:lnL>
                      <a:noFill/>
                    </a:lnL>
                    <a:lnR>
                      <a:noFill/>
                    </a:lnR>
                    <a:lnT>
                      <a:noFill/>
                    </a:lnT>
                    <a:lnB>
                      <a:noFill/>
                    </a:lnB>
                    <a:solidFill>
                      <a:srgbClr val="2B5793"/>
                    </a:solidFill>
                  </a:tcPr>
                </a:tc>
                <a:extLst>
                  <a:ext uri="{0D108BD9-81ED-4DB2-BD59-A6C34878D82A}">
                    <a16:rowId val="1"/>
                  </a:ext>
                </a:extLst>
              </a:tr>
              <a:tr h="872253">
                <a:tc>
                  <a:txBody>
                    <a:bodyPr wrap="square" lIns="0" tIns="0" rIns="0" bIns="0" anchor="ctr">
                      <a:normAutofit/>
                    </a:bodyPr>
                    <a:p>
                      <a:pPr marL="114300" marR="114300" algn="l">
                        <a:lnSpc>
                          <a:spcPct val="120000"/>
                        </a:lnSpc>
                      </a:pPr>
                      <a:r>
                        <a:rPr sz="1200" b="1">
                          <a:solidFill>
                            <a:srgbClr val="0E3F8C"/>
                          </a:solidFill>
                          <a:latin typeface="Microsoft YaHei"/>
                          <a:ea typeface="Microsoft YaHei"/>
                        </a:rPr>
                        <a:t>01</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50" b="1">
                          <a:solidFill>
                            <a:srgbClr val="1A2230"/>
                          </a:solidFill>
                          <a:latin typeface="Microsoft YaHei"/>
                          <a:ea typeface="Microsoft YaHei"/>
                        </a:rPr>
                        <a:t>If you can point at it, it is a class.</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50">
                          <a:solidFill>
                            <a:srgbClr val="4A5568"/>
                          </a:solidFill>
                          <a:latin typeface="Microsoft YaHei"/>
                          <a:ea typeface="Microsoft YaHei"/>
                        </a:rPr>
                        <a:t>It settles in one sentence most arguments that otherwise take ten minutes.</a:t>
                      </a:r>
                      <a:endParaRPr/>
                    </a:p>
                  </a:txBody>
                  <a:tcPr marL="45720" marR="45720" marT="45720" marB="45720" anchor="ctr">
                    <a:lnL>
                      <a:noFill/>
                    </a:lnL>
                    <a:lnR>
                      <a:noFill/>
                    </a:lnR>
                    <a:lnT>
                      <a:noFill/>
                    </a:lnT>
                    <a:lnB>
                      <a:noFill/>
                    </a:lnB>
                    <a:solidFill>
                      <a:srgbClr val="F7F9FC"/>
                    </a:solidFill>
                  </a:tcPr>
                </a:tc>
                <a:extLst>
                  <a:ext uri="{0D108BD9-81ED-4DB2-BD59-A6C34878D82A}">
                    <a16:rowId val="2"/>
                  </a:ext>
                </a:extLst>
              </a:tr>
              <a:tr h="872253">
                <a:tc>
                  <a:txBody>
                    <a:bodyPr wrap="square" lIns="0" tIns="0" rIns="0" bIns="0" anchor="ctr">
                      <a:normAutofit/>
                    </a:bodyPr>
                    <a:p>
                      <a:pPr marL="114300" marR="114300" algn="l">
                        <a:lnSpc>
                          <a:spcPct val="120000"/>
                        </a:lnSpc>
                      </a:pPr>
                      <a:r>
                        <a:rPr sz="1200" b="1">
                          <a:solidFill>
                            <a:srgbClr val="0E3F8C"/>
                          </a:solidFill>
                          <a:latin typeface="Microsoft YaHei"/>
                          <a:ea typeface="Microsoft YaHei"/>
                        </a:rPr>
                        <a:t>02</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50" b="1">
                          <a:solidFill>
                            <a:srgbClr val="1A2230"/>
                          </a:solidFill>
                          <a:latin typeface="Microsoft YaHei"/>
                          <a:ea typeface="Microsoft YaHei"/>
                        </a:rPr>
                        <a:t>A class with no sentence behind it is a guess.</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50">
                          <a:solidFill>
                            <a:srgbClr val="4A5568"/>
                          </a:solidFill>
                          <a:latin typeface="Microsoft YaHei"/>
                          <a:ea typeface="Microsoft YaHei"/>
                        </a:rPr>
                        <a:t>Guesses become tables you cannot change. Traceability is the discipline.</a:t>
                      </a:r>
                      <a:endParaRPr/>
                    </a:p>
                  </a:txBody>
                  <a:tcPr marL="45720" marR="45720" marT="45720" marB="45720" anchor="ctr">
                    <a:lnL>
                      <a:noFill/>
                    </a:lnL>
                    <a:lnR>
                      <a:noFill/>
                    </a:lnR>
                    <a:lnT>
                      <a:noFill/>
                    </a:lnT>
                    <a:lnB>
                      <a:noFill/>
                    </a:lnB>
                  </a:tcPr>
                </a:tc>
                <a:extLst>
                  <a:ext uri="{0D108BD9-81ED-4DB2-BD59-A6C34878D82A}">
                    <a16:rowId val="3"/>
                  </a:ext>
                </a:extLst>
              </a:tr>
              <a:tr h="872253">
                <a:tc>
                  <a:txBody>
                    <a:bodyPr wrap="square" lIns="0" tIns="0" rIns="0" bIns="0" anchor="ctr">
                      <a:normAutofit/>
                    </a:bodyPr>
                    <a:p>
                      <a:pPr marL="114300" marR="114300" algn="l">
                        <a:lnSpc>
                          <a:spcPct val="120000"/>
                        </a:lnSpc>
                      </a:pPr>
                      <a:r>
                        <a:rPr sz="1200" b="1">
                          <a:solidFill>
                            <a:srgbClr val="0E3F8C"/>
                          </a:solidFill>
                          <a:latin typeface="Microsoft YaHei"/>
                          <a:ea typeface="Microsoft YaHei"/>
                        </a:rPr>
                        <a:t>03</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50" b="1">
                          <a:solidFill>
                            <a:srgbClr val="1A2230"/>
                          </a:solidFill>
                          <a:latin typeface="Microsoft YaHei"/>
                          <a:ea typeface="Microsoft YaHei"/>
                        </a:rPr>
                        <a:t>Entity, Boundary, Control — one kind each, no exceptions.</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50">
                          <a:solidFill>
                            <a:srgbClr val="4A5568"/>
                          </a:solidFill>
                          <a:latin typeface="Microsoft YaHei"/>
                          <a:ea typeface="Microsoft YaHei"/>
                        </a:rPr>
                        <a:t>A box you cannot classify is a box whose responsibility nobody agreed on.</a:t>
                      </a:r>
                      <a:endParaRPr/>
                    </a:p>
                  </a:txBody>
                  <a:tcPr marL="45720" marR="45720" marT="45720" marB="45720" anchor="ctr">
                    <a:lnL>
                      <a:noFill/>
                    </a:lnL>
                    <a:lnR>
                      <a:noFill/>
                    </a:lnR>
                    <a:lnT>
                      <a:noFill/>
                    </a:lnT>
                    <a:lnB>
                      <a:noFill/>
                    </a:lnB>
                    <a:solidFill>
                      <a:srgbClr val="F7F9FC"/>
                    </a:solidFill>
                  </a:tcPr>
                </a:tc>
                <a:extLst>
                  <a:ext uri="{0D108BD9-81ED-4DB2-BD59-A6C34878D82A}">
                    <a16:rowId val="4"/>
                  </a:ext>
                </a:extLst>
              </a:tr>
              <a:tr h="872253">
                <a:tc>
                  <a:txBody>
                    <a:bodyPr wrap="square" lIns="0" tIns="0" rIns="0" bIns="0" anchor="ctr">
                      <a:normAutofit/>
                    </a:bodyPr>
                    <a:p>
                      <a:pPr marL="114300" marR="114300" algn="l">
                        <a:lnSpc>
                          <a:spcPct val="120000"/>
                        </a:lnSpc>
                      </a:pPr>
                      <a:r>
                        <a:rPr sz="1200" b="1">
                          <a:solidFill>
                            <a:srgbClr val="0E3F8C"/>
                          </a:solidFill>
                          <a:latin typeface="Microsoft YaHei"/>
                          <a:ea typeface="Microsoft YaHei"/>
                        </a:rPr>
                        <a:t>04</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50" b="1">
                          <a:solidFill>
                            <a:srgbClr val="1A2230"/>
                          </a:solidFill>
                          <a:latin typeface="Microsoft YaHei"/>
                          <a:ea typeface="Microsoft YaHei"/>
                        </a:rPr>
                        <a:t>If it would survive a language change, it belongs in this model.</a:t>
                      </a:r>
                      <a:endParaRPr/>
                    </a:p>
                  </a:txBody>
                  <a:tcPr marL="45720" marR="45720" marT="45720" marB="45720" anchor="ctr">
                    <a:lnL>
                      <a:noFill/>
                    </a:lnL>
                    <a:lnR>
                      <a:noFill/>
                    </a:lnR>
                    <a:lnT>
                      <a:noFill/>
                    </a:lnT>
                    <a:lnB>
                      <a:noFill/>
                    </a:lnB>
                  </a:tcPr>
                </a:tc>
                <a:tc>
                  <a:txBody>
                    <a:bodyPr wrap="square" lIns="0" tIns="0" rIns="0" bIns="0" anchor="ctr">
                      <a:normAutofit/>
                    </a:bodyPr>
                    <a:p>
                      <a:pPr marL="114300" marR="114300" algn="l">
                        <a:lnSpc>
                          <a:spcPct val="120000"/>
                        </a:lnSpc>
                      </a:pPr>
                      <a:r>
                        <a:rPr sz="1050">
                          <a:solidFill>
                            <a:srgbClr val="4A5568"/>
                          </a:solidFill>
                          <a:latin typeface="Microsoft YaHei"/>
                          <a:ea typeface="Microsoft YaHei"/>
                        </a:rPr>
                        <a:t>Service, Manager, DTO and Table are W10 words arriving two weeks early.</a:t>
                      </a:r>
                      <a:endParaRPr/>
                    </a:p>
                  </a:txBody>
                  <a:tcPr marL="45720" marR="45720" marT="45720" marB="45720" anchor="ctr">
                    <a:lnL>
                      <a:noFill/>
                    </a:lnL>
                    <a:lnR>
                      <a:noFill/>
                    </a:lnR>
                    <a:lnT>
                      <a:noFill/>
                    </a:lnT>
                    <a:lnB>
                      <a:noFill/>
                    </a:lnB>
                  </a:tcPr>
                </a:tc>
                <a:extLst>
                  <a:ext uri="{0D108BD9-81ED-4DB2-BD59-A6C34878D82A}">
                    <a16:rowId val="5"/>
                  </a:ext>
                </a:extLst>
              </a:tr>
              <a:tr h="872253">
                <a:tc>
                  <a:txBody>
                    <a:bodyPr wrap="square" lIns="0" tIns="0" rIns="0" bIns="0" anchor="ctr">
                      <a:normAutofit/>
                    </a:bodyPr>
                    <a:p>
                      <a:pPr marL="114300" marR="114300" algn="l">
                        <a:lnSpc>
                          <a:spcPct val="120000"/>
                        </a:lnSpc>
                      </a:pPr>
                      <a:r>
                        <a:rPr sz="1200" b="1">
                          <a:solidFill>
                            <a:srgbClr val="0E3F8C"/>
                          </a:solidFill>
                          <a:latin typeface="Microsoft YaHei"/>
                          <a:ea typeface="Microsoft YaHei"/>
                        </a:rPr>
                        <a:t>05</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50" b="1">
                          <a:solidFill>
                            <a:srgbClr val="1A2230"/>
                          </a:solidFill>
                          <a:latin typeface="Microsoft YaHei"/>
                          <a:ea typeface="Microsoft YaHei"/>
                        </a:rPr>
                        <a:t>The words you throw away matter as much as the ones you keep.</a:t>
                      </a:r>
                      <a:endParaRPr/>
                    </a:p>
                  </a:txBody>
                  <a:tcPr marL="45720" marR="45720" marT="45720" marB="45720" anchor="ctr">
                    <a:lnL>
                      <a:noFill/>
                    </a:lnL>
                    <a:lnR>
                      <a:noFill/>
                    </a:lnR>
                    <a:lnT>
                      <a:noFill/>
                    </a:lnT>
                    <a:lnB>
                      <a:noFill/>
                    </a:lnB>
                    <a:solidFill>
                      <a:srgbClr val="F7F9FC"/>
                    </a:solidFill>
                  </a:tcPr>
                </a:tc>
                <a:tc>
                  <a:txBody>
                    <a:bodyPr wrap="square" lIns="0" tIns="0" rIns="0" bIns="0" anchor="ctr">
                      <a:normAutofit/>
                    </a:bodyPr>
                    <a:p>
                      <a:pPr marL="114300" marR="114300" algn="l">
                        <a:lnSpc>
                          <a:spcPct val="120000"/>
                        </a:lnSpc>
                      </a:pPr>
                      <a:r>
                        <a:rPr sz="1050">
                          <a:solidFill>
                            <a:srgbClr val="4A5568"/>
                          </a:solidFill>
                          <a:latin typeface="Microsoft YaHei"/>
                          <a:ea typeface="Microsoft YaHei"/>
                        </a:rPr>
                        <a:t>Discarding server, service and table is how you know where the boundary is.</a:t>
                      </a:r>
                      <a:endParaRPr/>
                    </a:p>
                  </a:txBody>
                  <a:tcPr marL="45720" marR="45720" marT="45720" marB="45720" anchor="ctr">
                    <a:lnL>
                      <a:noFill/>
                    </a:lnL>
                    <a:lnR>
                      <a:noFill/>
                    </a:lnR>
                    <a:lnT>
                      <a:noFill/>
                    </a:lnT>
                    <a:lnB>
                      <a:noFill/>
                    </a:lnB>
                    <a:solidFill>
                      <a:srgbClr val="F7F9FC"/>
                    </a:solidFill>
                  </a:tcPr>
                </a:tc>
                <a:extLst>
                  <a:ext uri="{0D108BD9-81ED-4DB2-BD59-A6C34878D82A}">
                    <a16:rowId val="6"/>
                  </a:ext>
                </a:extLst>
              </a:tr>
            </a:tbl>
          </a:graphicData>
        </a:graphic>
      </p:graphicFrame>
      <p:sp>
        <p:nvSpPr>
          <p:cNvPr id="662" name=""/>
          <p:cNvSpPr/>
          <p:nvPr/>
        </p:nvSpPr>
        <p:spPr>
          <a:xfrm rot="0" flipH="0" flipV="0">
            <a:off x="0" y="6419850"/>
            <a:ext cx="12192000" cy="438150"/>
          </a:xfrm>
          <a:prstGeom prst="rect">
            <a:avLst/>
          </a:prstGeom>
          <a:solidFill>
            <a:srgbClr val="0E3F8C"/>
          </a:solidFill>
          <a:ln/>
        </p:spPr>
        <p:txBody>
          <a:bodyPr/>
          <a:p/>
        </p:txBody>
      </p:sp>
      <p:sp>
        <p:nvSpPr>
          <p:cNvPr id="663" name="" descr="{&quot;isTemplate&quot;:true,&quot;type&quot;:&quot;text&quot;}"/>
          <p:cNvSpPr txBox="1"/>
          <p:nvPr/>
        </p:nvSpPr>
        <p:spPr>
          <a:xfrm rot="0" flipH="0" flipV="0">
            <a:off x="2809875" y="6543675"/>
            <a:ext cx="6572250" cy="190500"/>
          </a:xfrm>
          <a:prstGeom prst="rect"/>
        </p:spPr>
        <p:txBody>
          <a:bodyPr wrap="none" lIns="0" tIns="0" rIns="0" bIns="0"/>
          <a:p>
            <a:pPr>
              <a:lnSpc>
                <a:spcPct val="100000"/>
              </a:lnSpc>
            </a:pPr>
            <a:r>
              <a:rPr lang="en-US" sz="1238" b="1">
                <a:solidFill>
                  <a:srgbClr val="FFFFFF"/>
                </a:solidFill>
                <a:latin typeface="Microsoft YaHei"/>
                <a:ea typeface="Microsoft YaHei"/>
              </a:rPr>
              <a:t>If you remember only one of these, make it 01. It is the question that ends the argument.</a:t>
            </a:r>
            <a:endParaRPr/>
          </a:p>
        </p:txBody>
      </p:sp>
    </p:spTree>
  </p:cSld>
</p:sld>
</file>

<file path=ppt/slides/slide38.xml><?xml version="1.0" encoding="utf-8"?>
<p:sld xmlns:p="http://schemas.openxmlformats.org/presentationml/2006/main" xmlns:a="http://schemas.openxmlformats.org/drawingml/2006/main">
  <p:cSld>
    <p:spTree>
      <p:nvGrpSpPr>
        <p:cNvPr id="664" name="" descr="&lt;Slide style={{ background: '#0E3F8C', padding: 0 }}&gt;&#10;  &lt;Box style={{ flexDirection: 'column', height: '100%', position: 'relative', padding: '0 80px', justifyContent: 'center' }}&gt;&#10;    &lt;Box style={{ position: 'absolute', top: 0, left: 0, right: 0, height: 8, background: '#1E4FA8' }} /&gt;&#10;    &lt;Text style={{ fontSize: 15, color: '#7FA2D6', letterSpacing: 2, marginBottom: 16 }}&gt;WEEK 06 · WHAT YOU TAKE AWAY, AND WHAT YOU LEAVE WITH&lt;/Text&gt;&#10;    &lt;Text style={{ fontSize: 44, fontWeight: 'bold', color: '#FFFFFF', fontFamily: 'Georgia, serif', lineHeight: 1.15 }}&gt;&#10;      Sentences become boxes.&#10;      &lt;br /&gt;&#10;      Boxes must survive Monday.&#10;    &lt;/Text&gt;&#10;    &lt;Box style={{ width: 88, height: 5, background: '#FFC107', marginTop: 24, marginBottom: 26 }} /&gt;&#10;    &lt;Box style={{ flexDirection: 'row', flexWrap: 'wrap', gap: '12px 28px', marginBottom: 30 }}&gt;&#10;      {[&#10;        '01 · Identity decides class vs. attribute',&#10;        '02 · Every class traces to one of your FR lines',&#10;        '03 · Eight classes is a floor, not a quota',&#10;        '04 · Entity, Boundary, Control — no fourth kind',&#10;        '05 · Associations today, multiplicities in W07',&#10;        '06 · Six open questions: decide one, model it, argue it',&#10;        '07 · M0 is due today — push, tag m0, read the output',&#10;      ].map((t) =&gt; (&#10;        &lt;Box key={t} style={{ flexDirection: 'row', alignItems: 'center', gap: 10, width: '48%' }}&gt;&#10;          &lt;Box style={{ width: 7, height: 7, borderRadius: 4, background: '#3D7BD9' }} /&gt;&#10;          &lt;Text style={{ fontSize: 15.5, color: '#C5D4EA' }}&gt;{t}&lt;/Text&gt;&#10;        &lt;/Box&gt;&#10;      ))}&#10;    &lt;/Box&gt;&#10;    &lt;Box style={{ borderTop: '1px solid #2B5793', paddingTop: 20, flexDirection: 'row', justifyContent: 'space-between', alignItems: 'center' }}&gt;&#10;      &lt;Box style={{ flex: 1 }}&gt;&#10;        &lt;Text style={{ fontSize: 14, color: '#7FA2D6', letterSpacing: 1, marginBottom: 6 }}&gt;NEXT WEEK — W07 · AND THE M1 CLIENT REVIEW&lt;/Text&gt;&#10;        &lt;Text style={{ fontSize: 19, color: '#FFFFFF', fontWeight: '600' }}&gt;&#10;          Domain Relationships — how many, and which end owns the whole&#10;        &lt;/Text&gt;&#10;      &lt;/Box&gt;&#10;      &lt;Box style={{ padding: '10px 22px', background: '#1E4FA8', borderRadius: 22 }}&gt;&#10;        &lt;Text style={{ fontSize: 15, color: '#FFFFFF', fontWeight: 'bold' }}&gt;Questions?&lt;/Text&gt;&#10;      &lt;/Box&gt;&#10;    &lt;/Box&gt;&#10;  &lt;/Box&gt;&#10;&lt;/Slide&gt;&#10;"/>
        <p:cNvGrpSpPr/>
        <p:nvPr/>
      </p:nvGrpSpPr>
      <p:grpSpPr>
        <a:xfrm>
          <a:off x="0" y="0"/>
          <a:ext cx="0" cy="0"/>
          <a:chOff x="0" y="0"/>
          <a:chExt cx="0" cy="0"/>
        </a:xfrm>
      </p:grpSpPr>
      <p:sp>
        <p:nvSpPr>
          <p:cNvPr id="665" name=""/>
          <p:cNvSpPr/>
          <p:nvPr/>
        </p:nvSpPr>
        <p:spPr>
          <a:xfrm rot="0" flipH="0" flipV="0">
            <a:off x="0" y="0"/>
            <a:ext cx="12192000" cy="6858000"/>
          </a:xfrm>
          <a:prstGeom prst="rect">
            <a:avLst/>
          </a:prstGeom>
          <a:solidFill>
            <a:srgbClr val="0E3F8C"/>
          </a:solidFill>
          <a:ln/>
        </p:spPr>
        <p:txBody>
          <a:bodyPr/>
          <a:p/>
        </p:txBody>
      </p:sp>
      <p:sp>
        <p:nvSpPr>
          <p:cNvPr id="666" name="" descr="{&quot;isTemplate&quot;:true,&quot;type&quot;:&quot;text&quot;}"/>
          <p:cNvSpPr txBox="1"/>
          <p:nvPr/>
        </p:nvSpPr>
        <p:spPr>
          <a:xfrm rot="0" flipH="0" flipV="0">
            <a:off x="762000" y="1428750"/>
            <a:ext cx="10668000" cy="171450"/>
          </a:xfrm>
          <a:prstGeom prst="rect"/>
        </p:spPr>
        <p:txBody>
          <a:bodyPr wrap="none" lIns="0" tIns="0" rIns="0" bIns="0"/>
          <a:p>
            <a:pPr>
              <a:lnSpc>
                <a:spcPct val="100000"/>
              </a:lnSpc>
            </a:pPr>
            <a:r>
              <a:rPr lang="en-US" sz="1125" spc="150">
                <a:solidFill>
                  <a:srgbClr val="7FA2D6"/>
                </a:solidFill>
                <a:latin typeface="Microsoft YaHei"/>
                <a:ea typeface="Microsoft YaHei"/>
              </a:rPr>
              <a:t>WEEK 06 · WHAT YOU TAKE AWAY, AND WHAT YOU LEAVE WITH</a:t>
            </a:r>
            <a:endParaRPr/>
          </a:p>
        </p:txBody>
      </p:sp>
      <p:sp>
        <p:nvSpPr>
          <p:cNvPr id="667" name="" descr="{&quot;isTemplate&quot;:true,&quot;type&quot;:&quot;text&quot;}"/>
          <p:cNvSpPr txBox="1"/>
          <p:nvPr/>
        </p:nvSpPr>
        <p:spPr>
          <a:xfrm rot="0" flipH="0" flipV="0">
            <a:off x="762000" y="1752600"/>
            <a:ext cx="10668000" cy="1162050"/>
          </a:xfrm>
          <a:prstGeom prst="rect"/>
        </p:spPr>
        <p:txBody>
          <a:bodyPr wrap="none" lIns="0" tIns="0" rIns="0" bIns="0"/>
          <a:p>
            <a:pPr>
              <a:lnSpc>
                <a:spcPct val="114999"/>
              </a:lnSpc>
            </a:pPr>
            <a:r>
              <a:rPr lang="en-US" sz="3300" b="1">
                <a:solidFill>
                  <a:srgbClr val="FFFFFF"/>
                </a:solidFill>
                <a:latin typeface="Georgia"/>
                <a:ea typeface="Georgia"/>
              </a:rPr>
              <a:t>Sentences become boxes.</a:t>
            </a:r>
            <a:endParaRPr/>
          </a:p>
          <a:p>
            <a:pPr>
              <a:lnSpc>
                <a:spcPct val="114999"/>
              </a:lnSpc>
            </a:pPr>
            <a:r>
              <a:rPr lang="en-US" sz="3300" b="1">
                <a:solidFill>
                  <a:srgbClr val="FFFFFF"/>
                </a:solidFill>
                <a:latin typeface="Georgia"/>
                <a:ea typeface="Georgia"/>
              </a:rPr>
              <a:t>Boxes must survive Monday.</a:t>
            </a:r>
            <a:endParaRPr/>
          </a:p>
        </p:txBody>
      </p:sp>
      <p:sp>
        <p:nvSpPr>
          <p:cNvPr id="668" name=""/>
          <p:cNvSpPr/>
          <p:nvPr/>
        </p:nvSpPr>
        <p:spPr>
          <a:xfrm rot="0" flipH="0" flipV="0">
            <a:off x="762000" y="3143250"/>
            <a:ext cx="838200" cy="47625"/>
          </a:xfrm>
          <a:prstGeom prst="rect">
            <a:avLst/>
          </a:prstGeom>
          <a:solidFill>
            <a:srgbClr val="FFC107"/>
          </a:solidFill>
          <a:ln/>
        </p:spPr>
        <p:txBody>
          <a:bodyPr/>
          <a:p/>
        </p:txBody>
      </p:sp>
      <p:sp>
        <p:nvSpPr>
          <p:cNvPr id="669" name=""/>
          <p:cNvSpPr/>
          <p:nvPr/>
        </p:nvSpPr>
        <p:spPr>
          <a:xfrm rot="0" flipH="0" flipV="0">
            <a:off x="762000" y="3495675"/>
            <a:ext cx="66675" cy="66675"/>
          </a:xfrm>
          <a:prstGeom prst="roundRect">
            <a:avLst>
              <a:gd name="adj" fmla="val 57143"/>
            </a:avLst>
          </a:prstGeom>
          <a:solidFill>
            <a:srgbClr val="3D7BD9"/>
          </a:solidFill>
          <a:ln/>
        </p:spPr>
        <p:txBody>
          <a:bodyPr/>
          <a:p/>
        </p:txBody>
      </p:sp>
      <p:sp>
        <p:nvSpPr>
          <p:cNvPr id="670" name="" descr="{&quot;isTemplate&quot;:true,&quot;type&quot;:&quot;text&quot;}"/>
          <p:cNvSpPr txBox="1"/>
          <p:nvPr/>
        </p:nvSpPr>
        <p:spPr>
          <a:xfrm rot="0" flipH="0" flipV="0">
            <a:off x="923925" y="3438525"/>
            <a:ext cx="2505075" cy="180975"/>
          </a:xfrm>
          <a:prstGeom prst="rect"/>
        </p:spPr>
        <p:txBody>
          <a:bodyPr wrap="none" lIns="0" tIns="0" rIns="0" bIns="0"/>
          <a:p>
            <a:pPr>
              <a:lnSpc>
                <a:spcPct val="100000"/>
              </a:lnSpc>
            </a:pPr>
            <a:r>
              <a:rPr lang="en-US" sz="1163">
                <a:solidFill>
                  <a:srgbClr val="C5D4EA"/>
                </a:solidFill>
                <a:latin typeface="Microsoft YaHei"/>
                <a:ea typeface="Microsoft YaHei"/>
              </a:rPr>
              <a:t>01 · Identity decides class vs. attribute</a:t>
            </a:r>
            <a:endParaRPr/>
          </a:p>
        </p:txBody>
      </p:sp>
      <p:sp>
        <p:nvSpPr>
          <p:cNvPr id="671" name=""/>
          <p:cNvSpPr/>
          <p:nvPr/>
        </p:nvSpPr>
        <p:spPr>
          <a:xfrm rot="0" flipH="0" flipV="0">
            <a:off x="6000750" y="3495675"/>
            <a:ext cx="66675" cy="66675"/>
          </a:xfrm>
          <a:prstGeom prst="roundRect">
            <a:avLst>
              <a:gd name="adj" fmla="val 57143"/>
            </a:avLst>
          </a:prstGeom>
          <a:solidFill>
            <a:srgbClr val="3D7BD9"/>
          </a:solidFill>
          <a:ln/>
        </p:spPr>
        <p:txBody>
          <a:bodyPr/>
          <a:p/>
        </p:txBody>
      </p:sp>
      <p:sp>
        <p:nvSpPr>
          <p:cNvPr id="672" name="" descr="{&quot;isTemplate&quot;:true,&quot;type&quot;:&quot;text&quot;}"/>
          <p:cNvSpPr txBox="1"/>
          <p:nvPr/>
        </p:nvSpPr>
        <p:spPr>
          <a:xfrm rot="0" flipH="0" flipV="0">
            <a:off x="6162675" y="3438525"/>
            <a:ext cx="3028950" cy="180975"/>
          </a:xfrm>
          <a:prstGeom prst="rect"/>
        </p:spPr>
        <p:txBody>
          <a:bodyPr wrap="none" lIns="0" tIns="0" rIns="0" bIns="0"/>
          <a:p>
            <a:pPr>
              <a:lnSpc>
                <a:spcPct val="100000"/>
              </a:lnSpc>
            </a:pPr>
            <a:r>
              <a:rPr lang="en-US" sz="1163">
                <a:solidFill>
                  <a:srgbClr val="C5D4EA"/>
                </a:solidFill>
                <a:latin typeface="Microsoft YaHei"/>
                <a:ea typeface="Microsoft YaHei"/>
              </a:rPr>
              <a:t>02 · Every class traces to one of your FR lines</a:t>
            </a:r>
            <a:endParaRPr/>
          </a:p>
        </p:txBody>
      </p:sp>
      <p:sp>
        <p:nvSpPr>
          <p:cNvPr id="673" name=""/>
          <p:cNvSpPr/>
          <p:nvPr/>
        </p:nvSpPr>
        <p:spPr>
          <a:xfrm rot="0" flipH="0" flipV="0">
            <a:off x="762000" y="3790950"/>
            <a:ext cx="66675" cy="66675"/>
          </a:xfrm>
          <a:prstGeom prst="roundRect">
            <a:avLst>
              <a:gd name="adj" fmla="val 57143"/>
            </a:avLst>
          </a:prstGeom>
          <a:solidFill>
            <a:srgbClr val="3D7BD9"/>
          </a:solidFill>
          <a:ln/>
        </p:spPr>
        <p:txBody>
          <a:bodyPr/>
          <a:p/>
        </p:txBody>
      </p:sp>
      <p:sp>
        <p:nvSpPr>
          <p:cNvPr id="674" name="" descr="{&quot;isTemplate&quot;:true,&quot;type&quot;:&quot;text&quot;}"/>
          <p:cNvSpPr txBox="1"/>
          <p:nvPr/>
        </p:nvSpPr>
        <p:spPr>
          <a:xfrm rot="0" flipH="0" flipV="0">
            <a:off x="923925" y="3733800"/>
            <a:ext cx="2581275" cy="180975"/>
          </a:xfrm>
          <a:prstGeom prst="rect"/>
        </p:spPr>
        <p:txBody>
          <a:bodyPr wrap="none" lIns="0" tIns="0" rIns="0" bIns="0"/>
          <a:p>
            <a:pPr>
              <a:lnSpc>
                <a:spcPct val="100000"/>
              </a:lnSpc>
            </a:pPr>
            <a:r>
              <a:rPr lang="en-US" sz="1163">
                <a:solidFill>
                  <a:srgbClr val="C5D4EA"/>
                </a:solidFill>
                <a:latin typeface="Microsoft YaHei"/>
                <a:ea typeface="Microsoft YaHei"/>
              </a:rPr>
              <a:t>03 · Eight classes is a floor, not a quota</a:t>
            </a:r>
            <a:endParaRPr/>
          </a:p>
        </p:txBody>
      </p:sp>
      <p:sp>
        <p:nvSpPr>
          <p:cNvPr id="675" name=""/>
          <p:cNvSpPr/>
          <p:nvPr/>
        </p:nvSpPr>
        <p:spPr>
          <a:xfrm rot="0" flipH="0" flipV="0">
            <a:off x="6000750" y="3790950"/>
            <a:ext cx="66675" cy="66675"/>
          </a:xfrm>
          <a:prstGeom prst="roundRect">
            <a:avLst>
              <a:gd name="adj" fmla="val 57143"/>
            </a:avLst>
          </a:prstGeom>
          <a:solidFill>
            <a:srgbClr val="3D7BD9"/>
          </a:solidFill>
          <a:ln/>
        </p:spPr>
        <p:txBody>
          <a:bodyPr/>
          <a:p/>
        </p:txBody>
      </p:sp>
      <p:sp>
        <p:nvSpPr>
          <p:cNvPr id="676" name="" descr="{&quot;isTemplate&quot;:true,&quot;type&quot;:&quot;text&quot;}"/>
          <p:cNvSpPr txBox="1"/>
          <p:nvPr/>
        </p:nvSpPr>
        <p:spPr>
          <a:xfrm rot="0" flipH="0" flipV="0">
            <a:off x="6162675" y="3733800"/>
            <a:ext cx="3048000" cy="180975"/>
          </a:xfrm>
          <a:prstGeom prst="rect"/>
        </p:spPr>
        <p:txBody>
          <a:bodyPr wrap="none" lIns="0" tIns="0" rIns="0" bIns="0"/>
          <a:p>
            <a:pPr>
              <a:lnSpc>
                <a:spcPct val="100000"/>
              </a:lnSpc>
            </a:pPr>
            <a:r>
              <a:rPr lang="en-US" sz="1163">
                <a:solidFill>
                  <a:srgbClr val="C5D4EA"/>
                </a:solidFill>
                <a:latin typeface="Microsoft YaHei"/>
                <a:ea typeface="Microsoft YaHei"/>
              </a:rPr>
              <a:t>04 · Entity, Boundary, Control — no fourth kind</a:t>
            </a:r>
            <a:endParaRPr/>
          </a:p>
        </p:txBody>
      </p:sp>
      <p:sp>
        <p:nvSpPr>
          <p:cNvPr id="677" name=""/>
          <p:cNvSpPr/>
          <p:nvPr/>
        </p:nvSpPr>
        <p:spPr>
          <a:xfrm rot="0" flipH="0" flipV="0">
            <a:off x="762000" y="4086225"/>
            <a:ext cx="66675" cy="66675"/>
          </a:xfrm>
          <a:prstGeom prst="roundRect">
            <a:avLst>
              <a:gd name="adj" fmla="val 57143"/>
            </a:avLst>
          </a:prstGeom>
          <a:solidFill>
            <a:srgbClr val="3D7BD9"/>
          </a:solidFill>
          <a:ln/>
        </p:spPr>
        <p:txBody>
          <a:bodyPr/>
          <a:p/>
        </p:txBody>
      </p:sp>
      <p:sp>
        <p:nvSpPr>
          <p:cNvPr id="678" name="" descr="{&quot;isTemplate&quot;:true,&quot;type&quot;:&quot;text&quot;}"/>
          <p:cNvSpPr txBox="1"/>
          <p:nvPr/>
        </p:nvSpPr>
        <p:spPr>
          <a:xfrm rot="0" flipH="0" flipV="0">
            <a:off x="923925" y="4029075"/>
            <a:ext cx="2895600" cy="180975"/>
          </a:xfrm>
          <a:prstGeom prst="rect"/>
        </p:spPr>
        <p:txBody>
          <a:bodyPr wrap="none" lIns="0" tIns="0" rIns="0" bIns="0"/>
          <a:p>
            <a:pPr>
              <a:lnSpc>
                <a:spcPct val="100000"/>
              </a:lnSpc>
            </a:pPr>
            <a:r>
              <a:rPr lang="en-US" sz="1163">
                <a:solidFill>
                  <a:srgbClr val="C5D4EA"/>
                </a:solidFill>
                <a:latin typeface="Microsoft YaHei"/>
                <a:ea typeface="Microsoft YaHei"/>
              </a:rPr>
              <a:t>05 · Associations today, multiplicities in W07</a:t>
            </a:r>
            <a:endParaRPr/>
          </a:p>
        </p:txBody>
      </p:sp>
      <p:sp>
        <p:nvSpPr>
          <p:cNvPr id="679" name=""/>
          <p:cNvSpPr/>
          <p:nvPr/>
        </p:nvSpPr>
        <p:spPr>
          <a:xfrm rot="0" flipH="0" flipV="0">
            <a:off x="6000750" y="4086225"/>
            <a:ext cx="66675" cy="66675"/>
          </a:xfrm>
          <a:prstGeom prst="roundRect">
            <a:avLst>
              <a:gd name="adj" fmla="val 57143"/>
            </a:avLst>
          </a:prstGeom>
          <a:solidFill>
            <a:srgbClr val="3D7BD9"/>
          </a:solidFill>
          <a:ln/>
        </p:spPr>
        <p:txBody>
          <a:bodyPr/>
          <a:p/>
        </p:txBody>
      </p:sp>
      <p:sp>
        <p:nvSpPr>
          <p:cNvPr id="680" name="" descr="{&quot;isTemplate&quot;:true,&quot;type&quot;:&quot;text&quot;}"/>
          <p:cNvSpPr txBox="1"/>
          <p:nvPr/>
        </p:nvSpPr>
        <p:spPr>
          <a:xfrm rot="0" flipH="0" flipV="0">
            <a:off x="6162675" y="4029075"/>
            <a:ext cx="3524250" cy="180975"/>
          </a:xfrm>
          <a:prstGeom prst="rect"/>
        </p:spPr>
        <p:txBody>
          <a:bodyPr wrap="none" lIns="0" tIns="0" rIns="0" bIns="0"/>
          <a:p>
            <a:pPr>
              <a:lnSpc>
                <a:spcPct val="100000"/>
              </a:lnSpc>
            </a:pPr>
            <a:r>
              <a:rPr lang="en-US" sz="1163">
                <a:solidFill>
                  <a:srgbClr val="C5D4EA"/>
                </a:solidFill>
                <a:latin typeface="Microsoft YaHei"/>
                <a:ea typeface="Microsoft YaHei"/>
              </a:rPr>
              <a:t>06 · Six open questions: decide one, model it, argue it</a:t>
            </a:r>
            <a:endParaRPr/>
          </a:p>
        </p:txBody>
      </p:sp>
      <p:sp>
        <p:nvSpPr>
          <p:cNvPr id="681" name=""/>
          <p:cNvSpPr/>
          <p:nvPr/>
        </p:nvSpPr>
        <p:spPr>
          <a:xfrm rot="0" flipH="0" flipV="0">
            <a:off x="762000" y="4381500"/>
            <a:ext cx="66675" cy="66675"/>
          </a:xfrm>
          <a:prstGeom prst="roundRect">
            <a:avLst>
              <a:gd name="adj" fmla="val 57143"/>
            </a:avLst>
          </a:prstGeom>
          <a:solidFill>
            <a:srgbClr val="3D7BD9"/>
          </a:solidFill>
          <a:ln/>
        </p:spPr>
        <p:txBody>
          <a:bodyPr/>
          <a:p/>
        </p:txBody>
      </p:sp>
      <p:sp>
        <p:nvSpPr>
          <p:cNvPr id="682" name="" descr="{&quot;isTemplate&quot;:true,&quot;type&quot;:&quot;text&quot;}"/>
          <p:cNvSpPr txBox="1"/>
          <p:nvPr/>
        </p:nvSpPr>
        <p:spPr>
          <a:xfrm rot="0" flipH="0" flipV="0">
            <a:off x="923925" y="4324350"/>
            <a:ext cx="3505200" cy="180975"/>
          </a:xfrm>
          <a:prstGeom prst="rect"/>
        </p:spPr>
        <p:txBody>
          <a:bodyPr wrap="none" lIns="0" tIns="0" rIns="0" bIns="0"/>
          <a:p>
            <a:pPr>
              <a:lnSpc>
                <a:spcPct val="100000"/>
              </a:lnSpc>
            </a:pPr>
            <a:r>
              <a:rPr lang="en-US" sz="1163">
                <a:solidFill>
                  <a:srgbClr val="C5D4EA"/>
                </a:solidFill>
                <a:latin typeface="Microsoft YaHei"/>
                <a:ea typeface="Microsoft YaHei"/>
              </a:rPr>
              <a:t>07 · M0 is due today — push, tag m0, read the output</a:t>
            </a:r>
            <a:endParaRPr/>
          </a:p>
        </p:txBody>
      </p:sp>
      <p:sp>
        <p:nvSpPr>
          <p:cNvPr id="683" name=""/>
          <p:cNvSpPr/>
          <p:nvPr/>
        </p:nvSpPr>
        <p:spPr>
          <a:xfrm rot="0" flipH="0" flipV="0">
            <a:off x="762000" y="4791075"/>
            <a:ext cx="10668000" cy="647700"/>
          </a:xfrm>
          <a:custGeom>
            <a:pathLst>
              <a:path w="1120" h="68">
                <a:moveTo>
                  <a:pt x="0" y="0"/>
                </a:moveTo>
                <a:lnTo>
                  <a:pt x="1120" y="0"/>
                </a:lnTo>
                <a:lnTo>
                  <a:pt x="1120" y="1"/>
                </a:lnTo>
                <a:lnTo>
                  <a:pt x="0" y="1"/>
                </a:lnTo>
                <a:close/>
              </a:path>
            </a:pathLst>
          </a:custGeom>
          <a:solidFill>
            <a:srgbClr val="2B5793"/>
          </a:solidFill>
          <a:ln/>
        </p:spPr>
        <p:txBody>
          <a:bodyPr/>
          <a:p/>
        </p:txBody>
      </p:sp>
      <p:sp>
        <p:nvSpPr>
          <p:cNvPr id="684" name="" descr="{&quot;isTemplate&quot;:true,&quot;type&quot;:&quot;text&quot;}"/>
          <p:cNvSpPr txBox="1"/>
          <p:nvPr/>
        </p:nvSpPr>
        <p:spPr>
          <a:xfrm rot="0" flipH="0" flipV="0">
            <a:off x="762000" y="4991100"/>
            <a:ext cx="9458325" cy="161925"/>
          </a:xfrm>
          <a:prstGeom prst="rect"/>
        </p:spPr>
        <p:txBody>
          <a:bodyPr wrap="none" lIns="0" tIns="0" rIns="0" bIns="0"/>
          <a:p>
            <a:pPr>
              <a:lnSpc>
                <a:spcPct val="100000"/>
              </a:lnSpc>
            </a:pPr>
            <a:r>
              <a:rPr lang="en-US" sz="1050" spc="75">
                <a:solidFill>
                  <a:srgbClr val="7FA2D6"/>
                </a:solidFill>
                <a:latin typeface="Microsoft YaHei"/>
                <a:ea typeface="Microsoft YaHei"/>
              </a:rPr>
              <a:t>NEXT WEEK — W07 · AND THE M1 CLIENT REVIEW</a:t>
            </a:r>
            <a:endParaRPr/>
          </a:p>
        </p:txBody>
      </p:sp>
      <p:sp>
        <p:nvSpPr>
          <p:cNvPr id="685" name="" descr="{&quot;isTemplate&quot;:true,&quot;type&quot;:&quot;text&quot;}"/>
          <p:cNvSpPr txBox="1"/>
          <p:nvPr/>
        </p:nvSpPr>
        <p:spPr>
          <a:xfrm rot="0" flipH="0" flipV="0">
            <a:off x="762000" y="5210175"/>
            <a:ext cx="9458325" cy="219075"/>
          </a:xfrm>
          <a:prstGeom prst="rect"/>
        </p:spPr>
        <p:txBody>
          <a:bodyPr wrap="none" lIns="0" tIns="0" rIns="0" bIns="0"/>
          <a:p>
            <a:pPr>
              <a:lnSpc>
                <a:spcPct val="100000"/>
              </a:lnSpc>
            </a:pPr>
            <a:r>
              <a:rPr lang="en-US" sz="1425" b="1">
                <a:solidFill>
                  <a:srgbClr val="FFFFFF"/>
                </a:solidFill>
                <a:latin typeface="Microsoft YaHei"/>
                <a:ea typeface="Microsoft YaHei"/>
              </a:rPr>
              <a:t>Domain Relationships — how many, and which end owns the whole</a:t>
            </a:r>
            <a:endParaRPr/>
          </a:p>
        </p:txBody>
      </p:sp>
      <p:sp>
        <p:nvSpPr>
          <p:cNvPr id="686" name=""/>
          <p:cNvSpPr/>
          <p:nvPr/>
        </p:nvSpPr>
        <p:spPr>
          <a:xfrm rot="0" flipH="0" flipV="0">
            <a:off x="10220325" y="5029200"/>
            <a:ext cx="1209675" cy="361950"/>
          </a:xfrm>
          <a:prstGeom prst="roundRect">
            <a:avLst>
              <a:gd name="adj" fmla="val 57895"/>
            </a:avLst>
          </a:prstGeom>
          <a:solidFill>
            <a:srgbClr val="1E4FA8"/>
          </a:solidFill>
          <a:ln/>
        </p:spPr>
        <p:txBody>
          <a:bodyPr/>
          <a:p/>
        </p:txBody>
      </p:sp>
      <p:sp>
        <p:nvSpPr>
          <p:cNvPr id="687" name="" descr="{&quot;isTemplate&quot;:true,&quot;type&quot;:&quot;text&quot;}"/>
          <p:cNvSpPr txBox="1"/>
          <p:nvPr/>
        </p:nvSpPr>
        <p:spPr>
          <a:xfrm rot="0" flipH="0" flipV="0">
            <a:off x="10429875" y="5124450"/>
            <a:ext cx="790575" cy="171450"/>
          </a:xfrm>
          <a:prstGeom prst="rect"/>
        </p:spPr>
        <p:txBody>
          <a:bodyPr wrap="none" lIns="0" tIns="0" rIns="0" bIns="0"/>
          <a:p>
            <a:pPr>
              <a:lnSpc>
                <a:spcPct val="100000"/>
              </a:lnSpc>
            </a:pPr>
            <a:r>
              <a:rPr lang="en-US" sz="1125" b="1">
                <a:solidFill>
                  <a:srgbClr val="FFFFFF"/>
                </a:solidFill>
                <a:latin typeface="Microsoft YaHei"/>
                <a:ea typeface="Microsoft YaHei"/>
              </a:rPr>
              <a:t>Questions?</a:t>
            </a:r>
            <a:endParaRPr/>
          </a:p>
        </p:txBody>
      </p:sp>
      <p:sp>
        <p:nvSpPr>
          <p:cNvPr id="688" name=""/>
          <p:cNvSpPr/>
          <p:nvPr/>
        </p:nvSpPr>
        <p:spPr>
          <a:xfrm rot="0" flipH="0" flipV="0">
            <a:off x="0" y="0"/>
            <a:ext cx="12192000" cy="76200"/>
          </a:xfrm>
          <a:prstGeom prst="rect">
            <a:avLst/>
          </a:prstGeom>
          <a:solidFill>
            <a:srgbClr val="1E4FA8"/>
          </a:solidFill>
          <a:ln/>
        </p:spPr>
        <p:txBody>
          <a:bodyPr/>
          <a:p/>
        </p:txBody>
      </p:sp>
    </p:spTree>
  </p:cSld>
</p:sld>
</file>

<file path=ppt/slides/slide39.xml><?xml version="1.0" encoding="utf-8"?>
<p:sld xmlns:p="http://schemas.openxmlformats.org/presentationml/2006/main" xmlns:a="http://schemas.openxmlformats.org/drawingml/2006/main">
  <p:cSld>
    <p:spTree>
      <p:nvGrpSpPr>
        <p:cNvPr id="689" name="" descr="&lt;Slide style={{ background: '#FFFFFF', padding: 0 }}&gt;&#10;  &lt;Box style={{ height: 72, background: '#1E4FA8', padding: '0 40px', flexDirection: 'row', alignItems: 'center', justifyContent: 'space-between' }}&gt;&#10;    &lt;Text style={{ fontSize: 15, color: '#B9CDF0', letterSpacing: 1 }}&gt;ISAD · INFORMATION SYSTEMS ANALYSIS &amp;amp; DESIGN&lt;/Text&gt;&#10;    &lt;Text style={{ fontSize: 15, color: '#B9CDF0' }}&gt;W06 · TODAY'S CHECKLIST&lt;/Text&gt;&#10;  &lt;/Box&gt;&#10;  &lt;Box style={{ padding: '13px 40px 0 40px', flexDirection: 'row', alignItems: 'center', justifyContent: 'space-between' }}&gt;&#10;    &lt;Text style={{ fontSize: 29, fontWeight: 'bold', color: '#0E3F8C' }}&gt;What You Finish Before You Leave&lt;/Text&gt;&#10;    &lt;Text style={{ fontSize: 14, color: '#1E4FA8', fontWeight: 'bold' }}&gt;39 / 39&lt;/Text&gt;&#10;  &lt;/Box&gt;&#10;  &lt;Box style={{ flex: 1, padding: '8px 40px 0 40px', flexDirection: 'row', gap: 20 }}&gt;&#10;    &lt;Box style={{ flex: 1, background: '#F7F9FC', border: '1px solid #E5E7EB', borderRadius: 10, padding: 16 }}&gt;&#10;      &lt;Box style={{ flexDirection: 'row', alignItems: 'center', gap: 9, marginBottom: 12 }}&gt;&#10;        &lt;Box style={{ width: 26, height: 26, borderRadius: 13, background: '#0E3F8C' }} /&gt;&#10;        &lt;Text style={{ fontSize: 15, color: '#0E3F8C', fontWeight: 'bold' }}&gt;1 · SCAN YOUR OWN NOUNS&lt;/Text&gt;&#10;      &lt;/Box&gt;&#10;      &lt;Text style={{ fontSize: 13.5, color: '#4A5568', lineHeight: 1.55 }}&gt;&#10;        About &lt;Text style={{ fontSize: 13.5, color: '#0E3F8C', fontWeight: 'bold' }}&gt;24 words&lt;/Text&gt; from your own FR-1…FR-12, into four buckets:&#10;      &lt;/Text&gt;&#10;      &lt;Box style={{ flexDirection: 'row', gap: 7, marginTop: 9, marginBottom: 9, flexWrap: 'wrap' }}&gt;&#10;        &lt;Box style={{ background: '#FFFFFF', border: '1px solid #D6DCE5', borderRadius: 4, padding: '4px 9px' }}&gt;&#10;          &lt;Text style={{ fontSize: 12.5, color: '#0E3F8C', fontWeight: 'bold' }}&gt;class&lt;/Text&gt;&#10;        &lt;/Box&gt;&#10;        &lt;Box style={{ background: '#FFFFFF', border: '1px solid #D6DCE5', borderRadius: 4, padding: '4px 9px' }}&gt;&#10;          &lt;Text style={{ fontSize: 12.5, color: '#0E3F8C', fontWeight: 'bold' }}&gt;attribute&lt;/Text&gt;&#10;        &lt;/Box&gt;&#10;        &lt;Box style={{ background: '#FFFFFF', border: '1px solid #D6DCE5', borderRadius: 4, padding: '4px 9px' }}&gt;&#10;          &lt;Text style={{ fontSize: 12.5, color: '#0E3F8C', fontWeight: 'bold' }}&gt;external actor&lt;/Text&gt;&#10;        &lt;/Box&gt;&#10;        &lt;Box style={{ background: '#FFFFFF', border: '1px solid #D6DCE5', borderRadius: 4, padding: '4px 9px' }}&gt;&#10;          &lt;Text style={{ fontSize: 12.5, color: '#0E3F8C', fontWeight: 'bold' }}&gt;discard&lt;/Text&gt;&#10;        &lt;/Box&gt;&#10;      &lt;/Box&gt;&#10;      &lt;Text style={{ fontSize: 13, color: '#4A5568', lineHeight: 1.55 }}&gt;&#10;        Every word needs a reason that &lt;Text style={{ fontSize: 13, color: '#0E3F8C', fontWeight: 'bold' }}&gt;cites a requirement line&lt;/Text&gt; — or says that no&#10;        requirement mentions it.&#10;      &lt;/Text&gt;&#10;      &lt;Text style={{ fontSize: 12, color: '#8B97A8', marginTop: 9 }}&gt;&#10;        → docs/analysis/noun-scan.md&#10;      &lt;/Text&gt;&#10;    &lt;/Box&gt;&#10;    &lt;Box style={{ flex: 1, background: '#F7F9FC', border: '1px solid #E5E7EB', borderRadius: 10, padding: 16 }}&gt;&#10;      &lt;Box style={{ flexDirection: 'row', alignItems: 'center', gap: 9, marginBottom: 12 }}&gt;&#10;        &lt;Box style={{ width: 26, height: 26, borderRadius: 13, background: '#0E3F8C' }} /&gt;&#10;        &lt;Text style={{ fontSize: 15, color: '#0E3F8C', fontWeight: 'bold' }}&gt;2 · CLASSIFY, THEN DRAW&lt;/Text&gt;&#10;      &lt;/Box&gt;&#10;      &lt;Text style={{ fontSize: 13.5, color: '#4A5568', lineHeight: 1.55 }}&gt;&#10;        Mark every class &lt;Text style={{ fontSize: 13.5, color: '#0E3F8C', fontWeight: 'bold' }}&gt;E&lt;/Text&gt;, &lt;Text style={{ fontSize: 13.5, color: '#0E3F8C', fontWeight: 'bold' }}&gt;B&lt;/Text&gt; or &lt;Text style={{ fontSize: 13.5, color: '#0E3F8C', fontWeight: 'bold' }}&gt;C&lt;/Text&gt;, then draw the first domain model.&#10;      &lt;/Text&gt;&#10;      &lt;Text style={{ fontSize: 13, color: '#4A5568', lineHeight: 1.55, marginTop: 8 }}&gt;&#10;        Target &lt;Text style={{ fontSize: 13, color: '#0E3F8C', fontWeight: 'bold' }}&gt;eight classes or more&lt;/Text&gt;. Associations only — no multiplicities, no&#10;        attributes, no methods.&#10;      &lt;/Text&gt;&#10;      &lt;Box style={{ borderLeft: '3px solid #FFC107', paddingLeft: 10, marginTop: 10 }}&gt;&#10;        &lt;Text style={{ fontSize: 12.5, color: '#4A5568', lineHeight: 1.5 }}&gt;&#10;          Two arguments you must write down: &lt;Text style={{ fontSize: 12.5, color: '#0E3F8C', fontWeight: 'bold' }}&gt;Contraindication&lt;/Text&gt; (FR-1 attaches it to&#10;          the client, not to a product) and &lt;Text style={{ fontSize: 12.5, color: '#0E3F8C', fontWeight: 'bold' }}&gt;AllergyHistory&lt;/Text&gt;.&#10;        &lt;/Text&gt;&#10;      &lt;/Box&gt;&#10;      &lt;Text style={{ fontSize: 12, color: '#8B97A8', marginTop: 9 }}&gt;&#10;        → docs/diagrams/domain-model-v1.puml + PNG&#10;      &lt;/Text&gt;&#10;    &lt;/Box&gt;&#10;  &lt;/Box&gt;&#10;  &lt;Box style={{ flex: 1, padding: '16px 40px 0 40px', flexDirection: 'row', gap: 20 }}&gt;&#10;    &lt;Box style={{ flex: 1, background: '#F0F5FC', border: '1px solid #C8D8EE', borderRadius: 10, padding: 16 }}&gt;&#10;      &lt;Box style={{ flexDirection: 'row', alignItems: 'center', gap: 9, marginBottom: 12 }}&gt;&#10;        &lt;Box style={{ width: 26, height: 26, borderRadius: 13, background: '#1E4FA8' }} /&gt;&#10;        &lt;Text style={{ fontSize: 15, color: '#0E3F8C', fontWeight: 'bold' }}&gt;3 · MAKE ONE OPEN DECISION&lt;/Text&gt;&#10;      &lt;/Box&gt;&#10;      &lt;Text style={{ fontSize: 13.5, color: '#4A5568', lineHeight: 1.55 }}&gt;&#10;        Your requirements left &lt;Text style={{ fontSize: 13.5, color: '#0E3F8C', fontWeight: 'bold' }}&gt;six things unspecified&lt;/Text&gt;. Pick one, decide it,&#10;        &lt;Text style={{ fontSize: 13.5, color: '#0E3F8C', fontWeight: 'bold' }}&gt; model it&lt;/Text&gt;, and say why.&#10;      &lt;/Text&gt;&#10;      &lt;Text style={{ fontSize: 13.5, color: '#D9534F', fontWeight: 'bold', marginTop: 9 }}&gt;&#10;        &quot;We haven't decided&quot; is not a model.&#10;      &lt;/Text&gt;&#10;      &lt;Text style={{ fontSize: 12.5, color: '#4A5568', lineHeight: 1.5, marginTop: 6 }}&gt;&#10;        Does the client see findings before review? What happens on a low-confidence finding? Who may&#10;        correct a client's own concern? Segments? Photo retention? What the client sees when an&#10;        analysis is rejected?&#10;      &lt;/Text&gt;&#10;    &lt;/Box&gt;&#10;    &lt;Box style={{ flex: 1, background: '#F0F5FC', border: '1px solid #C8D8EE', borderRadius: 10, padding: 16 }}&gt;&#10;      &lt;Box style={{ flexDirection: 'row', alignItems: 'center', gap: 9, marginBottom: 12 }}&gt;&#10;        &lt;Box style={{ width: 26, height: 26, borderRadius: 13, background: '#D9534F' }} /&gt;&#10;        &lt;Text style={{ fontSize: 15, color: '#0E3F8C', fontWeight: 'bold' }}&gt;4 · CLOSE OUT M0 — TAG `m0`&lt;/Text&gt;&#10;      &lt;/Box&gt;&#10;      &lt;Text style={{ fontSize: 13.5, color: '#4A5568', lineHeight: 1.55 }}&gt;&#10;        Four artefacts, then one tag, then one command whose output you read.&#10;      &lt;/Text&gt;&#10;      &lt;Box style={{ marginTop: 9 }}&gt;&#10;        &lt;Text style={{ fontSize: 12.5, color: '#4A5568', lineHeight: 1.6 }}&gt;· docs/m0/team-charter.md — four names, four roles&lt;/Text&gt;&#10;        &lt;Text style={{ fontSize: 12.5, color: '#4A5568', lineHeight: 1.6 }}&gt;· docs/m0/stakeholders.md — inside or outside&lt;/Text&gt;&#10;        &lt;Text style={{ fontSize: 12.5, color: '#4A5568', lineHeight: 1.6 }}&gt;· docs/m0/vision.md — including the safety boundary&lt;/Text&gt;&#10;      &lt;/Box&gt;&#10;      &lt;Box style={{ background: '#0E3F8C', borderRadius: 5, padding: '8px 10px', marginTop: 9 }}&gt;&#10;        &lt;Text style={{ fontSize: 11, color: '#C5D4EA', fontFamily: 'Menlo, monospace' }}&gt;git tag -a m0 -m &quot;M0: charter, stakeholders, vision&quot;&lt;/Text&gt;&#10;        &lt;Text style={{ fontSize: 11, color: '#C5D4EA', fontFamily: 'Menlo, monospace' }}&gt;git push origin m0&lt;/Text&gt;&#10;        &lt;Text style={{ fontSize: 11, color: '#FFC107', fontFamily: 'Menlo, monospace' }}&gt;git ls-remote --tags origin&lt;/Text&gt;&#10;      &lt;/Box&gt;&#10;      &lt;Text style={{ fontSize: 12, color: '#8B97A8', marginTop: 8 }}&gt;&#10;        You must see refs/tags/m0. No line = not submitted.&#10;      &lt;/Text&gt;&#10;    &lt;/Box&gt;&#10;  &lt;/Box&gt;&#10;  &lt;Box style={{ height: 54, background: '#0E3F8C', padding: '0 40px', flexDirection: 'row', alignItems: 'center', justifyContent: 'space-between', marginTop: 14 }}&gt;&#10;    &lt;Text style={{ fontSize: 15, color: '#FFFFFF' }}&gt;&#10;      Four people, four lines of evidence. The &lt;Text style={{ fontSize: 15, color: '#FFC107', fontWeight: 'bold' }}&gt;.puml&lt;/Text&gt; is owned by the Recorder — every member defends one class.&#10;    &lt;/Text&gt;&#10;    &lt;Text style={{ fontSize: 14, color: '#7FA2D6' }}&gt;M1 due Sun Nov 01&lt;/Text&gt;&#10;  &lt;/Box&gt;&#10;&lt;/Slide&gt;&#10;"/>
        <p:cNvGrpSpPr/>
        <p:nvPr/>
      </p:nvGrpSpPr>
      <p:grpSpPr>
        <a:xfrm>
          <a:off x="0" y="0"/>
          <a:ext cx="0" cy="0"/>
          <a:chOff x="0" y="0"/>
          <a:chExt cx="0" cy="0"/>
        </a:xfrm>
      </p:grpSpPr>
      <p:sp>
        <p:nvSpPr>
          <p:cNvPr id="690" name=""/>
          <p:cNvSpPr/>
          <p:nvPr/>
        </p:nvSpPr>
        <p:spPr>
          <a:xfrm rot="0" flipH="0" flipV="0">
            <a:off x="0" y="0"/>
            <a:ext cx="12192000" cy="6858000"/>
          </a:xfrm>
          <a:prstGeom prst="rect">
            <a:avLst/>
          </a:prstGeom>
          <a:solidFill>
            <a:srgbClr val="FFFFFF"/>
          </a:solidFill>
          <a:ln/>
        </p:spPr>
        <p:txBody>
          <a:bodyPr/>
          <a:p/>
        </p:txBody>
      </p:sp>
      <p:sp>
        <p:nvSpPr>
          <p:cNvPr id="691" name=""/>
          <p:cNvSpPr/>
          <p:nvPr/>
        </p:nvSpPr>
        <p:spPr>
          <a:xfrm rot="0" flipH="0" flipV="0">
            <a:off x="0" y="0"/>
            <a:ext cx="12192000" cy="685800"/>
          </a:xfrm>
          <a:prstGeom prst="rect">
            <a:avLst/>
          </a:prstGeom>
          <a:solidFill>
            <a:srgbClr val="1E4FA8"/>
          </a:solidFill>
          <a:ln/>
        </p:spPr>
        <p:txBody>
          <a:bodyPr/>
          <a:p/>
        </p:txBody>
      </p:sp>
      <p:sp>
        <p:nvSpPr>
          <p:cNvPr id="692" name="" descr="{&quot;isTemplate&quot;:true,&quot;type&quot;:&quot;text&quot;}"/>
          <p:cNvSpPr txBox="1"/>
          <p:nvPr/>
        </p:nvSpPr>
        <p:spPr>
          <a:xfrm rot="0" flipH="0" flipV="0">
            <a:off x="381000" y="257175"/>
            <a:ext cx="4067175" cy="171450"/>
          </a:xfrm>
          <a:prstGeom prst="rect"/>
        </p:spPr>
        <p:txBody>
          <a:bodyPr wrap="none" lIns="0" tIns="0" rIns="0" bIns="0"/>
          <a:p>
            <a:pPr>
              <a:lnSpc>
                <a:spcPct val="100000"/>
              </a:lnSpc>
            </a:pPr>
            <a:r>
              <a:rPr lang="en-US" sz="1125" spc="75">
                <a:solidFill>
                  <a:srgbClr val="B9CDF0"/>
                </a:solidFill>
                <a:latin typeface="Microsoft YaHei"/>
                <a:ea typeface="Microsoft YaHei"/>
              </a:rPr>
              <a:t>ISAD · INFORMATION SYSTEMS ANALYSIS &amp; DESIGN</a:t>
            </a:r>
            <a:endParaRPr/>
          </a:p>
        </p:txBody>
      </p:sp>
      <p:sp>
        <p:nvSpPr>
          <p:cNvPr id="693" name="" descr="{&quot;isTemplate&quot;:true,&quot;type&quot;:&quot;text&quot;}"/>
          <p:cNvSpPr txBox="1"/>
          <p:nvPr/>
        </p:nvSpPr>
        <p:spPr>
          <a:xfrm rot="0" flipH="0" flipV="0">
            <a:off x="9944100" y="257175"/>
            <a:ext cx="1866900" cy="171450"/>
          </a:xfrm>
          <a:prstGeom prst="rect"/>
        </p:spPr>
        <p:txBody>
          <a:bodyPr wrap="none" lIns="0" tIns="0" rIns="0" bIns="0"/>
          <a:p>
            <a:pPr>
              <a:lnSpc>
                <a:spcPct val="100000"/>
              </a:lnSpc>
            </a:pPr>
            <a:r>
              <a:rPr lang="en-US" sz="1125">
                <a:solidFill>
                  <a:srgbClr val="B9CDF0"/>
                </a:solidFill>
                <a:latin typeface="Microsoft YaHei"/>
                <a:ea typeface="Microsoft YaHei"/>
              </a:rPr>
              <a:t>W06 · TODAY'S CHECKLIST</a:t>
            </a:r>
            <a:endParaRPr/>
          </a:p>
        </p:txBody>
      </p:sp>
      <p:sp>
        <p:nvSpPr>
          <p:cNvPr id="694" name="" descr="{&quot;isTemplate&quot;:true,&quot;type&quot;:&quot;text&quot;}"/>
          <p:cNvSpPr txBox="1"/>
          <p:nvPr/>
        </p:nvSpPr>
        <p:spPr>
          <a:xfrm rot="0" flipH="0" flipV="0">
            <a:off x="381000" y="809625"/>
            <a:ext cx="4533900" cy="333375"/>
          </a:xfrm>
          <a:prstGeom prst="rect"/>
        </p:spPr>
        <p:txBody>
          <a:bodyPr wrap="none" lIns="0" tIns="0" rIns="0" bIns="0"/>
          <a:p>
            <a:pPr>
              <a:lnSpc>
                <a:spcPct val="100000"/>
              </a:lnSpc>
            </a:pPr>
            <a:r>
              <a:rPr lang="en-US" sz="2175" b="1">
                <a:solidFill>
                  <a:srgbClr val="0E3F8C"/>
                </a:solidFill>
                <a:latin typeface="Microsoft YaHei"/>
                <a:ea typeface="Microsoft YaHei"/>
              </a:rPr>
              <a:t>What You Finish Before You Leave</a:t>
            </a:r>
            <a:endParaRPr/>
          </a:p>
        </p:txBody>
      </p:sp>
      <p:sp>
        <p:nvSpPr>
          <p:cNvPr id="695" name="" descr="{&quot;isTemplate&quot;:true,&quot;type&quot;:&quot;text&quot;}"/>
          <p:cNvSpPr txBox="1"/>
          <p:nvPr/>
        </p:nvSpPr>
        <p:spPr>
          <a:xfrm rot="0" flipH="0" flipV="0">
            <a:off x="11401425" y="895350"/>
            <a:ext cx="409575" cy="161925"/>
          </a:xfrm>
          <a:prstGeom prst="rect"/>
        </p:spPr>
        <p:txBody>
          <a:bodyPr wrap="none" lIns="0" tIns="0" rIns="0" bIns="0"/>
          <a:p>
            <a:pPr>
              <a:lnSpc>
                <a:spcPct val="100000"/>
              </a:lnSpc>
            </a:pPr>
            <a:r>
              <a:rPr lang="en-US" sz="1050" b="1">
                <a:solidFill>
                  <a:srgbClr val="1E4FA8"/>
                </a:solidFill>
                <a:latin typeface="Microsoft YaHei"/>
                <a:ea typeface="Microsoft YaHei"/>
              </a:rPr>
              <a:t>39 / 39</a:t>
            </a:r>
            <a:endParaRPr/>
          </a:p>
        </p:txBody>
      </p:sp>
      <p:sp>
        <p:nvSpPr>
          <p:cNvPr id="696" name=""/>
          <p:cNvSpPr/>
          <p:nvPr/>
        </p:nvSpPr>
        <p:spPr>
          <a:xfrm rot="0" flipH="0" flipV="0">
            <a:off x="381000" y="1219200"/>
            <a:ext cx="5619750" cy="2152650"/>
          </a:xfrm>
          <a:prstGeom prst="roundRect">
            <a:avLst>
              <a:gd name="adj" fmla="val 4425"/>
            </a:avLst>
          </a:prstGeom>
          <a:solidFill>
            <a:srgbClr val="F7F9FC"/>
          </a:solidFill>
          <a:ln w="12700">
            <a:solidFill>
              <a:srgbClr val="E5E7EB"/>
            </a:solidFill>
            <a:prstDash val="solid"/>
          </a:ln>
        </p:spPr>
        <p:txBody>
          <a:bodyPr/>
          <a:p/>
        </p:txBody>
      </p:sp>
      <p:sp>
        <p:nvSpPr>
          <p:cNvPr id="697" name=""/>
          <p:cNvSpPr/>
          <p:nvPr/>
        </p:nvSpPr>
        <p:spPr>
          <a:xfrm rot="0" flipH="0" flipV="0">
            <a:off x="533400" y="1371600"/>
            <a:ext cx="247650" cy="247650"/>
          </a:xfrm>
          <a:prstGeom prst="roundRect">
            <a:avLst>
              <a:gd name="adj" fmla="val 50000"/>
            </a:avLst>
          </a:prstGeom>
          <a:solidFill>
            <a:srgbClr val="0E3F8C"/>
          </a:solidFill>
          <a:ln/>
        </p:spPr>
        <p:txBody>
          <a:bodyPr/>
          <a:p/>
        </p:txBody>
      </p:sp>
      <p:sp>
        <p:nvSpPr>
          <p:cNvPr id="698" name="" descr="{&quot;isTemplate&quot;:true,&quot;type&quot;:&quot;text&quot;}"/>
          <p:cNvSpPr txBox="1"/>
          <p:nvPr/>
        </p:nvSpPr>
        <p:spPr>
          <a:xfrm rot="0" flipH="0" flipV="0">
            <a:off x="866775" y="1409700"/>
            <a:ext cx="2009775" cy="171450"/>
          </a:xfrm>
          <a:prstGeom prst="rect"/>
        </p:spPr>
        <p:txBody>
          <a:bodyPr wrap="none" lIns="0" tIns="0" rIns="0" bIns="0"/>
          <a:p>
            <a:pPr>
              <a:lnSpc>
                <a:spcPct val="100000"/>
              </a:lnSpc>
            </a:pPr>
            <a:r>
              <a:rPr lang="en-US" sz="1125" b="1">
                <a:solidFill>
                  <a:srgbClr val="0E3F8C"/>
                </a:solidFill>
                <a:latin typeface="Microsoft YaHei"/>
                <a:ea typeface="Microsoft YaHei"/>
              </a:rPr>
              <a:t>1 · SCAN YOUR OWN NOUNS</a:t>
            </a:r>
            <a:endParaRPr/>
          </a:p>
        </p:txBody>
      </p:sp>
      <p:sp>
        <p:nvSpPr>
          <p:cNvPr id="699" name="" descr="{&quot;isTemplate&quot;:true,&quot;type&quot;:&quot;text&quot;}"/>
          <p:cNvSpPr txBox="1"/>
          <p:nvPr/>
        </p:nvSpPr>
        <p:spPr>
          <a:xfrm rot="0" flipH="0" flipV="0">
            <a:off x="533400" y="1733550"/>
            <a:ext cx="5314950" cy="247650"/>
          </a:xfrm>
          <a:prstGeom prst="rect"/>
        </p:spPr>
        <p:txBody>
          <a:bodyPr wrap="none" lIns="0" tIns="0" rIns="0" bIns="0"/>
          <a:p>
            <a:pPr>
              <a:lnSpc>
                <a:spcPct val="155000"/>
              </a:lnSpc>
            </a:pPr>
            <a:r>
              <a:rPr lang="en-US" sz="1013">
                <a:solidFill>
                  <a:srgbClr val="4A5568"/>
                </a:solidFill>
                <a:latin typeface="Microsoft YaHei"/>
                <a:ea typeface="Microsoft YaHei"/>
              </a:rPr>
              <a:t xml:space="preserve">About </a:t>
            </a:r>
            <a:r>
              <a:rPr lang="en-US" sz="1013">
                <a:solidFill>
                  <a:srgbClr val="4A5568"/>
                </a:solidFill>
                <a:latin typeface="Microsoft YaHei"/>
                <a:ea typeface="Microsoft YaHei"/>
              </a:rPr>
              <a:t>24 words</a:t>
            </a:r>
            <a:r>
              <a:rPr lang="en-US" sz="1013">
                <a:solidFill>
                  <a:srgbClr val="4A5568"/>
                </a:solidFill>
                <a:latin typeface="Microsoft YaHei"/>
                <a:ea typeface="Microsoft YaHei"/>
              </a:rPr>
              <a:t xml:space="preserve"> from your own FR-1…FR-12, into four buckets:</a:t>
            </a:r>
            <a:endParaRPr/>
          </a:p>
        </p:txBody>
      </p:sp>
      <p:sp>
        <p:nvSpPr>
          <p:cNvPr id="700" name=""/>
          <p:cNvSpPr/>
          <p:nvPr/>
        </p:nvSpPr>
        <p:spPr>
          <a:xfrm rot="0" flipH="0" flipV="0">
            <a:off x="533400" y="2066925"/>
            <a:ext cx="476250" cy="219075"/>
          </a:xfrm>
          <a:prstGeom prst="roundRect">
            <a:avLst>
              <a:gd name="adj" fmla="val 17391"/>
            </a:avLst>
          </a:prstGeom>
          <a:solidFill>
            <a:srgbClr val="FFFFFF"/>
          </a:solidFill>
          <a:ln w="12700">
            <a:solidFill>
              <a:srgbClr val="D6DCE5"/>
            </a:solidFill>
            <a:prstDash val="solid"/>
          </a:ln>
        </p:spPr>
        <p:txBody>
          <a:bodyPr/>
          <a:p/>
        </p:txBody>
      </p:sp>
      <p:sp>
        <p:nvSpPr>
          <p:cNvPr id="701" name="" descr="{&quot;isTemplate&quot;:true,&quot;type&quot;:&quot;text&quot;}"/>
          <p:cNvSpPr txBox="1"/>
          <p:nvPr/>
        </p:nvSpPr>
        <p:spPr>
          <a:xfrm rot="0" flipH="0" flipV="0">
            <a:off x="619125" y="2105025"/>
            <a:ext cx="304800" cy="142875"/>
          </a:xfrm>
          <a:prstGeom prst="rect"/>
        </p:spPr>
        <p:txBody>
          <a:bodyPr wrap="none" lIns="0" tIns="0" rIns="0" bIns="0"/>
          <a:p>
            <a:pPr>
              <a:lnSpc>
                <a:spcPct val="100000"/>
              </a:lnSpc>
            </a:pPr>
            <a:r>
              <a:rPr lang="en-US" sz="938" b="1">
                <a:solidFill>
                  <a:srgbClr val="0E3F8C"/>
                </a:solidFill>
                <a:latin typeface="Microsoft YaHei"/>
                <a:ea typeface="Microsoft YaHei"/>
              </a:rPr>
              <a:t>class</a:t>
            </a:r>
            <a:endParaRPr/>
          </a:p>
        </p:txBody>
      </p:sp>
      <p:sp>
        <p:nvSpPr>
          <p:cNvPr id="702" name=""/>
          <p:cNvSpPr/>
          <p:nvPr/>
        </p:nvSpPr>
        <p:spPr>
          <a:xfrm rot="0" flipH="0" flipV="0">
            <a:off x="1076325" y="2066925"/>
            <a:ext cx="657225" cy="219075"/>
          </a:xfrm>
          <a:prstGeom prst="roundRect">
            <a:avLst>
              <a:gd name="adj" fmla="val 17391"/>
            </a:avLst>
          </a:prstGeom>
          <a:solidFill>
            <a:srgbClr val="FFFFFF"/>
          </a:solidFill>
          <a:ln w="12700">
            <a:solidFill>
              <a:srgbClr val="D6DCE5"/>
            </a:solidFill>
            <a:prstDash val="solid"/>
          </a:ln>
        </p:spPr>
        <p:txBody>
          <a:bodyPr/>
          <a:p/>
        </p:txBody>
      </p:sp>
      <p:sp>
        <p:nvSpPr>
          <p:cNvPr id="703" name="" descr="{&quot;isTemplate&quot;:true,&quot;type&quot;:&quot;text&quot;}"/>
          <p:cNvSpPr txBox="1"/>
          <p:nvPr/>
        </p:nvSpPr>
        <p:spPr>
          <a:xfrm rot="0" flipH="0" flipV="0">
            <a:off x="1162050" y="2105025"/>
            <a:ext cx="485775" cy="142875"/>
          </a:xfrm>
          <a:prstGeom prst="rect"/>
        </p:spPr>
        <p:txBody>
          <a:bodyPr wrap="none" lIns="0" tIns="0" rIns="0" bIns="0"/>
          <a:p>
            <a:pPr>
              <a:lnSpc>
                <a:spcPct val="100000"/>
              </a:lnSpc>
            </a:pPr>
            <a:r>
              <a:rPr lang="en-US" sz="938" b="1">
                <a:solidFill>
                  <a:srgbClr val="0E3F8C"/>
                </a:solidFill>
                <a:latin typeface="Microsoft YaHei"/>
                <a:ea typeface="Microsoft YaHei"/>
              </a:rPr>
              <a:t>attribute</a:t>
            </a:r>
            <a:endParaRPr/>
          </a:p>
        </p:txBody>
      </p:sp>
      <p:sp>
        <p:nvSpPr>
          <p:cNvPr id="704" name=""/>
          <p:cNvSpPr/>
          <p:nvPr/>
        </p:nvSpPr>
        <p:spPr>
          <a:xfrm rot="0" flipH="0" flipV="0">
            <a:off x="1800225" y="2066925"/>
            <a:ext cx="952500" cy="219075"/>
          </a:xfrm>
          <a:prstGeom prst="roundRect">
            <a:avLst>
              <a:gd name="adj" fmla="val 17391"/>
            </a:avLst>
          </a:prstGeom>
          <a:solidFill>
            <a:srgbClr val="FFFFFF"/>
          </a:solidFill>
          <a:ln w="12700">
            <a:solidFill>
              <a:srgbClr val="D6DCE5"/>
            </a:solidFill>
            <a:prstDash val="solid"/>
          </a:ln>
        </p:spPr>
        <p:txBody>
          <a:bodyPr/>
          <a:p/>
        </p:txBody>
      </p:sp>
      <p:sp>
        <p:nvSpPr>
          <p:cNvPr id="705" name="" descr="{&quot;isTemplate&quot;:true,&quot;type&quot;:&quot;text&quot;}"/>
          <p:cNvSpPr txBox="1"/>
          <p:nvPr/>
        </p:nvSpPr>
        <p:spPr>
          <a:xfrm rot="0" flipH="0" flipV="0">
            <a:off x="1885950" y="2105025"/>
            <a:ext cx="781050" cy="142875"/>
          </a:xfrm>
          <a:prstGeom prst="rect"/>
        </p:spPr>
        <p:txBody>
          <a:bodyPr wrap="none" lIns="0" tIns="0" rIns="0" bIns="0"/>
          <a:p>
            <a:pPr>
              <a:lnSpc>
                <a:spcPct val="100000"/>
              </a:lnSpc>
            </a:pPr>
            <a:r>
              <a:rPr lang="en-US" sz="938" b="1">
                <a:solidFill>
                  <a:srgbClr val="0E3F8C"/>
                </a:solidFill>
                <a:latin typeface="Microsoft YaHei"/>
                <a:ea typeface="Microsoft YaHei"/>
              </a:rPr>
              <a:t>external actor</a:t>
            </a:r>
            <a:endParaRPr/>
          </a:p>
        </p:txBody>
      </p:sp>
      <p:sp>
        <p:nvSpPr>
          <p:cNvPr id="706" name=""/>
          <p:cNvSpPr/>
          <p:nvPr/>
        </p:nvSpPr>
        <p:spPr>
          <a:xfrm rot="0" flipH="0" flipV="0">
            <a:off x="2819400" y="2066925"/>
            <a:ext cx="600075" cy="219075"/>
          </a:xfrm>
          <a:prstGeom prst="roundRect">
            <a:avLst>
              <a:gd name="adj" fmla="val 17391"/>
            </a:avLst>
          </a:prstGeom>
          <a:solidFill>
            <a:srgbClr val="FFFFFF"/>
          </a:solidFill>
          <a:ln w="12700">
            <a:solidFill>
              <a:srgbClr val="D6DCE5"/>
            </a:solidFill>
            <a:prstDash val="solid"/>
          </a:ln>
        </p:spPr>
        <p:txBody>
          <a:bodyPr/>
          <a:p/>
        </p:txBody>
      </p:sp>
      <p:sp>
        <p:nvSpPr>
          <p:cNvPr id="707" name="" descr="{&quot;isTemplate&quot;:true,&quot;type&quot;:&quot;text&quot;}"/>
          <p:cNvSpPr txBox="1"/>
          <p:nvPr/>
        </p:nvSpPr>
        <p:spPr>
          <a:xfrm rot="0" flipH="0" flipV="0">
            <a:off x="2905125" y="2105025"/>
            <a:ext cx="428625" cy="142875"/>
          </a:xfrm>
          <a:prstGeom prst="rect"/>
        </p:spPr>
        <p:txBody>
          <a:bodyPr wrap="none" lIns="0" tIns="0" rIns="0" bIns="0"/>
          <a:p>
            <a:pPr>
              <a:lnSpc>
                <a:spcPct val="100000"/>
              </a:lnSpc>
            </a:pPr>
            <a:r>
              <a:rPr lang="en-US" sz="938" b="1">
                <a:solidFill>
                  <a:srgbClr val="0E3F8C"/>
                </a:solidFill>
                <a:latin typeface="Microsoft YaHei"/>
                <a:ea typeface="Microsoft YaHei"/>
              </a:rPr>
              <a:t>discard</a:t>
            </a:r>
            <a:endParaRPr/>
          </a:p>
        </p:txBody>
      </p:sp>
      <p:sp>
        <p:nvSpPr>
          <p:cNvPr id="708" name="" descr="{&quot;isTemplate&quot;:true,&quot;type&quot;:&quot;text&quot;}"/>
          <p:cNvSpPr txBox="1"/>
          <p:nvPr/>
        </p:nvSpPr>
        <p:spPr>
          <a:xfrm rot="0" flipH="0" flipV="0">
            <a:off x="533400" y="2371725"/>
            <a:ext cx="5314950" cy="466725"/>
          </a:xfrm>
          <a:prstGeom prst="rect"/>
        </p:spPr>
        <p:txBody>
          <a:bodyPr wrap="square" lIns="0" tIns="0" rIns="0" bIns="0">
            <a:normAutofit/>
          </a:bodyPr>
          <a:p>
            <a:pPr>
              <a:lnSpc>
                <a:spcPct val="155000"/>
              </a:lnSpc>
            </a:pPr>
            <a:r>
              <a:rPr lang="en-US" sz="975">
                <a:solidFill>
                  <a:srgbClr val="4A5568"/>
                </a:solidFill>
                <a:latin typeface="Microsoft YaHei"/>
                <a:ea typeface="Microsoft YaHei"/>
              </a:rPr>
              <a:t xml:space="preserve">Every word needs a reason that </a:t>
            </a:r>
            <a:r>
              <a:rPr lang="en-US" sz="975">
                <a:solidFill>
                  <a:srgbClr val="4A5568"/>
                </a:solidFill>
                <a:latin typeface="Microsoft YaHei"/>
                <a:ea typeface="Microsoft YaHei"/>
              </a:rPr>
              <a:t>cites a requirement line</a:t>
            </a:r>
            <a:r>
              <a:rPr lang="en-US" sz="975">
                <a:solidFill>
                  <a:srgbClr val="4A5568"/>
                </a:solidFill>
                <a:latin typeface="Microsoft YaHei"/>
                <a:ea typeface="Microsoft YaHei"/>
              </a:rPr>
              <a:t xml:space="preserve"> — or says that no requirement mentions it.</a:t>
            </a:r>
            <a:endParaRPr/>
          </a:p>
        </p:txBody>
      </p:sp>
      <p:sp>
        <p:nvSpPr>
          <p:cNvPr id="709" name="" descr="{&quot;isTemplate&quot;:true,&quot;type&quot;:&quot;text&quot;}"/>
          <p:cNvSpPr txBox="1"/>
          <p:nvPr/>
        </p:nvSpPr>
        <p:spPr>
          <a:xfrm rot="0" flipH="0" flipV="0">
            <a:off x="533400" y="2924175"/>
            <a:ext cx="5314950" cy="142875"/>
          </a:xfrm>
          <a:prstGeom prst="rect"/>
        </p:spPr>
        <p:txBody>
          <a:bodyPr wrap="none" lIns="0" tIns="0" rIns="0" bIns="0"/>
          <a:p>
            <a:pPr>
              <a:lnSpc>
                <a:spcPct val="100000"/>
              </a:lnSpc>
            </a:pPr>
            <a:r>
              <a:rPr lang="en-US" sz="900">
                <a:solidFill>
                  <a:srgbClr val="8B97A8"/>
                </a:solidFill>
                <a:latin typeface="Microsoft YaHei"/>
                <a:ea typeface="Microsoft YaHei"/>
              </a:rPr>
              <a:t>→ docs/analysis/noun-scan.md</a:t>
            </a:r>
            <a:endParaRPr/>
          </a:p>
        </p:txBody>
      </p:sp>
      <p:sp>
        <p:nvSpPr>
          <p:cNvPr id="710" name=""/>
          <p:cNvSpPr/>
          <p:nvPr/>
        </p:nvSpPr>
        <p:spPr>
          <a:xfrm rot="0" flipH="0" flipV="0">
            <a:off x="6191250" y="1219200"/>
            <a:ext cx="5619750" cy="2152650"/>
          </a:xfrm>
          <a:prstGeom prst="roundRect">
            <a:avLst>
              <a:gd name="adj" fmla="val 4425"/>
            </a:avLst>
          </a:prstGeom>
          <a:solidFill>
            <a:srgbClr val="F7F9FC"/>
          </a:solidFill>
          <a:ln w="12700">
            <a:solidFill>
              <a:srgbClr val="E5E7EB"/>
            </a:solidFill>
            <a:prstDash val="solid"/>
          </a:ln>
        </p:spPr>
        <p:txBody>
          <a:bodyPr/>
          <a:p/>
        </p:txBody>
      </p:sp>
      <p:sp>
        <p:nvSpPr>
          <p:cNvPr id="711" name=""/>
          <p:cNvSpPr/>
          <p:nvPr/>
        </p:nvSpPr>
        <p:spPr>
          <a:xfrm rot="0" flipH="0" flipV="0">
            <a:off x="6343650" y="1371600"/>
            <a:ext cx="247650" cy="247650"/>
          </a:xfrm>
          <a:prstGeom prst="roundRect">
            <a:avLst>
              <a:gd name="adj" fmla="val 50000"/>
            </a:avLst>
          </a:prstGeom>
          <a:solidFill>
            <a:srgbClr val="0E3F8C"/>
          </a:solidFill>
          <a:ln/>
        </p:spPr>
        <p:txBody>
          <a:bodyPr/>
          <a:p/>
        </p:txBody>
      </p:sp>
      <p:sp>
        <p:nvSpPr>
          <p:cNvPr id="712" name="" descr="{&quot;isTemplate&quot;:true,&quot;type&quot;:&quot;text&quot;}"/>
          <p:cNvSpPr txBox="1"/>
          <p:nvPr/>
        </p:nvSpPr>
        <p:spPr>
          <a:xfrm rot="0" flipH="0" flipV="0">
            <a:off x="6677025" y="1409700"/>
            <a:ext cx="1847850" cy="171450"/>
          </a:xfrm>
          <a:prstGeom prst="rect"/>
        </p:spPr>
        <p:txBody>
          <a:bodyPr wrap="none" lIns="0" tIns="0" rIns="0" bIns="0"/>
          <a:p>
            <a:pPr>
              <a:lnSpc>
                <a:spcPct val="100000"/>
              </a:lnSpc>
            </a:pPr>
            <a:r>
              <a:rPr lang="en-US" sz="1125" b="1">
                <a:solidFill>
                  <a:srgbClr val="0E3F8C"/>
                </a:solidFill>
                <a:latin typeface="Microsoft YaHei"/>
                <a:ea typeface="Microsoft YaHei"/>
              </a:rPr>
              <a:t>2 · CLASSIFY, THEN DRAW</a:t>
            </a:r>
            <a:endParaRPr/>
          </a:p>
        </p:txBody>
      </p:sp>
      <p:sp>
        <p:nvSpPr>
          <p:cNvPr id="713" name="" descr="{&quot;isTemplate&quot;:true,&quot;type&quot;:&quot;text&quot;}"/>
          <p:cNvSpPr txBox="1"/>
          <p:nvPr/>
        </p:nvSpPr>
        <p:spPr>
          <a:xfrm rot="0" flipH="0" flipV="0">
            <a:off x="6343650" y="1733550"/>
            <a:ext cx="5314950" cy="247650"/>
          </a:xfrm>
          <a:prstGeom prst="rect"/>
        </p:spPr>
        <p:txBody>
          <a:bodyPr wrap="none" lIns="0" tIns="0" rIns="0" bIns="0"/>
          <a:p>
            <a:pPr>
              <a:lnSpc>
                <a:spcPct val="155000"/>
              </a:lnSpc>
            </a:pPr>
            <a:r>
              <a:rPr lang="en-US" sz="1013">
                <a:solidFill>
                  <a:srgbClr val="4A5568"/>
                </a:solidFill>
                <a:latin typeface="Microsoft YaHei"/>
                <a:ea typeface="Microsoft YaHei"/>
              </a:rPr>
              <a:t xml:space="preserve">Mark every class </a:t>
            </a:r>
            <a:r>
              <a:rPr lang="en-US" sz="1013">
                <a:solidFill>
                  <a:srgbClr val="4A5568"/>
                </a:solidFill>
                <a:latin typeface="Microsoft YaHei"/>
                <a:ea typeface="Microsoft YaHei"/>
              </a:rPr>
              <a:t>E</a:t>
            </a:r>
            <a:r>
              <a:rPr lang="en-US" sz="1013">
                <a:solidFill>
                  <a:srgbClr val="4A5568"/>
                </a:solidFill>
                <a:latin typeface="Microsoft YaHei"/>
                <a:ea typeface="Microsoft YaHei"/>
              </a:rPr>
              <a:t xml:space="preserve">, </a:t>
            </a:r>
            <a:r>
              <a:rPr lang="en-US" sz="1013">
                <a:solidFill>
                  <a:srgbClr val="4A5568"/>
                </a:solidFill>
                <a:latin typeface="Microsoft YaHei"/>
                <a:ea typeface="Microsoft YaHei"/>
              </a:rPr>
              <a:t>B</a:t>
            </a:r>
            <a:r>
              <a:rPr lang="en-US" sz="1013">
                <a:solidFill>
                  <a:srgbClr val="4A5568"/>
                </a:solidFill>
                <a:latin typeface="Microsoft YaHei"/>
                <a:ea typeface="Microsoft YaHei"/>
              </a:rPr>
              <a:t xml:space="preserve"> or </a:t>
            </a:r>
            <a:r>
              <a:rPr lang="en-US" sz="1013">
                <a:solidFill>
                  <a:srgbClr val="4A5568"/>
                </a:solidFill>
                <a:latin typeface="Microsoft YaHei"/>
                <a:ea typeface="Microsoft YaHei"/>
              </a:rPr>
              <a:t>C</a:t>
            </a:r>
            <a:r>
              <a:rPr lang="en-US" sz="1013">
                <a:solidFill>
                  <a:srgbClr val="4A5568"/>
                </a:solidFill>
                <a:latin typeface="Microsoft YaHei"/>
                <a:ea typeface="Microsoft YaHei"/>
              </a:rPr>
              <a:t>, then draw the first domain model.</a:t>
            </a:r>
            <a:endParaRPr/>
          </a:p>
        </p:txBody>
      </p:sp>
      <p:sp>
        <p:nvSpPr>
          <p:cNvPr id="714" name="" descr="{&quot;isTemplate&quot;:true,&quot;type&quot;:&quot;text&quot;}"/>
          <p:cNvSpPr txBox="1"/>
          <p:nvPr/>
        </p:nvSpPr>
        <p:spPr>
          <a:xfrm rot="0" flipH="0" flipV="0">
            <a:off x="6343650" y="2057400"/>
            <a:ext cx="5314950" cy="238125"/>
          </a:xfrm>
          <a:prstGeom prst="rect"/>
        </p:spPr>
        <p:txBody>
          <a:bodyPr wrap="none" lIns="0" tIns="0" rIns="0" bIns="0"/>
          <a:p>
            <a:pPr>
              <a:lnSpc>
                <a:spcPct val="155000"/>
              </a:lnSpc>
            </a:pPr>
            <a:r>
              <a:rPr lang="en-US" sz="975">
                <a:solidFill>
                  <a:srgbClr val="4A5568"/>
                </a:solidFill>
                <a:latin typeface="Microsoft YaHei"/>
                <a:ea typeface="Microsoft YaHei"/>
              </a:rPr>
              <a:t xml:space="preserve">Target </a:t>
            </a:r>
            <a:r>
              <a:rPr lang="en-US" sz="975">
                <a:solidFill>
                  <a:srgbClr val="4A5568"/>
                </a:solidFill>
                <a:latin typeface="Microsoft YaHei"/>
                <a:ea typeface="Microsoft YaHei"/>
              </a:rPr>
              <a:t>eight classes or more</a:t>
            </a:r>
            <a:r>
              <a:rPr lang="en-US" sz="975">
                <a:solidFill>
                  <a:srgbClr val="4A5568"/>
                </a:solidFill>
                <a:latin typeface="Microsoft YaHei"/>
                <a:ea typeface="Microsoft YaHei"/>
              </a:rPr>
              <a:t>. Associations only — no multiplicities, no attributes, no methods.</a:t>
            </a:r>
            <a:endParaRPr/>
          </a:p>
        </p:txBody>
      </p:sp>
      <p:sp>
        <p:nvSpPr>
          <p:cNvPr id="715" name=""/>
          <p:cNvSpPr/>
          <p:nvPr/>
        </p:nvSpPr>
        <p:spPr>
          <a:xfrm rot="0" flipH="0" flipV="0">
            <a:off x="6343650" y="2390775"/>
            <a:ext cx="5343525" cy="428625"/>
          </a:xfrm>
          <a:custGeom>
            <a:pathLst>
              <a:path w="561" h="45">
                <a:moveTo>
                  <a:pt x="0" y="0"/>
                </a:moveTo>
                <a:lnTo>
                  <a:pt x="3" y="0"/>
                </a:lnTo>
                <a:lnTo>
                  <a:pt x="3" y="45"/>
                </a:lnTo>
                <a:lnTo>
                  <a:pt x="0" y="45"/>
                </a:lnTo>
                <a:close/>
              </a:path>
            </a:pathLst>
          </a:custGeom>
          <a:solidFill>
            <a:srgbClr val="FFC107"/>
          </a:solidFill>
          <a:ln/>
        </p:spPr>
        <p:txBody>
          <a:bodyPr/>
          <a:p/>
        </p:txBody>
      </p:sp>
      <p:sp>
        <p:nvSpPr>
          <p:cNvPr id="716" name="" descr="{&quot;isTemplate&quot;:true,&quot;type&quot;:&quot;text&quot;}"/>
          <p:cNvSpPr txBox="1"/>
          <p:nvPr/>
        </p:nvSpPr>
        <p:spPr>
          <a:xfrm rot="0" flipH="0" flipV="0">
            <a:off x="6467475" y="2390775"/>
            <a:ext cx="5191125" cy="428625"/>
          </a:xfrm>
          <a:prstGeom prst="rect"/>
        </p:spPr>
        <p:txBody>
          <a:bodyPr wrap="square" lIns="0" tIns="0" rIns="0" bIns="0">
            <a:normAutofit/>
          </a:bodyPr>
          <a:p>
            <a:pPr>
              <a:lnSpc>
                <a:spcPct val="150000"/>
              </a:lnSpc>
            </a:pPr>
            <a:r>
              <a:rPr lang="en-US" sz="938">
                <a:solidFill>
                  <a:srgbClr val="4A5568"/>
                </a:solidFill>
                <a:latin typeface="Microsoft YaHei"/>
                <a:ea typeface="Microsoft YaHei"/>
              </a:rPr>
              <a:t xml:space="preserve">Two arguments you must write down: </a:t>
            </a:r>
            <a:r>
              <a:rPr lang="en-US" sz="938">
                <a:solidFill>
                  <a:srgbClr val="4A5568"/>
                </a:solidFill>
                <a:latin typeface="Microsoft YaHei"/>
                <a:ea typeface="Microsoft YaHei"/>
              </a:rPr>
              <a:t>Contraindication</a:t>
            </a:r>
            <a:r>
              <a:rPr lang="en-US" sz="938">
                <a:solidFill>
                  <a:srgbClr val="4A5568"/>
                </a:solidFill>
                <a:latin typeface="Microsoft YaHei"/>
                <a:ea typeface="Microsoft YaHei"/>
              </a:rPr>
              <a:t xml:space="preserve"> (FR-1 attaches it to the client, not to a product) and </a:t>
            </a:r>
            <a:r>
              <a:rPr lang="en-US" sz="938">
                <a:solidFill>
                  <a:srgbClr val="4A5568"/>
                </a:solidFill>
                <a:latin typeface="Microsoft YaHei"/>
                <a:ea typeface="Microsoft YaHei"/>
              </a:rPr>
              <a:t>AllergyHistory</a:t>
            </a:r>
            <a:r>
              <a:rPr lang="en-US" sz="938">
                <a:solidFill>
                  <a:srgbClr val="4A5568"/>
                </a:solidFill>
                <a:latin typeface="Microsoft YaHei"/>
                <a:ea typeface="Microsoft YaHei"/>
              </a:rPr>
              <a:t>.</a:t>
            </a:r>
            <a:endParaRPr/>
          </a:p>
        </p:txBody>
      </p:sp>
      <p:sp>
        <p:nvSpPr>
          <p:cNvPr id="717" name="" descr="{&quot;isTemplate&quot;:true,&quot;type&quot;:&quot;text&quot;}"/>
          <p:cNvSpPr txBox="1"/>
          <p:nvPr/>
        </p:nvSpPr>
        <p:spPr>
          <a:xfrm rot="0" flipH="0" flipV="0">
            <a:off x="6343650" y="2905125"/>
            <a:ext cx="5314950" cy="142875"/>
          </a:xfrm>
          <a:prstGeom prst="rect"/>
        </p:spPr>
        <p:txBody>
          <a:bodyPr wrap="none" lIns="0" tIns="0" rIns="0" bIns="0"/>
          <a:p>
            <a:pPr>
              <a:lnSpc>
                <a:spcPct val="100000"/>
              </a:lnSpc>
            </a:pPr>
            <a:r>
              <a:rPr lang="en-US" sz="900">
                <a:solidFill>
                  <a:srgbClr val="8B97A8"/>
                </a:solidFill>
                <a:latin typeface="Microsoft YaHei"/>
                <a:ea typeface="Microsoft YaHei"/>
              </a:rPr>
              <a:t>→ docs/diagrams/domain-model-v1.puml + PNG</a:t>
            </a:r>
            <a:endParaRPr/>
          </a:p>
        </p:txBody>
      </p:sp>
      <p:sp>
        <p:nvSpPr>
          <p:cNvPr id="718" name=""/>
          <p:cNvSpPr/>
          <p:nvPr/>
        </p:nvSpPr>
        <p:spPr>
          <a:xfrm rot="0" flipH="0" flipV="0">
            <a:off x="381000" y="3524250"/>
            <a:ext cx="5619750" cy="2686050"/>
          </a:xfrm>
          <a:prstGeom prst="roundRect">
            <a:avLst>
              <a:gd name="adj" fmla="val 3546"/>
            </a:avLst>
          </a:prstGeom>
          <a:solidFill>
            <a:srgbClr val="F0F5FC"/>
          </a:solidFill>
          <a:ln w="12700">
            <a:solidFill>
              <a:srgbClr val="C8D8EE"/>
            </a:solidFill>
            <a:prstDash val="solid"/>
          </a:ln>
        </p:spPr>
        <p:txBody>
          <a:bodyPr/>
          <a:p/>
        </p:txBody>
      </p:sp>
      <p:sp>
        <p:nvSpPr>
          <p:cNvPr id="719" name=""/>
          <p:cNvSpPr/>
          <p:nvPr/>
        </p:nvSpPr>
        <p:spPr>
          <a:xfrm rot="0" flipH="0" flipV="0">
            <a:off x="533400" y="3676650"/>
            <a:ext cx="247650" cy="247650"/>
          </a:xfrm>
          <a:prstGeom prst="roundRect">
            <a:avLst>
              <a:gd name="adj" fmla="val 50000"/>
            </a:avLst>
          </a:prstGeom>
          <a:solidFill>
            <a:srgbClr val="1E4FA8"/>
          </a:solidFill>
          <a:ln/>
        </p:spPr>
        <p:txBody>
          <a:bodyPr/>
          <a:p/>
        </p:txBody>
      </p:sp>
      <p:sp>
        <p:nvSpPr>
          <p:cNvPr id="720" name="" descr="{&quot;isTemplate&quot;:true,&quot;type&quot;:&quot;text&quot;}"/>
          <p:cNvSpPr txBox="1"/>
          <p:nvPr/>
        </p:nvSpPr>
        <p:spPr>
          <a:xfrm rot="0" flipH="0" flipV="0">
            <a:off x="866775" y="3714750"/>
            <a:ext cx="2152650" cy="171450"/>
          </a:xfrm>
          <a:prstGeom prst="rect"/>
        </p:spPr>
        <p:txBody>
          <a:bodyPr wrap="none" lIns="0" tIns="0" rIns="0" bIns="0"/>
          <a:p>
            <a:pPr>
              <a:lnSpc>
                <a:spcPct val="100000"/>
              </a:lnSpc>
            </a:pPr>
            <a:r>
              <a:rPr lang="en-US" sz="1125" b="1">
                <a:solidFill>
                  <a:srgbClr val="0E3F8C"/>
                </a:solidFill>
                <a:latin typeface="Microsoft YaHei"/>
                <a:ea typeface="Microsoft YaHei"/>
              </a:rPr>
              <a:t>3 · MAKE ONE OPEN DECISION</a:t>
            </a:r>
            <a:endParaRPr/>
          </a:p>
        </p:txBody>
      </p:sp>
      <p:sp>
        <p:nvSpPr>
          <p:cNvPr id="721" name="" descr="{&quot;isTemplate&quot;:true,&quot;type&quot;:&quot;text&quot;}"/>
          <p:cNvSpPr txBox="1"/>
          <p:nvPr/>
        </p:nvSpPr>
        <p:spPr>
          <a:xfrm rot="0" flipH="0" flipV="0">
            <a:off x="533400" y="4038600"/>
            <a:ext cx="5314950" cy="247650"/>
          </a:xfrm>
          <a:prstGeom prst="rect"/>
        </p:spPr>
        <p:txBody>
          <a:bodyPr wrap="none" lIns="0" tIns="0" rIns="0" bIns="0"/>
          <a:p>
            <a:pPr>
              <a:lnSpc>
                <a:spcPct val="155000"/>
              </a:lnSpc>
            </a:pPr>
            <a:r>
              <a:rPr lang="en-US" sz="1013">
                <a:solidFill>
                  <a:srgbClr val="4A5568"/>
                </a:solidFill>
                <a:latin typeface="Microsoft YaHei"/>
                <a:ea typeface="Microsoft YaHei"/>
              </a:rPr>
              <a:t xml:space="preserve">Your requirements left </a:t>
            </a:r>
            <a:r>
              <a:rPr lang="en-US" sz="1013">
                <a:solidFill>
                  <a:srgbClr val="4A5568"/>
                </a:solidFill>
                <a:latin typeface="Microsoft YaHei"/>
                <a:ea typeface="Microsoft YaHei"/>
              </a:rPr>
              <a:t>six things unspecified</a:t>
            </a:r>
            <a:r>
              <a:rPr lang="en-US" sz="1013">
                <a:solidFill>
                  <a:srgbClr val="4A5568"/>
                </a:solidFill>
                <a:latin typeface="Microsoft YaHei"/>
                <a:ea typeface="Microsoft YaHei"/>
              </a:rPr>
              <a:t>. Pick one, decide it,</a:t>
            </a:r>
            <a:r>
              <a:rPr lang="en-US" sz="1013">
                <a:solidFill>
                  <a:srgbClr val="4A5568"/>
                </a:solidFill>
                <a:latin typeface="Microsoft YaHei"/>
                <a:ea typeface="Microsoft YaHei"/>
              </a:rPr>
              <a:t xml:space="preserve"> model it</a:t>
            </a:r>
            <a:r>
              <a:rPr lang="en-US" sz="1013">
                <a:solidFill>
                  <a:srgbClr val="4A5568"/>
                </a:solidFill>
                <a:latin typeface="Microsoft YaHei"/>
                <a:ea typeface="Microsoft YaHei"/>
              </a:rPr>
              <a:t>, and say why.</a:t>
            </a:r>
            <a:endParaRPr/>
          </a:p>
        </p:txBody>
      </p:sp>
      <p:sp>
        <p:nvSpPr>
          <p:cNvPr id="722" name="" descr="{&quot;isTemplate&quot;:true,&quot;type&quot;:&quot;text&quot;}"/>
          <p:cNvSpPr txBox="1"/>
          <p:nvPr/>
        </p:nvSpPr>
        <p:spPr>
          <a:xfrm rot="0" flipH="0" flipV="0">
            <a:off x="533400" y="4371975"/>
            <a:ext cx="5314950" cy="161925"/>
          </a:xfrm>
          <a:prstGeom prst="rect"/>
        </p:spPr>
        <p:txBody>
          <a:bodyPr wrap="none" lIns="0" tIns="0" rIns="0" bIns="0"/>
          <a:p>
            <a:pPr>
              <a:lnSpc>
                <a:spcPct val="100000"/>
              </a:lnSpc>
            </a:pPr>
            <a:r>
              <a:rPr lang="en-US" sz="1013" b="1">
                <a:solidFill>
                  <a:srgbClr val="D9534F"/>
                </a:solidFill>
                <a:latin typeface="Microsoft YaHei"/>
                <a:ea typeface="Microsoft YaHei"/>
              </a:rPr>
              <a:t>"We haven't decided" is not a model.</a:t>
            </a:r>
            <a:endParaRPr/>
          </a:p>
        </p:txBody>
      </p:sp>
      <p:sp>
        <p:nvSpPr>
          <p:cNvPr id="723" name="" descr="{&quot;isTemplate&quot;:true,&quot;type&quot;:&quot;text&quot;}"/>
          <p:cNvSpPr txBox="1"/>
          <p:nvPr/>
        </p:nvSpPr>
        <p:spPr>
          <a:xfrm rot="0" flipH="0" flipV="0">
            <a:off x="533400" y="4591050"/>
            <a:ext cx="5314950" cy="647700"/>
          </a:xfrm>
          <a:prstGeom prst="rect"/>
        </p:spPr>
        <p:txBody>
          <a:bodyPr wrap="square" lIns="0" tIns="0" rIns="0" bIns="0">
            <a:normAutofit/>
          </a:bodyPr>
          <a:p>
            <a:pPr>
              <a:lnSpc>
                <a:spcPct val="150000"/>
              </a:lnSpc>
            </a:pPr>
            <a:r>
              <a:rPr lang="en-US" sz="938">
                <a:solidFill>
                  <a:srgbClr val="4A5568"/>
                </a:solidFill>
                <a:latin typeface="Microsoft YaHei"/>
                <a:ea typeface="Microsoft YaHei"/>
              </a:rPr>
              <a:t>Does the client see findings before review? What happens on a low-confidence finding? Who may correct a client's own concern? Segments? Photo retention? What the client sees when an analysis is rejected?</a:t>
            </a:r>
            <a:endParaRPr/>
          </a:p>
        </p:txBody>
      </p:sp>
      <p:sp>
        <p:nvSpPr>
          <p:cNvPr id="724" name=""/>
          <p:cNvSpPr/>
          <p:nvPr/>
        </p:nvSpPr>
        <p:spPr>
          <a:xfrm rot="0" flipH="0" flipV="0">
            <a:off x="6191250" y="3524250"/>
            <a:ext cx="5619750" cy="2686050"/>
          </a:xfrm>
          <a:prstGeom prst="roundRect">
            <a:avLst>
              <a:gd name="adj" fmla="val 3546"/>
            </a:avLst>
          </a:prstGeom>
          <a:solidFill>
            <a:srgbClr val="F0F5FC"/>
          </a:solidFill>
          <a:ln w="12700">
            <a:solidFill>
              <a:srgbClr val="C8D8EE"/>
            </a:solidFill>
            <a:prstDash val="solid"/>
          </a:ln>
        </p:spPr>
        <p:txBody>
          <a:bodyPr/>
          <a:p/>
        </p:txBody>
      </p:sp>
      <p:sp>
        <p:nvSpPr>
          <p:cNvPr id="725" name=""/>
          <p:cNvSpPr/>
          <p:nvPr/>
        </p:nvSpPr>
        <p:spPr>
          <a:xfrm rot="0" flipH="0" flipV="0">
            <a:off x="6343650" y="3676650"/>
            <a:ext cx="247650" cy="247650"/>
          </a:xfrm>
          <a:prstGeom prst="roundRect">
            <a:avLst>
              <a:gd name="adj" fmla="val 50000"/>
            </a:avLst>
          </a:prstGeom>
          <a:solidFill>
            <a:srgbClr val="D9534F"/>
          </a:solidFill>
          <a:ln/>
        </p:spPr>
        <p:txBody>
          <a:bodyPr/>
          <a:p/>
        </p:txBody>
      </p:sp>
      <p:sp>
        <p:nvSpPr>
          <p:cNvPr id="726" name="" descr="{&quot;isTemplate&quot;:true,&quot;type&quot;:&quot;text&quot;}"/>
          <p:cNvSpPr txBox="1"/>
          <p:nvPr/>
        </p:nvSpPr>
        <p:spPr>
          <a:xfrm rot="0" flipH="0" flipV="0">
            <a:off x="6677025" y="3714750"/>
            <a:ext cx="2133600" cy="171450"/>
          </a:xfrm>
          <a:prstGeom prst="rect"/>
        </p:spPr>
        <p:txBody>
          <a:bodyPr wrap="none" lIns="0" tIns="0" rIns="0" bIns="0"/>
          <a:p>
            <a:pPr>
              <a:lnSpc>
                <a:spcPct val="100000"/>
              </a:lnSpc>
            </a:pPr>
            <a:r>
              <a:rPr lang="en-US" sz="1125" b="1">
                <a:solidFill>
                  <a:srgbClr val="0E3F8C"/>
                </a:solidFill>
                <a:latin typeface="Microsoft YaHei"/>
                <a:ea typeface="Microsoft YaHei"/>
              </a:rPr>
              <a:t>4 · CLOSE OUT M0 — TAG `m0`</a:t>
            </a:r>
            <a:endParaRPr/>
          </a:p>
        </p:txBody>
      </p:sp>
      <p:sp>
        <p:nvSpPr>
          <p:cNvPr id="727" name="" descr="{&quot;isTemplate&quot;:true,&quot;type&quot;:&quot;text&quot;}"/>
          <p:cNvSpPr txBox="1"/>
          <p:nvPr/>
        </p:nvSpPr>
        <p:spPr>
          <a:xfrm rot="0" flipH="0" flipV="0">
            <a:off x="6343650" y="4038600"/>
            <a:ext cx="5314950" cy="247650"/>
          </a:xfrm>
          <a:prstGeom prst="rect"/>
        </p:spPr>
        <p:txBody>
          <a:bodyPr wrap="none" lIns="0" tIns="0" rIns="0" bIns="0"/>
          <a:p>
            <a:pPr>
              <a:lnSpc>
                <a:spcPct val="155000"/>
              </a:lnSpc>
            </a:pPr>
            <a:r>
              <a:rPr lang="en-US" sz="1013">
                <a:solidFill>
                  <a:srgbClr val="4A5568"/>
                </a:solidFill>
                <a:latin typeface="Microsoft YaHei"/>
                <a:ea typeface="Microsoft YaHei"/>
              </a:rPr>
              <a:t>Four artefacts, then one tag, then one command whose output you read.</a:t>
            </a:r>
            <a:endParaRPr/>
          </a:p>
        </p:txBody>
      </p:sp>
      <p:sp>
        <p:nvSpPr>
          <p:cNvPr id="728" name="" descr="{&quot;isTemplate&quot;:true,&quot;type&quot;:&quot;text&quot;}"/>
          <p:cNvSpPr txBox="1"/>
          <p:nvPr/>
        </p:nvSpPr>
        <p:spPr>
          <a:xfrm rot="0" flipH="0" flipV="0">
            <a:off x="6343650" y="4371975"/>
            <a:ext cx="5314950" cy="228600"/>
          </a:xfrm>
          <a:prstGeom prst="rect"/>
        </p:spPr>
        <p:txBody>
          <a:bodyPr wrap="none" lIns="0" tIns="0" rIns="0" bIns="0"/>
          <a:p>
            <a:pPr>
              <a:lnSpc>
                <a:spcPct val="160000"/>
              </a:lnSpc>
            </a:pPr>
            <a:r>
              <a:rPr lang="en-US" sz="938">
                <a:solidFill>
                  <a:srgbClr val="4A5568"/>
                </a:solidFill>
                <a:latin typeface="Microsoft YaHei"/>
                <a:ea typeface="Microsoft YaHei"/>
              </a:rPr>
              <a:t>· docs/m0/team-charter.md — four names, four roles</a:t>
            </a:r>
            <a:endParaRPr/>
          </a:p>
        </p:txBody>
      </p:sp>
      <p:sp>
        <p:nvSpPr>
          <p:cNvPr id="729" name="" descr="{&quot;isTemplate&quot;:true,&quot;type&quot;:&quot;text&quot;}"/>
          <p:cNvSpPr txBox="1"/>
          <p:nvPr/>
        </p:nvSpPr>
        <p:spPr>
          <a:xfrm rot="0" flipH="0" flipV="0">
            <a:off x="6343650" y="4600575"/>
            <a:ext cx="5314950" cy="228600"/>
          </a:xfrm>
          <a:prstGeom prst="rect"/>
        </p:spPr>
        <p:txBody>
          <a:bodyPr wrap="none" lIns="0" tIns="0" rIns="0" bIns="0"/>
          <a:p>
            <a:pPr>
              <a:lnSpc>
                <a:spcPct val="160000"/>
              </a:lnSpc>
            </a:pPr>
            <a:r>
              <a:rPr lang="en-US" sz="938">
                <a:solidFill>
                  <a:srgbClr val="4A5568"/>
                </a:solidFill>
                <a:latin typeface="Microsoft YaHei"/>
                <a:ea typeface="Microsoft YaHei"/>
              </a:rPr>
              <a:t>· docs/m0/stakeholders.md — inside or outside</a:t>
            </a:r>
            <a:endParaRPr/>
          </a:p>
        </p:txBody>
      </p:sp>
      <p:sp>
        <p:nvSpPr>
          <p:cNvPr id="730" name="" descr="{&quot;isTemplate&quot;:true,&quot;type&quot;:&quot;text&quot;}"/>
          <p:cNvSpPr txBox="1"/>
          <p:nvPr/>
        </p:nvSpPr>
        <p:spPr>
          <a:xfrm rot="0" flipH="0" flipV="0">
            <a:off x="6343650" y="4829175"/>
            <a:ext cx="5314950" cy="228600"/>
          </a:xfrm>
          <a:prstGeom prst="rect"/>
        </p:spPr>
        <p:txBody>
          <a:bodyPr wrap="none" lIns="0" tIns="0" rIns="0" bIns="0"/>
          <a:p>
            <a:pPr>
              <a:lnSpc>
                <a:spcPct val="160000"/>
              </a:lnSpc>
            </a:pPr>
            <a:r>
              <a:rPr lang="en-US" sz="938">
                <a:solidFill>
                  <a:srgbClr val="4A5568"/>
                </a:solidFill>
                <a:latin typeface="Microsoft YaHei"/>
                <a:ea typeface="Microsoft YaHei"/>
              </a:rPr>
              <a:t>· docs/m0/vision.md — including the safety boundary</a:t>
            </a:r>
            <a:endParaRPr/>
          </a:p>
        </p:txBody>
      </p:sp>
      <p:sp>
        <p:nvSpPr>
          <p:cNvPr id="731" name=""/>
          <p:cNvSpPr/>
          <p:nvPr/>
        </p:nvSpPr>
        <p:spPr>
          <a:xfrm rot="0" flipH="0" flipV="0">
            <a:off x="6343650" y="5143500"/>
            <a:ext cx="5314950" cy="552450"/>
          </a:xfrm>
          <a:prstGeom prst="roundRect">
            <a:avLst>
              <a:gd name="adj" fmla="val 8621"/>
            </a:avLst>
          </a:prstGeom>
          <a:solidFill>
            <a:srgbClr val="0E3F8C"/>
          </a:solidFill>
          <a:ln/>
        </p:spPr>
        <p:txBody>
          <a:bodyPr/>
          <a:p/>
        </p:txBody>
      </p:sp>
      <p:sp>
        <p:nvSpPr>
          <p:cNvPr id="732" name="" descr="{&quot;isTemplate&quot;:true,&quot;type&quot;:&quot;text&quot;}"/>
          <p:cNvSpPr txBox="1"/>
          <p:nvPr/>
        </p:nvSpPr>
        <p:spPr>
          <a:xfrm rot="0" flipH="0" flipV="0">
            <a:off x="6438900" y="5219700"/>
            <a:ext cx="5124450" cy="133350"/>
          </a:xfrm>
          <a:prstGeom prst="rect"/>
        </p:spPr>
        <p:txBody>
          <a:bodyPr wrap="none" lIns="0" tIns="0" rIns="0" bIns="0"/>
          <a:p>
            <a:pPr>
              <a:lnSpc>
                <a:spcPct val="100000"/>
              </a:lnSpc>
            </a:pPr>
            <a:r>
              <a:rPr lang="en-US" sz="825">
                <a:solidFill>
                  <a:srgbClr val="C5D4EA"/>
                </a:solidFill>
                <a:latin typeface="Menlo"/>
                <a:ea typeface="Menlo"/>
              </a:rPr>
              <a:t>git tag -a m0 -m "M0: charter, stakeholders, vision"</a:t>
            </a:r>
            <a:endParaRPr/>
          </a:p>
        </p:txBody>
      </p:sp>
      <p:sp>
        <p:nvSpPr>
          <p:cNvPr id="733" name="" descr="{&quot;isTemplate&quot;:true,&quot;type&quot;:&quot;text&quot;}"/>
          <p:cNvSpPr txBox="1"/>
          <p:nvPr/>
        </p:nvSpPr>
        <p:spPr>
          <a:xfrm rot="0" flipH="0" flipV="0">
            <a:off x="6438900" y="5353050"/>
            <a:ext cx="5124450" cy="133350"/>
          </a:xfrm>
          <a:prstGeom prst="rect"/>
        </p:spPr>
        <p:txBody>
          <a:bodyPr wrap="none" lIns="0" tIns="0" rIns="0" bIns="0"/>
          <a:p>
            <a:pPr>
              <a:lnSpc>
                <a:spcPct val="100000"/>
              </a:lnSpc>
            </a:pPr>
            <a:r>
              <a:rPr lang="en-US" sz="825">
                <a:solidFill>
                  <a:srgbClr val="C5D4EA"/>
                </a:solidFill>
                <a:latin typeface="Menlo"/>
                <a:ea typeface="Menlo"/>
              </a:rPr>
              <a:t>git push origin m0</a:t>
            </a:r>
            <a:endParaRPr/>
          </a:p>
        </p:txBody>
      </p:sp>
      <p:sp>
        <p:nvSpPr>
          <p:cNvPr id="734" name="" descr="{&quot;isTemplate&quot;:true,&quot;type&quot;:&quot;text&quot;}"/>
          <p:cNvSpPr txBox="1"/>
          <p:nvPr/>
        </p:nvSpPr>
        <p:spPr>
          <a:xfrm rot="0" flipH="0" flipV="0">
            <a:off x="6438900" y="5486400"/>
            <a:ext cx="5124450" cy="133350"/>
          </a:xfrm>
          <a:prstGeom prst="rect"/>
        </p:spPr>
        <p:txBody>
          <a:bodyPr wrap="none" lIns="0" tIns="0" rIns="0" bIns="0"/>
          <a:p>
            <a:pPr>
              <a:lnSpc>
                <a:spcPct val="100000"/>
              </a:lnSpc>
            </a:pPr>
            <a:r>
              <a:rPr lang="en-US" sz="825">
                <a:solidFill>
                  <a:srgbClr val="FFC107"/>
                </a:solidFill>
                <a:latin typeface="Menlo"/>
                <a:ea typeface="Menlo"/>
              </a:rPr>
              <a:t>git ls-remote --tags origin</a:t>
            </a:r>
            <a:endParaRPr/>
          </a:p>
        </p:txBody>
      </p:sp>
      <p:sp>
        <p:nvSpPr>
          <p:cNvPr id="735" name="" descr="{&quot;isTemplate&quot;:true,&quot;type&quot;:&quot;text&quot;}"/>
          <p:cNvSpPr txBox="1"/>
          <p:nvPr/>
        </p:nvSpPr>
        <p:spPr>
          <a:xfrm rot="0" flipH="0" flipV="0">
            <a:off x="6343650" y="5772150"/>
            <a:ext cx="5314950" cy="142875"/>
          </a:xfrm>
          <a:prstGeom prst="rect"/>
        </p:spPr>
        <p:txBody>
          <a:bodyPr wrap="none" lIns="0" tIns="0" rIns="0" bIns="0"/>
          <a:p>
            <a:pPr>
              <a:lnSpc>
                <a:spcPct val="100000"/>
              </a:lnSpc>
            </a:pPr>
            <a:r>
              <a:rPr lang="en-US" sz="900">
                <a:solidFill>
                  <a:srgbClr val="8B97A8"/>
                </a:solidFill>
                <a:latin typeface="Microsoft YaHei"/>
                <a:ea typeface="Microsoft YaHei"/>
              </a:rPr>
              <a:t>You must see refs/tags/m0. No line = not submitted.</a:t>
            </a:r>
            <a:endParaRPr/>
          </a:p>
        </p:txBody>
      </p:sp>
      <p:sp>
        <p:nvSpPr>
          <p:cNvPr id="736" name=""/>
          <p:cNvSpPr/>
          <p:nvPr/>
        </p:nvSpPr>
        <p:spPr>
          <a:xfrm rot="0" flipH="0" flipV="0">
            <a:off x="0" y="6343650"/>
            <a:ext cx="12192000" cy="514350"/>
          </a:xfrm>
          <a:prstGeom prst="rect">
            <a:avLst/>
          </a:prstGeom>
          <a:solidFill>
            <a:srgbClr val="0E3F8C"/>
          </a:solidFill>
          <a:ln/>
        </p:spPr>
        <p:txBody>
          <a:bodyPr/>
          <a:p/>
        </p:txBody>
      </p:sp>
      <p:sp>
        <p:nvSpPr>
          <p:cNvPr id="737" name="" descr="{&quot;isTemplate&quot;:true,&quot;type&quot;:&quot;text&quot;}"/>
          <p:cNvSpPr txBox="1"/>
          <p:nvPr/>
        </p:nvSpPr>
        <p:spPr>
          <a:xfrm rot="0" flipH="0" flipV="0">
            <a:off x="381000" y="6515100"/>
            <a:ext cx="6934200" cy="171450"/>
          </a:xfrm>
          <a:prstGeom prst="rect"/>
        </p:spPr>
        <p:txBody>
          <a:bodyPr wrap="none" lIns="0" tIns="0" rIns="0" bIns="0"/>
          <a:p>
            <a:pPr>
              <a:lnSpc>
                <a:spcPct val="100000"/>
              </a:lnSpc>
            </a:pPr>
            <a:r>
              <a:rPr lang="en-US" sz="1125">
                <a:solidFill>
                  <a:srgbClr val="FFFFFF"/>
                </a:solidFill>
                <a:latin typeface="Microsoft YaHei"/>
                <a:ea typeface="Microsoft YaHei"/>
              </a:rPr>
              <a:t xml:space="preserve">Four people, four lines of evidence. The </a:t>
            </a:r>
            <a:r>
              <a:rPr lang="en-US" sz="1125">
                <a:solidFill>
                  <a:srgbClr val="FFFFFF"/>
                </a:solidFill>
                <a:latin typeface="Microsoft YaHei"/>
                <a:ea typeface="Microsoft YaHei"/>
              </a:rPr>
              <a:t>.puml</a:t>
            </a:r>
            <a:r>
              <a:rPr lang="en-US" sz="1125">
                <a:solidFill>
                  <a:srgbClr val="FFFFFF"/>
                </a:solidFill>
                <a:latin typeface="Microsoft YaHei"/>
                <a:ea typeface="Microsoft YaHei"/>
              </a:rPr>
              <a:t xml:space="preserve"> is owned by the Recorder — every member defends one class.</a:t>
            </a:r>
            <a:endParaRPr/>
          </a:p>
        </p:txBody>
      </p:sp>
      <p:sp>
        <p:nvSpPr>
          <p:cNvPr id="738" name="" descr="{&quot;isTemplate&quot;:true,&quot;type&quot;:&quot;text&quot;}"/>
          <p:cNvSpPr txBox="1"/>
          <p:nvPr/>
        </p:nvSpPr>
        <p:spPr>
          <a:xfrm rot="0" flipH="0" flipV="0">
            <a:off x="10629900" y="6524625"/>
            <a:ext cx="1181100" cy="161925"/>
          </a:xfrm>
          <a:prstGeom prst="rect"/>
        </p:spPr>
        <p:txBody>
          <a:bodyPr wrap="none" lIns="0" tIns="0" rIns="0" bIns="0"/>
          <a:p>
            <a:pPr>
              <a:lnSpc>
                <a:spcPct val="100000"/>
              </a:lnSpc>
            </a:pPr>
            <a:r>
              <a:rPr lang="en-US" sz="1050">
                <a:solidFill>
                  <a:srgbClr val="7FA2D6"/>
                </a:solidFill>
                <a:latin typeface="Microsoft YaHei"/>
                <a:ea typeface="Microsoft YaHei"/>
              </a:rPr>
              <a:t>M1 due Sun Nov 01</a:t>
            </a:r>
            <a:endParaRP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Tencent office</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2026-10-29T10:29:09Z</dcterms:created>
  <dcterms:modified xsi:type="dcterms:W3CDTF">2026-10-29T10:29:09Z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{"AIGC":{"Label":"1","ContentProducer":"00119111010856365494821B355","ProduceID":"01a18562debb79ad914cd0d82b7a0421","ReservedCode1":"","ContentPropagator":"00119111010856365494821B355","PropagateID":"01a18562debb79ad914cd0d82b7a0421","ReservedCode2":""}}</vt:lpwstr>
  </property>
</Properties>
</file>
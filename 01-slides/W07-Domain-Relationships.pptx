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38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slides/slide14.xml" ContentType="application/vnd.openxmlformats-officedocument.presentationml.slide+xml"/>
  <Override PartName="/ppt/slides/slide35.xml" ContentType="application/vnd.openxmlformats-officedocument.presentationml.slide+xml"/>
  <Override PartName="/ppt/slides/slide16.xml" ContentType="application/vnd.openxmlformats-officedocument.presentationml.slide+xml"/>
  <Override PartName="/ppt/slides/slide37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2" Type="http://schemas.openxmlformats.org/officeDocument/2006/relationships/viewProps" Target="viewProps.xml" /><Relationship Id="rId41" Type="http://schemas.openxmlformats.org/officeDocument/2006/relationships/tableStyles" Target="tableStyles.xml" /><Relationship Id="rId4" Type="http://schemas.openxmlformats.org/officeDocument/2006/relationships/slide" Target="slides/slide4.xml" /><Relationship Id="rId39" Type="http://schemas.openxmlformats.org/officeDocument/2006/relationships/notesMaster" Target="notesMasters/notesMaster1.xml" /><Relationship Id="rId38" Type="http://schemas.openxmlformats.org/officeDocument/2006/relationships/slide" Target="slides/slide38.xml" /><Relationship Id="rId36" Type="http://schemas.openxmlformats.org/officeDocument/2006/relationships/slide" Target="slides/slide36.xml" /><Relationship Id="rId5" Type="http://schemas.openxmlformats.org/officeDocument/2006/relationships/slide" Target="slides/slide5.xml" /><Relationship Id="rId35" Type="http://schemas.openxmlformats.org/officeDocument/2006/relationships/slide" Target="slides/slide35.xml" /><Relationship Id="rId9" Type="http://schemas.openxmlformats.org/officeDocument/2006/relationships/slide" Target="slides/slide9.xml" /><Relationship Id="rId33" Type="http://schemas.openxmlformats.org/officeDocument/2006/relationships/slide" Target="slides/slide33.xml" /><Relationship Id="rId32" Type="http://schemas.openxmlformats.org/officeDocument/2006/relationships/slide" Target="slides/slide32.xml" /><Relationship Id="rId31" Type="http://schemas.openxmlformats.org/officeDocument/2006/relationships/slide" Target="slides/slide31.xml" /><Relationship Id="rId30" Type="http://schemas.openxmlformats.org/officeDocument/2006/relationships/slide" Target="slides/slide30.xml" /><Relationship Id="rId34" Type="http://schemas.openxmlformats.org/officeDocument/2006/relationships/slide" Target="slides/slide34.xml" /><Relationship Id="rId3" Type="http://schemas.openxmlformats.org/officeDocument/2006/relationships/slide" Target="slides/slide3.xml" /><Relationship Id="rId22" Type="http://schemas.openxmlformats.org/officeDocument/2006/relationships/slide" Target="slides/slide22.xml" /><Relationship Id="rId29" Type="http://schemas.openxmlformats.org/officeDocument/2006/relationships/slide" Target="slides/slide29.xml" /><Relationship Id="rId28" Type="http://schemas.openxmlformats.org/officeDocument/2006/relationships/slide" Target="slides/slide28.xml" /><Relationship Id="rId25" Type="http://schemas.openxmlformats.org/officeDocument/2006/relationships/slide" Target="slides/slide25.xml" /><Relationship Id="rId24" Type="http://schemas.openxmlformats.org/officeDocument/2006/relationships/slide" Target="slides/slide24.xml" /><Relationship Id="rId20" Type="http://schemas.openxmlformats.org/officeDocument/2006/relationships/slide" Target="slides/slide20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21" Type="http://schemas.openxmlformats.org/officeDocument/2006/relationships/slide" Target="slides/slide21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40" Type="http://schemas.openxmlformats.org/officeDocument/2006/relationships/presProps" Target="presProps.xml" /><Relationship Id="rId26" Type="http://schemas.openxmlformats.org/officeDocument/2006/relationships/slide" Target="slides/slide26.xml" /><Relationship Id="rId37" Type="http://schemas.openxmlformats.org/officeDocument/2006/relationships/slide" Target="slides/slide37.xml" /><Relationship Id="rId23" Type="http://schemas.openxmlformats.org/officeDocument/2006/relationships/slide" Target="slides/slide23.xml" /><Relationship Id="rId27" Type="http://schemas.openxmlformats.org/officeDocument/2006/relationships/slide" Target="slides/slide27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0E3F8C', padding: 0 }}&gt;&#10;  &lt;Box style={{ flexDirection: 'column', height: '100%', justifyContent: 'center', padding: '0 80px', position: 'relative' }}&gt;&#10;    &lt;Box style={{ position: 'absolute', top: 0, left: 0, right: 0, height: 8, background: '#1E4FA8' }} /&gt;&#10;    &lt;Box style={{ position: 'absolute', top: 8, left: 0, right: 0, height: 2, background: '#3D7BD9' }} /&gt;&#10;    &lt;Box style={{ flexDirection: 'row', alignItems: 'center', gap: 14, marginBottom: 30 }}&gt;&#10;      &lt;Box style={{ padding: '7px 18px', background: '#3D7BD9', borderRadius: 18 }}&gt;&#10;        &lt;Text style={{ fontSize: 16, color: '#FFFFFF', fontWeight: 'bold', letterSpacing: 2 }}&gt;ISAD · WEEK 07&lt;/Text&gt;&#10;      &lt;/Box&gt;&#10;      &lt;Box style={{ width: 56, height: 1, background: '#5B84C4' }} /&gt;&#10;      &lt;Text style={{ fontSize: 16, color: '#7FA2D6', letterSpacing: 1 }}&gt;MODULE B · OO ANALYSIS&lt;/Text&gt;&#10;    &lt;/Box&gt;&#10;    &lt;Text style={{ fontSize: 56, fontWeight: 'bold', color: '#FFFFFF', fontFamily: 'Georgia, serif', lineHeight: 1.12 }}&gt;&#10;      Domain Relationships&#10;    &lt;/Text&gt;&#10;    &lt;Box style={{ width: 88, height: 5, background: '#FFC107', marginTop: 28, marginBottom: 22 }} /&gt;&#10;    &lt;Text style={{ fontSize: 26, color: '#B9CDF0', lineHeight: 1.45 }}&gt;&#10;      How many, and which end owns the whole&#10;    &lt;/Text&gt;&#10;    &lt;Box style={{ position: 'absolute', bottom: 46, left: 80, right: 80, flexDirection: 'row', justifyContent: 'space-between', alignItems: 'center', borderTop: '1px solid #2B5793', paddingTop: 18 }}&gt;&#10;      &lt;Text style={{ fontSize: 17, color: '#C5D4EA' }}&gt;Ren Zheng · School of Software Engineering&lt;/Text&gt;&#10;      &lt;Text style={{ fontSize: 17, color: '#C5D4EA' }}&gt;Fall 2026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62000" y="2286000"/>
            <a:ext cx="1781175" cy="323850"/>
          </a:xfrm>
          <a:prstGeom prst="roundRect">
            <a:avLst>
              <a:gd name="adj" fmla="val 52941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33450" y="23526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ISAD · WEEK 07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2676525" y="2447925"/>
            <a:ext cx="533400" cy="9525"/>
          </a:xfrm>
          <a:prstGeom prst="rect">
            <a:avLst/>
          </a:prstGeom>
          <a:solidFill>
            <a:srgbClr val="5B84C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343275" y="23526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MODULE B · OO ANALYSIS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7239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200" b="1">
                <a:solidFill>
                  <a:srgbClr val="FFFFFF"/>
                </a:solidFill>
                <a:latin typeface="Georgia"/>
                <a:ea typeface="Georgia"/>
              </a:rPr>
              <a:t>Domain Relationships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388620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143375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>
                <a:solidFill>
                  <a:srgbClr val="B9CDF0"/>
                </a:solidFill>
                <a:latin typeface="Microsoft YaHei"/>
                <a:ea typeface="Microsoft YaHei"/>
              </a:rPr>
              <a:t>How many, and which end owns the whole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School of Software Engineering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0" y="62198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Fall 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style={{ background: '#FFFFFF', padding: 0 }}&gt;&#10;  &lt;Box style={{ flexDirection: 'row', height: '100%' }}&gt;&#10;    &lt;Box style={{ width: 320, background: '#0E3F8C', padding: '60px 44px', flexDirection: 'column', justifyContent: 'space-between' }}&gt;&#10;      &lt;Box&gt;&#10;        &lt;Box style={{ width: 40, height: 4, background: '#FFC107', marginBottom: 24 }} /&gt;&#10;        &lt;Text style={{ fontSize: 46, fontWeight: 'bold', color: '#FFFFFF', fontFamily: 'Georgia, serif', lineHeight: 1.15 }}&gt;Contents&lt;/Text&gt;&#10;        &lt;Text style={{ fontSize: 16, color: '#7FA2D6', marginTop: 18, letterSpacing: 1 }}&gt;WEEK 07 · ROADMAP&lt;/Text&gt;&#10;      &lt;/Box&gt;&#10;      &lt;Text style={{ fontSize: 15, color: '#5B84C4', lineHeight: 1.5 }}&gt;Domain&lt;br /&gt;Relationships&lt;/Text&gt;&#10;    &lt;/Box&gt;&#10;    &lt;Box style={{ flex: 1, padding: '50px 56px', flexDirection: 'column', gap: 15 }}&gt;&#10;        &lt;Box key=&quot;01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1&lt;/Text&gt;&#10;          &lt;/Box&gt;&#10;          &lt;Text style={{ flex: 1, fontSize: 20, color: '#1A2230', fontWeight: '600' }}&gt;Associations&lt;/Text&gt;&#10;          &lt;Text style={{ fontSize: 20, color: '#8B97A8', fontWeight: 'bold' }}&gt;03&lt;/Text&gt;&#10;        &lt;/Box&gt;&#10;        &lt;Box key=&quot;02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2&lt;/Text&gt;&#10;          &lt;/Box&gt;&#10;          &lt;Text style={{ flex: 1, fontSize: 20, color: '#1A2230', fontWeight: '600' }}&gt;Association Classes&lt;/Text&gt;&#10;          &lt;Text style={{ fontSize: 20, color: '#8B97A8', fontWeight: 'bold' }}&gt;09&lt;/Text&gt;&#10;        &lt;/Box&gt;&#10;        &lt;Box key=&quot;03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3&lt;/Text&gt;&#10;          &lt;/Box&gt;&#10;          &lt;Text style={{ flex: 1, fontSize: 20, color: '#1A2230', fontWeight: '600' }}&gt;Aggregation + Composition&lt;/Text&gt;&#10;          &lt;Text style={{ fontSize: 20, color: '#8B97A8', fontWeight: 'bold' }}&gt;14&lt;/Text&gt;&#10;        &lt;/Box&gt;&#10;        &lt;Box key=&quot;04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4&lt;/Text&gt;&#10;          &lt;/Box&gt;&#10;          &lt;Text style={{ flex: 1, fontSize: 20, color: '#1A2230', fontWeight: '600' }}&gt;Reflexive + Multiple Associations&lt;/Text&gt;&#10;          &lt;Text style={{ fontSize: 20, color: '#8B97A8', fontWeight: 'bold' }}&gt;21&lt;/Text&gt;&#10;        &lt;/Box&gt;&#10;        &lt;Box key=&quot;05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5&lt;/Text&gt;&#10;          &lt;/Box&gt;&#10;          &lt;Text style={{ flex: 1, fontSize: 20, color: '#1A2230', fontWeight: '600' }}&gt;Building the Model v2&lt;/Text&gt;&#10;          &lt;Text style={{ fontSize: 20, color: '#8B97A8', fontWeight: 'bold' }}&gt;25&lt;/Text&gt;&#10;        &lt;/Box&gt;&#10;        &lt;Box key=&quot;06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6&lt;/Text&gt;&#10;          &lt;/Box&gt;&#10;          &lt;Text style={{ flex: 1, fontSize: 20, color: '#1A2230', fontWeight: '600' }}&gt;Lab — Exercise 7.1, 7.2 + M2&lt;/Text&gt;&#10;          &lt;Text style={{ fontSize: 20, color: '#8B97A8', fontWeight: 'bold' }}&gt;30&lt;/Text&gt;&#10;  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419100" y="571500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19100" y="838200"/>
            <a:ext cx="22098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19100" y="16192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WEEK 07 · ROADMAP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57721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Domain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Relationships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581400" y="47625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3771900" y="6096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905250" y="7334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457700" y="74295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Associations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249025" y="7429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581400" y="138112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3771900" y="15144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905250" y="163830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57700" y="164782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Association Classes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249025" y="164782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581400" y="228600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3771900" y="24193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905250" y="25431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457700" y="255270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Aggregation + Composition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249025" y="25527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3581400" y="319087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3771900" y="332422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905250" y="344805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457700" y="345757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Reflexive + Multiple Associations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249025" y="34575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581400" y="409575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3771900" y="42291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905250" y="43529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457700" y="436245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Building the Model v2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249025" y="43624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3581400" y="500062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3771900" y="51339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905250" y="525780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57700" y="526732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Lab — Exercise 7.1, 7.2 + M2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249025" y="526732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48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1&lt;/Text&gt;&#10;    &lt;/Box&gt;&#10;    &lt;Box style={{ flex: 1, padding: '70px 64px', flexDirection: 'column', justifyContent: 'center' }}&gt;&#10;      &lt;Text style={{ fontSize: 15, color: '#7FA2D6', letterSpacing: 2, marginBottom: 18 }}&gt;PART 1 · LECTURE · 40 MIN&lt;/Text&gt;&#10;      &lt;Text style={{ fontSize: 46, fontWeight: 'bold', color: '#FFFFFF', lineHeight: 1.18 }}&gt;Associations&lt;/Text&gt;&#10;      &lt;Box style={{ width: 64, height: 4, background: '#FFC107', marginTop: 26, marginBottom: 26 }} /&gt;&#10;      &lt;Box style={{ flexDirection: 'column', gap: 12 }}&gt;&#10;          &lt;Box key=&quot;Last week you drew boxes. This week you &quot; style={{ flexDirection: 'row', alignItems: 'center', gap: 12 }}&gt;&#10;            &lt;Box style={{ width: 8, height: 8, borderRadius: 4, background: '#3D7BD9' }} /&gt;&#10;            &lt;Text style={{ fontSize: 20, color: '#C5D4EA' }}&gt;Last week you drew boxes. This week you draw the lines between them&lt;/Text&gt;&#10;          &lt;/Box&gt;&#10;          &lt;Box key=&quot;A line is a sentence about the business,&quot; style={{ flexDirection: 'row', alignItems: 'center', gap: 12 }}&gt;&#10;            &lt;Box style={{ width: 8, height: 8, borderRadius: 4, background: '#3D7BD9' }} /&gt;&#10;            &lt;Text style={{ fontSize: 20, color: '#C5D4EA' }}&gt;A line is a sentence about the business, not a pointer in code&lt;/Text&gt;&#10;          &lt;/Box&gt;&#10;          &lt;Box key=&quot;Multiplicity is a number you can defend,&quot; style={{ flexDirection: 'row', alignItems: 'center', gap: 12 }}&gt;&#10;            &lt;Box style={{ width: 8, height: 8, borderRadius: 4, background: '#3D7BD9' }} /&gt;&#10;            &lt;Text style={{ fontSize: 20, color: '#C5D4EA' }}&gt;Multiplicity is a number you can defend, not a decoration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71450" y="2171700"/>
            <a:ext cx="25050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 · 40 MIN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Associations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604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Last week you drew boxes. This week you draw the lines between them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line is a sentence about the business, not a pointer in code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Multiplicity is a number you can defend, not a decoration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00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S&lt;/Text&gt;&#10;  &lt;/Box&gt;&#10;  &lt;Box style={{ padding: '13px 40px 0 40px', flexDirection: 'row', alignItems: 'center', justifyContent: 'space-between' }}&gt;&#10;    &lt;Text style={{ fontSize: 29, fontWeight: 'bold', color: '#0E3F8C' }}&gt;Where You Stopped Last Week&lt;/Text&gt;&#10;    &lt;Text style={{ fontSize: 14, color: '#1E4FA8', fontWeight: 'bold' }}&gt;04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WHAT W06 DELIVERED&lt;/Text&gt;&#10;&#10;          &lt;Box key=&quot;You sorted nouns into classes, a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You sorted nouns into classes, attributes and actors.&lt;/Text&gt;&#10;          &lt;/Box&gt;&#10;          &lt;Box key=&quot;You classified each class as Ent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You classified each class as Entity, Boundary or Control.&lt;/Text&gt;&#10;          &lt;/Box&gt;&#10;          &lt;Box key=&quot;You drew associations — lines on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You drew associations — lines only, deliberately.&lt;/Text&gt;&#10;          &lt;/Box&gt;&#10;          &lt;Box key=&quot;You left multiplicities and diam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4&lt;/Text&gt;&#10;            &lt;/Box&gt;&#10;            &lt;Text style={{ flex: 1, fontSize: 13.5, color: '#1A2230', lineHeight: 1.45 }}&gt;You left multiplicities and diamonds untouched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Today closes that gap&lt;/Text&gt;&#10;        &lt;Text style={{ fontSize: 13, color: '#4A5568', lineHeight: 1.6, marginTop: 5 }}&gt;&#10;          Associations get names, roles and multiplicities. Then aggregation and composition — and an honest verdict on how much they matter.&#10;        &lt;/Text&gt;&#10;      &lt;/Box&gt;&#10;      &lt;Box style={{ padding: '15px 17px', background: '#FFFFFF', borderRadius: 9, border: '1px solid #D6DCE5' }}&gt;&#10;        &lt;Text style={{ fontSize: 16, fontWeight: 'bold', color: '#0E3F8C' }}&gt;The model you leave with&lt;/Text&gt;&#10;        &lt;Text style={{ fontSize: 13, color: '#4A5568', lineHeight: 1.6, marginTop: 5 }}&gt;&#10;          Domain model v2: the same 10+ classes, now fully linked. This is the M2 backbone.&#10;        &lt;/Text&gt;&#10;      &lt;/Box&gt;&#10;      &lt;Box style={{ padding: '15px 17px', background: '#FFF6E0', borderRadius: 9, borderLeft: '4px solid #FFC107' }}&gt;&#10;        &lt;Text style={{ fontSize: 16, fontWeight: 'bold', color: '#996F00' }}&gt;Unchanged from W06&lt;/Text&gt;&#10;        &lt;Text style={{ fontSize: 13, color: '#4A5568', lineHeight: 1.6, marginTop: 5 }}&gt;&#10;          Still analysis, not design. No visibility, no navigation arrows, no method signatures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4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0325100" y="2571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ASSOCIATIONS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0481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Where You Stopped Last Week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381000" y="1695450"/>
            <a:ext cx="5334000" cy="1866900"/>
          </a:xfrm>
          <a:prstGeom prst="roundRect">
            <a:avLst>
              <a:gd name="adj" fmla="val 5102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71500" y="18669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WHAT W06 DELIVERED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571500" y="21336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47700" y="21717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95350" y="21336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You sorted nouns into classes, attributes and actors.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571500" y="24479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47700" y="2486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95350" y="24479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You classified each class as Entity, Boundary or Control.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571500" y="27622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47700" y="28003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95350" y="27622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You drew associations — lines only, deliberately.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571500" y="30765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47700" y="31146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95350" y="30765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You left multiplicities and diamonds untouched.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Today closes that gap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Associations get names, roles and multiplicities. Then aggregation and composition — and an honest verdict on how much they matter.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5962650" y="2362200"/>
            <a:ext cx="5848350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124575" y="25050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The model you leave with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124575" y="2743200"/>
            <a:ext cx="5524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Domain model v2: the same 10+ classes, now fully linked. This is the M2 backbone.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000750" y="3248025"/>
            <a:ext cx="5848350" cy="762000"/>
          </a:xfrm>
          <a:prstGeom prst="roundRect">
            <a:avLst>
              <a:gd name="adj" fmla="val 11250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6000750" y="3248025"/>
            <a:ext cx="5848350" cy="762000"/>
          </a:xfrm>
          <a:custGeom>
            <a:pathLst>
              <a:path w="614" h="80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75"/>
                </a:lnTo>
                <a:cubicBezTo>
                  <a:pt x="4" y="77"/>
                  <a:pt x="6" y="79"/>
                  <a:pt x="8" y="80"/>
                </a:cubicBezTo>
                <a:cubicBezTo>
                  <a:pt x="4" y="80"/>
                  <a:pt x="0" y="76"/>
                  <a:pt x="0" y="71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162675" y="3390900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Unchanged from W06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162675" y="3629025"/>
            <a:ext cx="54864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Still analysis, not design. No visibility, no navigation arrows, no method signatures.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63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S&lt;/Text&gt;&#10;  &lt;/Box&gt;&#10;  &lt;Box style={{ padding: '13px 40px 0 40px', flexDirection: 'row', alignItems: 'center', justifyContent: 'space-between' }}&gt;&#10;    &lt;Text style={{ fontSize: 29, fontWeight: 'bold', color: '#0E3F8C' }}&gt;A Line Is a Verb Phrase&lt;/Text&gt;&#10;    &lt;Text style={{ fontSize: 14, color: '#1E4FA8', fontWeight: 'bold' }}&gt;05 / 38&lt;/Text&gt;&#10;  &lt;/Box&gt;&#10;  &lt;Box style={{ flex: 1, padding: '10px 40px 0 40px', flexDirection: 'column' }}&gt;&#10;    &lt;Box style={{ justifyContent: 'center', alignItems: 'center' }}&gt;&#10;    &lt;svg width={1180} height={392} viewBox='0 0 1180 $h'&gt;&#10;&#10;      &lt;text x='10' y='18' fill='#8B97A8' fontSize='13'&gt;Read an association out loud. If it does not sound like a sentence, the association is wrong.&lt;/text&gt;&#10;&#10;      &lt;rect x='30' y='52' width='230' height='76' rx='9' fill='#F7F9FC' stroke='#1E4FA8' strokeWidth='2' /&gt;&#10;      &lt;text x='145' y='96' textAnchor='middle' fill='#0E3F8C' fontSize='21' fontWeight='bold'&gt;Student&lt;/text&gt;&#10;&#10;      &lt;rect x='700' y='52' width='230' height='76' rx='9' fill='#F7F9FC' stroke='#1E4FA8' strokeWidth='2' /&gt;&#10;      &lt;text x='815' y='96' textAnchor='middle' fill='#0E3F8C' fontSize='21' fontWeight='bold'&gt;Order&lt;/text&gt;&#10;&#10;      &lt;line x1='260' y1='90' x2='700' y2='90' stroke='#0E3F8C' strokeWidth='2.6' /&gt;&#10;      &lt;text x='480' y='78' textAnchor='middle' fill='#2B7A3D' fontSize='17' fontWeight='bold'&gt;places&lt;/text&gt;&#10;      &lt;text x='272' y='122' fill='#4A5568' fontSize='13'&gt;placesBy&lt;/text&gt;&#10;      &lt;text x='688' y='122' textAnchor='end' fill='#4A5568' fontSize='13'&gt;placedBy&lt;/text&gt;&#10;&#10;      &lt;rect x='30' y='168' width='1140' height='52' rx='9' fill='#F0F5FC' /&gt;&#10;      &lt;text x='52' y='200' fill='#0E3F8C' fontSize='15' fontWeight='bold'&gt;Read it:&lt;/text&gt;&#10;      &lt;text x='126' y='200' fill='#1A2230' fontSize='15'&gt;a Student places many Orders  ·  an Order is placed by exactly one Student&lt;/text&gt;&#10;&#10;      &lt;rect x='30' y='240' width='1140' height='52' rx='9' fill='#FFF6E0' /&gt;&#10;      &lt;text x='52' y='272' fill='#996F00' fontSize='15' fontWeight='bold'&gt;Not this:&lt;/text&gt;&#10;      &lt;text x='146' y='272' fill='#1A2230' fontSize='15'&gt;«has»  «has»  «has» — a model where every line is called has carries no information&lt;/text&gt;&#10;&#10;      &lt;rect x='30' y='312' width='1140' height='46' rx='9' fill='#FFFFFF' stroke='#D6DCE5' /&gt;&#10;      &lt;text x='52' y='341' fill='#4A5568' fontSize='14'&gt;Yes/no test: could you draw the same line between two other classes and keep the same verb? If yes, the verb is too generic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5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325100" y="2571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ASSOCIATIONS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0575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 Line Is a Verb Phrase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  <p:pic>
        <p:nvPicPr>
          <p:cNvPr id="6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33800"/>
          </a:xfrm>
          <a:prstGeom prst="rect">
            <a:avLst/>
          </a:prstGeom>
          <a:ln/>
        </p:spPr>
      </p:pic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</p:spTree>
  </p:cSld>
</p:sld>
</file>

<file path=ppt/slides/slide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64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S&lt;/Text&gt;&#10;  &lt;/Box&gt;&#10;  &lt;Box style={{ padding: '13px 40px 0 40px', flexDirection: 'row', alignItems: 'center', justifyContent: 'space-between' }}&gt;&#10;    &lt;Text style={{ fontSize: 29, fontWeight: 'bold', color: '#0E3F8C' }}&gt;Naming, Roles and Reading Direction&lt;/Text&gt;&#10;    &lt;Text style={{ fontSize: 14, color: '#1E4FA8', fontWeight: 'bold' }}&gt;06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50, 420, 430]}&#10;      cells={[&#10;        [&#10;          { text: 'Element', textStyle: {bold: true, color: '#FFFFFF', fontSize: 15}, cellStyle: {background: { color: '#0E3F8C' }} },&#10;          { text: 'What it is', textStyle: {bold: true, color: '#FFFFFF', fontSize: 15}, cellStyle: {background: { color: '#1E4FA8' }} },&#10;          { text: 'CampusBites example', textStyle: {bold: true, color: '#FFFFFF', fontSize: 15}, cellStyle: {background: { color: '#1E4FA8' }} }&#10;        ],&#10;        [&#10;          { text: 'Association name', textStyle: {color: '#4A5568'}, cellStyle: {} },&#10;          { text: 'A verb phrase placed on the line, read left to right', textStyle: {color: '#4A5568'}, cellStyle: {} },&#10;          { text: 'Student places Order', textStyle: {color: '#4A5568'}, cellStyle: {} }&#10;        ],&#10;        [&#10;          { text: 'Role name', textStyle: {color: '#4A5568'}, cellStyle: {background: { color: '#F7F9FC' }} },&#10;          { text: 'What the object is called from the far end', textStyle: {color: '#4A5568'}, cellStyle: {background: { color: '#F7F9FC' }} },&#10;          { text: 'placedBy / placedFor', textStyle: {color: '#4A5568'}, cellStyle: {background: { color: '#F7F9FC' }} }&#10;        ],&#10;        [&#10;          { text: 'Reading direction', textStyle: {color: '#4A5568'}, cellStyle: {} },&#10;          { text: 'A small solid triangle telling the reader which way to read', textStyle: {color: '#4A5568'}, cellStyle: {} },&#10;          { text: 'Student → places → Order', textStyle: {color: '#4A5568'}, cellStyle: {} }&#10;        ],&#10;        [&#10;          { text: 'Navigability', textStyle: {color: '#4A5568'}, cellStyle: {background: { color: '#F7F9FC' }} },&#10;          { text: 'NOT part of the domain model — it is a design decision', textStyle: {color: '#4A5568'}, cellStyle: {background: { color: '#F7F9FC' }} },&#10;          { text: 'leave it out this week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6 / 38&lt;/Text&gt;&#10;  &lt;/Box&gt;&#10;  &lt;Box style={{ height: 46, background: '#0E3F8C', padding: '0 40px', flexDirection: 'row', alignItems: 'center', justifyContent: 'center' }}&gt;&#10;    &lt;Text style={{ fontSize: 16.5, color: '#FFFFFF', fontWeight: '600' }}&gt;An association with no name is a guess that two classes are related. Name it and the guess becomes a claim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0325100" y="2571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ASSOCIATIONS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9339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Naming, Roles and Reading Direction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  <p:graphicFrame>
        <p:nvGraphicFramePr>
          <p:cNvPr id="651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086315">
                  <a:extLst>
                    <a:ext uri="{9D8B030D-6E8A-4147-A177-3AD203B41FA5}">
                      <a16:colId val="1"/>
                    </a:ext>
                  </a:extLst>
                </a:gridCol>
                <a:gridCol w="6255366">
                  <a:extLst>
                    <a:ext uri="{9D8B030D-6E8A-4147-A177-3AD203B41FA5}">
                      <a16:colId val="2"/>
                    </a:ext>
                  </a:extLst>
                </a:gridCol>
                <a:gridCol w="308831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Element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it is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CampusBites example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Association name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verb phrase placed on the line, read left to right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Student places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Role name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the object is called from the far end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placedBy / placedFor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Reading direction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small solid triangle telling the reader which way to read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Student → places →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Navigability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NOT part of the domain model — it is a design decision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leave it out this week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09775" y="6543675"/>
            <a:ext cx="817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An association with no name is a guess that two classes are related. Name it and the guess becomes a claim.</a:t>
            </a:r>
            <a:endParaRPr/>
          </a:p>
        </p:txBody>
      </p:sp>
    </p:spTree>
  </p:cSld>
</p:sld>
</file>

<file path=ppt/slides/slide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65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S&lt;/Text&gt;&#10;  &lt;/Box&gt;&#10;  &lt;Box style={{ padding: '13px 40px 0 40px', flexDirection: 'row', alignItems: 'center', justifyContent: 'space-between' }}&gt;&#10;    &lt;Text style={{ fontSize: 29, fontWeight: 'bold', color: '#0E3F8C' }}&gt;Multiplicity — Four Notations, One Meaning&lt;/Text&gt;&#10;    &lt;Text style={{ fontSize: 14, color: '#1E4FA8', fontWeight: 'bold' }}&gt;07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20, 170, 400, 310]}&#10;      cells={[&#10;        [&#10;          { text: 'Notation', textStyle: {bold: true, color: '#FFFFFF', fontSize: 15}, cellStyle: {background: { color: '#0E3F8C' }} },&#10;          { text: 'Means', textStyle: {bold: true, color: '#FFFFFF', fontSize: 15}, cellStyle: {background: { color: '#1E4FA8' }} },&#10;          { text: 'Read as', textStyle: {bold: true, color: '#FFFFFF', fontSize: 15}, cellStyle: {background: { color: '#1E4FA8' }} },&#10;          { text: 'When you would write it', textStyle: {bold: true, color: '#FFFFFF', fontSize: 15}, cellStyle: {background: { color: '#1E4FA8' }} }&#10;        ],&#10;        [&#10;          { text: '1', textStyle: {color: '#4A5568'}, cellStyle: {} },&#10;          { text: 'exactly one', textStyle: {color: '#4A5568'}, cellStyle: {} },&#10;          { text: 'each Order has exactly one Student', textStyle: {color: '#4A5568'}, cellStyle: {} },&#10;          { text: 'the default for a single owner', textStyle: {color: '#4A5568'}, cellStyle: {} }&#10;        ],&#10;        [&#10;          { text: '0..1', textStyle: {color: '#4A5568'}, cellStyle: {background: { color: '#F7F9FC' }} },&#10;          { text: 'zero or one', textStyle: {color: '#4A5568'}, cellStyle: {background: { color: '#F7F9FC' }} },&#10;          { text: 'an Order may have no Coupon', textStyle: {color: '#4A5568'}, cellStyle: {background: { color: '#F7F9FC' }} },&#10;          { text: 'optional single link', textStyle: {color: '#4A5568'}, cellStyle: {background: { color: '#F7F9FC' }} }&#10;        ],&#10;        [&#10;          { text: '*', textStyle: {color: '#4A5568'}, cellStyle: {} },&#10;          { text: 'zero or more', textStyle: {color: '#4A5568'}, cellStyle: {} },&#10;          { text: 'a Student places zero or more Orders', textStyle: {color: '#4A5568'}, cellStyle: {} },&#10;          { text: 'a collection that can be empty', textStyle: {color: '#4A5568'}, cellStyle: {} }&#10;        ],&#10;        [&#10;          { text: '1..*', textStyle: {color: '#4A5568'}, cellStyle: {background: { color: '#F7F9FC' }} },&#10;          { text: 'one or more', textStyle: {color: '#4A5568'}, cellStyle: {background: { color: '#F7F9FC' }} },&#10;          { text: 'an Order has one or more OrderLines', textStyle: {color: '#4A5568'}, cellStyle: {background: { color: '#F7F9FC' }} },&#10;          { text: 'a collection that must not be empty', textStyle: {color: '#4A5568'}, cellStyle: {background: { color: '#F7F9FC' }} }&#10;        ],&#10;        [&#10;          { text: '2..4 / 3', textStyle: {color: '#4A5568'}, cellStyle: {} },&#10;          { text: 'a bounded range / exactly three', textStyle: {color: '#4A5568'}, cellStyle: {} },&#10;          { text: 'a Combo has 2 to 4 Items', textStyle: {color: '#4A5568'}, cellStyle: {} },&#10;          { text: 'rare in analysis — use only with a real rule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7 / 38&lt;/Text&gt;&#10;  &lt;/Box&gt;&#10;  &lt;Box style={{ height: 46, background: '#0E3F8C', padding: '0 40px', flexDirection: 'row', alignItems: 'center', justifyContent: 'center' }}&gt;&#10;    &lt;Text style={{ fontSize: 16.5, color: '#FFFFFF', fontWeight: '600' }}&gt;Write * or 1..* deliberately. Choosing between them is the question «can this be empty?» — and the business has an answer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0325100" y="2571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ASSOCIATIONS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7245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Multiplicity — Four Notations, One Meaning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  <p:graphicFrame>
        <p:nvGraphicFramePr>
          <p:cNvPr id="663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082584">
                  <a:extLst>
                    <a:ext uri="{9D8B030D-6E8A-4147-A177-3AD203B41FA5}">
                      <a16:colId val="1"/>
                    </a:ext>
                  </a:extLst>
                </a:gridCol>
                <a:gridCol w="2953338">
                  <a:extLst>
                    <a:ext uri="{9D8B030D-6E8A-4147-A177-3AD203B41FA5}">
                      <a16:colId val="2"/>
                    </a:ext>
                  </a:extLst>
                </a:gridCol>
                <a:gridCol w="3490030">
                  <a:extLst>
                    <a:ext uri="{9D8B030D-6E8A-4147-A177-3AD203B41FA5}">
                      <a16:colId val="3"/>
                    </a:ext>
                  </a:extLst>
                </a:gridCol>
                <a:gridCol w="3904049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879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Notation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Means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Read as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When you would write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exactly 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each Order has exactly one Student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default for a single owner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0..1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zero or 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 Order may have no Coupon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optional single link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zero or more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Student places zero or more Orders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collection that can be empty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1..*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or more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 Order has one or more OrderLines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collection that must not be empty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2..4 / 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bounded range / exactly three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Combo has 2 to 4 Items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rare in analysis — use only with a real 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457325" y="6543675"/>
            <a:ext cx="927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Write * or 1..* deliberately. Choosing between them is the question «can this be empty?» — and the business has an answer.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6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S&lt;/Text&gt;&#10;  &lt;/Box&gt;&#10;  &lt;Box style={{ padding: '13px 40px 0 40px', flexDirection: 'row', alignItems: 'center', justifyContent: 'space-between' }}&gt;&#10;    &lt;Text style={{ fontSize: 29, fontWeight: 'bold', color: '#0E3F8C' }}&gt;Reading a Multiplicity Out Loud&lt;/Text&gt;&#10;    &lt;Text style={{ fontSize: 14, color: '#1E4FA8', fontWeight: 'bold' }}&gt;08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THE FOUR-STEP READ&lt;/Text&gt;&#10;&#10;          &lt;Box key=&quot;Point at the class at one end.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Point at the class at one end.&lt;/Text&gt;&#10;          &lt;/Box&gt;&#10;          &lt;Box key=&quot;Say «each one of these...»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Say «each one of these...»&lt;/Text&gt;&#10;          &lt;/Box&gt;&#10;          &lt;Box key=&quot;Follow the line to the other end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Follow the line to the other end.&lt;/Text&gt;&#10;          &lt;/Box&gt;&#10;          &lt;Box key=&quot;Read the number there: «...relat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4&lt;/Text&gt;&#10;            &lt;/Box&gt;&#10;            &lt;Text style={{ flex: 1, fontSize: 13.5, color: '#1A2230', lineHeight: 1.45 }}&gt;Read the number there: «...relates to this many.»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Worked read&lt;/Text&gt;&#10;        &lt;Text style={{ fontSize: 13, color: '#4A5568', lineHeight: 1.6, marginTop: 5 }}&gt;&#10;          Student 1 — 0..* Order, labelled places.  «Each Student relates to zero or more Orders.» Then read it back the other way: «Each Order relates to exactly one Student.»&#10;        &lt;/Text&gt;&#10;      &lt;/Box&gt;&#10;      &lt;Box style={{ padding: '15px 17px', background: '#FFF6E0', borderRadius: 9, borderLeft: '4px solid #FFC107' }}&gt;&#10;        &lt;Text style={{ fontSize: 16, fontWeight: 'bold', color: '#996F00' }}&gt;Both ends are always read&lt;/Text&gt;&#10;        &lt;Text style={{ fontSize: 13, color: '#4A5568', lineHeight: 1.6, marginTop: 5 }}&gt;&#10;          Multiplicity is written at the far end from the class you are talking about. Reading only one direction is the single most common exam error.&#10;        &lt;/Text&gt;&#10;      &lt;/Box&gt;&#10;      &lt;Box style={{ padding: '15px 17px', background: '#FFFFFF', borderRadius: 9, border: '1px solid #D6DCE5' }}&gt;&#10;        &lt;Text style={{ fontSize: 16, fontWeight: 'bold', color: '#0E3F8C' }}&gt;Practice in the lab&lt;/Text&gt;&#10;        &lt;Text style={{ fontSize: 13, color: '#4A5568', lineHeight: 1.6, marginTop: 5 }}&gt;&#10;          Exercise 7.1 gives you twelve one-line situations. For each you write one multiplicity pair — nothing else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8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0325100" y="2571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ASSOCIATIONS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1433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Reading a Multiplicity Out Loud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381000" y="1933575"/>
            <a:ext cx="5334000" cy="1866900"/>
          </a:xfrm>
          <a:prstGeom prst="roundRect">
            <a:avLst>
              <a:gd name="adj" fmla="val 5102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571500" y="21050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THE FOUR-STEP READ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571500" y="23717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47700" y="2409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95350" y="23717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Point at the class at one end.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71500" y="26860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47700" y="2724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95350" y="26860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Say «each one of these...»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571500" y="30003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47700" y="3038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95350" y="30003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Follow the line to the other end.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571500" y="33147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47700" y="33528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95350" y="33147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Read the number there: «...relates to this many.»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Worked read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Student 1 — 0..* Order, labelled places.  «Each Student relates to zero or more Orders.» Then read it back the other way: «Each Order relates to exactly one Student.»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694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Both ends are always read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Multiplicity is written at the far end from the class you are talking about. Reading only one direction is the single most common exam error.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Practice in the lab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Exercise 7.1 gives you twelve one-line situations. For each you write one multiplicity pair — nothing else.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02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2&lt;/Text&gt;&#10;    &lt;/Box&gt;&#10;    &lt;Box style={{ flex: 1, padding: '70px 64px', flexDirection: 'column', justifyContent: 'center' }}&gt;&#10;      &lt;Text style={{ fontSize: 15, color: '#7FA2D6', letterSpacing: 2, marginBottom: 18 }}&gt;PART 2 · LECTURE · 25 MIN&lt;/Text&gt;&#10;      &lt;Text style={{ fontSize: 46, fontWeight: 'bold', color: '#FFFFFF', lineHeight: 1.18 }}&gt;Association Classes&lt;/Text&gt;&#10;      &lt;Box style={{ width: 64, height: 4, background: '#FFC107', marginTop: 26, marginBottom: 26 }} /&gt;&#10;      &lt;Box style={{ flexDirection: 'column', gap: 12 }}&gt;&#10;          &lt;Box key=&quot;Some facts belong to a relationship, not&quot; style={{ flexDirection: 'row', alignItems: 'center', gap: 12 }}&gt;&#10;            &lt;Box style={{ width: 8, height: 8, borderRadius: 4, background: '#3D7BD9' }} /&gt;&#10;            &lt;Text style={{ fontSize: 20, color: '#C5D4EA' }}&gt;Some facts belong to a relationship, not to either thing in it&lt;/Text&gt;&#10;          &lt;/Box&gt;&#10;          &lt;Box key=&quot;The Rating problem: is the score a prope&quot; style={{ flexDirection: 'row', alignItems: 'center', gap: 12 }}&gt;&#10;            &lt;Box style={{ width: 8, height: 8, borderRadius: 4, background: '#3D7BD9' }} /&gt;&#10;            &lt;Text style={{ fontSize: 20, color: '#C5D4EA' }}&gt;The Rating problem: is the score a property of the Customer or the Order?&lt;/Text&gt;&#10;          &lt;/Box&gt;&#10;          &lt;Box key=&quot;Neither. So it needs its own box&quot; style={{ flexDirection: 'row', alignItems: 'center', gap: 12 }}&gt;&#10;            &lt;Box style={{ width: 8, height: 8, borderRadius: 4, background: '#3D7BD9' }} /&gt;&#10;            &lt;Text style={{ fontSize: 20, color: '#C5D4EA' }}&gt;Neither. So it needs its own box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28575" y="2171700"/>
            <a:ext cx="27908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2 · LECTURE · 25 MIN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Association Classes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09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Some facts belong to a relationship, not to either thing in it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625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Rating problem: is the score a property of the Customer or the Order?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Neither. So it needs its own box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0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 CLASSES&lt;/Text&gt;&#10;  &lt;/Box&gt;&#10;  &lt;Box style={{ padding: '13px 40px 0 40px', flexDirection: 'row', alignItems: 'center', justifyContent: 'space-between' }}&gt;&#10;    &lt;Text style={{ fontSize: 29, fontWeight: 'bold', color: '#0E3F8C' }}&gt;The Rating Problem&lt;/Text&gt;&#10;    &lt;Text style={{ fontSize: 14, color: '#1E4FA8', fontWeight: 'bold' }}&gt;10 / 38&lt;/Text&gt;&#10;  &lt;/Box&gt;&#10;  &lt;Box style={{ flex: 1, padding: '10px 40px 0 40px', flexDirection: 'column' }}&gt;&#10;    &lt;Box style={{ justifyContent: 'center', alignItems: 'center' }}&gt;&#10;    &lt;svg width={1180} height={392} viewBox='0 0 1180 $h'&gt;&#10;&#10;      &lt;text x='10' y='18' fill='#8B97A8' fontSize='13'&gt;A rating exists only while a particular customer is attached to a particular order. Where does it live?&lt;/text&gt;&#10;&#10;      &lt;rect x='60' y='60' width='240' height='80' rx='9' fill='#F7F9FC' stroke='#1E4FA8' strokeWidth='2' /&gt;&#10;      &lt;text x='180' y='106' textAnchor='middle' fill='#0E3F8C' fontSize='20' fontWeight='bold'&gt;Customer&lt;/text&gt;&#10;&#10;      &lt;rect x='640' y='60' width='240' height='80' rx='9' fill='#F7F9FC' stroke='#1E4FA8' strokeWidth='2' /&gt;&#10;      &lt;text x='760' y='106' textAnchor='middle' fill='#0E3F8C' fontSize='20' fontWeight='bold'&gt;Order&lt;/text&gt;&#10;&#10;      &lt;line x1='300' y1='100' x2='640' y2='100' stroke='#0E3F8C' strokeWidth='2.6' /&gt;&#10;&#10;      &lt;rect x='370' y='158' width='200' height='70' rx='9' fill='#FFF6E0' stroke='#FFC107' strokeWidth='2.2' /&gt;&#10;      &lt;text x='470' y='188' textAnchor='middle' fill='#996F00' fontSize='18' fontWeight='bold'&gt;Rating&lt;/text&gt;&#10;      &lt;text x='470' y='212' textAnchor='middle' fill='#4A5568' fontSize='13'&gt;score · comment · date&lt;/text&gt;&#10;      &lt;line x1='470' y1='140' x2='470' y2='158' stroke='#FFC107' strokeWidth='2.2' strokeDasharray='5 4' /&gt;&#10;&#10;      &lt;rect x='60' y='262' width='1060' height='44' rx='9' fill='#FCEBEB' /&gt;&#10;      &lt;text x='82' y='290' fill='#8B3230' fontSize='14.5' fontWeight='bold'&gt;Wrong:&lt;/text&gt;&#10;      &lt;text x='152' y='290' fill='#1A2230' fontSize='14.5'&gt;put score on Customer — a customer rates many orders differently over time&lt;/text&gt;&#10;&#10;      &lt;rect x='60' y='316' width='1060' height='44' rx='9' fill='#FCEBEB' /&gt;&#10;      &lt;text x='82' y='344' fill='#8B3230' fontSize='14.5' fontWeight='bold'&gt;Wrong:&lt;/text&gt;&#10;      &lt;text x='152' y='344' fill='#1A2230' fontSize='14.5'&gt;put score on Order — an order can be rated by more than one party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0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725025" y="25717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 CLASSES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26098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Rating Problem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338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</p:spTree>
  </p:cSld>
</p:sld>
</file>

<file path=ppt/slides/slide11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2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 CLASSES&lt;/Text&gt;&#10;  &lt;/Box&gt;&#10;  &lt;Box style={{ padding: '13px 40px 0 40px', flexDirection: 'row', alignItems: 'center', justifyContent: 'space-between' }}&gt;&#10;    &lt;Text style={{ fontSize: 29, fontWeight: 'bold', color: '#0E3F8C' }}&gt;When an Attribute Belongs to Two Things&lt;/Text&gt;&#10;    &lt;Text style={{ fontSize: 14, color: '#1E4FA8', fontWeight: 'bold' }}&gt;11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80, 330, 290]}&#10;      cells={[&#10;        [&#10;          { text: 'Test', textStyle: {bold: true, color: '#FFFFFF', fontSize: 15}, cellStyle: {background: { color: '#0E3F8C' }} },&#10;          { text: 'If the answer is yes', textStyle: {bold: true, color: '#FFFFFF', fontSize: 15}, cellStyle: {background: { color: '#1E4FA8' }} },&#10;          { text: 'Then', textStyle: {bold: true, color: '#FFFFFF', fontSize: 15}, cellStyle: {background: { color: '#1E4FA8' }} }&#10;        ],&#10;        [&#10;          { text: 'Does the fact exist without both objects?', textStyle: {color: '#4A5568'}, cellStyle: {} },&#10;          { text: 'No — it needs the pair', textStyle: {color: '#4A5568'}, cellStyle: {} },&#10;          { text: 'It is an association class, not an attribute', textStyle: {color: '#4A5568'}, cellStyle: {} }&#10;        ],&#10;        [&#10;          { text: 'Would two objects of the same pair carry different values?', textStyle: {color: '#4A5568'}, cellStyle: {background: { color: '#F7F9FC' }} },&#10;          { text: 'Yes — A rates this order 5, B rates it 3', textStyle: {color: '#4A5568'}, cellStyle: {background: { color: '#F7F9FC' }} },&#10;          { text: 'It cannot sit on either class', textStyle: {color: '#4A5568'}, cellStyle: {background: { color: '#F7F9FC' }} }&#10;        ],&#10;        [&#10;          { text: 'Is it the same value for every pairing?', textStyle: {color: '#4A5568'}, cellStyle: {} },&#10;          { text: 'Yes — the order total is the total', textStyle: {color: '#4A5568'}, cellStyle: {} },&#10;          { text: 'It is a plain attribute of Order', textStyle: {color: '#4A5568'}, cellStyle: {} }&#10;        ],&#10;        [&#10;          { text: 'Does it have its own identity and history?', textStyle: {color: '#4A5568'}, cellStyle: {background: { color: '#F7F9FC' }} },&#10;          { text: 'Yes — you can point at one rating', textStyle: {color: '#4A5568'}, cellStyle: {background: { color: '#F7F9FC' }} },&#10;          { text: 'Consider promoting it to a full class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1 / 38&lt;/Text&gt;&#10;  &lt;/Box&gt;&#10;  &lt;Box style={{ height: 46, background: '#0E3F8C', padding: '0 40px', flexDirection: 'row', alignItems: 'center', justifyContent: 'center' }}&gt;&#10;    &lt;Text style={{ fontSize: 16.5, color: '#FFFFFF', fontWeight: '600' }}&gt;The question is never «can I draw it as a class?» — it is «does the fact survive the pair?»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725025" y="25717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 CLASSES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4768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When an Attribute Belongs to Two Things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graphicFrame>
        <p:nvGraphicFramePr>
          <p:cNvPr id="3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796350">
                  <a:extLst>
                    <a:ext uri="{9D8B030D-6E8A-4147-A177-3AD203B41FA5}">
                      <a16:colId val="1"/>
                    </a:ext>
                  </a:extLst>
                </a:gridCol>
                <a:gridCol w="3222674">
                  <a:extLst>
                    <a:ext uri="{9D8B030D-6E8A-4147-A177-3AD203B41FA5}">
                      <a16:colId val="2"/>
                    </a:ext>
                  </a:extLst>
                </a:gridCol>
                <a:gridCol w="341097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If the answer is yes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the fact exist without both objects?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— it needs the pair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is an association class, not an attribute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Would two objects of the same pair carry different values?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A rates this order 5, B rates it 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cannot sit on either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Is it the same value for every pairing?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the order total is the total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is a plain attribute of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it have its own identity and history?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you can point at one rating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Consider promoting it to a full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781300" y="6543675"/>
            <a:ext cx="6638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 question is never «can I draw it as a class?» — it is «does the fact survive the pair?»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 CLASSES&lt;/Text&gt;&#10;  &lt;/Box&gt;&#10;  &lt;Box style={{ padding: '13px 40px 0 40px', flexDirection: 'row', alignItems: 'center', justifyContent: 'space-between' }}&gt;&#10;    &lt;Text style={{ fontSize: 29, fontWeight: 'bold', color: '#0E3F8C' }}&gt;Association Class or Plain Class?&lt;/Text&gt;&#10;    &lt;Text style={{ fontSize: 14, color: '#1E4FA8', fontWeight: 'bold' }}&gt;12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THE ASSOCIATION CLASS FORM&lt;/Text&gt;&#10;&#10;          &lt;Box key=&quot;Draw it attached by a dashed lin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A&lt;/Text&gt;&#10;            &lt;/Box&gt;&#10;            &lt;Text style={{ flex: 1, fontSize: 13.5, color: '#1A2230', lineHeight: 1.45 }}&gt;Draw it attached by a dashed line to the association.&lt;/Text&gt;&#10;          &lt;/Box&gt;&#10;          &lt;Box key=&quot;Use it when the fact is meaningl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B&lt;/Text&gt;&#10;            &lt;/Box&gt;&#10;            &lt;Text style={{ flex: 1, fontSize: 13.5, color: '#1A2230', lineHeight: 1.45 }}&gt;Use it when the fact is meaningless alone — a Rating with no Customer and no Order is not a thing.&lt;/Text&gt;&#10;          &lt;/Box&gt;&#10;          &lt;Box key=&quot;Do not use it to rescue a weak c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C&lt;/Text&gt;&#10;            &lt;/Box&gt;&#10;            &lt;Text style={{ flex: 1, fontSize: 13.5, color: '#1A2230', lineHeight: 1.45 }}&gt;Do not use it to rescue a weak class. That is a different problem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Prefer the plain class when&lt;/Text&gt;&#10;        &lt;Text style={{ fontSize: 13, color: '#4A5568', lineHeight: 1.6, marginTop: 5 }}&gt;&#10;          the object has a life of its own — it can be listed, counted, edited on its own screen. Then model it as a class with two ordinary associations.&#10;        &lt;/Text&gt;&#10;      &lt;/Box&gt;&#10;      &lt;Box style={{ padding: '15px 17px', background: '#FFFFFF', borderRadius: 9, border: '1px solid #D6DCE5' }}&gt;&#10;        &lt;Text style={{ fontSize: 16, fontWeight: 'bold', color: '#0E3F8C' }}&gt;Prefer the association class when&lt;/Text&gt;&#10;        &lt;Text style={{ fontSize: 13, color: '#4A5568', lineHeight: 1.6, marginTop: 5 }}&gt;&#10;          the fact is purely connective and dies with the pair. Ratings, enrolments, permissions, assignments.&#10;        &lt;/Text&gt;&#10;      &lt;/Box&gt;&#10;      &lt;Box style={{ padding: '15px 17px', background: '#FFF6E0', borderRadius: 9, borderLeft: '4px solid #FFC107' }}&gt;&#10;        &lt;Text style={{ fontSize: 16, fontWeight: 'bold', color: '#996F00' }}&gt;Cost of getting it wrong&lt;/Text&gt;&#10;        &lt;Text style={{ fontSize: 13, color: '#4A5568', lineHeight: 1.6, marginTop: 5 }}&gt;&#10;          Facts pinned to the wrong class leak into the schema. Fixing them later means migrating data, not redrawing a box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2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725025" y="25717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 CLASSES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4577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Association Class or Plain Class?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81000" y="1857375"/>
            <a:ext cx="5334000" cy="1771650"/>
          </a:xfrm>
          <a:prstGeom prst="roundRect">
            <a:avLst>
              <a:gd name="adj" fmla="val 5376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20288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THE ASSOCIATION CLASS FORM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22955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38175" y="23336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95350" y="22955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Draw it attached by a dashed line to the association.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71500" y="26098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38175" y="26479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95350" y="2609850"/>
            <a:ext cx="46291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Use it when the fact is meaningless alone — a Rating with no Customer and no Order is not a thing.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71500" y="31432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38175" y="31813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95350" y="31432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Do not use it to rescue a weak class. That is a different problem.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Prefer the plain class when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object has a life of its own — it can be listed, counted, edited on its own screen. Then model it as a class with two ordinary associations.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962650" y="2362200"/>
            <a:ext cx="5848350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124575" y="25050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Prefer the association class when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124575" y="2743200"/>
            <a:ext cx="5524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fact is purely connective and dies with the pair. Ratings, enrolments, permissions, assignments.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00750" y="3248025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6000750" y="3248025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162675" y="3390900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Cost of getting it wrong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162675" y="3629025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Facts pinned to the wrong class leak into the schema. Fixing them later means migrating data, not redrawing a box.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SSOCIATION CLASSES&lt;/Text&gt;&#10;  &lt;/Box&gt;&#10;  &lt;Box style={{ padding: '13px 40px 0 40px', flexDirection: 'row', alignItems: 'center', justifyContent: 'space-between' }}&gt;&#10;    &lt;Text style={{ fontSize: 29, fontWeight: 'bold', color: '#0E3F8C' }}&gt;Three Association-Class Shapes You Will Meet&lt;/Text&gt;&#10;    &lt;Text style={{ fontSize: 14, color: '#1E4FA8', fontWeight: 'bold' }}&gt;13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FFC107', flexDirection: 'column', gap: 8 }}&gt;&#10;          &lt;Text style={{ fontSize: 13, color: '#8B97A8', letterSpacing: 1 }}&gt;SHAPE 01&lt;/Text&gt;&#10;          &lt;Text style={{ fontSize: 19, fontWeight: 'bold', color: '#0E3F8C', lineHeight: 1.25 }}&gt;The Evaluation&lt;/Text&gt;&#10;          &lt;Text style={{ fontSize: 13, color: '#4A5568', lineHeight: 1.55 }}&gt;A score, a comment and a date that only exist for one pair. CampusBites: Review between Customer and Order.&lt;/Text&gt;&#10;        &lt;/Box&gt;&#10;        &lt;Box style={{ width: '31.5%', padding: '18px 18px', background: '#F7F9FC', borderRadius: 10, border: '1px solid #E5E7EB', borderTop: '4px solid #FFC107', flexDirection: 'column', gap: 8 }}&gt;&#10;          &lt;Text style={{ fontSize: 13, color: '#8B97A8', letterSpacing: 1 }}&gt;SHAPE 02&lt;/Text&gt;&#10;          &lt;Text style={{ fontSize: 19, fontWeight: 'bold', color: '#0E3F8C', lineHeight: 1.25 }}&gt;The Booking&lt;/Text&gt;&#10;          &lt;Text style={{ fontSize: 13, color: '#4A5568', lineHeight: 1.55 }}&gt;A role and a duration that belong to the link, not to the person or the room.&lt;/Text&gt;&#10;        &lt;/Box&gt;&#10;        &lt;Box style={{ width: '31.5%', padding: '18px 18px', background: '#F7F9FC', borderRadius: 10, border: '1px solid #E5E7EB', borderTop: '4px solid #FFC107', flexDirection: 'column', gap: 8 }}&gt;&#10;          &lt;Text style={{ fontSize: 13, color: '#8B97A8', letterSpacing: 1 }}&gt;SHAPE 03&lt;/Text&gt;&#10;          &lt;Text style={{ fontSize: 19, fontWeight: 'bold', color: '#0E3F8C', lineHeight: 1.25 }}&gt;The Permission&lt;/Text&gt;&#10;          &lt;Text style={{ fontSize: 13, color: '#4A5568', lineHeight: 1.55 }}&gt;A grant level that is meaningful only for one user on one resource.&lt;/Text&gt;&#10;        &lt;/Box&gt;&#10;        &lt;Box style={{ width: '31.5%', padding: '18px 18px', background: '#F7F9FC', borderRadius: 10, border: '1px solid #E5E7EB', borderTop: '4px solid #FFC107', flexDirection: 'column', gap: 8 }}&gt;&#10;          &lt;Text style={{ fontSize: 13, color: '#8B97A8', letterSpacing: 1 }}&gt;REMEMBER&lt;/Text&gt;&#10;          &lt;Text style={{ fontSize: 19, fontWeight: 'bold', color: '#0E3F8C', lineHeight: 1.25 }}&gt;If you hesitated&lt;/Text&gt;&#10;          &lt;Text style={{ fontSize: 13, color: '#4A5568', lineHeight: 1.55 }}&gt;Hesitation usually means it is a plain class. Association classes are the exception, not the default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725025" y="25717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ASSOCIATION CLASSES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1341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Three Association-Class Shapes You Will Meet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38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SHAPE 01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Evaluation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score, a comment and a date that only exist for one pair. CampusBites: Review between Customer and Order.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SHAPE 02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Booking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role and a duration that belong to the link, not to the person or the room.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SHAPE 03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Permission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grant level that is meaningful only for one user on one resource.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REMEMBER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If you hesitated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Hesitation usually means it is a plain class. Association classes are the exception, not the default.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38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3&lt;/Text&gt;&#10;    &lt;/Box&gt;&#10;    &lt;Box style={{ flex: 1, padding: '70px 64px', flexDirection: 'column', justifyContent: 'center' }}&gt;&#10;      &lt;Text style={{ fontSize: 15, color: '#7FA2D6', letterSpacing: 2, marginBottom: 18 }}&gt;PART 3 · LECTURE · 40 MIN&lt;/Text&gt;&#10;      &lt;Text style={{ fontSize: 46, fontWeight: 'bold', color: '#FFFFFF', lineHeight: 1.18 }}&gt;Aggregation + Composition&lt;/Text&gt;&#10;      &lt;Box style={{ width: 64, height: 4, background: '#FFC107', marginTop: 26, marginBottom: 26 }} /&gt;&#10;      &lt;Box style={{ flexDirection: 'column', gap: 12 }}&gt;&#10;          &lt;Box key=&quot;Hollow diamond, filled diamond — and a t&quot; style={{ flexDirection: 'row', alignItems: 'center', gap: 12 }}&gt;&#10;            &lt;Box style={{ width: 8, height: 8, borderRadius: 4, background: '#3D7BD9' }} /&gt;&#10;            &lt;Text style={{ fontSize: 20, color: '#C5D4EA' }}&gt;Hollow diamond, filled diamond — and a third option you will use most&lt;/Text&gt;&#10;          &lt;/Box&gt;&#10;          &lt;Box key=&quot;The real question is lifecycle ownership&quot; style={{ flexDirection: 'row', alignItems: 'center', gap: 12 }}&gt;&#10;            &lt;Box style={{ width: 8, height: 8, borderRadius: 4, background: '#3D7BD9' }} /&gt;&#10;            &lt;Text style={{ fontSize: 20, color: '#C5D4EA' }}&gt;The real question is lifecycle ownership: who dies with whom&lt;/Text&gt;&#10;          &lt;/Box&gt;&#10;          &lt;Box key=&quot;We will finish with the honest advice: i&quot; style={{ flexDirection: 'row', alignItems: 'center', gap: 12 }}&gt;&#10;            &lt;Box style={{ width: 8, height: 8, borderRadius: 4, background: '#3D7BD9' }} /&gt;&#10;            &lt;Text style={{ fontSize: 20, color: '#C5D4EA' }}&gt;We will finish with the honest advice: in a domain model, plain associations are usually enough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8100" y="2171700"/>
            <a:ext cx="27813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3 · LECTURE · 40 MIN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Aggregation + Composition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5915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Hollow diamond, filled diamond — and a third option you will use most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real question is lifecycle ownership: who dies with whom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792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We will finish with the honest advice: in a domain model, plain associations are usually enough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1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GGREGATION + COMPOSITION&lt;/Text&gt;&#10;  &lt;/Box&gt;&#10;  &lt;Box style={{ padding: '13px 40px 0 40px', flexDirection: 'row', alignItems: 'center', justifyContent: 'space-between' }}&gt;&#10;    &lt;Text style={{ fontSize: 29, fontWeight: 'bold', color: '#0E3F8C' }}&gt;Three Ways to Draw a Whole and Its Parts&lt;/Text&gt;&#10;    &lt;Text style={{ fontSize: 14, color: '#1E4FA8', fontWeight: 'bold' }}&gt;15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20, 220, 320, 340]}&#10;      cells={[&#10;        [&#10;          { text: 'Form', textStyle: {bold: true, color: '#FFFFFF', fontSize: 15}, cellStyle: {background: { color: '#0E3F8C' }} },&#10;          { text: 'Symbol', textStyle: {bold: true, color: '#FFFFFF', fontSize: 15}, cellStyle: {background: { color: '#1E4FA8' }} },&#10;          { text: 'Lifecycle rule', textStyle: {bold: true, color: '#FFFFFF', fontSize: 15}, cellStyle: {background: { color: '#1E4FA8' }} },&#10;          { text: 'CampusBites example', textStyle: {bold: true, color: '#FFFFFF', fontSize: 15}, cellStyle: {background: { color: '#1E4FA8' }} }&#10;        ],&#10;        [&#10;          { text: 'Plain association', textStyle: {color: '#4A5568'}, cellStyle: {} },&#10;          { text: 'no diamond', textStyle: {color: '#4A5568'}, cellStyle: {} },&#10;          { text: 'Both ends live independently', textStyle: {color: '#4A5568'}, cellStyle: {} },&#10;          { text: 'Order — Restaurant', textStyle: {color: '#4A5568'}, cellStyle: {} }&#10;        ],&#10;        [&#10;          { text: 'Aggregation', textStyle: {color: '#4A5568'}, cellStyle: {background: { color: '#F7F9FC' }} },&#10;          { text: 'hollow diamond on the whole', textStyle: {color: '#4A5568'}, cellStyle: {background: { color: '#F7F9FC' }} },&#10;          { text: 'Parts can outlive the whole', textStyle: {color: '#4A5568'}, cellStyle: {background: { color: '#F7F9FC' }} },&#10;          { text: 'Menu — MenuItem (an item can move to another menu)', textStyle: {color: '#4A5568'}, cellStyle: {background: { color: '#F7F9FC' }} }&#10;        ],&#10;        [&#10;          { text: 'Composition', textStyle: {color: '#4A5568'}, cellStyle: {} },&#10;          { text: 'filled diamond on the whole', textStyle: {color: '#4A5568'}, cellStyle: {} },&#10;          { text: 'Part cannot exist without the whole', textStyle: {color: '#4A5568'}, cellStyle: {} },&#10;          { text: 'Order — OrderLine (delete the order, the line is gone)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5 / 38&lt;/Text&gt;&#10;  &lt;/Box&gt;&#10;  &lt;Box style={{ height: 46, background: '#0E3F8C', padding: '0 40px', flexDirection: 'row', alignItems: 'center', justifyContent: 'center' }}&gt;&#10;    &lt;Text style={{ fontSize: 16.5, color: '#FFFFFF', fontWeight: '600' }}&gt;The diamond question is not «is this a whole?» — it is «can the part outlive the whole?»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153525" y="257175"/>
            <a:ext cx="2657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AGGREGATION + COMPOSITION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5054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Three Ways to Draw a Whole and Its Parts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  <p:graphicFrame>
        <p:nvGraphicFramePr>
          <p:cNvPr id="118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480831">
                  <a:extLst>
                    <a:ext uri="{9D8B030D-6E8A-4147-A177-3AD203B41FA5}">
                      <a16:colId val="1"/>
                    </a:ext>
                  </a:extLst>
                </a:gridCol>
                <a:gridCol w="2449475">
                  <a:extLst>
                    <a:ext uri="{9D8B030D-6E8A-4147-A177-3AD203B41FA5}">
                      <a16:colId val="2"/>
                    </a:ext>
                  </a:extLst>
                </a:gridCol>
                <a:gridCol w="2900625">
                  <a:extLst>
                    <a:ext uri="{9D8B030D-6E8A-4147-A177-3AD203B41FA5}">
                      <a16:colId val="3"/>
                    </a:ext>
                  </a:extLst>
                </a:gridCol>
                <a:gridCol w="4599069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127495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Form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Symbol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Lifecycle 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CampusBites example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Plain association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diamond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Both ends live independently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Order — Restaurant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Aggregation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hollow diamond on the whole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Parts can outlive the whole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Menu — MenuItem (an item can move to another menu)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Composition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filled diamond on the whole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Part cannot exist without the whole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Order — OrderLine (delete the order, the line is gone)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809875" y="6543675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 diamond question is not «is this a whole?» — it is «can the part outlive the whole?»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23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GGREGATION + COMPOSITION&lt;/Text&gt;&#10;  &lt;/Box&gt;&#10;  &lt;Box style={{ padding: '13px 40px 0 40px', flexDirection: 'row', alignItems: 'center', justifyContent: 'space-between' }}&gt;&#10;    &lt;Text style={{ fontSize: 29, fontWeight: 'bold', color: '#0E3F8C' }}&gt;The Only Test That Matters: Does the Part Survive?&lt;/Text&gt;&#10;    &lt;Text style={{ fontSize: 14, color: '#1E4FA8', fontWeight: 'bold' }}&gt;16 / 38&lt;/Text&gt;&#10;  &lt;/Box&gt;&#10;  &lt;Box style={{ flex: 1, padding: '10px 40px 0 40px', flexDirection: 'column' }}&gt;&#10;    &lt;Box style={{ justifyContent: 'center', alignItems: 'center' }}&gt;&#10;    &lt;svg width={1180} height={392} viewBox='0 0 1180 $h'&gt;&#10;&#10;      &lt;text x='10' y='18' fill='#8B97A8' fontSize='13'&gt;Ask one deletion question. The answer decides the diamond — or tells you to draw no diamond at all.&lt;/text&gt;&#10;&#10;      &lt;rect x='40' y='52' width='1080' height='88' rx='9' fill='#EAF6EC' stroke='#2B7A3D' strokeWidth='2' /&gt;&#10;      &lt;text x='66' y='88' fill='#2B7A3D' fontSize='17' fontWeight='bold'&gt;Delete the whole. Does the part still make sense on its own?&lt;/text&gt;&#10;      &lt;text x='66' y='118' fill='#1A2230' fontSize='15'&gt;Yes → hollow diamond (aggregation) or no diamond at all.   No → filled diamond (composition).&lt;/text&gt;&#10;&#10;      &lt;rect x='40' y='164' width='520' height='150' rx='9' fill='#F7F9FC' stroke='#D6DCE5' /&gt;&#10;      &lt;text x='64' y='196' fill='#0E3F8C' fontSize='16' fontWeight='bold'&gt;Order — OrderLine&lt;/text&gt;&#10;      &lt;text x='64' y='226' fill='#4A5568' fontSize='13.5'&gt;Delete the order. Can an order line survive?&lt;/text&gt;&#10;      &lt;text x='64' y='250' fill='#4A5568' fontSize='13.5'&gt;No — a line means nothing without its order.&lt;/text&gt;&#10;      &lt;text x='64' y='286' fill='#2B7A3D' fontSize='15' fontWeight='bold'&gt;Filled diamond. This is the canonical case.&lt;/text&gt;&#10;&#10;      &lt;rect x='600' y='164' width='520' height='150' rx='9' fill='#F7F9FC' stroke='#D6DCE5' /&gt;&#10;      &lt;text x='624' y='196' fill='#0E3F8C' fontSize='16' fontWeight='bold'&gt;Menu — MenuItem&lt;/text&gt;&#10;      &lt;text x='624' y='226' fill='#4A5568' fontSize='13.5'&gt;Delete the menu. Can a menu item survive?&lt;/text&gt;&#10;      &lt;text x='624' y='250' fill='#4A5568' fontSize='13.5'&gt;Yes — it can appear on another menu tomorrow.&lt;/text&gt;&#10;      &lt;text x='624' y='286' fill='#996F00' fontSize='15' fontWeight='bold'&gt;Aggregation — or just a plain association.&lt;/text&gt;&#10;&#10;      &lt;rect x='40' y='332' width='1080' height='44' rx='9' fill='#FFF6E0' /&gt;&#10;      &lt;text x='64' y='360' fill='#996F00' fontSize='14.5'&gt;Notice: the second case is genuinely ambiguous. That ambiguity is the subject of the next slide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6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153525" y="257175"/>
            <a:ext cx="2657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AGGREGATION + COMPOSITION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7246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Only Test That Matters: Does the Part Survive?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pic>
        <p:nvPicPr>
          <p:cNvPr id="1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33800"/>
          </a:xfrm>
          <a:prstGeom prst="rect">
            <a:avLst/>
          </a:prstGeom>
          <a:ln/>
        </p:spPr>
      </p:pic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GGREGATION + COMPOSITION&lt;/Text&gt;&#10;  &lt;/Box&gt;&#10;  &lt;Box style={{ padding: '13px 40px 0 40px', flexDirection: 'row', alignItems: 'center', justifyContent: 'space-between' }}&gt;&#10;    &lt;Text style={{ fontSize: 29, fontWeight: 'bold', color: '#0E3F8C' }}&gt;The Honest Advice About Diamonds&lt;/Text&gt;&#10;    &lt;Text style={{ fontSize: 14, color: '#1E4FA8', fontWeight: 'bold' }}&gt;17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WHAT LARMAN ACTUALLY SAYS&lt;/Text&gt;&#10;&#10;          &lt;Box key=&quot;Most domain models need zero or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Most domain models need zero or one diamond.&lt;/Text&gt;&#10;          &lt;/Box&gt;&#10;          &lt;Box key=&quot;What they need is correct multip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What they need is correct multiplicity at every end.&lt;/Text&gt;&#10;          &lt;/Box&gt;&#10;          &lt;Box key=&quot;A wrong multiplicity breaks the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A wrong multiplicity breaks the schema. A missing diamond usually breaks nothing.&lt;/Text&gt;&#10;          &lt;/Box&gt;&#10;          &lt;Box key=&quot;So reserve composition for the c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4&lt;/Text&gt;&#10;            &lt;/Box&gt;&#10;            &lt;Text style={{ flex: 1, fontSize: 13.5, color: '#1A2230', lineHeight: 1.45 }}&gt;So reserve composition for the cases where deletion really cascades.&lt;/Text&gt;&#10;          &lt;/Box&gt;&#10;      &lt;/Box&gt;&#10;      &lt;/Box&gt;&#10;      &lt;Box style={{ flex: 1, flexDirection: 'column', justifyContent: 'center', gap: 13 }}&gt;&#10;      &lt;Box style={{ padding: '15px 17px', background: '#FFF6E0', borderRadius: 9, borderLeft: '4px solid #FFC107' }}&gt;&#10;        &lt;Text style={{ fontSize: 16, fontWeight: 'bold', color: '#996F00' }}&gt;Why the fuss is overrated&lt;/Text&gt;&#10;        &lt;Text style={{ fontSize: 13, color: '#4A5568', lineHeight: 1.6, marginTop: 5 }}&gt;&#10;          Diamonds are an implementation hint. In analysis you are still describing the business, and the business rarely has an opinion about deletion cascades.&#10;        &lt;/Text&gt;&#10;      &lt;/Box&gt;&#10;      &lt;Box style={{ padding: '15px 17px', background: '#F0F5FC', borderRadius: 9, borderLeft: '4px solid #1E4FA8' }}&gt;&#10;        &lt;Text style={{ fontSize: 16, fontWeight: 'bold', color: '#0E3F8C' }}&gt;Where it does earn its place&lt;/Text&gt;&#10;        &lt;Text style={{ fontSize: 13, color: '#4A5568', lineHeight: 1.6, marginTop: 5 }}&gt;&#10;          Exactly one situation: the part has no identity without the whole. Order and OrderLine. Invoice and InvoiceLine. In those cases the diamond prevents a whole class of modelling mistakes.&#10;        &lt;/Text&gt;&#10;      &lt;/Box&gt;&#10;      &lt;Box style={{ padding: '15px 17px', background: '#FFFFFF', borderRadius: 9, border: '1px solid #D6DCE5' }}&gt;&#10;        &lt;Text style={{ fontSize: 16, fontWeight: 'bold', color: '#0E3F8C' }}&gt;Diamond-mania, defined&lt;/Text&gt;&#10;        &lt;Text style={{ fontSize: 13, color: '#4A5568', lineHeight: 1.6, marginTop: 5 }}&gt;&#10;          Putting a filled diamond on every collection because it looks tidy. Reviewers will ask you to justify each one — and «it looked better» is not a justification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7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153525" y="257175"/>
            <a:ext cx="2657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AGGREGATION + COMPOSITION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7815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Honest Advice About Diamonds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81000" y="1819275"/>
            <a:ext cx="5334000" cy="2085975"/>
          </a:xfrm>
          <a:prstGeom prst="roundRect">
            <a:avLst>
              <a:gd name="adj" fmla="val 4566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19907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WHAT LARMAN ACTUALLY SAYS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71500" y="22574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7700" y="22955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95350" y="22574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Most domain models need zero or one diamond.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71500" y="25717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47700" y="26098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95350" y="25717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What they need is correct multiplicity at every end.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71500" y="28860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47700" y="29241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95350" y="2886075"/>
            <a:ext cx="46291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 wrong multiplicity breaks the schema. A missing diamond usually breaks nothing.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71500" y="34194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47700" y="34575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95350" y="34194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So reserve composition for the cases where deletion really cascades.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Why the fuss is overrated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Diamonds are an implementation hint. In analysis you are still describing the business, and the business rarely has an opinion about deletion cascades.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Where it does earn its place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Exactly one situation: the part has no identity without the whole. Order and OrderLine. Invoice and InvoiceLine. In those cases the diamond prevents a whole class of modelling mistakes.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Diamond-mania, defined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Putting a filled diamond on every collection because it looks tidy. Reviewers will ask you to justify each one — and «it looked better» is not a justification.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</p:spTree>
  </p:cSld>
</p:sld>
</file>

<file path=ppt/slides/slide18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6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GGREGATION + COMPOSITION&lt;/Text&gt;&#10;  &lt;/Box&gt;&#10;  &lt;Box style={{ padding: '13px 40px 0 40px', flexDirection: 'row', alignItems: 'center', justifyContent: 'space-between' }}&gt;&#10;    &lt;Text style={{ fontSize: 29, fontWeight: 'bold', color: '#0E3F8C' }}&gt;Diamond-Mania: What It Costs You&lt;/Text&gt;&#10;    &lt;Text style={{ fontSize: 14, color: '#1E4FA8', fontWeight: 'bold' }}&gt;18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30, 320, 350]}&#10;      cells={[&#10;        [&#10;          { text: 'Symptom', textStyle: {bold: true, color: '#FFFFFF', fontSize: 15}, cellStyle: {background: { color: '#0E3F8C' }} },&#10;          { text: 'Why it looks reasonable', textStyle: {bold: true, color: '#FFFFFF', fontSize: 15}, cellStyle: {background: { color: '#1E4FA8' }} },&#10;          { text: 'What it breaks', textStyle: {bold: true, color: '#FFFFFF', fontSize: 15}, cellStyle: {background: { color: '#1E4FA8' }} }&#10;        ],&#10;        [&#10;          { text: 'Filled diamond on every collection', textStyle: {color: '#4A5568'}, cellStyle: {} },&#10;          { text: '«a restaurant owns a menu, a menu owns items»', textStyle: {color: '#4A5568'}, cellStyle: {} },&#10;          { text: 'Reviewers reject the model for unjustified coupling', textStyle: {color: '#4A5568'}, cellStyle: {} }&#10;        ],&#10;        [&#10;          { text: 'Aggregation used where composition was meant', textStyle: {color: '#4A5568'}, cellStyle: {background: { color: '#F7F9FC' }} },&#10;          { text: '«they belong together»', textStyle: {color: '#4A5568'}, cellStyle: {background: { color: '#F7F9FC' }} },&#10;          { text: 'The deletion rule is now wrong, and it is invisible until data is lost', textStyle: {color: '#4A5568'}, cellStyle: {background: { color: '#F7F9FC' }} }&#10;        ],&#10;        [&#10;          { text: 'Composition used where aggregation was meant', textStyle: {color: '#4A5568'}, cellStyle: {} },&#10;          { text: '«it looks stronger»', textStyle: {color: '#4A5568'}, cellStyle: {} },&#10;          { text: 'You have forbidden a legal business case — moving an item between menus', textStyle: {color: '#4A5568'}, cellStyle: {} }&#10;        ],&#10;        [&#10;          { text: 'Diamond plus multiplicity ignored', textStyle: {color: '#4A5568'}, cellStyle: {background: { color: '#F7F9FC' }} },&#10;          { text: 'The diamond feels like enough detail', textStyle: {color: '#4A5568'}, cellStyle: {background: { color: '#F7F9FC' }} },&#10;          { text: 'The one field that actually drives the schema is missing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8 / 38&lt;/Text&gt;&#10;  &lt;/Box&gt;&#10;  &lt;Box style={{ height: 46, background: '#0E3F8C', padding: '0 40px', flexDirection: 'row', alignItems: 'center', justifyContent: 'center' }}&gt;&#10;    &lt;Text style={{ fontSize: 16.5, color: '#FFFFFF', fontWeight: '600' }}&gt;A diamond you cannot justify in one sentence with a deletion rule is a diamond you should delet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153525" y="257175"/>
            <a:ext cx="2657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AGGREGATION + COMPOSITION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5720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Diamond-Mania: What It Costs You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  <p:graphicFrame>
        <p:nvGraphicFramePr>
          <p:cNvPr id="17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208498">
                  <a:extLst>
                    <a:ext uri="{9D8B030D-6E8A-4147-A177-3AD203B41FA5}">
                      <a16:colId val="1"/>
                    </a:ext>
                  </a:extLst>
                </a:gridCol>
                <a:gridCol w="3230504">
                  <a:extLst>
                    <a:ext uri="{9D8B030D-6E8A-4147-A177-3AD203B41FA5}">
                      <a16:colId val="2"/>
                    </a:ext>
                  </a:extLst>
                </a:gridCol>
                <a:gridCol w="499099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Symptom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 it looks reasonable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it breaks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Filled diamond on every collection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«a restaurant owns a menu, a menu owns items»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Reviewers reject the model for unjustified coupling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Aggregation used where composition was meant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«they belong together»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deletion rule is now wrong, and it is invisible until data is lost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Composition used where aggregation was meant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looks stronger»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 have forbidden a legal business case — moving an item between menus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Diamond plus multiplicity ignored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diamond feels like enough detail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one field that actually drives the schema is missing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2428875" y="6543675"/>
            <a:ext cx="7334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A diamond you cannot justify in one sentence with a deletion rule is a diamond you should delete.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7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GGREGATION + COMPOSITION&lt;/Text&gt;&#10;  &lt;/Box&gt;&#10;  &lt;Box style={{ padding: '13px 40px 0 40px', flexDirection: 'row', alignItems: 'center', justifyContent: 'space-between' }}&gt;&#10;    &lt;Text style={{ fontSize: 29, fontWeight: 'bold', color: '#0E3F8C' }}&gt;CampusBites v2 — The Whole-Part Decisions&lt;/Text&gt;&#10;    &lt;Text style={{ fontSize: 14, color: '#1E4FA8', fontWeight: 'bold' }}&gt;19 / 38&lt;/Text&gt;&#10;  &lt;/Box&gt;&#10;  &lt;Box style={{ flex: 1, padding: '10px 40px 0 40px', flexDirection: 'column' }}&gt;&#10;    &lt;Box style={{ justifyContent: 'center', alignItems: 'center' }}&gt;&#10;    &lt;svg width={1180} height={392} viewBox='0 0 1180 $h'&gt;&#10;&#10;      &lt;text x='10' y='18' fill='#8B97A8' fontSize='13'&gt;Both of these are the same classes as last week. Only the ends now carry a verdict.&lt;/text&gt;&#10;&#10;      &lt;rect x='40' y='52' width='1080' height='60' rx='9' fill='#EAF6EC' stroke='#2B7A3D' strokeWidth='2' /&gt;&#10;      &lt;text x='64' y='90' fill='#2B7A3D' fontSize='16' fontWeight='bold'&gt;Composition ·&lt;/text&gt;&#10;      &lt;text x='188' y='90' fill='#1A2230' fontSize='15'&gt;Order → OrderLine.   Delete the order; the lines have no meaning. 1 — 1..*&lt;/text&gt;&#10;&#10;      &lt;rect x='40' y='124' width='1080' height='60' rx='9' fill='#FFF6E0' stroke='#FFC107' strokeWidth='2' /&gt;&#10;      &lt;text x='64' y='162' fill='#996F00' fontSize='16' fontWeight='bold'&gt;Plain association ·&lt;/text&gt;&#10;      &lt;text x='240' y='162' fill='#1A2230' fontSize='15'&gt;Restaurant → MenuItem.   A menu item can move between menus. 1 — 0..*&lt;/text&gt;&#10;&#10;      &lt;rect x='40' y='196' width='1080' height='60' rx='9' fill='#F0F5FC' stroke='#1E4FA8' strokeWidth='2' /&gt;&#10;      &lt;text x='64' y='234' fill='#0E3F8C' fontSize='16' fontWeight='bold'&gt;Plain association ·&lt;/text&gt;&#10;      &lt;text x='240' y='234' fill='#1A2230' fontSize='15'&gt;Order → Coupon.   A coupon exists before and after the order. 0..1 — 0..*&lt;/text&gt;&#10;&#10;      &lt;rect x='40' y='280' width='1080' height='88' rx='9' fill='#FFFFFF' stroke='#D6DCE5' /&gt;&#10;      &lt;text x='64' y='312' fill='#0E3F8C' fontSize='15' fontWeight='bold'&gt;Notice the asymmetry.&lt;/text&gt;&#10;      &lt;text x='64' y='342' fill='#4A5568' fontSize='14'&gt;One diamond in the whole model. Every other whole-part relationship is written as a plain association with honest multiplicity, which is exactly what the business knows and nothing more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9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153525" y="257175"/>
            <a:ext cx="2657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AGGREGATION + COMPOSITION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9912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CampusBites v2 — The Whole-Part Decisions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338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2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AGGREGATION + COMPOSITION&lt;/Text&gt;&#10;  &lt;/Box&gt;&#10;  &lt;Box style={{ padding: '13px 40px 0 40px', flexDirection: 'row', alignItems: 'center', justifyContent: 'space-between' }}&gt;&#10;    &lt;Text style={{ fontSize: 29, fontWeight: 'bold', color: '#0E3F8C' }}&gt;Your Three Justifications, In Order&lt;/Text&gt;&#10;    &lt;Text style={{ fontSize: 14, color: '#1E4FA8', fontWeight: 'bold' }}&gt;20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1E4FA8', flexDirection: 'column', gap: 8 }}&gt;&#10;          &lt;Text style={{ fontSize: 13, color: '#8B97A8', letterSpacing: 1 }}&gt;FIRST&lt;/Text&gt;&#10;          &lt;Text style={{ fontSize: 19, fontWeight: 'bold', color: '#0E3F8C', lineHeight: 1.25 }}&gt;Multiplicity&lt;/Text&gt;&#10;          &lt;Text style={{ fontSize: 13, color: '#4A5568', lineHeight: 1.55 }}&gt;Every end gets a number you can defend from a business rule. This is always required.&lt;/Text&gt;&#10;        &lt;/Box&gt;&#10;        &lt;Box style={{ width: '31.5%', padding: '18px 18px', background: '#F7F9FC', borderRadius: 10, border: '1px solid #E5E7EB', borderTop: '4px solid #1E4FA8', flexDirection: 'column', gap: 8 }}&gt;&#10;          &lt;Text style={{ fontSize: 13, color: '#8B97A8', letterSpacing: 1 }}&gt;SECOND&lt;/Text&gt;&#10;          &lt;Text style={{ fontSize: 19, fontWeight: 'bold', color: '#0E3F8C', lineHeight: 1.25 }}&gt;Role names&lt;/Text&gt;&#10;          &lt;Text style={{ fontSize: 13, color: '#4A5568', lineHeight: 1.55 }}&gt;Only where the plain class name would be ambiguous — «placedBy» helps, «student2» does not.&lt;/Text&gt;&#10;        &lt;/Box&gt;&#10;        &lt;Box style={{ width: '31.5%', padding: '18px 18px', background: '#F7F9FC', borderRadius: 10, border: '1px solid #E5E7EB', borderTop: '4px solid #1E4FA8', flexDirection: 'column', gap: 8 }}&gt;&#10;          &lt;Text style={{ fontSize: 13, color: '#8B97A8', letterSpacing: 1 }}&gt;THIRD&lt;/Text&gt;&#10;          &lt;Text style={{ fontSize: 19, fontWeight: 'bold', color: '#0E3F8C', lineHeight: 1.25 }}&gt;A diamond&lt;/Text&gt;&#10;          &lt;Text style={{ fontSize: 13, color: '#4A5568', lineHeight: 1.55 }}&gt;Only with a deletion rule you can say out loud in one sentence. Expected count across the whole model: zero or one.&lt;/Text&gt;&#10;        &lt;/Box&gt;&#10;        &lt;Box style={{ width: '31.5%', padding: '18px 18px', background: '#F7F9FC', borderRadius: 10, border: '1px solid #E5E7EB', borderTop: '4px solid #1E4FA8', flexDirection: 'column', gap: 8 }}&gt;&#10;          &lt;Text style={{ fontSize: 13, color: '#8B97A8', letterSpacing: 1 }}&gt;NEVER&lt;/Text&gt;&#10;          &lt;Text style={{ fontSize: 19, fontWeight: 'bold', color: '#0E3F8C', lineHeight: 1.25 }}&gt;Visibility and arrows&lt;/Text&gt;&#10;          &lt;Text style={{ fontSize: 13, color: '#4A5568', lineHeight: 1.55 }}&gt;Not in an analysis model. Those belong in W10 when you move to design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0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153525" y="257175"/>
            <a:ext cx="2657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AGGREGATION + COMPOSITION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5243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Your Three Justifications, In Order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81000" y="1276350"/>
            <a:ext cx="3600450" cy="1657350"/>
          </a:xfrm>
          <a:prstGeom prst="roundRect">
            <a:avLst>
              <a:gd name="adj" fmla="val 57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381000" y="1276350"/>
            <a:ext cx="3600450" cy="1657350"/>
          </a:xfrm>
          <a:custGeom>
            <a:pathLst>
              <a:path w="378" h="174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FIRST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Multiplicity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Every end gets a number you can defend from a business rule. This is always required.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152900" y="1276350"/>
            <a:ext cx="3600450" cy="1657350"/>
          </a:xfrm>
          <a:prstGeom prst="roundRect">
            <a:avLst>
              <a:gd name="adj" fmla="val 57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4152900" y="1276350"/>
            <a:ext cx="3600450" cy="1657350"/>
          </a:xfrm>
          <a:custGeom>
            <a:pathLst>
              <a:path w="378" h="174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SECOND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Role names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Only where the plain class name would be ambiguous — «placedBy» helps, «student2» does not.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924800" y="1276350"/>
            <a:ext cx="3600450" cy="1657350"/>
          </a:xfrm>
          <a:prstGeom prst="roundRect">
            <a:avLst>
              <a:gd name="adj" fmla="val 57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7924800" y="1276350"/>
            <a:ext cx="3600450" cy="1657350"/>
          </a:xfrm>
          <a:custGeom>
            <a:pathLst>
              <a:path w="378" h="174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THIRD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A diamond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Only with a deletion rule you can say out loud in one sentence. Expected count across the whole model: zero or one.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81000" y="31051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381000" y="31051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NEVER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52450" y="35052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Visibility and arrows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52450" y="38576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Not in an analysis model. Those belong in W10 when you move to design.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55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4&lt;/Text&gt;&#10;    &lt;/Box&gt;&#10;    &lt;Box style={{ flex: 1, padding: '70px 64px', flexDirection: 'column', justifyContent: 'center' }}&gt;&#10;      &lt;Text style={{ fontSize: 15, color: '#7FA2D6', letterSpacing: 2, marginBottom: 18 }}&gt;PART 4 · LECTURE · 15 MIN&lt;/Text&gt;&#10;      &lt;Text style={{ fontSize: 46, fontWeight: 'bold', color: '#FFFFFF', lineHeight: 1.18 }}&gt;Reflexive + Multiple Associations&lt;/Text&gt;&#10;      &lt;Box style={{ width: 64, height: 4, background: '#FFC107', marginTop: 26, marginBottom: 26 }} /&gt;&#10;      &lt;Box style={{ flexDirection: 'column', gap: 12 }}&gt;&#10;          &lt;Box key=&quot;A Courier can also be a Customer — one c&quot; style={{ flexDirection: 'row', alignItems: 'center', gap: 12 }}&gt;&#10;            &lt;Box style={{ width: 8, height: 8, borderRadius: 4, background: '#3D7BD9' }} /&gt;&#10;            &lt;Text style={{ fontSize: 20, color: '#C5D4EA' }}&gt;A Courier can also be a Customer — one class, two roles&lt;/Text&gt;&#10;          &lt;/Box&gt;&#10;          &lt;Box key=&quot;Two lines between the same pair are allo&quot; style={{ flexDirection: 'row', alignItems: 'center', gap: 12 }}&gt;&#10;            &lt;Box style={{ width: 8, height: 8, borderRadius: 4, background: '#3D7BD9' }} /&gt;&#10;            &lt;Text style={{ fontSize: 20, color: '#C5D4EA' }}&gt;Two lines between the same pair are allowed, and usually necessary&lt;/Text&gt;&#10;          &lt;/Box&gt;&#10;          &lt;Box key=&quot;Role names are what make these readable&quot; style={{ flexDirection: 'row', alignItems: 'center', gap: 12 }}&gt;&#10;            &lt;Box style={{ width: 8, height: 8, borderRadius: 4, background: '#3D7BD9' }} /&gt;&#10;            &lt;Text style={{ fontSize: 20, color: '#C5D4EA' }}&gt;Role names are what make these readable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384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4 · LECTURE · 15 MIN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Reflexive + Multiple Associations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Courier can also be a Customer — one class, two roles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Two lines between the same pair are allowed, and usually necessary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3638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Role names are what make these readable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26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REFLEXIVE + MULTIPLE&lt;/Text&gt;&#10;  &lt;/Box&gt;&#10;  &lt;Box style={{ padding: '13px 40px 0 40px', flexDirection: 'row', alignItems: 'center', justifyContent: 'space-between' }}&gt;&#10;    &lt;Text style={{ fontSize: 29, fontWeight: 'bold', color: '#0E3F8C' }}&gt;When One Class Plays Two Parts&lt;/Text&gt;&#10;    &lt;Text style={{ fontSize: 14, color: '#1E4FA8', fontWeight: 'bold' }}&gt;22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REFLEXIVE CASES IN THIS DOMAIN&lt;/Text&gt;&#10;&#10;          &lt;Box key=&quot;A Courier can place an order as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A Courier can place an order as a Customer.&lt;/Text&gt;&#10;          &lt;/Box&gt;&#10;          &lt;Box key=&quot;A Student can refer another Stud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A Student can refer another Student.&lt;/Text&gt;&#10;          &lt;/Box&gt;&#10;          &lt;Box key=&quot;An Employee can manage another E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An Employee can manage another Employee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Rule&lt;/Text&gt;&#10;        &lt;Text style={{ fontSize: 13, color: '#4A5568', lineHeight: 1.6, marginTop: 5 }}&gt;&#10;          Never duplicate the class. Add a second association with role names at both ends, and the two meanings stay separable.&#10;        &lt;/Text&gt;&#10;      &lt;/Box&gt;&#10;      &lt;Box style={{ padding: '15px 17px', background: '#FFFFFF', borderRadius: 9, border: '1px solid #D6DCE5' }}&gt;&#10;        &lt;Text style={{ fontSize: 16, fontWeight: 'bold', color: '#0E3F8C' }}&gt;CampusBites example&lt;/Text&gt;&#10;        &lt;Text style={{ fontSize: 13, color: '#4A5568', lineHeight: 1.6, marginTop: 5 }}&gt;&#10;          Customer 0..1 — 0..* Order, read as placedBy and placedFor. The same person appears on both ends of the same line.&#10;        &lt;/Text&gt;&#10;      &lt;/Box&gt;&#10;      &lt;Box style={{ padding: '15px 17px', background: '#FFF6E0', borderRadius: 9, borderLeft: '4px solid #FFC107' }}&gt;&#10;        &lt;Text style={{ fontSize: 16, fontWeight: 'bold', color: '#996F00' }}&gt;The trap&lt;/Text&gt;&#10;        &lt;Text style={{ fontSize: 13, color: '#4A5568', lineHeight: 1.6, marginTop: 5 }}&gt;&#10;          Two unlabelled lines between the same pair are unreadable. Say «which end is which» out loud before you draw them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2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744075" y="257175"/>
            <a:ext cx="2066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REFLEXIVE + MULTIPLE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When One Class Plays Two Parts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381000" y="2085975"/>
            <a:ext cx="5334000" cy="1552575"/>
          </a:xfrm>
          <a:prstGeom prst="roundRect">
            <a:avLst>
              <a:gd name="adj" fmla="val 6135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REFLEXIVE CASES IN THIS DOMAIN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571500" y="2524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47700" y="2562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95350" y="25241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 Courier can place an order as a Customer.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71500" y="28384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47700" y="2876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 Student can refer another Student.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71500" y="3152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47700" y="31908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95350" y="31527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An Employee can manage another Employee.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Rule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Never duplicate the class. Add a second association with role names at both ends, and the two meanings stay separable.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9626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124575" y="25050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CampusBites example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124575" y="274320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Customer 0..1 — 0..* Order, read as placedBy and placedFor. The same person appears on both ends of the same line.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007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6000750" y="34861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162675" y="36290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The trap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162675" y="38671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Two unlabelled lines between the same pair are unreadable. Say «which end is which» out loud before you draw them.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</p:spTree>
  </p:cSld>
</p:sld>
</file>

<file path=ppt/slides/slide23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00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REFLEXIVE + MULTIPLE&lt;/Text&gt;&#10;  &lt;/Box&gt;&#10;  &lt;Box style={{ padding: '13px 40px 0 40px', flexDirection: 'row', alignItems: 'center', justifyContent: 'space-between' }}&gt;&#10;    &lt;Text style={{ fontSize: 29, fontWeight: 'bold', color: '#0E3F8C' }}&gt;Two Lines Between the Same Pair&lt;/Text&gt;&#10;    &lt;Text style={{ fontSize: 14, color: '#1E4FA8', fontWeight: 'bold' }}&gt;23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90, 250, 250, 210]}&#10;      cells={[&#10;        [&#10;          { text: 'Situation', textStyle: {bold: true, color: '#FFFFFF', fontSize: 15}, cellStyle: {background: { color: '#0E3F8C' }} },&#10;          { text: 'Association 1', textStyle: {bold: true, color: '#FFFFFF', fontSize: 15}, cellStyle: {background: { color: '#1E4FA8' }} },&#10;          { text: 'Association 2', textStyle: {bold: true, color: '#FFFFFF', fontSize: 15}, cellStyle: {background: { color: '#1E4FA8' }} },&#10;          { text: 'Why both are needed', textStyle: {bold: true, color: '#FFFFFF', fontSize: 15}, cellStyle: {background: { color: '#1E4FA8' }} }&#10;        ],&#10;        [&#10;          { text: 'Courier and Customer are the same person', textStyle: {color: '#4A5568'}, cellStyle: {} },&#10;          { text: 'Customer places Order', textStyle: {color: '#4A5568'}, cellStyle: {} },&#10;          { text: 'Courier delivers Order', textStyle: {color: '#4A5568'}, cellStyle: {} },&#10;          { text: 'Delivering and ordering are different business facts', textStyle: {color: '#4A5568'}, cellStyle: {} }&#10;        ],&#10;        [&#10;          { text: 'Student and Student', textStyle: {color: '#4A5568'}, cellStyle: {background: { color: '#F7F9FC' }} },&#10;          { text: 'Student refers Student', textStyle: {color: '#4A5568'}, cellStyle: {background: { color: '#F7F9FC' }} },&#10;          { text: 'Student is referred by Student', textStyle: {color: '#4A5568'}, cellStyle: {background: { color: '#F7F9FC' }} },&#10;          { text: 'One class, reflexive link, two roles', textStyle: {color: '#4A5568'}, cellStyle: {background: { color: '#F7F9FC' }} }&#10;        ],&#10;        [&#10;          { text: 'Restaurant and Restaurant', textStyle: {color: '#4A5568'}, cellStyle: {} },&#10;          { text: 'Restaurant supplies Restaurant', textStyle: {color: '#4A5568'}, cellStyle: {} },&#10;          { text: 'Restaurant is supplied by Restaurant', textStyle: {color: '#4A5568'}, cellStyle: {} },&#10;          { text: 'A supply chain inside one class', textStyle: {color: '#4A5568'}, cellStyle: {} }&#10;        ],&#10;        [&#10;          { text: 'Employee and Employee', textStyle: {color: '#4A5568'}, cellStyle: {background: { color: '#F7F9FC' }} },&#10;          { text: 'Employee manages Employee', textStyle: {color: '#4A5568'}, cellStyle: {background: { color: '#F7F9FC' }} },&#10;          { text: 'Employee reportsTo Employee', textStyle: {color: '#4A5568'}, cellStyle: {background: { color: '#F7F9FC' }} },&#10;          { text: 'Line management and project responsibility differ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3 / 38&lt;/Text&gt;&#10;  &lt;/Box&gt;&#10;  &lt;Box style={{ height: 46, background: '#0E3F8C', padding: '0 40px', flexDirection: 'row', alignItems: 'center', justifyContent: 'center' }}&gt;&#10;    &lt;Text style={{ fontSize: 16.5, color: '#FFFFFF', fontWeight: '600' }}&gt;If two lines carry the same verb, you have one association, not two. Duplicate lines are a smell, not a styl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744075" y="257175"/>
            <a:ext cx="2066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REFLEXIVE + MULTIPLE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4481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Two Lines Between the Same Pair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  <p:graphicFrame>
        <p:nvGraphicFramePr>
          <p:cNvPr id="307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038207">
                  <a:extLst>
                    <a:ext uri="{9D8B030D-6E8A-4147-A177-3AD203B41FA5}">
                      <a16:colId val="1"/>
                    </a:ext>
                  </a:extLst>
                </a:gridCol>
                <a:gridCol w="2245428">
                  <a:extLst>
                    <a:ext uri="{9D8B030D-6E8A-4147-A177-3AD203B41FA5}">
                      <a16:colId val="2"/>
                    </a:ext>
                  </a:extLst>
                </a:gridCol>
                <a:gridCol w="2606842">
                  <a:extLst>
                    <a:ext uri="{9D8B030D-6E8A-4147-A177-3AD203B41FA5}">
                      <a16:colId val="3"/>
                    </a:ext>
                  </a:extLst>
                </a:gridCol>
                <a:gridCol w="353952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Situation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Association 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Association 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 both are needed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Courier and Customer are the same person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Customer places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Courier delivers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Delivering and ordering are different business facts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Student and Student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Student refers Student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Student is referred by Student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class, reflexive link, two roles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Restaurant and Restaurant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Restaurant supplies Restaurant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Restaurant is supplied by Restaurant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supply chain inside one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Employee and Employee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Employee manages Employee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Employee reportsTo Employee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Line management and project responsibility differ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2124075" y="6543675"/>
            <a:ext cx="7953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If two lines carry the same verb, you have one association, not two. Duplicate lines are a smell, not a style.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12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REFLEXIVE + MULTIPLE&lt;/Text&gt;&#10;  &lt;/Box&gt;&#10;  &lt;Box style={{ padding: '13px 40px 0 40px', flexDirection: 'row', alignItems: 'center', justifyContent: 'space-between' }}&gt;&#10;    &lt;Text style={{ fontSize: 29, fontWeight: 'bold', color: '#0E3F8C' }}&gt;Role Names: Four Rules&lt;/Text&gt;&#10;    &lt;Text style={{ fontSize: 14, color: '#1E4FA8', fontWeight: 'bold' }}&gt;24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01&lt;/Text&gt;&#10;          &lt;Text style={{ fontSize: 19, fontWeight: 'bold', color: '#0E3F8C', lineHeight: 1.25 }}&gt;Only where needed&lt;/Text&gt;&#10;          &lt;Text style={{ fontSize: 13, color: '#4A5568', lineHeight: 1.55 }}&gt;A role name earns its place when the class name at that end would mislead the reader.&lt;/Text&gt;&#10;        &lt;/Box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02&lt;/Text&gt;&#10;          &lt;Text style={{ fontSize: 19, fontWeight: 'bold', color: '#0E3F8C', lineHeight: 1.25 }}&gt;Noun at the end&lt;/Text&gt;&#10;          &lt;Text style={{ fontSize: 13, color: '#4A5568', lineHeight: 1.55 }}&gt;Role names describe the object as seen from the other side: placedBy, deliveredBy, owner.&lt;/Text&gt;&#10;        &lt;/Box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03&lt;/Text&gt;&#10;          &lt;Text style={{ fontSize: 19, fontWeight: 'bold', color: '#0E3F8C', lineHeight: 1.25 }}&gt;Never both ends the same&lt;/Text&gt;&#10;          &lt;Text style={{ fontSize: 13, color: '#4A5568', lineHeight: 1.55 }}&gt;If both ends read identically, the line is symmetric — probably a plain association with no roles.&lt;/Text&gt;&#10;        &lt;/Box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04&lt;/Text&gt;&#10;          &lt;Text style={{ fontSize: 19, fontWeight: 'bold', color: '#0E3F8C', lineHeight: 1.25 }}&gt;Not a variable name&lt;/Text&gt;&#10;          &lt;Text style={{ fontSize: 13, color: '#4A5568', lineHeight: 1.55 }}&gt;customer1 and customer2 describe your diagram, not the business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4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744075" y="257175"/>
            <a:ext cx="2066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REFLEXIVE + MULTIPLE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Role Names: Four Rules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Only where needed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role name earns its place when the class name at that end would mislead the reader.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Noun at the end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Role names describe the object as seen from the other side: placedBy, deliveredBy, owner.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Never both ends the same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If both ends read identically, the line is symmetric — probably a plain association with no roles.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Not a variable name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customer1 and customer2 describe your diagram, not the business.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341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5&lt;/Text&gt;&#10;    &lt;/Box&gt;&#10;    &lt;Box style={{ flex: 1, padding: '70px 64px', flexDirection: 'column', justifyContent: 'center' }}&gt;&#10;      &lt;Text style={{ fontSize: 15, color: '#7FA2D6', letterSpacing: 2, marginBottom: 18 }}&gt;PART 5 · LECTURE&lt;/Text&gt;&#10;      &lt;Text style={{ fontSize: 46, fontWeight: 'bold', color: '#FFFFFF', lineHeight: 1.18 }}&gt;Building the Model v2&lt;/Text&gt;&#10;      &lt;Box style={{ width: 64, height: 4, background: '#FFC107', marginTop: 26, marginBottom: 26 }} /&gt;&#10;      &lt;Box style={{ flexDirection: 'column', gap: 12 }}&gt;&#10;          &lt;Box key=&quot;Same classes as W06, now fully linked&quot; style={{ flexDirection: 'row', alignItems: 'center', gap: 12 }}&gt;&#10;            &lt;Box style={{ width: 8, height: 8, borderRadius: 4, background: '#3D7BD9' }} /&gt;&#10;            &lt;Text style={{ fontSize: 20, color: '#C5D4EA' }}&gt;Same classes as W06, now fully linked&lt;/Text&gt;&#10;          &lt;/Box&gt;&#10;          &lt;Box key=&quot;A walkthrough checklist you will reuse f&quot; style={{ flexDirection: 'row', alignItems: 'center', gap: 12 }}&gt;&#10;            &lt;Box style={{ width: 8, height: 8, borderRadius: 4, background: '#3D7BD9' }} /&gt;&#10;            &lt;Text style={{ fontSize: 20, color: '#C5D4EA' }}&gt;A walkthrough checklist you will reuse for the rest of the course&lt;/Text&gt;&#10;          &lt;/Box&gt;&#10;          &lt;Box key=&quot;And an explicit list of what this model &quot; style={{ flexDirection: 'row', alignItems: 'center', gap: 12 }}&gt;&#10;            &lt;Box style={{ width: 8, height: 8, borderRadius: 4, background: '#3D7BD9' }} /&gt;&#10;            &lt;Text style={{ fontSize: 20, color: '#C5D4EA' }}&gt;And an explicit list of what this model still does not contain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7150" y="2171700"/>
            <a:ext cx="27336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5 · LECTURE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Building the Model v2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Same classes as W06, now fully linked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324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walkthrough checklist you will reuse for the rest of the course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4895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And an explicit list of what this model still does not contain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35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BUILDING MODEL V2&lt;/Text&gt;&#10;  &lt;/Box&gt;&#10;  &lt;Box style={{ padding: '13px 40px 0 40px', flexDirection: 'row', alignItems: 'center', justifyContent: 'space-between' }}&gt;&#10;    &lt;Text style={{ fontSize: 29, fontWeight: 'bold', color: '#0E3F8C' }}&gt;CampusBites Domain Model v2&lt;/Text&gt;&#10;    &lt;Text style={{ fontSize: 14, color: '#1E4FA8', fontWeight: 'bold' }}&gt;26 / 38&lt;/Text&gt;&#10;  &lt;/Box&gt;&#10;  &lt;Box style={{ flex: 1, padding: '10px 40px 0 40px', flexDirection: 'column' }}&gt;&#10;    &lt;Box style={{ justifyContent: 'center', alignItems: 'center' }}&gt;&#10;    &lt;svg width={1180} height={436} viewBox='0 0 1180 $h'&gt;&#10;&#10;      &lt;text x='10' y='18' fill='#8B97A8' fontSize='13'&gt;Ten classes, thirteen associations, one composition and one association class. Multiplicities on every end.&lt;/text&gt;&#10;&#10;      &lt;rect x='430' y='46' width='200' height='58' rx='9' fill='#FFFFFF' stroke='#1E4FA8' strokeWidth='2' /&gt;&#10;      &lt;text x='530' y='82' textAnchor='middle' fill='#0E3F8C' fontSize='17' fontWeight='bold'&gt;Customer&lt;/text&gt;&#10;&#10;      &lt;rect x='430' y='186' width='200' height='58' rx='9' fill='#FFFFFF' stroke='#1E4FA8' strokeWidth='2' /&gt;&#10;      &lt;text x='530' y='222' textAnchor='middle' fill='#0E3F8C' fontSize='17' fontWeight='bold'&gt;Order&lt;/text&gt;&#10;      &lt;line x1='530' y1='104' x2='530' y2='186' stroke='#0E3F8C' strokeWidth='2.4' /&gt;&#10;      &lt;text x='542' y='150' fill='#2B7A3D' fontSize='12.5'&gt;places&lt;/text&gt;&#10;&#10;      &lt;rect x='430' y='312' width='200' height='58' rx='9' fill='#FFFFFF' stroke='#0E3F8C' strokeWidth='2.6' /&gt;&#10;      &lt;text x='530' y='348' textAnchor='middle' fill='#0E3F8C' fontSize='17' fontWeight='bold'&gt;OrderLine&lt;/text&gt;&#10;      &lt;line x1='530' y1='244' x2='530' y2='312' stroke='#0E3F8C' strokeWidth='2.6' /&gt;&#10;      &lt;polygon points='530,300 522,288 538,288' fill='#0E3F8C' /&gt;&#10;      &lt;text x='542' y='284' fill='#2B7A3D' fontSize='12.5'&gt;contains  1 — 1..*&lt;/text&gt;&#10;&#10;      &lt;rect x='120' y='186' width='190' height='58' rx='9' fill='#FFFFFF' stroke='#1E4FA8' strokeWidth='2' /&gt;&#10;      &lt;text x='215' y='222' textAnchor='middle' fill='#0E3F8C' fontSize='17' fontWeight='bold'&gt;Restaurant&lt;/text&gt;&#10;      &lt;line x1='310' y1='215' x2='430' y2='215' stroke='#0E3F8C' strokeWidth='2.4' /&gt;&#10;&#10;      &lt;rect x='760' y='186' width='190' height='58' rx='9' fill='#FFFFFF' stroke='#1E4FA8' strokeWidth='2' /&gt;&#10;      &lt;text x='855' y='222' textAnchor='middle' fill='#0E3F8C' fontSize='17' fontWeight='bold'&gt;Courier&lt;/text&gt;&#10;      &lt;line x1='630' y1='215' x2='760' y2='215' stroke='#0E3F8C' strokeWidth='2.4' /&gt;&#10;&#10;      &lt;rect x='760' y='312' width='190' height='58' rx='9' fill='#FFFFFF' stroke='#1E4FA8' strokeWidth='2' /&gt;&#10;      &lt;text x='855' y='348' textAnchor='middle' fill='#0E3F8C' fontSize='17' fontWeight='bold'&gt;MenuItem&lt;/text&gt;&#10;      &lt;line x1='630' y1='341' x2='760' y2='341' stroke='#0E3F8C' strokeWidth='2.4' /&gt;&#10;&#10;      &lt;rect x='120' y='46' width='190' height='58' rx='9' fill='#FFF6E0' stroke='#FFC107' strokeWidth='2.2' /&gt;&#10;      &lt;text x='215' y='82' textAnchor='middle' fill='#996F00' fontSize='17' fontWeight='bold'&gt;Review&lt;/text&gt;&#10;      &lt;line x1='215' y1='104' x2='215' y2='215' stroke='#FFC107' strokeWidth='2' strokeDasharray='5 4' /&gt;&#10;      &lt;text x='30' y='140' fill='#996F00' fontSize='12'&gt;association class&lt;/text&gt;&#10;&#10;      &lt;rect x='40' y='386' width='1100' height='40' rx='8' fill='#F0F5FC' /&gt;&#10;      &lt;text x='62' y='412' fill='#4A5568' fontSize='13.5'&gt;Every end carries a multiplicity. One composition. One association class. No navigation arrows, no visibility, no methods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6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BUILDING MODEL V2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1148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CampusBites Domain Model v2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415290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</p:spTree>
  </p:cSld>
</p:sld>
</file>

<file path=ppt/slides/slide2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6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BUILDING MODEL V2&lt;/Text&gt;&#10;  &lt;/Box&gt;&#10;  &lt;Box style={{ padding: '13px 40px 0 40px', flexDirection: 'row', alignItems: 'center', justifyContent: 'space-between' }}&gt;&#10;    &lt;Text style={{ fontSize: 29, fontWeight: 'bold', color: '#0E3F8C' }}&gt;Domain Model Walkthrough Checklist&lt;/Text&gt;&#10;    &lt;Text style={{ fontSize: 14, color: '#1E4FA8', fontWeight: 'bold' }}&gt;27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30, 400, 270]}&#10;      cells={[&#10;        [&#10;          { text: 'Check', textStyle: {bold: true, color: '#FFFFFF', fontSize: 15}, cellStyle: {background: { color: '#0E3F8C' }} },&#10;          { text: 'How to verify it', textStyle: {bold: true, color: '#FFFFFF', fontSize: 15}, cellStyle: {background: { color: '#1E4FA8' }} },&#10;          { text: 'If it fails', textStyle: {bold: true, color: '#FFFFFF', fontSize: 15}, cellStyle: {background: { color: '#1E4FA8' }} }&#10;        ],&#10;        [&#10;          { text: 'Every class traces to a sentence', textStyle: {color: '#4A5568'}, cellStyle: {} },&#10;          { text: 'Name the W05 specification sentence behind each class', textStyle: {color: '#4A5568'}, cellStyle: {} },&#10;          { text: 'Delete the class or find the sentence', textStyle: {color: '#4A5568'}, cellStyle: {} }&#10;        ],&#10;        [&#10;          { text: 'Every association has a name', textStyle: {color: '#4A5568'}, cellStyle: {background: { color: '#F7F9FC' }} },&#10;          { text: 'Read it aloud as a sentence', textStyle: {color: '#4A5568'}, cellStyle: {background: { color: '#F7F9FC' }} },&#10;          { text: 'Rename it with a verb phrase', textStyle: {color: '#4A5568'}, cellStyle: {background: { color: '#F7F9FC' }} }&#10;        ],&#10;        [&#10;          { text: 'Every end has a multiplicity', textStyle: {color: '#4A5568'}, cellStyle: {} },&#10;          { text: 'Point at each end and say a number', textStyle: {color: '#4A5568'}, cellStyle: {} },&#10;          { text: 'Ask the business «can this be empty?»', textStyle: {color: '#4A5568'}, cellStyle: {} }&#10;        ],&#10;        [&#10;          { text: 'Composition has a deletion rule', textStyle: {color: '#4A5568'}, cellStyle: {background: { color: '#F7F9FC' }} },&#10;          { text: 'Say what disappears when the whole is deleted', textStyle: {color: '#4A5568'}, cellStyle: {background: { color: '#F7F9FC' }} },&#10;          { text: 'Downgrade to a plain association', textStyle: {color: '#4A5568'}, cellStyle: {background: { color: '#F7F9FC' }} }&#10;        ],&#10;        [&#10;          { text: 'No design detail present', textStyle: {color: '#4A5568'}, cellStyle: {} },&#10;          { text: 'Search for visibility signs, arrows, type names', textStyle: {color: '#4A5568'}, cellStyle: {} },&#10;          { text: 'Move them to W10, not here', textStyle: {color: '#4A5568'}, cellStyle: {} }&#10;        ],&#10;        [&#10;          { text: 'Class count is 8 or more', textStyle: {color: '#4A5568'}, cellStyle: {background: { color: '#F7F9FC' }} },&#10;          { text: 'Count the conceptual classes', textStyle: {color: '#4A5568'}, cellStyle: {background: { color: '#F7F9FC' }} },&#10;          { text: 'The topic is too thin — raise it in review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7 / 38&lt;/Text&gt;&#10;  &lt;/Box&gt;&#10;  &lt;Box style={{ height: 46, background: '#0E3F8C', padding: '0 40px', flexDirection: 'row', alignItems: 'center', justifyContent: 'center' }}&gt;&#10;    &lt;Text style={{ fontSize: 16.5, color: '#FFFFFF', fontWeight: '600' }}&gt;This checklist is the same one the reviewer will use on your M2 submission. Run it yourself first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BUILDING MODEL V2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9530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Domain Model Walkthrough Checklist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graphicFrame>
        <p:nvGraphicFramePr>
          <p:cNvPr id="37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933967">
                  <a:extLst>
                    <a:ext uri="{9D8B030D-6E8A-4147-A177-3AD203B41FA5}">
                      <a16:colId val="1"/>
                    </a:ext>
                  </a:extLst>
                </a:gridCol>
                <a:gridCol w="4982993">
                  <a:extLst>
                    <a:ext uri="{9D8B030D-6E8A-4147-A177-3AD203B41FA5}">
                      <a16:colId val="2"/>
                    </a:ext>
                  </a:extLst>
                </a:gridCol>
                <a:gridCol w="351304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5543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Check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How to verify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If it fails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class traces to a sentence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Name the W05 specification sentence behind each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Delete the class or find the sentence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association has a name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Read it aloud as a sentence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Rename it with a verb phrase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end has a multiplicity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Point at each end and say a number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Ask the business «can this be empty?»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Composition has a deletion 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Say what disappears when the whole is deleted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Downgrade to a plain association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design detail present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Search for visibility signs, arrows, type names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Move them to W10, not here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Class count is 8 or more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Count the conceptual classes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topic is too thin — raise it in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2495550" y="6543675"/>
            <a:ext cx="7210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This checklist is the same one the reviewer will use on your M2 submission. Run it yourself first.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37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BUILDING MODEL V2&lt;/Text&gt;&#10;  &lt;/Box&gt;&#10;  &lt;Box style={{ padding: '13px 40px 0 40px', flexDirection: 'row', alignItems: 'center', justifyContent: 'space-between' }}&gt;&#10;    &lt;Text style={{ fontSize: 29, fontWeight: 'bold', color: '#0E3F8C' }}&gt;What This Model Still Does Not Have&lt;/Text&gt;&#10;    &lt;Text style={{ fontSize: 14, color: '#1E4FA8', fontWeight: 'bold' }}&gt;28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DELIBERATELY ABSENT — AND WHY&lt;/Text&gt;&#10;&#10;          &lt;Box key=&quot;Visibility markers — public, pri&quot; style={{ flexDirection: 'row', gap: 12, marginBottom: 9 }}&gt;&#10;            &lt;Box style={{ width: 22, height: 22, borderRadius: 4, background: '#8B3230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Visibility markers — public, private, protected.&lt;/Text&gt;&#10;          &lt;/Box&gt;&#10;          &lt;Box key=&quot;Navigation arrows showing who ho&quot; style={{ flexDirection: 'row', gap: 12, marginBottom: 9 }}&gt;&#10;            &lt;Box style={{ width: 22, height: 22, borderRadius: 4, background: '#8B3230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Navigation arrows showing who holds a reference.&lt;/Text&gt;&#10;          &lt;/Box&gt;&#10;          &lt;Box key=&quot;Attribute types such as String, &quot; style={{ flexDirection: 'row', gap: 12, marginBottom: 9 }}&gt;&#10;            &lt;Box style={{ width: 22, height: 22, borderRadius: 4, background: '#8B3230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Attribute types such as String, Date or Decimal.&lt;/Text&gt;&#10;          &lt;/Box&gt;&#10;          &lt;Box key=&quot;Operations and method signatures&quot; style={{ flexDirection: 'row', gap: 12, marginBottom: 9 }}&gt;&#10;            &lt;Box style={{ width: 22, height: 22, borderRadius: 4, background: '#8B3230', justifyContent: 'center', alignItems: 'center' }}&gt;&#10;              &lt;Text style={{ fontSize: 11, fontWeight: 'bold', color: '#FFFFFF' }}&gt;4&lt;/Text&gt;&#10;            &lt;/Box&gt;&#10;            &lt;Text style={{ flex: 1, fontSize: 13.5, color: '#1A2230', lineHeight: 1.45 }}&gt;Operations and method signatures.&lt;/Text&gt;&#10;          &lt;/Box&gt;&#10;          &lt;Box key=&quot;Any ordering or indexing decisio&quot; style={{ flexDirection: 'row', gap: 12, marginBottom: 9 }}&gt;&#10;            &lt;Box style={{ width: 22, height: 22, borderRadius: 4, background: '#8B3230', justifyContent: 'center', alignItems: 'center' }}&gt;&#10;              &lt;Text style={{ fontSize: 11, fontWeight: 'bold', color: '#FFFFFF' }}&gt;5&lt;/Text&gt;&#10;            &lt;/Box&gt;&#10;            &lt;Text style={{ flex: 1, fontSize: 13.5, color: '#1A2230', lineHeight: 1.45 }}&gt;Any ordering or indexing decision.&lt;/Text&gt;&#10;          &lt;/Box&gt;&#10;      &lt;/Box&gt;&#10;      &lt;/Box&gt;&#10;      &lt;Box style={{ flex: 1, flexDirection: 'column', justifyContent: 'center', gap: 13 }}&gt;&#10;      &lt;Box style={{ padding: '15px 17px', background: '#FFF6E0', borderRadius: 9, borderLeft: '4px solid #FFC107' }}&gt;&#10;        &lt;Text style={{ fontSize: 16, fontWeight: 'bold', color: '#996F00' }}&gt;Why they are absent&lt;/Text&gt;&#10;        &lt;Text style={{ fontSize: 13, color: '#4A5568', lineHeight: 1.6, marginTop: 5 }}&gt;&#10;          Each one is a design decision. Making it now freezes a choice before you have enough information, and the choice will be wrong.&#10;        &lt;/Text&gt;&#10;      &lt;/Box&gt;&#10;      &lt;Box style={{ padding: '15px 17px', background: '#F0F5FC', borderRadius: 9, borderLeft: '4px solid #1E4FA8' }}&gt;&#10;        &lt;Text style={{ fontSize: 16, fontWeight: 'bold', color: '#0E3F8C' }}&gt;When they arrive&lt;/Text&gt;&#10;        &lt;Text style={{ fontSize: 13, color: '#4A5568', lineHeight: 1.6, marginTop: 5 }}&gt;&#10;          W10 turns this model into a design class diagram. That is the week visibility and types earn their place.&#10;        &lt;/Text&gt;&#10;      &lt;/Box&gt;&#10;      &lt;Box style={{ padding: '15px 17px', background: '#FFFFFF', borderRadius: 9, border: '1px solid #D6DCE5' }}&gt;&#10;        &lt;Text style={{ fontSize: 16, fontWeight: 'bold', color: '#0E3F8C' }}&gt;The one thing that is not optional&lt;/Text&gt;&#10;        &lt;Text style={{ fontSize: 13, color: '#4A5568', lineHeight: 1.6, marginTop: 5 }}&gt;&#10;          Multiplicity. It describes the business, not the implementation — so it belongs in analysis and must be right here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8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BUILDING MODEL V2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8101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What This Model Still Does Not Have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381000" y="1771650"/>
            <a:ext cx="5334000" cy="2181225"/>
          </a:xfrm>
          <a:prstGeom prst="roundRect">
            <a:avLst>
              <a:gd name="adj" fmla="val 4367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DELIBERATELY ABSENT — AND WHY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71500" y="22098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8B3230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47700" y="22479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95350" y="22098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Visibility markers — public, private, protected.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571500" y="2524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8B3230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47700" y="2562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95350" y="25241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Navigation arrows showing who holds a reference.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71500" y="28384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8B3230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47700" y="2876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Attribute types such as String, Date or Decimal.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571500" y="3152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8B3230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47700" y="31908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95350" y="31527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Operations and method signatures.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71500" y="34671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8B3230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47700" y="35052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95350" y="34671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Any ordering or indexing decision.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Why they are absent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Each one is a design decision. Making it now freezes a choice before you have enough information, and the choice will be wrong.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When they arrive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W10 turns this model into a design class diagram. That is the week visibility and types earn their place.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The one thing that is not optional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Multiplicity. It describes the business, not the implementation — so it belongs in analysis and must be right here.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41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BUILDING MODEL V2&lt;/Text&gt;&#10;  &lt;/Box&gt;&#10;  &lt;Box style={{ padding: '13px 40px 0 40px', flexDirection: 'row', alignItems: 'center', justifyContent: 'space-between' }}&gt;&#10;    &lt;Text style={{ fontSize: 29, fontWeight: 'bold', color: '#0E3F8C' }}&gt;Five Sentences You Will Say in Review&lt;/Text&gt;&#10;    &lt;Text style={{ fontSize: 14, color: '#1E4FA8', fontWeight: 'bold' }}&gt;29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01&lt;/Text&gt;&#10;          &lt;Text style={{ fontSize: 19, fontWeight: 'bold', color: '#0E3F8C', lineHeight: 1.25 }}&gt;On a name&lt;/Text&gt;&#10;          &lt;Text style={{ fontSize: 13, color: '#4A5568', lineHeight: 1.55 }}&gt;«Each order contains one or more order lines» — if you cannot say it, the line is wrong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02&lt;/Text&gt;&#10;          &lt;Text style={{ fontSize: 19, fontWeight: 'bold', color: '#0E3F8C', lineHeight: 1.25 }}&gt;On a number&lt;/Text&gt;&#10;          &lt;Text style={{ fontSize: 13, color: '#4A5568', lineHeight: 1.55 }}&gt;«Can an order have no lines? No, it cannot be submitted empty.» That is why it is 1..*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03&lt;/Text&gt;&#10;          &lt;Text style={{ fontSize: 19, fontWeight: 'bold', color: '#0E3F8C', lineHeight: 1.25 }}&gt;On a diamond&lt;/Text&gt;&#10;          &lt;Text style={{ fontSize: 13, color: '#4A5568', lineHeight: 1.55 }}&gt;«Delete the order and the lines have no meaning.» One sentence, or the diamond goes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04&lt;/Text&gt;&#10;          &lt;Text style={{ fontSize: 19, fontWeight: 'bold', color: '#0E3F8C', lineHeight: 1.25 }}&gt;On a role&lt;/Text&gt;&#10;          &lt;Text style={{ fontSize: 13, color: '#4A5568', lineHeight: 1.55 }}&gt;«The same person is on both ends, so we name the ends instead of the classes.»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05&lt;/Text&gt;&#10;          &lt;Text style={{ fontSize: 19, fontWeight: 'bold', color: '#0E3F8C', lineHeight: 1.25 }}&gt;On absence&lt;/Text&gt;&#10;          &lt;Text style={{ fontSize: 13, color: '#4A5568', lineHeight: 1.55 }}&gt;«There is no arrow because we have not decided who holds the reference yet.»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9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BUILDING MODEL V2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0768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Five Sentences You Will Say in Review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 a name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«Each order contains one or more order lines» — if you cannot say it, the line is wrong.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 a number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«Can an order have no lines? No, it cannot be submitted empty.» That is why it is 1..*.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 a diamond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«Delete the order and the lines have no meaning.» One sentence, or the diamond goes.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 a role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«The same person is on both ends, so we name the ends instead of the classes.»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41529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41529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3243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3243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 absence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3243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«There is no arrow because we have not decided who holds the reference yet.»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462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6&lt;/Text&gt;&#10;    &lt;/Box&gt;&#10;    &lt;Box style={{ flex: 1, padding: '70px 64px', flexDirection: 'column', justifyContent: 'center' }}&gt;&#10;      &lt;Text style={{ fontSize: 15, color: '#7FA2D6', letterSpacing: 2, marginBottom: 18 }}&gt;PART 6 · LAB · 2 HOURS&lt;/Text&gt;&#10;      &lt;Text style={{ fontSize: 46, fontWeight: 'bold', color: '#FFFFFF', lineHeight: 1.18 }}&gt;Exercise 7.1, 7.2 + M2&lt;/Text&gt;&#10;      &lt;Box style={{ width: 64, height: 4, background: '#FFC107', marginTop: 26, marginBottom: 26 }} /&gt;&#10;      &lt;Box style={{ flexDirection: 'column', gap: 12 }}&gt;&#10;          &lt;Box key=&quot;Demo first: a worked model v2, end to en&quot; style={{ flexDirection: 'row', alignItems: 'center', gap: 12 }}&gt;&#10;            &lt;Box style={{ width: 8, height: 8, borderRadius: 4, background: '#3D7BD9' }} /&gt;&#10;            &lt;Text style={{ fontSize: 20, color: '#C5D4EA' }}&gt;Demo first: a worked model v2, end to end, 25 minutes&lt;/Text&gt;&#10;          &lt;/Box&gt;&#10;          &lt;Box key=&quot;Then a multiplicity drill — twelve sente&quot; style={{ flexDirection: 'row', alignItems: 'center', gap: 12 }}&gt;&#10;            &lt;Box style={{ width: 8, height: 8, borderRadius: 4, background: '#3D7BD9' }} /&gt;&#10;            &lt;Text style={{ fontSize: 20, color: '#C5D4EA' }}&gt;Then a multiplicity drill — twelve sentences, twelve pairs&lt;/Text&gt;&#10;          &lt;/Box&gt;&#10;          &lt;Box key=&quot;Then your own model, and the M2 submissi&quot; style={{ flexDirection: 'row', alignItems: 'center', gap: 12 }}&gt;&#10;            &lt;Box style={{ width: 8, height: 8, borderRadius: 4, background: '#3D7BD9' }} /&gt;&#10;            &lt;Text style={{ fontSize: 20, color: '#C5D4EA' }}&gt;Then your own model, and the M2 submission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289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06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6 · LAB · 2 HOURS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Exercise 7.1, 7.2 + M2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Demo first: a worked model v2, end to end, 25 minutes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4743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 a multiplicity drill — twelve sentences, twelve pairs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 your own model, and the M2 submission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47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Exercise 7.1 — Twelve Situations&lt;/Text&gt;&#10;    &lt;Text style={{ fontSize: 14, color: '#1E4FA8', fontWeight: 'bold' }}&gt;31 / 38&lt;/Text&gt;&#10;  &lt;/Box&gt;&#10;  &lt;Box style={{ flex: 1, padding: '10px 40px 0 40px', flexDirection: 'column' }}&gt;&#10;    &lt;Box style={{ flexDirection: 'column' }}&gt;&#10;      &lt;CodeBlock language='text' theme='one-dark-pro' style={{ width: '100%', fontSize: 13 }}&gt;&#10;01  A customer places many orders.&#10;02  Every order is placed by exactly one customer.&#10;03  An order contains at least one order line.&#10;04  A menu item may appear on several menus.&#10;05  A courier delivers zero or more orders.&#10;06  An order is delivered by at most one courier.&#10;07  A restaurant owns exactly one menu.&#10;08  Every review is written by exactly one customer.&#10;09  A customer may write zero or more reviews.&#10;10  An order line refers to exactly one menu item.&#10;11  A combo contains between two and four menu items.&#10;12  A coupon applies to at most one order.&#10;      &lt;/CodeBlock&gt;&#10;    &lt;Text style={{ fontSize: 13.5, color: '#4A5568', marginTop: 10 }}&gt;For each line write the multiplicity pair at both ends. Nothing else — no diamonds, no role names. Eight minutes, individually.&lt;/Text&gt;&#10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1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3434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Exercise 7.1 — Twelve Situations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381000" y="17430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For each line write the multiplicity pair at both ends. Nothing else — no diamonds, no role names. Eight minutes, individually.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381000" y="1238250"/>
            <a:ext cx="11430000" cy="409575"/>
          </a:xfrm>
          <a:prstGeom prst="roundRect">
            <a:avLst>
              <a:gd name="adj" fmla="val 18605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487" name=""/>
          <p:cNvSpPr txBox="1"/>
          <p:nvPr/>
        </p:nvSpPr>
        <p:spPr>
          <a:xfrm rot="0" flipH="0" flipV="0">
            <a:off x="533400" y="1371600"/>
            <a:ext cx="11125200" cy="1428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</p:txBody>
      </p:sp>
    </p:spTree>
  </p:cSld>
</p:sld>
</file>

<file path=ppt/slides/slide32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8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Exercise 7.1 — Answers and the Two Traps&lt;/Text&gt;&#10;    &lt;Text style={{ fontSize: 14, color: '#1E4FA8', fontWeight: 'bold' }}&gt;32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00, 220, 480]}&#10;      cells={[&#10;        [&#10;          { text: 'Situation', textStyle: {bold: true, color: '#FFFFFF', fontSize: 15}, cellStyle: {background: { color: '#0E3F8C' }} },&#10;          { text: 'Pair', textStyle: {bold: true, color: '#FFFFFF', fontSize: 15}, cellStyle: {background: { color: '#1E4FA8' }} },&#10;          { text: 'Why', textStyle: {bold: true, color: '#FFFFFF', fontSize: 15}, cellStyle: {background: { color: '#1E4FA8' }} }&#10;        ],&#10;        [&#10;          { text: '01 / 02  customer and order', textStyle: {color: '#4A5568'}, cellStyle: {} },&#10;          { text: '1 — 0..*', textStyle: {color: '#4A5568'}, cellStyle: {} },&#10;          { text: 'One customer, zero or more orders. The reverse is exactly one.', textStyle: {color: '#4A5568'}, cellStyle: {} }&#10;        ],&#10;        [&#10;          { text: '03  order and order line', textStyle: {color: '#4A5568'}, cellStyle: {background: { color: '#F7F9FC' }} },&#10;          { text: '1 — 1..*', textStyle: {color: '#4A5568'}, cellStyle: {background: { color: '#F7F9FC' }} },&#10;          { text: 'Lower bound is 1, not 0: an empty order cannot be submitted.', textStyle: {color: '#4A5568'}, cellStyle: {background: { color: '#F7F9FC' }} }&#10;        ],&#10;        [&#10;          { text: '04  menu item and menu', textStyle: {color: '#4A5568'}, cellStyle: {} },&#10;          { text: '0..* — 0..*', textStyle: {color: '#4A5568'}, cellStyle: {} },&#10;          { text: 'Many-to-many. Neither side is optional.', textStyle: {color: '#4A5568'}, cellStyle: {} }&#10;        ],&#10;        [&#10;          { text: '06  order and courier', textStyle: {color: '#4A5568'}, cellStyle: {background: { color: '#F7F9FC' }} },&#10;          { text: '0..1 — 0..*', textStyle: {color: '#4A5568'}, cellStyle: {background: { color: '#F7F9FC' }} },&#10;          { text: 'At most one courier; and before assignment there is none.', textStyle: {color: '#4A5568'}, cellStyle: {background: { color: '#F7F9FC' }} }&#10;        ],&#10;        [&#10;          { text: '11  combo and menu item', textStyle: {color: '#4A5568'}, cellStyle: {} },&#10;          { text: '1 — 2..4', textStyle: {color: '#4A5568'}, cellStyle: {} },&#10;          { text: 'A bounded range is a real business rule, so it is legal here.', textStyle: {color: '#4A5568'}, cellStyle: {} }&#10;        ],&#10;        [&#10;          { text: '12  coupon and order', textStyle: {color: '#4A5568'}, cellStyle: {background: { color: '#F7F9FC' }} },&#10;          { text: '0..1 — 0..*', textStyle: {color: '#4A5568'}, cellStyle: {background: { color: '#F7F9FC' }} },&#10;          { text: 'A coupon may never be used, so 0..1 on the order end.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2 / 38&lt;/Text&gt;&#10;  &lt;/Box&gt;&#10;  &lt;Box style={{ height: 46, background: '#0E3F8C', padding: '0 40px', flexDirection: 'row', alignItems: 'center', justifyContent: 'center' }}&gt;&#10;    &lt;Text style={{ fontSize: 16.5, color: '#FFFFFF', fontWeight: '600' }}&gt;Trap 1: writing * when the rule says at least one.   Trap 2: writing 1 when the link is optional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6673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Exercise 7.1 — Answers and the Two Traps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graphicFrame>
        <p:nvGraphicFramePr>
          <p:cNvPr id="495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147983">
                  <a:extLst>
                    <a:ext uri="{9D8B030D-6E8A-4147-A177-3AD203B41FA5}">
                      <a16:colId val="1"/>
                    </a:ext>
                  </a:extLst>
                </a:gridCol>
                <a:gridCol w="1328983">
                  <a:extLst>
                    <a:ext uri="{9D8B030D-6E8A-4147-A177-3AD203B41FA5}">
                      <a16:colId val="2"/>
                    </a:ext>
                  </a:extLst>
                </a:gridCol>
                <a:gridCol w="695303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5543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Situation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Pair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01 / 02  customer and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 — 0..*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customer, zero or more orders. The reverse is exactly one.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03  order and order line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 — 1..*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Lower bound is 1, not 0: an empty order cannot be submitted.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04  menu item and menu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0..* — 0..*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Many-to-many. Neither side is optional.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06  order and courier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0..1 — 0..*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At most one courier; and before assignment there is none.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11  combo and menu item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 — 2..4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bounded range is a real business rule, so it is legal here.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12  coupon and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0..1 — 0..*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coupon may never be used, so 0..1 on the order end.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2686050" y="6543675"/>
            <a:ext cx="6829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Trap 1: writing * when the rule says at least one.   Trap 2: writing 1 when the link is optional.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500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Exercise 7.2 — Three Decisions, Justified&lt;/Text&gt;&#10;    &lt;Text style={{ fontSize: 14, color: '#1E4FA8', fontWeight: 'bold' }}&gt;33 / 38&lt;/Text&gt;&#10;  &lt;/Box&gt;&#10;  &lt;Box style={{ flex: 1, padding: '10px 40px 0 40px', flexDirection: 'column' }}&gt;&#10;    &lt;Box style={{ flexDirection: 'column' }}&gt;&#10;      &lt;CodeBlock language='text' theme='one-dark-pro' style={{ width: '100%', fontSize: 13 }}&gt;&#10;Given:  Customer -- Order -- OrderLine -- MenuItem,&#10;        plus Review and Coupon as candidates.&#10;&#10;A.  Review: attribute of Order, plain class, or association class?&#10;    Write the one-sentence reason.&#10;&#10;B.  Order -- OrderLine: plain association, aggregation, or composition?&#10;    State the deletion rule you are relying on.&#10;&#10;C.  MenuItem -- Menu: same question.&#10;    Then state why the answer differs from B, if it does.&#10;&#10;Bonus:  find one association in your own project that would be&#10;        wrong as an attribute of either end, and say why.&#10;      &lt;/CodeBlock&gt;&#10;    &lt;Text style={{ fontSize: 13.5, color: '#4A5568', marginTop: 10 }}&gt;Fifteen minutes in pairs. The justification matters more than the symbol — say it out loud before you draw it.&lt;/Text&gt;&#10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4578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Exercise 7.2 — Three Decisions, Justified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381000" y="17430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Fifteen minutes in pairs. The justification matters more than the symbol — say it out loud before you draw it.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81000" y="1238250"/>
            <a:ext cx="11430000" cy="409575"/>
          </a:xfrm>
          <a:prstGeom prst="roundRect">
            <a:avLst>
              <a:gd name="adj" fmla="val 18605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511" name=""/>
          <p:cNvSpPr txBox="1"/>
          <p:nvPr/>
        </p:nvSpPr>
        <p:spPr>
          <a:xfrm rot="0" flipH="0" flipV="0">
            <a:off x="533400" y="1371600"/>
            <a:ext cx="11125200" cy="1428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</p:txBody>
      </p:sp>
    </p:spTree>
  </p:cSld>
</p:sld>
</file>

<file path=ppt/slides/slide34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12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M2 — What You Submit and When&lt;/Text&gt;&#10;    &lt;Text style={{ fontSize: 14, color: '#1E4FA8', fontWeight: 'bold' }}&gt;34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30, 560, 210]}&#10;      cells={[&#10;        [&#10;          { text: 'Item', textStyle: {bold: true, color: '#FFFFFF', fontSize: 15}, cellStyle: {background: { color: '#0E3F8C' }} },&#10;          { text: 'What it must contain', textStyle: {bold: true, color: '#FFFFFF', fontSize: 15}, cellStyle: {background: { color: '#1E4FA8' }} },&#10;          { text: 'Due', textStyle: {bold: true, color: '#FFFFFF', fontSize: 15}, cellStyle: {background: { color: '#1E4FA8' }} }&#10;        ],&#10;        [&#10;          { text: 'Domain model v2', textStyle: {color: '#4A5568'}, cellStyle: {} },&#10;          { text: 'All classes, all associations named, every end with a multiplicity', textStyle: {color: '#4A5568'}, cellStyle: {} },&#10;          { text: 'W08 lab', textStyle: {color: '#4A5568'}, cellStyle: {} }&#10;        ],&#10;        [&#10;          { text: 'Justification log', textStyle: {color: '#4A5568'}, cellStyle: {background: { color: '#F7F9FC' }} },&#10;          { text: 'One line per diamond, stating the deletion rule', textStyle: {color: '#4A5568'}, cellStyle: {background: { color: '#F7F9FC' }} },&#10;          { text: 'with the model', textStyle: {color: '#4A5568'}, cellStyle: {background: { color: '#F7F9FC' }} }&#10;        ],&#10;        [&#10;          { text: 'Topic decision', textStyle: {color: '#4A5568'}, cellStyle: {} },&#10;          { text: 'Your own project topic, approved by the instructor', textStyle: {color: '#4A5568'}, cellStyle: {} },&#10;          { text: 'before W08', textStyle: {color: '#4A5568'}, cellStyle: {} }&#10;        ],&#10;        [&#10;          { text: 'Repository state', textStyle: {color: '#4A5568'}, cellStyle: {background: { color: '#F7F9FC' }} },&#10;          { text: 'Model committed, review notes attached', textStyle: {color: '#4A5568'}, cellStyle: {background: { color: '#F7F9FC' }} },&#10;          { text: 'end of lab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4 / 38&lt;/Text&gt;&#10;  &lt;/Box&gt;&#10;  &lt;Box style={{ height: 46, background: '#0E3F8C', padding: '0 40px', flexDirection: 'row', alignItems: 'center', justifyContent: 'center' }}&gt;&#10;    &lt;Text style={{ fontSize: 16.5, color: '#FFFFFF', fontWeight: '600' }}&gt;M2 is not a new model. It is last week’s model with the lines finished — which is why the work is small if you kept up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4767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M2 — What You Submit and When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graphicFrame>
        <p:nvGraphicFramePr>
          <p:cNvPr id="519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191951">
                  <a:extLst>
                    <a:ext uri="{9D8B030D-6E8A-4147-A177-3AD203B41FA5}">
                      <a16:colId val="1"/>
                    </a:ext>
                  </a:extLst>
                </a:gridCol>
                <a:gridCol w="7387405">
                  <a:extLst>
                    <a:ext uri="{9D8B030D-6E8A-4147-A177-3AD203B41FA5}">
                      <a16:colId val="2"/>
                    </a:ext>
                  </a:extLst>
                </a:gridCol>
                <a:gridCol w="185064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Item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it must contain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Due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Domain model v2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All classes, all associations named, every end with a multiplicity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W08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Justification log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line per diamond, stating the deletion 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with the model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Topic decision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Your own project topic, approved by the instructor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before W08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Repository state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Model committed, review notes attached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end of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733550" y="6543675"/>
            <a:ext cx="872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M2 is not a new model. It is last week’s model with the lines finished — which is why the work is small if you kept up.</a:t>
            </a:r>
            <a:endParaRPr/>
          </a:p>
        </p:txBody>
      </p:sp>
    </p:spTree>
  </p:cSld>
</p:sld>
</file>

<file path=ppt/slides/slide3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2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Model Review Before You Commit — Six Questions&lt;/Text&gt;&#10;    &lt;Text style={{ fontSize: 14, color: '#1E4FA8', fontWeight: 'bold' }}&gt;35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, 520, 470]}&#10;      cells={[&#10;        [&#10;          { text: '#', textStyle: {bold: true, color: '#FFFFFF', fontSize: 15}, cellStyle: {background: { color: '#0E3F8C' }} },&#10;          { text: 'Question', textStyle: {bold: true, color: '#FFFFFF', fontSize: 15}, cellStyle: {background: { color: '#1E4FA8' }} },&#10;          { text: 'The wrong answer sounds like', textStyle: {bold: true, color: '#FFFFFF', fontSize: 15}, cellStyle: {background: { color: '#1E4FA8' }} }&#10;        ],&#10;        [&#10;          { text: '1', textStyle: {color: '#4A5568'}, cellStyle: {} },&#10;          { text: 'Can you read every line out loud as a sentence?', textStyle: {color: '#4A5568'}, cellStyle: {} },&#10;          { text: '«it sort of means contains»', textStyle: {color: '#4A5568'}, cellStyle: {} }&#10;        ],&#10;        [&#10;          { text: '2', textStyle: {color: '#4A5568'}, cellStyle: {background: { color: '#F7F9FC' }} },&#10;          { text: 'Does every end have a number you can defend?', textStyle: {color: '#4A5568'}, cellStyle: {background: { color: '#F7F9FC' }} },&#10;          { text: '«it is usually one»', textStyle: {color: '#4A5568'}, cellStyle: {background: { color: '#F7F9FC' }} }&#10;        ],&#10;        [&#10;          { text: '3', textStyle: {color: '#4A5568'}, cellStyle: {} },&#10;          { text: 'Can you justify each filled diamond in one sentence?', textStyle: {color: '#4A5568'}, cellStyle: {} },&#10;          { text: '«it is a part of it»', textStyle: {color: '#4A5568'}, cellStyle: {} }&#10;        ],&#10;        [&#10;          { text: '4', textStyle: {color: '#4A5568'}, cellStyle: {background: { color: '#F7F9FC' }} },&#10;          { text: 'Is every association class genuinely pair-dependent?', textStyle: {color: '#4A5568'}, cellStyle: {background: { color: '#F7F9FC' }} },&#10;          { text: '«we needed somewhere to put the field»', textStyle: {color: '#4A5568'}, cellStyle: {background: { color: '#F7F9FC' }} }&#10;        ],&#10;        [&#10;          { text: '5', textStyle: {color: '#4A5568'}, cellStyle: {} },&#10;          { text: 'Have you removed every design decision?', textStyle: {color: '#4A5568'}, cellStyle: {} },&#10;          { text: '«we added the arrow to show the direction»', textStyle: {color: '#4A5568'}, cellStyle: {} }&#10;        ],&#10;        [&#10;          { text: '6', textStyle: {color: '#4A5568'}, cellStyle: {background: { color: '#F7F9FC' }} },&#10;          { text: 'Would a new team member read this correctly?', textStyle: {color: '#4A5568'}, cellStyle: {background: { color: '#F7F9FC' }} },&#10;          { text: '«you have to know the project to follow it»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5 / 38&lt;/Text&gt;&#10;  &lt;/Box&gt;&#10;  &lt;Box style={{ height: 46, background: '#0E3F8C', padding: '0 40px', flexDirection: 'row', alignItems: 'center', justifyContent: 'center' }}&gt;&#10;    &lt;Text style={{ fontSize: 16.5, color: '#FFFFFF', fontWeight: '600' }}&gt;Six questions. If any answer is wrong, you have five minutes of work — not a rewrit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7341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Model Review Before You Commit — Six Questions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graphicFrame>
        <p:nvGraphicFramePr>
          <p:cNvPr id="531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57428">
                  <a:extLst>
                    <a:ext uri="{9D8B030D-6E8A-4147-A177-3AD203B41FA5}">
                      <a16:colId val="1"/>
                    </a:ext>
                  </a:extLst>
                </a:gridCol>
                <a:gridCol w="6045525">
                  <a:extLst>
                    <a:ext uri="{9D8B030D-6E8A-4147-A177-3AD203B41FA5}">
                      <a16:colId val="2"/>
                    </a:ext>
                  </a:extLst>
                </a:gridCol>
                <a:gridCol w="502704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5543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 wrong answer sounds like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Can you read every line out loud as a sentence?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sort of means contains»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every end have a number you can defend?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is usually one»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Can you justify each filled diamond in one sentence?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is a part of it»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Is every association class genuinely pair-dependent?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«we needed somewhere to put the field»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Have you removed every design decision?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«we added the arrow to show the direction»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Would a new team member read this correctly?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«you have to know the project to follow it»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2924175" y="6543675"/>
            <a:ext cx="635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Six questions. If any answer is wrong, you have five minutes of work — not a rewrite.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53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Defect Gallery — What Reviewers Will Find&lt;/Text&gt;&#10;    &lt;Text style={{ fontSize: 14, color: '#1E4FA8', fontWeight: 'bold' }}&gt;36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DEFECT 01&lt;/Text&gt;&#10;          &lt;Text style={{ fontSize: 19, fontWeight: 'bold', color: '#0E3F8C', lineHeight: 1.25 }}&gt;Unnamed line&lt;/Text&gt;&#10;          &lt;Text style={{ fontSize: 13, color: '#4A5568', lineHeight: 1.55 }}&gt;The single most common finding. Every association gets a verb phrase, no exceptions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DEFECT 02&lt;/Text&gt;&#10;          &lt;Text style={{ fontSize: 19, fontWeight: 'bold', color: '#0E3F8C', lineHeight: 1.25 }}&gt;Missing end&lt;/Text&gt;&#10;          &lt;Text style={{ fontSize: 13, color: '#4A5568', lineHeight: 1.55 }}&gt;One end has a multiplicity, the other does not. Both ends are always read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DEFECT 03&lt;/Text&gt;&#10;          &lt;Text style={{ fontSize: 19, fontWeight: 'bold', color: '#0E3F8C', lineHeight: 1.25 }}&gt;Decoration diamond&lt;/Text&gt;&#10;          &lt;Text style={{ fontSize: 13, color: '#4A5568', lineHeight: 1.55 }}&gt;A filled diamond with no deletion rule behind it. It will be removed in review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DEFECT 04&lt;/Text&gt;&#10;          &lt;Text style={{ fontSize: 19, fontWeight: 'bold', color: '#0E3F8C', lineHeight: 1.25 }}&gt;Leaked design&lt;/Text&gt;&#10;          &lt;Text style={{ fontSize: 13, color: '#4A5568', lineHeight: 1.55 }}&gt;Arrows, plus signs, or type names in an analysis model. Out of scope until W10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6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6388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Defect Gallery — What Reviewers Will Find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DEFECT 01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Unnamed line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single most common finding. Every association gets a verb phrase, no exceptions.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DEFECT 02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Missing end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One end has a multiplicity, the other does not. Both ends are always read.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DEFECT 03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Decoration diamond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filled diamond with no deletion rule behind it. It will be removed in review.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DEFECT 04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Leaked design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Arrows, plus signs, or type names in an analysis model. Out of scope until W10.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</p:spTree>
  </p:cSld>
</p:sld>
</file>

<file path=ppt/slides/slide3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6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7 · LAB&lt;/Text&gt;&#10;  &lt;/Box&gt;&#10;  &lt;Box style={{ padding: '13px 40px 0 40px', flexDirection: 'row', alignItems: 'center', justifyContent: 'space-between' }}&gt;&#10;    &lt;Text style={{ fontSize: 29, fontWeight: 'bold', color: '#0E3F8C' }}&gt;Five Things To Take Home&lt;/Text&gt;&#10;    &lt;Text style={{ fontSize: 14, color: '#1E4FA8', fontWeight: 'bold' }}&gt;37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, 420, 570]}&#10;      cells={[&#10;        [&#10;          { text: '#', textStyle: {bold: true, color: '#FFFFFF', fontSize: 15}, cellStyle: {background: { color: '#0E3F8C' }} },&#10;          { text: 'Take-home', textStyle: {bold: true, color: '#FFFFFF', fontSize: 15}, cellStyle: {background: { color: '#1E4FA8' }} },&#10;          { text: 'Because', textStyle: {bold: true, color: '#FFFFFF', fontSize: 15}, cellStyle: {background: { color: '#1E4FA8' }} }&#10;        ],&#10;        [&#10;          { text: '01', textStyle: {color: '#4A5568'}, cellStyle: {} },&#10;          { text: 'A line is a verb phrase', textStyle: {color: '#4A5568'}, cellStyle: {} },&#10;          { text: 'The name is the claim; the line is only the drawing of it', textStyle: {color: '#4A5568'}, cellStyle: {} }&#10;        ],&#10;        [&#10;          { text: '02', textStyle: {color: '#4A5568'}, cellStyle: {background: { color: '#F7F9FC' }} },&#10;          { text: 'Both ends always carry a number', textStyle: {color: '#4A5568'}, cellStyle: {background: { color: '#F7F9FC' }} },&#10;          { text: 'Multiplicity is what actually drives the schema', textStyle: {color: '#4A5568'}, cellStyle: {background: { color: '#F7F9FC' }} }&#10;        ],&#10;        [&#10;          { text: '03', textStyle: {color: '#4A5568'}, cellStyle: {} },&#10;          { text: 'Diamonds need a deletion rule', textStyle: {color: '#4A5568'}, cellStyle: {} },&#10;          { text: 'Zero or one per model is the normal count', textStyle: {color: '#4A5568'}, cellStyle: {} }&#10;        ],&#10;        [&#10;          { text: '04', textStyle: {color: '#4A5568'}, cellStyle: {background: { color: '#F7F9FC' }} },&#10;          { text: 'Association classes are the exception', textStyle: {color: '#4A5568'}, cellStyle: {background: { color: '#F7F9FC' }} },&#10;          { text: 'Use one when the fact dies with the pair', textStyle: {color: '#4A5568'}, cellStyle: {background: { color: '#F7F9FC' }} }&#10;        ],&#10;        [&#10;          { text: '05', textStyle: {color: '#4A5568'}, cellStyle: {} },&#10;          { text: 'Analysis stops before design detail', textStyle: {color: '#4A5568'}, cellStyle: {} },&#10;          { text: 'Visibility, arrows and types arrive in W10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7 / 38&lt;/Text&gt;&#10;  &lt;/Box&gt;&#10;  &lt;Box style={{ height: 46, background: '#0E3F8C', padding: '0 40px', flexDirection: 'row', alignItems: 'center', justifyContent: 'center' }}&gt;&#10;    &lt;Text style={{ fontSize: 16.5, color: '#FFFFFF', fontWeight: '600' }}&gt;Next week the lines get a timeline: sequence diagrams turn associations into ordered conversations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W07 · LAB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4671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Five Things To Take Home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graphicFrame>
        <p:nvGraphicFramePr>
          <p:cNvPr id="57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91118">
                  <a:extLst>
                    <a:ext uri="{9D8B030D-6E8A-4147-A177-3AD203B41FA5}">
                      <a16:colId val="1"/>
                    </a:ext>
                  </a:extLst>
                </a:gridCol>
                <a:gridCol w="4519819">
                  <a:extLst>
                    <a:ext uri="{9D8B030D-6E8A-4147-A177-3AD203B41FA5}">
                      <a16:colId val="2"/>
                    </a:ext>
                  </a:extLst>
                </a:gridCol>
                <a:gridCol w="641906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Take-home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Because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line is a verb phrase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name is the claim; the line is only the drawing of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Both ends always carry a number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Multiplicity is what actually drives the schema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Diamonds need a deletion 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Zero or one per model is the normal count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Association classes are the exception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one when the fact dies with the pair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Analysis stops before design detail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Visibility, arrows and types arrive in W10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2333625" y="6543675"/>
            <a:ext cx="752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Next week the lines get a timeline: sequence diagrams turn associations into ordered conversations.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577" name="" descr="&lt;Slide style={{ background: '#0E3F8C', padding: 0 }}&gt;&#10;  &lt;Box style={{ flexDirection: 'column', height: '100%', position: 'relative', padding: '0 80px', justifyContent: 'center' }}&gt;&#10;    &lt;Box style={{ position: 'absolute', top: 0, left: 0, right: 0, height: 8, background: '#1E4FA8' }} /&gt;&#10;    &lt;Text style={{ fontSize: 15, color: '#7FA2D6', letterSpacing: 2, marginBottom: 16 }}&gt;WEEK 07 · WHAT YOU TAKE AWAY&lt;/Text&gt;&#10;    &lt;Text style={{ fontSize: 44, fontWeight: 'bold', color: '#FFFFFF', fontFamily: 'Georgia, serif', lineHeight: 1.15 }}&gt;&#10;      Boxes were last week.&lt;br /&gt;This week the lines carry claims.&#10;    &lt;/Text&gt;&#10;    &lt;Box style={{ width: 88, height: 5, background: '#FFC107', marginTop: 24, marginBottom: 26 }} /&gt;&#10;    &lt;Box style={{ flexDirection: 'row', flexWrap: 'wrap', gap: '12px 28px', marginBottom: 30 }}&gt;&#10;        &lt;Box key=&quot;01 · Name every association with a v&quot; style={{ flexDirection: 'row', alignItems: 'center', gap: 10, width: '48%' }}&gt;&#10;          &lt;Box style={{ width: 7, height: 7, borderRadius: 4, background: '#3D7BD9' }} /&gt;&#10;          &lt;Text style={{ fontSize: 15.5, color: '#C5D4EA' }}&gt;01 · Name every association with a verb phrase&lt;/Text&gt;&#10;        &lt;/Box&gt;&#10;        &lt;Box key=&quot;02 · Both ends always carry a multip&quot; style={{ flexDirection: 'row', alignItems: 'center', gap: 10, width: '48%' }}&gt;&#10;          &lt;Box style={{ width: 7, height: 7, borderRadius: 4, background: '#3D7BD9' }} /&gt;&#10;          &lt;Text style={{ fontSize: 15.5, color: '#C5D4EA' }}&gt;02 · Both ends always carry a multiplicity&lt;/Text&gt;&#10;        &lt;/Box&gt;&#10;        &lt;Box key=&quot;03 · Composition needs a deletion ru&quot; style={{ flexDirection: 'row', alignItems: 'center', gap: 10, width: '48%' }}&gt;&#10;          &lt;Box style={{ width: 7, height: 7, borderRadius: 4, background: '#3D7BD9' }} /&gt;&#10;          &lt;Text style={{ fontSize: 15.5, color: '#C5D4EA' }}&gt;03 · Composition needs a deletion rule, not a feeling&lt;/Text&gt;&#10;        &lt;/Box&gt;&#10;        &lt;Box key=&quot;04 · Association classes hold pair-d&quot; style={{ flexDirection: 'row', alignItems: 'center', gap: 10, width: '48%' }}&gt;&#10;          &lt;Box style={{ width: 7, height: 7, borderRadius: 4, background: '#3D7BD9' }} /&gt;&#10;          &lt;Text style={{ fontSize: 15.5, color: '#C5D4EA' }}&gt;04 · Association classes hold pair-dependent facts&lt;/Text&gt;&#10;        &lt;/Box&gt;&#10;        &lt;Box key=&quot;05 · Design detail stays out until W&quot; style={{ flexDirection: 'row', alignItems: 'center', gap: 10, width: '48%' }}&gt;&#10;          &lt;Box style={{ width: 7, height: 7, borderRadius: 4, background: '#3D7BD9' }} /&gt;&#10;          &lt;Text style={{ fontSize: 15.5, color: '#C5D4EA' }}&gt;05 · Design detail stays out until W10&lt;/Text&gt;&#10;        &lt;/Box&gt;&#10;        &lt;Box key=&quot;06 · M2 = v2 with the lines finished&quot; style={{ flexDirection: 'row', alignItems: 'center', gap: 10, width: '48%' }}&gt;&#10;          &lt;Box style={{ width: 7, height: 7, borderRadius: 4, background: '#3D7BD9' }} /&gt;&#10;          &lt;Text style={{ fontSize: 15.5, color: '#C5D4EA' }}&gt;06 · M2 = v2 with the lines finished&lt;/Text&gt;&#10;        &lt;/Box&gt;&#10;    &lt;/Box&gt;&#10;    &lt;Box style={{ borderTop: '1px solid #2B5793', paddingTop: 20, flexDirection: 'row', justifyContent: 'space-between', alignItems: 'center' }}&gt;&#10;      &lt;Box style={{ flex: 1 }}&gt;&#10;        &lt;Text style={{ fontSize: 14, color: '#7FA2D6', letterSpacing: 1, marginBottom: 6 }}&gt;NEXT WEEK — W08&lt;/Text&gt;&#10;        &lt;Text style={{ fontSize: 19, color: '#FFFFFF', fontWeight: '600' }}&gt;&#10;          Behavior Modeling I: sequence diagrams turn lines into ordered conversations&#10;        &lt;/Text&gt;&#10;      &lt;/Box&gt;&#10;      &lt;Box style={{ padding: '10px 22px', background: '#1E4FA8', borderRadius: 22 }}&gt;&#10;        &lt;Text style={{ fontSize: 15, color: '#FFFFFF', fontWeight: 'bold' }}&gt;Questions?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WEEK 07 · WHAT YOU TAKE AWAY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06680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Georgia"/>
                <a:ea typeface="Georgia"/>
              </a:rPr>
              <a:t>Boxes were last week.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Georgia"/>
                <a:ea typeface="Georgia"/>
              </a:rPr>
              <a:t>This week the lines carry claims.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762000" y="329565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762000" y="36480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923925" y="3590925"/>
            <a:ext cx="31242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01 · Name every association with a verb phrase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00750" y="36480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162675" y="3590925"/>
            <a:ext cx="2667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02 · Both ends always carry a multiplicity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762000" y="3943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923925" y="3886200"/>
            <a:ext cx="34194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03 · Composition needs a deletion rule, not a feeling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00750" y="3943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162675" y="3886200"/>
            <a:ext cx="32956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04 · Association classes hold pair-dependent facts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76200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23925" y="4181475"/>
            <a:ext cx="24384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05 · Design detail stays out until W10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0075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162675" y="4181475"/>
            <a:ext cx="22764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06 · M2 = v2 with the lines finished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62000" y="4648200"/>
            <a:ext cx="10668000" cy="647700"/>
          </a:xfrm>
          <a:custGeom>
            <a:pathLst>
              <a:path w="1120" h="68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62000" y="4848225"/>
            <a:ext cx="945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FA2D6"/>
                </a:solidFill>
                <a:latin typeface="Microsoft YaHei"/>
                <a:ea typeface="Microsoft YaHei"/>
              </a:rPr>
              <a:t>NEXT WEEK — W08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62000" y="5067300"/>
            <a:ext cx="9458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Behavior Modeling I: sequence diagrams turn lines into ordered conversations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10220325" y="4886325"/>
            <a:ext cx="1209675" cy="361950"/>
          </a:xfrm>
          <a:prstGeom prst="roundRect">
            <a:avLst>
              <a:gd name="adj" fmla="val 5789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0429875" y="49815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Questions?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2026-10-15T09:36:54Z</dcterms:created>
  <dcterms:modified xsi:type="dcterms:W3CDTF">2026-10-15T09:36:54Z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{"AIGC":{"Label":"1","ContentProducer":"00119111010856365494821B355","ProduceID":"01a13d336074717894a44669972eb3e9","ReservedCode1":"","ContentPropagator":"00119111010856365494821B355","PropagateID":"01a13d336074717894a44669972eb3e9","ReservedCode2":""}}</vt:lpwstr>
  </property>
</Properties>
</file>
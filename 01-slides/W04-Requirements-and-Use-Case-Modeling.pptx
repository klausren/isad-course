
<file path=[Content_Types].xml><?xml version="1.0" encoding="utf-8"?>
<Types xmlns="http://schemas.openxmlformats.org/package/2006/content-types">
  <Default Extension="svg" ContentType="image/svg+xml"/>
  <Default Extension="xml" ContentType="application/xml"/>
  <Default Extension="rels" ContentType="application/vnd.openxmlformats-package.relationships+xml"/>
  <Override PartName="/ppt/theme/theme2.xml" ContentType="application/vnd.openxmlformats-officedocument.theme+xml"/>
  <Override PartName="/ppt/presentation.xml" ContentType="application/vnd.openxmlformats-officedocument.presentationml.presentation.main+xml"/>
  <Override PartName="/ppt/viewProps.xml" ContentType="application/vnd.openxmlformats-officedocument.presentationml.viewProps+xml"/>
  <Override PartName="/ppt/slides/slide2.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docProps/core.xml" ContentType="application/vnd.openxmlformats-package.core-properties+xml"/>
  <Override PartName="/ppt/slides/slide16.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35.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slides/slide25.xml" ContentType="application/vnd.openxmlformats-officedocument.presentationml.slide+xml"/>
  <Override PartName="/ppt/slides/slide15.xml" ContentType="application/vnd.openxmlformats-officedocument.presentationml.slide+xml"/>
  <Override PartName="/ppt/slides/slide34.xml" ContentType="application/vnd.openxmlformats-officedocument.presentationml.slide+xml"/>
  <Override PartName="/ppt/slides/slide24.xml" ContentType="application/vnd.openxmlformats-officedocument.presentationml.slide+xml"/>
  <Override PartName="/docProps/app.xml" ContentType="application/vnd.openxmlformats-officedocument.extended-properties+xml"/>
  <Override PartName="/ppt/slides/slide31.xml" ContentType="application/vnd.openxmlformats-officedocument.presentationml.slide+xml"/>
  <Override PartName="/ppt/slides/slide37.xml" ContentType="application/vnd.openxmlformats-officedocument.presentationml.slide+xml"/>
  <Override PartName="/ppt/slides/slide33.xml" ContentType="application/vnd.openxmlformats-officedocument.presentationml.slide+xml"/>
  <Override PartName="/ppt/slides/slide23.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29.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27.xml" ContentType="application/vnd.openxmlformats-officedocument.presentationml.slide+xml"/>
  <Override PartName="/ppt/slides/slide8.xml" ContentType="application/vnd.openxmlformats-officedocument.presentationml.slide+xml"/>
  <Override PartName="/ppt/slideLayouts/slideLayout1.xml" ContentType="application/vnd.openxmlformats-officedocument.presentationml.slideLayout+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firstSlideNum="1">
  <p:sldMasterIdLst>
    <p:sldMasterId id="2147483648" r:id="rId0"/>
  </p:sldMasterIdLst>
  <p:notesMasterIdLst>
    <p:notesMasterId r:id="rId39"/>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8" Type="http://schemas.openxmlformats.org/officeDocument/2006/relationships/slide" Target="slides/slide8.xml" /><Relationship Id="rId6" Type="http://schemas.openxmlformats.org/officeDocument/2006/relationships/slide" Target="slides/slide6.xml" /><Relationship Id="rId41" Type="http://schemas.openxmlformats.org/officeDocument/2006/relationships/tableStyles" Target="tableStyles.xml" /><Relationship Id="rId40" Type="http://schemas.openxmlformats.org/officeDocument/2006/relationships/presProps" Target="presProps.xml" /><Relationship Id="rId5" Type="http://schemas.openxmlformats.org/officeDocument/2006/relationships/slide" Target="slides/slide5.xml" /><Relationship Id="rId4" Type="http://schemas.openxmlformats.org/officeDocument/2006/relationships/slide" Target="slides/slide4.xml" /><Relationship Id="rId39" Type="http://schemas.openxmlformats.org/officeDocument/2006/relationships/notesMaster" Target="notesMasters/notesMaster1.xml" /><Relationship Id="rId7" Type="http://schemas.openxmlformats.org/officeDocument/2006/relationships/slide" Target="slides/slide7.xml" /><Relationship Id="rId38" Type="http://schemas.openxmlformats.org/officeDocument/2006/relationships/slide" Target="slides/slide38.xml" /><Relationship Id="rId37" Type="http://schemas.openxmlformats.org/officeDocument/2006/relationships/slide" Target="slides/slide37.xml" /><Relationship Id="rId35" Type="http://schemas.openxmlformats.org/officeDocument/2006/relationships/slide" Target="slides/slide35.xml" /><Relationship Id="rId9" Type="http://schemas.openxmlformats.org/officeDocument/2006/relationships/slide" Target="slides/slide9.xml" /><Relationship Id="rId33" Type="http://schemas.openxmlformats.org/officeDocument/2006/relationships/slide" Target="slides/slide33.xml" /><Relationship Id="rId34" Type="http://schemas.openxmlformats.org/officeDocument/2006/relationships/slide" Target="slides/slide34.xml" /><Relationship Id="rId31" Type="http://schemas.openxmlformats.org/officeDocument/2006/relationships/slide" Target="slides/slide31.xml" /><Relationship Id="rId27" Type="http://schemas.openxmlformats.org/officeDocument/2006/relationships/slide" Target="slides/slide27.xml" /><Relationship Id="rId42" Type="http://schemas.openxmlformats.org/officeDocument/2006/relationships/viewProps" Target="viewProps.xml" /><Relationship Id="rId25" Type="http://schemas.openxmlformats.org/officeDocument/2006/relationships/slide" Target="slides/slide25.xml" /><Relationship Id="rId14" Type="http://schemas.openxmlformats.org/officeDocument/2006/relationships/slide" Target="slides/slide14.xml" /><Relationship Id="rId24" Type="http://schemas.openxmlformats.org/officeDocument/2006/relationships/slide" Target="slides/slide24.xml" /><Relationship Id="rId23" Type="http://schemas.openxmlformats.org/officeDocument/2006/relationships/slide" Target="slides/slide23.xml" /><Relationship Id="rId22" Type="http://schemas.openxmlformats.org/officeDocument/2006/relationships/slide" Target="slides/slide22.xml" /><Relationship Id="rId36" Type="http://schemas.openxmlformats.org/officeDocument/2006/relationships/slide" Target="slides/slide36.xml" /><Relationship Id="rId30" Type="http://schemas.openxmlformats.org/officeDocument/2006/relationships/slide" Target="slides/slide30.xml" /><Relationship Id="rId21" Type="http://schemas.openxmlformats.org/officeDocument/2006/relationships/slide" Target="slides/slide21.xml" /><Relationship Id="rId20" Type="http://schemas.openxmlformats.org/officeDocument/2006/relationships/slide" Target="slides/slide20.xml" /><Relationship Id="rId18" Type="http://schemas.openxmlformats.org/officeDocument/2006/relationships/slide" Target="slides/slide18.xml" /><Relationship Id="rId29" Type="http://schemas.openxmlformats.org/officeDocument/2006/relationships/slide" Target="slides/slide29.xml" /><Relationship Id="rId3" Type="http://schemas.openxmlformats.org/officeDocument/2006/relationships/slide" Target="slides/slide3.xml" /><Relationship Id="rId2" Type="http://schemas.openxmlformats.org/officeDocument/2006/relationships/slide" Target="slides/slide2.xml" /><Relationship Id="rId19" Type="http://schemas.openxmlformats.org/officeDocument/2006/relationships/slide" Target="slides/slide19.xml" /><Relationship Id="rId16" Type="http://schemas.openxmlformats.org/officeDocument/2006/relationships/slide" Target="slides/slide16.xml" /><Relationship Id="rId11" Type="http://schemas.openxmlformats.org/officeDocument/2006/relationships/slide" Target="slides/slide11.xml" /><Relationship Id="rId1" Type="http://schemas.openxmlformats.org/officeDocument/2006/relationships/slide" Target="slides/slide1.xml" /><Relationship Id="rId12" Type="http://schemas.openxmlformats.org/officeDocument/2006/relationships/slide" Target="slides/slide12.xml" /><Relationship Id="rId17" Type="http://schemas.openxmlformats.org/officeDocument/2006/relationships/slide" Target="slides/slide17.xml" /><Relationship Id="rId26" Type="http://schemas.openxmlformats.org/officeDocument/2006/relationships/slide" Target="slides/slide26.xml" /><Relationship Id="rId15" Type="http://schemas.openxmlformats.org/officeDocument/2006/relationships/slide" Target="slides/slide15.xml" /><Relationship Id="rId13" Type="http://schemas.openxmlformats.org/officeDocument/2006/relationships/slide" Target="slides/slide13.xml" /><Relationship Id="rId28" Type="http://schemas.openxmlformats.org/officeDocument/2006/relationships/slide" Target="slides/slide28.xml" /><Relationship Id="rId0" Type="http://schemas.openxmlformats.org/officeDocument/2006/relationships/slideMaster" Target="slideMasters/slideMaster1.xml" /><Relationship Id="rId32" Type="http://schemas.openxmlformats.org/officeDocument/2006/relationships/slide" Target="slides/slide32.xml" /><Relationship Id="rId10" Type="http://schemas.openxmlformats.org/officeDocument/2006/relationships/slide" Target="slides/slide10.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3" Type="http://schemas.openxmlformats.org/officeDocument/2006/relationships/image" Target="media/image25.svg" /><Relationship Id="rId4" Type="http://schemas.openxmlformats.org/officeDocument/2006/relationships/image" Target="media/image26.svg" /><Relationship Id="rId5" Type="http://schemas.openxmlformats.org/officeDocument/2006/relationships/image" Target="media/image27.svg" /><Relationship Id="rId1" Type="http://schemas.openxmlformats.org/officeDocument/2006/relationships/image" Target="media/image24.svg" /><Relationship Id="rId2" Type="http://schemas.openxmlformats.org/officeDocument/2006/relationships/image" Target="media/image2.svg" /><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1" Type="http://schemas.openxmlformats.org/officeDocument/2006/relationships/image" Target="media/image28.svg" /><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3" Type="http://schemas.openxmlformats.org/officeDocument/2006/relationships/image" Target="media/image31.svg" /><Relationship Id="rId2" Type="http://schemas.openxmlformats.org/officeDocument/2006/relationships/image" Target="media/image30.svg" /><Relationship Id="rId1" Type="http://schemas.openxmlformats.org/officeDocument/2006/relationships/image" Target="media/image29.svg" /><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1" Type="http://schemas.openxmlformats.org/officeDocument/2006/relationships/image" Target="media/image32.svg" /><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svg" /><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5.svg" /><Relationship Id="rId1" Type="http://schemas.openxmlformats.org/officeDocument/2006/relationships/image" Target="media/image4.svg" /><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1" Type="http://schemas.openxmlformats.org/officeDocument/2006/relationships/image" Target="media/image6.svg" /><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1" Type="http://schemas.openxmlformats.org/officeDocument/2006/relationships/image" Target="media/image7.svg" /><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5.xml.rels><?xml version="1.0" encoding="UTF-8" standalone="yes"?><Relationships xmlns="http://schemas.openxmlformats.org/package/2006/relationships"><Relationship Id="rId1" Type="http://schemas.openxmlformats.org/officeDocument/2006/relationships/image" Target="media/image8.svg" /><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1" Type="http://schemas.openxmlformats.org/officeDocument/2006/relationships/image" Target="media/image9.svg" /><Relationship Id="rId0" Type="http://schemas.openxmlformats.org/officeDocument/2006/relationships/slideLayout" Target="../slideLayouts/slideLayout1.xml"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8.xml.rels><?xml version="1.0" encoding="UTF-8" standalone="yes"?><Relationships xmlns="http://schemas.openxmlformats.org/package/2006/relationships"><Relationship Id="rId1" Type="http://schemas.openxmlformats.org/officeDocument/2006/relationships/image" Target="media/image10.svg" /><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3" Type="http://schemas.openxmlformats.org/officeDocument/2006/relationships/image" Target="media/image13.svg" /><Relationship Id="rId2" Type="http://schemas.openxmlformats.org/officeDocument/2006/relationships/image" Target="media/image12.svg" /><Relationship Id="rId1" Type="http://schemas.openxmlformats.org/officeDocument/2006/relationships/image" Target="media/image11.svg" /><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1.xml.rels><?xml version="1.0" encoding="UTF-8" standalone="yes"?><Relationships xmlns="http://schemas.openxmlformats.org/package/2006/relationships"><Relationship Id="rId1" Type="http://schemas.openxmlformats.org/officeDocument/2006/relationships/image" Target="media/image14.svg" /><Relationship Id="rId0" Type="http://schemas.openxmlformats.org/officeDocument/2006/relationships/slideLayout" Target="../slideLayouts/slideLayout1.xml" /></Relationships>
</file>

<file path=ppt/slides/_rels/slide22.xml.rels><?xml version="1.0" encoding="UTF-8" standalone="yes"?><Relationships xmlns="http://schemas.openxmlformats.org/package/2006/relationships"><Relationship Id="rId1" Type="http://schemas.openxmlformats.org/officeDocument/2006/relationships/image" Target="media/image15.svg" /><Relationship Id="rId0" Type="http://schemas.openxmlformats.org/officeDocument/2006/relationships/slideLayout" Target="../slideLayouts/slideLayout1.xml"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7.xml.rels><?xml version="1.0" encoding="UTF-8" standalone="yes"?><Relationships xmlns="http://schemas.openxmlformats.org/package/2006/relationships"><Relationship Id="rId1" Type="http://schemas.openxmlformats.org/officeDocument/2006/relationships/image" Target="media/image16.svg" /><Relationship Id="rId0" Type="http://schemas.openxmlformats.org/officeDocument/2006/relationships/slideLayout" Target="../slideLayouts/slideLayout1.xml" /></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9.xml.rels><?xml version="1.0" encoding="UTF-8" standalone="yes"?><Relationships xmlns="http://schemas.openxmlformats.org/package/2006/relationships"><Relationship Id="rId3" Type="http://schemas.openxmlformats.org/officeDocument/2006/relationships/image" Target="media/image19.svg" /><Relationship Id="rId2" Type="http://schemas.openxmlformats.org/officeDocument/2006/relationships/image" Target="media/image18.svg" /><Relationship Id="rId1" Type="http://schemas.openxmlformats.org/officeDocument/2006/relationships/image" Target="media/image17.svg" /><Relationship Id="rId0" Type="http://schemas.openxmlformats.org/officeDocument/2006/relationships/slideLayout" Target="../slideLayouts/slideLayout1.xml"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6.xml.rels><?xml version="1.0" encoding="UTF-8" standalone="yes"?><Relationships xmlns="http://schemas.openxmlformats.org/package/2006/relationships"><Relationship Id="rId1" Type="http://schemas.openxmlformats.org/officeDocument/2006/relationships/image" Target="media/image20.svg" /><Relationship Id="rId0" Type="http://schemas.openxmlformats.org/officeDocument/2006/relationships/slideLayout" Target="../slideLayouts/slideLayout1.xml" /></Relationships>
</file>

<file path=ppt/slides/_rels/slide37.xml.rels><?xml version="1.0" encoding="UTF-8" standalone="yes"?><Relationships xmlns="http://schemas.openxmlformats.org/package/2006/relationships"><Relationship Id="rId3" Type="http://schemas.openxmlformats.org/officeDocument/2006/relationships/image" Target="media/image23.svg" /><Relationship Id="rId2" Type="http://schemas.openxmlformats.org/officeDocument/2006/relationships/image" Target="media/image22.svg" /><Relationship Id="rId1" Type="http://schemas.openxmlformats.org/officeDocument/2006/relationships/image" Target="media/image21.svg" /><Relationship Id="rId0" Type="http://schemas.openxmlformats.org/officeDocument/2006/relationships/slideLayout" Target="../slideLayouts/slideLayout1.xml"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E3F8C"/>
          </a:solidFill>
          <a:ln/>
        </p:spPr>
        <p:txBody>
          <a:bodyPr/>
          <a:p>
            <a:pPr/>
            <a:endParaRPr/>
          </a:p>
        </p:txBody>
      </p:sp>
      <p:sp>
        <p:nvSpPr>
          <p:cNvPr id="3" name=""/>
          <p:cNvSpPr/>
          <p:nvPr/>
        </p:nvSpPr>
        <p:spPr>
          <a:xfrm rot="0" flipH="0" flipV="0">
            <a:off x="762000" y="1924050"/>
            <a:ext cx="1781175" cy="323850"/>
          </a:xfrm>
          <a:prstGeom prst="roundRect">
            <a:avLst>
              <a:gd name="adj" fmla="val 52941"/>
            </a:avLst>
          </a:prstGeom>
          <a:solidFill>
            <a:srgbClr val="3D7BD9"/>
          </a:solidFill>
          <a:ln/>
        </p:spPr>
        <p:txBody>
          <a:bodyPr/>
          <a:p>
            <a:pPr/>
            <a:endParaRPr/>
          </a:p>
        </p:txBody>
      </p:sp>
      <p:sp>
        <p:nvSpPr>
          <p:cNvPr id="4" name="" descr="{&quot;isTemplate&quot;:true,&quot;type&quot;:&quot;text&quot;}"/>
          <p:cNvSpPr txBox="1"/>
          <p:nvPr/>
        </p:nvSpPr>
        <p:spPr>
          <a:xfrm rot="0" flipH="0" flipV="0">
            <a:off x="933450" y="1990725"/>
            <a:ext cx="1438275" cy="190500"/>
          </a:xfrm>
          <a:prstGeom prst="rect"/>
        </p:spPr>
        <p:txBody>
          <a:bodyPr wrap="none" lIns="0" tIns="0" rIns="0" bIns="0"/>
          <a:p>
            <a:pPr>
              <a:lnSpc>
                <a:spcPct val="100000"/>
              </a:lnSpc>
            </a:pPr>
            <a:r>
              <a:rPr lang="en-US" sz="1200" b="1" spc="150">
                <a:solidFill>
                  <a:srgbClr val="FFFFFF"/>
                </a:solidFill>
                <a:latin typeface="Microsoft YaHei"/>
                <a:ea typeface="Microsoft YaHei"/>
              </a:rPr>
              <a:t>ISAD · WEEK 04</a:t>
            </a:r>
            <a:endParaRPr/>
          </a:p>
        </p:txBody>
      </p:sp>
      <p:sp>
        <p:nvSpPr>
          <p:cNvPr id="5" name=""/>
          <p:cNvSpPr/>
          <p:nvPr/>
        </p:nvSpPr>
        <p:spPr>
          <a:xfrm rot="0" flipH="0" flipV="0">
            <a:off x="2676525" y="2085975"/>
            <a:ext cx="533400" cy="9525"/>
          </a:xfrm>
          <a:prstGeom prst="rect">
            <a:avLst/>
          </a:prstGeom>
          <a:solidFill>
            <a:srgbClr val="5B84C4"/>
          </a:solidFill>
          <a:ln/>
        </p:spPr>
        <p:txBody>
          <a:bodyPr/>
          <a:p>
            <a:pPr/>
            <a:endParaRPr/>
          </a:p>
        </p:txBody>
      </p:sp>
      <p:sp>
        <p:nvSpPr>
          <p:cNvPr id="6" name="" descr="{&quot;isTemplate&quot;:true,&quot;type&quot;:&quot;text&quot;}"/>
          <p:cNvSpPr txBox="1"/>
          <p:nvPr/>
        </p:nvSpPr>
        <p:spPr>
          <a:xfrm rot="0" flipH="0" flipV="0">
            <a:off x="3343275" y="1990725"/>
            <a:ext cx="2171700" cy="190500"/>
          </a:xfrm>
          <a:prstGeom prst="rect"/>
        </p:spPr>
        <p:txBody>
          <a:bodyPr wrap="none" lIns="0" tIns="0" rIns="0" bIns="0"/>
          <a:p>
            <a:pPr>
              <a:lnSpc>
                <a:spcPct val="100000"/>
              </a:lnSpc>
            </a:pPr>
            <a:r>
              <a:rPr lang="en-US" sz="1200" spc="75">
                <a:solidFill>
                  <a:srgbClr val="7FA2D6"/>
                </a:solidFill>
                <a:latin typeface="Microsoft YaHei"/>
                <a:ea typeface="Microsoft YaHei"/>
              </a:rPr>
              <a:t>MODULE B · OO ANALYSIS</a:t>
            </a:r>
            <a:endParaRPr/>
          </a:p>
        </p:txBody>
      </p:sp>
      <p:sp>
        <p:nvSpPr>
          <p:cNvPr id="7" name="" descr="{&quot;isTemplate&quot;:true,&quot;type&quot;:&quot;text&quot;}"/>
          <p:cNvSpPr txBox="1"/>
          <p:nvPr/>
        </p:nvSpPr>
        <p:spPr>
          <a:xfrm rot="0" flipH="0" flipV="0">
            <a:off x="762000" y="2533650"/>
            <a:ext cx="10668000" cy="1438275"/>
          </a:xfrm>
          <a:prstGeom prst="rect"/>
        </p:spPr>
        <p:txBody>
          <a:bodyPr wrap="none" lIns="0" tIns="0" rIns="0" bIns="0"/>
          <a:p>
            <a:pPr>
              <a:lnSpc>
                <a:spcPct val="112000"/>
              </a:lnSpc>
            </a:pPr>
            <a:r>
              <a:rPr lang="en-US" sz="4200" b="1">
                <a:solidFill>
                  <a:srgbClr val="FFFFFF"/>
                </a:solidFill>
                <a:latin typeface="Georgia"/>
                <a:ea typeface="Georgia"/>
              </a:rPr>
              <a:t>Requirements</a:t>
            </a:r>
            <a:endParaRPr/>
          </a:p>
          <a:p>
            <a:pPr>
              <a:lnSpc>
                <a:spcPct val="112000"/>
              </a:lnSpc>
            </a:pPr>
            <a:r>
              <a:rPr lang="en-US" sz="4200" b="1">
                <a:solidFill>
                  <a:srgbClr val="FFFFFF"/>
                </a:solidFill>
                <a:latin typeface="Georgia"/>
                <a:ea typeface="Georgia"/>
              </a:rPr>
              <a:t>&amp; Use Case Modeling</a:t>
            </a:r>
            <a:endParaRPr/>
          </a:p>
        </p:txBody>
      </p:sp>
      <p:sp>
        <p:nvSpPr>
          <p:cNvPr id="8" name=""/>
          <p:cNvSpPr/>
          <p:nvPr/>
        </p:nvSpPr>
        <p:spPr>
          <a:xfrm rot="0" flipH="0" flipV="0">
            <a:off x="762000" y="4238625"/>
            <a:ext cx="838200" cy="47625"/>
          </a:xfrm>
          <a:prstGeom prst="rect">
            <a:avLst/>
          </a:prstGeom>
          <a:solidFill>
            <a:srgbClr val="FFC107"/>
          </a:solidFill>
          <a:ln/>
        </p:spPr>
        <p:txBody>
          <a:bodyPr/>
          <a:p>
            <a:pPr/>
            <a:endParaRPr/>
          </a:p>
        </p:txBody>
      </p:sp>
      <p:sp>
        <p:nvSpPr>
          <p:cNvPr id="9" name="" descr="{&quot;isTemplate&quot;:true,&quot;type&quot;:&quot;text&quot;}"/>
          <p:cNvSpPr txBox="1"/>
          <p:nvPr/>
        </p:nvSpPr>
        <p:spPr>
          <a:xfrm rot="0" flipH="0" flipV="0">
            <a:off x="762000" y="4495800"/>
            <a:ext cx="10668000" cy="438150"/>
          </a:xfrm>
          <a:prstGeom prst="rect"/>
        </p:spPr>
        <p:txBody>
          <a:bodyPr wrap="none" lIns="0" tIns="0" rIns="0" bIns="0"/>
          <a:p>
            <a:pPr>
              <a:lnSpc>
                <a:spcPct val="145000"/>
              </a:lnSpc>
            </a:pPr>
            <a:r>
              <a:rPr lang="en-US" sz="1950">
                <a:solidFill>
                  <a:srgbClr val="B9CDF0"/>
                </a:solidFill>
                <a:latin typeface="Microsoft YaHei"/>
                <a:ea typeface="Microsoft YaHei"/>
              </a:rPr>
              <a:t>Where the Requirements Pack Lands on Your Desk — and Becomes a Model</a:t>
            </a:r>
            <a:endParaRPr/>
          </a:p>
        </p:txBody>
      </p:sp>
      <p:sp>
        <p:nvSpPr>
          <p:cNvPr id="10" name=""/>
          <p:cNvSpPr/>
          <p:nvPr/>
        </p:nvSpPr>
        <p:spPr>
          <a:xfrm rot="0" flipH="0" flipV="0">
            <a:off x="0" y="0"/>
            <a:ext cx="12192000" cy="76200"/>
          </a:xfrm>
          <a:prstGeom prst="rect">
            <a:avLst/>
          </a:prstGeom>
          <a:solidFill>
            <a:srgbClr val="1E4FA8"/>
          </a:solidFill>
          <a:ln/>
        </p:spPr>
        <p:txBody>
          <a:bodyPr/>
          <a:p>
            <a:pPr/>
            <a:endParaRPr/>
          </a:p>
        </p:txBody>
      </p:sp>
      <p:sp>
        <p:nvSpPr>
          <p:cNvPr id="11" name=""/>
          <p:cNvSpPr/>
          <p:nvPr/>
        </p:nvSpPr>
        <p:spPr>
          <a:xfrm rot="0" flipH="0" flipV="0">
            <a:off x="0" y="76200"/>
            <a:ext cx="12192000" cy="19050"/>
          </a:xfrm>
          <a:prstGeom prst="rect">
            <a:avLst/>
          </a:prstGeom>
          <a:solidFill>
            <a:srgbClr val="3D7BD9"/>
          </a:solidFill>
          <a:ln/>
        </p:spPr>
        <p:txBody>
          <a:bodyPr/>
          <a:p>
            <a:pPr/>
            <a:endParaRPr/>
          </a:p>
        </p:txBody>
      </p:sp>
      <p:sp>
        <p:nvSpPr>
          <p:cNvPr id="12" name=""/>
          <p:cNvSpPr/>
          <p:nvPr/>
        </p:nvSpPr>
        <p:spPr>
          <a:xfrm rot="0" flipH="0" flipV="0">
            <a:off x="762000" y="6038850"/>
            <a:ext cx="10668000" cy="390525"/>
          </a:xfrm>
          <a:custGeom>
            <a:pathLst>
              <a:path w="1120" h="41">
                <a:moveTo>
                  <a:pt x="0" y="0"/>
                </a:moveTo>
                <a:lnTo>
                  <a:pt x="1120" y="0"/>
                </a:lnTo>
                <a:lnTo>
                  <a:pt x="1120" y="1"/>
                </a:lnTo>
                <a:lnTo>
                  <a:pt x="0" y="1"/>
                </a:lnTo>
                <a:close/>
              </a:path>
            </a:pathLst>
          </a:custGeom>
          <a:solidFill>
            <a:srgbClr val="2B5793"/>
          </a:solidFill>
          <a:ln/>
        </p:spPr>
        <p:txBody>
          <a:bodyPr/>
          <a:p>
            <a:pPr/>
            <a:endParaRPr/>
          </a:p>
        </p:txBody>
      </p:sp>
      <p:sp>
        <p:nvSpPr>
          <p:cNvPr id="13" name="" descr="{&quot;isTemplate&quot;:true,&quot;type&quot;:&quot;text&quot;}"/>
          <p:cNvSpPr txBox="1"/>
          <p:nvPr/>
        </p:nvSpPr>
        <p:spPr>
          <a:xfrm rot="0" flipH="0" flipV="0">
            <a:off x="762000" y="6219825"/>
            <a:ext cx="3219450" cy="200025"/>
          </a:xfrm>
          <a:prstGeom prst="rect"/>
        </p:spPr>
        <p:txBody>
          <a:bodyPr wrap="none" lIns="0" tIns="0" rIns="0" bIns="0"/>
          <a:p>
            <a:pPr>
              <a:lnSpc>
                <a:spcPct val="100000"/>
              </a:lnSpc>
            </a:pPr>
            <a:r>
              <a:rPr lang="en-US" sz="1275">
                <a:solidFill>
                  <a:srgbClr val="C5D4EA"/>
                </a:solidFill>
                <a:latin typeface="Microsoft YaHei"/>
                <a:ea typeface="Microsoft YaHei"/>
              </a:rPr>
              <a:t>Ren Zheng · School of Software Engineering</a:t>
            </a:r>
            <a:endParaRPr/>
          </a:p>
        </p:txBody>
      </p:sp>
      <p:sp>
        <p:nvSpPr>
          <p:cNvPr id="14" name="" descr="{&quot;isTemplate&quot;:true,&quot;type&quot;:&quot;text&quot;}"/>
          <p:cNvSpPr txBox="1"/>
          <p:nvPr/>
        </p:nvSpPr>
        <p:spPr>
          <a:xfrm rot="0" flipH="0" flipV="0">
            <a:off x="10763250" y="6219825"/>
            <a:ext cx="666750" cy="200025"/>
          </a:xfrm>
          <a:prstGeom prst="rect"/>
        </p:spPr>
        <p:txBody>
          <a:bodyPr wrap="none" lIns="0" tIns="0" rIns="0" bIns="0"/>
          <a:p>
            <a:pPr>
              <a:lnSpc>
                <a:spcPct val="100000"/>
              </a:lnSpc>
            </a:pPr>
            <a:r>
              <a:rPr lang="en-US" sz="1275">
                <a:solidFill>
                  <a:srgbClr val="C5D4EA"/>
                </a:solidFill>
                <a:latin typeface="Microsoft YaHei"/>
                <a:ea typeface="Microsoft YaHei"/>
              </a:rPr>
              <a:t>Fall 2026</a:t>
            </a:r>
            <a:endParaRPr/>
          </a:p>
        </p:txBody>
      </p:sp>
    </p:spTree>
  </p:cSld>
</p:sld>
</file>

<file path=ppt/slides/slide2.xml><?xml version="1.0" encoding="utf-8"?>
<p:sld xmlns:a="http://schemas.openxmlformats.org/drawingml/2006/main" xmlns:p="http://schemas.openxmlformats.org/presentationml/2006/main">
  <p:cSld>
    <p:spTree>
      <p:nvGrpSpPr>
        <p:cNvPr id="286" name="" descr="&lt;Slide style={{ background: '#FFFFFF', padding: 0 }}&gt;&#10;  &lt;Box style={{ flexDirection: 'row', height: '100%' }}&gt;&#10;    &lt;Box style={{ width: 320, background: '#0E3F8C', padding: '60px 44px', flexDirection: 'column', justifyContent: 'space-between' }}&gt;&#10;      &lt;Box&gt;&#10;        &lt;Box style={{ width: 40, height: 4, background: '#FFC107', marginBottom: 24 }} /&gt;&#10;        &lt;Text style={{ fontSize: 46, fontWeight: 'bold', color: '#FFFFFF', fontFamily: 'Georgia, serif', lineHeight: 1.15 }}&gt;Contents&lt;/Text&gt;&#10;        &lt;Text style={{ fontSize: 16, color: '#7FA2D6', marginTop: 18, letterSpacing: 1 }}&gt;WEEK 04 · ROADMAP&lt;/Text&gt;&#10;      &lt;/Box&gt;&#10;      &lt;Text style={{ fontSize: 15, color: '#5B84C4', lineHeight: 1.5 }}&gt;Requirements&lt;br /&gt;&amp;amp; Use Case Modeling&lt;/Text&gt;&#10;    &lt;/Box&gt;&#10;    &lt;Box style={{ flex: 1, padding: '50px 56px', flexDirection: 'column', gap: 15 }}&gt;&#10;      {[&#10;        { n: '01', t: 'Requirements, Briefly', p: '03' },&#10;        { n: '02', t: 'Actors &amp; Goals', p: '08' },&#10;        { n: '03', t: 'The Use Case Diagram', p: '14' },&#10;        { n: '04', t: 'Include vs. Extend', p: '20' },&#10;        { n: '05', t: 'Finding Use Cases', p: '24' },&#10;        { n: '06', t: 'Lab — Exercise 4.1, 4.2 &amp; M1', p: '30' },&#10;      ].map((item) =&gt; (&#10;        &lt;Box key={item.n} style={{ flexDirection: 'row', alignItems: 'center', gap: 20, padding: '14px 20px', background: '#F7F9FC', borderRadius: 10, border: '1px solid #E5E7EB' }}&gt;&#10;          &lt;Box style={{ width: 52, height: 52, borderRadius: 8, background: '#1E4FA8', justifyContent: 'center', alignItems: 'center' }}&gt;&#10;            &lt;Text style={{ fontSize: 22, fontWeight: 'bold', color: '#FFFFFF' }}&gt;{item.n}&lt;/Text&gt;&#10;          &lt;/Box&gt;&#10;          &lt;Text style={{ flex: 1, fontSize: 20, color: '#1A2230', fontWeight: '600' }}&gt;{item.t}&lt;/Text&gt;&#10;          &lt;Text style={{ fontSize: 20, color: '#8B97A8', fontWeight: 'bold' }}&gt;{item.p}&lt;/Text&gt;&#10;        &lt;/Box&gt;&#10;      ))}&#10;    &lt;/Box&gt;&#10;  &lt;/Box&gt;&#10;&lt;/Slide&gt;&#10;"/>
        <p:cNvGrpSpPr/>
        <p:nvPr/>
      </p:nvGrpSpPr>
      <p:grpSpPr>
        <a:xfrm>
          <a:off x="0" y="0"/>
          <a:ext cx="0" cy="0"/>
          <a:chOff x="0" y="0"/>
          <a:chExt cx="0" cy="0"/>
        </a:xfrm>
      </p:grpSpPr>
      <p:sp>
        <p:nvSpPr>
          <p:cNvPr id="287" name=""/>
          <p:cNvSpPr/>
          <p:nvPr/>
        </p:nvSpPr>
        <p:spPr>
          <a:xfrm rot="0" flipH="0" flipV="0">
            <a:off x="0" y="0"/>
            <a:ext cx="12192000" cy="6858000"/>
          </a:xfrm>
          <a:prstGeom prst="rect">
            <a:avLst/>
          </a:prstGeom>
          <a:solidFill>
            <a:srgbClr val="FFFFFF"/>
          </a:solidFill>
          <a:ln/>
        </p:spPr>
        <p:txBody>
          <a:bodyPr/>
          <a:p/>
        </p:txBody>
      </p:sp>
      <p:sp>
        <p:nvSpPr>
          <p:cNvPr id="288" name=""/>
          <p:cNvSpPr/>
          <p:nvPr/>
        </p:nvSpPr>
        <p:spPr>
          <a:xfrm rot="0" flipH="0" flipV="0">
            <a:off x="0" y="0"/>
            <a:ext cx="3048000" cy="6858000"/>
          </a:xfrm>
          <a:prstGeom prst="rect">
            <a:avLst/>
          </a:prstGeom>
          <a:solidFill>
            <a:srgbClr val="0E3F8C"/>
          </a:solidFill>
          <a:ln/>
        </p:spPr>
        <p:txBody>
          <a:bodyPr/>
          <a:p/>
        </p:txBody>
      </p:sp>
      <p:sp>
        <p:nvSpPr>
          <p:cNvPr id="289" name=""/>
          <p:cNvSpPr/>
          <p:nvPr/>
        </p:nvSpPr>
        <p:spPr>
          <a:xfrm rot="0" flipH="0" flipV="0">
            <a:off x="419100" y="571500"/>
            <a:ext cx="381000" cy="38100"/>
          </a:xfrm>
          <a:prstGeom prst="rect">
            <a:avLst/>
          </a:prstGeom>
          <a:solidFill>
            <a:srgbClr val="FFC107"/>
          </a:solidFill>
          <a:ln/>
        </p:spPr>
        <p:txBody>
          <a:bodyPr/>
          <a:p/>
        </p:txBody>
      </p:sp>
      <p:sp>
        <p:nvSpPr>
          <p:cNvPr id="290" name="" descr="{&quot;isTemplate&quot;:true,&quot;type&quot;:&quot;text&quot;}"/>
          <p:cNvSpPr txBox="1"/>
          <p:nvPr/>
        </p:nvSpPr>
        <p:spPr>
          <a:xfrm rot="0" flipH="0" flipV="0">
            <a:off x="419100" y="838200"/>
            <a:ext cx="2209800" cy="609600"/>
          </a:xfrm>
          <a:prstGeom prst="rect"/>
        </p:spPr>
        <p:txBody>
          <a:bodyPr wrap="none" lIns="0" tIns="0" rIns="0" bIns="0"/>
          <a:p>
            <a:pPr>
              <a:lnSpc>
                <a:spcPct val="114999"/>
              </a:lnSpc>
            </a:pPr>
            <a:r>
              <a:rPr lang="en-US" sz="3450" b="1">
                <a:solidFill>
                  <a:srgbClr val="FFFFFF"/>
                </a:solidFill>
                <a:latin typeface="Georgia"/>
                <a:ea typeface="Georgia"/>
              </a:rPr>
              <a:t>Contents</a:t>
            </a:r>
            <a:endParaRPr/>
          </a:p>
        </p:txBody>
      </p:sp>
      <p:sp>
        <p:nvSpPr>
          <p:cNvPr id="291" name="" descr="{&quot;isTemplate&quot;:true,&quot;type&quot;:&quot;text&quot;}"/>
          <p:cNvSpPr txBox="1"/>
          <p:nvPr/>
        </p:nvSpPr>
        <p:spPr>
          <a:xfrm rot="0" flipH="0" flipV="0">
            <a:off x="419100" y="1619250"/>
            <a:ext cx="2209800" cy="190500"/>
          </a:xfrm>
          <a:prstGeom prst="rect"/>
        </p:spPr>
        <p:txBody>
          <a:bodyPr wrap="none" lIns="0" tIns="0" rIns="0" bIns="0"/>
          <a:p>
            <a:pPr>
              <a:lnSpc>
                <a:spcPct val="100000"/>
              </a:lnSpc>
            </a:pPr>
            <a:r>
              <a:rPr lang="en-US" sz="1200" spc="75">
                <a:solidFill>
                  <a:srgbClr val="7FA2D6"/>
                </a:solidFill>
                <a:latin typeface="Microsoft YaHei"/>
                <a:ea typeface="Microsoft YaHei"/>
              </a:rPr>
              <a:t>WEEK 04 · ROADMAP</a:t>
            </a:r>
            <a:endParaRPr/>
          </a:p>
        </p:txBody>
      </p:sp>
      <p:sp>
        <p:nvSpPr>
          <p:cNvPr id="292" name="" descr="{&quot;isTemplate&quot;:true,&quot;type&quot;:&quot;text&quot;}"/>
          <p:cNvSpPr txBox="1"/>
          <p:nvPr/>
        </p:nvSpPr>
        <p:spPr>
          <a:xfrm rot="0" flipH="0" flipV="0">
            <a:off x="419100" y="5772150"/>
            <a:ext cx="2209800" cy="514350"/>
          </a:xfrm>
          <a:prstGeom prst="rect"/>
        </p:spPr>
        <p:txBody>
          <a:bodyPr wrap="none" lIns="0" tIns="0" rIns="0" bIns="0"/>
          <a:p>
            <a:pPr>
              <a:lnSpc>
                <a:spcPct val="150000"/>
              </a:lnSpc>
            </a:pPr>
            <a:r>
              <a:rPr lang="en-US" sz="1125">
                <a:solidFill>
                  <a:srgbClr val="5B84C4"/>
                </a:solidFill>
                <a:latin typeface="Microsoft YaHei"/>
                <a:ea typeface="Microsoft YaHei"/>
              </a:rPr>
              <a:t>Requirements</a:t>
            </a:r>
            <a:endParaRPr/>
          </a:p>
          <a:p>
            <a:pPr>
              <a:lnSpc>
                <a:spcPct val="150000"/>
              </a:lnSpc>
            </a:pPr>
            <a:r>
              <a:rPr lang="en-US" sz="1125">
                <a:solidFill>
                  <a:srgbClr val="5B84C4"/>
                </a:solidFill>
                <a:latin typeface="Microsoft YaHei"/>
                <a:ea typeface="Microsoft YaHei"/>
              </a:rPr>
              <a:t>&amp; Use Case Modeling</a:t>
            </a:r>
            <a:endParaRPr/>
          </a:p>
        </p:txBody>
      </p:sp>
      <p:sp>
        <p:nvSpPr>
          <p:cNvPr id="293" name=""/>
          <p:cNvSpPr/>
          <p:nvPr/>
        </p:nvSpPr>
        <p:spPr>
          <a:xfrm rot="0" flipH="0" flipV="0">
            <a:off x="3581400" y="4762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94" name=""/>
          <p:cNvSpPr/>
          <p:nvPr/>
        </p:nvSpPr>
        <p:spPr>
          <a:xfrm rot="0" flipH="0" flipV="0">
            <a:off x="3771900" y="609600"/>
            <a:ext cx="495300" cy="495300"/>
          </a:xfrm>
          <a:prstGeom prst="roundRect">
            <a:avLst>
              <a:gd name="adj" fmla="val 15385"/>
            </a:avLst>
          </a:prstGeom>
          <a:solidFill>
            <a:srgbClr val="1E4FA8"/>
          </a:solidFill>
          <a:ln/>
        </p:spPr>
        <p:txBody>
          <a:bodyPr/>
          <a:p/>
        </p:txBody>
      </p:sp>
      <p:sp>
        <p:nvSpPr>
          <p:cNvPr id="295" name="" descr="{&quot;isTemplate&quot;:true,&quot;type&quot;:&quot;text&quot;}"/>
          <p:cNvSpPr txBox="1"/>
          <p:nvPr/>
        </p:nvSpPr>
        <p:spPr>
          <a:xfrm rot="0" flipH="0" flipV="0">
            <a:off x="3905250" y="7334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01</a:t>
            </a:r>
            <a:endParaRPr/>
          </a:p>
        </p:txBody>
      </p:sp>
      <p:sp>
        <p:nvSpPr>
          <p:cNvPr id="296" name="" descr="{&quot;isTemplate&quot;:true,&quot;type&quot;:&quot;text&quot;}"/>
          <p:cNvSpPr txBox="1"/>
          <p:nvPr/>
        </p:nvSpPr>
        <p:spPr>
          <a:xfrm rot="0" flipH="0" flipV="0">
            <a:off x="4457700" y="7429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Requirements, Briefly</a:t>
            </a:r>
            <a:endParaRPr/>
          </a:p>
        </p:txBody>
      </p:sp>
      <p:sp>
        <p:nvSpPr>
          <p:cNvPr id="297" name="" descr="{&quot;isTemplate&quot;:true,&quot;type&quot;:&quot;text&quot;}"/>
          <p:cNvSpPr txBox="1"/>
          <p:nvPr/>
        </p:nvSpPr>
        <p:spPr>
          <a:xfrm rot="0" flipH="0" flipV="0">
            <a:off x="11249025" y="7429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03</a:t>
            </a:r>
            <a:endParaRPr/>
          </a:p>
        </p:txBody>
      </p:sp>
      <p:sp>
        <p:nvSpPr>
          <p:cNvPr id="298" name=""/>
          <p:cNvSpPr/>
          <p:nvPr/>
        </p:nvSpPr>
        <p:spPr>
          <a:xfrm rot="0" flipH="0" flipV="0">
            <a:off x="3581400" y="13811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99" name=""/>
          <p:cNvSpPr/>
          <p:nvPr/>
        </p:nvSpPr>
        <p:spPr>
          <a:xfrm rot="0" flipH="0" flipV="0">
            <a:off x="3771900" y="1514475"/>
            <a:ext cx="495300" cy="495300"/>
          </a:xfrm>
          <a:prstGeom prst="roundRect">
            <a:avLst>
              <a:gd name="adj" fmla="val 15385"/>
            </a:avLst>
          </a:prstGeom>
          <a:solidFill>
            <a:srgbClr val="1E4FA8"/>
          </a:solidFill>
          <a:ln/>
        </p:spPr>
        <p:txBody>
          <a:bodyPr/>
          <a:p/>
        </p:txBody>
      </p:sp>
      <p:sp>
        <p:nvSpPr>
          <p:cNvPr id="300" name="" descr="{&quot;isTemplate&quot;:true,&quot;type&quot;:&quot;text&quot;}"/>
          <p:cNvSpPr txBox="1"/>
          <p:nvPr/>
        </p:nvSpPr>
        <p:spPr>
          <a:xfrm rot="0" flipH="0" flipV="0">
            <a:off x="3905250" y="16383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02</a:t>
            </a:r>
            <a:endParaRPr/>
          </a:p>
        </p:txBody>
      </p:sp>
      <p:sp>
        <p:nvSpPr>
          <p:cNvPr id="301" name="" descr="{&quot;isTemplate&quot;:true,&quot;type&quot;:&quot;text&quot;}"/>
          <p:cNvSpPr txBox="1"/>
          <p:nvPr/>
        </p:nvSpPr>
        <p:spPr>
          <a:xfrm rot="0" flipH="0" flipV="0">
            <a:off x="4457700" y="16478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Actors &amp; Goals</a:t>
            </a:r>
            <a:endParaRPr/>
          </a:p>
        </p:txBody>
      </p:sp>
      <p:sp>
        <p:nvSpPr>
          <p:cNvPr id="302" name="" descr="{&quot;isTemplate&quot;:true,&quot;type&quot;:&quot;text&quot;}"/>
          <p:cNvSpPr txBox="1"/>
          <p:nvPr/>
        </p:nvSpPr>
        <p:spPr>
          <a:xfrm rot="0" flipH="0" flipV="0">
            <a:off x="11249025" y="16478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08</a:t>
            </a:r>
            <a:endParaRPr/>
          </a:p>
        </p:txBody>
      </p:sp>
      <p:sp>
        <p:nvSpPr>
          <p:cNvPr id="303" name=""/>
          <p:cNvSpPr/>
          <p:nvPr/>
        </p:nvSpPr>
        <p:spPr>
          <a:xfrm rot="0" flipH="0" flipV="0">
            <a:off x="3581400" y="228600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304" name=""/>
          <p:cNvSpPr/>
          <p:nvPr/>
        </p:nvSpPr>
        <p:spPr>
          <a:xfrm rot="0" flipH="0" flipV="0">
            <a:off x="3771900" y="2419350"/>
            <a:ext cx="495300" cy="495300"/>
          </a:xfrm>
          <a:prstGeom prst="roundRect">
            <a:avLst>
              <a:gd name="adj" fmla="val 15385"/>
            </a:avLst>
          </a:prstGeom>
          <a:solidFill>
            <a:srgbClr val="1E4FA8"/>
          </a:solidFill>
          <a:ln/>
        </p:spPr>
        <p:txBody>
          <a:bodyPr/>
          <a:p/>
        </p:txBody>
      </p:sp>
      <p:sp>
        <p:nvSpPr>
          <p:cNvPr id="305" name="" descr="{&quot;isTemplate&quot;:true,&quot;type&quot;:&quot;text&quot;}"/>
          <p:cNvSpPr txBox="1"/>
          <p:nvPr/>
        </p:nvSpPr>
        <p:spPr>
          <a:xfrm rot="0" flipH="0" flipV="0">
            <a:off x="3905250" y="254317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03</a:t>
            </a:r>
            <a:endParaRPr/>
          </a:p>
        </p:txBody>
      </p:sp>
      <p:sp>
        <p:nvSpPr>
          <p:cNvPr id="306" name="" descr="{&quot;isTemplate&quot;:true,&quot;type&quot;:&quot;text&quot;}"/>
          <p:cNvSpPr txBox="1"/>
          <p:nvPr/>
        </p:nvSpPr>
        <p:spPr>
          <a:xfrm rot="0" flipH="0" flipV="0">
            <a:off x="4457700" y="255270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The Use Case Diagram</a:t>
            </a:r>
            <a:endParaRPr/>
          </a:p>
        </p:txBody>
      </p:sp>
      <p:sp>
        <p:nvSpPr>
          <p:cNvPr id="307" name="" descr="{&quot;isTemplate&quot;:true,&quot;type&quot;:&quot;text&quot;}"/>
          <p:cNvSpPr txBox="1"/>
          <p:nvPr/>
        </p:nvSpPr>
        <p:spPr>
          <a:xfrm rot="0" flipH="0" flipV="0">
            <a:off x="11249025" y="255270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14</a:t>
            </a:r>
            <a:endParaRPr/>
          </a:p>
        </p:txBody>
      </p:sp>
      <p:sp>
        <p:nvSpPr>
          <p:cNvPr id="308" name=""/>
          <p:cNvSpPr/>
          <p:nvPr/>
        </p:nvSpPr>
        <p:spPr>
          <a:xfrm rot="0" flipH="0" flipV="0">
            <a:off x="3581400" y="319087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309" name=""/>
          <p:cNvSpPr/>
          <p:nvPr/>
        </p:nvSpPr>
        <p:spPr>
          <a:xfrm rot="0" flipH="0" flipV="0">
            <a:off x="3771900" y="3324225"/>
            <a:ext cx="495300" cy="495300"/>
          </a:xfrm>
          <a:prstGeom prst="roundRect">
            <a:avLst>
              <a:gd name="adj" fmla="val 15385"/>
            </a:avLst>
          </a:prstGeom>
          <a:solidFill>
            <a:srgbClr val="1E4FA8"/>
          </a:solidFill>
          <a:ln/>
        </p:spPr>
        <p:txBody>
          <a:bodyPr/>
          <a:p/>
        </p:txBody>
      </p:sp>
      <p:sp>
        <p:nvSpPr>
          <p:cNvPr id="310" name="" descr="{&quot;isTemplate&quot;:true,&quot;type&quot;:&quot;text&quot;}"/>
          <p:cNvSpPr txBox="1"/>
          <p:nvPr/>
        </p:nvSpPr>
        <p:spPr>
          <a:xfrm rot="0" flipH="0" flipV="0">
            <a:off x="3905250" y="344805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04</a:t>
            </a:r>
            <a:endParaRPr/>
          </a:p>
        </p:txBody>
      </p:sp>
      <p:sp>
        <p:nvSpPr>
          <p:cNvPr id="311" name="" descr="{&quot;isTemplate&quot;:true,&quot;type&quot;:&quot;text&quot;}"/>
          <p:cNvSpPr txBox="1"/>
          <p:nvPr/>
        </p:nvSpPr>
        <p:spPr>
          <a:xfrm rot="0" flipH="0" flipV="0">
            <a:off x="4457700" y="345757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Include vs. Extend</a:t>
            </a:r>
            <a:endParaRPr/>
          </a:p>
        </p:txBody>
      </p:sp>
      <p:sp>
        <p:nvSpPr>
          <p:cNvPr id="312" name="" descr="{&quot;isTemplate&quot;:true,&quot;type&quot;:&quot;text&quot;}"/>
          <p:cNvSpPr txBox="1"/>
          <p:nvPr/>
        </p:nvSpPr>
        <p:spPr>
          <a:xfrm rot="0" flipH="0" flipV="0">
            <a:off x="11249025" y="345757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20</a:t>
            </a:r>
            <a:endParaRPr/>
          </a:p>
        </p:txBody>
      </p:sp>
      <p:sp>
        <p:nvSpPr>
          <p:cNvPr id="313" name=""/>
          <p:cNvSpPr/>
          <p:nvPr/>
        </p:nvSpPr>
        <p:spPr>
          <a:xfrm rot="0" flipH="0" flipV="0">
            <a:off x="3581400" y="40957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314" name=""/>
          <p:cNvSpPr/>
          <p:nvPr/>
        </p:nvSpPr>
        <p:spPr>
          <a:xfrm rot="0" flipH="0" flipV="0">
            <a:off x="3771900" y="4229100"/>
            <a:ext cx="495300" cy="495300"/>
          </a:xfrm>
          <a:prstGeom prst="roundRect">
            <a:avLst>
              <a:gd name="adj" fmla="val 15385"/>
            </a:avLst>
          </a:prstGeom>
          <a:solidFill>
            <a:srgbClr val="1E4FA8"/>
          </a:solidFill>
          <a:ln/>
        </p:spPr>
        <p:txBody>
          <a:bodyPr/>
          <a:p/>
        </p:txBody>
      </p:sp>
      <p:sp>
        <p:nvSpPr>
          <p:cNvPr id="315" name="" descr="{&quot;isTemplate&quot;:true,&quot;type&quot;:&quot;text&quot;}"/>
          <p:cNvSpPr txBox="1"/>
          <p:nvPr/>
        </p:nvSpPr>
        <p:spPr>
          <a:xfrm rot="0" flipH="0" flipV="0">
            <a:off x="3905250" y="43529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05</a:t>
            </a:r>
            <a:endParaRPr/>
          </a:p>
        </p:txBody>
      </p:sp>
      <p:sp>
        <p:nvSpPr>
          <p:cNvPr id="316" name="" descr="{&quot;isTemplate&quot;:true,&quot;type&quot;:&quot;text&quot;}"/>
          <p:cNvSpPr txBox="1"/>
          <p:nvPr/>
        </p:nvSpPr>
        <p:spPr>
          <a:xfrm rot="0" flipH="0" flipV="0">
            <a:off x="4457700" y="43624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Finding Use Cases</a:t>
            </a:r>
            <a:endParaRPr/>
          </a:p>
        </p:txBody>
      </p:sp>
      <p:sp>
        <p:nvSpPr>
          <p:cNvPr id="317" name="" descr="{&quot;isTemplate&quot;:true,&quot;type&quot;:&quot;text&quot;}"/>
          <p:cNvSpPr txBox="1"/>
          <p:nvPr/>
        </p:nvSpPr>
        <p:spPr>
          <a:xfrm rot="0" flipH="0" flipV="0">
            <a:off x="11249025" y="43624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24</a:t>
            </a:r>
            <a:endParaRPr/>
          </a:p>
        </p:txBody>
      </p:sp>
      <p:sp>
        <p:nvSpPr>
          <p:cNvPr id="318" name=""/>
          <p:cNvSpPr/>
          <p:nvPr/>
        </p:nvSpPr>
        <p:spPr>
          <a:xfrm rot="0" flipH="0" flipV="0">
            <a:off x="3581400" y="50006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319" name=""/>
          <p:cNvSpPr/>
          <p:nvPr/>
        </p:nvSpPr>
        <p:spPr>
          <a:xfrm rot="0" flipH="0" flipV="0">
            <a:off x="3771900" y="5133975"/>
            <a:ext cx="495300" cy="495300"/>
          </a:xfrm>
          <a:prstGeom prst="roundRect">
            <a:avLst>
              <a:gd name="adj" fmla="val 15385"/>
            </a:avLst>
          </a:prstGeom>
          <a:solidFill>
            <a:srgbClr val="1E4FA8"/>
          </a:solidFill>
          <a:ln/>
        </p:spPr>
        <p:txBody>
          <a:bodyPr/>
          <a:p/>
        </p:txBody>
      </p:sp>
      <p:sp>
        <p:nvSpPr>
          <p:cNvPr id="320" name="" descr="{&quot;isTemplate&quot;:true,&quot;type&quot;:&quot;text&quot;}"/>
          <p:cNvSpPr txBox="1"/>
          <p:nvPr/>
        </p:nvSpPr>
        <p:spPr>
          <a:xfrm rot="0" flipH="0" flipV="0">
            <a:off x="3905250" y="52578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06</a:t>
            </a:r>
            <a:endParaRPr/>
          </a:p>
        </p:txBody>
      </p:sp>
      <p:sp>
        <p:nvSpPr>
          <p:cNvPr id="321" name="" descr="{&quot;isTemplate&quot;:true,&quot;type&quot;:&quot;text&quot;}"/>
          <p:cNvSpPr txBox="1"/>
          <p:nvPr/>
        </p:nvSpPr>
        <p:spPr>
          <a:xfrm rot="0" flipH="0" flipV="0">
            <a:off x="4457700" y="52673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Lab — Exercise 4.1, 4.2 &amp; M1</a:t>
            </a:r>
            <a:endParaRPr/>
          </a:p>
        </p:txBody>
      </p:sp>
      <p:sp>
        <p:nvSpPr>
          <p:cNvPr id="322" name="" descr="{&quot;isTemplate&quot;:true,&quot;type&quot;:&quot;text&quot;}"/>
          <p:cNvSpPr txBox="1"/>
          <p:nvPr/>
        </p:nvSpPr>
        <p:spPr>
          <a:xfrm rot="0" flipH="0" flipV="0">
            <a:off x="11249025" y="52673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30</a:t>
            </a:r>
            <a:endParaRPr/>
          </a:p>
        </p:txBody>
      </p:sp>
    </p:spTree>
  </p:cSld>
</p:sld>
</file>

<file path=ppt/slides/slide3.xml><?xml version="1.0" encoding="utf-8"?>
<p:sld xmlns:a="http://schemas.openxmlformats.org/drawingml/2006/main" xmlns:p="http://schemas.openxmlformats.org/presentationml/2006/main">
  <p:cSld>
    <p:spTree>
      <p:nvGrpSpPr>
        <p:cNvPr id="543" name=""/>
        <p:cNvGrpSpPr/>
        <p:nvPr/>
      </p:nvGrpSpPr>
      <p:grpSpPr>
        <a:xfrm>
          <a:off x="0" y="0"/>
          <a:ext cx="0" cy="0"/>
          <a:chOff x="0" y="0"/>
          <a:chExt cx="0" cy="0"/>
        </a:xfrm>
      </p:grpSpPr>
      <p:sp>
        <p:nvSpPr>
          <p:cNvPr id="544" name=""/>
          <p:cNvSpPr/>
          <p:nvPr/>
        </p:nvSpPr>
        <p:spPr>
          <a:xfrm rot="0" flipH="0" flipV="0">
            <a:off x="0" y="0"/>
            <a:ext cx="12192000" cy="6858000"/>
          </a:xfrm>
          <a:prstGeom prst="rect">
            <a:avLst/>
          </a:prstGeom>
          <a:solidFill>
            <a:srgbClr val="0E3F8C"/>
          </a:solidFill>
          <a:ln/>
        </p:spPr>
        <p:txBody>
          <a:bodyPr/>
          <a:p>
            <a:pPr/>
            <a:endParaRPr/>
          </a:p>
        </p:txBody>
      </p:sp>
      <p:sp>
        <p:nvSpPr>
          <p:cNvPr id="54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546" name="" descr="{&quot;isTemplate&quot;:true,&quot;type&quot;:&quot;text&quot;}"/>
          <p:cNvSpPr txBox="1"/>
          <p:nvPr/>
        </p:nvSpPr>
        <p:spPr>
          <a:xfrm rot="0" flipH="0" flipV="0">
            <a:off x="171450" y="2171700"/>
            <a:ext cx="2505075" cy="2514600"/>
          </a:xfrm>
          <a:prstGeom prst="rect"/>
        </p:spPr>
        <p:txBody>
          <a:bodyPr wrap="none" lIns="0" tIns="0" rIns="0" bIns="0"/>
          <a:p>
            <a:pPr>
              <a:lnSpc>
                <a:spcPct val="100000"/>
              </a:lnSpc>
            </a:pPr>
            <a:r>
              <a:rPr lang="en-US" sz="16500" b="1">
                <a:solidFill>
                  <a:srgbClr val="3D7BD9"/>
                </a:solidFill>
                <a:latin typeface="Georgia"/>
                <a:ea typeface="Georgia"/>
              </a:rPr>
              <a:t>01</a:t>
            </a:r>
            <a:endParaRPr/>
          </a:p>
        </p:txBody>
      </p:sp>
      <p:sp>
        <p:nvSpPr>
          <p:cNvPr id="54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54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Requirements,</a:t>
            </a:r>
            <a:endParaRPr/>
          </a:p>
          <a:p>
            <a:pPr>
              <a:lnSpc>
                <a:spcPct val="118000"/>
              </a:lnSpc>
            </a:pPr>
            <a:r>
              <a:rPr lang="en-US" sz="3450" b="1">
                <a:solidFill>
                  <a:srgbClr val="FFFFFF"/>
                </a:solidFill>
                <a:latin typeface="Microsoft YaHei"/>
                <a:ea typeface="Microsoft YaHei"/>
              </a:rPr>
              <a:t>Briefly</a:t>
            </a:r>
            <a:endParaRPr/>
          </a:p>
        </p:txBody>
      </p:sp>
      <p:sp>
        <p:nvSpPr>
          <p:cNvPr id="549" name=""/>
          <p:cNvSpPr/>
          <p:nvPr/>
        </p:nvSpPr>
        <p:spPr>
          <a:xfrm rot="0" flipH="0" flipV="0">
            <a:off x="3467100" y="3752850"/>
            <a:ext cx="609600" cy="38100"/>
          </a:xfrm>
          <a:prstGeom prst="rect">
            <a:avLst/>
          </a:prstGeom>
          <a:solidFill>
            <a:srgbClr val="FFC107"/>
          </a:solidFill>
          <a:ln/>
        </p:spPr>
        <p:txBody>
          <a:bodyPr/>
          <a:p>
            <a:pPr/>
            <a:endParaRPr/>
          </a:p>
        </p:txBody>
      </p:sp>
      <p:sp>
        <p:nvSpPr>
          <p:cNvPr id="550" name=""/>
          <p:cNvSpPr/>
          <p:nvPr/>
        </p:nvSpPr>
        <p:spPr>
          <a:xfrm rot="0" flipH="0" flipV="0">
            <a:off x="3467100" y="4114800"/>
            <a:ext cx="76200" cy="76200"/>
          </a:xfrm>
          <a:prstGeom prst="roundRect">
            <a:avLst>
              <a:gd name="adj" fmla="val 50000"/>
            </a:avLst>
          </a:prstGeom>
          <a:solidFill>
            <a:srgbClr val="3D7BD9"/>
          </a:solidFill>
          <a:ln/>
        </p:spPr>
        <p:txBody>
          <a:bodyPr/>
          <a:p>
            <a:pPr/>
            <a:endParaRPr/>
          </a:p>
        </p:txBody>
      </p:sp>
      <p:sp>
        <p:nvSpPr>
          <p:cNvPr id="551" name="" descr="{&quot;isTemplate&quot;:true,&quot;type&quot;:&quot;text&quot;}"/>
          <p:cNvSpPr txBox="1"/>
          <p:nvPr/>
        </p:nvSpPr>
        <p:spPr>
          <a:xfrm rot="0" flipH="0" flipV="0">
            <a:off x="3657600" y="4038600"/>
            <a:ext cx="3095625" cy="228600"/>
          </a:xfrm>
          <a:prstGeom prst="rect"/>
        </p:spPr>
        <p:txBody>
          <a:bodyPr wrap="none" lIns="0" tIns="0" rIns="0" bIns="0"/>
          <a:p>
            <a:pPr>
              <a:lnSpc>
                <a:spcPct val="100000"/>
              </a:lnSpc>
            </a:pPr>
            <a:r>
              <a:rPr lang="en-US" sz="1500">
                <a:solidFill>
                  <a:srgbClr val="C5D4EA"/>
                </a:solidFill>
                <a:latin typeface="Microsoft YaHei"/>
                <a:ea typeface="Microsoft YaHei"/>
              </a:rPr>
              <a:t>The requirements pack arrives today</a:t>
            </a:r>
            <a:endParaRPr/>
          </a:p>
        </p:txBody>
      </p:sp>
      <p:sp>
        <p:nvSpPr>
          <p:cNvPr id="552" name=""/>
          <p:cNvSpPr/>
          <p:nvPr/>
        </p:nvSpPr>
        <p:spPr>
          <a:xfrm rot="0" flipH="0" flipV="0">
            <a:off x="3467100" y="4457700"/>
            <a:ext cx="76200" cy="76200"/>
          </a:xfrm>
          <a:prstGeom prst="roundRect">
            <a:avLst>
              <a:gd name="adj" fmla="val 50000"/>
            </a:avLst>
          </a:prstGeom>
          <a:solidFill>
            <a:srgbClr val="3D7BD9"/>
          </a:solidFill>
          <a:ln/>
        </p:spPr>
        <p:txBody>
          <a:bodyPr/>
          <a:p>
            <a:pPr/>
            <a:endParaRPr/>
          </a:p>
        </p:txBody>
      </p:sp>
      <p:sp>
        <p:nvSpPr>
          <p:cNvPr id="553" name="" descr="{&quot;isTemplate&quot;:true,&quot;type&quot;:&quot;text&quot;}"/>
          <p:cNvSpPr txBox="1"/>
          <p:nvPr/>
        </p:nvSpPr>
        <p:spPr>
          <a:xfrm rot="0" flipH="0" flipV="0">
            <a:off x="3657600" y="4381500"/>
            <a:ext cx="4314825" cy="228600"/>
          </a:xfrm>
          <a:prstGeom prst="rect"/>
        </p:spPr>
        <p:txBody>
          <a:bodyPr wrap="none" lIns="0" tIns="0" rIns="0" bIns="0"/>
          <a:p>
            <a:pPr>
              <a:lnSpc>
                <a:spcPct val="100000"/>
              </a:lnSpc>
            </a:pPr>
            <a:r>
              <a:rPr lang="en-US" sz="1500">
                <a:solidFill>
                  <a:srgbClr val="C5D4EA"/>
                </a:solidFill>
                <a:latin typeface="Microsoft YaHei"/>
                <a:ea typeface="Microsoft YaHei"/>
              </a:rPr>
              <a:t>Functional says what, non-functional says how well</a:t>
            </a:r>
            <a:endParaRPr/>
          </a:p>
        </p:txBody>
      </p:sp>
      <p:sp>
        <p:nvSpPr>
          <p:cNvPr id="554" name=""/>
          <p:cNvSpPr/>
          <p:nvPr/>
        </p:nvSpPr>
        <p:spPr>
          <a:xfrm rot="0" flipH="0" flipV="0">
            <a:off x="3467100" y="4800600"/>
            <a:ext cx="76200" cy="76200"/>
          </a:xfrm>
          <a:prstGeom prst="roundRect">
            <a:avLst>
              <a:gd name="adj" fmla="val 50000"/>
            </a:avLst>
          </a:prstGeom>
          <a:solidFill>
            <a:srgbClr val="3D7BD9"/>
          </a:solidFill>
          <a:ln/>
        </p:spPr>
        <p:txBody>
          <a:bodyPr/>
          <a:p>
            <a:pPr/>
            <a:endParaRPr/>
          </a:p>
        </p:txBody>
      </p:sp>
      <p:sp>
        <p:nvSpPr>
          <p:cNvPr id="555" name="" descr="{&quot;isTemplate&quot;:true,&quot;type&quot;:&quot;text&quot;}"/>
          <p:cNvSpPr txBox="1"/>
          <p:nvPr/>
        </p:nvSpPr>
        <p:spPr>
          <a:xfrm rot="0" flipH="0" flipV="0">
            <a:off x="3657600" y="4724400"/>
            <a:ext cx="4286250" cy="228600"/>
          </a:xfrm>
          <a:prstGeom prst="rect"/>
        </p:spPr>
        <p:txBody>
          <a:bodyPr wrap="none" lIns="0" tIns="0" rIns="0" bIns="0"/>
          <a:p>
            <a:pPr>
              <a:lnSpc>
                <a:spcPct val="100000"/>
              </a:lnSpc>
            </a:pPr>
            <a:r>
              <a:rPr lang="en-US" sz="1500">
                <a:solidFill>
                  <a:srgbClr val="C5D4EA"/>
                </a:solidFill>
                <a:latin typeface="Microsoft YaHei"/>
                <a:ea typeface="Microsoft YaHei"/>
              </a:rPr>
              <a:t>A requirement you cannot test is not a requirement</a:t>
            </a:r>
            <a:endParaRPr/>
          </a:p>
        </p:txBody>
      </p:sp>
      <p:sp>
        <p:nvSpPr>
          <p:cNvPr id="556"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4.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748" name=""/>
        <p:cNvGrpSpPr/>
        <p:nvPr/>
      </p:nvGrpSpPr>
      <p:grpSpPr>
        <a:xfrm>
          <a:off x="0" y="0"/>
          <a:ext cx="0" cy="0"/>
          <a:chOff x="0" y="0"/>
          <a:chExt cx="0" cy="0"/>
        </a:xfrm>
      </p:grpSpPr>
      <p:sp>
        <p:nvSpPr>
          <p:cNvPr id="749" name=""/>
          <p:cNvSpPr/>
          <p:nvPr/>
        </p:nvSpPr>
        <p:spPr>
          <a:xfrm rot="0" flipH="0" flipV="0">
            <a:off x="0" y="0"/>
            <a:ext cx="12192000" cy="6858000"/>
          </a:xfrm>
          <a:prstGeom prst="rect">
            <a:avLst/>
          </a:prstGeom>
          <a:solidFill>
            <a:srgbClr val="FFFFFF"/>
          </a:solidFill>
          <a:ln/>
        </p:spPr>
        <p:txBody>
          <a:bodyPr/>
          <a:p>
            <a:pPr/>
            <a:endParaRPr/>
          </a:p>
        </p:txBody>
      </p:sp>
      <p:sp>
        <p:nvSpPr>
          <p:cNvPr id="750" name=""/>
          <p:cNvSpPr/>
          <p:nvPr/>
        </p:nvSpPr>
        <p:spPr>
          <a:xfrm rot="0" flipH="0" flipV="0">
            <a:off x="0" y="0"/>
            <a:ext cx="12192000" cy="685800"/>
          </a:xfrm>
          <a:prstGeom prst="rect">
            <a:avLst/>
          </a:prstGeom>
          <a:solidFill>
            <a:srgbClr val="1E4FA8"/>
          </a:solidFill>
          <a:ln/>
        </p:spPr>
        <p:txBody>
          <a:bodyPr/>
          <a:p>
            <a:pPr/>
            <a:endParaRPr/>
          </a:p>
        </p:txBody>
      </p:sp>
      <p:sp>
        <p:nvSpPr>
          <p:cNvPr id="751"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752" name="" descr="{&quot;isTemplate&quot;:true,&quot;type&quot;:&quot;text&quot;}"/>
          <p:cNvSpPr txBox="1"/>
          <p:nvPr/>
        </p:nvSpPr>
        <p:spPr>
          <a:xfrm rot="0" flipH="0" flipV="0">
            <a:off x="10229850" y="257175"/>
            <a:ext cx="1581150" cy="171450"/>
          </a:xfrm>
          <a:prstGeom prst="rect"/>
        </p:spPr>
        <p:txBody>
          <a:bodyPr wrap="none" lIns="0" tIns="0" rIns="0" bIns="0"/>
          <a:p>
            <a:pPr>
              <a:lnSpc>
                <a:spcPct val="100000"/>
              </a:lnSpc>
            </a:pPr>
            <a:r>
              <a:rPr lang="en-US" sz="1125">
                <a:solidFill>
                  <a:srgbClr val="B9CDF0"/>
                </a:solidFill>
                <a:latin typeface="Microsoft YaHei"/>
                <a:ea typeface="Microsoft YaHei"/>
              </a:rPr>
              <a:t>W04 · REQUIREMENTS</a:t>
            </a:r>
            <a:endParaRPr/>
          </a:p>
        </p:txBody>
      </p:sp>
      <p:sp>
        <p:nvSpPr>
          <p:cNvPr id="753" name="" descr="{&quot;isTemplate&quot;:true,&quot;type&quot;:&quot;text&quot;}"/>
          <p:cNvSpPr txBox="1"/>
          <p:nvPr/>
        </p:nvSpPr>
        <p:spPr>
          <a:xfrm rot="0" flipH="0" flipV="0">
            <a:off x="381000" y="819150"/>
            <a:ext cx="4305300" cy="342900"/>
          </a:xfrm>
          <a:prstGeom prst="rect"/>
        </p:spPr>
        <p:txBody>
          <a:bodyPr wrap="none" lIns="0" tIns="0" rIns="0" bIns="0"/>
          <a:p>
            <a:pPr>
              <a:lnSpc>
                <a:spcPct val="100000"/>
              </a:lnSpc>
            </a:pPr>
            <a:r>
              <a:rPr lang="en-US" sz="2250" b="1">
                <a:solidFill>
                  <a:srgbClr val="0E3F8C"/>
                </a:solidFill>
                <a:latin typeface="Microsoft YaHei"/>
                <a:ea typeface="Microsoft YaHei"/>
              </a:rPr>
              <a:t>The Requirements Pack Arrives</a:t>
            </a:r>
            <a:endParaRPr/>
          </a:p>
        </p:txBody>
      </p:sp>
      <p:sp>
        <p:nvSpPr>
          <p:cNvPr id="754" name="" descr="{&quot;isTemplate&quot;:true,&quot;type&quot;:&quot;text&quot;}"/>
          <p:cNvSpPr txBox="1"/>
          <p:nvPr/>
        </p:nvSpPr>
        <p:spPr>
          <a:xfrm rot="0" flipH="0" flipV="0">
            <a:off x="11401425" y="91440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04 / 38</a:t>
            </a:r>
            <a:endParaRPr/>
          </a:p>
        </p:txBody>
      </p:sp>
      <p:sp>
        <p:nvSpPr>
          <p:cNvPr id="755" name="" descr="{&quot;isTemplate&quot;:true,&quot;type&quot;:&quot;text&quot;}"/>
          <p:cNvSpPr txBox="1"/>
          <p:nvPr/>
        </p:nvSpPr>
        <p:spPr>
          <a:xfrm rot="0" flipH="0" flipV="0">
            <a:off x="381000" y="1257300"/>
            <a:ext cx="6705600" cy="190500"/>
          </a:xfrm>
          <a:prstGeom prst="rect"/>
        </p:spPr>
        <p:txBody>
          <a:bodyPr wrap="none" lIns="0" tIns="0" rIns="0" bIns="0"/>
          <a:p>
            <a:pPr>
              <a:lnSpc>
                <a:spcPct val="100000"/>
              </a:lnSpc>
            </a:pPr>
            <a:r>
              <a:rPr lang="en-US" sz="1200" b="1">
                <a:solidFill>
                  <a:srgbClr val="0E3F8C"/>
                </a:solidFill>
                <a:latin typeface="Microsoft YaHei"/>
                <a:ea typeface="Microsoft YaHei"/>
              </a:rPr>
              <a:t>What is in the pack</a:t>
            </a:r>
            <a:endParaRPr/>
          </a:p>
        </p:txBody>
      </p:sp>
      <p:sp>
        <p:nvSpPr>
          <p:cNvPr id="756" name=""/>
          <p:cNvSpPr/>
          <p:nvPr/>
        </p:nvSpPr>
        <p:spPr>
          <a:xfrm rot="0" flipH="0" flipV="0">
            <a:off x="409575" y="1562100"/>
            <a:ext cx="6705600" cy="609600"/>
          </a:xfrm>
          <a:prstGeom prst="roundRect">
            <a:avLst>
              <a:gd name="adj" fmla="val 14063"/>
            </a:avLst>
          </a:prstGeom>
          <a:solidFill>
            <a:srgbClr val="F7F9FC"/>
          </a:solidFill>
          <a:ln/>
        </p:spPr>
        <p:txBody>
          <a:bodyPr/>
          <a:p>
            <a:pPr/>
            <a:endParaRPr/>
          </a:p>
        </p:txBody>
      </p:sp>
      <p:sp>
        <p:nvSpPr>
          <p:cNvPr id="757" name=""/>
          <p:cNvSpPr/>
          <p:nvPr/>
        </p:nvSpPr>
        <p:spPr>
          <a:xfrm rot="0" flipH="0" flipV="0">
            <a:off x="409575" y="1562100"/>
            <a:ext cx="6705600" cy="609600"/>
          </a:xfrm>
          <a:custGeom>
            <a:pathLst>
              <a:path w="704" h="64">
                <a:moveTo>
                  <a:pt x="8" y="0"/>
                </a:moveTo>
                <a:cubicBezTo>
                  <a:pt x="5" y="0"/>
                  <a:pt x="3" y="3"/>
                  <a:pt x="3" y="6"/>
                </a:cubicBezTo>
                <a:lnTo>
                  <a:pt x="3" y="58"/>
                </a:lnTo>
                <a:cubicBezTo>
                  <a:pt x="3" y="61"/>
                  <a:pt x="5" y="63"/>
                  <a:pt x="8" y="64"/>
                </a:cubicBezTo>
                <a:cubicBezTo>
                  <a:pt x="3" y="63"/>
                  <a:pt x="0" y="59"/>
                  <a:pt x="0" y="55"/>
                </a:cubicBezTo>
                <a:lnTo>
                  <a:pt x="0" y="9"/>
                </a:lnTo>
                <a:cubicBezTo>
                  <a:pt x="0" y="4"/>
                  <a:pt x="4" y="0"/>
                  <a:pt x="9" y="0"/>
                </a:cubicBezTo>
                <a:close/>
              </a:path>
            </a:pathLst>
          </a:custGeom>
          <a:solidFill>
            <a:srgbClr val="1E4FA8"/>
          </a:solidFill>
          <a:ln/>
        </p:spPr>
        <p:txBody>
          <a:bodyPr/>
          <a:p>
            <a:pPr/>
            <a:endParaRPr/>
          </a:p>
        </p:txBody>
      </p:sp>
      <p:sp>
        <p:nvSpPr>
          <p:cNvPr id="758" name=""/>
          <p:cNvSpPr/>
          <p:nvPr/>
        </p:nvSpPr>
        <p:spPr>
          <a:xfrm rot="0" flipH="0" flipV="0">
            <a:off x="542925" y="1666875"/>
            <a:ext cx="304800" cy="304800"/>
          </a:xfrm>
          <a:prstGeom prst="roundRect">
            <a:avLst>
              <a:gd name="adj" fmla="val 25000"/>
            </a:avLst>
          </a:prstGeom>
          <a:solidFill>
            <a:srgbClr val="E8EFF8"/>
          </a:solidFill>
          <a:ln/>
        </p:spPr>
        <p:txBody>
          <a:bodyPr/>
          <a:p>
            <a:pPr/>
            <a:endParaRPr/>
          </a:p>
        </p:txBody>
      </p:sp>
      <p:pic>
        <p:nvPicPr>
          <p:cNvPr id="759" name=""/>
          <p:cNvPicPr>
            <a:picLocks noChangeAspect="1"/>
          </p:cNvPicPr>
          <p:nvPr/>
        </p:nvPicPr>
        <p:blipFill>
          <a:blip>
            <a:extLst>
              <a:ext uri="{96DAC541-7B7A-43D3-8B79-37D633B846F1}">
                <asvg:svgBlip r:embed="rId1"/>
              </a:ext>
            </a:extLst>
          </a:blip>
          <a:stretch>
            <a:fillRect/>
          </a:stretch>
        </p:blipFill>
        <p:spPr>
          <a:xfrm rot="0" flipH="0" flipV="0">
            <a:off x="628650" y="1752600"/>
            <a:ext cx="142875" cy="142875"/>
          </a:xfrm>
          <a:prstGeom prst="rect">
            <a:avLst/>
          </a:prstGeom>
          <a:ln/>
        </p:spPr>
      </p:pic>
      <p:sp>
        <p:nvSpPr>
          <p:cNvPr id="760" name="" descr="{&quot;isTemplate&quot;:true,&quot;type&quot;:&quot;text&quot;}"/>
          <p:cNvSpPr txBox="1"/>
          <p:nvPr/>
        </p:nvSpPr>
        <p:spPr>
          <a:xfrm rot="0" flipH="0" flipV="0">
            <a:off x="962025" y="1666875"/>
            <a:ext cx="5991225" cy="171450"/>
          </a:xfrm>
          <a:prstGeom prst="rect"/>
        </p:spPr>
        <p:txBody>
          <a:bodyPr wrap="none" lIns="0" tIns="0" rIns="0" bIns="0"/>
          <a:p>
            <a:pPr>
              <a:lnSpc>
                <a:spcPct val="100000"/>
              </a:lnSpc>
            </a:pPr>
            <a:r>
              <a:rPr lang="en-US" sz="1125" b="1">
                <a:solidFill>
                  <a:srgbClr val="0E3F8C"/>
                </a:solidFill>
                <a:latin typeface="Microsoft YaHei"/>
                <a:ea typeface="Microsoft YaHei"/>
              </a:rPr>
              <a:t>Vision</a:t>
            </a:r>
            <a:endParaRPr/>
          </a:p>
        </p:txBody>
      </p:sp>
      <p:sp>
        <p:nvSpPr>
          <p:cNvPr id="761" name="" descr="{&quot;isTemplate&quot;:true,&quot;type&quot;:&quot;text&quot;}"/>
          <p:cNvSpPr txBox="1"/>
          <p:nvPr/>
        </p:nvSpPr>
        <p:spPr>
          <a:xfrm rot="0" flipH="0" flipV="0">
            <a:off x="962025" y="1857375"/>
            <a:ext cx="5991225" cy="209550"/>
          </a:xfrm>
          <a:prstGeom prst="rect"/>
        </p:spPr>
        <p:txBody>
          <a:bodyPr wrap="none" lIns="0" tIns="0" rIns="0" bIns="0"/>
          <a:p>
            <a:pPr>
              <a:lnSpc>
                <a:spcPct val="145000"/>
              </a:lnSpc>
            </a:pPr>
            <a:r>
              <a:rPr lang="en-US" sz="938">
                <a:solidFill>
                  <a:srgbClr val="4A5568"/>
                </a:solidFill>
                <a:latin typeface="Microsoft YaHei"/>
                <a:ea typeface="Microsoft YaHei"/>
              </a:rPr>
              <a:t>One paragraph: who this is for, what problem it solves, and why it is worth building.</a:t>
            </a:r>
            <a:endParaRPr/>
          </a:p>
        </p:txBody>
      </p:sp>
      <p:sp>
        <p:nvSpPr>
          <p:cNvPr id="762" name=""/>
          <p:cNvSpPr/>
          <p:nvPr/>
        </p:nvSpPr>
        <p:spPr>
          <a:xfrm rot="0" flipH="0" flipV="0">
            <a:off x="409575" y="2266950"/>
            <a:ext cx="6705600" cy="609600"/>
          </a:xfrm>
          <a:prstGeom prst="roundRect">
            <a:avLst>
              <a:gd name="adj" fmla="val 14063"/>
            </a:avLst>
          </a:prstGeom>
          <a:solidFill>
            <a:srgbClr val="F7F9FC"/>
          </a:solidFill>
          <a:ln/>
        </p:spPr>
        <p:txBody>
          <a:bodyPr/>
          <a:p>
            <a:pPr/>
            <a:endParaRPr/>
          </a:p>
        </p:txBody>
      </p:sp>
      <p:sp>
        <p:nvSpPr>
          <p:cNvPr id="763" name=""/>
          <p:cNvSpPr/>
          <p:nvPr/>
        </p:nvSpPr>
        <p:spPr>
          <a:xfrm rot="0" flipH="0" flipV="0">
            <a:off x="409575" y="2266950"/>
            <a:ext cx="6705600" cy="609600"/>
          </a:xfrm>
          <a:custGeom>
            <a:pathLst>
              <a:path w="704" h="64">
                <a:moveTo>
                  <a:pt x="8" y="0"/>
                </a:moveTo>
                <a:cubicBezTo>
                  <a:pt x="5" y="0"/>
                  <a:pt x="3" y="3"/>
                  <a:pt x="3" y="6"/>
                </a:cubicBezTo>
                <a:lnTo>
                  <a:pt x="3" y="58"/>
                </a:lnTo>
                <a:cubicBezTo>
                  <a:pt x="3" y="61"/>
                  <a:pt x="5" y="63"/>
                  <a:pt x="8" y="64"/>
                </a:cubicBezTo>
                <a:cubicBezTo>
                  <a:pt x="3" y="63"/>
                  <a:pt x="0" y="59"/>
                  <a:pt x="0" y="55"/>
                </a:cubicBezTo>
                <a:lnTo>
                  <a:pt x="0" y="9"/>
                </a:lnTo>
                <a:cubicBezTo>
                  <a:pt x="0" y="4"/>
                  <a:pt x="4" y="0"/>
                  <a:pt x="9" y="0"/>
                </a:cubicBezTo>
                <a:close/>
              </a:path>
            </a:pathLst>
          </a:custGeom>
          <a:solidFill>
            <a:srgbClr val="1E4FA8"/>
          </a:solidFill>
          <a:ln/>
        </p:spPr>
        <p:txBody>
          <a:bodyPr/>
          <a:p>
            <a:pPr/>
            <a:endParaRPr/>
          </a:p>
        </p:txBody>
      </p:sp>
      <p:sp>
        <p:nvSpPr>
          <p:cNvPr id="764" name=""/>
          <p:cNvSpPr/>
          <p:nvPr/>
        </p:nvSpPr>
        <p:spPr>
          <a:xfrm rot="0" flipH="0" flipV="0">
            <a:off x="542925" y="2371725"/>
            <a:ext cx="304800" cy="304800"/>
          </a:xfrm>
          <a:prstGeom prst="roundRect">
            <a:avLst>
              <a:gd name="adj" fmla="val 25000"/>
            </a:avLst>
          </a:prstGeom>
          <a:solidFill>
            <a:srgbClr val="E8EFF8"/>
          </a:solidFill>
          <a:ln/>
        </p:spPr>
        <p:txBody>
          <a:bodyPr/>
          <a:p>
            <a:pPr/>
            <a:endParaRPr/>
          </a:p>
        </p:txBody>
      </p:sp>
      <p:pic>
        <p:nvPicPr>
          <p:cNvPr id="765" name=""/>
          <p:cNvPicPr>
            <a:picLocks noChangeAspect="1"/>
          </p:cNvPicPr>
          <p:nvPr/>
        </p:nvPicPr>
        <p:blipFill>
          <a:blip>
            <a:extLst>
              <a:ext uri="{96DAC541-7B7A-43D3-8B79-37D633B846F1}">
                <asvg:svgBlip r:embed="rId2"/>
              </a:ext>
            </a:extLst>
          </a:blip>
          <a:stretch>
            <a:fillRect/>
          </a:stretch>
        </p:blipFill>
        <p:spPr>
          <a:xfrm rot="0" flipH="0" flipV="0">
            <a:off x="628650" y="2457450"/>
            <a:ext cx="142875" cy="142875"/>
          </a:xfrm>
          <a:prstGeom prst="rect">
            <a:avLst/>
          </a:prstGeom>
          <a:ln/>
        </p:spPr>
      </p:pic>
      <p:sp>
        <p:nvSpPr>
          <p:cNvPr id="766" name="" descr="{&quot;isTemplate&quot;:true,&quot;type&quot;:&quot;text&quot;}"/>
          <p:cNvSpPr txBox="1"/>
          <p:nvPr/>
        </p:nvSpPr>
        <p:spPr>
          <a:xfrm rot="0" flipH="0" flipV="0">
            <a:off x="962025" y="2371725"/>
            <a:ext cx="5991225" cy="171450"/>
          </a:xfrm>
          <a:prstGeom prst="rect"/>
        </p:spPr>
        <p:txBody>
          <a:bodyPr wrap="none" lIns="0" tIns="0" rIns="0" bIns="0"/>
          <a:p>
            <a:pPr>
              <a:lnSpc>
                <a:spcPct val="100000"/>
              </a:lnSpc>
            </a:pPr>
            <a:r>
              <a:rPr lang="en-US" sz="1125" b="1">
                <a:solidFill>
                  <a:srgbClr val="0E3F8C"/>
                </a:solidFill>
                <a:latin typeface="Microsoft YaHei"/>
                <a:ea typeface="Microsoft YaHei"/>
              </a:rPr>
              <a:t>Stakeholder list</a:t>
            </a:r>
            <a:endParaRPr/>
          </a:p>
        </p:txBody>
      </p:sp>
      <p:sp>
        <p:nvSpPr>
          <p:cNvPr id="767" name="" descr="{&quot;isTemplate&quot;:true,&quot;type&quot;:&quot;text&quot;}"/>
          <p:cNvSpPr txBox="1"/>
          <p:nvPr/>
        </p:nvSpPr>
        <p:spPr>
          <a:xfrm rot="0" flipH="0" flipV="0">
            <a:off x="962025" y="2562225"/>
            <a:ext cx="5991225" cy="209550"/>
          </a:xfrm>
          <a:prstGeom prst="rect"/>
        </p:spPr>
        <p:txBody>
          <a:bodyPr wrap="none" lIns="0" tIns="0" rIns="0" bIns="0"/>
          <a:p>
            <a:pPr>
              <a:lnSpc>
                <a:spcPct val="145000"/>
              </a:lnSpc>
            </a:pPr>
            <a:r>
              <a:rPr lang="en-US" sz="938">
                <a:solidFill>
                  <a:srgbClr val="4A5568"/>
                </a:solidFill>
                <a:latin typeface="Microsoft YaHei"/>
                <a:ea typeface="Microsoft YaHei"/>
              </a:rPr>
              <a:t>Six kinds of people and systems with a stake in CampusBites — you met them in Week 01.</a:t>
            </a:r>
            <a:endParaRPr/>
          </a:p>
        </p:txBody>
      </p:sp>
      <p:sp>
        <p:nvSpPr>
          <p:cNvPr id="768" name=""/>
          <p:cNvSpPr/>
          <p:nvPr/>
        </p:nvSpPr>
        <p:spPr>
          <a:xfrm rot="0" flipH="0" flipV="0">
            <a:off x="409575" y="2971800"/>
            <a:ext cx="6705600" cy="609600"/>
          </a:xfrm>
          <a:prstGeom prst="roundRect">
            <a:avLst>
              <a:gd name="adj" fmla="val 14063"/>
            </a:avLst>
          </a:prstGeom>
          <a:solidFill>
            <a:srgbClr val="F7F9FC"/>
          </a:solidFill>
          <a:ln/>
        </p:spPr>
        <p:txBody>
          <a:bodyPr/>
          <a:p>
            <a:pPr/>
            <a:endParaRPr/>
          </a:p>
        </p:txBody>
      </p:sp>
      <p:sp>
        <p:nvSpPr>
          <p:cNvPr id="769" name=""/>
          <p:cNvSpPr/>
          <p:nvPr/>
        </p:nvSpPr>
        <p:spPr>
          <a:xfrm rot="0" flipH="0" flipV="0">
            <a:off x="409575" y="2971800"/>
            <a:ext cx="6705600" cy="609600"/>
          </a:xfrm>
          <a:custGeom>
            <a:pathLst>
              <a:path w="704" h="64">
                <a:moveTo>
                  <a:pt x="8" y="0"/>
                </a:moveTo>
                <a:cubicBezTo>
                  <a:pt x="5" y="0"/>
                  <a:pt x="3" y="3"/>
                  <a:pt x="3" y="6"/>
                </a:cubicBezTo>
                <a:lnTo>
                  <a:pt x="3" y="58"/>
                </a:lnTo>
                <a:cubicBezTo>
                  <a:pt x="3" y="61"/>
                  <a:pt x="5" y="63"/>
                  <a:pt x="8" y="64"/>
                </a:cubicBezTo>
                <a:cubicBezTo>
                  <a:pt x="3" y="63"/>
                  <a:pt x="0" y="59"/>
                  <a:pt x="0" y="55"/>
                </a:cubicBezTo>
                <a:lnTo>
                  <a:pt x="0" y="9"/>
                </a:lnTo>
                <a:cubicBezTo>
                  <a:pt x="0" y="4"/>
                  <a:pt x="4" y="0"/>
                  <a:pt x="9" y="0"/>
                </a:cubicBezTo>
                <a:close/>
              </a:path>
            </a:pathLst>
          </a:custGeom>
          <a:solidFill>
            <a:srgbClr val="1E4FA8"/>
          </a:solidFill>
          <a:ln/>
        </p:spPr>
        <p:txBody>
          <a:bodyPr/>
          <a:p>
            <a:pPr/>
            <a:endParaRPr/>
          </a:p>
        </p:txBody>
      </p:sp>
      <p:sp>
        <p:nvSpPr>
          <p:cNvPr id="770" name=""/>
          <p:cNvSpPr/>
          <p:nvPr/>
        </p:nvSpPr>
        <p:spPr>
          <a:xfrm rot="0" flipH="0" flipV="0">
            <a:off x="542925" y="3076575"/>
            <a:ext cx="304800" cy="304800"/>
          </a:xfrm>
          <a:prstGeom prst="roundRect">
            <a:avLst>
              <a:gd name="adj" fmla="val 25000"/>
            </a:avLst>
          </a:prstGeom>
          <a:solidFill>
            <a:srgbClr val="E8EFF8"/>
          </a:solidFill>
          <a:ln/>
        </p:spPr>
        <p:txBody>
          <a:bodyPr/>
          <a:p>
            <a:pPr/>
            <a:endParaRPr/>
          </a:p>
        </p:txBody>
      </p:sp>
      <p:pic>
        <p:nvPicPr>
          <p:cNvPr id="771" name=""/>
          <p:cNvPicPr>
            <a:picLocks noChangeAspect="1"/>
          </p:cNvPicPr>
          <p:nvPr/>
        </p:nvPicPr>
        <p:blipFill>
          <a:blip>
            <a:extLst>
              <a:ext uri="{96DAC541-7B7A-43D3-8B79-37D633B846F1}">
                <asvg:svgBlip r:embed="rId3"/>
              </a:ext>
            </a:extLst>
          </a:blip>
          <a:stretch>
            <a:fillRect/>
          </a:stretch>
        </p:blipFill>
        <p:spPr>
          <a:xfrm rot="0" flipH="0" flipV="0">
            <a:off x="628650" y="3162300"/>
            <a:ext cx="142875" cy="142875"/>
          </a:xfrm>
          <a:prstGeom prst="rect">
            <a:avLst/>
          </a:prstGeom>
          <a:ln/>
        </p:spPr>
      </p:pic>
      <p:sp>
        <p:nvSpPr>
          <p:cNvPr id="772" name="" descr="{&quot;isTemplate&quot;:true,&quot;type&quot;:&quot;text&quot;}"/>
          <p:cNvSpPr txBox="1"/>
          <p:nvPr/>
        </p:nvSpPr>
        <p:spPr>
          <a:xfrm rot="0" flipH="0" flipV="0">
            <a:off x="962025" y="3076575"/>
            <a:ext cx="5991225" cy="171450"/>
          </a:xfrm>
          <a:prstGeom prst="rect"/>
        </p:spPr>
        <p:txBody>
          <a:bodyPr wrap="none" lIns="0" tIns="0" rIns="0" bIns="0"/>
          <a:p>
            <a:pPr>
              <a:lnSpc>
                <a:spcPct val="100000"/>
              </a:lnSpc>
            </a:pPr>
            <a:r>
              <a:rPr lang="en-US" sz="1125" b="1">
                <a:solidFill>
                  <a:srgbClr val="0E3F8C"/>
                </a:solidFill>
                <a:latin typeface="Microsoft YaHei"/>
                <a:ea typeface="Microsoft YaHei"/>
              </a:rPr>
              <a:t>About 20 functional requirements</a:t>
            </a:r>
            <a:endParaRPr/>
          </a:p>
        </p:txBody>
      </p:sp>
      <p:sp>
        <p:nvSpPr>
          <p:cNvPr id="773" name="" descr="{&quot;isTemplate&quot;:true,&quot;type&quot;:&quot;text&quot;}"/>
          <p:cNvSpPr txBox="1"/>
          <p:nvPr/>
        </p:nvSpPr>
        <p:spPr>
          <a:xfrm rot="0" flipH="0" flipV="0">
            <a:off x="962025" y="3267075"/>
            <a:ext cx="5991225" cy="209550"/>
          </a:xfrm>
          <a:prstGeom prst="rect"/>
        </p:spPr>
        <p:txBody>
          <a:bodyPr wrap="none" lIns="0" tIns="0" rIns="0" bIns="0"/>
          <a:p>
            <a:pPr>
              <a:lnSpc>
                <a:spcPct val="145000"/>
              </a:lnSpc>
            </a:pPr>
            <a:r>
              <a:rPr lang="en-US" sz="938">
                <a:solidFill>
                  <a:srgbClr val="4A5568"/>
                </a:solidFill>
                <a:latin typeface="Microsoft YaHei"/>
                <a:ea typeface="Microsoft YaHei"/>
              </a:rPr>
              <a:t>The things the system must do, written as short statements.</a:t>
            </a:r>
            <a:endParaRPr/>
          </a:p>
        </p:txBody>
      </p:sp>
      <p:sp>
        <p:nvSpPr>
          <p:cNvPr id="774" name=""/>
          <p:cNvSpPr/>
          <p:nvPr/>
        </p:nvSpPr>
        <p:spPr>
          <a:xfrm rot="0" flipH="0" flipV="0">
            <a:off x="409575" y="3676650"/>
            <a:ext cx="6705600" cy="609600"/>
          </a:xfrm>
          <a:prstGeom prst="roundRect">
            <a:avLst>
              <a:gd name="adj" fmla="val 14063"/>
            </a:avLst>
          </a:prstGeom>
          <a:solidFill>
            <a:srgbClr val="F7F9FC"/>
          </a:solidFill>
          <a:ln/>
        </p:spPr>
        <p:txBody>
          <a:bodyPr/>
          <a:p>
            <a:pPr/>
            <a:endParaRPr/>
          </a:p>
        </p:txBody>
      </p:sp>
      <p:sp>
        <p:nvSpPr>
          <p:cNvPr id="775" name=""/>
          <p:cNvSpPr/>
          <p:nvPr/>
        </p:nvSpPr>
        <p:spPr>
          <a:xfrm rot="0" flipH="0" flipV="0">
            <a:off x="409575" y="3676650"/>
            <a:ext cx="6705600" cy="609600"/>
          </a:xfrm>
          <a:custGeom>
            <a:pathLst>
              <a:path w="704" h="64">
                <a:moveTo>
                  <a:pt x="8" y="0"/>
                </a:moveTo>
                <a:cubicBezTo>
                  <a:pt x="5" y="0"/>
                  <a:pt x="3" y="3"/>
                  <a:pt x="3" y="6"/>
                </a:cubicBezTo>
                <a:lnTo>
                  <a:pt x="3" y="58"/>
                </a:lnTo>
                <a:cubicBezTo>
                  <a:pt x="3" y="61"/>
                  <a:pt x="5" y="63"/>
                  <a:pt x="8" y="64"/>
                </a:cubicBezTo>
                <a:cubicBezTo>
                  <a:pt x="3" y="63"/>
                  <a:pt x="0" y="59"/>
                  <a:pt x="0" y="55"/>
                </a:cubicBezTo>
                <a:lnTo>
                  <a:pt x="0" y="9"/>
                </a:lnTo>
                <a:cubicBezTo>
                  <a:pt x="0" y="4"/>
                  <a:pt x="4" y="0"/>
                  <a:pt x="9" y="0"/>
                </a:cubicBezTo>
                <a:close/>
              </a:path>
            </a:pathLst>
          </a:custGeom>
          <a:solidFill>
            <a:srgbClr val="1E4FA8"/>
          </a:solidFill>
          <a:ln/>
        </p:spPr>
        <p:txBody>
          <a:bodyPr/>
          <a:p>
            <a:pPr/>
            <a:endParaRPr/>
          </a:p>
        </p:txBody>
      </p:sp>
      <p:sp>
        <p:nvSpPr>
          <p:cNvPr id="776" name=""/>
          <p:cNvSpPr/>
          <p:nvPr/>
        </p:nvSpPr>
        <p:spPr>
          <a:xfrm rot="0" flipH="0" flipV="0">
            <a:off x="542925" y="3781425"/>
            <a:ext cx="304800" cy="304800"/>
          </a:xfrm>
          <a:prstGeom prst="roundRect">
            <a:avLst>
              <a:gd name="adj" fmla="val 25000"/>
            </a:avLst>
          </a:prstGeom>
          <a:solidFill>
            <a:srgbClr val="E8EFF8"/>
          </a:solidFill>
          <a:ln/>
        </p:spPr>
        <p:txBody>
          <a:bodyPr/>
          <a:p>
            <a:pPr/>
            <a:endParaRPr/>
          </a:p>
        </p:txBody>
      </p:sp>
      <p:pic>
        <p:nvPicPr>
          <p:cNvPr id="777" name=""/>
          <p:cNvPicPr>
            <a:picLocks noChangeAspect="1"/>
          </p:cNvPicPr>
          <p:nvPr/>
        </p:nvPicPr>
        <p:blipFill>
          <a:blip>
            <a:extLst>
              <a:ext uri="{96DAC541-7B7A-43D3-8B79-37D633B846F1}">
                <asvg:svgBlip r:embed="rId4"/>
              </a:ext>
            </a:extLst>
          </a:blip>
          <a:stretch>
            <a:fillRect/>
          </a:stretch>
        </p:blipFill>
        <p:spPr>
          <a:xfrm rot="0" flipH="0" flipV="0">
            <a:off x="628650" y="3867150"/>
            <a:ext cx="142875" cy="142875"/>
          </a:xfrm>
          <a:prstGeom prst="rect">
            <a:avLst/>
          </a:prstGeom>
          <a:ln/>
        </p:spPr>
      </p:pic>
      <p:sp>
        <p:nvSpPr>
          <p:cNvPr id="778" name="" descr="{&quot;isTemplate&quot;:true,&quot;type&quot;:&quot;text&quot;}"/>
          <p:cNvSpPr txBox="1"/>
          <p:nvPr/>
        </p:nvSpPr>
        <p:spPr>
          <a:xfrm rot="0" flipH="0" flipV="0">
            <a:off x="962025" y="3781425"/>
            <a:ext cx="5991225" cy="171450"/>
          </a:xfrm>
          <a:prstGeom prst="rect"/>
        </p:spPr>
        <p:txBody>
          <a:bodyPr wrap="none" lIns="0" tIns="0" rIns="0" bIns="0"/>
          <a:p>
            <a:pPr>
              <a:lnSpc>
                <a:spcPct val="100000"/>
              </a:lnSpc>
            </a:pPr>
            <a:r>
              <a:rPr lang="en-US" sz="1125" b="1">
                <a:solidFill>
                  <a:srgbClr val="0E3F8C"/>
                </a:solidFill>
                <a:latin typeface="Microsoft YaHei"/>
                <a:ea typeface="Microsoft YaHei"/>
              </a:rPr>
              <a:t>Non-functional requirements</a:t>
            </a:r>
            <a:endParaRPr/>
          </a:p>
        </p:txBody>
      </p:sp>
      <p:sp>
        <p:nvSpPr>
          <p:cNvPr id="779" name="" descr="{&quot;isTemplate&quot;:true,&quot;type&quot;:&quot;text&quot;}"/>
          <p:cNvSpPr txBox="1"/>
          <p:nvPr/>
        </p:nvSpPr>
        <p:spPr>
          <a:xfrm rot="0" flipH="0" flipV="0">
            <a:off x="962025" y="3971925"/>
            <a:ext cx="5991225" cy="209550"/>
          </a:xfrm>
          <a:prstGeom prst="rect"/>
        </p:spPr>
        <p:txBody>
          <a:bodyPr wrap="none" lIns="0" tIns="0" rIns="0" bIns="0"/>
          <a:p>
            <a:pPr>
              <a:lnSpc>
                <a:spcPct val="145000"/>
              </a:lnSpc>
            </a:pPr>
            <a:r>
              <a:rPr lang="en-US" sz="938">
                <a:solidFill>
                  <a:srgbClr val="4A5568"/>
                </a:solidFill>
                <a:latin typeface="Microsoft YaHei"/>
                <a:ea typeface="Microsoft YaHei"/>
              </a:rPr>
              <a:t>How well it must do them: speed, scale, availability, usability.</a:t>
            </a:r>
            <a:endParaRPr/>
          </a:p>
        </p:txBody>
      </p:sp>
      <p:sp>
        <p:nvSpPr>
          <p:cNvPr id="780" name=""/>
          <p:cNvSpPr/>
          <p:nvPr/>
        </p:nvSpPr>
        <p:spPr>
          <a:xfrm rot="0" flipH="0" flipV="0">
            <a:off x="409575" y="4381500"/>
            <a:ext cx="6705600" cy="609600"/>
          </a:xfrm>
          <a:prstGeom prst="roundRect">
            <a:avLst>
              <a:gd name="adj" fmla="val 14063"/>
            </a:avLst>
          </a:prstGeom>
          <a:solidFill>
            <a:srgbClr val="F7F9FC"/>
          </a:solidFill>
          <a:ln/>
        </p:spPr>
        <p:txBody>
          <a:bodyPr/>
          <a:p>
            <a:pPr/>
            <a:endParaRPr/>
          </a:p>
        </p:txBody>
      </p:sp>
      <p:sp>
        <p:nvSpPr>
          <p:cNvPr id="781" name=""/>
          <p:cNvSpPr/>
          <p:nvPr/>
        </p:nvSpPr>
        <p:spPr>
          <a:xfrm rot="0" flipH="0" flipV="0">
            <a:off x="409575" y="4381500"/>
            <a:ext cx="6705600" cy="609600"/>
          </a:xfrm>
          <a:custGeom>
            <a:pathLst>
              <a:path w="704" h="64">
                <a:moveTo>
                  <a:pt x="8" y="0"/>
                </a:moveTo>
                <a:cubicBezTo>
                  <a:pt x="5" y="0"/>
                  <a:pt x="3" y="3"/>
                  <a:pt x="3" y="6"/>
                </a:cubicBezTo>
                <a:lnTo>
                  <a:pt x="3" y="58"/>
                </a:lnTo>
                <a:cubicBezTo>
                  <a:pt x="3" y="61"/>
                  <a:pt x="5" y="63"/>
                  <a:pt x="8" y="64"/>
                </a:cubicBezTo>
                <a:cubicBezTo>
                  <a:pt x="3" y="63"/>
                  <a:pt x="0" y="59"/>
                  <a:pt x="0" y="55"/>
                </a:cubicBezTo>
                <a:lnTo>
                  <a:pt x="0" y="9"/>
                </a:lnTo>
                <a:cubicBezTo>
                  <a:pt x="0" y="4"/>
                  <a:pt x="4" y="0"/>
                  <a:pt x="9" y="0"/>
                </a:cubicBezTo>
                <a:close/>
              </a:path>
            </a:pathLst>
          </a:custGeom>
          <a:solidFill>
            <a:srgbClr val="1E4FA8"/>
          </a:solidFill>
          <a:ln/>
        </p:spPr>
        <p:txBody>
          <a:bodyPr/>
          <a:p>
            <a:pPr/>
            <a:endParaRPr/>
          </a:p>
        </p:txBody>
      </p:sp>
      <p:sp>
        <p:nvSpPr>
          <p:cNvPr id="782" name=""/>
          <p:cNvSpPr/>
          <p:nvPr/>
        </p:nvSpPr>
        <p:spPr>
          <a:xfrm rot="0" flipH="0" flipV="0">
            <a:off x="542925" y="4486275"/>
            <a:ext cx="304800" cy="304800"/>
          </a:xfrm>
          <a:prstGeom prst="roundRect">
            <a:avLst>
              <a:gd name="adj" fmla="val 25000"/>
            </a:avLst>
          </a:prstGeom>
          <a:solidFill>
            <a:srgbClr val="E8EFF8"/>
          </a:solidFill>
          <a:ln/>
        </p:spPr>
        <p:txBody>
          <a:bodyPr/>
          <a:p>
            <a:pPr/>
            <a:endParaRPr/>
          </a:p>
        </p:txBody>
      </p:sp>
      <p:pic>
        <p:nvPicPr>
          <p:cNvPr id="783" name=""/>
          <p:cNvPicPr>
            <a:picLocks noChangeAspect="1"/>
          </p:cNvPicPr>
          <p:nvPr/>
        </p:nvPicPr>
        <p:blipFill>
          <a:blip>
            <a:extLst>
              <a:ext uri="{96DAC541-7B7A-43D3-8B79-37D633B846F1}">
                <asvg:svgBlip r:embed="rId5"/>
              </a:ext>
            </a:extLst>
          </a:blip>
          <a:stretch>
            <a:fillRect/>
          </a:stretch>
        </p:blipFill>
        <p:spPr>
          <a:xfrm rot="0" flipH="0" flipV="0">
            <a:off x="628650" y="4572000"/>
            <a:ext cx="142875" cy="142875"/>
          </a:xfrm>
          <a:prstGeom prst="rect">
            <a:avLst/>
          </a:prstGeom>
          <a:ln/>
        </p:spPr>
      </p:pic>
      <p:sp>
        <p:nvSpPr>
          <p:cNvPr id="784" name="" descr="{&quot;isTemplate&quot;:true,&quot;type&quot;:&quot;text&quot;}"/>
          <p:cNvSpPr txBox="1"/>
          <p:nvPr/>
        </p:nvSpPr>
        <p:spPr>
          <a:xfrm rot="0" flipH="0" flipV="0">
            <a:off x="962025" y="4486275"/>
            <a:ext cx="5991225" cy="171450"/>
          </a:xfrm>
          <a:prstGeom prst="rect"/>
        </p:spPr>
        <p:txBody>
          <a:bodyPr wrap="none" lIns="0" tIns="0" rIns="0" bIns="0"/>
          <a:p>
            <a:pPr>
              <a:lnSpc>
                <a:spcPct val="100000"/>
              </a:lnSpc>
            </a:pPr>
            <a:r>
              <a:rPr lang="en-US" sz="1125" b="1">
                <a:solidFill>
                  <a:srgbClr val="0E3F8C"/>
                </a:solidFill>
                <a:latin typeface="Microsoft YaHei"/>
                <a:ea typeface="Microsoft YaHei"/>
              </a:rPr>
              <a:t>Constraints</a:t>
            </a:r>
            <a:endParaRPr/>
          </a:p>
        </p:txBody>
      </p:sp>
      <p:sp>
        <p:nvSpPr>
          <p:cNvPr id="785" name="" descr="{&quot;isTemplate&quot;:true,&quot;type&quot;:&quot;text&quot;}"/>
          <p:cNvSpPr txBox="1"/>
          <p:nvPr/>
        </p:nvSpPr>
        <p:spPr>
          <a:xfrm rot="0" flipH="0" flipV="0">
            <a:off x="962025" y="4676775"/>
            <a:ext cx="5991225" cy="209550"/>
          </a:xfrm>
          <a:prstGeom prst="rect"/>
        </p:spPr>
        <p:txBody>
          <a:bodyPr wrap="none" lIns="0" tIns="0" rIns="0" bIns="0"/>
          <a:p>
            <a:pPr>
              <a:lnSpc>
                <a:spcPct val="145000"/>
              </a:lnSpc>
            </a:pPr>
            <a:r>
              <a:rPr lang="en-US" sz="938">
                <a:solidFill>
                  <a:srgbClr val="4A5568"/>
                </a:solidFill>
                <a:latin typeface="Microsoft YaHei"/>
                <a:ea typeface="Microsoft YaHei"/>
              </a:rPr>
              <a:t>Things you cannot change: the campus card API, the network, the devices.</a:t>
            </a:r>
            <a:endParaRPr/>
          </a:p>
        </p:txBody>
      </p:sp>
      <p:sp>
        <p:nvSpPr>
          <p:cNvPr id="786" name=""/>
          <p:cNvSpPr/>
          <p:nvPr/>
        </p:nvSpPr>
        <p:spPr>
          <a:xfrm rot="0" flipH="0" flipV="0">
            <a:off x="7334250" y="1257300"/>
            <a:ext cx="4476750" cy="1057275"/>
          </a:xfrm>
          <a:prstGeom prst="roundRect">
            <a:avLst>
              <a:gd name="adj" fmla="val 9009"/>
            </a:avLst>
          </a:prstGeom>
          <a:solidFill>
            <a:srgbClr val="0E3F8C"/>
          </a:solidFill>
          <a:ln/>
        </p:spPr>
        <p:txBody>
          <a:bodyPr/>
          <a:p>
            <a:pPr/>
            <a:endParaRPr/>
          </a:p>
        </p:txBody>
      </p:sp>
      <p:sp>
        <p:nvSpPr>
          <p:cNvPr id="787" name="" descr="{&quot;isTemplate&quot;:true,&quot;type&quot;:&quot;text&quot;}"/>
          <p:cNvSpPr txBox="1"/>
          <p:nvPr/>
        </p:nvSpPr>
        <p:spPr>
          <a:xfrm rot="0" flipH="0" flipV="0">
            <a:off x="7505700" y="1409700"/>
            <a:ext cx="4133850" cy="171450"/>
          </a:xfrm>
          <a:prstGeom prst="rect"/>
        </p:spPr>
        <p:txBody>
          <a:bodyPr wrap="none" lIns="0" tIns="0" rIns="0" bIns="0"/>
          <a:p>
            <a:pPr>
              <a:lnSpc>
                <a:spcPct val="100000"/>
              </a:lnSpc>
            </a:pPr>
            <a:r>
              <a:rPr lang="en-US" sz="1125" b="1">
                <a:solidFill>
                  <a:srgbClr val="FFC107"/>
                </a:solidFill>
                <a:latin typeface="Microsoft YaHei"/>
                <a:ea typeface="Microsoft YaHei"/>
              </a:rPr>
              <a:t>Your job this week</a:t>
            </a:r>
            <a:endParaRPr/>
          </a:p>
        </p:txBody>
      </p:sp>
      <p:sp>
        <p:nvSpPr>
          <p:cNvPr id="788" name="" descr="{&quot;isTemplate&quot;:true,&quot;type&quot;:&quot;text&quot;}"/>
          <p:cNvSpPr txBox="1"/>
          <p:nvPr/>
        </p:nvSpPr>
        <p:spPr>
          <a:xfrm rot="0" flipH="0" flipV="0">
            <a:off x="7505700" y="1657350"/>
            <a:ext cx="4133850" cy="504825"/>
          </a:xfrm>
          <a:prstGeom prst="rect"/>
        </p:spPr>
        <p:txBody>
          <a:bodyPr wrap="square" lIns="0" tIns="0" rIns="0" bIns="0">
            <a:normAutofit/>
          </a:bodyPr>
          <a:p>
            <a:pPr>
              <a:lnSpc>
                <a:spcPct val="155000"/>
              </a:lnSpc>
            </a:pPr>
            <a:r>
              <a:rPr lang="en-US" sz="1050">
                <a:solidFill>
                  <a:srgbClr val="FFFFFF"/>
                </a:solidFill>
                <a:latin typeface="Microsoft YaHei"/>
                <a:ea typeface="Microsoft YaHei"/>
              </a:rPr>
              <a:t>Turn twenty sentences of prose into a picture that shows </a:t>
            </a:r>
            <a:r>
              <a:rPr lang="en-US" sz="1050">
                <a:solidFill>
                  <a:srgbClr val="FFFFFF"/>
                </a:solidFill>
                <a:latin typeface="Microsoft YaHei"/>
                <a:ea typeface="Microsoft YaHei"/>
              </a:rPr>
              <a:t>who wants what</a:t>
            </a:r>
            <a:r>
              <a:rPr lang="en-US" sz="1050">
                <a:solidFill>
                  <a:srgbClr val="FFFFFF"/>
                </a:solidFill>
                <a:latin typeface="Microsoft YaHei"/>
                <a:ea typeface="Microsoft YaHei"/>
              </a:rPr>
              <a:t> from this system.</a:t>
            </a:r>
            <a:endParaRPr/>
          </a:p>
        </p:txBody>
      </p:sp>
      <p:sp>
        <p:nvSpPr>
          <p:cNvPr id="789" name=""/>
          <p:cNvSpPr/>
          <p:nvPr/>
        </p:nvSpPr>
        <p:spPr>
          <a:xfrm rot="0" flipH="0" flipV="0">
            <a:off x="7334250" y="2428875"/>
            <a:ext cx="247650" cy="247650"/>
          </a:xfrm>
          <a:prstGeom prst="roundRect">
            <a:avLst>
              <a:gd name="adj" fmla="val 50000"/>
            </a:avLst>
          </a:prstGeom>
          <a:solidFill>
            <a:srgbClr val="1E4FA8"/>
          </a:solidFill>
          <a:ln/>
        </p:spPr>
        <p:txBody>
          <a:bodyPr/>
          <a:p>
            <a:pPr/>
            <a:endParaRPr/>
          </a:p>
        </p:txBody>
      </p:sp>
      <p:sp>
        <p:nvSpPr>
          <p:cNvPr id="790" name="" descr="{&quot;isTemplate&quot;:true,&quot;type&quot;:&quot;text&quot;}"/>
          <p:cNvSpPr txBox="1"/>
          <p:nvPr/>
        </p:nvSpPr>
        <p:spPr>
          <a:xfrm rot="0" flipH="0" flipV="0">
            <a:off x="7419975" y="2476500"/>
            <a:ext cx="76200" cy="152400"/>
          </a:xfrm>
          <a:prstGeom prst="rect"/>
        </p:spPr>
        <p:txBody>
          <a:bodyPr wrap="none" lIns="0" tIns="0" rIns="0" bIns="0"/>
          <a:p>
            <a:pPr>
              <a:lnSpc>
                <a:spcPct val="100000"/>
              </a:lnSpc>
            </a:pPr>
            <a:r>
              <a:rPr lang="en-US" sz="975" b="1">
                <a:solidFill>
                  <a:srgbClr val="FFFFFF"/>
                </a:solidFill>
                <a:latin typeface="Microsoft YaHei"/>
                <a:ea typeface="Microsoft YaHei"/>
              </a:rPr>
              <a:t>1</a:t>
            </a:r>
            <a:endParaRPr/>
          </a:p>
        </p:txBody>
      </p:sp>
      <p:sp>
        <p:nvSpPr>
          <p:cNvPr id="791" name="" descr="{&quot;isTemplate&quot;:true,&quot;type&quot;:&quot;text&quot;}"/>
          <p:cNvSpPr txBox="1"/>
          <p:nvPr/>
        </p:nvSpPr>
        <p:spPr>
          <a:xfrm rot="0" flipH="0" flipV="0">
            <a:off x="7696200" y="2428875"/>
            <a:ext cx="4114800" cy="161925"/>
          </a:xfrm>
          <a:prstGeom prst="rect"/>
        </p:spPr>
        <p:txBody>
          <a:bodyPr wrap="none" lIns="0" tIns="0" rIns="0" bIns="0"/>
          <a:p>
            <a:pPr>
              <a:lnSpc>
                <a:spcPct val="100000"/>
              </a:lnSpc>
            </a:pPr>
            <a:r>
              <a:rPr lang="en-US" sz="1050" b="1">
                <a:solidFill>
                  <a:srgbClr val="1A2230"/>
                </a:solidFill>
                <a:latin typeface="Microsoft YaHei"/>
                <a:ea typeface="Microsoft YaHei"/>
              </a:rPr>
              <a:t>Read the pack</a:t>
            </a:r>
            <a:endParaRPr/>
          </a:p>
        </p:txBody>
      </p:sp>
      <p:sp>
        <p:nvSpPr>
          <p:cNvPr id="792" name="" descr="{&quot;isTemplate&quot;:true,&quot;type&quot;:&quot;text&quot;}"/>
          <p:cNvSpPr txBox="1"/>
          <p:nvPr/>
        </p:nvSpPr>
        <p:spPr>
          <a:xfrm rot="0" flipH="0" flipV="0">
            <a:off x="7696200" y="2590800"/>
            <a:ext cx="4114800" cy="142875"/>
          </a:xfrm>
          <a:prstGeom prst="rect"/>
        </p:spPr>
        <p:txBody>
          <a:bodyPr wrap="none" lIns="0" tIns="0" rIns="0" bIns="0"/>
          <a:p>
            <a:pPr>
              <a:lnSpc>
                <a:spcPct val="100000"/>
              </a:lnSpc>
            </a:pPr>
            <a:r>
              <a:rPr lang="en-US" sz="900">
                <a:solidFill>
                  <a:srgbClr val="8B97A8"/>
                </a:solidFill>
                <a:latin typeface="Microsoft YaHei"/>
                <a:ea typeface="Microsoft YaHei"/>
              </a:rPr>
              <a:t>Today, in the lab.</a:t>
            </a:r>
            <a:endParaRPr/>
          </a:p>
        </p:txBody>
      </p:sp>
      <p:sp>
        <p:nvSpPr>
          <p:cNvPr id="793" name=""/>
          <p:cNvSpPr/>
          <p:nvPr/>
        </p:nvSpPr>
        <p:spPr>
          <a:xfrm rot="0" flipH="0" flipV="0">
            <a:off x="7334250" y="2847975"/>
            <a:ext cx="247650" cy="247650"/>
          </a:xfrm>
          <a:prstGeom prst="roundRect">
            <a:avLst>
              <a:gd name="adj" fmla="val 50000"/>
            </a:avLst>
          </a:prstGeom>
          <a:solidFill>
            <a:srgbClr val="1E4FA8"/>
          </a:solidFill>
          <a:ln/>
        </p:spPr>
        <p:txBody>
          <a:bodyPr/>
          <a:p>
            <a:pPr/>
            <a:endParaRPr/>
          </a:p>
        </p:txBody>
      </p:sp>
      <p:sp>
        <p:nvSpPr>
          <p:cNvPr id="794" name="" descr="{&quot;isTemplate&quot;:true,&quot;type&quot;:&quot;text&quot;}"/>
          <p:cNvSpPr txBox="1"/>
          <p:nvPr/>
        </p:nvSpPr>
        <p:spPr>
          <a:xfrm rot="0" flipH="0" flipV="0">
            <a:off x="7419975" y="2895600"/>
            <a:ext cx="76200" cy="152400"/>
          </a:xfrm>
          <a:prstGeom prst="rect"/>
        </p:spPr>
        <p:txBody>
          <a:bodyPr wrap="none" lIns="0" tIns="0" rIns="0" bIns="0"/>
          <a:p>
            <a:pPr>
              <a:lnSpc>
                <a:spcPct val="100000"/>
              </a:lnSpc>
            </a:pPr>
            <a:r>
              <a:rPr lang="en-US" sz="975" b="1">
                <a:solidFill>
                  <a:srgbClr val="FFFFFF"/>
                </a:solidFill>
                <a:latin typeface="Microsoft YaHei"/>
                <a:ea typeface="Microsoft YaHei"/>
              </a:rPr>
              <a:t>2</a:t>
            </a:r>
            <a:endParaRPr/>
          </a:p>
        </p:txBody>
      </p:sp>
      <p:sp>
        <p:nvSpPr>
          <p:cNvPr id="795" name="" descr="{&quot;isTemplate&quot;:true,&quot;type&quot;:&quot;text&quot;}"/>
          <p:cNvSpPr txBox="1"/>
          <p:nvPr/>
        </p:nvSpPr>
        <p:spPr>
          <a:xfrm rot="0" flipH="0" flipV="0">
            <a:off x="7696200" y="2847975"/>
            <a:ext cx="4114800" cy="161925"/>
          </a:xfrm>
          <a:prstGeom prst="rect"/>
        </p:spPr>
        <p:txBody>
          <a:bodyPr wrap="none" lIns="0" tIns="0" rIns="0" bIns="0"/>
          <a:p>
            <a:pPr>
              <a:lnSpc>
                <a:spcPct val="100000"/>
              </a:lnSpc>
            </a:pPr>
            <a:r>
              <a:rPr lang="en-US" sz="1050" b="1">
                <a:solidFill>
                  <a:srgbClr val="1A2230"/>
                </a:solidFill>
                <a:latin typeface="Microsoft YaHei"/>
                <a:ea typeface="Microsoft YaHei"/>
              </a:rPr>
              <a:t>Find the actors</a:t>
            </a:r>
            <a:endParaRPr/>
          </a:p>
        </p:txBody>
      </p:sp>
      <p:sp>
        <p:nvSpPr>
          <p:cNvPr id="796" name="" descr="{&quot;isTemplate&quot;:true,&quot;type&quot;:&quot;text&quot;}"/>
          <p:cNvSpPr txBox="1"/>
          <p:nvPr/>
        </p:nvSpPr>
        <p:spPr>
          <a:xfrm rot="0" flipH="0" flipV="0">
            <a:off x="7696200" y="3009900"/>
            <a:ext cx="4114800" cy="142875"/>
          </a:xfrm>
          <a:prstGeom prst="rect"/>
        </p:spPr>
        <p:txBody>
          <a:bodyPr wrap="none" lIns="0" tIns="0" rIns="0" bIns="0"/>
          <a:p>
            <a:pPr>
              <a:lnSpc>
                <a:spcPct val="100000"/>
              </a:lnSpc>
            </a:pPr>
            <a:r>
              <a:rPr lang="en-US" sz="900">
                <a:solidFill>
                  <a:srgbClr val="8B97A8"/>
                </a:solidFill>
                <a:latin typeface="Microsoft YaHei"/>
                <a:ea typeface="Microsoft YaHei"/>
              </a:rPr>
              <a:t>Who or what touches this system?</a:t>
            </a:r>
            <a:endParaRPr/>
          </a:p>
        </p:txBody>
      </p:sp>
      <p:sp>
        <p:nvSpPr>
          <p:cNvPr id="797" name=""/>
          <p:cNvSpPr/>
          <p:nvPr/>
        </p:nvSpPr>
        <p:spPr>
          <a:xfrm rot="0" flipH="0" flipV="0">
            <a:off x="7334250" y="3267075"/>
            <a:ext cx="247650" cy="247650"/>
          </a:xfrm>
          <a:prstGeom prst="roundRect">
            <a:avLst>
              <a:gd name="adj" fmla="val 50000"/>
            </a:avLst>
          </a:prstGeom>
          <a:solidFill>
            <a:srgbClr val="1E4FA8"/>
          </a:solidFill>
          <a:ln/>
        </p:spPr>
        <p:txBody>
          <a:bodyPr/>
          <a:p>
            <a:pPr/>
            <a:endParaRPr/>
          </a:p>
        </p:txBody>
      </p:sp>
      <p:sp>
        <p:nvSpPr>
          <p:cNvPr id="798" name="" descr="{&quot;isTemplate&quot;:true,&quot;type&quot;:&quot;text&quot;}"/>
          <p:cNvSpPr txBox="1"/>
          <p:nvPr/>
        </p:nvSpPr>
        <p:spPr>
          <a:xfrm rot="0" flipH="0" flipV="0">
            <a:off x="7419975" y="3314700"/>
            <a:ext cx="76200" cy="152400"/>
          </a:xfrm>
          <a:prstGeom prst="rect"/>
        </p:spPr>
        <p:txBody>
          <a:bodyPr wrap="none" lIns="0" tIns="0" rIns="0" bIns="0"/>
          <a:p>
            <a:pPr>
              <a:lnSpc>
                <a:spcPct val="100000"/>
              </a:lnSpc>
            </a:pPr>
            <a:r>
              <a:rPr lang="en-US" sz="975" b="1">
                <a:solidFill>
                  <a:srgbClr val="FFFFFF"/>
                </a:solidFill>
                <a:latin typeface="Microsoft YaHei"/>
                <a:ea typeface="Microsoft YaHei"/>
              </a:rPr>
              <a:t>3</a:t>
            </a:r>
            <a:endParaRPr/>
          </a:p>
        </p:txBody>
      </p:sp>
      <p:sp>
        <p:nvSpPr>
          <p:cNvPr id="799" name="" descr="{&quot;isTemplate&quot;:true,&quot;type&quot;:&quot;text&quot;}"/>
          <p:cNvSpPr txBox="1"/>
          <p:nvPr/>
        </p:nvSpPr>
        <p:spPr>
          <a:xfrm rot="0" flipH="0" flipV="0">
            <a:off x="7696200" y="3267075"/>
            <a:ext cx="4114800" cy="161925"/>
          </a:xfrm>
          <a:prstGeom prst="rect"/>
        </p:spPr>
        <p:txBody>
          <a:bodyPr wrap="none" lIns="0" tIns="0" rIns="0" bIns="0"/>
          <a:p>
            <a:pPr>
              <a:lnSpc>
                <a:spcPct val="100000"/>
              </a:lnSpc>
            </a:pPr>
            <a:r>
              <a:rPr lang="en-US" sz="1050" b="1">
                <a:solidFill>
                  <a:srgbClr val="1A2230"/>
                </a:solidFill>
                <a:latin typeface="Microsoft YaHei"/>
                <a:ea typeface="Microsoft YaHei"/>
              </a:rPr>
              <a:t>Find the use cases</a:t>
            </a:r>
            <a:endParaRPr/>
          </a:p>
        </p:txBody>
      </p:sp>
      <p:sp>
        <p:nvSpPr>
          <p:cNvPr id="800" name="" descr="{&quot;isTemplate&quot;:true,&quot;type&quot;:&quot;text&quot;}"/>
          <p:cNvSpPr txBox="1"/>
          <p:nvPr/>
        </p:nvSpPr>
        <p:spPr>
          <a:xfrm rot="0" flipH="0" flipV="0">
            <a:off x="7696200" y="3429000"/>
            <a:ext cx="4114800" cy="142875"/>
          </a:xfrm>
          <a:prstGeom prst="rect"/>
        </p:spPr>
        <p:txBody>
          <a:bodyPr wrap="none" lIns="0" tIns="0" rIns="0" bIns="0"/>
          <a:p>
            <a:pPr>
              <a:lnSpc>
                <a:spcPct val="100000"/>
              </a:lnSpc>
            </a:pPr>
            <a:r>
              <a:rPr lang="en-US" sz="900">
                <a:solidFill>
                  <a:srgbClr val="8B97A8"/>
                </a:solidFill>
                <a:latin typeface="Microsoft YaHei"/>
                <a:ea typeface="Microsoft YaHei"/>
              </a:rPr>
              <a:t>What goal does each one reach?</a:t>
            </a:r>
            <a:endParaRPr/>
          </a:p>
        </p:txBody>
      </p:sp>
      <p:sp>
        <p:nvSpPr>
          <p:cNvPr id="801" name=""/>
          <p:cNvSpPr/>
          <p:nvPr/>
        </p:nvSpPr>
        <p:spPr>
          <a:xfrm rot="0" flipH="0" flipV="0">
            <a:off x="7334250" y="3686175"/>
            <a:ext cx="247650" cy="247650"/>
          </a:xfrm>
          <a:prstGeom prst="roundRect">
            <a:avLst>
              <a:gd name="adj" fmla="val 50000"/>
            </a:avLst>
          </a:prstGeom>
          <a:solidFill>
            <a:srgbClr val="1E4FA8"/>
          </a:solidFill>
          <a:ln/>
        </p:spPr>
        <p:txBody>
          <a:bodyPr/>
          <a:p>
            <a:pPr/>
            <a:endParaRPr/>
          </a:p>
        </p:txBody>
      </p:sp>
      <p:sp>
        <p:nvSpPr>
          <p:cNvPr id="802" name="" descr="{&quot;isTemplate&quot;:true,&quot;type&quot;:&quot;text&quot;}"/>
          <p:cNvSpPr txBox="1"/>
          <p:nvPr/>
        </p:nvSpPr>
        <p:spPr>
          <a:xfrm rot="0" flipH="0" flipV="0">
            <a:off x="7419975" y="3733800"/>
            <a:ext cx="76200" cy="152400"/>
          </a:xfrm>
          <a:prstGeom prst="rect"/>
        </p:spPr>
        <p:txBody>
          <a:bodyPr wrap="none" lIns="0" tIns="0" rIns="0" bIns="0"/>
          <a:p>
            <a:pPr>
              <a:lnSpc>
                <a:spcPct val="100000"/>
              </a:lnSpc>
            </a:pPr>
            <a:r>
              <a:rPr lang="en-US" sz="975" b="1">
                <a:solidFill>
                  <a:srgbClr val="FFFFFF"/>
                </a:solidFill>
                <a:latin typeface="Microsoft YaHei"/>
                <a:ea typeface="Microsoft YaHei"/>
              </a:rPr>
              <a:t>4</a:t>
            </a:r>
            <a:endParaRPr/>
          </a:p>
        </p:txBody>
      </p:sp>
      <p:sp>
        <p:nvSpPr>
          <p:cNvPr id="803" name="" descr="{&quot;isTemplate&quot;:true,&quot;type&quot;:&quot;text&quot;}"/>
          <p:cNvSpPr txBox="1"/>
          <p:nvPr/>
        </p:nvSpPr>
        <p:spPr>
          <a:xfrm rot="0" flipH="0" flipV="0">
            <a:off x="7696200" y="3686175"/>
            <a:ext cx="4114800" cy="161925"/>
          </a:xfrm>
          <a:prstGeom prst="rect"/>
        </p:spPr>
        <p:txBody>
          <a:bodyPr wrap="none" lIns="0" tIns="0" rIns="0" bIns="0"/>
          <a:p>
            <a:pPr>
              <a:lnSpc>
                <a:spcPct val="100000"/>
              </a:lnSpc>
            </a:pPr>
            <a:r>
              <a:rPr lang="en-US" sz="1050" b="1">
                <a:solidFill>
                  <a:srgbClr val="1A2230"/>
                </a:solidFill>
                <a:latin typeface="Microsoft YaHei"/>
                <a:ea typeface="Microsoft YaHei"/>
              </a:rPr>
              <a:t>Draw the diagram</a:t>
            </a:r>
            <a:endParaRPr/>
          </a:p>
        </p:txBody>
      </p:sp>
      <p:sp>
        <p:nvSpPr>
          <p:cNvPr id="804" name="" descr="{&quot;isTemplate&quot;:true,&quot;type&quot;:&quot;text&quot;}"/>
          <p:cNvSpPr txBox="1"/>
          <p:nvPr/>
        </p:nvSpPr>
        <p:spPr>
          <a:xfrm rot="0" flipH="0" flipV="0">
            <a:off x="7696200" y="3848100"/>
            <a:ext cx="4114800" cy="142875"/>
          </a:xfrm>
          <a:prstGeom prst="rect"/>
        </p:spPr>
        <p:txBody>
          <a:bodyPr wrap="none" lIns="0" tIns="0" rIns="0" bIns="0"/>
          <a:p>
            <a:pPr>
              <a:lnSpc>
                <a:spcPct val="100000"/>
              </a:lnSpc>
            </a:pPr>
            <a:r>
              <a:rPr lang="en-US" sz="900">
                <a:solidFill>
                  <a:srgbClr val="8B97A8"/>
                </a:solidFill>
                <a:latin typeface="Microsoft YaHei"/>
                <a:ea typeface="Microsoft YaHei"/>
              </a:rPr>
              <a:t>Boundary, ellipses, lines, two dashed arrows.</a:t>
            </a:r>
            <a:endParaRPr/>
          </a:p>
        </p:txBody>
      </p:sp>
      <p:sp>
        <p:nvSpPr>
          <p:cNvPr id="805" name=""/>
          <p:cNvSpPr/>
          <p:nvPr/>
        </p:nvSpPr>
        <p:spPr>
          <a:xfrm rot="0" flipH="0" flipV="0">
            <a:off x="7334250" y="4105275"/>
            <a:ext cx="4476750" cy="657225"/>
          </a:xfrm>
          <a:prstGeom prst="roundRect">
            <a:avLst>
              <a:gd name="adj" fmla="val 13043"/>
            </a:avLst>
          </a:prstGeom>
          <a:solidFill>
            <a:srgbClr val="F0F5FC"/>
          </a:solidFill>
          <a:ln w="12700">
            <a:solidFill>
              <a:srgbClr val="3D7BD9"/>
            </a:solidFill>
            <a:prstDash val="dash"/>
          </a:ln>
        </p:spPr>
        <p:txBody>
          <a:bodyPr/>
          <a:p>
            <a:pPr/>
            <a:endParaRPr/>
          </a:p>
        </p:txBody>
      </p:sp>
      <p:sp>
        <p:nvSpPr>
          <p:cNvPr id="806" name="" descr="{&quot;isTemplate&quot;:true,&quot;type&quot;:&quot;text&quot;}"/>
          <p:cNvSpPr txBox="1"/>
          <p:nvPr/>
        </p:nvSpPr>
        <p:spPr>
          <a:xfrm rot="0" flipH="0" flipV="0">
            <a:off x="7467600" y="4219575"/>
            <a:ext cx="4210050" cy="428625"/>
          </a:xfrm>
          <a:prstGeom prst="rect"/>
        </p:spPr>
        <p:txBody>
          <a:bodyPr wrap="square" lIns="0" tIns="0" rIns="0" bIns="0">
            <a:normAutofit/>
          </a:bodyPr>
          <a:p>
            <a:pPr>
              <a:lnSpc>
                <a:spcPct val="150000"/>
              </a:lnSpc>
            </a:pPr>
            <a:r>
              <a:rPr lang="en-US" sz="938">
                <a:solidFill>
                  <a:srgbClr val="0E3F8C"/>
                </a:solidFill>
                <a:latin typeface="Microsoft YaHei"/>
                <a:ea typeface="Microsoft YaHei"/>
              </a:rPr>
              <a:t>Heads up:</a:t>
            </a:r>
            <a:r>
              <a:rPr lang="en-US" sz="938">
                <a:solidFill>
                  <a:srgbClr val="0E3F8C"/>
                </a:solidFill>
                <a:latin typeface="Microsoft YaHei"/>
                <a:ea typeface="Microsoft YaHei"/>
              </a:rPr>
              <a:t> three requirement changes will be injected later this term. Your model must absorb them — that is part of the design grade.</a:t>
            </a:r>
            <a:endParaRPr/>
          </a:p>
        </p:txBody>
      </p:sp>
      <p:sp>
        <p:nvSpPr>
          <p:cNvPr id="807" name="" descr="{&quot;isTemplate&quot;:true,&quot;type&quot;:&quot;text&quot;}"/>
          <p:cNvSpPr txBox="1"/>
          <p:nvPr/>
        </p:nvSpPr>
        <p:spPr>
          <a:xfrm rot="0" flipH="0" flipV="0">
            <a:off x="381000" y="6619875"/>
            <a:ext cx="38004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pack is also in 04-</a:t>
            </a:r>
            <a:r>
              <a:rPr lang="zh-CN" sz="975">
                <a:solidFill>
                  <a:srgbClr val="8B97A8"/>
                </a:solidFill>
                <a:latin typeface="Microsoft YaHei"/>
                <a:ea typeface="Microsoft YaHei"/>
              </a:rPr>
              <a:t>项目实践</a:t>
            </a:r>
            <a:r>
              <a:rPr lang="en-US" sz="975">
                <a:solidFill>
                  <a:srgbClr val="8B97A8"/>
                </a:solidFill>
                <a:latin typeface="Microsoft YaHei"/>
                <a:ea typeface="Microsoft YaHei"/>
              </a:rPr>
              <a:t> on the course drive</a:t>
            </a:r>
            <a:endParaRPr/>
          </a:p>
        </p:txBody>
      </p:sp>
      <p:sp>
        <p:nvSpPr>
          <p:cNvPr id="808"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04 / 38</a:t>
            </a:r>
            <a:endParaRPr/>
          </a:p>
        </p:txBody>
      </p:sp>
    </p:spTree>
  </p:cSld>
</p:sld>
</file>

<file path=ppt/slides/slide5.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809" name=""/>
        <p:cNvGrpSpPr/>
        <p:nvPr/>
      </p:nvGrpSpPr>
      <p:grpSpPr>
        <a:xfrm>
          <a:off x="0" y="0"/>
          <a:ext cx="0" cy="0"/>
          <a:chOff x="0" y="0"/>
          <a:chExt cx="0" cy="0"/>
        </a:xfrm>
      </p:grpSpPr>
      <p:sp>
        <p:nvSpPr>
          <p:cNvPr id="810" name=""/>
          <p:cNvSpPr/>
          <p:nvPr/>
        </p:nvSpPr>
        <p:spPr>
          <a:xfrm rot="0" flipH="0" flipV="0">
            <a:off x="0" y="0"/>
            <a:ext cx="12192000" cy="6858000"/>
          </a:xfrm>
          <a:prstGeom prst="rect">
            <a:avLst/>
          </a:prstGeom>
          <a:solidFill>
            <a:srgbClr val="FFFFFF"/>
          </a:solidFill>
          <a:ln/>
        </p:spPr>
        <p:txBody>
          <a:bodyPr/>
          <a:p>
            <a:pPr/>
            <a:endParaRPr/>
          </a:p>
        </p:txBody>
      </p:sp>
      <p:sp>
        <p:nvSpPr>
          <p:cNvPr id="811" name=""/>
          <p:cNvSpPr/>
          <p:nvPr/>
        </p:nvSpPr>
        <p:spPr>
          <a:xfrm rot="0" flipH="0" flipV="0">
            <a:off x="0" y="0"/>
            <a:ext cx="12192000" cy="685800"/>
          </a:xfrm>
          <a:prstGeom prst="rect">
            <a:avLst/>
          </a:prstGeom>
          <a:solidFill>
            <a:srgbClr val="1E4FA8"/>
          </a:solidFill>
          <a:ln/>
        </p:spPr>
        <p:txBody>
          <a:bodyPr/>
          <a:p>
            <a:pPr/>
            <a:endParaRPr/>
          </a:p>
        </p:txBody>
      </p:sp>
      <p:sp>
        <p:nvSpPr>
          <p:cNvPr id="81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13" name="" descr="{&quot;isTemplate&quot;:true,&quot;type&quot;:&quot;text&quot;}"/>
          <p:cNvSpPr txBox="1"/>
          <p:nvPr/>
        </p:nvSpPr>
        <p:spPr>
          <a:xfrm rot="0" flipH="0" flipV="0">
            <a:off x="10229850" y="257175"/>
            <a:ext cx="1581150" cy="171450"/>
          </a:xfrm>
          <a:prstGeom prst="rect"/>
        </p:spPr>
        <p:txBody>
          <a:bodyPr wrap="none" lIns="0" tIns="0" rIns="0" bIns="0"/>
          <a:p>
            <a:pPr>
              <a:lnSpc>
                <a:spcPct val="100000"/>
              </a:lnSpc>
            </a:pPr>
            <a:r>
              <a:rPr lang="en-US" sz="1125">
                <a:solidFill>
                  <a:srgbClr val="B9CDF0"/>
                </a:solidFill>
                <a:latin typeface="Microsoft YaHei"/>
                <a:ea typeface="Microsoft YaHei"/>
              </a:rPr>
              <a:t>W04 · REQUIREMENTS</a:t>
            </a:r>
            <a:endParaRPr/>
          </a:p>
        </p:txBody>
      </p:sp>
      <p:sp>
        <p:nvSpPr>
          <p:cNvPr id="814" name="" descr="{&quot;isTemplate&quot;:true,&quot;type&quot;:&quot;text&quot;}"/>
          <p:cNvSpPr txBox="1"/>
          <p:nvPr/>
        </p:nvSpPr>
        <p:spPr>
          <a:xfrm rot="0" flipH="0" flipV="0">
            <a:off x="381000" y="819150"/>
            <a:ext cx="4095750" cy="342900"/>
          </a:xfrm>
          <a:prstGeom prst="rect"/>
        </p:spPr>
        <p:txBody>
          <a:bodyPr wrap="none" lIns="0" tIns="0" rIns="0" bIns="0"/>
          <a:p>
            <a:pPr>
              <a:lnSpc>
                <a:spcPct val="100000"/>
              </a:lnSpc>
            </a:pPr>
            <a:r>
              <a:rPr lang="en-US" sz="2250" b="1">
                <a:solidFill>
                  <a:srgbClr val="0E3F8C"/>
                </a:solidFill>
                <a:latin typeface="Microsoft YaHei"/>
                <a:ea typeface="Microsoft YaHei"/>
              </a:rPr>
              <a:t>Functional vs. Non-Functional</a:t>
            </a:r>
            <a:endParaRPr/>
          </a:p>
        </p:txBody>
      </p:sp>
      <p:sp>
        <p:nvSpPr>
          <p:cNvPr id="815" name="" descr="{&quot;isTemplate&quot;:true,&quot;type&quot;:&quot;text&quot;}"/>
          <p:cNvSpPr txBox="1"/>
          <p:nvPr/>
        </p:nvSpPr>
        <p:spPr>
          <a:xfrm rot="0" flipH="0" flipV="0">
            <a:off x="11401425" y="91440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05 / 38</a:t>
            </a:r>
            <a:endParaRPr/>
          </a:p>
        </p:txBody>
      </p:sp>
      <p:graphicFrame>
        <p:nvGraphicFramePr>
          <p:cNvPr id="816" name=""/>
          <p:cNvGraphicFramePr/>
          <p:nvPr/>
        </p:nvGraphicFramePr>
        <p:xfrm rot="0" flipH="0" flipV="0">
          <a:off x="381000" y="1257300"/>
          <a:ext cx="11430000" cy="5105400"/>
        </p:xfrm>
        <a:graphic>
          <a:graphicData uri="http://schemas.openxmlformats.org/drawingml/2006/table">
            <a:tbl>
              <a:tblGrid>
                <a:gridCol w="1534512">
                  <a:extLst>
                    <a:ext uri="{9D8B030D-6E8A-4147-A177-3AD203B41FA5}">
                      <a16:colId val="1"/>
                    </a:ext>
                  </a:extLst>
                </a:gridCol>
                <a:gridCol w="4928514">
                  <a:extLst>
                    <a:ext uri="{9D8B030D-6E8A-4147-A177-3AD203B41FA5}">
                      <a16:colId val="2"/>
                    </a:ext>
                  </a:extLst>
                </a:gridCol>
                <a:gridCol w="4966973">
                  <a:extLst>
                    <a:ext uri="{9D8B030D-6E8A-4147-A177-3AD203B41FA5}">
                      <a16:colId val="3"/>
                    </a:ext>
                  </a:extLst>
                </a:gridCol>
              </a:tblGrid>
              <a:tr h="919300">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Functional</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200" b="1">
                          <a:solidFill>
                            <a:srgbClr val="FFFFFF"/>
                          </a:solidFill>
                          <a:latin typeface="Microsoft YaHei"/>
                          <a:ea typeface="Microsoft YaHei"/>
                        </a:rPr>
                        <a:t>Non-functional</a:t>
                      </a:r>
                      <a:endParaRPr/>
                    </a:p>
                  </a:txBody>
                  <a:tcPr marL="45720" marR="45720" marT="45720" marB="45720" anchor="ctr">
                    <a:lnL>
                      <a:noFill/>
                    </a:lnL>
                    <a:lnR>
                      <a:noFill/>
                    </a:lnR>
                    <a:lnT>
                      <a:noFill/>
                    </a:lnT>
                    <a:lnB>
                      <a:noFill/>
                    </a:lnB>
                    <a:solidFill>
                      <a:srgbClr val="3D7BD9"/>
                    </a:solidFill>
                  </a:tcPr>
                </a:tc>
                <a:extLst>
                  <a:ext uri="{0D108BD9-81ED-4DB2-BD59-A6C34878D82A}">
                    <a16:rowId val="1"/>
                  </a:ext>
                </a:extLst>
              </a:tr>
              <a:tr h="837220">
                <a:tc>
                  <a:txBody>
                    <a:bodyPr wrap="square" lIns="0" tIns="0" rIns="0" bIns="0" anchor="ctr">
                      <a:normAutofit/>
                    </a:bodyPr>
                    <a:p>
                      <a:pPr marL="114300" marR="114300" algn="l">
                        <a:lnSpc>
                          <a:spcPct val="120000"/>
                        </a:lnSpc>
                      </a:pPr>
                      <a:r>
                        <a:rPr sz="1050" b="1">
                          <a:solidFill>
                            <a:srgbClr val="0E3F8C"/>
                          </a:solidFill>
                          <a:latin typeface="Microsoft YaHei"/>
                          <a:ea typeface="Microsoft YaHei"/>
                        </a:rPr>
                        <a:t>What it says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What the system does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How well it does it</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37220">
                <a:tc>
                  <a:txBody>
                    <a:bodyPr wrap="square" lIns="0" tIns="0" rIns="0" bIns="0" anchor="ctr">
                      <a:normAutofit/>
                    </a:bodyPr>
                    <a:p>
                      <a:pPr marL="114300" marR="114300" algn="l">
                        <a:lnSpc>
                          <a:spcPct val="120000"/>
                        </a:lnSpc>
                      </a:pPr>
                      <a:r>
                        <a:rPr sz="1050" b="1">
                          <a:solidFill>
                            <a:srgbClr val="0E3F8C"/>
                          </a:solidFill>
                          <a:latin typeface="Microsoft YaHei"/>
                          <a:ea typeface="Microsoft YaHei"/>
                        </a:rPr>
                        <a:t>CampusBites example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A student shall pay for an order with a campus card, a wallet, or cash on delivery.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The order status screen shall refresh within 2 seconds for 5 000 concurrent users.</a:t>
                      </a:r>
                      <a:endParaRPr/>
                    </a:p>
                  </a:txBody>
                  <a:tcPr marL="45720" marR="45720" marT="45720" marB="45720" anchor="ctr">
                    <a:lnL>
                      <a:noFill/>
                    </a:lnL>
                    <a:lnR>
                      <a:noFill/>
                    </a:lnR>
                    <a:lnT>
                      <a:noFill/>
                    </a:lnT>
                    <a:lnB>
                      <a:noFill/>
                    </a:lnB>
                  </a:tcPr>
                </a:tc>
                <a:extLst>
                  <a:ext uri="{0D108BD9-81ED-4DB2-BD59-A6C34878D82A}">
                    <a16:rowId val="3"/>
                  </a:ext>
                </a:extLst>
              </a:tr>
              <a:tr h="837220">
                <a:tc>
                  <a:txBody>
                    <a:bodyPr wrap="square" lIns="0" tIns="0" rIns="0" bIns="0" anchor="ctr">
                      <a:normAutofit/>
                    </a:bodyPr>
                    <a:p>
                      <a:pPr marL="114300" marR="114300" algn="l">
                        <a:lnSpc>
                          <a:spcPct val="120000"/>
                        </a:lnSpc>
                      </a:pPr>
                      <a:r>
                        <a:rPr sz="1050" b="1">
                          <a:solidFill>
                            <a:srgbClr val="0E3F8C"/>
                          </a:solidFill>
                          <a:latin typeface="Microsoft YaHei"/>
                          <a:ea typeface="Microsoft YaHei"/>
                        </a:rPr>
                        <a:t>How you test it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Give it an input, check the output. One pass, one fail.</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Put it under load and measure. There is no single pass — there is a curve.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37220">
                <a:tc>
                  <a:txBody>
                    <a:bodyPr wrap="square" lIns="0" tIns="0" rIns="0" bIns="0" anchor="ctr">
                      <a:normAutofit/>
                    </a:bodyPr>
                    <a:p>
                      <a:pPr marL="114300" marR="114300" algn="l">
                        <a:lnSpc>
                          <a:spcPct val="120000"/>
                        </a:lnSpc>
                      </a:pPr>
                      <a:r>
                        <a:rPr sz="1050" b="1">
                          <a:solidFill>
                            <a:srgbClr val="0E3F8C"/>
                          </a:solidFill>
                          <a:latin typeface="Microsoft YaHei"/>
                          <a:ea typeface="Microsoft YaHei"/>
                        </a:rPr>
                        <a:t>Typical failure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A feature is missing. The client notices at the demo.</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It works for one user and dies for five thousand. Nobody notices until launch.</a:t>
                      </a:r>
                      <a:endParaRPr/>
                    </a:p>
                  </a:txBody>
                  <a:tcPr marL="45720" marR="45720" marT="45720" marB="45720" anchor="ctr">
                    <a:lnL>
                      <a:noFill/>
                    </a:lnL>
                    <a:lnR>
                      <a:noFill/>
                    </a:lnR>
                    <a:lnT>
                      <a:noFill/>
                    </a:lnT>
                    <a:lnB>
                      <a:noFill/>
                    </a:lnB>
                  </a:tcPr>
                </a:tc>
                <a:extLst>
                  <a:ext uri="{0D108BD9-81ED-4DB2-BD59-A6C34878D82A}">
                    <a16:rowId val="5"/>
                  </a:ext>
                </a:extLst>
              </a:tr>
              <a:tr h="837220">
                <a:tc>
                  <a:txBody>
                    <a:bodyPr wrap="square" lIns="0" tIns="0" rIns="0" bIns="0" anchor="ctr">
                      <a:normAutofit/>
                    </a:bodyPr>
                    <a:p>
                      <a:pPr marL="114300" marR="114300" algn="l">
                        <a:lnSpc>
                          <a:spcPct val="120000"/>
                        </a:lnSpc>
                      </a:pPr>
                      <a:r>
                        <a:rPr sz="1050" b="1">
                          <a:solidFill>
                            <a:srgbClr val="0E3F8C"/>
                          </a:solidFill>
                          <a:latin typeface="Microsoft YaHei"/>
                          <a:ea typeface="Microsoft YaHei"/>
                        </a:rPr>
                        <a:t>Who complains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The client — "where is my button?"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Operations — at 12:05 on a Monday, with a queue out the door.</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817" name=""/>
          <p:cNvSpPr/>
          <p:nvPr/>
        </p:nvSpPr>
        <p:spPr>
          <a:xfrm rot="0" flipH="0" flipV="0">
            <a:off x="0" y="6419850"/>
            <a:ext cx="12192000" cy="438150"/>
          </a:xfrm>
          <a:prstGeom prst="rect">
            <a:avLst/>
          </a:prstGeom>
          <a:solidFill>
            <a:srgbClr val="0E3F8C"/>
          </a:solidFill>
          <a:ln/>
        </p:spPr>
        <p:txBody>
          <a:bodyPr/>
          <a:p>
            <a:pPr/>
            <a:endParaRPr/>
          </a:p>
        </p:txBody>
      </p:sp>
      <p:sp>
        <p:nvSpPr>
          <p:cNvPr id="818" name="" descr="{&quot;isTemplate&quot;:true,&quot;type&quot;:&quot;text&quot;}"/>
          <p:cNvSpPr txBox="1"/>
          <p:nvPr/>
        </p:nvSpPr>
        <p:spPr>
          <a:xfrm rot="0" flipH="0" flipV="0">
            <a:off x="2466975" y="6543675"/>
            <a:ext cx="7267575" cy="190500"/>
          </a:xfrm>
          <a:prstGeom prst="rect"/>
        </p:spPr>
        <p:txBody>
          <a:bodyPr wrap="none" lIns="0" tIns="0" rIns="0" bIns="0"/>
          <a:p>
            <a:pPr>
              <a:lnSpc>
                <a:spcPct val="100000"/>
              </a:lnSpc>
            </a:pPr>
            <a:r>
              <a:rPr lang="en-US" sz="1238" b="1">
                <a:solidFill>
                  <a:srgbClr val="FFFFFF"/>
                </a:solidFill>
                <a:latin typeface="Microsoft YaHei"/>
                <a:ea typeface="Microsoft YaHei"/>
              </a:rPr>
              <a:t>Functional requirements get you the demo. Non-functional requirements get you the deployment.</a:t>
            </a:r>
            <a:endParaRPr/>
          </a:p>
        </p:txBody>
      </p:sp>
    </p:spTree>
  </p:cSld>
</p:sld>
</file>

<file path=ppt/slides/slide6.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819" name=""/>
        <p:cNvGrpSpPr/>
        <p:nvPr/>
      </p:nvGrpSpPr>
      <p:grpSpPr>
        <a:xfrm>
          <a:off x="0" y="0"/>
          <a:ext cx="0" cy="0"/>
          <a:chOff x="0" y="0"/>
          <a:chExt cx="0" cy="0"/>
        </a:xfrm>
      </p:grpSpPr>
      <p:sp>
        <p:nvSpPr>
          <p:cNvPr id="820" name=""/>
          <p:cNvSpPr/>
          <p:nvPr/>
        </p:nvSpPr>
        <p:spPr>
          <a:xfrm rot="0" flipH="0" flipV="0">
            <a:off x="0" y="0"/>
            <a:ext cx="12192000" cy="6858000"/>
          </a:xfrm>
          <a:prstGeom prst="rect">
            <a:avLst/>
          </a:prstGeom>
          <a:solidFill>
            <a:srgbClr val="FFFFFF"/>
          </a:solidFill>
          <a:ln/>
        </p:spPr>
        <p:txBody>
          <a:bodyPr/>
          <a:p>
            <a:pPr/>
            <a:endParaRPr/>
          </a:p>
        </p:txBody>
      </p:sp>
      <p:sp>
        <p:nvSpPr>
          <p:cNvPr id="821" name=""/>
          <p:cNvSpPr/>
          <p:nvPr/>
        </p:nvSpPr>
        <p:spPr>
          <a:xfrm rot="0" flipH="0" flipV="0">
            <a:off x="0" y="0"/>
            <a:ext cx="12192000" cy="685800"/>
          </a:xfrm>
          <a:prstGeom prst="rect">
            <a:avLst/>
          </a:prstGeom>
          <a:solidFill>
            <a:srgbClr val="1E4FA8"/>
          </a:solidFill>
          <a:ln/>
        </p:spPr>
        <p:txBody>
          <a:bodyPr/>
          <a:p>
            <a:pPr/>
            <a:endParaRPr/>
          </a:p>
        </p:txBody>
      </p:sp>
      <p:sp>
        <p:nvSpPr>
          <p:cNvPr id="82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23" name="" descr="{&quot;isTemplate&quot;:true,&quot;type&quot;:&quot;text&quot;}"/>
          <p:cNvSpPr txBox="1"/>
          <p:nvPr/>
        </p:nvSpPr>
        <p:spPr>
          <a:xfrm rot="0" flipH="0" flipV="0">
            <a:off x="10229850" y="257175"/>
            <a:ext cx="1581150" cy="171450"/>
          </a:xfrm>
          <a:prstGeom prst="rect"/>
        </p:spPr>
        <p:txBody>
          <a:bodyPr wrap="none" lIns="0" tIns="0" rIns="0" bIns="0"/>
          <a:p>
            <a:pPr>
              <a:lnSpc>
                <a:spcPct val="100000"/>
              </a:lnSpc>
            </a:pPr>
            <a:r>
              <a:rPr lang="en-US" sz="1125">
                <a:solidFill>
                  <a:srgbClr val="B9CDF0"/>
                </a:solidFill>
                <a:latin typeface="Microsoft YaHei"/>
                <a:ea typeface="Microsoft YaHei"/>
              </a:rPr>
              <a:t>W04 · REQUIREMENTS</a:t>
            </a:r>
            <a:endParaRPr/>
          </a:p>
        </p:txBody>
      </p:sp>
      <p:sp>
        <p:nvSpPr>
          <p:cNvPr id="824" name="" descr="{&quot;isTemplate&quot;:true,&quot;type&quot;:&quot;text&quot;}"/>
          <p:cNvSpPr txBox="1"/>
          <p:nvPr/>
        </p:nvSpPr>
        <p:spPr>
          <a:xfrm rot="0" flipH="0" flipV="0">
            <a:off x="381000" y="800100"/>
            <a:ext cx="2743200" cy="342900"/>
          </a:xfrm>
          <a:prstGeom prst="rect"/>
        </p:spPr>
        <p:txBody>
          <a:bodyPr wrap="none" lIns="0" tIns="0" rIns="0" bIns="0"/>
          <a:p>
            <a:pPr>
              <a:lnSpc>
                <a:spcPct val="100000"/>
              </a:lnSpc>
            </a:pPr>
            <a:r>
              <a:rPr lang="en-US" sz="2250" b="1">
                <a:solidFill>
                  <a:srgbClr val="0E3F8C"/>
                </a:solidFill>
                <a:latin typeface="Microsoft YaHei"/>
                <a:ea typeface="Microsoft YaHei"/>
              </a:rPr>
              <a:t>FURPS+ at a Glance</a:t>
            </a:r>
            <a:endParaRPr/>
          </a:p>
        </p:txBody>
      </p:sp>
      <p:sp>
        <p:nvSpPr>
          <p:cNvPr id="82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06 / 38</a:t>
            </a:r>
            <a:endParaRPr/>
          </a:p>
        </p:txBody>
      </p:sp>
      <p:pic>
        <p:nvPicPr>
          <p:cNvPr id="826" name=""/>
          <p:cNvPicPr>
            <a:picLocks noChangeAspect="1"/>
          </p:cNvPicPr>
          <p:nvPr/>
        </p:nvPicPr>
        <p:blipFill>
          <a:blip>
            <a:extLst>
              <a:ext uri="{96DAC541-7B7A-43D3-8B79-37D633B846F1}">
                <asvg:svgBlip r:embed="rId1"/>
              </a:ext>
            </a:extLst>
          </a:blip>
          <a:stretch>
            <a:fillRect/>
          </a:stretch>
        </p:blipFill>
        <p:spPr>
          <a:xfrm rot="0" flipH="0" flipV="0">
            <a:off x="476250" y="2038350"/>
            <a:ext cx="11239500" cy="3638550"/>
          </a:xfrm>
          <a:prstGeom prst="rect">
            <a:avLst/>
          </a:prstGeom>
          <a:ln/>
        </p:spPr>
      </p:pic>
      <p:sp>
        <p:nvSpPr>
          <p:cNvPr id="827" name="" descr="{&quot;isTemplate&quot;:true,&quot;type&quot;:&quot;text&quot;}"/>
          <p:cNvSpPr txBox="1"/>
          <p:nvPr/>
        </p:nvSpPr>
        <p:spPr>
          <a:xfrm rot="0" flipH="0" flipV="0">
            <a:off x="381000" y="6619875"/>
            <a:ext cx="50577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FURPS+ is a checklist, not a procedure — use it to notice what you forgot</a:t>
            </a:r>
            <a:endParaRPr/>
          </a:p>
        </p:txBody>
      </p:sp>
      <p:sp>
        <p:nvSpPr>
          <p:cNvPr id="828"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06 / 38</a:t>
            </a:r>
            <a:endParaRPr/>
          </a:p>
        </p:txBody>
      </p:sp>
    </p:spTree>
  </p:cSld>
</p:sld>
</file>

<file path=ppt/slides/slide7.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829" name=""/>
        <p:cNvGrpSpPr/>
        <p:nvPr/>
      </p:nvGrpSpPr>
      <p:grpSpPr>
        <a:xfrm>
          <a:off x="0" y="0"/>
          <a:ext cx="0" cy="0"/>
          <a:chOff x="0" y="0"/>
          <a:chExt cx="0" cy="0"/>
        </a:xfrm>
      </p:grpSpPr>
      <p:sp>
        <p:nvSpPr>
          <p:cNvPr id="830" name=""/>
          <p:cNvSpPr/>
          <p:nvPr/>
        </p:nvSpPr>
        <p:spPr>
          <a:xfrm rot="0" flipH="0" flipV="0">
            <a:off x="0" y="0"/>
            <a:ext cx="12192000" cy="6858000"/>
          </a:xfrm>
          <a:prstGeom prst="rect">
            <a:avLst/>
          </a:prstGeom>
          <a:solidFill>
            <a:srgbClr val="FFFFFF"/>
          </a:solidFill>
          <a:ln/>
        </p:spPr>
        <p:txBody>
          <a:bodyPr/>
          <a:p>
            <a:pPr/>
            <a:endParaRPr/>
          </a:p>
        </p:txBody>
      </p:sp>
      <p:sp>
        <p:nvSpPr>
          <p:cNvPr id="831" name=""/>
          <p:cNvSpPr/>
          <p:nvPr/>
        </p:nvSpPr>
        <p:spPr>
          <a:xfrm rot="0" flipH="0" flipV="0">
            <a:off x="0" y="0"/>
            <a:ext cx="12192000" cy="685800"/>
          </a:xfrm>
          <a:prstGeom prst="rect">
            <a:avLst/>
          </a:prstGeom>
          <a:solidFill>
            <a:srgbClr val="1E4FA8"/>
          </a:solidFill>
          <a:ln/>
        </p:spPr>
        <p:txBody>
          <a:bodyPr/>
          <a:p>
            <a:pPr/>
            <a:endParaRPr/>
          </a:p>
        </p:txBody>
      </p:sp>
      <p:sp>
        <p:nvSpPr>
          <p:cNvPr id="83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33" name="" descr="{&quot;isTemplate&quot;:true,&quot;type&quot;:&quot;text&quot;}"/>
          <p:cNvSpPr txBox="1"/>
          <p:nvPr/>
        </p:nvSpPr>
        <p:spPr>
          <a:xfrm rot="0" flipH="0" flipV="0">
            <a:off x="10229850" y="257175"/>
            <a:ext cx="1581150" cy="171450"/>
          </a:xfrm>
          <a:prstGeom prst="rect"/>
        </p:spPr>
        <p:txBody>
          <a:bodyPr wrap="none" lIns="0" tIns="0" rIns="0" bIns="0"/>
          <a:p>
            <a:pPr>
              <a:lnSpc>
                <a:spcPct val="100000"/>
              </a:lnSpc>
            </a:pPr>
            <a:r>
              <a:rPr lang="en-US" sz="1125">
                <a:solidFill>
                  <a:srgbClr val="B9CDF0"/>
                </a:solidFill>
                <a:latin typeface="Microsoft YaHei"/>
                <a:ea typeface="Microsoft YaHei"/>
              </a:rPr>
              <a:t>W04 · REQUIREMENTS</a:t>
            </a:r>
            <a:endParaRPr/>
          </a:p>
        </p:txBody>
      </p:sp>
      <p:sp>
        <p:nvSpPr>
          <p:cNvPr id="834" name="" descr="{&quot;isTemplate&quot;:true,&quot;type&quot;:&quot;text&quot;}"/>
          <p:cNvSpPr txBox="1"/>
          <p:nvPr/>
        </p:nvSpPr>
        <p:spPr>
          <a:xfrm rot="0" flipH="0" flipV="0">
            <a:off x="381000" y="819150"/>
            <a:ext cx="4848225" cy="314325"/>
          </a:xfrm>
          <a:prstGeom prst="rect"/>
        </p:spPr>
        <p:txBody>
          <a:bodyPr wrap="none" lIns="0" tIns="0" rIns="0" bIns="0"/>
          <a:p>
            <a:pPr>
              <a:lnSpc>
                <a:spcPct val="100000"/>
              </a:lnSpc>
            </a:pPr>
            <a:r>
              <a:rPr lang="en-US" sz="2025" b="1">
                <a:solidFill>
                  <a:srgbClr val="0E3F8C"/>
                </a:solidFill>
                <a:latin typeface="Microsoft YaHei"/>
                <a:ea typeface="Microsoft YaHei"/>
              </a:rPr>
              <a:t>“The system shall…” — Testable or Not</a:t>
            </a:r>
            <a:endParaRPr/>
          </a:p>
        </p:txBody>
      </p:sp>
      <p:sp>
        <p:nvSpPr>
          <p:cNvPr id="83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07 / 38</a:t>
            </a:r>
            <a:endParaRPr/>
          </a:p>
        </p:txBody>
      </p:sp>
      <p:sp>
        <p:nvSpPr>
          <p:cNvPr id="836" name=""/>
          <p:cNvSpPr/>
          <p:nvPr/>
        </p:nvSpPr>
        <p:spPr>
          <a:xfrm rot="0" flipH="0" flipV="0">
            <a:off x="381000" y="1228725"/>
            <a:ext cx="247650" cy="247650"/>
          </a:xfrm>
          <a:prstGeom prst="roundRect">
            <a:avLst>
              <a:gd name="adj" fmla="val 50000"/>
            </a:avLst>
          </a:prstGeom>
          <a:solidFill>
            <a:srgbClr val="D9534F"/>
          </a:solidFill>
          <a:ln/>
        </p:spPr>
        <p:txBody>
          <a:bodyPr/>
          <a:p>
            <a:pPr/>
            <a:endParaRPr/>
          </a:p>
        </p:txBody>
      </p:sp>
      <p:pic>
        <p:nvPicPr>
          <p:cNvPr id="837" name=""/>
          <p:cNvPicPr>
            <a:picLocks noChangeAspect="1"/>
          </p:cNvPicPr>
          <p:nvPr/>
        </p:nvPicPr>
        <p:blipFill>
          <a:blip>
            <a:extLst>
              <a:ext uri="{96DAC541-7B7A-43D3-8B79-37D633B846F1}">
                <asvg:svgBlip r:embed="rId1"/>
              </a:ext>
            </a:extLst>
          </a:blip>
          <a:stretch>
            <a:fillRect/>
          </a:stretch>
        </p:blipFill>
        <p:spPr>
          <a:xfrm rot="0" flipH="0" flipV="0">
            <a:off x="447675" y="1295400"/>
            <a:ext cx="114300" cy="114300"/>
          </a:xfrm>
          <a:prstGeom prst="rect">
            <a:avLst/>
          </a:prstGeom>
          <a:ln/>
        </p:spPr>
      </p:pic>
      <p:sp>
        <p:nvSpPr>
          <p:cNvPr id="838" name="" descr="{&quot;isTemplate&quot;:true,&quot;type&quot;:&quot;text&quot;}"/>
          <p:cNvSpPr txBox="1"/>
          <p:nvPr/>
        </p:nvSpPr>
        <p:spPr>
          <a:xfrm rot="0" flipH="0" flipV="0">
            <a:off x="714375" y="1257300"/>
            <a:ext cx="1485900" cy="190500"/>
          </a:xfrm>
          <a:prstGeom prst="rect"/>
        </p:spPr>
        <p:txBody>
          <a:bodyPr wrap="none" lIns="0" tIns="0" rIns="0" bIns="0"/>
          <a:p>
            <a:pPr>
              <a:lnSpc>
                <a:spcPct val="100000"/>
              </a:lnSpc>
            </a:pPr>
            <a:r>
              <a:rPr lang="en-US" sz="1200" b="1">
                <a:solidFill>
                  <a:srgbClr val="D9534F"/>
                </a:solidFill>
                <a:latin typeface="Microsoft YaHei"/>
                <a:ea typeface="Microsoft YaHei"/>
              </a:rPr>
              <a:t>Untestable — a wish</a:t>
            </a:r>
            <a:endParaRPr/>
          </a:p>
        </p:txBody>
      </p:sp>
      <p:sp>
        <p:nvSpPr>
          <p:cNvPr id="839" name=""/>
          <p:cNvSpPr/>
          <p:nvPr/>
        </p:nvSpPr>
        <p:spPr>
          <a:xfrm rot="0" flipH="0" flipV="0">
            <a:off x="409575" y="1581150"/>
            <a:ext cx="5343525" cy="485775"/>
          </a:xfrm>
          <a:prstGeom prst="roundRect">
            <a:avLst>
              <a:gd name="adj" fmla="val 17647"/>
            </a:avLst>
          </a:prstGeom>
          <a:solidFill>
            <a:srgbClr val="FDF3F3"/>
          </a:solidFill>
          <a:ln/>
        </p:spPr>
        <p:txBody>
          <a:bodyPr/>
          <a:p>
            <a:pPr/>
            <a:endParaRPr/>
          </a:p>
        </p:txBody>
      </p:sp>
      <p:sp>
        <p:nvSpPr>
          <p:cNvPr id="840" name=""/>
          <p:cNvSpPr/>
          <p:nvPr/>
        </p:nvSpPr>
        <p:spPr>
          <a:xfrm rot="0" flipH="0" flipV="0">
            <a:off x="409575" y="15811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D9534F"/>
          </a:solidFill>
          <a:ln/>
        </p:spPr>
        <p:txBody>
          <a:bodyPr/>
          <a:p>
            <a:pPr/>
            <a:endParaRPr/>
          </a:p>
        </p:txBody>
      </p:sp>
      <p:sp>
        <p:nvSpPr>
          <p:cNvPr id="841" name="" descr="{&quot;isTemplate&quot;:true,&quot;type&quot;:&quot;text&quot;}"/>
          <p:cNvSpPr txBox="1"/>
          <p:nvPr/>
        </p:nvSpPr>
        <p:spPr>
          <a:xfrm rot="0" flipH="0" flipV="0">
            <a:off x="552450" y="1704975"/>
            <a:ext cx="5029200" cy="238125"/>
          </a:xfrm>
          <a:prstGeom prst="rect"/>
        </p:spPr>
        <p:txBody>
          <a:bodyPr wrap="none" lIns="0" tIns="0" rIns="0" bIns="0"/>
          <a:p>
            <a:pPr>
              <a:lnSpc>
                <a:spcPct val="150000"/>
              </a:lnSpc>
            </a:pPr>
            <a:r>
              <a:rPr lang="en-US" sz="1013">
                <a:solidFill>
                  <a:srgbClr val="4A5568"/>
                </a:solidFill>
                <a:latin typeface="Microsoft YaHei"/>
                <a:ea typeface="Microsoft YaHei"/>
              </a:rPr>
              <a:t>The system shall be user-friendly.</a:t>
            </a:r>
            <a:endParaRPr/>
          </a:p>
        </p:txBody>
      </p:sp>
      <p:sp>
        <p:nvSpPr>
          <p:cNvPr id="842" name=""/>
          <p:cNvSpPr/>
          <p:nvPr/>
        </p:nvSpPr>
        <p:spPr>
          <a:xfrm rot="0" flipH="0" flipV="0">
            <a:off x="409575" y="2152650"/>
            <a:ext cx="5343525" cy="485775"/>
          </a:xfrm>
          <a:prstGeom prst="roundRect">
            <a:avLst>
              <a:gd name="adj" fmla="val 17647"/>
            </a:avLst>
          </a:prstGeom>
          <a:solidFill>
            <a:srgbClr val="FDF3F3"/>
          </a:solidFill>
          <a:ln/>
        </p:spPr>
        <p:txBody>
          <a:bodyPr/>
          <a:p>
            <a:pPr/>
            <a:endParaRPr/>
          </a:p>
        </p:txBody>
      </p:sp>
      <p:sp>
        <p:nvSpPr>
          <p:cNvPr id="843" name=""/>
          <p:cNvSpPr/>
          <p:nvPr/>
        </p:nvSpPr>
        <p:spPr>
          <a:xfrm rot="0" flipH="0" flipV="0">
            <a:off x="409575" y="21526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D9534F"/>
          </a:solidFill>
          <a:ln/>
        </p:spPr>
        <p:txBody>
          <a:bodyPr/>
          <a:p>
            <a:pPr/>
            <a:endParaRPr/>
          </a:p>
        </p:txBody>
      </p:sp>
      <p:sp>
        <p:nvSpPr>
          <p:cNvPr id="844" name="" descr="{&quot;isTemplate&quot;:true,&quot;type&quot;:&quot;text&quot;}"/>
          <p:cNvSpPr txBox="1"/>
          <p:nvPr/>
        </p:nvSpPr>
        <p:spPr>
          <a:xfrm rot="0" flipH="0" flipV="0">
            <a:off x="552450" y="2276475"/>
            <a:ext cx="5029200" cy="238125"/>
          </a:xfrm>
          <a:prstGeom prst="rect"/>
        </p:spPr>
        <p:txBody>
          <a:bodyPr wrap="none" lIns="0" tIns="0" rIns="0" bIns="0"/>
          <a:p>
            <a:pPr>
              <a:lnSpc>
                <a:spcPct val="150000"/>
              </a:lnSpc>
            </a:pPr>
            <a:r>
              <a:rPr lang="en-US" sz="1013">
                <a:solidFill>
                  <a:srgbClr val="4A5568"/>
                </a:solidFill>
                <a:latin typeface="Microsoft YaHei"/>
                <a:ea typeface="Microsoft YaHei"/>
              </a:rPr>
              <a:t>The system shall be fast and reliable.</a:t>
            </a:r>
            <a:endParaRPr/>
          </a:p>
        </p:txBody>
      </p:sp>
      <p:sp>
        <p:nvSpPr>
          <p:cNvPr id="845" name=""/>
          <p:cNvSpPr/>
          <p:nvPr/>
        </p:nvSpPr>
        <p:spPr>
          <a:xfrm rot="0" flipH="0" flipV="0">
            <a:off x="409575" y="2724150"/>
            <a:ext cx="5343525" cy="485775"/>
          </a:xfrm>
          <a:prstGeom prst="roundRect">
            <a:avLst>
              <a:gd name="adj" fmla="val 17647"/>
            </a:avLst>
          </a:prstGeom>
          <a:solidFill>
            <a:srgbClr val="FDF3F3"/>
          </a:solidFill>
          <a:ln/>
        </p:spPr>
        <p:txBody>
          <a:bodyPr/>
          <a:p>
            <a:pPr/>
            <a:endParaRPr/>
          </a:p>
        </p:txBody>
      </p:sp>
      <p:sp>
        <p:nvSpPr>
          <p:cNvPr id="846" name=""/>
          <p:cNvSpPr/>
          <p:nvPr/>
        </p:nvSpPr>
        <p:spPr>
          <a:xfrm rot="0" flipH="0" flipV="0">
            <a:off x="409575" y="27241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D9534F"/>
          </a:solidFill>
          <a:ln/>
        </p:spPr>
        <p:txBody>
          <a:bodyPr/>
          <a:p>
            <a:pPr/>
            <a:endParaRPr/>
          </a:p>
        </p:txBody>
      </p:sp>
      <p:sp>
        <p:nvSpPr>
          <p:cNvPr id="847" name="" descr="{&quot;isTemplate&quot;:true,&quot;type&quot;:&quot;text&quot;}"/>
          <p:cNvSpPr txBox="1"/>
          <p:nvPr/>
        </p:nvSpPr>
        <p:spPr>
          <a:xfrm rot="0" flipH="0" flipV="0">
            <a:off x="552450" y="2847975"/>
            <a:ext cx="5029200" cy="238125"/>
          </a:xfrm>
          <a:prstGeom prst="rect"/>
        </p:spPr>
        <p:txBody>
          <a:bodyPr wrap="none" lIns="0" tIns="0" rIns="0" bIns="0"/>
          <a:p>
            <a:pPr>
              <a:lnSpc>
                <a:spcPct val="150000"/>
              </a:lnSpc>
            </a:pPr>
            <a:r>
              <a:rPr lang="en-US" sz="1013">
                <a:solidFill>
                  <a:srgbClr val="4A5568"/>
                </a:solidFill>
                <a:latin typeface="Microsoft YaHei"/>
                <a:ea typeface="Microsoft YaHei"/>
              </a:rPr>
              <a:t>The system shall handle payments securely.</a:t>
            </a:r>
            <a:endParaRPr/>
          </a:p>
        </p:txBody>
      </p:sp>
      <p:sp>
        <p:nvSpPr>
          <p:cNvPr id="848" name=""/>
          <p:cNvSpPr/>
          <p:nvPr/>
        </p:nvSpPr>
        <p:spPr>
          <a:xfrm rot="0" flipH="0" flipV="0">
            <a:off x="409575" y="3295650"/>
            <a:ext cx="5343525" cy="485775"/>
          </a:xfrm>
          <a:prstGeom prst="roundRect">
            <a:avLst>
              <a:gd name="adj" fmla="val 17647"/>
            </a:avLst>
          </a:prstGeom>
          <a:solidFill>
            <a:srgbClr val="FDF3F3"/>
          </a:solidFill>
          <a:ln/>
        </p:spPr>
        <p:txBody>
          <a:bodyPr/>
          <a:p>
            <a:pPr/>
            <a:endParaRPr/>
          </a:p>
        </p:txBody>
      </p:sp>
      <p:sp>
        <p:nvSpPr>
          <p:cNvPr id="849" name=""/>
          <p:cNvSpPr/>
          <p:nvPr/>
        </p:nvSpPr>
        <p:spPr>
          <a:xfrm rot="0" flipH="0" flipV="0">
            <a:off x="409575" y="32956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D9534F"/>
          </a:solidFill>
          <a:ln/>
        </p:spPr>
        <p:txBody>
          <a:bodyPr/>
          <a:p>
            <a:pPr/>
            <a:endParaRPr/>
          </a:p>
        </p:txBody>
      </p:sp>
      <p:sp>
        <p:nvSpPr>
          <p:cNvPr id="850" name="" descr="{&quot;isTemplate&quot;:true,&quot;type&quot;:&quot;text&quot;}"/>
          <p:cNvSpPr txBox="1"/>
          <p:nvPr/>
        </p:nvSpPr>
        <p:spPr>
          <a:xfrm rot="0" flipH="0" flipV="0">
            <a:off x="552450" y="3419475"/>
            <a:ext cx="5029200" cy="238125"/>
          </a:xfrm>
          <a:prstGeom prst="rect"/>
        </p:spPr>
        <p:txBody>
          <a:bodyPr wrap="none" lIns="0" tIns="0" rIns="0" bIns="0"/>
          <a:p>
            <a:pPr>
              <a:lnSpc>
                <a:spcPct val="150000"/>
              </a:lnSpc>
            </a:pPr>
            <a:r>
              <a:rPr lang="en-US" sz="1013">
                <a:solidFill>
                  <a:srgbClr val="4A5568"/>
                </a:solidFill>
                <a:latin typeface="Microsoft YaHei"/>
                <a:ea typeface="Microsoft YaHei"/>
              </a:rPr>
              <a:t>The system shall have a good menu page.</a:t>
            </a:r>
            <a:endParaRPr/>
          </a:p>
        </p:txBody>
      </p:sp>
      <p:sp>
        <p:nvSpPr>
          <p:cNvPr id="851" name=""/>
          <p:cNvSpPr/>
          <p:nvPr/>
        </p:nvSpPr>
        <p:spPr>
          <a:xfrm rot="0" flipH="0" flipV="0">
            <a:off x="381000" y="3886200"/>
            <a:ext cx="5343525" cy="657225"/>
          </a:xfrm>
          <a:prstGeom prst="roundRect">
            <a:avLst>
              <a:gd name="adj" fmla="val 13043"/>
            </a:avLst>
          </a:prstGeom>
          <a:solidFill>
            <a:srgbClr val="F7F9FC"/>
          </a:solidFill>
          <a:ln/>
        </p:spPr>
        <p:txBody>
          <a:bodyPr/>
          <a:p>
            <a:pPr/>
            <a:endParaRPr/>
          </a:p>
        </p:txBody>
      </p:sp>
      <p:sp>
        <p:nvSpPr>
          <p:cNvPr id="852" name="" descr="{&quot;isTemplate&quot;:true,&quot;type&quot;:&quot;text&quot;}"/>
          <p:cNvSpPr txBox="1"/>
          <p:nvPr/>
        </p:nvSpPr>
        <p:spPr>
          <a:xfrm rot="0" flipH="0" flipV="0">
            <a:off x="523875" y="4000500"/>
            <a:ext cx="5057775" cy="428625"/>
          </a:xfrm>
          <a:prstGeom prst="rect"/>
        </p:spPr>
        <p:txBody>
          <a:bodyPr wrap="square" lIns="0" tIns="0" rIns="0" bIns="0">
            <a:normAutofit/>
          </a:bodyPr>
          <a:p>
            <a:pPr>
              <a:lnSpc>
                <a:spcPct val="150000"/>
              </a:lnSpc>
            </a:pPr>
            <a:r>
              <a:rPr lang="en-US" sz="938">
                <a:solidFill>
                  <a:srgbClr val="8B97A8"/>
                </a:solidFill>
                <a:latin typeface="Microsoft YaHei"/>
                <a:ea typeface="Microsoft YaHei"/>
              </a:rPr>
              <a:t>Every one of these is an opinion wearing a requirement’s clothes. You cannot fail a test you cannot write.</a:t>
            </a:r>
            <a:endParaRPr/>
          </a:p>
        </p:txBody>
      </p:sp>
      <p:pic>
        <p:nvPicPr>
          <p:cNvPr id="853" name=""/>
          <p:cNvPicPr>
            <a:picLocks noChangeAspect="1"/>
          </p:cNvPicPr>
          <p:nvPr/>
        </p:nvPicPr>
        <p:blipFill>
          <a:blip>
            <a:extLst>
              <a:ext uri="{96DAC541-7B7A-43D3-8B79-37D633B846F1}">
                <asvg:svgBlip r:embed="rId2"/>
              </a:ext>
            </a:extLst>
          </a:blip>
          <a:stretch>
            <a:fillRect/>
          </a:stretch>
        </p:blipFill>
        <p:spPr>
          <a:xfrm rot="0" flipH="0" flipV="0">
            <a:off x="5991225" y="3724275"/>
            <a:ext cx="209550" cy="209550"/>
          </a:xfrm>
          <a:prstGeom prst="rect">
            <a:avLst/>
          </a:prstGeom>
          <a:ln/>
        </p:spPr>
      </p:pic>
      <p:sp>
        <p:nvSpPr>
          <p:cNvPr id="854" name=""/>
          <p:cNvSpPr/>
          <p:nvPr/>
        </p:nvSpPr>
        <p:spPr>
          <a:xfrm rot="0" flipH="0" flipV="0">
            <a:off x="6467475" y="1228725"/>
            <a:ext cx="247650" cy="247650"/>
          </a:xfrm>
          <a:prstGeom prst="roundRect">
            <a:avLst>
              <a:gd name="adj" fmla="val 50000"/>
            </a:avLst>
          </a:prstGeom>
          <a:solidFill>
            <a:srgbClr val="1E4FA8"/>
          </a:solidFill>
          <a:ln/>
        </p:spPr>
        <p:txBody>
          <a:bodyPr/>
          <a:p>
            <a:pPr/>
            <a:endParaRPr/>
          </a:p>
        </p:txBody>
      </p:sp>
      <p:pic>
        <p:nvPicPr>
          <p:cNvPr id="855" name=""/>
          <p:cNvPicPr>
            <a:picLocks noChangeAspect="1"/>
          </p:cNvPicPr>
          <p:nvPr/>
        </p:nvPicPr>
        <p:blipFill>
          <a:blip>
            <a:extLst>
              <a:ext uri="{96DAC541-7B7A-43D3-8B79-37D633B846F1}">
                <asvg:svgBlip r:embed="rId3"/>
              </a:ext>
            </a:extLst>
          </a:blip>
          <a:stretch>
            <a:fillRect/>
          </a:stretch>
        </p:blipFill>
        <p:spPr>
          <a:xfrm rot="0" flipH="0" flipV="0">
            <a:off x="6534150" y="1295400"/>
            <a:ext cx="114300" cy="114300"/>
          </a:xfrm>
          <a:prstGeom prst="rect">
            <a:avLst/>
          </a:prstGeom>
          <a:ln/>
        </p:spPr>
      </p:pic>
      <p:sp>
        <p:nvSpPr>
          <p:cNvPr id="856" name="" descr="{&quot;isTemplate&quot;:true,&quot;type&quot;:&quot;text&quot;}"/>
          <p:cNvSpPr txBox="1"/>
          <p:nvPr/>
        </p:nvSpPr>
        <p:spPr>
          <a:xfrm rot="0" flipH="0" flipV="0">
            <a:off x="6800850" y="1257300"/>
            <a:ext cx="1571625" cy="190500"/>
          </a:xfrm>
          <a:prstGeom prst="rect"/>
        </p:spPr>
        <p:txBody>
          <a:bodyPr wrap="none" lIns="0" tIns="0" rIns="0" bIns="0"/>
          <a:p>
            <a:pPr>
              <a:lnSpc>
                <a:spcPct val="100000"/>
              </a:lnSpc>
            </a:pPr>
            <a:r>
              <a:rPr lang="en-US" sz="1200" b="1">
                <a:solidFill>
                  <a:srgbClr val="1E4FA8"/>
                </a:solidFill>
                <a:latin typeface="Microsoft YaHei"/>
                <a:ea typeface="Microsoft YaHei"/>
              </a:rPr>
              <a:t>Testable — a promise</a:t>
            </a:r>
            <a:endParaRPr/>
          </a:p>
        </p:txBody>
      </p:sp>
      <p:sp>
        <p:nvSpPr>
          <p:cNvPr id="857" name=""/>
          <p:cNvSpPr/>
          <p:nvPr/>
        </p:nvSpPr>
        <p:spPr>
          <a:xfrm rot="0" flipH="0" flipV="0">
            <a:off x="6496050" y="1581150"/>
            <a:ext cx="5343525" cy="485775"/>
          </a:xfrm>
          <a:prstGeom prst="roundRect">
            <a:avLst>
              <a:gd name="adj" fmla="val 17647"/>
            </a:avLst>
          </a:prstGeom>
          <a:solidFill>
            <a:srgbClr val="F0F5FC"/>
          </a:solidFill>
          <a:ln/>
        </p:spPr>
        <p:txBody>
          <a:bodyPr/>
          <a:p>
            <a:pPr/>
            <a:endParaRPr/>
          </a:p>
        </p:txBody>
      </p:sp>
      <p:sp>
        <p:nvSpPr>
          <p:cNvPr id="858" name=""/>
          <p:cNvSpPr/>
          <p:nvPr/>
        </p:nvSpPr>
        <p:spPr>
          <a:xfrm rot="0" flipH="0" flipV="0">
            <a:off x="6496050" y="15811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1E4FA8"/>
          </a:solidFill>
          <a:ln/>
        </p:spPr>
        <p:txBody>
          <a:bodyPr/>
          <a:p>
            <a:pPr/>
            <a:endParaRPr/>
          </a:p>
        </p:txBody>
      </p:sp>
      <p:sp>
        <p:nvSpPr>
          <p:cNvPr id="859" name="" descr="{&quot;isTemplate&quot;:true,&quot;type&quot;:&quot;text&quot;}"/>
          <p:cNvSpPr txBox="1"/>
          <p:nvPr/>
        </p:nvSpPr>
        <p:spPr>
          <a:xfrm rot="0" flipH="0" flipV="0">
            <a:off x="6638925" y="1704975"/>
            <a:ext cx="5029200" cy="238125"/>
          </a:xfrm>
          <a:prstGeom prst="rect"/>
        </p:spPr>
        <p:txBody>
          <a:bodyPr wrap="none" lIns="0" tIns="0" rIns="0" bIns="0"/>
          <a:p>
            <a:pPr>
              <a:lnSpc>
                <a:spcPct val="150000"/>
              </a:lnSpc>
            </a:pPr>
            <a:r>
              <a:rPr lang="en-US" sz="1013">
                <a:solidFill>
                  <a:srgbClr val="1A2230"/>
                </a:solidFill>
                <a:latin typeface="Microsoft YaHei"/>
                <a:ea typeface="Microsoft YaHei"/>
              </a:rPr>
              <a:t>A first-time user shall complete an order in under 90 seconds without help.</a:t>
            </a:r>
            <a:endParaRPr/>
          </a:p>
        </p:txBody>
      </p:sp>
      <p:sp>
        <p:nvSpPr>
          <p:cNvPr id="860" name=""/>
          <p:cNvSpPr/>
          <p:nvPr/>
        </p:nvSpPr>
        <p:spPr>
          <a:xfrm rot="0" flipH="0" flipV="0">
            <a:off x="6496050" y="2152650"/>
            <a:ext cx="5343525" cy="714375"/>
          </a:xfrm>
          <a:prstGeom prst="roundRect">
            <a:avLst>
              <a:gd name="adj" fmla="val 12000"/>
            </a:avLst>
          </a:prstGeom>
          <a:solidFill>
            <a:srgbClr val="F0F5FC"/>
          </a:solidFill>
          <a:ln/>
        </p:spPr>
        <p:txBody>
          <a:bodyPr/>
          <a:p>
            <a:pPr/>
            <a:endParaRPr/>
          </a:p>
        </p:txBody>
      </p:sp>
      <p:sp>
        <p:nvSpPr>
          <p:cNvPr id="861" name=""/>
          <p:cNvSpPr/>
          <p:nvPr/>
        </p:nvSpPr>
        <p:spPr>
          <a:xfrm rot="0" flipH="0" flipV="0">
            <a:off x="6496050" y="2152650"/>
            <a:ext cx="5343525" cy="714375"/>
          </a:xfrm>
          <a:custGeom>
            <a:pathLst>
              <a:path w="561" h="75">
                <a:moveTo>
                  <a:pt x="8" y="0"/>
                </a:moveTo>
                <a:cubicBezTo>
                  <a:pt x="5" y="0"/>
                  <a:pt x="3" y="3"/>
                  <a:pt x="3" y="6"/>
                </a:cubicBezTo>
                <a:lnTo>
                  <a:pt x="3" y="69"/>
                </a:lnTo>
                <a:cubicBezTo>
                  <a:pt x="3" y="72"/>
                  <a:pt x="5" y="74"/>
                  <a:pt x="8" y="75"/>
                </a:cubicBezTo>
                <a:cubicBezTo>
                  <a:pt x="3" y="74"/>
                  <a:pt x="0" y="70"/>
                  <a:pt x="0" y="66"/>
                </a:cubicBezTo>
                <a:lnTo>
                  <a:pt x="0" y="9"/>
                </a:lnTo>
                <a:cubicBezTo>
                  <a:pt x="0" y="4"/>
                  <a:pt x="4" y="0"/>
                  <a:pt x="9" y="0"/>
                </a:cubicBezTo>
                <a:close/>
              </a:path>
            </a:pathLst>
          </a:custGeom>
          <a:solidFill>
            <a:srgbClr val="1E4FA8"/>
          </a:solidFill>
          <a:ln/>
        </p:spPr>
        <p:txBody>
          <a:bodyPr/>
          <a:p>
            <a:pPr/>
            <a:endParaRPr/>
          </a:p>
        </p:txBody>
      </p:sp>
      <p:sp>
        <p:nvSpPr>
          <p:cNvPr id="862" name="" descr="{&quot;isTemplate&quot;:true,&quot;type&quot;:&quot;text&quot;}"/>
          <p:cNvSpPr txBox="1"/>
          <p:nvPr/>
        </p:nvSpPr>
        <p:spPr>
          <a:xfrm rot="0" flipH="0" flipV="0">
            <a:off x="6638925" y="2276475"/>
            <a:ext cx="5029200" cy="466725"/>
          </a:xfrm>
          <a:prstGeom prst="rect"/>
        </p:spPr>
        <p:txBody>
          <a:bodyPr wrap="square" lIns="0" tIns="0" rIns="0" bIns="0">
            <a:normAutofit/>
          </a:bodyPr>
          <a:p>
            <a:pPr>
              <a:lnSpc>
                <a:spcPct val="150000"/>
              </a:lnSpc>
            </a:pPr>
            <a:r>
              <a:rPr lang="en-US" sz="1013">
                <a:solidFill>
                  <a:srgbClr val="1A2230"/>
                </a:solidFill>
                <a:latin typeface="Microsoft YaHei"/>
                <a:ea typeface="Microsoft YaHei"/>
              </a:rPr>
              <a:t>The status screen shall refresh within 2 s at 5 000 concurrent users; 99.5% uptime in term.</a:t>
            </a:r>
            <a:endParaRPr/>
          </a:p>
        </p:txBody>
      </p:sp>
      <p:sp>
        <p:nvSpPr>
          <p:cNvPr id="863" name=""/>
          <p:cNvSpPr/>
          <p:nvPr/>
        </p:nvSpPr>
        <p:spPr>
          <a:xfrm rot="0" flipH="0" flipV="0">
            <a:off x="6496050" y="2952750"/>
            <a:ext cx="5343525" cy="485775"/>
          </a:xfrm>
          <a:prstGeom prst="roundRect">
            <a:avLst>
              <a:gd name="adj" fmla="val 17647"/>
            </a:avLst>
          </a:prstGeom>
          <a:solidFill>
            <a:srgbClr val="F0F5FC"/>
          </a:solidFill>
          <a:ln/>
        </p:spPr>
        <p:txBody>
          <a:bodyPr/>
          <a:p>
            <a:pPr/>
            <a:endParaRPr/>
          </a:p>
        </p:txBody>
      </p:sp>
      <p:sp>
        <p:nvSpPr>
          <p:cNvPr id="864" name=""/>
          <p:cNvSpPr/>
          <p:nvPr/>
        </p:nvSpPr>
        <p:spPr>
          <a:xfrm rot="0" flipH="0" flipV="0">
            <a:off x="6496050" y="29527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1E4FA8"/>
          </a:solidFill>
          <a:ln/>
        </p:spPr>
        <p:txBody>
          <a:bodyPr/>
          <a:p>
            <a:pPr/>
            <a:endParaRPr/>
          </a:p>
        </p:txBody>
      </p:sp>
      <p:sp>
        <p:nvSpPr>
          <p:cNvPr id="865" name="" descr="{&quot;isTemplate&quot;:true,&quot;type&quot;:&quot;text&quot;}"/>
          <p:cNvSpPr txBox="1"/>
          <p:nvPr/>
        </p:nvSpPr>
        <p:spPr>
          <a:xfrm rot="0" flipH="0" flipV="0">
            <a:off x="6638925" y="3076575"/>
            <a:ext cx="5029200" cy="238125"/>
          </a:xfrm>
          <a:prstGeom prst="rect"/>
        </p:spPr>
        <p:txBody>
          <a:bodyPr wrap="none" lIns="0" tIns="0" rIns="0" bIns="0"/>
          <a:p>
            <a:pPr>
              <a:lnSpc>
                <a:spcPct val="150000"/>
              </a:lnSpc>
            </a:pPr>
            <a:r>
              <a:rPr lang="en-US" sz="1013">
                <a:solidFill>
                  <a:srgbClr val="1A2230"/>
                </a:solidFill>
                <a:latin typeface="Microsoft YaHei"/>
                <a:ea typeface="Microsoft YaHei"/>
              </a:rPr>
              <a:t>The system shall store only the provider token — never a full card number.</a:t>
            </a:r>
            <a:endParaRPr/>
          </a:p>
        </p:txBody>
      </p:sp>
      <p:sp>
        <p:nvSpPr>
          <p:cNvPr id="866" name=""/>
          <p:cNvSpPr/>
          <p:nvPr/>
        </p:nvSpPr>
        <p:spPr>
          <a:xfrm rot="0" flipH="0" flipV="0">
            <a:off x="6496050" y="3524250"/>
            <a:ext cx="5343525" cy="485775"/>
          </a:xfrm>
          <a:prstGeom prst="roundRect">
            <a:avLst>
              <a:gd name="adj" fmla="val 17647"/>
            </a:avLst>
          </a:prstGeom>
          <a:solidFill>
            <a:srgbClr val="F0F5FC"/>
          </a:solidFill>
          <a:ln/>
        </p:spPr>
        <p:txBody>
          <a:bodyPr/>
          <a:p>
            <a:pPr/>
            <a:endParaRPr/>
          </a:p>
        </p:txBody>
      </p:sp>
      <p:sp>
        <p:nvSpPr>
          <p:cNvPr id="867" name=""/>
          <p:cNvSpPr/>
          <p:nvPr/>
        </p:nvSpPr>
        <p:spPr>
          <a:xfrm rot="0" flipH="0" flipV="0">
            <a:off x="6496050" y="3524250"/>
            <a:ext cx="5343525" cy="485775"/>
          </a:xfrm>
          <a:custGeom>
            <a:pathLst>
              <a:path w="561" h="51">
                <a:moveTo>
                  <a:pt x="8" y="0"/>
                </a:moveTo>
                <a:cubicBezTo>
                  <a:pt x="5" y="0"/>
                  <a:pt x="3" y="3"/>
                  <a:pt x="3" y="6"/>
                </a:cubicBezTo>
                <a:lnTo>
                  <a:pt x="3" y="45"/>
                </a:lnTo>
                <a:cubicBezTo>
                  <a:pt x="3" y="48"/>
                  <a:pt x="5" y="50"/>
                  <a:pt x="8" y="51"/>
                </a:cubicBezTo>
                <a:cubicBezTo>
                  <a:pt x="3" y="50"/>
                  <a:pt x="0" y="46"/>
                  <a:pt x="0" y="42"/>
                </a:cubicBezTo>
                <a:lnTo>
                  <a:pt x="0" y="9"/>
                </a:lnTo>
                <a:cubicBezTo>
                  <a:pt x="0" y="4"/>
                  <a:pt x="4" y="0"/>
                  <a:pt x="9" y="0"/>
                </a:cubicBezTo>
                <a:close/>
              </a:path>
            </a:pathLst>
          </a:custGeom>
          <a:solidFill>
            <a:srgbClr val="1E4FA8"/>
          </a:solidFill>
          <a:ln/>
        </p:spPr>
        <p:txBody>
          <a:bodyPr/>
          <a:p>
            <a:pPr/>
            <a:endParaRPr/>
          </a:p>
        </p:txBody>
      </p:sp>
      <p:sp>
        <p:nvSpPr>
          <p:cNvPr id="868" name="" descr="{&quot;isTemplate&quot;:true,&quot;type&quot;:&quot;text&quot;}"/>
          <p:cNvSpPr txBox="1"/>
          <p:nvPr/>
        </p:nvSpPr>
        <p:spPr>
          <a:xfrm rot="0" flipH="0" flipV="0">
            <a:off x="6638925" y="3648075"/>
            <a:ext cx="5029200" cy="238125"/>
          </a:xfrm>
          <a:prstGeom prst="rect"/>
        </p:spPr>
        <p:txBody>
          <a:bodyPr wrap="none" lIns="0" tIns="0" rIns="0" bIns="0"/>
          <a:p>
            <a:pPr>
              <a:lnSpc>
                <a:spcPct val="150000"/>
              </a:lnSpc>
            </a:pPr>
            <a:r>
              <a:rPr lang="en-US" sz="1013">
                <a:solidFill>
                  <a:srgbClr val="1A2230"/>
                </a:solidFill>
                <a:latin typeface="Microsoft YaHei"/>
                <a:ea typeface="Microsoft YaHei"/>
              </a:rPr>
              <a:t>A manager shall mark an item sold out in no more than three taps.</a:t>
            </a:r>
            <a:endParaRPr/>
          </a:p>
        </p:txBody>
      </p:sp>
      <p:sp>
        <p:nvSpPr>
          <p:cNvPr id="869" name=""/>
          <p:cNvSpPr/>
          <p:nvPr/>
        </p:nvSpPr>
        <p:spPr>
          <a:xfrm rot="0" flipH="0" flipV="0">
            <a:off x="6467475" y="4114800"/>
            <a:ext cx="5343525" cy="657225"/>
          </a:xfrm>
          <a:prstGeom prst="roundRect">
            <a:avLst>
              <a:gd name="adj" fmla="val 13043"/>
            </a:avLst>
          </a:prstGeom>
          <a:solidFill>
            <a:srgbClr val="F0F5FC"/>
          </a:solidFill>
          <a:ln/>
        </p:spPr>
        <p:txBody>
          <a:bodyPr/>
          <a:p>
            <a:pPr/>
            <a:endParaRPr/>
          </a:p>
        </p:txBody>
      </p:sp>
      <p:sp>
        <p:nvSpPr>
          <p:cNvPr id="870" name="" descr="{&quot;isTemplate&quot;:true,&quot;type&quot;:&quot;text&quot;}"/>
          <p:cNvSpPr txBox="1"/>
          <p:nvPr/>
        </p:nvSpPr>
        <p:spPr>
          <a:xfrm rot="0" flipH="0" flipV="0">
            <a:off x="6610350" y="4229100"/>
            <a:ext cx="5057775" cy="428625"/>
          </a:xfrm>
          <a:prstGeom prst="rect"/>
        </p:spPr>
        <p:txBody>
          <a:bodyPr wrap="square" lIns="0" tIns="0" rIns="0" bIns="0">
            <a:normAutofit/>
          </a:bodyPr>
          <a:p>
            <a:pPr>
              <a:lnSpc>
                <a:spcPct val="150000"/>
              </a:lnSpc>
            </a:pPr>
            <a:r>
              <a:rPr lang="en-US" sz="938" b="1">
                <a:solidFill>
                  <a:srgbClr val="0E3F8C"/>
                </a:solidFill>
                <a:latin typeface="Microsoft YaHei"/>
                <a:ea typeface="Microsoft YaHei"/>
              </a:rPr>
              <a:t>Each one names a number, a threshold, or a forbidden thing. That is what makes it testable.</a:t>
            </a:r>
            <a:endParaRPr/>
          </a:p>
        </p:txBody>
      </p:sp>
      <p:sp>
        <p:nvSpPr>
          <p:cNvPr id="871" name=""/>
          <p:cNvSpPr/>
          <p:nvPr/>
        </p:nvSpPr>
        <p:spPr>
          <a:xfrm rot="0" flipH="0" flipV="0">
            <a:off x="0" y="6419850"/>
            <a:ext cx="12192000" cy="438150"/>
          </a:xfrm>
          <a:prstGeom prst="rect">
            <a:avLst/>
          </a:prstGeom>
          <a:solidFill>
            <a:srgbClr val="0E3F8C"/>
          </a:solidFill>
          <a:ln/>
        </p:spPr>
        <p:txBody>
          <a:bodyPr/>
          <a:p>
            <a:pPr/>
            <a:endParaRPr/>
          </a:p>
        </p:txBody>
      </p:sp>
      <p:sp>
        <p:nvSpPr>
          <p:cNvPr id="872" name="" descr="{&quot;isTemplate&quot;:true,&quot;type&quot;:&quot;text&quot;}"/>
          <p:cNvSpPr txBox="1"/>
          <p:nvPr/>
        </p:nvSpPr>
        <p:spPr>
          <a:xfrm rot="0" flipH="0" flipV="0">
            <a:off x="3305175" y="6543675"/>
            <a:ext cx="5581650" cy="190500"/>
          </a:xfrm>
          <a:prstGeom prst="rect"/>
        </p:spPr>
        <p:txBody>
          <a:bodyPr wrap="none" lIns="0" tIns="0" rIns="0" bIns="0"/>
          <a:p>
            <a:pPr>
              <a:lnSpc>
                <a:spcPct val="100000"/>
              </a:lnSpc>
            </a:pPr>
            <a:r>
              <a:rPr lang="en-US" sz="1200" b="1">
                <a:solidFill>
                  <a:srgbClr val="FFFFFF"/>
                </a:solidFill>
                <a:latin typeface="Microsoft YaHei"/>
                <a:ea typeface="Microsoft YaHei"/>
              </a:rPr>
              <a:t>If you cannot describe how you would test it, you have not finished writing it.</a:t>
            </a:r>
            <a:endParaRPr/>
          </a:p>
        </p:txBody>
      </p:sp>
    </p:spTree>
  </p:cSld>
</p:sld>
</file>

<file path=ppt/slides/slide8.xml><?xml version="1.0" encoding="utf-8"?>
<p:sld xmlns:a="http://schemas.openxmlformats.org/drawingml/2006/main" xmlns:p="http://schemas.openxmlformats.org/presentationml/2006/main">
  <p:cSld>
    <p:spTree>
      <p:nvGrpSpPr>
        <p:cNvPr id="873" name=""/>
        <p:cNvGrpSpPr/>
        <p:nvPr/>
      </p:nvGrpSpPr>
      <p:grpSpPr>
        <a:xfrm>
          <a:off x="0" y="0"/>
          <a:ext cx="0" cy="0"/>
          <a:chOff x="0" y="0"/>
          <a:chExt cx="0" cy="0"/>
        </a:xfrm>
      </p:grpSpPr>
      <p:sp>
        <p:nvSpPr>
          <p:cNvPr id="874" name=""/>
          <p:cNvSpPr/>
          <p:nvPr/>
        </p:nvSpPr>
        <p:spPr>
          <a:xfrm rot="0" flipH="0" flipV="0">
            <a:off x="0" y="0"/>
            <a:ext cx="12192000" cy="6858000"/>
          </a:xfrm>
          <a:prstGeom prst="rect">
            <a:avLst/>
          </a:prstGeom>
          <a:solidFill>
            <a:srgbClr val="0E3F8C"/>
          </a:solidFill>
          <a:ln/>
        </p:spPr>
        <p:txBody>
          <a:bodyPr/>
          <a:p>
            <a:pPr/>
            <a:endParaRPr/>
          </a:p>
        </p:txBody>
      </p:sp>
      <p:sp>
        <p:nvSpPr>
          <p:cNvPr id="87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876" name="" descr="{&quot;isTemplate&quot;:true,&quot;type&quot;:&quot;text&quot;}"/>
          <p:cNvSpPr txBox="1"/>
          <p:nvPr/>
        </p:nvSpPr>
        <p:spPr>
          <a:xfrm rot="0" flipH="0" flipV="0">
            <a:off x="28575" y="2171700"/>
            <a:ext cx="2790825" cy="2514600"/>
          </a:xfrm>
          <a:prstGeom prst="rect"/>
        </p:spPr>
        <p:txBody>
          <a:bodyPr wrap="none" lIns="0" tIns="0" rIns="0" bIns="0"/>
          <a:p>
            <a:pPr>
              <a:lnSpc>
                <a:spcPct val="100000"/>
              </a:lnSpc>
            </a:pPr>
            <a:r>
              <a:rPr lang="en-US" sz="16500" b="1">
                <a:solidFill>
                  <a:srgbClr val="3D7BD9"/>
                </a:solidFill>
                <a:latin typeface="Georgia"/>
                <a:ea typeface="Georgia"/>
              </a:rPr>
              <a:t>02</a:t>
            </a:r>
            <a:endParaRPr/>
          </a:p>
        </p:txBody>
      </p:sp>
      <p:sp>
        <p:nvSpPr>
          <p:cNvPr id="87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87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Actors</a:t>
            </a:r>
            <a:endParaRPr/>
          </a:p>
          <a:p>
            <a:pPr>
              <a:lnSpc>
                <a:spcPct val="118000"/>
              </a:lnSpc>
            </a:pPr>
            <a:r>
              <a:rPr lang="en-US" sz="3450" b="1">
                <a:solidFill>
                  <a:srgbClr val="FFFFFF"/>
                </a:solidFill>
                <a:latin typeface="Microsoft YaHei"/>
                <a:ea typeface="Microsoft YaHei"/>
              </a:rPr>
              <a:t>&amp; Goals</a:t>
            </a:r>
            <a:endParaRPr/>
          </a:p>
        </p:txBody>
      </p:sp>
      <p:sp>
        <p:nvSpPr>
          <p:cNvPr id="879" name=""/>
          <p:cNvSpPr/>
          <p:nvPr/>
        </p:nvSpPr>
        <p:spPr>
          <a:xfrm rot="0" flipH="0" flipV="0">
            <a:off x="3467100" y="3752850"/>
            <a:ext cx="609600" cy="38100"/>
          </a:xfrm>
          <a:prstGeom prst="rect">
            <a:avLst/>
          </a:prstGeom>
          <a:solidFill>
            <a:srgbClr val="FFC107"/>
          </a:solidFill>
          <a:ln/>
        </p:spPr>
        <p:txBody>
          <a:bodyPr/>
          <a:p>
            <a:pPr/>
            <a:endParaRPr/>
          </a:p>
        </p:txBody>
      </p:sp>
      <p:sp>
        <p:nvSpPr>
          <p:cNvPr id="880" name=""/>
          <p:cNvSpPr/>
          <p:nvPr/>
        </p:nvSpPr>
        <p:spPr>
          <a:xfrm rot="0" flipH="0" flipV="0">
            <a:off x="3467100" y="4114800"/>
            <a:ext cx="76200" cy="76200"/>
          </a:xfrm>
          <a:prstGeom prst="roundRect">
            <a:avLst>
              <a:gd name="adj" fmla="val 50000"/>
            </a:avLst>
          </a:prstGeom>
          <a:solidFill>
            <a:srgbClr val="3D7BD9"/>
          </a:solidFill>
          <a:ln/>
        </p:spPr>
        <p:txBody>
          <a:bodyPr/>
          <a:p>
            <a:pPr/>
            <a:endParaRPr/>
          </a:p>
        </p:txBody>
      </p:sp>
      <p:sp>
        <p:nvSpPr>
          <p:cNvPr id="881" name="" descr="{&quot;isTemplate&quot;:true,&quot;type&quot;:&quot;text&quot;}"/>
          <p:cNvSpPr txBox="1"/>
          <p:nvPr/>
        </p:nvSpPr>
        <p:spPr>
          <a:xfrm rot="0" flipH="0" flipV="0">
            <a:off x="3657600" y="4038600"/>
            <a:ext cx="2600325" cy="228600"/>
          </a:xfrm>
          <a:prstGeom prst="rect"/>
        </p:spPr>
        <p:txBody>
          <a:bodyPr wrap="none" lIns="0" tIns="0" rIns="0" bIns="0"/>
          <a:p>
            <a:pPr>
              <a:lnSpc>
                <a:spcPct val="100000"/>
              </a:lnSpc>
            </a:pPr>
            <a:r>
              <a:rPr lang="en-US" sz="1500">
                <a:solidFill>
                  <a:srgbClr val="C5D4EA"/>
                </a:solidFill>
                <a:latin typeface="Microsoft YaHei"/>
                <a:ea typeface="Microsoft YaHei"/>
              </a:rPr>
              <a:t>An actor is a role, not a person</a:t>
            </a:r>
            <a:endParaRPr/>
          </a:p>
        </p:txBody>
      </p:sp>
      <p:sp>
        <p:nvSpPr>
          <p:cNvPr id="882" name=""/>
          <p:cNvSpPr/>
          <p:nvPr/>
        </p:nvSpPr>
        <p:spPr>
          <a:xfrm rot="0" flipH="0" flipV="0">
            <a:off x="3467100" y="4457700"/>
            <a:ext cx="76200" cy="76200"/>
          </a:xfrm>
          <a:prstGeom prst="roundRect">
            <a:avLst>
              <a:gd name="adj" fmla="val 50000"/>
            </a:avLst>
          </a:prstGeom>
          <a:solidFill>
            <a:srgbClr val="3D7BD9"/>
          </a:solidFill>
          <a:ln/>
        </p:spPr>
        <p:txBody>
          <a:bodyPr/>
          <a:p>
            <a:pPr/>
            <a:endParaRPr/>
          </a:p>
        </p:txBody>
      </p:sp>
      <p:sp>
        <p:nvSpPr>
          <p:cNvPr id="883" name="" descr="{&quot;isTemplate&quot;:true,&quot;type&quot;:&quot;text&quot;}"/>
          <p:cNvSpPr txBox="1"/>
          <p:nvPr/>
        </p:nvSpPr>
        <p:spPr>
          <a:xfrm rot="0" flipH="0" flipV="0">
            <a:off x="3657600" y="4381500"/>
            <a:ext cx="2962275" cy="228600"/>
          </a:xfrm>
          <a:prstGeom prst="rect"/>
        </p:spPr>
        <p:txBody>
          <a:bodyPr wrap="none" lIns="0" tIns="0" rIns="0" bIns="0"/>
          <a:p>
            <a:pPr>
              <a:lnSpc>
                <a:spcPct val="100000"/>
              </a:lnSpc>
            </a:pPr>
            <a:r>
              <a:rPr lang="en-US" sz="1500">
                <a:solidFill>
                  <a:srgbClr val="C5D4EA"/>
                </a:solidFill>
                <a:latin typeface="Microsoft YaHei"/>
                <a:ea typeface="Microsoft YaHei"/>
              </a:rPr>
              <a:t>A use case is a goal, not a function</a:t>
            </a:r>
            <a:endParaRPr/>
          </a:p>
        </p:txBody>
      </p:sp>
      <p:sp>
        <p:nvSpPr>
          <p:cNvPr id="884" name=""/>
          <p:cNvSpPr/>
          <p:nvPr/>
        </p:nvSpPr>
        <p:spPr>
          <a:xfrm rot="0" flipH="0" flipV="0">
            <a:off x="3467100" y="4800600"/>
            <a:ext cx="76200" cy="76200"/>
          </a:xfrm>
          <a:prstGeom prst="roundRect">
            <a:avLst>
              <a:gd name="adj" fmla="val 50000"/>
            </a:avLst>
          </a:prstGeom>
          <a:solidFill>
            <a:srgbClr val="3D7BD9"/>
          </a:solidFill>
          <a:ln/>
        </p:spPr>
        <p:txBody>
          <a:bodyPr/>
          <a:p>
            <a:pPr/>
            <a:endParaRPr/>
          </a:p>
        </p:txBody>
      </p:sp>
      <p:sp>
        <p:nvSpPr>
          <p:cNvPr id="885" name="" descr="{&quot;isTemplate&quot;:true,&quot;type&quot;:&quot;text&quot;}"/>
          <p:cNvSpPr txBox="1"/>
          <p:nvPr/>
        </p:nvSpPr>
        <p:spPr>
          <a:xfrm rot="0" flipH="0" flipV="0">
            <a:off x="3657600" y="4724400"/>
            <a:ext cx="4600575" cy="228600"/>
          </a:xfrm>
          <a:prstGeom prst="rect"/>
        </p:spPr>
        <p:txBody>
          <a:bodyPr wrap="none" lIns="0" tIns="0" rIns="0" bIns="0"/>
          <a:p>
            <a:pPr>
              <a:lnSpc>
                <a:spcPct val="100000"/>
              </a:lnSpc>
            </a:pPr>
            <a:r>
              <a:rPr lang="en-US" sz="1500">
                <a:solidFill>
                  <a:srgbClr val="C5D4EA"/>
                </a:solidFill>
                <a:latin typeface="Microsoft YaHei"/>
                <a:ea typeface="Microsoft YaHei"/>
              </a:rPr>
              <a:t>Beware the CRUD trap — Manage X is not a use case</a:t>
            </a:r>
            <a:endParaRPr/>
          </a:p>
        </p:txBody>
      </p:sp>
      <p:sp>
        <p:nvSpPr>
          <p:cNvPr id="886"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9.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887" name=""/>
        <p:cNvGrpSpPr/>
        <p:nvPr/>
      </p:nvGrpSpPr>
      <p:grpSpPr>
        <a:xfrm>
          <a:off x="0" y="0"/>
          <a:ext cx="0" cy="0"/>
          <a:chOff x="0" y="0"/>
          <a:chExt cx="0" cy="0"/>
        </a:xfrm>
      </p:grpSpPr>
      <p:sp>
        <p:nvSpPr>
          <p:cNvPr id="888" name=""/>
          <p:cNvSpPr/>
          <p:nvPr/>
        </p:nvSpPr>
        <p:spPr>
          <a:xfrm rot="0" flipH="0" flipV="0">
            <a:off x="0" y="0"/>
            <a:ext cx="12192000" cy="6858000"/>
          </a:xfrm>
          <a:prstGeom prst="rect">
            <a:avLst/>
          </a:prstGeom>
          <a:solidFill>
            <a:srgbClr val="FFFFFF"/>
          </a:solidFill>
          <a:ln/>
        </p:spPr>
        <p:txBody>
          <a:bodyPr/>
          <a:p>
            <a:pPr/>
            <a:endParaRPr/>
          </a:p>
        </p:txBody>
      </p:sp>
      <p:sp>
        <p:nvSpPr>
          <p:cNvPr id="889" name=""/>
          <p:cNvSpPr/>
          <p:nvPr/>
        </p:nvSpPr>
        <p:spPr>
          <a:xfrm rot="0" flipH="0" flipV="0">
            <a:off x="0" y="0"/>
            <a:ext cx="12192000" cy="685800"/>
          </a:xfrm>
          <a:prstGeom prst="rect">
            <a:avLst/>
          </a:prstGeom>
          <a:solidFill>
            <a:srgbClr val="1E4FA8"/>
          </a:solidFill>
          <a:ln/>
        </p:spPr>
        <p:txBody>
          <a:bodyPr/>
          <a:p>
            <a:pPr/>
            <a:endParaRPr/>
          </a:p>
        </p:txBody>
      </p:sp>
      <p:sp>
        <p:nvSpPr>
          <p:cNvPr id="89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91" name="" descr="{&quot;isTemplate&quot;:true,&quot;type&quot;:&quot;text&quot;}"/>
          <p:cNvSpPr txBox="1"/>
          <p:nvPr/>
        </p:nvSpPr>
        <p:spPr>
          <a:xfrm rot="0" flipH="0" flipV="0">
            <a:off x="10125075" y="257175"/>
            <a:ext cx="1685925" cy="171450"/>
          </a:xfrm>
          <a:prstGeom prst="rect"/>
        </p:spPr>
        <p:txBody>
          <a:bodyPr wrap="none" lIns="0" tIns="0" rIns="0" bIns="0"/>
          <a:p>
            <a:pPr>
              <a:lnSpc>
                <a:spcPct val="100000"/>
              </a:lnSpc>
            </a:pPr>
            <a:r>
              <a:rPr lang="en-US" sz="1125">
                <a:solidFill>
                  <a:srgbClr val="B9CDF0"/>
                </a:solidFill>
                <a:latin typeface="Microsoft YaHei"/>
                <a:ea typeface="Microsoft YaHei"/>
              </a:rPr>
              <a:t>W04 · ACTORS &amp; GOALS</a:t>
            </a:r>
            <a:endParaRPr/>
          </a:p>
        </p:txBody>
      </p:sp>
      <p:sp>
        <p:nvSpPr>
          <p:cNvPr id="892" name="" descr="{&quot;isTemplate&quot;:true,&quot;type&quot;:&quot;text&quot;}"/>
          <p:cNvSpPr txBox="1"/>
          <p:nvPr/>
        </p:nvSpPr>
        <p:spPr>
          <a:xfrm rot="0" flipH="0" flipV="0">
            <a:off x="381000" y="800100"/>
            <a:ext cx="2438400" cy="342900"/>
          </a:xfrm>
          <a:prstGeom prst="rect"/>
        </p:spPr>
        <p:txBody>
          <a:bodyPr wrap="none" lIns="0" tIns="0" rIns="0" bIns="0"/>
          <a:p>
            <a:pPr>
              <a:lnSpc>
                <a:spcPct val="100000"/>
              </a:lnSpc>
            </a:pPr>
            <a:r>
              <a:rPr lang="en-US" sz="2250" b="1">
                <a:solidFill>
                  <a:srgbClr val="0E3F8C"/>
                </a:solidFill>
                <a:latin typeface="Microsoft YaHei"/>
                <a:ea typeface="Microsoft YaHei"/>
              </a:rPr>
              <a:t>What Is an Actor?</a:t>
            </a:r>
            <a:endParaRPr/>
          </a:p>
        </p:txBody>
      </p:sp>
      <p:sp>
        <p:nvSpPr>
          <p:cNvPr id="89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09 / 38</a:t>
            </a:r>
            <a:endParaRPr/>
          </a:p>
        </p:txBody>
      </p:sp>
      <p:pic>
        <p:nvPicPr>
          <p:cNvPr id="894" name=""/>
          <p:cNvPicPr>
            <a:picLocks noChangeAspect="1"/>
          </p:cNvPicPr>
          <p:nvPr/>
        </p:nvPicPr>
        <p:blipFill>
          <a:blip>
            <a:extLst>
              <a:ext uri="{96DAC541-7B7A-43D3-8B79-37D633B846F1}">
                <asvg:svgBlip r:embed="rId1"/>
              </a:ext>
            </a:extLst>
          </a:blip>
          <a:stretch>
            <a:fillRect/>
          </a:stretch>
        </p:blipFill>
        <p:spPr>
          <a:xfrm rot="0" flipH="0" flipV="0">
            <a:off x="476250" y="2028825"/>
            <a:ext cx="11239500" cy="3657600"/>
          </a:xfrm>
          <a:prstGeom prst="rect">
            <a:avLst/>
          </a:prstGeom>
          <a:ln/>
        </p:spPr>
      </p:pic>
      <p:sp>
        <p:nvSpPr>
          <p:cNvPr id="895" name="" descr="{&quot;isTemplate&quot;:true,&quot;type&quot;:&quot;text&quot;}"/>
          <p:cNvSpPr txBox="1"/>
          <p:nvPr/>
        </p:nvSpPr>
        <p:spPr>
          <a:xfrm rot="0" flipH="0" flipV="0">
            <a:off x="381000" y="6619875"/>
            <a:ext cx="50292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Name the role, not the person — the role is what the system has to serve</a:t>
            </a:r>
            <a:endParaRPr/>
          </a:p>
        </p:txBody>
      </p:sp>
      <p:sp>
        <p:nvSpPr>
          <p:cNvPr id="896"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09 / 38</a:t>
            </a:r>
            <a:endParaRPr/>
          </a:p>
        </p:txBody>
      </p:sp>
    </p:spTree>
  </p:cSld>
</p:sld>
</file>

<file path=ppt/slides/slide10.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15" name=""/>
        <p:cNvGrpSpPr/>
        <p:nvPr/>
      </p:nvGrpSpPr>
      <p:grpSpPr>
        <a:xfrm>
          <a:off x="0" y="0"/>
          <a:ext cx="0" cy="0"/>
          <a:chOff x="0" y="0"/>
          <a:chExt cx="0" cy="0"/>
        </a:xfrm>
      </p:grpSpPr>
      <p:sp>
        <p:nvSpPr>
          <p:cNvPr id="16" name=""/>
          <p:cNvSpPr/>
          <p:nvPr/>
        </p:nvSpPr>
        <p:spPr>
          <a:xfrm rot="0" flipH="0" flipV="0">
            <a:off x="0" y="0"/>
            <a:ext cx="12192000" cy="6858000"/>
          </a:xfrm>
          <a:prstGeom prst="rect">
            <a:avLst/>
          </a:prstGeom>
          <a:solidFill>
            <a:srgbClr val="FFFFFF"/>
          </a:solidFill>
          <a:ln/>
        </p:spPr>
        <p:txBody>
          <a:bodyPr/>
          <a:p>
            <a:pPr/>
            <a:endParaRPr/>
          </a:p>
        </p:txBody>
      </p:sp>
      <p:sp>
        <p:nvSpPr>
          <p:cNvPr id="17" name=""/>
          <p:cNvSpPr/>
          <p:nvPr/>
        </p:nvSpPr>
        <p:spPr>
          <a:xfrm rot="0" flipH="0" flipV="0">
            <a:off x="0" y="0"/>
            <a:ext cx="12192000" cy="685800"/>
          </a:xfrm>
          <a:prstGeom prst="rect">
            <a:avLst/>
          </a:prstGeom>
          <a:solidFill>
            <a:srgbClr val="1E4FA8"/>
          </a:solidFill>
          <a:ln/>
        </p:spPr>
        <p:txBody>
          <a:bodyPr/>
          <a:p>
            <a:pPr/>
            <a:endParaRPr/>
          </a:p>
        </p:txBody>
      </p:sp>
      <p:sp>
        <p:nvSpPr>
          <p:cNvPr id="1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9" name="" descr="{&quot;isTemplate&quot;:true,&quot;type&quot;:&quot;text&quot;}"/>
          <p:cNvSpPr txBox="1"/>
          <p:nvPr/>
        </p:nvSpPr>
        <p:spPr>
          <a:xfrm rot="0" flipH="0" flipV="0">
            <a:off x="10125075" y="257175"/>
            <a:ext cx="1685925" cy="171450"/>
          </a:xfrm>
          <a:prstGeom prst="rect"/>
        </p:spPr>
        <p:txBody>
          <a:bodyPr wrap="none" lIns="0" tIns="0" rIns="0" bIns="0"/>
          <a:p>
            <a:pPr>
              <a:lnSpc>
                <a:spcPct val="100000"/>
              </a:lnSpc>
            </a:pPr>
            <a:r>
              <a:rPr lang="en-US" sz="1125">
                <a:solidFill>
                  <a:srgbClr val="B9CDF0"/>
                </a:solidFill>
                <a:latin typeface="Microsoft YaHei"/>
                <a:ea typeface="Microsoft YaHei"/>
              </a:rPr>
              <a:t>W04 · ACTORS &amp; GOALS</a:t>
            </a:r>
            <a:endParaRPr/>
          </a:p>
        </p:txBody>
      </p:sp>
      <p:sp>
        <p:nvSpPr>
          <p:cNvPr id="20" name="" descr="{&quot;isTemplate&quot;:true,&quot;type&quot;:&quot;text&quot;}"/>
          <p:cNvSpPr txBox="1"/>
          <p:nvPr/>
        </p:nvSpPr>
        <p:spPr>
          <a:xfrm rot="0" flipH="0" flipV="0">
            <a:off x="381000" y="800100"/>
            <a:ext cx="5010150" cy="342900"/>
          </a:xfrm>
          <a:prstGeom prst="rect"/>
        </p:spPr>
        <p:txBody>
          <a:bodyPr wrap="none" lIns="0" tIns="0" rIns="0" bIns="0"/>
          <a:p>
            <a:pPr>
              <a:lnSpc>
                <a:spcPct val="100000"/>
              </a:lnSpc>
            </a:pPr>
            <a:r>
              <a:rPr lang="en-US" sz="2250" b="1">
                <a:solidFill>
                  <a:srgbClr val="0E3F8C"/>
                </a:solidFill>
                <a:latin typeface="Microsoft YaHei"/>
                <a:ea typeface="Microsoft YaHei"/>
              </a:rPr>
              <a:t>A Use Case Is a Goal, Not a Function</a:t>
            </a:r>
            <a:endParaRPr/>
          </a:p>
        </p:txBody>
      </p:sp>
      <p:sp>
        <p:nvSpPr>
          <p:cNvPr id="2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10 / 38</a:t>
            </a:r>
            <a:endParaRPr/>
          </a:p>
        </p:txBody>
      </p:sp>
      <p:sp>
        <p:nvSpPr>
          <p:cNvPr id="22" name="" descr="{&quot;isTemplate&quot;:true,&quot;type&quot;:&quot;text&quot;}"/>
          <p:cNvSpPr txBox="1"/>
          <p:nvPr/>
        </p:nvSpPr>
        <p:spPr>
          <a:xfrm rot="0" flipH="0" flipV="0">
            <a:off x="4076700" y="1724025"/>
            <a:ext cx="4048125" cy="219075"/>
          </a:xfrm>
          <a:prstGeom prst="rect"/>
        </p:spPr>
        <p:txBody>
          <a:bodyPr wrap="none" lIns="0" tIns="0" rIns="0" bIns="0"/>
          <a:p>
            <a:pPr>
              <a:lnSpc>
                <a:spcPct val="100000"/>
              </a:lnSpc>
            </a:pPr>
            <a:r>
              <a:rPr lang="en-US" sz="1425" spc="75">
                <a:solidFill>
                  <a:srgbClr val="8B97A8"/>
                </a:solidFill>
                <a:latin typeface="Microsoft YaHei"/>
                <a:ea typeface="Microsoft YaHei"/>
              </a:rPr>
              <a:t>THE DEFINITION WE USE THIS SEMESTER</a:t>
            </a:r>
            <a:endParaRPr/>
          </a:p>
        </p:txBody>
      </p:sp>
      <p:sp>
        <p:nvSpPr>
          <p:cNvPr id="23" name=""/>
          <p:cNvSpPr/>
          <p:nvPr/>
        </p:nvSpPr>
        <p:spPr>
          <a:xfrm rot="0" flipH="0" flipV="0">
            <a:off x="1676400" y="2019300"/>
            <a:ext cx="8896350" cy="1533525"/>
          </a:xfrm>
          <a:prstGeom prst="roundRect">
            <a:avLst>
              <a:gd name="adj" fmla="val 7453"/>
            </a:avLst>
          </a:prstGeom>
          <a:solidFill>
            <a:srgbClr val="F0F5FC"/>
          </a:solidFill>
          <a:ln/>
        </p:spPr>
        <p:txBody>
          <a:bodyPr/>
          <a:p>
            <a:pPr/>
            <a:endParaRPr/>
          </a:p>
        </p:txBody>
      </p:sp>
      <p:sp>
        <p:nvSpPr>
          <p:cNvPr id="24" name=""/>
          <p:cNvSpPr/>
          <p:nvPr/>
        </p:nvSpPr>
        <p:spPr>
          <a:xfrm rot="0" flipH="0" flipV="0">
            <a:off x="1676400" y="2019300"/>
            <a:ext cx="8896350" cy="1533525"/>
          </a:xfrm>
          <a:custGeom>
            <a:pathLst>
              <a:path w="934" h="161">
                <a:moveTo>
                  <a:pt x="11" y="0"/>
                </a:moveTo>
                <a:cubicBezTo>
                  <a:pt x="8" y="0"/>
                  <a:pt x="6" y="3"/>
                  <a:pt x="6" y="6"/>
                </a:cubicBezTo>
                <a:lnTo>
                  <a:pt x="6" y="155"/>
                </a:lnTo>
                <a:cubicBezTo>
                  <a:pt x="6" y="158"/>
                  <a:pt x="8" y="160"/>
                  <a:pt x="11" y="161"/>
                </a:cubicBezTo>
                <a:cubicBezTo>
                  <a:pt x="5" y="160"/>
                  <a:pt x="0" y="155"/>
                  <a:pt x="0" y="149"/>
                </a:cubicBezTo>
                <a:lnTo>
                  <a:pt x="0" y="12"/>
                </a:lnTo>
                <a:cubicBezTo>
                  <a:pt x="0" y="5"/>
                  <a:pt x="5" y="0"/>
                  <a:pt x="12" y="0"/>
                </a:cubicBezTo>
                <a:close/>
              </a:path>
            </a:pathLst>
          </a:custGeom>
          <a:solidFill>
            <a:srgbClr val="1E4FA8"/>
          </a:solidFill>
          <a:ln/>
        </p:spPr>
        <p:txBody>
          <a:bodyPr/>
          <a:p>
            <a:pPr/>
            <a:endParaRPr/>
          </a:p>
        </p:txBody>
      </p:sp>
      <p:sp>
        <p:nvSpPr>
          <p:cNvPr id="25" name="" descr="{&quot;isTemplate&quot;:true,&quot;type&quot;:&quot;text&quot;}"/>
          <p:cNvSpPr txBox="1"/>
          <p:nvPr/>
        </p:nvSpPr>
        <p:spPr>
          <a:xfrm rot="0" flipH="0" flipV="0">
            <a:off x="2438400" y="2343150"/>
            <a:ext cx="7381875" cy="885825"/>
          </a:xfrm>
          <a:prstGeom prst="rect"/>
        </p:spPr>
        <p:txBody>
          <a:bodyPr wrap="none" lIns="0" tIns="0" rIns="0" bIns="0"/>
          <a:p>
            <a:pPr algn="ctr">
              <a:lnSpc>
                <a:spcPct val="142000"/>
              </a:lnSpc>
            </a:pPr>
            <a:r>
              <a:rPr lang="en-US" sz="2025" b="1">
                <a:solidFill>
                  <a:srgbClr val="0E3F8C"/>
                </a:solidFill>
                <a:latin typeface="Microsoft YaHei"/>
                <a:ea typeface="Microsoft YaHei"/>
              </a:rPr>
              <a:t>A use case is a set of scenarios whose end is a</a:t>
            </a:r>
            <a:endParaRPr/>
          </a:p>
          <a:p>
            <a:pPr algn="ctr">
              <a:lnSpc>
                <a:spcPct val="142000"/>
              </a:lnSpc>
            </a:pPr>
            <a:r>
              <a:rPr lang="en-US" sz="2025" b="1">
                <a:solidFill>
                  <a:srgbClr val="0E3F8C"/>
                </a:solidFill>
                <a:latin typeface="Microsoft YaHei"/>
                <a:ea typeface="Microsoft YaHei"/>
              </a:rPr>
              <a:t>user goal — something the actor walks away saying “done”.</a:t>
            </a:r>
            <a:endParaRPr/>
          </a:p>
        </p:txBody>
      </p:sp>
      <p:sp>
        <p:nvSpPr>
          <p:cNvPr id="26" name="" descr="{&quot;isTemplate&quot;:true,&quot;type&quot;:&quot;text&quot;}"/>
          <p:cNvSpPr txBox="1"/>
          <p:nvPr/>
        </p:nvSpPr>
        <p:spPr>
          <a:xfrm rot="0" flipH="0" flipV="0">
            <a:off x="1619250" y="3667125"/>
            <a:ext cx="8953500" cy="238125"/>
          </a:xfrm>
          <a:prstGeom prst="rect"/>
        </p:spPr>
        <p:txBody>
          <a:bodyPr wrap="none" lIns="0" tIns="0" rIns="0" bIns="0"/>
          <a:p>
            <a:pPr algn="ctr">
              <a:lnSpc>
                <a:spcPct val="150000"/>
              </a:lnSpc>
            </a:pPr>
            <a:r>
              <a:rPr lang="en-US" sz="1013">
                <a:solidFill>
                  <a:srgbClr val="8B97A8"/>
                </a:solidFill>
                <a:latin typeface="Microsoft YaHei"/>
                <a:ea typeface="Microsoft YaHei"/>
              </a:rPr>
              <a:t>Cockburn’s definition. Three words carry the weight: scenarios, end, goal.</a:t>
            </a:r>
            <a:endParaRPr/>
          </a:p>
        </p:txBody>
      </p:sp>
      <p:sp>
        <p:nvSpPr>
          <p:cNvPr id="27" name=""/>
          <p:cNvSpPr/>
          <p:nvPr/>
        </p:nvSpPr>
        <p:spPr>
          <a:xfrm rot="0" flipH="0" flipV="0">
            <a:off x="1619250" y="4114800"/>
            <a:ext cx="2857500" cy="1905000"/>
          </a:xfrm>
          <a:prstGeom prst="roundRect">
            <a:avLst>
              <a:gd name="adj" fmla="val 5000"/>
            </a:avLst>
          </a:prstGeom>
          <a:solidFill>
            <a:srgbClr val="FFFFFF"/>
          </a:solidFill>
          <a:ln w="12700">
            <a:solidFill>
              <a:srgbClr val="D6DCE5"/>
            </a:solidFill>
            <a:prstDash val="solid"/>
          </a:ln>
        </p:spPr>
        <p:txBody>
          <a:bodyPr/>
          <a:p>
            <a:pPr/>
            <a:endParaRPr/>
          </a:p>
        </p:txBody>
      </p:sp>
      <p:pic>
        <p:nvPicPr>
          <p:cNvPr id="28" name=""/>
          <p:cNvPicPr>
            <a:picLocks noChangeAspect="1"/>
          </p:cNvPicPr>
          <p:nvPr/>
        </p:nvPicPr>
        <p:blipFill>
          <a:blip>
            <a:extLst>
              <a:ext uri="{96DAC541-7B7A-43D3-8B79-37D633B846F1}">
                <asvg:svgBlip r:embed="rId1"/>
              </a:ext>
            </a:extLst>
          </a:blip>
          <a:stretch>
            <a:fillRect/>
          </a:stretch>
        </p:blipFill>
        <p:spPr>
          <a:xfrm rot="0" flipH="0" flipV="0">
            <a:off x="1809750" y="4324350"/>
            <a:ext cx="209550" cy="209550"/>
          </a:xfrm>
          <a:prstGeom prst="rect">
            <a:avLst/>
          </a:prstGeom>
          <a:ln/>
        </p:spPr>
      </p:pic>
      <p:sp>
        <p:nvSpPr>
          <p:cNvPr id="29" name="" descr="{&quot;isTemplate&quot;:true,&quot;type&quot;:&quot;text&quot;}"/>
          <p:cNvSpPr txBox="1"/>
          <p:nvPr/>
        </p:nvSpPr>
        <p:spPr>
          <a:xfrm rot="0" flipH="0" flipV="0">
            <a:off x="1809750" y="4629150"/>
            <a:ext cx="2476500" cy="200025"/>
          </a:xfrm>
          <a:prstGeom prst="rect"/>
        </p:spPr>
        <p:txBody>
          <a:bodyPr wrap="none" lIns="0" tIns="0" rIns="0" bIns="0"/>
          <a:p>
            <a:pPr>
              <a:lnSpc>
                <a:spcPct val="100000"/>
              </a:lnSpc>
            </a:pPr>
            <a:r>
              <a:rPr lang="en-US" sz="1275" b="1">
                <a:solidFill>
                  <a:srgbClr val="0E3F8C"/>
                </a:solidFill>
                <a:latin typeface="Microsoft YaHei"/>
                <a:ea typeface="Microsoft YaHei"/>
              </a:rPr>
              <a:t>It ends</a:t>
            </a:r>
            <a:endParaRPr/>
          </a:p>
        </p:txBody>
      </p:sp>
      <p:sp>
        <p:nvSpPr>
          <p:cNvPr id="30" name="" descr="{&quot;isTemplate&quot;:true,&quot;type&quot;:&quot;text&quot;}"/>
          <p:cNvSpPr txBox="1"/>
          <p:nvPr/>
        </p:nvSpPr>
        <p:spPr>
          <a:xfrm rot="0" flipH="0" flipV="0">
            <a:off x="1809750" y="4886325"/>
            <a:ext cx="2476500" cy="923925"/>
          </a:xfrm>
          <a:prstGeom prst="rect"/>
        </p:spPr>
        <p:txBody>
          <a:bodyPr wrap="square" lIns="0" tIns="0" rIns="0" bIns="0">
            <a:normAutofit/>
          </a:bodyPr>
          <a:p>
            <a:pPr>
              <a:lnSpc>
                <a:spcPct val="155000"/>
              </a:lnSpc>
            </a:pPr>
            <a:r>
              <a:rPr lang="en-US" sz="975">
                <a:solidFill>
                  <a:srgbClr val="4A5568"/>
                </a:solidFill>
                <a:latin typeface="Microsoft YaHei"/>
                <a:ea typeface="Microsoft YaHei"/>
              </a:rPr>
              <a:t>There is a state of the world where the actor stops and says “that is it”. If your use case never ends, you have modelled a process, not a goal.</a:t>
            </a:r>
            <a:endParaRPr/>
          </a:p>
        </p:txBody>
      </p:sp>
      <p:sp>
        <p:nvSpPr>
          <p:cNvPr id="31" name=""/>
          <p:cNvSpPr/>
          <p:nvPr/>
        </p:nvSpPr>
        <p:spPr>
          <a:xfrm rot="0" flipH="0" flipV="0">
            <a:off x="4667250" y="4114800"/>
            <a:ext cx="2857500" cy="1905000"/>
          </a:xfrm>
          <a:prstGeom prst="roundRect">
            <a:avLst>
              <a:gd name="adj" fmla="val 5000"/>
            </a:avLst>
          </a:prstGeom>
          <a:solidFill>
            <a:srgbClr val="FFFFFF"/>
          </a:solidFill>
          <a:ln w="12700">
            <a:solidFill>
              <a:srgbClr val="D6DCE5"/>
            </a:solidFill>
            <a:prstDash val="solid"/>
          </a:ln>
        </p:spPr>
        <p:txBody>
          <a:bodyPr/>
          <a:p>
            <a:pPr/>
            <a:endParaRPr/>
          </a:p>
        </p:txBody>
      </p:sp>
      <p:pic>
        <p:nvPicPr>
          <p:cNvPr id="32" name=""/>
          <p:cNvPicPr>
            <a:picLocks noChangeAspect="1"/>
          </p:cNvPicPr>
          <p:nvPr/>
        </p:nvPicPr>
        <p:blipFill>
          <a:blip>
            <a:extLst>
              <a:ext uri="{96DAC541-7B7A-43D3-8B79-37D633B846F1}">
                <asvg:svgBlip r:embed="rId2"/>
              </a:ext>
            </a:extLst>
          </a:blip>
          <a:stretch>
            <a:fillRect/>
          </a:stretch>
        </p:blipFill>
        <p:spPr>
          <a:xfrm rot="0" flipH="0" flipV="0">
            <a:off x="4857750" y="4324350"/>
            <a:ext cx="209550" cy="209550"/>
          </a:xfrm>
          <a:prstGeom prst="rect">
            <a:avLst/>
          </a:prstGeom>
          <a:ln/>
        </p:spPr>
      </p:pic>
      <p:sp>
        <p:nvSpPr>
          <p:cNvPr id="33" name="" descr="{&quot;isTemplate&quot;:true,&quot;type&quot;:&quot;text&quot;}"/>
          <p:cNvSpPr txBox="1"/>
          <p:nvPr/>
        </p:nvSpPr>
        <p:spPr>
          <a:xfrm rot="0" flipH="0" flipV="0">
            <a:off x="4857750" y="4629150"/>
            <a:ext cx="2476500" cy="200025"/>
          </a:xfrm>
          <a:prstGeom prst="rect"/>
        </p:spPr>
        <p:txBody>
          <a:bodyPr wrap="none" lIns="0" tIns="0" rIns="0" bIns="0"/>
          <a:p>
            <a:pPr>
              <a:lnSpc>
                <a:spcPct val="100000"/>
              </a:lnSpc>
            </a:pPr>
            <a:r>
              <a:rPr lang="en-US" sz="1275" b="1">
                <a:solidFill>
                  <a:srgbClr val="0E3F8C"/>
                </a:solidFill>
                <a:latin typeface="Microsoft YaHei"/>
                <a:ea typeface="Microsoft YaHei"/>
              </a:rPr>
              <a:t>It belongs to one actor</a:t>
            </a:r>
            <a:endParaRPr/>
          </a:p>
        </p:txBody>
      </p:sp>
      <p:sp>
        <p:nvSpPr>
          <p:cNvPr id="34" name="" descr="{&quot;isTemplate&quot;:true,&quot;type&quot;:&quot;text&quot;}"/>
          <p:cNvSpPr txBox="1"/>
          <p:nvPr/>
        </p:nvSpPr>
        <p:spPr>
          <a:xfrm rot="0" flipH="0" flipV="0">
            <a:off x="4857750" y="4886325"/>
            <a:ext cx="2476500" cy="695325"/>
          </a:xfrm>
          <a:prstGeom prst="rect"/>
        </p:spPr>
        <p:txBody>
          <a:bodyPr wrap="square" lIns="0" tIns="0" rIns="0" bIns="0">
            <a:normAutofit/>
          </a:bodyPr>
          <a:p>
            <a:pPr>
              <a:lnSpc>
                <a:spcPct val="155000"/>
              </a:lnSpc>
            </a:pPr>
            <a:r>
              <a:rPr lang="en-US" sz="975">
                <a:solidFill>
                  <a:srgbClr val="4A5568"/>
                </a:solidFill>
                <a:latin typeface="Microsoft YaHei"/>
                <a:ea typeface="Microsoft YaHei"/>
              </a:rPr>
              <a:t>Exactly one primary actor owns the goal. Other actors may help, but only one of them is the reason the use case exists.</a:t>
            </a:r>
            <a:endParaRPr/>
          </a:p>
        </p:txBody>
      </p:sp>
      <p:sp>
        <p:nvSpPr>
          <p:cNvPr id="35" name=""/>
          <p:cNvSpPr/>
          <p:nvPr/>
        </p:nvSpPr>
        <p:spPr>
          <a:xfrm rot="0" flipH="0" flipV="0">
            <a:off x="7715250" y="4114800"/>
            <a:ext cx="2857500" cy="1905000"/>
          </a:xfrm>
          <a:prstGeom prst="roundRect">
            <a:avLst>
              <a:gd name="adj" fmla="val 5000"/>
            </a:avLst>
          </a:prstGeom>
          <a:solidFill>
            <a:srgbClr val="FFFFFF"/>
          </a:solidFill>
          <a:ln w="12700">
            <a:solidFill>
              <a:srgbClr val="D6DCE5"/>
            </a:solidFill>
            <a:prstDash val="solid"/>
          </a:ln>
        </p:spPr>
        <p:txBody>
          <a:bodyPr/>
          <a:p>
            <a:pPr/>
            <a:endParaRPr/>
          </a:p>
        </p:txBody>
      </p:sp>
      <p:pic>
        <p:nvPicPr>
          <p:cNvPr id="36" name=""/>
          <p:cNvPicPr>
            <a:picLocks noChangeAspect="1"/>
          </p:cNvPicPr>
          <p:nvPr/>
        </p:nvPicPr>
        <p:blipFill>
          <a:blip>
            <a:extLst>
              <a:ext uri="{96DAC541-7B7A-43D3-8B79-37D633B846F1}">
                <asvg:svgBlip r:embed="rId3"/>
              </a:ext>
            </a:extLst>
          </a:blip>
          <a:stretch>
            <a:fillRect/>
          </a:stretch>
        </p:blipFill>
        <p:spPr>
          <a:xfrm rot="0" flipH="0" flipV="0">
            <a:off x="7905750" y="4324350"/>
            <a:ext cx="209550" cy="209550"/>
          </a:xfrm>
          <a:prstGeom prst="rect">
            <a:avLst/>
          </a:prstGeom>
          <a:ln/>
        </p:spPr>
      </p:pic>
      <p:sp>
        <p:nvSpPr>
          <p:cNvPr id="37" name="" descr="{&quot;isTemplate&quot;:true,&quot;type&quot;:&quot;text&quot;}"/>
          <p:cNvSpPr txBox="1"/>
          <p:nvPr/>
        </p:nvSpPr>
        <p:spPr>
          <a:xfrm rot="0" flipH="0" flipV="0">
            <a:off x="7905750" y="4629150"/>
            <a:ext cx="2476500" cy="200025"/>
          </a:xfrm>
          <a:prstGeom prst="rect"/>
        </p:spPr>
        <p:txBody>
          <a:bodyPr wrap="none" lIns="0" tIns="0" rIns="0" bIns="0"/>
          <a:p>
            <a:pPr>
              <a:lnSpc>
                <a:spcPct val="100000"/>
              </a:lnSpc>
            </a:pPr>
            <a:r>
              <a:rPr lang="en-US" sz="1275" b="1">
                <a:solidFill>
                  <a:srgbClr val="0E3F8C"/>
                </a:solidFill>
                <a:latin typeface="Microsoft YaHei"/>
                <a:ea typeface="Microsoft YaHei"/>
              </a:rPr>
              <a:t>It can fail, and still be one</a:t>
            </a:r>
            <a:endParaRPr/>
          </a:p>
        </p:txBody>
      </p:sp>
      <p:sp>
        <p:nvSpPr>
          <p:cNvPr id="38" name="" descr="{&quot;isTemplate&quot;:true,&quot;type&quot;:&quot;text&quot;}"/>
          <p:cNvSpPr txBox="1"/>
          <p:nvPr/>
        </p:nvSpPr>
        <p:spPr>
          <a:xfrm rot="0" flipH="0" flipV="0">
            <a:off x="7905750" y="4886325"/>
            <a:ext cx="2476500" cy="923925"/>
          </a:xfrm>
          <a:prstGeom prst="rect"/>
        </p:spPr>
        <p:txBody>
          <a:bodyPr wrap="square" lIns="0" tIns="0" rIns="0" bIns="0">
            <a:normAutofit/>
          </a:bodyPr>
          <a:p>
            <a:pPr>
              <a:lnSpc>
                <a:spcPct val="155000"/>
              </a:lnSpc>
            </a:pPr>
            <a:r>
              <a:rPr lang="en-US" sz="975">
                <a:solidFill>
                  <a:srgbClr val="4A5568"/>
                </a:solidFill>
                <a:latin typeface="Microsoft YaHei"/>
                <a:ea typeface="Microsoft YaHei"/>
              </a:rPr>
              <a:t>“Pay for order” stays one use case whether the card clears or is declined. Success and failure are scenarios inside it — not separate use cases.</a:t>
            </a:r>
            <a:endParaRPr/>
          </a:p>
        </p:txBody>
      </p:sp>
      <p:sp>
        <p:nvSpPr>
          <p:cNvPr id="39" name=""/>
          <p:cNvSpPr/>
          <p:nvPr/>
        </p:nvSpPr>
        <p:spPr>
          <a:xfrm rot="0" flipH="0" flipV="0">
            <a:off x="0" y="6419850"/>
            <a:ext cx="12192000" cy="438150"/>
          </a:xfrm>
          <a:prstGeom prst="rect">
            <a:avLst/>
          </a:prstGeom>
          <a:solidFill>
            <a:srgbClr val="0E3F8C"/>
          </a:solidFill>
          <a:ln/>
        </p:spPr>
        <p:txBody>
          <a:bodyPr/>
          <a:p>
            <a:pPr/>
            <a:endParaRPr/>
          </a:p>
        </p:txBody>
      </p:sp>
      <p:sp>
        <p:nvSpPr>
          <p:cNvPr id="40" name="" descr="{&quot;isTemplate&quot;:true,&quot;type&quot;:&quot;text&quot;}"/>
          <p:cNvSpPr txBox="1"/>
          <p:nvPr/>
        </p:nvSpPr>
        <p:spPr>
          <a:xfrm rot="0" flipH="0" flipV="0">
            <a:off x="2657475" y="6543675"/>
            <a:ext cx="6886575" cy="190500"/>
          </a:xfrm>
          <a:prstGeom prst="rect"/>
        </p:spPr>
        <p:txBody>
          <a:bodyPr wrap="none" lIns="0" tIns="0" rIns="0" bIns="0"/>
          <a:p>
            <a:pPr>
              <a:lnSpc>
                <a:spcPct val="100000"/>
              </a:lnSpc>
            </a:pPr>
            <a:r>
              <a:rPr lang="en-US" sz="1200" b="1">
                <a:solidFill>
                  <a:srgbClr val="FFFFFF"/>
                </a:solidFill>
                <a:latin typeface="Microsoft YaHei"/>
                <a:ea typeface="Microsoft YaHei"/>
              </a:rPr>
              <a:t>Ask “what does the actor get out of this?” — if the answer is “nothing yet”, it is not a use case.</a:t>
            </a:r>
            <a:endParaRPr/>
          </a:p>
        </p:txBody>
      </p:sp>
    </p:spTree>
  </p:cSld>
</p:sld>
</file>

<file path=ppt/slides/slide11.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41" name=""/>
        <p:cNvGrpSpPr/>
        <p:nvPr/>
      </p:nvGrpSpPr>
      <p:grpSpPr>
        <a:xfrm>
          <a:off x="0" y="0"/>
          <a:ext cx="0" cy="0"/>
          <a:chOff x="0" y="0"/>
          <a:chExt cx="0" cy="0"/>
        </a:xfrm>
      </p:grpSpPr>
      <p:sp>
        <p:nvSpPr>
          <p:cNvPr id="42" name=""/>
          <p:cNvSpPr/>
          <p:nvPr/>
        </p:nvSpPr>
        <p:spPr>
          <a:xfrm rot="0" flipH="0" flipV="0">
            <a:off x="0" y="0"/>
            <a:ext cx="12192000" cy="6858000"/>
          </a:xfrm>
          <a:prstGeom prst="rect">
            <a:avLst/>
          </a:prstGeom>
          <a:solidFill>
            <a:srgbClr val="FFFFFF"/>
          </a:solidFill>
          <a:ln/>
        </p:spPr>
        <p:txBody>
          <a:bodyPr/>
          <a:p>
            <a:pPr/>
            <a:endParaRPr/>
          </a:p>
        </p:txBody>
      </p:sp>
      <p:sp>
        <p:nvSpPr>
          <p:cNvPr id="43" name=""/>
          <p:cNvSpPr/>
          <p:nvPr/>
        </p:nvSpPr>
        <p:spPr>
          <a:xfrm rot="0" flipH="0" flipV="0">
            <a:off x="0" y="0"/>
            <a:ext cx="12192000" cy="685800"/>
          </a:xfrm>
          <a:prstGeom prst="rect">
            <a:avLst/>
          </a:prstGeom>
          <a:solidFill>
            <a:srgbClr val="1E4FA8"/>
          </a:solidFill>
          <a:ln/>
        </p:spPr>
        <p:txBody>
          <a:bodyPr/>
          <a:p>
            <a:pPr/>
            <a:endParaRPr/>
          </a:p>
        </p:txBody>
      </p:sp>
      <p:sp>
        <p:nvSpPr>
          <p:cNvPr id="4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5" name="" descr="{&quot;isTemplate&quot;:true,&quot;type&quot;:&quot;text&quot;}"/>
          <p:cNvSpPr txBox="1"/>
          <p:nvPr/>
        </p:nvSpPr>
        <p:spPr>
          <a:xfrm rot="0" flipH="0" flipV="0">
            <a:off x="10125075" y="257175"/>
            <a:ext cx="1685925" cy="171450"/>
          </a:xfrm>
          <a:prstGeom prst="rect"/>
        </p:spPr>
        <p:txBody>
          <a:bodyPr wrap="none" lIns="0" tIns="0" rIns="0" bIns="0"/>
          <a:p>
            <a:pPr>
              <a:lnSpc>
                <a:spcPct val="100000"/>
              </a:lnSpc>
            </a:pPr>
            <a:r>
              <a:rPr lang="en-US" sz="1125">
                <a:solidFill>
                  <a:srgbClr val="B9CDF0"/>
                </a:solidFill>
                <a:latin typeface="Microsoft YaHei"/>
                <a:ea typeface="Microsoft YaHei"/>
              </a:rPr>
              <a:t>W04 · ACTORS &amp; GOALS</a:t>
            </a:r>
            <a:endParaRPr/>
          </a:p>
        </p:txBody>
      </p:sp>
      <p:sp>
        <p:nvSpPr>
          <p:cNvPr id="46" name="" descr="{&quot;isTemplate&quot;:true,&quot;type&quot;:&quot;text&quot;}"/>
          <p:cNvSpPr txBox="1"/>
          <p:nvPr/>
        </p:nvSpPr>
        <p:spPr>
          <a:xfrm rot="0" flipH="0" flipV="0">
            <a:off x="381000" y="819150"/>
            <a:ext cx="2028825" cy="333375"/>
          </a:xfrm>
          <a:prstGeom prst="rect"/>
        </p:spPr>
        <p:txBody>
          <a:bodyPr wrap="none" lIns="0" tIns="0" rIns="0" bIns="0"/>
          <a:p>
            <a:pPr>
              <a:lnSpc>
                <a:spcPct val="100000"/>
              </a:lnSpc>
            </a:pPr>
            <a:r>
              <a:rPr lang="en-US" sz="2175" b="1">
                <a:solidFill>
                  <a:srgbClr val="0E3F8C"/>
                </a:solidFill>
                <a:latin typeface="Microsoft YaHei"/>
                <a:ea typeface="Microsoft YaHei"/>
              </a:rPr>
              <a:t>The CRUD Trap</a:t>
            </a:r>
            <a:endParaRPr/>
          </a:p>
        </p:txBody>
      </p:sp>
      <p:sp>
        <p:nvSpPr>
          <p:cNvPr id="47"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11 / 38</a:t>
            </a:r>
            <a:endParaRPr/>
          </a:p>
        </p:txBody>
      </p:sp>
      <p:pic>
        <p:nvPicPr>
          <p:cNvPr id="48" name=""/>
          <p:cNvPicPr>
            <a:picLocks noChangeAspect="1"/>
          </p:cNvPicPr>
          <p:nvPr/>
        </p:nvPicPr>
        <p:blipFill>
          <a:blip>
            <a:extLst>
              <a:ext uri="{96DAC541-7B7A-43D3-8B79-37D633B846F1}">
                <asvg:svgBlip r:embed="rId1"/>
              </a:ext>
            </a:extLst>
          </a:blip>
          <a:stretch>
            <a:fillRect/>
          </a:stretch>
        </p:blipFill>
        <p:spPr>
          <a:xfrm rot="0" flipH="0" flipV="0">
            <a:off x="381000" y="1276350"/>
            <a:ext cx="190500" cy="190500"/>
          </a:xfrm>
          <a:prstGeom prst="rect">
            <a:avLst/>
          </a:prstGeom>
          <a:ln/>
        </p:spPr>
      </p:pic>
      <p:sp>
        <p:nvSpPr>
          <p:cNvPr id="49" name="" descr="{&quot;isTemplate&quot;:true,&quot;type&quot;:&quot;text&quot;}"/>
          <p:cNvSpPr txBox="1"/>
          <p:nvPr/>
        </p:nvSpPr>
        <p:spPr>
          <a:xfrm rot="0" flipH="0" flipV="0">
            <a:off x="657225" y="1266825"/>
            <a:ext cx="2543175" cy="200025"/>
          </a:xfrm>
          <a:prstGeom prst="rect"/>
        </p:spPr>
        <p:txBody>
          <a:bodyPr wrap="none" lIns="0" tIns="0" rIns="0" bIns="0"/>
          <a:p>
            <a:pPr>
              <a:lnSpc>
                <a:spcPct val="100000"/>
              </a:lnSpc>
            </a:pPr>
            <a:r>
              <a:rPr lang="en-US" sz="1275" b="1">
                <a:solidFill>
                  <a:srgbClr val="D9534F"/>
                </a:solidFill>
                <a:latin typeface="Microsoft YaHei"/>
                <a:ea typeface="Microsoft YaHei"/>
              </a:rPr>
              <a:t>Data-centred — four “use cases”</a:t>
            </a:r>
            <a:endParaRPr/>
          </a:p>
        </p:txBody>
      </p:sp>
      <p:sp>
        <p:nvSpPr>
          <p:cNvPr id="50" name=""/>
          <p:cNvSpPr/>
          <p:nvPr/>
        </p:nvSpPr>
        <p:spPr>
          <a:xfrm rot="0" flipH="0" flipV="0">
            <a:off x="409575" y="1562100"/>
            <a:ext cx="5343525" cy="685800"/>
          </a:xfrm>
          <a:prstGeom prst="roundRect">
            <a:avLst>
              <a:gd name="adj" fmla="val 12500"/>
            </a:avLst>
          </a:prstGeom>
          <a:solidFill>
            <a:srgbClr val="FDF3F3"/>
          </a:solidFill>
          <a:ln/>
        </p:spPr>
        <p:txBody>
          <a:bodyPr/>
          <a:p>
            <a:pPr/>
            <a:endParaRPr/>
          </a:p>
        </p:txBody>
      </p:sp>
      <p:sp>
        <p:nvSpPr>
          <p:cNvPr id="51" name=""/>
          <p:cNvSpPr/>
          <p:nvPr/>
        </p:nvSpPr>
        <p:spPr>
          <a:xfrm rot="0" flipH="0" flipV="0">
            <a:off x="409575" y="1562100"/>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D9534F"/>
          </a:solidFill>
          <a:ln/>
        </p:spPr>
        <p:txBody>
          <a:bodyPr/>
          <a:p>
            <a:pPr/>
            <a:endParaRPr/>
          </a:p>
        </p:txBody>
      </p:sp>
      <p:sp>
        <p:nvSpPr>
          <p:cNvPr id="52" name="" descr="{&quot;isTemplate&quot;:true,&quot;type&quot;:&quot;text&quot;}"/>
          <p:cNvSpPr txBox="1"/>
          <p:nvPr/>
        </p:nvSpPr>
        <p:spPr>
          <a:xfrm rot="0" flipH="0" flipV="0">
            <a:off x="561975" y="1695450"/>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Manage Order</a:t>
            </a:r>
            <a:endParaRPr/>
          </a:p>
        </p:txBody>
      </p:sp>
      <p:sp>
        <p:nvSpPr>
          <p:cNvPr id="53" name="" descr="{&quot;isTemplate&quot;:true,&quot;type&quot;:&quot;text&quot;}"/>
          <p:cNvSpPr txBox="1"/>
          <p:nvPr/>
        </p:nvSpPr>
        <p:spPr>
          <a:xfrm rot="0" flipH="0" flipV="0">
            <a:off x="561975" y="1895475"/>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Create / Read / Update / Delete, all in one</a:t>
            </a:r>
            <a:endParaRPr/>
          </a:p>
        </p:txBody>
      </p:sp>
      <p:sp>
        <p:nvSpPr>
          <p:cNvPr id="54" name=""/>
          <p:cNvSpPr/>
          <p:nvPr/>
        </p:nvSpPr>
        <p:spPr>
          <a:xfrm rot="0" flipH="0" flipV="0">
            <a:off x="409575" y="2333625"/>
            <a:ext cx="5343525" cy="685800"/>
          </a:xfrm>
          <a:prstGeom prst="roundRect">
            <a:avLst>
              <a:gd name="adj" fmla="val 12500"/>
            </a:avLst>
          </a:prstGeom>
          <a:solidFill>
            <a:srgbClr val="FDF3F3"/>
          </a:solidFill>
          <a:ln/>
        </p:spPr>
        <p:txBody>
          <a:bodyPr/>
          <a:p>
            <a:pPr/>
            <a:endParaRPr/>
          </a:p>
        </p:txBody>
      </p:sp>
      <p:sp>
        <p:nvSpPr>
          <p:cNvPr id="55" name=""/>
          <p:cNvSpPr/>
          <p:nvPr/>
        </p:nvSpPr>
        <p:spPr>
          <a:xfrm rot="0" flipH="0" flipV="0">
            <a:off x="409575" y="2333625"/>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D9534F"/>
          </a:solidFill>
          <a:ln/>
        </p:spPr>
        <p:txBody>
          <a:bodyPr/>
          <a:p>
            <a:pPr/>
            <a:endParaRPr/>
          </a:p>
        </p:txBody>
      </p:sp>
      <p:sp>
        <p:nvSpPr>
          <p:cNvPr id="56" name="" descr="{&quot;isTemplate&quot;:true,&quot;type&quot;:&quot;text&quot;}"/>
          <p:cNvSpPr txBox="1"/>
          <p:nvPr/>
        </p:nvSpPr>
        <p:spPr>
          <a:xfrm rot="0" flipH="0" flipV="0">
            <a:off x="561975" y="2466975"/>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Maintain Menu</a:t>
            </a:r>
            <a:endParaRPr/>
          </a:p>
        </p:txBody>
      </p:sp>
      <p:sp>
        <p:nvSpPr>
          <p:cNvPr id="57" name="" descr="{&quot;isTemplate&quot;:true,&quot;type&quot;:&quot;text&quot;}"/>
          <p:cNvSpPr txBox="1"/>
          <p:nvPr/>
        </p:nvSpPr>
        <p:spPr>
          <a:xfrm rot="0" flipH="0" flipV="0">
            <a:off x="561975" y="2667000"/>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Who wants this? Nobody gets up for it</a:t>
            </a:r>
            <a:endParaRPr/>
          </a:p>
        </p:txBody>
      </p:sp>
      <p:sp>
        <p:nvSpPr>
          <p:cNvPr id="58" name=""/>
          <p:cNvSpPr/>
          <p:nvPr/>
        </p:nvSpPr>
        <p:spPr>
          <a:xfrm rot="0" flipH="0" flipV="0">
            <a:off x="409575" y="3105150"/>
            <a:ext cx="5343525" cy="685800"/>
          </a:xfrm>
          <a:prstGeom prst="roundRect">
            <a:avLst>
              <a:gd name="adj" fmla="val 12500"/>
            </a:avLst>
          </a:prstGeom>
          <a:solidFill>
            <a:srgbClr val="FDF3F3"/>
          </a:solidFill>
          <a:ln/>
        </p:spPr>
        <p:txBody>
          <a:bodyPr/>
          <a:p>
            <a:pPr/>
            <a:endParaRPr/>
          </a:p>
        </p:txBody>
      </p:sp>
      <p:sp>
        <p:nvSpPr>
          <p:cNvPr id="59" name=""/>
          <p:cNvSpPr/>
          <p:nvPr/>
        </p:nvSpPr>
        <p:spPr>
          <a:xfrm rot="0" flipH="0" flipV="0">
            <a:off x="409575" y="3105150"/>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D9534F"/>
          </a:solidFill>
          <a:ln/>
        </p:spPr>
        <p:txBody>
          <a:bodyPr/>
          <a:p>
            <a:pPr/>
            <a:endParaRPr/>
          </a:p>
        </p:txBody>
      </p:sp>
      <p:sp>
        <p:nvSpPr>
          <p:cNvPr id="60" name="" descr="{&quot;isTemplate&quot;:true,&quot;type&quot;:&quot;text&quot;}"/>
          <p:cNvSpPr txBox="1"/>
          <p:nvPr/>
        </p:nvSpPr>
        <p:spPr>
          <a:xfrm rot="0" flipH="0" flipV="0">
            <a:off x="561975" y="3238500"/>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Maintain Customer</a:t>
            </a:r>
            <a:endParaRPr/>
          </a:p>
        </p:txBody>
      </p:sp>
      <p:sp>
        <p:nvSpPr>
          <p:cNvPr id="61" name="" descr="{&quot;isTemplate&quot;:true,&quot;type&quot;:&quot;text&quot;}"/>
          <p:cNvSpPr txBox="1"/>
          <p:nvPr/>
        </p:nvSpPr>
        <p:spPr>
          <a:xfrm rot="0" flipH="0" flipV="0">
            <a:off x="561975" y="3438525"/>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No goal. No end. Just a table</a:t>
            </a:r>
            <a:endParaRPr/>
          </a:p>
        </p:txBody>
      </p:sp>
      <p:sp>
        <p:nvSpPr>
          <p:cNvPr id="62" name=""/>
          <p:cNvSpPr/>
          <p:nvPr/>
        </p:nvSpPr>
        <p:spPr>
          <a:xfrm rot="0" flipH="0" flipV="0">
            <a:off x="409575" y="3876675"/>
            <a:ext cx="5343525" cy="685800"/>
          </a:xfrm>
          <a:prstGeom prst="roundRect">
            <a:avLst>
              <a:gd name="adj" fmla="val 12500"/>
            </a:avLst>
          </a:prstGeom>
          <a:solidFill>
            <a:srgbClr val="FDF3F3"/>
          </a:solidFill>
          <a:ln/>
        </p:spPr>
        <p:txBody>
          <a:bodyPr/>
          <a:p>
            <a:pPr/>
            <a:endParaRPr/>
          </a:p>
        </p:txBody>
      </p:sp>
      <p:sp>
        <p:nvSpPr>
          <p:cNvPr id="63" name=""/>
          <p:cNvSpPr/>
          <p:nvPr/>
        </p:nvSpPr>
        <p:spPr>
          <a:xfrm rot="0" flipH="0" flipV="0">
            <a:off x="409575" y="3876675"/>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D9534F"/>
          </a:solidFill>
          <a:ln/>
        </p:spPr>
        <p:txBody>
          <a:bodyPr/>
          <a:p>
            <a:pPr/>
            <a:endParaRPr/>
          </a:p>
        </p:txBody>
      </p:sp>
      <p:sp>
        <p:nvSpPr>
          <p:cNvPr id="64" name="" descr="{&quot;isTemplate&quot;:true,&quot;type&quot;:&quot;text&quot;}"/>
          <p:cNvSpPr txBox="1"/>
          <p:nvPr/>
        </p:nvSpPr>
        <p:spPr>
          <a:xfrm rot="0" flipH="0" flipV="0">
            <a:off x="561975" y="4010025"/>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Administer System</a:t>
            </a:r>
            <a:endParaRPr/>
          </a:p>
        </p:txBody>
      </p:sp>
      <p:sp>
        <p:nvSpPr>
          <p:cNvPr id="65" name="" descr="{&quot;isTemplate&quot;:true,&quot;type&quot;:&quot;text&quot;}"/>
          <p:cNvSpPr txBox="1"/>
          <p:nvPr/>
        </p:nvSpPr>
        <p:spPr>
          <a:xfrm rot="0" flipH="0" flipV="0">
            <a:off x="561975" y="4210050"/>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A screen name, not a user goal</a:t>
            </a:r>
            <a:endParaRPr/>
          </a:p>
        </p:txBody>
      </p:sp>
      <p:pic>
        <p:nvPicPr>
          <p:cNvPr id="66" name=""/>
          <p:cNvPicPr>
            <a:picLocks noChangeAspect="1"/>
          </p:cNvPicPr>
          <p:nvPr/>
        </p:nvPicPr>
        <p:blipFill>
          <a:blip>
            <a:extLst>
              <a:ext uri="{96DAC541-7B7A-43D3-8B79-37D633B846F1}">
                <asvg:svgBlip r:embed="rId2"/>
              </a:ext>
            </a:extLst>
          </a:blip>
          <a:stretch>
            <a:fillRect/>
          </a:stretch>
        </p:blipFill>
        <p:spPr>
          <a:xfrm rot="0" flipH="0" flipV="0">
            <a:off x="5972175" y="3724275"/>
            <a:ext cx="247650" cy="247650"/>
          </a:xfrm>
          <a:prstGeom prst="rect">
            <a:avLst/>
          </a:prstGeom>
          <a:ln/>
        </p:spPr>
      </p:pic>
      <p:pic>
        <p:nvPicPr>
          <p:cNvPr id="67" name=""/>
          <p:cNvPicPr>
            <a:picLocks noChangeAspect="1"/>
          </p:cNvPicPr>
          <p:nvPr/>
        </p:nvPicPr>
        <p:blipFill>
          <a:blip>
            <a:extLst>
              <a:ext uri="{96DAC541-7B7A-43D3-8B79-37D633B846F1}">
                <asvg:svgBlip r:embed="rId3"/>
              </a:ext>
            </a:extLst>
          </a:blip>
          <a:stretch>
            <a:fillRect/>
          </a:stretch>
        </p:blipFill>
        <p:spPr>
          <a:xfrm rot="0" flipH="0" flipV="0">
            <a:off x="6467475" y="1276350"/>
            <a:ext cx="190500" cy="190500"/>
          </a:xfrm>
          <a:prstGeom prst="rect">
            <a:avLst/>
          </a:prstGeom>
          <a:ln/>
        </p:spPr>
      </p:pic>
      <p:sp>
        <p:nvSpPr>
          <p:cNvPr id="68" name="" descr="{&quot;isTemplate&quot;:true,&quot;type&quot;:&quot;text&quot;}"/>
          <p:cNvSpPr txBox="1"/>
          <p:nvPr/>
        </p:nvSpPr>
        <p:spPr>
          <a:xfrm rot="0" flipH="0" flipV="0">
            <a:off x="6743700" y="1266825"/>
            <a:ext cx="2600325" cy="200025"/>
          </a:xfrm>
          <a:prstGeom prst="rect"/>
        </p:spPr>
        <p:txBody>
          <a:bodyPr wrap="none" lIns="0" tIns="0" rIns="0" bIns="0"/>
          <a:p>
            <a:pPr>
              <a:lnSpc>
                <a:spcPct val="100000"/>
              </a:lnSpc>
            </a:pPr>
            <a:r>
              <a:rPr lang="en-US" sz="1275" b="1">
                <a:solidFill>
                  <a:srgbClr val="1E4FA8"/>
                </a:solidFill>
                <a:latin typeface="Microsoft YaHei"/>
                <a:ea typeface="Microsoft YaHei"/>
              </a:rPr>
              <a:t>Goal-centred — what people want</a:t>
            </a:r>
            <a:endParaRPr/>
          </a:p>
        </p:txBody>
      </p:sp>
      <p:sp>
        <p:nvSpPr>
          <p:cNvPr id="69" name=""/>
          <p:cNvSpPr/>
          <p:nvPr/>
        </p:nvSpPr>
        <p:spPr>
          <a:xfrm rot="0" flipH="0" flipV="0">
            <a:off x="6496050" y="1562100"/>
            <a:ext cx="5343525" cy="685800"/>
          </a:xfrm>
          <a:prstGeom prst="roundRect">
            <a:avLst>
              <a:gd name="adj" fmla="val 12500"/>
            </a:avLst>
          </a:prstGeom>
          <a:solidFill>
            <a:srgbClr val="F0F5FC"/>
          </a:solidFill>
          <a:ln/>
        </p:spPr>
        <p:txBody>
          <a:bodyPr/>
          <a:p>
            <a:pPr/>
            <a:endParaRPr/>
          </a:p>
        </p:txBody>
      </p:sp>
      <p:sp>
        <p:nvSpPr>
          <p:cNvPr id="70" name=""/>
          <p:cNvSpPr/>
          <p:nvPr/>
        </p:nvSpPr>
        <p:spPr>
          <a:xfrm rot="0" flipH="0" flipV="0">
            <a:off x="6496050" y="1562100"/>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1E4FA8"/>
          </a:solidFill>
          <a:ln/>
        </p:spPr>
        <p:txBody>
          <a:bodyPr/>
          <a:p>
            <a:pPr/>
            <a:endParaRPr/>
          </a:p>
        </p:txBody>
      </p:sp>
      <p:sp>
        <p:nvSpPr>
          <p:cNvPr id="71" name="" descr="{&quot;isTemplate&quot;:true,&quot;type&quot;:&quot;text&quot;}"/>
          <p:cNvSpPr txBox="1"/>
          <p:nvPr/>
        </p:nvSpPr>
        <p:spPr>
          <a:xfrm rot="0" flipH="0" flipV="0">
            <a:off x="6648450" y="1695450"/>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Place Order</a:t>
            </a:r>
            <a:endParaRPr/>
          </a:p>
        </p:txBody>
      </p:sp>
      <p:sp>
        <p:nvSpPr>
          <p:cNvPr id="72" name="" descr="{&quot;isTemplate&quot;:true,&quot;type&quot;:&quot;text&quot;}"/>
          <p:cNvSpPr txBox="1"/>
          <p:nvPr/>
        </p:nvSpPr>
        <p:spPr>
          <a:xfrm rot="0" flipH="0" flipV="0">
            <a:off x="6648450" y="1895475"/>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Student · ends when the order is accepted</a:t>
            </a:r>
            <a:endParaRPr/>
          </a:p>
        </p:txBody>
      </p:sp>
      <p:sp>
        <p:nvSpPr>
          <p:cNvPr id="73" name=""/>
          <p:cNvSpPr/>
          <p:nvPr/>
        </p:nvSpPr>
        <p:spPr>
          <a:xfrm rot="0" flipH="0" flipV="0">
            <a:off x="6496050" y="2333625"/>
            <a:ext cx="5343525" cy="685800"/>
          </a:xfrm>
          <a:prstGeom prst="roundRect">
            <a:avLst>
              <a:gd name="adj" fmla="val 12500"/>
            </a:avLst>
          </a:prstGeom>
          <a:solidFill>
            <a:srgbClr val="F0F5FC"/>
          </a:solidFill>
          <a:ln/>
        </p:spPr>
        <p:txBody>
          <a:bodyPr/>
          <a:p>
            <a:pPr/>
            <a:endParaRPr/>
          </a:p>
        </p:txBody>
      </p:sp>
      <p:sp>
        <p:nvSpPr>
          <p:cNvPr id="74" name=""/>
          <p:cNvSpPr/>
          <p:nvPr/>
        </p:nvSpPr>
        <p:spPr>
          <a:xfrm rot="0" flipH="0" flipV="0">
            <a:off x="6496050" y="2333625"/>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1E4FA8"/>
          </a:solidFill>
          <a:ln/>
        </p:spPr>
        <p:txBody>
          <a:bodyPr/>
          <a:p>
            <a:pPr/>
            <a:endParaRPr/>
          </a:p>
        </p:txBody>
      </p:sp>
      <p:sp>
        <p:nvSpPr>
          <p:cNvPr id="75" name="" descr="{&quot;isTemplate&quot;:true,&quot;type&quot;:&quot;text&quot;}"/>
          <p:cNvSpPr txBox="1"/>
          <p:nvPr/>
        </p:nvSpPr>
        <p:spPr>
          <a:xfrm rot="0" flipH="0" flipV="0">
            <a:off x="6648450" y="2466975"/>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Cancel Order</a:t>
            </a:r>
            <a:endParaRPr/>
          </a:p>
        </p:txBody>
      </p:sp>
      <p:sp>
        <p:nvSpPr>
          <p:cNvPr id="76" name="" descr="{&quot;isTemplate&quot;:true,&quot;type&quot;:&quot;text&quot;}"/>
          <p:cNvSpPr txBox="1"/>
          <p:nvPr/>
        </p:nvSpPr>
        <p:spPr>
          <a:xfrm rot="0" flipH="0" flipV="0">
            <a:off x="6648450" y="2667000"/>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Student · ends when the refund is issued</a:t>
            </a:r>
            <a:endParaRPr/>
          </a:p>
        </p:txBody>
      </p:sp>
      <p:sp>
        <p:nvSpPr>
          <p:cNvPr id="77" name=""/>
          <p:cNvSpPr/>
          <p:nvPr/>
        </p:nvSpPr>
        <p:spPr>
          <a:xfrm rot="0" flipH="0" flipV="0">
            <a:off x="6496050" y="3105150"/>
            <a:ext cx="5343525" cy="685800"/>
          </a:xfrm>
          <a:prstGeom prst="roundRect">
            <a:avLst>
              <a:gd name="adj" fmla="val 12500"/>
            </a:avLst>
          </a:prstGeom>
          <a:solidFill>
            <a:srgbClr val="F0F5FC"/>
          </a:solidFill>
          <a:ln/>
        </p:spPr>
        <p:txBody>
          <a:bodyPr/>
          <a:p>
            <a:pPr/>
            <a:endParaRPr/>
          </a:p>
        </p:txBody>
      </p:sp>
      <p:sp>
        <p:nvSpPr>
          <p:cNvPr id="78" name=""/>
          <p:cNvSpPr/>
          <p:nvPr/>
        </p:nvSpPr>
        <p:spPr>
          <a:xfrm rot="0" flipH="0" flipV="0">
            <a:off x="6496050" y="3105150"/>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1E4FA8"/>
          </a:solidFill>
          <a:ln/>
        </p:spPr>
        <p:txBody>
          <a:bodyPr/>
          <a:p>
            <a:pPr/>
            <a:endParaRPr/>
          </a:p>
        </p:txBody>
      </p:sp>
      <p:sp>
        <p:nvSpPr>
          <p:cNvPr id="79" name="" descr="{&quot;isTemplate&quot;:true,&quot;type&quot;:&quot;text&quot;}"/>
          <p:cNvSpPr txBox="1"/>
          <p:nvPr/>
        </p:nvSpPr>
        <p:spPr>
          <a:xfrm rot="0" flipH="0" flipV="0">
            <a:off x="6648450" y="3238500"/>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Manage Today’s Menu</a:t>
            </a:r>
            <a:endParaRPr/>
          </a:p>
        </p:txBody>
      </p:sp>
      <p:sp>
        <p:nvSpPr>
          <p:cNvPr id="80" name="" descr="{&quot;isTemplate&quot;:true,&quot;type&quot;:&quot;text&quot;}"/>
          <p:cNvSpPr txBox="1"/>
          <p:nvPr/>
        </p:nvSpPr>
        <p:spPr>
          <a:xfrm rot="0" flipH="0" flipV="0">
            <a:off x="6648450" y="3438525"/>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Restaurant Manager · ends when the menu is live</a:t>
            </a:r>
            <a:endParaRPr/>
          </a:p>
        </p:txBody>
      </p:sp>
      <p:sp>
        <p:nvSpPr>
          <p:cNvPr id="81" name=""/>
          <p:cNvSpPr/>
          <p:nvPr/>
        </p:nvSpPr>
        <p:spPr>
          <a:xfrm rot="0" flipH="0" flipV="0">
            <a:off x="6496050" y="3876675"/>
            <a:ext cx="5343525" cy="685800"/>
          </a:xfrm>
          <a:prstGeom prst="roundRect">
            <a:avLst>
              <a:gd name="adj" fmla="val 12500"/>
            </a:avLst>
          </a:prstGeom>
          <a:solidFill>
            <a:srgbClr val="F0F5FC"/>
          </a:solidFill>
          <a:ln/>
        </p:spPr>
        <p:txBody>
          <a:bodyPr/>
          <a:p>
            <a:pPr/>
            <a:endParaRPr/>
          </a:p>
        </p:txBody>
      </p:sp>
      <p:sp>
        <p:nvSpPr>
          <p:cNvPr id="82" name=""/>
          <p:cNvSpPr/>
          <p:nvPr/>
        </p:nvSpPr>
        <p:spPr>
          <a:xfrm rot="0" flipH="0" flipV="0">
            <a:off x="6496050" y="3876675"/>
            <a:ext cx="5343525" cy="685800"/>
          </a:xfrm>
          <a:custGeom>
            <a:pathLst>
              <a:path w="561" h="72">
                <a:moveTo>
                  <a:pt x="8" y="0"/>
                </a:moveTo>
                <a:cubicBezTo>
                  <a:pt x="5" y="0"/>
                  <a:pt x="3" y="3"/>
                  <a:pt x="3" y="6"/>
                </a:cubicBezTo>
                <a:lnTo>
                  <a:pt x="3" y="66"/>
                </a:lnTo>
                <a:cubicBezTo>
                  <a:pt x="3" y="69"/>
                  <a:pt x="5" y="71"/>
                  <a:pt x="8" y="72"/>
                </a:cubicBezTo>
                <a:cubicBezTo>
                  <a:pt x="3" y="71"/>
                  <a:pt x="0" y="67"/>
                  <a:pt x="0" y="63"/>
                </a:cubicBezTo>
                <a:lnTo>
                  <a:pt x="0" y="9"/>
                </a:lnTo>
                <a:cubicBezTo>
                  <a:pt x="0" y="4"/>
                  <a:pt x="4" y="0"/>
                  <a:pt x="9" y="0"/>
                </a:cubicBezTo>
                <a:close/>
              </a:path>
            </a:pathLst>
          </a:custGeom>
          <a:solidFill>
            <a:srgbClr val="1E4FA8"/>
          </a:solidFill>
          <a:ln/>
        </p:spPr>
        <p:txBody>
          <a:bodyPr/>
          <a:p>
            <a:pPr/>
            <a:endParaRPr/>
          </a:p>
        </p:txBody>
      </p:sp>
      <p:sp>
        <p:nvSpPr>
          <p:cNvPr id="83" name="" descr="{&quot;isTemplate&quot;:true,&quot;type&quot;:&quot;text&quot;}"/>
          <p:cNvSpPr txBox="1"/>
          <p:nvPr/>
        </p:nvSpPr>
        <p:spPr>
          <a:xfrm rot="0" flipH="0" flipV="0">
            <a:off x="6648450" y="4010025"/>
            <a:ext cx="5010150" cy="171450"/>
          </a:xfrm>
          <a:prstGeom prst="rect"/>
        </p:spPr>
        <p:txBody>
          <a:bodyPr wrap="none" lIns="0" tIns="0" rIns="0" bIns="0"/>
          <a:p>
            <a:pPr>
              <a:lnSpc>
                <a:spcPct val="100000"/>
              </a:lnSpc>
            </a:pPr>
            <a:r>
              <a:rPr lang="en-US" sz="1125" b="1">
                <a:solidFill>
                  <a:srgbClr val="1A2230"/>
                </a:solidFill>
                <a:latin typeface="Microsoft YaHei"/>
                <a:ea typeface="Microsoft YaHei"/>
              </a:rPr>
              <a:t>Dispatch Courier</a:t>
            </a:r>
            <a:endParaRPr/>
          </a:p>
        </p:txBody>
      </p:sp>
      <p:sp>
        <p:nvSpPr>
          <p:cNvPr id="84" name="" descr="{&quot;isTemplate&quot;:true,&quot;type&quot;:&quot;text&quot;}"/>
          <p:cNvSpPr txBox="1"/>
          <p:nvPr/>
        </p:nvSpPr>
        <p:spPr>
          <a:xfrm rot="0" flipH="0" flipV="0">
            <a:off x="6648450" y="4210050"/>
            <a:ext cx="5010150" cy="219075"/>
          </a:xfrm>
          <a:prstGeom prst="rect"/>
        </p:spPr>
        <p:txBody>
          <a:bodyPr wrap="none" lIns="0" tIns="0" rIns="0" bIns="0"/>
          <a:p>
            <a:pPr>
              <a:lnSpc>
                <a:spcPct val="150000"/>
              </a:lnSpc>
            </a:pPr>
            <a:r>
              <a:rPr lang="en-US" sz="938">
                <a:solidFill>
                  <a:srgbClr val="4A5568"/>
                </a:solidFill>
                <a:latin typeface="Microsoft YaHei"/>
                <a:ea typeface="Microsoft YaHei"/>
              </a:rPr>
              <a:t>Dispatcher · ends when a rider is assigned</a:t>
            </a:r>
            <a:endParaRPr/>
          </a:p>
        </p:txBody>
      </p:sp>
      <p:sp>
        <p:nvSpPr>
          <p:cNvPr id="85" name=""/>
          <p:cNvSpPr/>
          <p:nvPr/>
        </p:nvSpPr>
        <p:spPr>
          <a:xfrm rot="0" flipH="0" flipV="0">
            <a:off x="0" y="6419850"/>
            <a:ext cx="12192000" cy="438150"/>
          </a:xfrm>
          <a:prstGeom prst="rect">
            <a:avLst/>
          </a:prstGeom>
          <a:solidFill>
            <a:srgbClr val="0E3F8C"/>
          </a:solidFill>
          <a:ln/>
        </p:spPr>
        <p:txBody>
          <a:bodyPr/>
          <a:p>
            <a:pPr/>
            <a:endParaRPr/>
          </a:p>
        </p:txBody>
      </p:sp>
      <p:sp>
        <p:nvSpPr>
          <p:cNvPr id="86" name="" descr="{&quot;isTemplate&quot;:true,&quot;type&quot;:&quot;text&quot;}"/>
          <p:cNvSpPr txBox="1"/>
          <p:nvPr/>
        </p:nvSpPr>
        <p:spPr>
          <a:xfrm rot="0" flipH="0" flipV="0">
            <a:off x="3086100" y="6543675"/>
            <a:ext cx="6019800" cy="190500"/>
          </a:xfrm>
          <a:prstGeom prst="rect"/>
        </p:spPr>
        <p:txBody>
          <a:bodyPr wrap="none" lIns="0" tIns="0" rIns="0" bIns="0"/>
          <a:p>
            <a:pPr>
              <a:lnSpc>
                <a:spcPct val="100000"/>
              </a:lnSpc>
            </a:pPr>
            <a:r>
              <a:rPr lang="en-US" sz="1200" b="1">
                <a:solidFill>
                  <a:srgbClr val="FFFFFF"/>
                </a:solidFill>
                <a:latin typeface="Microsoft YaHei"/>
                <a:ea typeface="Microsoft YaHei"/>
              </a:rPr>
              <a:t>“Manage X” is a database table with a verb glued on. Ask who wakes up wanting it.</a:t>
            </a:r>
            <a:endParaRPr/>
          </a:p>
        </p:txBody>
      </p:sp>
    </p:spTree>
  </p:cSld>
</p:sld>
</file>

<file path=ppt/slides/slide12.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87" name=""/>
        <p:cNvGrpSpPr/>
        <p:nvPr/>
      </p:nvGrpSpPr>
      <p:grpSpPr>
        <a:xfrm>
          <a:off x="0" y="0"/>
          <a:ext cx="0" cy="0"/>
          <a:chOff x="0" y="0"/>
          <a:chExt cx="0" cy="0"/>
        </a:xfrm>
      </p:grpSpPr>
      <p:sp>
        <p:nvSpPr>
          <p:cNvPr id="88" name=""/>
          <p:cNvSpPr/>
          <p:nvPr/>
        </p:nvSpPr>
        <p:spPr>
          <a:xfrm rot="0" flipH="0" flipV="0">
            <a:off x="0" y="0"/>
            <a:ext cx="12192000" cy="6858000"/>
          </a:xfrm>
          <a:prstGeom prst="rect">
            <a:avLst/>
          </a:prstGeom>
          <a:solidFill>
            <a:srgbClr val="FFFFFF"/>
          </a:solidFill>
          <a:ln/>
        </p:spPr>
        <p:txBody>
          <a:bodyPr/>
          <a:p>
            <a:pPr/>
            <a:endParaRPr/>
          </a:p>
        </p:txBody>
      </p:sp>
      <p:sp>
        <p:nvSpPr>
          <p:cNvPr id="89" name=""/>
          <p:cNvSpPr/>
          <p:nvPr/>
        </p:nvSpPr>
        <p:spPr>
          <a:xfrm rot="0" flipH="0" flipV="0">
            <a:off x="0" y="0"/>
            <a:ext cx="12192000" cy="685800"/>
          </a:xfrm>
          <a:prstGeom prst="rect">
            <a:avLst/>
          </a:prstGeom>
          <a:solidFill>
            <a:srgbClr val="1E4FA8"/>
          </a:solidFill>
          <a:ln/>
        </p:spPr>
        <p:txBody>
          <a:bodyPr/>
          <a:p>
            <a:pPr/>
            <a:endParaRPr/>
          </a:p>
        </p:txBody>
      </p:sp>
      <p:sp>
        <p:nvSpPr>
          <p:cNvPr id="9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91" name="" descr="{&quot;isTemplate&quot;:true,&quot;type&quot;:&quot;text&quot;}"/>
          <p:cNvSpPr txBox="1"/>
          <p:nvPr/>
        </p:nvSpPr>
        <p:spPr>
          <a:xfrm rot="0" flipH="0" flipV="0">
            <a:off x="10125075" y="257175"/>
            <a:ext cx="1685925" cy="171450"/>
          </a:xfrm>
          <a:prstGeom prst="rect"/>
        </p:spPr>
        <p:txBody>
          <a:bodyPr wrap="none" lIns="0" tIns="0" rIns="0" bIns="0"/>
          <a:p>
            <a:pPr>
              <a:lnSpc>
                <a:spcPct val="100000"/>
              </a:lnSpc>
            </a:pPr>
            <a:r>
              <a:rPr lang="en-US" sz="1125">
                <a:solidFill>
                  <a:srgbClr val="B9CDF0"/>
                </a:solidFill>
                <a:latin typeface="Microsoft YaHei"/>
                <a:ea typeface="Microsoft YaHei"/>
              </a:rPr>
              <a:t>W04 · ACTORS &amp; GOALS</a:t>
            </a:r>
            <a:endParaRPr/>
          </a:p>
        </p:txBody>
      </p:sp>
      <p:sp>
        <p:nvSpPr>
          <p:cNvPr id="92" name="" descr="{&quot;isTemplate&quot;:true,&quot;type&quot;:&quot;text&quot;}"/>
          <p:cNvSpPr txBox="1"/>
          <p:nvPr/>
        </p:nvSpPr>
        <p:spPr>
          <a:xfrm rot="0" flipH="0" flipV="0">
            <a:off x="381000" y="800100"/>
            <a:ext cx="2705100" cy="333375"/>
          </a:xfrm>
          <a:prstGeom prst="rect"/>
        </p:spPr>
        <p:txBody>
          <a:bodyPr wrap="none" lIns="0" tIns="0" rIns="0" bIns="0"/>
          <a:p>
            <a:pPr>
              <a:lnSpc>
                <a:spcPct val="100000"/>
              </a:lnSpc>
            </a:pPr>
            <a:r>
              <a:rPr lang="en-US" sz="2175" b="1">
                <a:solidFill>
                  <a:srgbClr val="0E3F8C"/>
                </a:solidFill>
                <a:latin typeface="Microsoft YaHei"/>
                <a:ea typeface="Microsoft YaHei"/>
              </a:rPr>
              <a:t>Actor Generalization</a:t>
            </a:r>
            <a:endParaRPr/>
          </a:p>
        </p:txBody>
      </p:sp>
      <p:sp>
        <p:nvSpPr>
          <p:cNvPr id="93"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38</a:t>
            </a:r>
            <a:endParaRPr/>
          </a:p>
        </p:txBody>
      </p:sp>
      <p:pic>
        <p:nvPicPr>
          <p:cNvPr id="94" name=""/>
          <p:cNvPicPr>
            <a:picLocks noChangeAspect="1"/>
          </p:cNvPicPr>
          <p:nvPr/>
        </p:nvPicPr>
        <p:blipFill>
          <a:blip>
            <a:extLst>
              <a:ext uri="{96DAC541-7B7A-43D3-8B79-37D633B846F1}">
                <asvg:svgBlip r:embed="rId1"/>
              </a:ext>
            </a:extLst>
          </a:blip>
          <a:stretch>
            <a:fillRect/>
          </a:stretch>
        </p:blipFill>
        <p:spPr>
          <a:xfrm rot="0" flipH="0" flipV="0">
            <a:off x="381000" y="2181225"/>
            <a:ext cx="5334000" cy="3390900"/>
          </a:xfrm>
          <a:prstGeom prst="rect">
            <a:avLst/>
          </a:prstGeom>
          <a:ln/>
        </p:spPr>
      </p:pic>
      <p:sp>
        <p:nvSpPr>
          <p:cNvPr id="95" name=""/>
          <p:cNvSpPr/>
          <p:nvPr/>
        </p:nvSpPr>
        <p:spPr>
          <a:xfrm rot="0" flipH="0" flipV="0">
            <a:off x="6000750" y="1914525"/>
            <a:ext cx="5848350" cy="1019175"/>
          </a:xfrm>
          <a:prstGeom prst="roundRect">
            <a:avLst>
              <a:gd name="adj" fmla="val 8411"/>
            </a:avLst>
          </a:prstGeom>
          <a:solidFill>
            <a:srgbClr val="F0F5FC"/>
          </a:solidFill>
          <a:ln/>
        </p:spPr>
        <p:txBody>
          <a:bodyPr/>
          <a:p>
            <a:pPr/>
            <a:endParaRPr/>
          </a:p>
        </p:txBody>
      </p:sp>
      <p:sp>
        <p:nvSpPr>
          <p:cNvPr id="96" name=""/>
          <p:cNvSpPr/>
          <p:nvPr/>
        </p:nvSpPr>
        <p:spPr>
          <a:xfrm rot="0" flipH="0" flipV="0">
            <a:off x="6000750" y="1914525"/>
            <a:ext cx="5848350" cy="1019175"/>
          </a:xfrm>
          <a:custGeom>
            <a:pathLst>
              <a:path w="614" h="107">
                <a:moveTo>
                  <a:pt x="9" y="0"/>
                </a:moveTo>
                <a:cubicBezTo>
                  <a:pt x="6" y="0"/>
                  <a:pt x="4" y="2"/>
                  <a:pt x="4" y="5"/>
                </a:cubicBezTo>
                <a:lnTo>
                  <a:pt x="4" y="102"/>
                </a:lnTo>
                <a:cubicBezTo>
                  <a:pt x="4" y="104"/>
                  <a:pt x="6" y="106"/>
                  <a:pt x="8" y="107"/>
                </a:cubicBezTo>
                <a:cubicBezTo>
                  <a:pt x="4" y="107"/>
                  <a:pt x="0" y="103"/>
                  <a:pt x="0" y="98"/>
                </a:cubicBezTo>
                <a:lnTo>
                  <a:pt x="0" y="9"/>
                </a:lnTo>
                <a:cubicBezTo>
                  <a:pt x="0" y="4"/>
                  <a:pt x="4" y="0"/>
                  <a:pt x="9" y="0"/>
                </a:cubicBezTo>
                <a:close/>
              </a:path>
            </a:pathLst>
          </a:custGeom>
          <a:solidFill>
            <a:srgbClr val="1E4FA8"/>
          </a:solidFill>
          <a:ln/>
        </p:spPr>
        <p:txBody>
          <a:bodyPr/>
          <a:p>
            <a:pPr/>
            <a:endParaRPr/>
          </a:p>
        </p:txBody>
      </p:sp>
      <p:sp>
        <p:nvSpPr>
          <p:cNvPr id="97" name="" descr="{&quot;isTemplate&quot;:true,&quot;type&quot;:&quot;text&quot;}"/>
          <p:cNvSpPr txBox="1"/>
          <p:nvPr/>
        </p:nvSpPr>
        <p:spPr>
          <a:xfrm rot="0" flipH="0" flipV="0">
            <a:off x="6172200" y="2066925"/>
            <a:ext cx="5467350" cy="190500"/>
          </a:xfrm>
          <a:prstGeom prst="rect"/>
        </p:spPr>
        <p:txBody>
          <a:bodyPr wrap="none" lIns="0" tIns="0" rIns="0" bIns="0"/>
          <a:p>
            <a:pPr>
              <a:lnSpc>
                <a:spcPct val="100000"/>
              </a:lnSpc>
            </a:pPr>
            <a:r>
              <a:rPr lang="en-US" sz="1200" b="1">
                <a:solidFill>
                  <a:srgbClr val="0E3F8C"/>
                </a:solidFill>
                <a:latin typeface="Microsoft YaHei"/>
                <a:ea typeface="Microsoft YaHei"/>
              </a:rPr>
              <a:t>What the arrow says</a:t>
            </a:r>
            <a:endParaRPr/>
          </a:p>
        </p:txBody>
      </p:sp>
      <p:sp>
        <p:nvSpPr>
          <p:cNvPr id="98" name="" descr="{&quot;isTemplate&quot;:true,&quot;type&quot;:&quot;text&quot;}"/>
          <p:cNvSpPr txBox="1"/>
          <p:nvPr/>
        </p:nvSpPr>
        <p:spPr>
          <a:xfrm rot="0" flipH="0" flipV="0">
            <a:off x="6172200" y="2305050"/>
            <a:ext cx="54673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A hollow triangle points from the child to the parent. Read it as “Student is a kind of User”. Every use case attached to User is automatically available to Student and Staff.</a:t>
            </a:r>
            <a:endParaRPr/>
          </a:p>
        </p:txBody>
      </p:sp>
      <p:sp>
        <p:nvSpPr>
          <p:cNvPr id="99" name=""/>
          <p:cNvSpPr/>
          <p:nvPr/>
        </p:nvSpPr>
        <p:spPr>
          <a:xfrm rot="0" flipH="0" flipV="0">
            <a:off x="6000750" y="3067050"/>
            <a:ext cx="5848350" cy="1019175"/>
          </a:xfrm>
          <a:prstGeom prst="roundRect">
            <a:avLst>
              <a:gd name="adj" fmla="val 8411"/>
            </a:avLst>
          </a:prstGeom>
          <a:solidFill>
            <a:srgbClr val="F7F9FC"/>
          </a:solidFill>
          <a:ln/>
        </p:spPr>
        <p:txBody>
          <a:bodyPr/>
          <a:p>
            <a:pPr/>
            <a:endParaRPr/>
          </a:p>
        </p:txBody>
      </p:sp>
      <p:sp>
        <p:nvSpPr>
          <p:cNvPr id="100" name=""/>
          <p:cNvSpPr/>
          <p:nvPr/>
        </p:nvSpPr>
        <p:spPr>
          <a:xfrm rot="0" flipH="0" flipV="0">
            <a:off x="6000750" y="3067050"/>
            <a:ext cx="5848350" cy="1019175"/>
          </a:xfrm>
          <a:custGeom>
            <a:pathLst>
              <a:path w="614" h="107">
                <a:moveTo>
                  <a:pt x="9" y="0"/>
                </a:moveTo>
                <a:cubicBezTo>
                  <a:pt x="6" y="0"/>
                  <a:pt x="4" y="2"/>
                  <a:pt x="4" y="5"/>
                </a:cubicBezTo>
                <a:lnTo>
                  <a:pt x="4" y="102"/>
                </a:lnTo>
                <a:cubicBezTo>
                  <a:pt x="4" y="104"/>
                  <a:pt x="6" y="106"/>
                  <a:pt x="8" y="107"/>
                </a:cubicBezTo>
                <a:cubicBezTo>
                  <a:pt x="4" y="107"/>
                  <a:pt x="0" y="103"/>
                  <a:pt x="0" y="98"/>
                </a:cubicBezTo>
                <a:lnTo>
                  <a:pt x="0" y="9"/>
                </a:lnTo>
                <a:cubicBezTo>
                  <a:pt x="0" y="4"/>
                  <a:pt x="4" y="0"/>
                  <a:pt x="9" y="0"/>
                </a:cubicBezTo>
                <a:close/>
              </a:path>
            </a:pathLst>
          </a:custGeom>
          <a:solidFill>
            <a:srgbClr val="3D7BD9"/>
          </a:solidFill>
          <a:ln/>
        </p:spPr>
        <p:txBody>
          <a:bodyPr/>
          <a:p>
            <a:pPr/>
            <a:endParaRPr/>
          </a:p>
        </p:txBody>
      </p:sp>
      <p:sp>
        <p:nvSpPr>
          <p:cNvPr id="101" name="" descr="{&quot;isTemplate&quot;:true,&quot;type&quot;:&quot;text&quot;}"/>
          <p:cNvSpPr txBox="1"/>
          <p:nvPr/>
        </p:nvSpPr>
        <p:spPr>
          <a:xfrm rot="0" flipH="0" flipV="0">
            <a:off x="6172200" y="3219450"/>
            <a:ext cx="5467350" cy="190500"/>
          </a:xfrm>
          <a:prstGeom prst="rect"/>
        </p:spPr>
        <p:txBody>
          <a:bodyPr wrap="none" lIns="0" tIns="0" rIns="0" bIns="0"/>
          <a:p>
            <a:pPr>
              <a:lnSpc>
                <a:spcPct val="100000"/>
              </a:lnSpc>
            </a:pPr>
            <a:r>
              <a:rPr lang="en-US" sz="1200" b="1">
                <a:solidFill>
                  <a:srgbClr val="0E3F8C"/>
                </a:solidFill>
                <a:latin typeface="Microsoft YaHei"/>
                <a:ea typeface="Microsoft YaHei"/>
              </a:rPr>
              <a:t>Use it when…</a:t>
            </a:r>
            <a:endParaRPr/>
          </a:p>
        </p:txBody>
      </p:sp>
      <p:sp>
        <p:nvSpPr>
          <p:cNvPr id="102" name="" descr="{&quot;isTemplate&quot;:true,&quot;type&quot;:&quot;text&quot;}"/>
          <p:cNvSpPr txBox="1"/>
          <p:nvPr/>
        </p:nvSpPr>
        <p:spPr>
          <a:xfrm rot="0" flipH="0" flipV="0">
            <a:off x="6172200" y="3457575"/>
            <a:ext cx="54673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Two actors share most of their goals, and one of them has one or two extra. You then write the shared use cases once, against the parent.</a:t>
            </a:r>
            <a:endParaRPr/>
          </a:p>
        </p:txBody>
      </p:sp>
      <p:sp>
        <p:nvSpPr>
          <p:cNvPr id="103" name=""/>
          <p:cNvSpPr/>
          <p:nvPr/>
        </p:nvSpPr>
        <p:spPr>
          <a:xfrm rot="0" flipH="0" flipV="0">
            <a:off x="6000750" y="4219575"/>
            <a:ext cx="5848350" cy="1019175"/>
          </a:xfrm>
          <a:prstGeom prst="roundRect">
            <a:avLst>
              <a:gd name="adj" fmla="val 8411"/>
            </a:avLst>
          </a:prstGeom>
          <a:solidFill>
            <a:srgbClr val="FDF3F3"/>
          </a:solidFill>
          <a:ln/>
        </p:spPr>
        <p:txBody>
          <a:bodyPr/>
          <a:p>
            <a:pPr/>
            <a:endParaRPr/>
          </a:p>
        </p:txBody>
      </p:sp>
      <p:sp>
        <p:nvSpPr>
          <p:cNvPr id="104" name=""/>
          <p:cNvSpPr/>
          <p:nvPr/>
        </p:nvSpPr>
        <p:spPr>
          <a:xfrm rot="0" flipH="0" flipV="0">
            <a:off x="6000750" y="4219575"/>
            <a:ext cx="5848350" cy="1019175"/>
          </a:xfrm>
          <a:custGeom>
            <a:pathLst>
              <a:path w="614" h="107">
                <a:moveTo>
                  <a:pt x="9" y="0"/>
                </a:moveTo>
                <a:cubicBezTo>
                  <a:pt x="6" y="0"/>
                  <a:pt x="4" y="2"/>
                  <a:pt x="4" y="5"/>
                </a:cubicBezTo>
                <a:lnTo>
                  <a:pt x="4" y="102"/>
                </a:lnTo>
                <a:cubicBezTo>
                  <a:pt x="4" y="104"/>
                  <a:pt x="6" y="106"/>
                  <a:pt x="8" y="107"/>
                </a:cubicBezTo>
                <a:cubicBezTo>
                  <a:pt x="4" y="107"/>
                  <a:pt x="0" y="103"/>
                  <a:pt x="0" y="98"/>
                </a:cubicBezTo>
                <a:lnTo>
                  <a:pt x="0" y="9"/>
                </a:lnTo>
                <a:cubicBezTo>
                  <a:pt x="0" y="4"/>
                  <a:pt x="4" y="0"/>
                  <a:pt x="9" y="0"/>
                </a:cubicBezTo>
                <a:close/>
              </a:path>
            </a:pathLst>
          </a:custGeom>
          <a:solidFill>
            <a:srgbClr val="D9534F"/>
          </a:solidFill>
          <a:ln/>
        </p:spPr>
        <p:txBody>
          <a:bodyPr/>
          <a:p>
            <a:pPr/>
            <a:endParaRPr/>
          </a:p>
        </p:txBody>
      </p:sp>
      <p:sp>
        <p:nvSpPr>
          <p:cNvPr id="105" name="" descr="{&quot;isTemplate&quot;:true,&quot;type&quot;:&quot;text&quot;}"/>
          <p:cNvSpPr txBox="1"/>
          <p:nvPr/>
        </p:nvSpPr>
        <p:spPr>
          <a:xfrm rot="0" flipH="0" flipV="0">
            <a:off x="6172200" y="4371975"/>
            <a:ext cx="5467350" cy="190500"/>
          </a:xfrm>
          <a:prstGeom prst="rect"/>
        </p:spPr>
        <p:txBody>
          <a:bodyPr wrap="none" lIns="0" tIns="0" rIns="0" bIns="0"/>
          <a:p>
            <a:pPr>
              <a:lnSpc>
                <a:spcPct val="100000"/>
              </a:lnSpc>
            </a:pPr>
            <a:r>
              <a:rPr lang="en-US" sz="1200" b="1">
                <a:solidFill>
                  <a:srgbClr val="D9534F"/>
                </a:solidFill>
                <a:latin typeface="Microsoft YaHei"/>
                <a:ea typeface="Microsoft YaHei"/>
              </a:rPr>
              <a:t>Do not use it when…</a:t>
            </a:r>
            <a:endParaRPr/>
          </a:p>
        </p:txBody>
      </p:sp>
      <p:sp>
        <p:nvSpPr>
          <p:cNvPr id="106" name="" descr="{&quot;isTemplate&quot;:true,&quot;type&quot;:&quot;text&quot;}"/>
          <p:cNvSpPr txBox="1"/>
          <p:nvPr/>
        </p:nvSpPr>
        <p:spPr>
          <a:xfrm rot="0" flipH="0" flipV="0">
            <a:off x="6172200" y="4610100"/>
            <a:ext cx="54673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The two roles share almost nothing. A hollow triangle that earns you one line of saving is one more thing the reader must decode — draw two actors instead.</a:t>
            </a:r>
            <a:endParaRPr/>
          </a:p>
        </p:txBody>
      </p:sp>
      <p:sp>
        <p:nvSpPr>
          <p:cNvPr id="107" name=""/>
          <p:cNvSpPr/>
          <p:nvPr/>
        </p:nvSpPr>
        <p:spPr>
          <a:xfrm rot="0" flipH="0" flipV="0">
            <a:off x="5962650" y="5372100"/>
            <a:ext cx="5848350" cy="457200"/>
          </a:xfrm>
          <a:prstGeom prst="roundRect">
            <a:avLst>
              <a:gd name="adj" fmla="val 16667"/>
            </a:avLst>
          </a:prstGeom>
          <a:solidFill>
            <a:srgbClr val="FFFFFF"/>
          </a:solidFill>
          <a:ln w="12700">
            <a:solidFill>
              <a:srgbClr val="D6DCE5"/>
            </a:solidFill>
            <a:prstDash val="dash"/>
          </a:ln>
        </p:spPr>
        <p:txBody>
          <a:bodyPr/>
          <a:p>
            <a:pPr/>
            <a:endParaRPr/>
          </a:p>
        </p:txBody>
      </p:sp>
      <p:sp>
        <p:nvSpPr>
          <p:cNvPr id="108" name="" descr="{&quot;isTemplate&quot;:true,&quot;type&quot;:&quot;text&quot;}"/>
          <p:cNvSpPr txBox="1"/>
          <p:nvPr/>
        </p:nvSpPr>
        <p:spPr>
          <a:xfrm rot="0" flipH="0" flipV="0">
            <a:off x="6115050" y="5486400"/>
            <a:ext cx="5543550" cy="228600"/>
          </a:xfrm>
          <a:prstGeom prst="rect"/>
        </p:spPr>
        <p:txBody>
          <a:bodyPr wrap="none" lIns="0" tIns="0" rIns="0" bIns="0"/>
          <a:p>
            <a:pPr>
              <a:lnSpc>
                <a:spcPct val="155000"/>
              </a:lnSpc>
            </a:pPr>
            <a:r>
              <a:rPr lang="en-US" sz="938">
                <a:solidFill>
                  <a:srgbClr val="8B97A8"/>
                </a:solidFill>
                <a:latin typeface="Microsoft YaHei"/>
                <a:ea typeface="Microsoft YaHei"/>
              </a:rPr>
              <a:t>Rule of thumb: if you have to explain why the triangle is there, take it out.</a:t>
            </a:r>
            <a:endParaRPr/>
          </a:p>
        </p:txBody>
      </p:sp>
      <p:sp>
        <p:nvSpPr>
          <p:cNvPr id="109" name="" descr="{&quot;isTemplate&quot;:true,&quot;type&quot;:&quot;text&quot;}"/>
          <p:cNvSpPr txBox="1"/>
          <p:nvPr/>
        </p:nvSpPr>
        <p:spPr>
          <a:xfrm rot="0" flipH="0" flipV="0">
            <a:off x="381000" y="6619875"/>
            <a:ext cx="34004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Generalization is a saving, not a decoration</a:t>
            </a:r>
            <a:endParaRPr/>
          </a:p>
        </p:txBody>
      </p:sp>
      <p:sp>
        <p:nvSpPr>
          <p:cNvPr id="110"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38</a:t>
            </a:r>
            <a:endParaRPr/>
          </a:p>
        </p:txBody>
      </p:sp>
    </p:spTree>
  </p:cSld>
</p:sld>
</file>

<file path=ppt/slides/slide13.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111" name=""/>
        <p:cNvGrpSpPr/>
        <p:nvPr/>
      </p:nvGrpSpPr>
      <p:grpSpPr>
        <a:xfrm>
          <a:off x="0" y="0"/>
          <a:ext cx="0" cy="0"/>
          <a:chOff x="0" y="0"/>
          <a:chExt cx="0" cy="0"/>
        </a:xfrm>
      </p:grpSpPr>
      <p:sp>
        <p:nvSpPr>
          <p:cNvPr id="112" name=""/>
          <p:cNvSpPr/>
          <p:nvPr/>
        </p:nvSpPr>
        <p:spPr>
          <a:xfrm rot="0" flipH="0" flipV="0">
            <a:off x="0" y="0"/>
            <a:ext cx="12192000" cy="6858000"/>
          </a:xfrm>
          <a:prstGeom prst="rect">
            <a:avLst/>
          </a:prstGeom>
          <a:solidFill>
            <a:srgbClr val="FFFFFF"/>
          </a:solidFill>
          <a:ln/>
        </p:spPr>
        <p:txBody>
          <a:bodyPr/>
          <a:p>
            <a:pPr/>
            <a:endParaRPr/>
          </a:p>
        </p:txBody>
      </p:sp>
      <p:sp>
        <p:nvSpPr>
          <p:cNvPr id="113" name=""/>
          <p:cNvSpPr/>
          <p:nvPr/>
        </p:nvSpPr>
        <p:spPr>
          <a:xfrm rot="0" flipH="0" flipV="0">
            <a:off x="0" y="0"/>
            <a:ext cx="12192000" cy="685800"/>
          </a:xfrm>
          <a:prstGeom prst="rect">
            <a:avLst/>
          </a:prstGeom>
          <a:solidFill>
            <a:srgbClr val="1E4FA8"/>
          </a:solidFill>
          <a:ln/>
        </p:spPr>
        <p:txBody>
          <a:bodyPr/>
          <a:p>
            <a:pPr/>
            <a:endParaRPr/>
          </a:p>
        </p:txBody>
      </p:sp>
      <p:sp>
        <p:nvSpPr>
          <p:cNvPr id="11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15" name="" descr="{&quot;isTemplate&quot;:true,&quot;type&quot;:&quot;text&quot;}"/>
          <p:cNvSpPr txBox="1"/>
          <p:nvPr/>
        </p:nvSpPr>
        <p:spPr>
          <a:xfrm rot="0" flipH="0" flipV="0">
            <a:off x="10125075" y="257175"/>
            <a:ext cx="1685925" cy="171450"/>
          </a:xfrm>
          <a:prstGeom prst="rect"/>
        </p:spPr>
        <p:txBody>
          <a:bodyPr wrap="none" lIns="0" tIns="0" rIns="0" bIns="0"/>
          <a:p>
            <a:pPr>
              <a:lnSpc>
                <a:spcPct val="100000"/>
              </a:lnSpc>
            </a:pPr>
            <a:r>
              <a:rPr lang="en-US" sz="1125">
                <a:solidFill>
                  <a:srgbClr val="B9CDF0"/>
                </a:solidFill>
                <a:latin typeface="Microsoft YaHei"/>
                <a:ea typeface="Microsoft YaHei"/>
              </a:rPr>
              <a:t>W04 · ACTORS &amp; GOALS</a:t>
            </a:r>
            <a:endParaRPr/>
          </a:p>
        </p:txBody>
      </p:sp>
      <p:sp>
        <p:nvSpPr>
          <p:cNvPr id="116" name="" descr="{&quot;isTemplate&quot;:true,&quot;type&quot;:&quot;text&quot;}"/>
          <p:cNvSpPr txBox="1"/>
          <p:nvPr/>
        </p:nvSpPr>
        <p:spPr>
          <a:xfrm rot="0" flipH="0" flipV="0">
            <a:off x="381000" y="819150"/>
            <a:ext cx="2571750" cy="333375"/>
          </a:xfrm>
          <a:prstGeom prst="rect"/>
        </p:spPr>
        <p:txBody>
          <a:bodyPr wrap="none" lIns="0" tIns="0" rIns="0" bIns="0"/>
          <a:p>
            <a:pPr>
              <a:lnSpc>
                <a:spcPct val="100000"/>
              </a:lnSpc>
            </a:pPr>
            <a:r>
              <a:rPr lang="en-US" sz="2175" b="1">
                <a:solidFill>
                  <a:srgbClr val="0E3F8C"/>
                </a:solidFill>
                <a:latin typeface="Microsoft YaHei"/>
                <a:ea typeface="Microsoft YaHei"/>
              </a:rPr>
              <a:t>Naming a Use Case</a:t>
            </a:r>
            <a:endParaRPr/>
          </a:p>
        </p:txBody>
      </p:sp>
      <p:sp>
        <p:nvSpPr>
          <p:cNvPr id="117"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13 / 38</a:t>
            </a:r>
            <a:endParaRPr/>
          </a:p>
        </p:txBody>
      </p:sp>
      <p:sp>
        <p:nvSpPr>
          <p:cNvPr id="118" name=""/>
          <p:cNvSpPr/>
          <p:nvPr/>
        </p:nvSpPr>
        <p:spPr>
          <a:xfrm rot="0" flipH="0" flipV="0">
            <a:off x="381000" y="1857375"/>
            <a:ext cx="2952750" cy="1114425"/>
          </a:xfrm>
          <a:prstGeom prst="roundRect">
            <a:avLst>
              <a:gd name="adj" fmla="val 8547"/>
            </a:avLst>
          </a:prstGeom>
          <a:solidFill>
            <a:srgbClr val="F0F5FC"/>
          </a:solidFill>
          <a:ln/>
        </p:spPr>
        <p:txBody>
          <a:bodyPr/>
          <a:p>
            <a:pPr/>
            <a:endParaRPr/>
          </a:p>
        </p:txBody>
      </p:sp>
      <p:sp>
        <p:nvSpPr>
          <p:cNvPr id="119" name=""/>
          <p:cNvSpPr/>
          <p:nvPr/>
        </p:nvSpPr>
        <p:spPr>
          <a:xfrm rot="0" flipH="0" flipV="0">
            <a:off x="381000" y="1857375"/>
            <a:ext cx="2952750" cy="1114425"/>
          </a:xfrm>
          <a:custGeom>
            <a:pathLst>
              <a:path w="310" h="117">
                <a:moveTo>
                  <a:pt x="300" y="0"/>
                </a:moveTo>
                <a:cubicBezTo>
                  <a:pt x="305" y="0"/>
                  <a:pt x="309" y="4"/>
                  <a:pt x="310" y="8"/>
                </a:cubicBezTo>
                <a:cubicBezTo>
                  <a:pt x="309" y="6"/>
                  <a:pt x="307" y="4"/>
                  <a:pt x="304" y="4"/>
                </a:cubicBezTo>
                <a:lnTo>
                  <a:pt x="6" y="4"/>
                </a:lnTo>
                <a:cubicBezTo>
                  <a:pt x="3" y="4"/>
                  <a:pt x="1" y="6"/>
                  <a:pt x="0" y="9"/>
                </a:cubicBezTo>
                <a:cubicBezTo>
                  <a:pt x="1" y="4"/>
                  <a:pt x="5" y="0"/>
                  <a:pt x="10" y="0"/>
                </a:cubicBezTo>
                <a:lnTo>
                  <a:pt x="300" y="0"/>
                </a:lnTo>
                <a:close/>
              </a:path>
            </a:pathLst>
          </a:custGeom>
          <a:solidFill>
            <a:srgbClr val="1E4FA8"/>
          </a:solidFill>
          <a:ln/>
        </p:spPr>
        <p:txBody>
          <a:bodyPr/>
          <a:p>
            <a:pPr/>
            <a:endParaRPr/>
          </a:p>
        </p:txBody>
      </p:sp>
      <p:sp>
        <p:nvSpPr>
          <p:cNvPr id="120" name="" descr="{&quot;isTemplate&quot;:true,&quot;type&quot;:&quot;text&quot;}"/>
          <p:cNvSpPr txBox="1"/>
          <p:nvPr/>
        </p:nvSpPr>
        <p:spPr>
          <a:xfrm rot="0" flipH="0" flipV="0">
            <a:off x="552450" y="2028825"/>
            <a:ext cx="2609850" cy="200025"/>
          </a:xfrm>
          <a:prstGeom prst="rect"/>
        </p:spPr>
        <p:txBody>
          <a:bodyPr wrap="none" lIns="0" tIns="0" rIns="0" bIns="0"/>
          <a:p>
            <a:pPr>
              <a:lnSpc>
                <a:spcPct val="100000"/>
              </a:lnSpc>
            </a:pPr>
            <a:r>
              <a:rPr lang="en-US" sz="1275" b="1">
                <a:solidFill>
                  <a:srgbClr val="0E3F8C"/>
                </a:solidFill>
                <a:latin typeface="Microsoft YaHei"/>
                <a:ea typeface="Microsoft YaHei"/>
              </a:rPr>
              <a:t>Verb + object</a:t>
            </a:r>
            <a:endParaRPr/>
          </a:p>
        </p:txBody>
      </p:sp>
      <p:sp>
        <p:nvSpPr>
          <p:cNvPr id="121" name="" descr="{&quot;isTemplate&quot;:true,&quot;type&quot;:&quot;text&quot;}"/>
          <p:cNvSpPr txBox="1"/>
          <p:nvPr/>
        </p:nvSpPr>
        <p:spPr>
          <a:xfrm rot="0" flipH="0" flipV="0">
            <a:off x="552450" y="2286000"/>
            <a:ext cx="26098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Two or three words. An active verb, then the thing the actor cares about.</a:t>
            </a:r>
            <a:endParaRPr/>
          </a:p>
        </p:txBody>
      </p:sp>
      <p:sp>
        <p:nvSpPr>
          <p:cNvPr id="122" name=""/>
          <p:cNvSpPr/>
          <p:nvPr/>
        </p:nvSpPr>
        <p:spPr>
          <a:xfrm rot="0" flipH="0" flipV="0">
            <a:off x="381000" y="3086100"/>
            <a:ext cx="2952750" cy="1352550"/>
          </a:xfrm>
          <a:prstGeom prst="roundRect">
            <a:avLst>
              <a:gd name="adj" fmla="val 7042"/>
            </a:avLst>
          </a:prstGeom>
          <a:solidFill>
            <a:srgbClr val="F7F9FC"/>
          </a:solidFill>
          <a:ln/>
        </p:spPr>
        <p:txBody>
          <a:bodyPr/>
          <a:p>
            <a:pPr/>
            <a:endParaRPr/>
          </a:p>
        </p:txBody>
      </p:sp>
      <p:sp>
        <p:nvSpPr>
          <p:cNvPr id="123" name=""/>
          <p:cNvSpPr/>
          <p:nvPr/>
        </p:nvSpPr>
        <p:spPr>
          <a:xfrm rot="0" flipH="0" flipV="0">
            <a:off x="381000" y="3086100"/>
            <a:ext cx="2952750" cy="1352550"/>
          </a:xfrm>
          <a:custGeom>
            <a:pathLst>
              <a:path w="310" h="142">
                <a:moveTo>
                  <a:pt x="300" y="0"/>
                </a:moveTo>
                <a:cubicBezTo>
                  <a:pt x="305" y="0"/>
                  <a:pt x="309" y="4"/>
                  <a:pt x="310" y="8"/>
                </a:cubicBezTo>
                <a:cubicBezTo>
                  <a:pt x="309" y="6"/>
                  <a:pt x="307" y="4"/>
                  <a:pt x="304" y="4"/>
                </a:cubicBezTo>
                <a:lnTo>
                  <a:pt x="6" y="4"/>
                </a:lnTo>
                <a:cubicBezTo>
                  <a:pt x="3" y="4"/>
                  <a:pt x="1" y="6"/>
                  <a:pt x="0" y="9"/>
                </a:cubicBezTo>
                <a:cubicBezTo>
                  <a:pt x="1" y="4"/>
                  <a:pt x="5" y="0"/>
                  <a:pt x="10" y="0"/>
                </a:cubicBezTo>
                <a:lnTo>
                  <a:pt x="300" y="0"/>
                </a:lnTo>
                <a:close/>
              </a:path>
            </a:pathLst>
          </a:custGeom>
          <a:solidFill>
            <a:srgbClr val="3D7BD9"/>
          </a:solidFill>
          <a:ln/>
        </p:spPr>
        <p:txBody>
          <a:bodyPr/>
          <a:p>
            <a:pPr/>
            <a:endParaRPr/>
          </a:p>
        </p:txBody>
      </p:sp>
      <p:sp>
        <p:nvSpPr>
          <p:cNvPr id="124" name="" descr="{&quot;isTemplate&quot;:true,&quot;type&quot;:&quot;text&quot;}"/>
          <p:cNvSpPr txBox="1"/>
          <p:nvPr/>
        </p:nvSpPr>
        <p:spPr>
          <a:xfrm rot="0" flipH="0" flipV="0">
            <a:off x="552450" y="3257550"/>
            <a:ext cx="2609850" cy="200025"/>
          </a:xfrm>
          <a:prstGeom prst="rect"/>
        </p:spPr>
        <p:txBody>
          <a:bodyPr wrap="none" lIns="0" tIns="0" rIns="0" bIns="0"/>
          <a:p>
            <a:pPr>
              <a:lnSpc>
                <a:spcPct val="100000"/>
              </a:lnSpc>
            </a:pPr>
            <a:r>
              <a:rPr lang="en-US" sz="1275" b="1">
                <a:solidFill>
                  <a:srgbClr val="0E3F8C"/>
                </a:solidFill>
                <a:latin typeface="Microsoft YaHei"/>
                <a:ea typeface="Microsoft YaHei"/>
              </a:rPr>
              <a:t>Business words</a:t>
            </a:r>
            <a:endParaRPr/>
          </a:p>
        </p:txBody>
      </p:sp>
      <p:sp>
        <p:nvSpPr>
          <p:cNvPr id="125" name="" descr="{&quot;isTemplate&quot;:true,&quot;type&quot;:&quot;text&quot;}"/>
          <p:cNvSpPr txBox="1"/>
          <p:nvPr/>
        </p:nvSpPr>
        <p:spPr>
          <a:xfrm rot="0" flipH="0" flipV="0">
            <a:off x="552450" y="3514725"/>
            <a:ext cx="2609850" cy="714375"/>
          </a:xfrm>
          <a:prstGeom prst="rect"/>
        </p:spPr>
        <p:txBody>
          <a:bodyPr wrap="square" lIns="0" tIns="0" rIns="0" bIns="0">
            <a:normAutofit/>
          </a:bodyPr>
          <a:p>
            <a:pPr>
              <a:lnSpc>
                <a:spcPct val="160000"/>
              </a:lnSpc>
            </a:pPr>
            <a:r>
              <a:rPr lang="en-US" sz="975">
                <a:solidFill>
                  <a:srgbClr val="4A5568"/>
                </a:solidFill>
                <a:latin typeface="Microsoft YaHei"/>
                <a:ea typeface="Microsoft YaHei"/>
              </a:rPr>
              <a:t>Say “Place Order”, not “Insert Row”. A manager must be able to read the diagram without a developer next to them.</a:t>
            </a:r>
            <a:endParaRPr/>
          </a:p>
        </p:txBody>
      </p:sp>
      <p:sp>
        <p:nvSpPr>
          <p:cNvPr id="126" name=""/>
          <p:cNvSpPr/>
          <p:nvPr/>
        </p:nvSpPr>
        <p:spPr>
          <a:xfrm rot="0" flipH="0" flipV="0">
            <a:off x="381000" y="4552950"/>
            <a:ext cx="2952750" cy="1352550"/>
          </a:xfrm>
          <a:prstGeom prst="roundRect">
            <a:avLst>
              <a:gd name="adj" fmla="val 7042"/>
            </a:avLst>
          </a:prstGeom>
          <a:solidFill>
            <a:srgbClr val="FDF3F3"/>
          </a:solidFill>
          <a:ln/>
        </p:spPr>
        <p:txBody>
          <a:bodyPr/>
          <a:p>
            <a:pPr/>
            <a:endParaRPr/>
          </a:p>
        </p:txBody>
      </p:sp>
      <p:sp>
        <p:nvSpPr>
          <p:cNvPr id="127" name=""/>
          <p:cNvSpPr/>
          <p:nvPr/>
        </p:nvSpPr>
        <p:spPr>
          <a:xfrm rot="0" flipH="0" flipV="0">
            <a:off x="381000" y="4552950"/>
            <a:ext cx="2952750" cy="1352550"/>
          </a:xfrm>
          <a:custGeom>
            <a:pathLst>
              <a:path w="310" h="142">
                <a:moveTo>
                  <a:pt x="300" y="0"/>
                </a:moveTo>
                <a:cubicBezTo>
                  <a:pt x="305" y="0"/>
                  <a:pt x="309" y="4"/>
                  <a:pt x="310" y="8"/>
                </a:cubicBezTo>
                <a:cubicBezTo>
                  <a:pt x="309" y="6"/>
                  <a:pt x="307" y="4"/>
                  <a:pt x="304" y="4"/>
                </a:cubicBezTo>
                <a:lnTo>
                  <a:pt x="6" y="4"/>
                </a:lnTo>
                <a:cubicBezTo>
                  <a:pt x="3" y="4"/>
                  <a:pt x="1" y="6"/>
                  <a:pt x="0" y="9"/>
                </a:cubicBezTo>
                <a:cubicBezTo>
                  <a:pt x="1" y="4"/>
                  <a:pt x="5" y="0"/>
                  <a:pt x="10" y="0"/>
                </a:cubicBezTo>
                <a:lnTo>
                  <a:pt x="300" y="0"/>
                </a:lnTo>
                <a:close/>
              </a:path>
            </a:pathLst>
          </a:custGeom>
          <a:solidFill>
            <a:srgbClr val="D9534F"/>
          </a:solidFill>
          <a:ln/>
        </p:spPr>
        <p:txBody>
          <a:bodyPr/>
          <a:p>
            <a:pPr/>
            <a:endParaRPr/>
          </a:p>
        </p:txBody>
      </p:sp>
      <p:sp>
        <p:nvSpPr>
          <p:cNvPr id="128" name="" descr="{&quot;isTemplate&quot;:true,&quot;type&quot;:&quot;text&quot;}"/>
          <p:cNvSpPr txBox="1"/>
          <p:nvPr/>
        </p:nvSpPr>
        <p:spPr>
          <a:xfrm rot="0" flipH="0" flipV="0">
            <a:off x="552450" y="4724400"/>
            <a:ext cx="2609850" cy="200025"/>
          </a:xfrm>
          <a:prstGeom prst="rect"/>
        </p:spPr>
        <p:txBody>
          <a:bodyPr wrap="none" lIns="0" tIns="0" rIns="0" bIns="0"/>
          <a:p>
            <a:pPr>
              <a:lnSpc>
                <a:spcPct val="100000"/>
              </a:lnSpc>
            </a:pPr>
            <a:r>
              <a:rPr lang="en-US" sz="1275" b="1">
                <a:solidFill>
                  <a:srgbClr val="D9534F"/>
                </a:solidFill>
                <a:latin typeface="Microsoft YaHei"/>
                <a:ea typeface="Microsoft YaHei"/>
              </a:rPr>
              <a:t>Never a step</a:t>
            </a:r>
            <a:endParaRPr/>
          </a:p>
        </p:txBody>
      </p:sp>
      <p:sp>
        <p:nvSpPr>
          <p:cNvPr id="129" name="" descr="{&quot;isTemplate&quot;:true,&quot;type&quot;:&quot;text&quot;}"/>
          <p:cNvSpPr txBox="1"/>
          <p:nvPr/>
        </p:nvSpPr>
        <p:spPr>
          <a:xfrm rot="0" flipH="0" flipV="0">
            <a:off x="552450" y="4981575"/>
            <a:ext cx="2609850" cy="714375"/>
          </a:xfrm>
          <a:prstGeom prst="rect"/>
        </p:spPr>
        <p:txBody>
          <a:bodyPr wrap="square" lIns="0" tIns="0" rIns="0" bIns="0">
            <a:normAutofit/>
          </a:bodyPr>
          <a:p>
            <a:pPr>
              <a:lnSpc>
                <a:spcPct val="160000"/>
              </a:lnSpc>
            </a:pPr>
            <a:r>
              <a:rPr lang="en-US" sz="975">
                <a:solidFill>
                  <a:srgbClr val="4A5568"/>
                </a:solidFill>
                <a:latin typeface="Microsoft YaHei"/>
                <a:ea typeface="Microsoft YaHei"/>
              </a:rPr>
              <a:t>If the name is something the actor does on the way, it belongs inside a use case, not on the diagram.</a:t>
            </a:r>
            <a:endParaRPr/>
          </a:p>
        </p:txBody>
      </p:sp>
      <p:sp>
        <p:nvSpPr>
          <p:cNvPr id="130" name=""/>
          <p:cNvSpPr/>
          <p:nvPr/>
        </p:nvSpPr>
        <p:spPr>
          <a:xfrm rot="0" flipH="0" flipV="0">
            <a:off x="3590925" y="2381250"/>
            <a:ext cx="2381250" cy="571500"/>
          </a:xfrm>
          <a:prstGeom prst="roundRect">
            <a:avLst>
              <a:gd name="adj" fmla="val 13333"/>
            </a:avLst>
          </a:prstGeom>
          <a:solidFill>
            <a:srgbClr val="FDF3F3"/>
          </a:solidFill>
          <a:ln/>
        </p:spPr>
        <p:txBody>
          <a:bodyPr/>
          <a:p>
            <a:pPr/>
            <a:endParaRPr/>
          </a:p>
        </p:txBody>
      </p:sp>
      <p:sp>
        <p:nvSpPr>
          <p:cNvPr id="131" name=""/>
          <p:cNvSpPr/>
          <p:nvPr/>
        </p:nvSpPr>
        <p:spPr>
          <a:xfrm rot="0" flipH="0" flipV="0">
            <a:off x="3590925" y="2381250"/>
            <a:ext cx="2381250" cy="571500"/>
          </a:xfrm>
          <a:custGeom>
            <a:pathLst>
              <a:path w="250" h="60">
                <a:moveTo>
                  <a:pt x="8" y="0"/>
                </a:moveTo>
                <a:cubicBezTo>
                  <a:pt x="5" y="0"/>
                  <a:pt x="3" y="2"/>
                  <a:pt x="3" y="5"/>
                </a:cubicBezTo>
                <a:lnTo>
                  <a:pt x="3" y="55"/>
                </a:lnTo>
                <a:cubicBezTo>
                  <a:pt x="3" y="57"/>
                  <a:pt x="5" y="59"/>
                  <a:pt x="7" y="60"/>
                </a:cubicBezTo>
                <a:cubicBezTo>
                  <a:pt x="3" y="59"/>
                  <a:pt x="0" y="56"/>
                  <a:pt x="0" y="52"/>
                </a:cubicBezTo>
                <a:lnTo>
                  <a:pt x="0" y="8"/>
                </a:lnTo>
                <a:cubicBezTo>
                  <a:pt x="0" y="4"/>
                  <a:pt x="3" y="0"/>
                  <a:pt x="8" y="0"/>
                </a:cubicBezTo>
                <a:close/>
              </a:path>
            </a:pathLst>
          </a:custGeom>
          <a:solidFill>
            <a:srgbClr val="D9534F"/>
          </a:solidFill>
          <a:ln/>
        </p:spPr>
        <p:txBody>
          <a:bodyPr/>
          <a:p>
            <a:pPr/>
            <a:endParaRPr/>
          </a:p>
        </p:txBody>
      </p:sp>
      <p:sp>
        <p:nvSpPr>
          <p:cNvPr id="132" name="" descr="{&quot;isTemplate&quot;:true,&quot;type&quot;:&quot;text&quot;}"/>
          <p:cNvSpPr txBox="1"/>
          <p:nvPr/>
        </p:nvSpPr>
        <p:spPr>
          <a:xfrm rot="0" flipH="0" flipV="0">
            <a:off x="3733800" y="2505075"/>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WEAK</a:t>
            </a:r>
            <a:endParaRPr/>
          </a:p>
        </p:txBody>
      </p:sp>
      <p:sp>
        <p:nvSpPr>
          <p:cNvPr id="133" name="" descr="{&quot;isTemplate&quot;:true,&quot;type&quot;:&quot;text&quot;}"/>
          <p:cNvSpPr txBox="1"/>
          <p:nvPr/>
        </p:nvSpPr>
        <p:spPr>
          <a:xfrm rot="0" flipH="0" flipV="0">
            <a:off x="3733800" y="2657475"/>
            <a:ext cx="2066925" cy="171450"/>
          </a:xfrm>
          <a:prstGeom prst="rect"/>
        </p:spPr>
        <p:txBody>
          <a:bodyPr wrap="none" lIns="0" tIns="0" rIns="0" bIns="0"/>
          <a:p>
            <a:pPr>
              <a:lnSpc>
                <a:spcPct val="100000"/>
              </a:lnSpc>
            </a:pPr>
            <a:r>
              <a:rPr lang="en-US" sz="1125" b="1">
                <a:solidFill>
                  <a:srgbClr val="1A2230"/>
                </a:solidFill>
                <a:latin typeface="Microsoft YaHei"/>
                <a:ea typeface="Microsoft YaHei"/>
              </a:rPr>
              <a:t>Order Processing</a:t>
            </a:r>
            <a:endParaRPr/>
          </a:p>
        </p:txBody>
      </p:sp>
      <p:pic>
        <p:nvPicPr>
          <p:cNvPr id="134" name=""/>
          <p:cNvPicPr>
            <a:picLocks noChangeAspect="1"/>
          </p:cNvPicPr>
          <p:nvPr/>
        </p:nvPicPr>
        <p:blipFill>
          <a:blip>
            <a:extLst>
              <a:ext uri="{96DAC541-7B7A-43D3-8B79-37D633B846F1}">
                <asvg:svgBlip r:embed="rId1"/>
              </a:ext>
            </a:extLst>
          </a:blip>
          <a:stretch>
            <a:fillRect/>
          </a:stretch>
        </p:blipFill>
        <p:spPr>
          <a:xfrm rot="0" flipH="0" flipV="0">
            <a:off x="6105525" y="2571750"/>
            <a:ext cx="190500" cy="190500"/>
          </a:xfrm>
          <a:prstGeom prst="rect">
            <a:avLst/>
          </a:prstGeom>
          <a:ln/>
        </p:spPr>
      </p:pic>
      <p:sp>
        <p:nvSpPr>
          <p:cNvPr id="135" name=""/>
          <p:cNvSpPr/>
          <p:nvPr/>
        </p:nvSpPr>
        <p:spPr>
          <a:xfrm rot="0" flipH="0" flipV="0">
            <a:off x="6486525" y="2381250"/>
            <a:ext cx="2381250" cy="571500"/>
          </a:xfrm>
          <a:prstGeom prst="roundRect">
            <a:avLst>
              <a:gd name="adj" fmla="val 13333"/>
            </a:avLst>
          </a:prstGeom>
          <a:solidFill>
            <a:srgbClr val="F0F5FC"/>
          </a:solidFill>
          <a:ln/>
        </p:spPr>
        <p:txBody>
          <a:bodyPr/>
          <a:p>
            <a:pPr/>
            <a:endParaRPr/>
          </a:p>
        </p:txBody>
      </p:sp>
      <p:sp>
        <p:nvSpPr>
          <p:cNvPr id="136" name=""/>
          <p:cNvSpPr/>
          <p:nvPr/>
        </p:nvSpPr>
        <p:spPr>
          <a:xfrm rot="0" flipH="0" flipV="0">
            <a:off x="6486525" y="2381250"/>
            <a:ext cx="2381250" cy="571500"/>
          </a:xfrm>
          <a:custGeom>
            <a:pathLst>
              <a:path w="250" h="60">
                <a:moveTo>
                  <a:pt x="8" y="0"/>
                </a:moveTo>
                <a:cubicBezTo>
                  <a:pt x="5" y="0"/>
                  <a:pt x="3" y="2"/>
                  <a:pt x="3" y="5"/>
                </a:cubicBezTo>
                <a:lnTo>
                  <a:pt x="3" y="55"/>
                </a:lnTo>
                <a:cubicBezTo>
                  <a:pt x="3" y="57"/>
                  <a:pt x="5" y="59"/>
                  <a:pt x="7" y="60"/>
                </a:cubicBezTo>
                <a:cubicBezTo>
                  <a:pt x="3" y="59"/>
                  <a:pt x="0" y="56"/>
                  <a:pt x="0" y="52"/>
                </a:cubicBezTo>
                <a:lnTo>
                  <a:pt x="0" y="8"/>
                </a:lnTo>
                <a:cubicBezTo>
                  <a:pt x="0" y="4"/>
                  <a:pt x="3" y="0"/>
                  <a:pt x="8" y="0"/>
                </a:cubicBezTo>
                <a:close/>
              </a:path>
            </a:pathLst>
          </a:custGeom>
          <a:solidFill>
            <a:srgbClr val="1E4FA8"/>
          </a:solidFill>
          <a:ln/>
        </p:spPr>
        <p:txBody>
          <a:bodyPr/>
          <a:p>
            <a:pPr/>
            <a:endParaRPr/>
          </a:p>
        </p:txBody>
      </p:sp>
      <p:sp>
        <p:nvSpPr>
          <p:cNvPr id="137" name="" descr="{&quot;isTemplate&quot;:true,&quot;type&quot;:&quot;text&quot;}"/>
          <p:cNvSpPr txBox="1"/>
          <p:nvPr/>
        </p:nvSpPr>
        <p:spPr>
          <a:xfrm rot="0" flipH="0" flipV="0">
            <a:off x="6629400" y="2505075"/>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BETTER</a:t>
            </a:r>
            <a:endParaRPr/>
          </a:p>
        </p:txBody>
      </p:sp>
      <p:sp>
        <p:nvSpPr>
          <p:cNvPr id="138" name="" descr="{&quot;isTemplate&quot;:true,&quot;type&quot;:&quot;text&quot;}"/>
          <p:cNvSpPr txBox="1"/>
          <p:nvPr/>
        </p:nvSpPr>
        <p:spPr>
          <a:xfrm rot="0" flipH="0" flipV="0">
            <a:off x="6629400" y="2657475"/>
            <a:ext cx="2066925" cy="171450"/>
          </a:xfrm>
          <a:prstGeom prst="rect"/>
        </p:spPr>
        <p:txBody>
          <a:bodyPr wrap="none" lIns="0" tIns="0" rIns="0" bIns="0"/>
          <a:p>
            <a:pPr>
              <a:lnSpc>
                <a:spcPct val="100000"/>
              </a:lnSpc>
            </a:pPr>
            <a:r>
              <a:rPr lang="en-US" sz="1125" b="1">
                <a:solidFill>
                  <a:srgbClr val="0E3F8C"/>
                </a:solidFill>
                <a:latin typeface="Microsoft YaHei"/>
                <a:ea typeface="Microsoft YaHei"/>
              </a:rPr>
              <a:t>Place Order</a:t>
            </a:r>
            <a:endParaRPr/>
          </a:p>
        </p:txBody>
      </p:sp>
      <p:sp>
        <p:nvSpPr>
          <p:cNvPr id="139" name=""/>
          <p:cNvSpPr/>
          <p:nvPr/>
        </p:nvSpPr>
        <p:spPr>
          <a:xfrm rot="0" flipH="0" flipV="0">
            <a:off x="8953500" y="2381250"/>
            <a:ext cx="2857500" cy="571500"/>
          </a:xfrm>
          <a:prstGeom prst="roundRect">
            <a:avLst>
              <a:gd name="adj" fmla="val 13333"/>
            </a:avLst>
          </a:prstGeom>
          <a:solidFill>
            <a:srgbClr val="FFFFFF"/>
          </a:solidFill>
          <a:ln w="12700">
            <a:solidFill>
              <a:srgbClr val="D6DCE5"/>
            </a:solidFill>
            <a:prstDash val="solid"/>
          </a:ln>
        </p:spPr>
        <p:txBody>
          <a:bodyPr/>
          <a:p>
            <a:pPr/>
            <a:endParaRPr/>
          </a:p>
        </p:txBody>
      </p:sp>
      <p:sp>
        <p:nvSpPr>
          <p:cNvPr id="140" name="" descr="{&quot;isTemplate&quot;:true,&quot;type&quot;:&quot;text&quot;}"/>
          <p:cNvSpPr txBox="1"/>
          <p:nvPr/>
        </p:nvSpPr>
        <p:spPr>
          <a:xfrm rot="0" flipH="0" flipV="0">
            <a:off x="9096375" y="2562225"/>
            <a:ext cx="2571750" cy="209550"/>
          </a:xfrm>
          <a:prstGeom prst="rect"/>
        </p:spPr>
        <p:txBody>
          <a:bodyPr wrap="none" lIns="0" tIns="0" rIns="0" bIns="0"/>
          <a:p>
            <a:pPr>
              <a:lnSpc>
                <a:spcPct val="150000"/>
              </a:lnSpc>
            </a:pPr>
            <a:r>
              <a:rPr lang="en-US" sz="900">
                <a:solidFill>
                  <a:srgbClr val="4A5568"/>
                </a:solidFill>
                <a:latin typeface="Microsoft YaHei"/>
                <a:ea typeface="Microsoft YaHei"/>
              </a:rPr>
              <a:t>A noun phrase describes a topic, not a goal</a:t>
            </a:r>
            <a:endParaRPr/>
          </a:p>
        </p:txBody>
      </p:sp>
      <p:sp>
        <p:nvSpPr>
          <p:cNvPr id="141" name=""/>
          <p:cNvSpPr/>
          <p:nvPr/>
        </p:nvSpPr>
        <p:spPr>
          <a:xfrm rot="0" flipH="0" flipV="0">
            <a:off x="3590925" y="3048000"/>
            <a:ext cx="2381250" cy="666750"/>
          </a:xfrm>
          <a:prstGeom prst="roundRect">
            <a:avLst>
              <a:gd name="adj" fmla="val 11429"/>
            </a:avLst>
          </a:prstGeom>
          <a:solidFill>
            <a:srgbClr val="FDF3F3"/>
          </a:solidFill>
          <a:ln/>
        </p:spPr>
        <p:txBody>
          <a:bodyPr/>
          <a:p>
            <a:pPr/>
            <a:endParaRPr/>
          </a:p>
        </p:txBody>
      </p:sp>
      <p:sp>
        <p:nvSpPr>
          <p:cNvPr id="142" name=""/>
          <p:cNvSpPr/>
          <p:nvPr/>
        </p:nvSpPr>
        <p:spPr>
          <a:xfrm rot="0" flipH="0" flipV="0">
            <a:off x="3590925" y="3048000"/>
            <a:ext cx="2381250" cy="666750"/>
          </a:xfrm>
          <a:custGeom>
            <a:pathLst>
              <a:path w="250" h="70">
                <a:moveTo>
                  <a:pt x="8" y="0"/>
                </a:moveTo>
                <a:cubicBezTo>
                  <a:pt x="5" y="0"/>
                  <a:pt x="3" y="2"/>
                  <a:pt x="3" y="5"/>
                </a:cubicBezTo>
                <a:lnTo>
                  <a:pt x="3" y="65"/>
                </a:lnTo>
                <a:cubicBezTo>
                  <a:pt x="3" y="67"/>
                  <a:pt x="5" y="69"/>
                  <a:pt x="7" y="70"/>
                </a:cubicBezTo>
                <a:cubicBezTo>
                  <a:pt x="3" y="69"/>
                  <a:pt x="0" y="66"/>
                  <a:pt x="0" y="62"/>
                </a:cubicBezTo>
                <a:lnTo>
                  <a:pt x="0" y="8"/>
                </a:lnTo>
                <a:cubicBezTo>
                  <a:pt x="0" y="4"/>
                  <a:pt x="3" y="0"/>
                  <a:pt x="8" y="0"/>
                </a:cubicBezTo>
                <a:close/>
              </a:path>
            </a:pathLst>
          </a:custGeom>
          <a:solidFill>
            <a:srgbClr val="D9534F"/>
          </a:solidFill>
          <a:ln/>
        </p:spPr>
        <p:txBody>
          <a:bodyPr/>
          <a:p>
            <a:pPr/>
            <a:endParaRPr/>
          </a:p>
        </p:txBody>
      </p:sp>
      <p:sp>
        <p:nvSpPr>
          <p:cNvPr id="143" name="" descr="{&quot;isTemplate&quot;:true,&quot;type&quot;:&quot;text&quot;}"/>
          <p:cNvSpPr txBox="1"/>
          <p:nvPr/>
        </p:nvSpPr>
        <p:spPr>
          <a:xfrm rot="0" flipH="0" flipV="0">
            <a:off x="3733800" y="3219450"/>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WEAK</a:t>
            </a:r>
            <a:endParaRPr/>
          </a:p>
        </p:txBody>
      </p:sp>
      <p:sp>
        <p:nvSpPr>
          <p:cNvPr id="144" name="" descr="{&quot;isTemplate&quot;:true,&quot;type&quot;:&quot;text&quot;}"/>
          <p:cNvSpPr txBox="1"/>
          <p:nvPr/>
        </p:nvSpPr>
        <p:spPr>
          <a:xfrm rot="0" flipH="0" flipV="0">
            <a:off x="3733800" y="3371850"/>
            <a:ext cx="2066925" cy="171450"/>
          </a:xfrm>
          <a:prstGeom prst="rect"/>
        </p:spPr>
        <p:txBody>
          <a:bodyPr wrap="none" lIns="0" tIns="0" rIns="0" bIns="0"/>
          <a:p>
            <a:pPr>
              <a:lnSpc>
                <a:spcPct val="100000"/>
              </a:lnSpc>
            </a:pPr>
            <a:r>
              <a:rPr lang="en-US" sz="1125" b="1">
                <a:solidFill>
                  <a:srgbClr val="1A2230"/>
                </a:solidFill>
                <a:latin typeface="Microsoft YaHei"/>
                <a:ea typeface="Microsoft YaHei"/>
              </a:rPr>
              <a:t>Validate Credit Card</a:t>
            </a:r>
            <a:endParaRPr/>
          </a:p>
        </p:txBody>
      </p:sp>
      <p:pic>
        <p:nvPicPr>
          <p:cNvPr id="145" name=""/>
          <p:cNvPicPr>
            <a:picLocks noChangeAspect="1"/>
          </p:cNvPicPr>
          <p:nvPr/>
        </p:nvPicPr>
        <p:blipFill>
          <a:blip>
            <a:extLst>
              <a:ext uri="{96DAC541-7B7A-43D3-8B79-37D633B846F1}">
                <asvg:svgBlip r:embed="rId1"/>
              </a:ext>
            </a:extLst>
          </a:blip>
          <a:stretch>
            <a:fillRect/>
          </a:stretch>
        </p:blipFill>
        <p:spPr>
          <a:xfrm rot="0" flipH="0" flipV="0">
            <a:off x="6105525" y="3286125"/>
            <a:ext cx="190500" cy="190500"/>
          </a:xfrm>
          <a:prstGeom prst="rect">
            <a:avLst/>
          </a:prstGeom>
          <a:ln/>
        </p:spPr>
      </p:pic>
      <p:sp>
        <p:nvSpPr>
          <p:cNvPr id="146" name=""/>
          <p:cNvSpPr/>
          <p:nvPr/>
        </p:nvSpPr>
        <p:spPr>
          <a:xfrm rot="0" flipH="0" flipV="0">
            <a:off x="6486525" y="3048000"/>
            <a:ext cx="2381250" cy="666750"/>
          </a:xfrm>
          <a:prstGeom prst="roundRect">
            <a:avLst>
              <a:gd name="adj" fmla="val 11429"/>
            </a:avLst>
          </a:prstGeom>
          <a:solidFill>
            <a:srgbClr val="F0F5FC"/>
          </a:solidFill>
          <a:ln/>
        </p:spPr>
        <p:txBody>
          <a:bodyPr/>
          <a:p>
            <a:pPr/>
            <a:endParaRPr/>
          </a:p>
        </p:txBody>
      </p:sp>
      <p:sp>
        <p:nvSpPr>
          <p:cNvPr id="147" name=""/>
          <p:cNvSpPr/>
          <p:nvPr/>
        </p:nvSpPr>
        <p:spPr>
          <a:xfrm rot="0" flipH="0" flipV="0">
            <a:off x="6486525" y="3048000"/>
            <a:ext cx="2381250" cy="666750"/>
          </a:xfrm>
          <a:custGeom>
            <a:pathLst>
              <a:path w="250" h="70">
                <a:moveTo>
                  <a:pt x="8" y="0"/>
                </a:moveTo>
                <a:cubicBezTo>
                  <a:pt x="5" y="0"/>
                  <a:pt x="3" y="2"/>
                  <a:pt x="3" y="5"/>
                </a:cubicBezTo>
                <a:lnTo>
                  <a:pt x="3" y="65"/>
                </a:lnTo>
                <a:cubicBezTo>
                  <a:pt x="3" y="67"/>
                  <a:pt x="5" y="69"/>
                  <a:pt x="7" y="70"/>
                </a:cubicBezTo>
                <a:cubicBezTo>
                  <a:pt x="3" y="69"/>
                  <a:pt x="0" y="66"/>
                  <a:pt x="0" y="62"/>
                </a:cubicBezTo>
                <a:lnTo>
                  <a:pt x="0" y="8"/>
                </a:lnTo>
                <a:cubicBezTo>
                  <a:pt x="0" y="4"/>
                  <a:pt x="3" y="0"/>
                  <a:pt x="8" y="0"/>
                </a:cubicBezTo>
                <a:close/>
              </a:path>
            </a:pathLst>
          </a:custGeom>
          <a:solidFill>
            <a:srgbClr val="1E4FA8"/>
          </a:solidFill>
          <a:ln/>
        </p:spPr>
        <p:txBody>
          <a:bodyPr/>
          <a:p>
            <a:pPr/>
            <a:endParaRPr/>
          </a:p>
        </p:txBody>
      </p:sp>
      <p:sp>
        <p:nvSpPr>
          <p:cNvPr id="148" name="" descr="{&quot;isTemplate&quot;:true,&quot;type&quot;:&quot;text&quot;}"/>
          <p:cNvSpPr txBox="1"/>
          <p:nvPr/>
        </p:nvSpPr>
        <p:spPr>
          <a:xfrm rot="0" flipH="0" flipV="0">
            <a:off x="6629400" y="3219450"/>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BETTER</a:t>
            </a:r>
            <a:endParaRPr/>
          </a:p>
        </p:txBody>
      </p:sp>
      <p:sp>
        <p:nvSpPr>
          <p:cNvPr id="149" name="" descr="{&quot;isTemplate&quot;:true,&quot;type&quot;:&quot;text&quot;}"/>
          <p:cNvSpPr txBox="1"/>
          <p:nvPr/>
        </p:nvSpPr>
        <p:spPr>
          <a:xfrm rot="0" flipH="0" flipV="0">
            <a:off x="6629400" y="3371850"/>
            <a:ext cx="2066925" cy="171450"/>
          </a:xfrm>
          <a:prstGeom prst="rect"/>
        </p:spPr>
        <p:txBody>
          <a:bodyPr wrap="none" lIns="0" tIns="0" rIns="0" bIns="0"/>
          <a:p>
            <a:pPr>
              <a:lnSpc>
                <a:spcPct val="100000"/>
              </a:lnSpc>
            </a:pPr>
            <a:r>
              <a:rPr lang="en-US" sz="1125" b="1">
                <a:solidFill>
                  <a:srgbClr val="0E3F8C"/>
                </a:solidFill>
                <a:latin typeface="Microsoft YaHei"/>
                <a:ea typeface="Microsoft YaHei"/>
              </a:rPr>
              <a:t>Pay for Order</a:t>
            </a:r>
            <a:endParaRPr/>
          </a:p>
        </p:txBody>
      </p:sp>
      <p:sp>
        <p:nvSpPr>
          <p:cNvPr id="150" name=""/>
          <p:cNvSpPr/>
          <p:nvPr/>
        </p:nvSpPr>
        <p:spPr>
          <a:xfrm rot="0" flipH="0" flipV="0">
            <a:off x="8953500" y="3048000"/>
            <a:ext cx="2857500" cy="666750"/>
          </a:xfrm>
          <a:prstGeom prst="roundRect">
            <a:avLst>
              <a:gd name="adj" fmla="val 11429"/>
            </a:avLst>
          </a:prstGeom>
          <a:solidFill>
            <a:srgbClr val="FFFFFF"/>
          </a:solidFill>
          <a:ln w="12700">
            <a:solidFill>
              <a:srgbClr val="D6DCE5"/>
            </a:solidFill>
            <a:prstDash val="solid"/>
          </a:ln>
        </p:spPr>
        <p:txBody>
          <a:bodyPr/>
          <a:p>
            <a:pPr/>
            <a:endParaRPr/>
          </a:p>
        </p:txBody>
      </p:sp>
      <p:sp>
        <p:nvSpPr>
          <p:cNvPr id="151" name="" descr="{&quot;isTemplate&quot;:true,&quot;type&quot;:&quot;text&quot;}"/>
          <p:cNvSpPr txBox="1"/>
          <p:nvPr/>
        </p:nvSpPr>
        <p:spPr>
          <a:xfrm rot="0" flipH="0" flipV="0">
            <a:off x="9096375" y="3171825"/>
            <a:ext cx="2571750" cy="419100"/>
          </a:xfrm>
          <a:prstGeom prst="rect"/>
        </p:spPr>
        <p:txBody>
          <a:bodyPr wrap="square" lIns="0" tIns="0" rIns="0" bIns="0">
            <a:normAutofit/>
          </a:bodyPr>
          <a:p>
            <a:pPr>
              <a:lnSpc>
                <a:spcPct val="150000"/>
              </a:lnSpc>
            </a:pPr>
            <a:r>
              <a:rPr lang="en-US" sz="900">
                <a:solidFill>
                  <a:srgbClr val="4A5568"/>
                </a:solidFill>
                <a:latin typeface="Microsoft YaHei"/>
                <a:ea typeface="Microsoft YaHei"/>
              </a:rPr>
              <a:t>A single step. The actor wants the order paid, not a check</a:t>
            </a:r>
            <a:endParaRPr/>
          </a:p>
        </p:txBody>
      </p:sp>
      <p:sp>
        <p:nvSpPr>
          <p:cNvPr id="152" name=""/>
          <p:cNvSpPr/>
          <p:nvPr/>
        </p:nvSpPr>
        <p:spPr>
          <a:xfrm rot="0" flipH="0" flipV="0">
            <a:off x="3590925" y="3810000"/>
            <a:ext cx="2381250" cy="666750"/>
          </a:xfrm>
          <a:prstGeom prst="roundRect">
            <a:avLst>
              <a:gd name="adj" fmla="val 11429"/>
            </a:avLst>
          </a:prstGeom>
          <a:solidFill>
            <a:srgbClr val="FDF3F3"/>
          </a:solidFill>
          <a:ln/>
        </p:spPr>
        <p:txBody>
          <a:bodyPr/>
          <a:p>
            <a:pPr/>
            <a:endParaRPr/>
          </a:p>
        </p:txBody>
      </p:sp>
      <p:sp>
        <p:nvSpPr>
          <p:cNvPr id="153" name=""/>
          <p:cNvSpPr/>
          <p:nvPr/>
        </p:nvSpPr>
        <p:spPr>
          <a:xfrm rot="0" flipH="0" flipV="0">
            <a:off x="3590925" y="3810000"/>
            <a:ext cx="2381250" cy="666750"/>
          </a:xfrm>
          <a:custGeom>
            <a:pathLst>
              <a:path w="250" h="70">
                <a:moveTo>
                  <a:pt x="8" y="0"/>
                </a:moveTo>
                <a:cubicBezTo>
                  <a:pt x="5" y="0"/>
                  <a:pt x="3" y="2"/>
                  <a:pt x="3" y="5"/>
                </a:cubicBezTo>
                <a:lnTo>
                  <a:pt x="3" y="65"/>
                </a:lnTo>
                <a:cubicBezTo>
                  <a:pt x="3" y="67"/>
                  <a:pt x="5" y="69"/>
                  <a:pt x="7" y="70"/>
                </a:cubicBezTo>
                <a:cubicBezTo>
                  <a:pt x="3" y="69"/>
                  <a:pt x="0" y="66"/>
                  <a:pt x="0" y="62"/>
                </a:cubicBezTo>
                <a:lnTo>
                  <a:pt x="0" y="8"/>
                </a:lnTo>
                <a:cubicBezTo>
                  <a:pt x="0" y="4"/>
                  <a:pt x="3" y="0"/>
                  <a:pt x="8" y="0"/>
                </a:cubicBezTo>
                <a:close/>
              </a:path>
            </a:pathLst>
          </a:custGeom>
          <a:solidFill>
            <a:srgbClr val="D9534F"/>
          </a:solidFill>
          <a:ln/>
        </p:spPr>
        <p:txBody>
          <a:bodyPr/>
          <a:p>
            <a:pPr/>
            <a:endParaRPr/>
          </a:p>
        </p:txBody>
      </p:sp>
      <p:sp>
        <p:nvSpPr>
          <p:cNvPr id="154" name="" descr="{&quot;isTemplate&quot;:true,&quot;type&quot;:&quot;text&quot;}"/>
          <p:cNvSpPr txBox="1"/>
          <p:nvPr/>
        </p:nvSpPr>
        <p:spPr>
          <a:xfrm rot="0" flipH="0" flipV="0">
            <a:off x="3733800" y="3981450"/>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WEAK</a:t>
            </a:r>
            <a:endParaRPr/>
          </a:p>
        </p:txBody>
      </p:sp>
      <p:sp>
        <p:nvSpPr>
          <p:cNvPr id="155" name="" descr="{&quot;isTemplate&quot;:true,&quot;type&quot;:&quot;text&quot;}"/>
          <p:cNvSpPr txBox="1"/>
          <p:nvPr/>
        </p:nvSpPr>
        <p:spPr>
          <a:xfrm rot="0" flipH="0" flipV="0">
            <a:off x="3733800" y="4133850"/>
            <a:ext cx="2066925" cy="171450"/>
          </a:xfrm>
          <a:prstGeom prst="rect"/>
        </p:spPr>
        <p:txBody>
          <a:bodyPr wrap="none" lIns="0" tIns="0" rIns="0" bIns="0"/>
          <a:p>
            <a:pPr>
              <a:lnSpc>
                <a:spcPct val="100000"/>
              </a:lnSpc>
            </a:pPr>
            <a:r>
              <a:rPr lang="en-US" sz="1125" b="1">
                <a:solidFill>
                  <a:srgbClr val="1A2230"/>
                </a:solidFill>
                <a:latin typeface="Microsoft YaHei"/>
                <a:ea typeface="Microsoft YaHei"/>
              </a:rPr>
              <a:t>Order Management System</a:t>
            </a:r>
            <a:endParaRPr/>
          </a:p>
        </p:txBody>
      </p:sp>
      <p:pic>
        <p:nvPicPr>
          <p:cNvPr id="156" name=""/>
          <p:cNvPicPr>
            <a:picLocks noChangeAspect="1"/>
          </p:cNvPicPr>
          <p:nvPr/>
        </p:nvPicPr>
        <p:blipFill>
          <a:blip>
            <a:extLst>
              <a:ext uri="{96DAC541-7B7A-43D3-8B79-37D633B846F1}">
                <asvg:svgBlip r:embed="rId1"/>
              </a:ext>
            </a:extLst>
          </a:blip>
          <a:stretch>
            <a:fillRect/>
          </a:stretch>
        </p:blipFill>
        <p:spPr>
          <a:xfrm rot="0" flipH="0" flipV="0">
            <a:off x="6105525" y="4048125"/>
            <a:ext cx="190500" cy="190500"/>
          </a:xfrm>
          <a:prstGeom prst="rect">
            <a:avLst/>
          </a:prstGeom>
          <a:ln/>
        </p:spPr>
      </p:pic>
      <p:sp>
        <p:nvSpPr>
          <p:cNvPr id="157" name=""/>
          <p:cNvSpPr/>
          <p:nvPr/>
        </p:nvSpPr>
        <p:spPr>
          <a:xfrm rot="0" flipH="0" flipV="0">
            <a:off x="6486525" y="3810000"/>
            <a:ext cx="2381250" cy="666750"/>
          </a:xfrm>
          <a:prstGeom prst="roundRect">
            <a:avLst>
              <a:gd name="adj" fmla="val 11429"/>
            </a:avLst>
          </a:prstGeom>
          <a:solidFill>
            <a:srgbClr val="F0F5FC"/>
          </a:solidFill>
          <a:ln/>
        </p:spPr>
        <p:txBody>
          <a:bodyPr/>
          <a:p>
            <a:pPr/>
            <a:endParaRPr/>
          </a:p>
        </p:txBody>
      </p:sp>
      <p:sp>
        <p:nvSpPr>
          <p:cNvPr id="158" name=""/>
          <p:cNvSpPr/>
          <p:nvPr/>
        </p:nvSpPr>
        <p:spPr>
          <a:xfrm rot="0" flipH="0" flipV="0">
            <a:off x="6486525" y="3810000"/>
            <a:ext cx="2381250" cy="666750"/>
          </a:xfrm>
          <a:custGeom>
            <a:pathLst>
              <a:path w="250" h="70">
                <a:moveTo>
                  <a:pt x="8" y="0"/>
                </a:moveTo>
                <a:cubicBezTo>
                  <a:pt x="5" y="0"/>
                  <a:pt x="3" y="2"/>
                  <a:pt x="3" y="5"/>
                </a:cubicBezTo>
                <a:lnTo>
                  <a:pt x="3" y="65"/>
                </a:lnTo>
                <a:cubicBezTo>
                  <a:pt x="3" y="67"/>
                  <a:pt x="5" y="69"/>
                  <a:pt x="7" y="70"/>
                </a:cubicBezTo>
                <a:cubicBezTo>
                  <a:pt x="3" y="69"/>
                  <a:pt x="0" y="66"/>
                  <a:pt x="0" y="62"/>
                </a:cubicBezTo>
                <a:lnTo>
                  <a:pt x="0" y="8"/>
                </a:lnTo>
                <a:cubicBezTo>
                  <a:pt x="0" y="4"/>
                  <a:pt x="3" y="0"/>
                  <a:pt x="8" y="0"/>
                </a:cubicBezTo>
                <a:close/>
              </a:path>
            </a:pathLst>
          </a:custGeom>
          <a:solidFill>
            <a:srgbClr val="1E4FA8"/>
          </a:solidFill>
          <a:ln/>
        </p:spPr>
        <p:txBody>
          <a:bodyPr/>
          <a:p>
            <a:pPr/>
            <a:endParaRPr/>
          </a:p>
        </p:txBody>
      </p:sp>
      <p:sp>
        <p:nvSpPr>
          <p:cNvPr id="159" name="" descr="{&quot;isTemplate&quot;:true,&quot;type&quot;:&quot;text&quot;}"/>
          <p:cNvSpPr txBox="1"/>
          <p:nvPr/>
        </p:nvSpPr>
        <p:spPr>
          <a:xfrm rot="0" flipH="0" flipV="0">
            <a:off x="6629400" y="3981450"/>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BETTER</a:t>
            </a:r>
            <a:endParaRPr/>
          </a:p>
        </p:txBody>
      </p:sp>
      <p:sp>
        <p:nvSpPr>
          <p:cNvPr id="160" name="" descr="{&quot;isTemplate&quot;:true,&quot;type&quot;:&quot;text&quot;}"/>
          <p:cNvSpPr txBox="1"/>
          <p:nvPr/>
        </p:nvSpPr>
        <p:spPr>
          <a:xfrm rot="0" flipH="0" flipV="0">
            <a:off x="6629400" y="4133850"/>
            <a:ext cx="2066925" cy="171450"/>
          </a:xfrm>
          <a:prstGeom prst="rect"/>
        </p:spPr>
        <p:txBody>
          <a:bodyPr wrap="none" lIns="0" tIns="0" rIns="0" bIns="0"/>
          <a:p>
            <a:pPr>
              <a:lnSpc>
                <a:spcPct val="100000"/>
              </a:lnSpc>
            </a:pPr>
            <a:r>
              <a:rPr lang="en-US" sz="1125" b="1">
                <a:solidFill>
                  <a:srgbClr val="0E3F8C"/>
                </a:solidFill>
                <a:latin typeface="Microsoft YaHei"/>
                <a:ea typeface="Microsoft YaHei"/>
              </a:rPr>
              <a:t>Manage Today’s Menu</a:t>
            </a:r>
            <a:endParaRPr/>
          </a:p>
        </p:txBody>
      </p:sp>
      <p:sp>
        <p:nvSpPr>
          <p:cNvPr id="161" name=""/>
          <p:cNvSpPr/>
          <p:nvPr/>
        </p:nvSpPr>
        <p:spPr>
          <a:xfrm rot="0" flipH="0" flipV="0">
            <a:off x="8953500" y="3810000"/>
            <a:ext cx="2857500" cy="666750"/>
          </a:xfrm>
          <a:prstGeom prst="roundRect">
            <a:avLst>
              <a:gd name="adj" fmla="val 11429"/>
            </a:avLst>
          </a:prstGeom>
          <a:solidFill>
            <a:srgbClr val="FFFFFF"/>
          </a:solidFill>
          <a:ln w="12700">
            <a:solidFill>
              <a:srgbClr val="D6DCE5"/>
            </a:solidFill>
            <a:prstDash val="solid"/>
          </a:ln>
        </p:spPr>
        <p:txBody>
          <a:bodyPr/>
          <a:p>
            <a:pPr/>
            <a:endParaRPr/>
          </a:p>
        </p:txBody>
      </p:sp>
      <p:sp>
        <p:nvSpPr>
          <p:cNvPr id="162" name="" descr="{&quot;isTemplate&quot;:true,&quot;type&quot;:&quot;text&quot;}"/>
          <p:cNvSpPr txBox="1"/>
          <p:nvPr/>
        </p:nvSpPr>
        <p:spPr>
          <a:xfrm rot="0" flipH="0" flipV="0">
            <a:off x="9096375" y="3933825"/>
            <a:ext cx="2571750" cy="419100"/>
          </a:xfrm>
          <a:prstGeom prst="rect"/>
        </p:spPr>
        <p:txBody>
          <a:bodyPr wrap="square" lIns="0" tIns="0" rIns="0" bIns="0">
            <a:normAutofit/>
          </a:bodyPr>
          <a:p>
            <a:pPr>
              <a:lnSpc>
                <a:spcPct val="150000"/>
              </a:lnSpc>
            </a:pPr>
            <a:r>
              <a:rPr lang="en-US" sz="900">
                <a:solidFill>
                  <a:srgbClr val="4A5568"/>
                </a:solidFill>
                <a:latin typeface="Microsoft YaHei"/>
                <a:ea typeface="Microsoft YaHei"/>
              </a:rPr>
              <a:t>You named the software, or the table — not the goal</a:t>
            </a:r>
            <a:endParaRPr/>
          </a:p>
        </p:txBody>
      </p:sp>
      <p:sp>
        <p:nvSpPr>
          <p:cNvPr id="163" name=""/>
          <p:cNvSpPr/>
          <p:nvPr/>
        </p:nvSpPr>
        <p:spPr>
          <a:xfrm rot="0" flipH="0" flipV="0">
            <a:off x="3590925" y="4572000"/>
            <a:ext cx="2381250" cy="742950"/>
          </a:xfrm>
          <a:prstGeom prst="roundRect">
            <a:avLst>
              <a:gd name="adj" fmla="val 10256"/>
            </a:avLst>
          </a:prstGeom>
          <a:solidFill>
            <a:srgbClr val="FDF3F3"/>
          </a:solidFill>
          <a:ln/>
        </p:spPr>
        <p:txBody>
          <a:bodyPr/>
          <a:p>
            <a:pPr/>
            <a:endParaRPr/>
          </a:p>
        </p:txBody>
      </p:sp>
      <p:sp>
        <p:nvSpPr>
          <p:cNvPr id="164" name=""/>
          <p:cNvSpPr/>
          <p:nvPr/>
        </p:nvSpPr>
        <p:spPr>
          <a:xfrm rot="0" flipH="0" flipV="0">
            <a:off x="3590925" y="4572000"/>
            <a:ext cx="2381250" cy="742950"/>
          </a:xfrm>
          <a:custGeom>
            <a:pathLst>
              <a:path w="250" h="78">
                <a:moveTo>
                  <a:pt x="8" y="0"/>
                </a:moveTo>
                <a:cubicBezTo>
                  <a:pt x="5" y="0"/>
                  <a:pt x="3" y="2"/>
                  <a:pt x="3" y="5"/>
                </a:cubicBezTo>
                <a:lnTo>
                  <a:pt x="3" y="73"/>
                </a:lnTo>
                <a:cubicBezTo>
                  <a:pt x="3" y="75"/>
                  <a:pt x="5" y="77"/>
                  <a:pt x="7" y="78"/>
                </a:cubicBezTo>
                <a:cubicBezTo>
                  <a:pt x="3" y="77"/>
                  <a:pt x="0" y="74"/>
                  <a:pt x="0" y="70"/>
                </a:cubicBezTo>
                <a:lnTo>
                  <a:pt x="0" y="8"/>
                </a:lnTo>
                <a:cubicBezTo>
                  <a:pt x="0" y="4"/>
                  <a:pt x="3" y="0"/>
                  <a:pt x="8" y="0"/>
                </a:cubicBezTo>
                <a:close/>
              </a:path>
            </a:pathLst>
          </a:custGeom>
          <a:solidFill>
            <a:srgbClr val="D9534F"/>
          </a:solidFill>
          <a:ln/>
        </p:spPr>
        <p:txBody>
          <a:bodyPr/>
          <a:p>
            <a:pPr/>
            <a:endParaRPr/>
          </a:p>
        </p:txBody>
      </p:sp>
      <p:sp>
        <p:nvSpPr>
          <p:cNvPr id="165" name="" descr="{&quot;isTemplate&quot;:true,&quot;type&quot;:&quot;text&quot;}"/>
          <p:cNvSpPr txBox="1"/>
          <p:nvPr/>
        </p:nvSpPr>
        <p:spPr>
          <a:xfrm rot="0" flipH="0" flipV="0">
            <a:off x="3733800" y="4695825"/>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WEAK</a:t>
            </a:r>
            <a:endParaRPr/>
          </a:p>
        </p:txBody>
      </p:sp>
      <p:sp>
        <p:nvSpPr>
          <p:cNvPr id="166" name="" descr="{&quot;isTemplate&quot;:true,&quot;type&quot;:&quot;text&quot;}"/>
          <p:cNvSpPr txBox="1"/>
          <p:nvPr/>
        </p:nvSpPr>
        <p:spPr>
          <a:xfrm rot="0" flipH="0" flipV="0">
            <a:off x="3733800" y="4848225"/>
            <a:ext cx="2066925" cy="342900"/>
          </a:xfrm>
          <a:prstGeom prst="rect"/>
        </p:spPr>
        <p:txBody>
          <a:bodyPr wrap="square" lIns="0" tIns="0" rIns="0" bIns="0">
            <a:normAutofit/>
          </a:bodyPr>
          <a:p>
            <a:pPr>
              <a:lnSpc>
                <a:spcPct val="100000"/>
              </a:lnSpc>
            </a:pPr>
            <a:r>
              <a:rPr lang="en-US" sz="1125" b="1">
                <a:solidFill>
                  <a:srgbClr val="1A2230"/>
                </a:solidFill>
                <a:latin typeface="Microsoft YaHei"/>
                <a:ea typeface="Microsoft YaHei"/>
              </a:rPr>
              <a:t>User Logs In and Then Browses</a:t>
            </a:r>
            <a:endParaRPr/>
          </a:p>
        </p:txBody>
      </p:sp>
      <p:pic>
        <p:nvPicPr>
          <p:cNvPr id="167" name=""/>
          <p:cNvPicPr>
            <a:picLocks noChangeAspect="1"/>
          </p:cNvPicPr>
          <p:nvPr/>
        </p:nvPicPr>
        <p:blipFill>
          <a:blip>
            <a:extLst>
              <a:ext uri="{96DAC541-7B7A-43D3-8B79-37D633B846F1}">
                <asvg:svgBlip r:embed="rId1"/>
              </a:ext>
            </a:extLst>
          </a:blip>
          <a:stretch>
            <a:fillRect/>
          </a:stretch>
        </p:blipFill>
        <p:spPr>
          <a:xfrm rot="0" flipH="0" flipV="0">
            <a:off x="6105525" y="4848225"/>
            <a:ext cx="190500" cy="190500"/>
          </a:xfrm>
          <a:prstGeom prst="rect">
            <a:avLst/>
          </a:prstGeom>
          <a:ln/>
        </p:spPr>
      </p:pic>
      <p:sp>
        <p:nvSpPr>
          <p:cNvPr id="168" name=""/>
          <p:cNvSpPr/>
          <p:nvPr/>
        </p:nvSpPr>
        <p:spPr>
          <a:xfrm rot="0" flipH="0" flipV="0">
            <a:off x="6486525" y="4572000"/>
            <a:ext cx="2381250" cy="742950"/>
          </a:xfrm>
          <a:prstGeom prst="roundRect">
            <a:avLst>
              <a:gd name="adj" fmla="val 10256"/>
            </a:avLst>
          </a:prstGeom>
          <a:solidFill>
            <a:srgbClr val="F0F5FC"/>
          </a:solidFill>
          <a:ln/>
        </p:spPr>
        <p:txBody>
          <a:bodyPr/>
          <a:p>
            <a:pPr/>
            <a:endParaRPr/>
          </a:p>
        </p:txBody>
      </p:sp>
      <p:sp>
        <p:nvSpPr>
          <p:cNvPr id="169" name=""/>
          <p:cNvSpPr/>
          <p:nvPr/>
        </p:nvSpPr>
        <p:spPr>
          <a:xfrm rot="0" flipH="0" flipV="0">
            <a:off x="6486525" y="4572000"/>
            <a:ext cx="2381250" cy="742950"/>
          </a:xfrm>
          <a:custGeom>
            <a:pathLst>
              <a:path w="250" h="78">
                <a:moveTo>
                  <a:pt x="8" y="0"/>
                </a:moveTo>
                <a:cubicBezTo>
                  <a:pt x="5" y="0"/>
                  <a:pt x="3" y="2"/>
                  <a:pt x="3" y="5"/>
                </a:cubicBezTo>
                <a:lnTo>
                  <a:pt x="3" y="73"/>
                </a:lnTo>
                <a:cubicBezTo>
                  <a:pt x="3" y="75"/>
                  <a:pt x="5" y="77"/>
                  <a:pt x="7" y="78"/>
                </a:cubicBezTo>
                <a:cubicBezTo>
                  <a:pt x="3" y="77"/>
                  <a:pt x="0" y="74"/>
                  <a:pt x="0" y="70"/>
                </a:cubicBezTo>
                <a:lnTo>
                  <a:pt x="0" y="8"/>
                </a:lnTo>
                <a:cubicBezTo>
                  <a:pt x="0" y="4"/>
                  <a:pt x="3" y="0"/>
                  <a:pt x="8" y="0"/>
                </a:cubicBezTo>
                <a:close/>
              </a:path>
            </a:pathLst>
          </a:custGeom>
          <a:solidFill>
            <a:srgbClr val="1E4FA8"/>
          </a:solidFill>
          <a:ln/>
        </p:spPr>
        <p:txBody>
          <a:bodyPr/>
          <a:p>
            <a:pPr/>
            <a:endParaRPr/>
          </a:p>
        </p:txBody>
      </p:sp>
      <p:sp>
        <p:nvSpPr>
          <p:cNvPr id="170" name="" descr="{&quot;isTemplate&quot;:true,&quot;type&quot;:&quot;text&quot;}"/>
          <p:cNvSpPr txBox="1"/>
          <p:nvPr/>
        </p:nvSpPr>
        <p:spPr>
          <a:xfrm rot="0" flipH="0" flipV="0">
            <a:off x="6629400" y="4781550"/>
            <a:ext cx="2066925" cy="133350"/>
          </a:xfrm>
          <a:prstGeom prst="rect"/>
        </p:spPr>
        <p:txBody>
          <a:bodyPr wrap="none" lIns="0" tIns="0" rIns="0" bIns="0"/>
          <a:p>
            <a:pPr>
              <a:lnSpc>
                <a:spcPct val="100000"/>
              </a:lnSpc>
            </a:pPr>
            <a:r>
              <a:rPr lang="en-US" sz="825">
                <a:solidFill>
                  <a:srgbClr val="8B97A8"/>
                </a:solidFill>
                <a:latin typeface="Microsoft YaHei"/>
                <a:ea typeface="Microsoft YaHei"/>
              </a:rPr>
              <a:t>BETTER</a:t>
            </a:r>
            <a:endParaRPr/>
          </a:p>
        </p:txBody>
      </p:sp>
      <p:sp>
        <p:nvSpPr>
          <p:cNvPr id="171" name="" descr="{&quot;isTemplate&quot;:true,&quot;type&quot;:&quot;text&quot;}"/>
          <p:cNvSpPr txBox="1"/>
          <p:nvPr/>
        </p:nvSpPr>
        <p:spPr>
          <a:xfrm rot="0" flipH="0" flipV="0">
            <a:off x="6629400" y="4933950"/>
            <a:ext cx="2066925" cy="171450"/>
          </a:xfrm>
          <a:prstGeom prst="rect"/>
        </p:spPr>
        <p:txBody>
          <a:bodyPr wrap="none" lIns="0" tIns="0" rIns="0" bIns="0"/>
          <a:p>
            <a:pPr>
              <a:lnSpc>
                <a:spcPct val="100000"/>
              </a:lnSpc>
            </a:pPr>
            <a:r>
              <a:rPr lang="en-US" sz="1125" b="1">
                <a:solidFill>
                  <a:srgbClr val="0E3F8C"/>
                </a:solidFill>
                <a:latin typeface="Microsoft YaHei"/>
                <a:ea typeface="Microsoft YaHei"/>
              </a:rPr>
              <a:t>Browse Menu</a:t>
            </a:r>
            <a:endParaRPr/>
          </a:p>
        </p:txBody>
      </p:sp>
      <p:sp>
        <p:nvSpPr>
          <p:cNvPr id="172" name=""/>
          <p:cNvSpPr/>
          <p:nvPr/>
        </p:nvSpPr>
        <p:spPr>
          <a:xfrm rot="0" flipH="0" flipV="0">
            <a:off x="8953500" y="4572000"/>
            <a:ext cx="2857500" cy="742950"/>
          </a:xfrm>
          <a:prstGeom prst="roundRect">
            <a:avLst>
              <a:gd name="adj" fmla="val 10256"/>
            </a:avLst>
          </a:prstGeom>
          <a:solidFill>
            <a:srgbClr val="FFFFFF"/>
          </a:solidFill>
          <a:ln w="12700">
            <a:solidFill>
              <a:srgbClr val="D6DCE5"/>
            </a:solidFill>
            <a:prstDash val="solid"/>
          </a:ln>
        </p:spPr>
        <p:txBody>
          <a:bodyPr/>
          <a:p>
            <a:pPr/>
            <a:endParaRPr/>
          </a:p>
        </p:txBody>
      </p:sp>
      <p:sp>
        <p:nvSpPr>
          <p:cNvPr id="173" name="" descr="{&quot;isTemplate&quot;:true,&quot;type&quot;:&quot;text&quot;}"/>
          <p:cNvSpPr txBox="1"/>
          <p:nvPr/>
        </p:nvSpPr>
        <p:spPr>
          <a:xfrm rot="0" flipH="0" flipV="0">
            <a:off x="9096375" y="4733925"/>
            <a:ext cx="2571750" cy="419100"/>
          </a:xfrm>
          <a:prstGeom prst="rect"/>
        </p:spPr>
        <p:txBody>
          <a:bodyPr wrap="square" lIns="0" tIns="0" rIns="0" bIns="0">
            <a:normAutofit/>
          </a:bodyPr>
          <a:p>
            <a:pPr>
              <a:lnSpc>
                <a:spcPct val="150000"/>
              </a:lnSpc>
            </a:pPr>
            <a:r>
              <a:rPr lang="en-US" sz="900">
                <a:solidFill>
                  <a:srgbClr val="4A5568"/>
                </a:solidFill>
                <a:latin typeface="Microsoft YaHei"/>
                <a:ea typeface="Microsoft YaHei"/>
              </a:rPr>
              <a:t>Two goals glued together. Split them; log in is an include</a:t>
            </a:r>
            <a:endParaRPr/>
          </a:p>
        </p:txBody>
      </p:sp>
      <p:sp>
        <p:nvSpPr>
          <p:cNvPr id="174" name=""/>
          <p:cNvSpPr/>
          <p:nvPr/>
        </p:nvSpPr>
        <p:spPr>
          <a:xfrm rot="0" flipH="0" flipV="0">
            <a:off x="0" y="6419850"/>
            <a:ext cx="12192000" cy="438150"/>
          </a:xfrm>
          <a:prstGeom prst="rect">
            <a:avLst/>
          </a:prstGeom>
          <a:solidFill>
            <a:srgbClr val="0E3F8C"/>
          </a:solidFill>
          <a:ln/>
        </p:spPr>
        <p:txBody>
          <a:bodyPr/>
          <a:p>
            <a:pPr/>
            <a:endParaRPr/>
          </a:p>
        </p:txBody>
      </p:sp>
      <p:sp>
        <p:nvSpPr>
          <p:cNvPr id="175" name="" descr="{&quot;isTemplate&quot;:true,&quot;type&quot;:&quot;text&quot;}"/>
          <p:cNvSpPr txBox="1"/>
          <p:nvPr/>
        </p:nvSpPr>
        <p:spPr>
          <a:xfrm rot="0" flipH="0" flipV="0">
            <a:off x="3305175" y="6543675"/>
            <a:ext cx="5591175" cy="190500"/>
          </a:xfrm>
          <a:prstGeom prst="rect"/>
        </p:spPr>
        <p:txBody>
          <a:bodyPr wrap="none" lIns="0" tIns="0" rIns="0" bIns="0"/>
          <a:p>
            <a:pPr>
              <a:lnSpc>
                <a:spcPct val="100000"/>
              </a:lnSpc>
            </a:pPr>
            <a:r>
              <a:rPr lang="en-US" sz="1200" b="1">
                <a:solidFill>
                  <a:srgbClr val="FFFFFF"/>
                </a:solidFill>
                <a:latin typeface="Microsoft YaHei"/>
                <a:ea typeface="Microsoft YaHei"/>
              </a:rPr>
              <a:t>Read your names aloud to the actor. If it sounds like a screen label, try again.</a:t>
            </a:r>
            <a:endParaRPr/>
          </a:p>
        </p:txBody>
      </p:sp>
    </p:spTree>
  </p:cSld>
</p:sld>
</file>

<file path=ppt/slides/slide14.xml><?xml version="1.0" encoding="utf-8"?>
<p:sld xmlns:a="http://schemas.openxmlformats.org/drawingml/2006/main" xmlns:p="http://schemas.openxmlformats.org/presentationml/2006/main">
  <p:cSld>
    <p:spTree>
      <p:nvGrpSpPr>
        <p:cNvPr id="176" name=""/>
        <p:cNvGrpSpPr/>
        <p:nvPr/>
      </p:nvGrpSpPr>
      <p:grpSpPr>
        <a:xfrm>
          <a:off x="0" y="0"/>
          <a:ext cx="0" cy="0"/>
          <a:chOff x="0" y="0"/>
          <a:chExt cx="0" cy="0"/>
        </a:xfrm>
      </p:grpSpPr>
      <p:sp>
        <p:nvSpPr>
          <p:cNvPr id="177" name=""/>
          <p:cNvSpPr/>
          <p:nvPr/>
        </p:nvSpPr>
        <p:spPr>
          <a:xfrm rot="0" flipH="0" flipV="0">
            <a:off x="0" y="0"/>
            <a:ext cx="12192000" cy="6858000"/>
          </a:xfrm>
          <a:prstGeom prst="rect">
            <a:avLst/>
          </a:prstGeom>
          <a:solidFill>
            <a:srgbClr val="0E3F8C"/>
          </a:solidFill>
          <a:ln/>
        </p:spPr>
        <p:txBody>
          <a:bodyPr/>
          <a:p>
            <a:pPr/>
            <a:endParaRPr/>
          </a:p>
        </p:txBody>
      </p:sp>
      <p:sp>
        <p:nvSpPr>
          <p:cNvPr id="178"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179" name="" descr="{&quot;isTemplate&quot;:true,&quot;type&quot;:&quot;text&quot;}"/>
          <p:cNvSpPr txBox="1"/>
          <p:nvPr/>
        </p:nvSpPr>
        <p:spPr>
          <a:xfrm rot="0" flipH="0" flipV="0">
            <a:off x="38100" y="2171700"/>
            <a:ext cx="2781300" cy="2514600"/>
          </a:xfrm>
          <a:prstGeom prst="rect"/>
        </p:spPr>
        <p:txBody>
          <a:bodyPr wrap="none" lIns="0" tIns="0" rIns="0" bIns="0"/>
          <a:p>
            <a:pPr>
              <a:lnSpc>
                <a:spcPct val="100000"/>
              </a:lnSpc>
            </a:pPr>
            <a:r>
              <a:rPr lang="en-US" sz="16500" b="1">
                <a:solidFill>
                  <a:srgbClr val="3D7BD9"/>
                </a:solidFill>
                <a:latin typeface="Georgia"/>
                <a:ea typeface="Georgia"/>
              </a:rPr>
              <a:t>03</a:t>
            </a:r>
            <a:endParaRPr/>
          </a:p>
        </p:txBody>
      </p:sp>
      <p:sp>
        <p:nvSpPr>
          <p:cNvPr id="180"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181"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The Use Case</a:t>
            </a:r>
            <a:endParaRPr/>
          </a:p>
          <a:p>
            <a:pPr>
              <a:lnSpc>
                <a:spcPct val="118000"/>
              </a:lnSpc>
            </a:pPr>
            <a:r>
              <a:rPr lang="en-US" sz="3450" b="1">
                <a:solidFill>
                  <a:srgbClr val="FFFFFF"/>
                </a:solidFill>
                <a:latin typeface="Microsoft YaHei"/>
                <a:ea typeface="Microsoft YaHei"/>
              </a:rPr>
              <a:t>Diagram</a:t>
            </a:r>
            <a:endParaRPr/>
          </a:p>
        </p:txBody>
      </p:sp>
      <p:sp>
        <p:nvSpPr>
          <p:cNvPr id="182" name=""/>
          <p:cNvSpPr/>
          <p:nvPr/>
        </p:nvSpPr>
        <p:spPr>
          <a:xfrm rot="0" flipH="0" flipV="0">
            <a:off x="3467100" y="3752850"/>
            <a:ext cx="609600" cy="38100"/>
          </a:xfrm>
          <a:prstGeom prst="rect">
            <a:avLst/>
          </a:prstGeom>
          <a:solidFill>
            <a:srgbClr val="FFC107"/>
          </a:solidFill>
          <a:ln/>
        </p:spPr>
        <p:txBody>
          <a:bodyPr/>
          <a:p>
            <a:pPr/>
            <a:endParaRPr/>
          </a:p>
        </p:txBody>
      </p:sp>
      <p:sp>
        <p:nvSpPr>
          <p:cNvPr id="183" name=""/>
          <p:cNvSpPr/>
          <p:nvPr/>
        </p:nvSpPr>
        <p:spPr>
          <a:xfrm rot="0" flipH="0" flipV="0">
            <a:off x="3467100" y="4114800"/>
            <a:ext cx="76200" cy="76200"/>
          </a:xfrm>
          <a:prstGeom prst="roundRect">
            <a:avLst>
              <a:gd name="adj" fmla="val 50000"/>
            </a:avLst>
          </a:prstGeom>
          <a:solidFill>
            <a:srgbClr val="3D7BD9"/>
          </a:solidFill>
          <a:ln/>
        </p:spPr>
        <p:txBody>
          <a:bodyPr/>
          <a:p>
            <a:pPr/>
            <a:endParaRPr/>
          </a:p>
        </p:txBody>
      </p:sp>
      <p:sp>
        <p:nvSpPr>
          <p:cNvPr id="184" name="" descr="{&quot;isTemplate&quot;:true,&quot;type&quot;:&quot;text&quot;}"/>
          <p:cNvSpPr txBox="1"/>
          <p:nvPr/>
        </p:nvSpPr>
        <p:spPr>
          <a:xfrm rot="0" flipH="0" flipV="0">
            <a:off x="3657600" y="4038600"/>
            <a:ext cx="3848100" cy="228600"/>
          </a:xfrm>
          <a:prstGeom prst="rect"/>
        </p:spPr>
        <p:txBody>
          <a:bodyPr wrap="none" lIns="0" tIns="0" rIns="0" bIns="0"/>
          <a:p>
            <a:pPr>
              <a:lnSpc>
                <a:spcPct val="100000"/>
              </a:lnSpc>
            </a:pPr>
            <a:r>
              <a:rPr lang="en-US" sz="1500">
                <a:solidFill>
                  <a:srgbClr val="C5D4EA"/>
                </a:solidFill>
                <a:latin typeface="Microsoft YaHei"/>
                <a:ea typeface="Microsoft YaHei"/>
              </a:rPr>
              <a:t>Six symbols, and how to read each one aloud</a:t>
            </a:r>
            <a:endParaRPr/>
          </a:p>
        </p:txBody>
      </p:sp>
      <p:sp>
        <p:nvSpPr>
          <p:cNvPr id="185" name=""/>
          <p:cNvSpPr/>
          <p:nvPr/>
        </p:nvSpPr>
        <p:spPr>
          <a:xfrm rot="0" flipH="0" flipV="0">
            <a:off x="3467100" y="4457700"/>
            <a:ext cx="76200" cy="76200"/>
          </a:xfrm>
          <a:prstGeom prst="roundRect">
            <a:avLst>
              <a:gd name="adj" fmla="val 50000"/>
            </a:avLst>
          </a:prstGeom>
          <a:solidFill>
            <a:srgbClr val="3D7BD9"/>
          </a:solidFill>
          <a:ln/>
        </p:spPr>
        <p:txBody>
          <a:bodyPr/>
          <a:p>
            <a:pPr/>
            <a:endParaRPr/>
          </a:p>
        </p:txBody>
      </p:sp>
      <p:sp>
        <p:nvSpPr>
          <p:cNvPr id="186" name="" descr="{&quot;isTemplate&quot;:true,&quot;type&quot;:&quot;text&quot;}"/>
          <p:cNvSpPr txBox="1"/>
          <p:nvPr/>
        </p:nvSpPr>
        <p:spPr>
          <a:xfrm rot="0" flipH="0" flipV="0">
            <a:off x="3657600" y="4381500"/>
            <a:ext cx="3724275" cy="228600"/>
          </a:xfrm>
          <a:prstGeom prst="rect"/>
        </p:spPr>
        <p:txBody>
          <a:bodyPr wrap="none" lIns="0" tIns="0" rIns="0" bIns="0"/>
          <a:p>
            <a:pPr>
              <a:lnSpc>
                <a:spcPct val="100000"/>
              </a:lnSpc>
            </a:pPr>
            <a:r>
              <a:rPr lang="en-US" sz="1500">
                <a:solidFill>
                  <a:srgbClr val="C5D4EA"/>
                </a:solidFill>
                <a:latin typeface="Microsoft YaHei"/>
                <a:ea typeface="Microsoft YaHei"/>
              </a:rPr>
              <a:t>The boundary decides what is yours to build</a:t>
            </a:r>
            <a:endParaRPr/>
          </a:p>
        </p:txBody>
      </p:sp>
      <p:sp>
        <p:nvSpPr>
          <p:cNvPr id="187" name=""/>
          <p:cNvSpPr/>
          <p:nvPr/>
        </p:nvSpPr>
        <p:spPr>
          <a:xfrm rot="0" flipH="0" flipV="0">
            <a:off x="3467100" y="4800600"/>
            <a:ext cx="76200" cy="76200"/>
          </a:xfrm>
          <a:prstGeom prst="roundRect">
            <a:avLst>
              <a:gd name="adj" fmla="val 50000"/>
            </a:avLst>
          </a:prstGeom>
          <a:solidFill>
            <a:srgbClr val="3D7BD9"/>
          </a:solidFill>
          <a:ln/>
        </p:spPr>
        <p:txBody>
          <a:bodyPr/>
          <a:p>
            <a:pPr/>
            <a:endParaRPr/>
          </a:p>
        </p:txBody>
      </p:sp>
      <p:sp>
        <p:nvSpPr>
          <p:cNvPr id="188" name="" descr="{&quot;isTemplate&quot;:true,&quot;type&quot;:&quot;text&quot;}"/>
          <p:cNvSpPr txBox="1"/>
          <p:nvPr/>
        </p:nvSpPr>
        <p:spPr>
          <a:xfrm rot="0" flipH="0" flipV="0">
            <a:off x="3657600" y="4724400"/>
            <a:ext cx="3733800" cy="228600"/>
          </a:xfrm>
          <a:prstGeom prst="rect"/>
        </p:spPr>
        <p:txBody>
          <a:bodyPr wrap="none" lIns="0" tIns="0" rIns="0" bIns="0"/>
          <a:p>
            <a:pPr>
              <a:lnSpc>
                <a:spcPct val="100000"/>
              </a:lnSpc>
            </a:pPr>
            <a:r>
              <a:rPr lang="en-US" sz="1500">
                <a:solidFill>
                  <a:srgbClr val="C5D4EA"/>
                </a:solidFill>
                <a:latin typeface="Microsoft YaHei"/>
                <a:ea typeface="Microsoft YaHei"/>
              </a:rPr>
              <a:t>Three mistakes almost everyone makes first</a:t>
            </a:r>
            <a:endParaRPr/>
          </a:p>
        </p:txBody>
      </p:sp>
      <p:sp>
        <p:nvSpPr>
          <p:cNvPr id="189"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15.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190" name=""/>
        <p:cNvGrpSpPr/>
        <p:nvPr/>
      </p:nvGrpSpPr>
      <p:grpSpPr>
        <a:xfrm>
          <a:off x="0" y="0"/>
          <a:ext cx="0" cy="0"/>
          <a:chOff x="0" y="0"/>
          <a:chExt cx="0" cy="0"/>
        </a:xfrm>
      </p:grpSpPr>
      <p:sp>
        <p:nvSpPr>
          <p:cNvPr id="191" name=""/>
          <p:cNvSpPr/>
          <p:nvPr/>
        </p:nvSpPr>
        <p:spPr>
          <a:xfrm rot="0" flipH="0" flipV="0">
            <a:off x="0" y="0"/>
            <a:ext cx="12192000" cy="6858000"/>
          </a:xfrm>
          <a:prstGeom prst="rect">
            <a:avLst/>
          </a:prstGeom>
          <a:solidFill>
            <a:srgbClr val="FFFFFF"/>
          </a:solidFill>
          <a:ln/>
        </p:spPr>
        <p:txBody>
          <a:bodyPr/>
          <a:p>
            <a:pPr/>
            <a:endParaRPr/>
          </a:p>
        </p:txBody>
      </p:sp>
      <p:sp>
        <p:nvSpPr>
          <p:cNvPr id="192" name=""/>
          <p:cNvSpPr/>
          <p:nvPr/>
        </p:nvSpPr>
        <p:spPr>
          <a:xfrm rot="0" flipH="0" flipV="0">
            <a:off x="0" y="0"/>
            <a:ext cx="12192000" cy="685800"/>
          </a:xfrm>
          <a:prstGeom prst="rect">
            <a:avLst/>
          </a:prstGeom>
          <a:solidFill>
            <a:srgbClr val="1E4FA8"/>
          </a:solidFill>
          <a:ln/>
        </p:spPr>
        <p:txBody>
          <a:bodyPr/>
          <a:p>
            <a:pPr/>
            <a:endParaRPr/>
          </a:p>
        </p:txBody>
      </p:sp>
      <p:sp>
        <p:nvSpPr>
          <p:cNvPr id="19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94"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W04 · THE USE CASE DIAGRAM</a:t>
            </a:r>
            <a:endParaRPr/>
          </a:p>
        </p:txBody>
      </p:sp>
      <p:sp>
        <p:nvSpPr>
          <p:cNvPr id="195" name="" descr="{&quot;isTemplate&quot;:true,&quot;type&quot;:&quot;text&quot;}"/>
          <p:cNvSpPr txBox="1"/>
          <p:nvPr/>
        </p:nvSpPr>
        <p:spPr>
          <a:xfrm rot="0" flipH="0" flipV="0">
            <a:off x="381000" y="800100"/>
            <a:ext cx="4400550" cy="342900"/>
          </a:xfrm>
          <a:prstGeom prst="rect"/>
        </p:spPr>
        <p:txBody>
          <a:bodyPr wrap="none" lIns="0" tIns="0" rIns="0" bIns="0"/>
          <a:p>
            <a:pPr>
              <a:lnSpc>
                <a:spcPct val="100000"/>
              </a:lnSpc>
            </a:pPr>
            <a:r>
              <a:rPr lang="en-US" sz="2250" b="1">
                <a:solidFill>
                  <a:srgbClr val="0E3F8C"/>
                </a:solidFill>
                <a:latin typeface="Microsoft YaHei"/>
                <a:ea typeface="Microsoft YaHei"/>
              </a:rPr>
              <a:t>Anatomy of a Use Case Diagram</a:t>
            </a:r>
            <a:endParaRPr/>
          </a:p>
        </p:txBody>
      </p:sp>
      <p:sp>
        <p:nvSpPr>
          <p:cNvPr id="196"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38</a:t>
            </a:r>
            <a:endParaRPr/>
          </a:p>
        </p:txBody>
      </p:sp>
      <p:pic>
        <p:nvPicPr>
          <p:cNvPr id="197" name=""/>
          <p:cNvPicPr>
            <a:picLocks noChangeAspect="1"/>
          </p:cNvPicPr>
          <p:nvPr/>
        </p:nvPicPr>
        <p:blipFill>
          <a:blip>
            <a:extLst>
              <a:ext uri="{96DAC541-7B7A-43D3-8B79-37D633B846F1}">
                <asvg:svgBlip r:embed="rId1"/>
              </a:ext>
            </a:extLst>
          </a:blip>
          <a:stretch>
            <a:fillRect/>
          </a:stretch>
        </p:blipFill>
        <p:spPr>
          <a:xfrm rot="0" flipH="0" flipV="0">
            <a:off x="476250" y="2009775"/>
            <a:ext cx="11239500" cy="3676650"/>
          </a:xfrm>
          <a:prstGeom prst="rect">
            <a:avLst/>
          </a:prstGeom>
          <a:ln/>
        </p:spPr>
      </p:pic>
      <p:sp>
        <p:nvSpPr>
          <p:cNvPr id="198" name="" descr="{&quot;isTemplate&quot;:true,&quot;type&quot;:&quot;text&quot;}"/>
          <p:cNvSpPr txBox="1"/>
          <p:nvPr/>
        </p:nvSpPr>
        <p:spPr>
          <a:xfrm rot="0" flipH="0" flipV="0">
            <a:off x="381000" y="6619875"/>
            <a:ext cx="62769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diagram is a table of contents — the value is in the text you write for each ellipse (Week 05)</a:t>
            </a:r>
            <a:endParaRPr/>
          </a:p>
        </p:txBody>
      </p:sp>
      <p:sp>
        <p:nvSpPr>
          <p:cNvPr id="199"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38</a:t>
            </a:r>
            <a:endParaRPr/>
          </a:p>
        </p:txBody>
      </p:sp>
    </p:spTree>
  </p:cSld>
</p:sld>
</file>

<file path=ppt/slides/slide16.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200" name=""/>
        <p:cNvGrpSpPr/>
        <p:nvPr/>
      </p:nvGrpSpPr>
      <p:grpSpPr>
        <a:xfrm>
          <a:off x="0" y="0"/>
          <a:ext cx="0" cy="0"/>
          <a:chOff x="0" y="0"/>
          <a:chExt cx="0" cy="0"/>
        </a:xfrm>
      </p:grpSpPr>
      <p:sp>
        <p:nvSpPr>
          <p:cNvPr id="201" name=""/>
          <p:cNvSpPr/>
          <p:nvPr/>
        </p:nvSpPr>
        <p:spPr>
          <a:xfrm rot="0" flipH="0" flipV="0">
            <a:off x="0" y="0"/>
            <a:ext cx="12192000" cy="6858000"/>
          </a:xfrm>
          <a:prstGeom prst="rect">
            <a:avLst/>
          </a:prstGeom>
          <a:solidFill>
            <a:srgbClr val="FFFFFF"/>
          </a:solidFill>
          <a:ln/>
        </p:spPr>
        <p:txBody>
          <a:bodyPr/>
          <a:p>
            <a:pPr/>
            <a:endParaRPr/>
          </a:p>
        </p:txBody>
      </p:sp>
      <p:sp>
        <p:nvSpPr>
          <p:cNvPr id="202" name=""/>
          <p:cNvSpPr/>
          <p:nvPr/>
        </p:nvSpPr>
        <p:spPr>
          <a:xfrm rot="0" flipH="0" flipV="0">
            <a:off x="0" y="0"/>
            <a:ext cx="12192000" cy="685800"/>
          </a:xfrm>
          <a:prstGeom prst="rect">
            <a:avLst/>
          </a:prstGeom>
          <a:solidFill>
            <a:srgbClr val="1E4FA8"/>
          </a:solidFill>
          <a:ln/>
        </p:spPr>
        <p:txBody>
          <a:bodyPr/>
          <a:p>
            <a:pPr/>
            <a:endParaRPr/>
          </a:p>
        </p:txBody>
      </p:sp>
      <p:sp>
        <p:nvSpPr>
          <p:cNvPr id="20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04"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W04 · THE USE CASE DIAGRAM</a:t>
            </a:r>
            <a:endParaRPr/>
          </a:p>
        </p:txBody>
      </p:sp>
      <p:sp>
        <p:nvSpPr>
          <p:cNvPr id="205" name="" descr="{&quot;isTemplate&quot;:true,&quot;type&quot;:&quot;text&quot;}"/>
          <p:cNvSpPr txBox="1"/>
          <p:nvPr/>
        </p:nvSpPr>
        <p:spPr>
          <a:xfrm rot="0" flipH="0" flipV="0">
            <a:off x="381000" y="800100"/>
            <a:ext cx="2924175" cy="333375"/>
          </a:xfrm>
          <a:prstGeom prst="rect"/>
        </p:spPr>
        <p:txBody>
          <a:bodyPr wrap="none" lIns="0" tIns="0" rIns="0" bIns="0"/>
          <a:p>
            <a:pPr>
              <a:lnSpc>
                <a:spcPct val="100000"/>
              </a:lnSpc>
            </a:pPr>
            <a:r>
              <a:rPr lang="en-US" sz="2175" b="1">
                <a:solidFill>
                  <a:srgbClr val="0E3F8C"/>
                </a:solidFill>
                <a:latin typeface="Microsoft YaHei"/>
                <a:ea typeface="Microsoft YaHei"/>
              </a:rPr>
              <a:t>The System Boundary</a:t>
            </a:r>
            <a:endParaRPr/>
          </a:p>
        </p:txBody>
      </p:sp>
      <p:sp>
        <p:nvSpPr>
          <p:cNvPr id="206"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16 / 38</a:t>
            </a:r>
            <a:endParaRPr/>
          </a:p>
        </p:txBody>
      </p:sp>
      <p:pic>
        <p:nvPicPr>
          <p:cNvPr id="207" name=""/>
          <p:cNvPicPr>
            <a:picLocks noChangeAspect="1"/>
          </p:cNvPicPr>
          <p:nvPr/>
        </p:nvPicPr>
        <p:blipFill>
          <a:blip>
            <a:extLst>
              <a:ext uri="{96DAC541-7B7A-43D3-8B79-37D633B846F1}">
                <asvg:svgBlip r:embed="rId1"/>
              </a:ext>
            </a:extLst>
          </a:blip>
          <a:stretch>
            <a:fillRect/>
          </a:stretch>
        </p:blipFill>
        <p:spPr>
          <a:xfrm rot="0" flipH="0" flipV="0">
            <a:off x="381000" y="2171700"/>
            <a:ext cx="5715000" cy="3409950"/>
          </a:xfrm>
          <a:prstGeom prst="rect">
            <a:avLst/>
          </a:prstGeom>
          <a:ln/>
        </p:spPr>
      </p:pic>
      <p:sp>
        <p:nvSpPr>
          <p:cNvPr id="208" name=""/>
          <p:cNvSpPr/>
          <p:nvPr/>
        </p:nvSpPr>
        <p:spPr>
          <a:xfrm rot="0" flipH="0" flipV="0">
            <a:off x="6381750" y="1847850"/>
            <a:ext cx="5467350" cy="1000125"/>
          </a:xfrm>
          <a:prstGeom prst="roundRect">
            <a:avLst>
              <a:gd name="adj" fmla="val 8571"/>
            </a:avLst>
          </a:prstGeom>
          <a:solidFill>
            <a:srgbClr val="F0F5FC"/>
          </a:solidFill>
          <a:ln/>
        </p:spPr>
        <p:txBody>
          <a:bodyPr/>
          <a:p>
            <a:pPr/>
            <a:endParaRPr/>
          </a:p>
        </p:txBody>
      </p:sp>
      <p:sp>
        <p:nvSpPr>
          <p:cNvPr id="209" name=""/>
          <p:cNvSpPr/>
          <p:nvPr/>
        </p:nvSpPr>
        <p:spPr>
          <a:xfrm rot="0" flipH="0" flipV="0">
            <a:off x="6381750" y="1847850"/>
            <a:ext cx="5467350" cy="1000125"/>
          </a:xfrm>
          <a:custGeom>
            <a:pathLst>
              <a:path w="5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a:pPr/>
            <a:endParaRPr/>
          </a:p>
        </p:txBody>
      </p:sp>
      <p:sp>
        <p:nvSpPr>
          <p:cNvPr id="210" name="" descr="{&quot;isTemplate&quot;:true,&quot;type&quot;:&quot;text&quot;}"/>
          <p:cNvSpPr txBox="1"/>
          <p:nvPr/>
        </p:nvSpPr>
        <p:spPr>
          <a:xfrm rot="0" flipH="0" flipV="0">
            <a:off x="6543675" y="1990725"/>
            <a:ext cx="5105400" cy="190500"/>
          </a:xfrm>
          <a:prstGeom prst="rect"/>
        </p:spPr>
        <p:txBody>
          <a:bodyPr wrap="none" lIns="0" tIns="0" rIns="0" bIns="0"/>
          <a:p>
            <a:pPr>
              <a:lnSpc>
                <a:spcPct val="100000"/>
              </a:lnSpc>
            </a:pPr>
            <a:r>
              <a:rPr lang="en-US" sz="1200" b="1">
                <a:solidFill>
                  <a:srgbClr val="0E3F8C"/>
                </a:solidFill>
                <a:latin typeface="Microsoft YaHei"/>
                <a:ea typeface="Microsoft YaHei"/>
              </a:rPr>
              <a:t>The box draws the contract</a:t>
            </a:r>
            <a:endParaRPr/>
          </a:p>
        </p:txBody>
      </p:sp>
      <p:sp>
        <p:nvSpPr>
          <p:cNvPr id="211" name="" descr="{&quot;isTemplate&quot;:true,&quot;type&quot;:&quot;text&quot;}"/>
          <p:cNvSpPr txBox="1"/>
          <p:nvPr/>
        </p:nvSpPr>
        <p:spPr>
          <a:xfrm rot="0" flipH="0" flipV="0">
            <a:off x="6543675" y="2228850"/>
            <a:ext cx="51054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Everything inside the rectangle is a use case you will design, build and test. Everything outside is a thing you call, obey, or wait for.</a:t>
            </a:r>
            <a:endParaRPr/>
          </a:p>
        </p:txBody>
      </p:sp>
      <p:sp>
        <p:nvSpPr>
          <p:cNvPr id="212" name=""/>
          <p:cNvSpPr/>
          <p:nvPr/>
        </p:nvSpPr>
        <p:spPr>
          <a:xfrm rot="0" flipH="0" flipV="0">
            <a:off x="6343650" y="2971800"/>
            <a:ext cx="5467350" cy="1000125"/>
          </a:xfrm>
          <a:prstGeom prst="roundRect">
            <a:avLst>
              <a:gd name="adj" fmla="val 8571"/>
            </a:avLst>
          </a:prstGeom>
          <a:solidFill>
            <a:srgbClr val="FFFFFF"/>
          </a:solidFill>
          <a:ln w="12700">
            <a:solidFill>
              <a:srgbClr val="D6DCE5"/>
            </a:solidFill>
            <a:prstDash val="solid"/>
          </a:ln>
        </p:spPr>
        <p:txBody>
          <a:bodyPr/>
          <a:p>
            <a:pPr/>
            <a:endParaRPr/>
          </a:p>
        </p:txBody>
      </p:sp>
      <p:sp>
        <p:nvSpPr>
          <p:cNvPr id="213" name="" descr="{&quot;isTemplate&quot;:true,&quot;type&quot;:&quot;text&quot;}"/>
          <p:cNvSpPr txBox="1"/>
          <p:nvPr/>
        </p:nvSpPr>
        <p:spPr>
          <a:xfrm rot="0" flipH="0" flipV="0">
            <a:off x="6505575" y="3114675"/>
            <a:ext cx="5143500" cy="190500"/>
          </a:xfrm>
          <a:prstGeom prst="rect"/>
        </p:spPr>
        <p:txBody>
          <a:bodyPr wrap="none" lIns="0" tIns="0" rIns="0" bIns="0"/>
          <a:p>
            <a:pPr>
              <a:lnSpc>
                <a:spcPct val="100000"/>
              </a:lnSpc>
            </a:pPr>
            <a:r>
              <a:rPr lang="en-US" sz="1200" b="1">
                <a:solidFill>
                  <a:srgbClr val="0E3F8C"/>
                </a:solidFill>
                <a:latin typeface="Microsoft YaHei"/>
                <a:ea typeface="Microsoft YaHei"/>
              </a:rPr>
              <a:t>“Send Notification” stays inside</a:t>
            </a:r>
            <a:endParaRPr/>
          </a:p>
        </p:txBody>
      </p:sp>
      <p:sp>
        <p:nvSpPr>
          <p:cNvPr id="214" name="" descr="{&quot;isTemplate&quot;:true,&quot;type&quot;:&quot;text&quot;}"/>
          <p:cNvSpPr txBox="1"/>
          <p:nvPr/>
        </p:nvSpPr>
        <p:spPr>
          <a:xfrm rot="0" flipH="0" flipV="0">
            <a:off x="6505575" y="3352800"/>
            <a:ext cx="51435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The goal is ours even though the SMS is not. The gateway is the actor that serves us — it never becomes a use case of its own.</a:t>
            </a:r>
            <a:endParaRPr/>
          </a:p>
        </p:txBody>
      </p:sp>
      <p:sp>
        <p:nvSpPr>
          <p:cNvPr id="215" name=""/>
          <p:cNvSpPr/>
          <p:nvPr/>
        </p:nvSpPr>
        <p:spPr>
          <a:xfrm rot="0" flipH="0" flipV="0">
            <a:off x="6381750" y="4095750"/>
            <a:ext cx="5467350" cy="1000125"/>
          </a:xfrm>
          <a:prstGeom prst="roundRect">
            <a:avLst>
              <a:gd name="adj" fmla="val 8571"/>
            </a:avLst>
          </a:prstGeom>
          <a:solidFill>
            <a:srgbClr val="FDF3F3"/>
          </a:solidFill>
          <a:ln/>
        </p:spPr>
        <p:txBody>
          <a:bodyPr/>
          <a:p>
            <a:pPr/>
            <a:endParaRPr/>
          </a:p>
        </p:txBody>
      </p:sp>
      <p:sp>
        <p:nvSpPr>
          <p:cNvPr id="216" name=""/>
          <p:cNvSpPr/>
          <p:nvPr/>
        </p:nvSpPr>
        <p:spPr>
          <a:xfrm rot="0" flipH="0" flipV="0">
            <a:off x="6381750" y="4095750"/>
            <a:ext cx="5467350" cy="1000125"/>
          </a:xfrm>
          <a:custGeom>
            <a:pathLst>
              <a:path w="5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D9534F"/>
          </a:solidFill>
          <a:ln/>
        </p:spPr>
        <p:txBody>
          <a:bodyPr/>
          <a:p>
            <a:pPr/>
            <a:endParaRPr/>
          </a:p>
        </p:txBody>
      </p:sp>
      <p:sp>
        <p:nvSpPr>
          <p:cNvPr id="217" name="" descr="{&quot;isTemplate&quot;:true,&quot;type&quot;:&quot;text&quot;}"/>
          <p:cNvSpPr txBox="1"/>
          <p:nvPr/>
        </p:nvSpPr>
        <p:spPr>
          <a:xfrm rot="0" flipH="0" flipV="0">
            <a:off x="6543675" y="4238625"/>
            <a:ext cx="5105400" cy="190500"/>
          </a:xfrm>
          <a:prstGeom prst="rect"/>
        </p:spPr>
        <p:txBody>
          <a:bodyPr wrap="none" lIns="0" tIns="0" rIns="0" bIns="0"/>
          <a:p>
            <a:pPr>
              <a:lnSpc>
                <a:spcPct val="100000"/>
              </a:lnSpc>
            </a:pPr>
            <a:r>
              <a:rPr lang="en-US" sz="1200" b="1">
                <a:solidFill>
                  <a:srgbClr val="D9534F"/>
                </a:solidFill>
                <a:latin typeface="Microsoft YaHei"/>
                <a:ea typeface="Microsoft YaHei"/>
              </a:rPr>
              <a:t>The usual mistake</a:t>
            </a:r>
            <a:endParaRPr/>
          </a:p>
        </p:txBody>
      </p:sp>
      <p:sp>
        <p:nvSpPr>
          <p:cNvPr id="218" name="" descr="{&quot;isTemplate&quot;:true,&quot;type&quot;:&quot;text&quot;}"/>
          <p:cNvSpPr txBox="1"/>
          <p:nvPr/>
        </p:nvSpPr>
        <p:spPr>
          <a:xfrm rot="0" flipH="0" flipV="0">
            <a:off x="6543675" y="4476750"/>
            <a:ext cx="51054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Drawing “Process Payment” as a use case when it is really a call to the payment centre. If you cannot change how it behaves, it is not your use case.</a:t>
            </a:r>
            <a:endParaRPr/>
          </a:p>
        </p:txBody>
      </p:sp>
      <p:sp>
        <p:nvSpPr>
          <p:cNvPr id="219" name=""/>
          <p:cNvSpPr/>
          <p:nvPr/>
        </p:nvSpPr>
        <p:spPr>
          <a:xfrm rot="0" flipH="0" flipV="0">
            <a:off x="6343650" y="5219700"/>
            <a:ext cx="5467350" cy="676275"/>
          </a:xfrm>
          <a:prstGeom prst="roundRect">
            <a:avLst>
              <a:gd name="adj" fmla="val 11268"/>
            </a:avLst>
          </a:prstGeom>
          <a:solidFill>
            <a:srgbClr val="F7F9FC"/>
          </a:solidFill>
          <a:ln w="12700">
            <a:solidFill>
              <a:srgbClr val="D6DCE5"/>
            </a:solidFill>
            <a:prstDash val="dash"/>
          </a:ln>
        </p:spPr>
        <p:txBody>
          <a:bodyPr/>
          <a:p>
            <a:pPr/>
            <a:endParaRPr/>
          </a:p>
        </p:txBody>
      </p:sp>
      <p:sp>
        <p:nvSpPr>
          <p:cNvPr id="220" name="" descr="{&quot;isTemplate&quot;:true,&quot;type&quot;:&quot;text&quot;}"/>
          <p:cNvSpPr txBox="1"/>
          <p:nvPr/>
        </p:nvSpPr>
        <p:spPr>
          <a:xfrm rot="0" flipH="0" flipV="0">
            <a:off x="6496050" y="5334000"/>
            <a:ext cx="5162550" cy="447675"/>
          </a:xfrm>
          <a:prstGeom prst="rect"/>
        </p:spPr>
        <p:txBody>
          <a:bodyPr wrap="square" lIns="0" tIns="0" rIns="0" bIns="0">
            <a:normAutofit/>
          </a:bodyPr>
          <a:p>
            <a:pPr>
              <a:lnSpc>
                <a:spcPct val="155000"/>
              </a:lnSpc>
            </a:pPr>
            <a:r>
              <a:rPr lang="en-US" sz="938">
                <a:solidFill>
                  <a:srgbClr val="8B97A8"/>
                </a:solidFill>
                <a:latin typeface="Microsoft YaHei"/>
                <a:ea typeface="Microsoft YaHei"/>
              </a:rPr>
              <a:t>Test for the line: could we rewrite this thing from scratch if we wanted to? Yes → inside. No → outside, and it becomes an actor.</a:t>
            </a:r>
            <a:endParaRPr/>
          </a:p>
        </p:txBody>
      </p:sp>
      <p:sp>
        <p:nvSpPr>
          <p:cNvPr id="221" name="" descr="{&quot;isTemplate&quot;:true,&quot;type&quot;:&quot;text&quot;}"/>
          <p:cNvSpPr txBox="1"/>
          <p:nvPr/>
        </p:nvSpPr>
        <p:spPr>
          <a:xfrm rot="0" flipH="0" flipV="0">
            <a:off x="381000" y="6619875"/>
            <a:ext cx="54864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boundary is the first design decision you make, and the hardest to move later</a:t>
            </a:r>
            <a:endParaRPr/>
          </a:p>
        </p:txBody>
      </p:sp>
      <p:sp>
        <p:nvSpPr>
          <p:cNvPr id="222"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16 / 38</a:t>
            </a:r>
            <a:endParaRPr/>
          </a:p>
        </p:txBody>
      </p:sp>
    </p:spTree>
  </p:cSld>
</p:sld>
</file>

<file path=ppt/slides/slide17.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223" name=""/>
        <p:cNvGrpSpPr/>
        <p:nvPr/>
      </p:nvGrpSpPr>
      <p:grpSpPr>
        <a:xfrm>
          <a:off x="0" y="0"/>
          <a:ext cx="0" cy="0"/>
          <a:chOff x="0" y="0"/>
          <a:chExt cx="0" cy="0"/>
        </a:xfrm>
      </p:grpSpPr>
      <p:sp>
        <p:nvSpPr>
          <p:cNvPr id="224" name=""/>
          <p:cNvSpPr/>
          <p:nvPr/>
        </p:nvSpPr>
        <p:spPr>
          <a:xfrm rot="0" flipH="0" flipV="0">
            <a:off x="0" y="0"/>
            <a:ext cx="12192000" cy="6858000"/>
          </a:xfrm>
          <a:prstGeom prst="rect">
            <a:avLst/>
          </a:prstGeom>
          <a:solidFill>
            <a:srgbClr val="FFFFFF"/>
          </a:solidFill>
          <a:ln/>
        </p:spPr>
        <p:txBody>
          <a:bodyPr/>
          <a:p>
            <a:pPr/>
            <a:endParaRPr/>
          </a:p>
        </p:txBody>
      </p:sp>
      <p:sp>
        <p:nvSpPr>
          <p:cNvPr id="225" name=""/>
          <p:cNvSpPr/>
          <p:nvPr/>
        </p:nvSpPr>
        <p:spPr>
          <a:xfrm rot="0" flipH="0" flipV="0">
            <a:off x="0" y="0"/>
            <a:ext cx="12192000" cy="685800"/>
          </a:xfrm>
          <a:prstGeom prst="rect">
            <a:avLst/>
          </a:prstGeom>
          <a:solidFill>
            <a:srgbClr val="1E4FA8"/>
          </a:solidFill>
          <a:ln/>
        </p:spPr>
        <p:txBody>
          <a:bodyPr/>
          <a:p>
            <a:pPr/>
            <a:endParaRPr/>
          </a:p>
        </p:txBody>
      </p:sp>
      <p:sp>
        <p:nvSpPr>
          <p:cNvPr id="22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27"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W04 · THE USE CASE DIAGRAM</a:t>
            </a:r>
            <a:endParaRPr/>
          </a:p>
        </p:txBody>
      </p:sp>
      <p:sp>
        <p:nvSpPr>
          <p:cNvPr id="228" name="" descr="{&quot;isTemplate&quot;:true,&quot;type&quot;:&quot;text&quot;}"/>
          <p:cNvSpPr txBox="1"/>
          <p:nvPr/>
        </p:nvSpPr>
        <p:spPr>
          <a:xfrm rot="0" flipH="0" flipV="0">
            <a:off x="381000" y="819150"/>
            <a:ext cx="4905375" cy="333375"/>
          </a:xfrm>
          <a:prstGeom prst="rect"/>
        </p:spPr>
        <p:txBody>
          <a:bodyPr wrap="none" lIns="0" tIns="0" rIns="0" bIns="0"/>
          <a:p>
            <a:pPr>
              <a:lnSpc>
                <a:spcPct val="100000"/>
              </a:lnSpc>
            </a:pPr>
            <a:r>
              <a:rPr lang="en-US" sz="2175" b="1">
                <a:solidFill>
                  <a:srgbClr val="0E3F8C"/>
                </a:solidFill>
                <a:latin typeface="Microsoft YaHei"/>
                <a:ea typeface="Microsoft YaHei"/>
              </a:rPr>
              <a:t>The Six Elements — Quick Reference</a:t>
            </a:r>
            <a:endParaRPr/>
          </a:p>
        </p:txBody>
      </p:sp>
      <p:sp>
        <p:nvSpPr>
          <p:cNvPr id="229"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17 / 38</a:t>
            </a:r>
            <a:endParaRPr/>
          </a:p>
        </p:txBody>
      </p:sp>
      <p:graphicFrame>
        <p:nvGraphicFramePr>
          <p:cNvPr id="230" name=""/>
          <p:cNvGraphicFramePr/>
          <p:nvPr/>
        </p:nvGraphicFramePr>
        <p:xfrm rot="0" flipH="0" flipV="0">
          <a:off x="381000" y="1247775"/>
          <a:ext cx="11430000" cy="5114925"/>
        </p:xfrm>
        <a:graphic>
          <a:graphicData uri="http://schemas.openxmlformats.org/drawingml/2006/table">
            <a:tbl>
              <a:tblGrid>
                <a:gridCol w="1395444">
                  <a:extLst>
                    <a:ext uri="{9D8B030D-6E8A-4147-A177-3AD203B41FA5}">
                      <a16:colId val="1"/>
                    </a:ext>
                  </a:extLst>
                </a:gridCol>
                <a:gridCol w="3337325">
                  <a:extLst>
                    <a:ext uri="{9D8B030D-6E8A-4147-A177-3AD203B41FA5}">
                      <a16:colId val="2"/>
                    </a:ext>
                  </a:extLst>
                </a:gridCol>
                <a:gridCol w="2885725">
                  <a:extLst>
                    <a:ext uri="{9D8B030D-6E8A-4147-A177-3AD203B41FA5}">
                      <a16:colId val="3"/>
                    </a:ext>
                  </a:extLst>
                </a:gridCol>
                <a:gridCol w="3811505">
                  <a:extLst>
                    <a:ext uri="{9D8B030D-6E8A-4147-A177-3AD203B41FA5}">
                      <a16:colId val="4"/>
                    </a:ext>
                  </a:extLst>
                </a:gridCol>
              </a:tblGrid>
              <a:tr h="730704">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Element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How you draw it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How you read it aloud</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Mistake to avoid</a:t>
                      </a:r>
                      <a:endParaRPr/>
                    </a:p>
                  </a:txBody>
                  <a:tcPr marL="45720" marR="45720" marT="45720" marB="45720" anchor="ctr">
                    <a:lnL>
                      <a:noFill/>
                    </a:lnL>
                    <a:lnR>
                      <a:noFill/>
                    </a:lnR>
                    <a:lnT>
                      <a:noFill/>
                    </a:lnT>
                    <a:lnB>
                      <a:noFill/>
                    </a:lnB>
                    <a:solidFill>
                      <a:srgbClr val="D9534F"/>
                    </a:solidFill>
                  </a:tcPr>
                </a:tc>
                <a:extLst>
                  <a:ext uri="{0D108BD9-81ED-4DB2-BD59-A6C34878D82A}">
                    <a16:rowId val="1"/>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System boundary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rectangle with the system name at the top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“Everything in this box is ours.”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Leaving it out — then nobody knows what is in scope</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Use case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An ellipse, named verb plus object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 Order — a goal that ends.”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Drawing a rectangle, or naming it with a noun</a:t>
                      </a:r>
                      <a:endParaRPr/>
                    </a:p>
                  </a:txBody>
                  <a:tcPr marL="45720" marR="45720" marT="45720" marB="45720" anchor="ctr">
                    <a:lnL>
                      <a:noFill/>
                    </a:lnL>
                    <a:lnR>
                      <a:noFill/>
                    </a:lnR>
                    <a:lnT>
                      <a:noFill/>
                    </a:lnT>
                    <a:lnB>
                      <a:noFill/>
                    </a:lnB>
                  </a:tcPr>
                </a:tc>
                <a:extLst>
                  <a:ext uri="{0D108BD9-81ED-4DB2-BD59-A6C34878D82A}">
                    <a16:rowId val="3"/>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Actor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stick figure, or a box labelled with the system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Student wants this.”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Naming a department, a person, or your own database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Association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solid line, no arrowhead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actor talks to this use case.”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Adding arrowheads — it is a conversation, not a flow</a:t>
                      </a:r>
                      <a:endParaRPr/>
                    </a:p>
                  </a:txBody>
                  <a:tcPr marL="45720" marR="45720" marT="45720" marB="45720" anchor="ctr">
                    <a:lnL>
                      <a:noFill/>
                    </a:lnL>
                    <a:lnR>
                      <a:noFill/>
                    </a:lnR>
                    <a:lnT>
                      <a:noFill/>
                    </a:lnT>
                    <a:lnB>
                      <a:noFill/>
                    </a:lnB>
                  </a:tcPr>
                </a:tc>
                <a:extLst>
                  <a:ext uri="{0D108BD9-81ED-4DB2-BD59-A6C34878D82A}">
                    <a16:rowId val="5"/>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&lt;&lt;include&gt;&gt;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dashed arrow, base pointing to the included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 Order always authenticates first.”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Using it for something that only sometimes happens</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070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&lt;&lt;extend&gt;&gt;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dashed arrow, extra pointing back to the base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“Apply Coupon sometimes adds itself in.”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Drawing the arrow the wrong way round</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231" name=""/>
          <p:cNvSpPr/>
          <p:nvPr/>
        </p:nvSpPr>
        <p:spPr>
          <a:xfrm rot="0" flipH="0" flipV="0">
            <a:off x="0" y="6419850"/>
            <a:ext cx="12192000" cy="438150"/>
          </a:xfrm>
          <a:prstGeom prst="rect">
            <a:avLst/>
          </a:prstGeom>
          <a:solidFill>
            <a:srgbClr val="0E3F8C"/>
          </a:solidFill>
          <a:ln/>
        </p:spPr>
        <p:txBody>
          <a:bodyPr/>
          <a:p>
            <a:pPr/>
            <a:endParaRPr/>
          </a:p>
        </p:txBody>
      </p:sp>
      <p:sp>
        <p:nvSpPr>
          <p:cNvPr id="232" name="" descr="{&quot;isTemplate&quot;:true,&quot;type&quot;:&quot;text&quot;}"/>
          <p:cNvSpPr txBox="1"/>
          <p:nvPr/>
        </p:nvSpPr>
        <p:spPr>
          <a:xfrm rot="0" flipH="0" flipV="0">
            <a:off x="2324100" y="6543675"/>
            <a:ext cx="7543800" cy="190500"/>
          </a:xfrm>
          <a:prstGeom prst="rect"/>
        </p:spPr>
        <p:txBody>
          <a:bodyPr wrap="none" lIns="0" tIns="0" rIns="0" bIns="0"/>
          <a:p>
            <a:pPr>
              <a:lnSpc>
                <a:spcPct val="100000"/>
              </a:lnSpc>
            </a:pPr>
            <a:r>
              <a:rPr lang="en-US" sz="1200" b="1">
                <a:solidFill>
                  <a:srgbClr val="FFFFFF"/>
                </a:solidFill>
                <a:latin typeface="Microsoft YaHei"/>
                <a:ea typeface="Microsoft YaHei"/>
              </a:rPr>
              <a:t>Six symbols is the whole notation. If your diagram needs a seventh, something is wrong with the model.</a:t>
            </a:r>
            <a:endParaRPr/>
          </a:p>
        </p:txBody>
      </p:sp>
    </p:spTree>
  </p:cSld>
</p:sld>
</file>

<file path=ppt/slides/slide18.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233" name=""/>
        <p:cNvGrpSpPr/>
        <p:nvPr/>
      </p:nvGrpSpPr>
      <p:grpSpPr>
        <a:xfrm>
          <a:off x="0" y="0"/>
          <a:ext cx="0" cy="0"/>
          <a:chOff x="0" y="0"/>
          <a:chExt cx="0" cy="0"/>
        </a:xfrm>
      </p:grpSpPr>
      <p:sp>
        <p:nvSpPr>
          <p:cNvPr id="234" name=""/>
          <p:cNvSpPr/>
          <p:nvPr/>
        </p:nvSpPr>
        <p:spPr>
          <a:xfrm rot="0" flipH="0" flipV="0">
            <a:off x="0" y="0"/>
            <a:ext cx="12192000" cy="6858000"/>
          </a:xfrm>
          <a:prstGeom prst="rect">
            <a:avLst/>
          </a:prstGeom>
          <a:solidFill>
            <a:srgbClr val="FFFFFF"/>
          </a:solidFill>
          <a:ln/>
        </p:spPr>
        <p:txBody>
          <a:bodyPr/>
          <a:p>
            <a:pPr/>
            <a:endParaRPr/>
          </a:p>
        </p:txBody>
      </p:sp>
      <p:sp>
        <p:nvSpPr>
          <p:cNvPr id="235" name=""/>
          <p:cNvSpPr/>
          <p:nvPr/>
        </p:nvSpPr>
        <p:spPr>
          <a:xfrm rot="0" flipH="0" flipV="0">
            <a:off x="0" y="0"/>
            <a:ext cx="12192000" cy="685800"/>
          </a:xfrm>
          <a:prstGeom prst="rect">
            <a:avLst/>
          </a:prstGeom>
          <a:solidFill>
            <a:srgbClr val="1E4FA8"/>
          </a:solidFill>
          <a:ln/>
        </p:spPr>
        <p:txBody>
          <a:bodyPr/>
          <a:p>
            <a:pPr/>
            <a:endParaRPr/>
          </a:p>
        </p:txBody>
      </p:sp>
      <p:sp>
        <p:nvSpPr>
          <p:cNvPr id="23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37"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W04 · THE USE CASE DIAGRAM</a:t>
            </a:r>
            <a:endParaRPr/>
          </a:p>
        </p:txBody>
      </p:sp>
      <p:sp>
        <p:nvSpPr>
          <p:cNvPr id="238" name="" descr="{&quot;isTemplate&quot;:true,&quot;type&quot;:&quot;text&quot;}"/>
          <p:cNvSpPr txBox="1"/>
          <p:nvPr/>
        </p:nvSpPr>
        <p:spPr>
          <a:xfrm rot="0" flipH="0" flipV="0">
            <a:off x="381000" y="800100"/>
            <a:ext cx="4448175" cy="333375"/>
          </a:xfrm>
          <a:prstGeom prst="rect"/>
        </p:spPr>
        <p:txBody>
          <a:bodyPr wrap="none" lIns="0" tIns="0" rIns="0" bIns="0"/>
          <a:p>
            <a:pPr>
              <a:lnSpc>
                <a:spcPct val="100000"/>
              </a:lnSpc>
            </a:pPr>
            <a:r>
              <a:rPr lang="en-US" sz="2175" b="1">
                <a:solidFill>
                  <a:srgbClr val="0E3F8C"/>
                </a:solidFill>
                <a:latin typeface="Microsoft YaHei"/>
                <a:ea typeface="Microsoft YaHei"/>
              </a:rPr>
              <a:t>A Worked Diagram — Place Order</a:t>
            </a:r>
            <a:endParaRPr/>
          </a:p>
        </p:txBody>
      </p:sp>
      <p:sp>
        <p:nvSpPr>
          <p:cNvPr id="239"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18 / 38</a:t>
            </a:r>
            <a:endParaRPr/>
          </a:p>
        </p:txBody>
      </p:sp>
      <p:pic>
        <p:nvPicPr>
          <p:cNvPr id="240" name=""/>
          <p:cNvPicPr>
            <a:picLocks noChangeAspect="1"/>
          </p:cNvPicPr>
          <p:nvPr/>
        </p:nvPicPr>
        <p:blipFill>
          <a:blip>
            <a:extLst>
              <a:ext uri="{96DAC541-7B7A-43D3-8B79-37D633B846F1}">
                <asvg:svgBlip r:embed="rId1"/>
              </a:ext>
            </a:extLst>
          </a:blip>
          <a:stretch>
            <a:fillRect/>
          </a:stretch>
        </p:blipFill>
        <p:spPr>
          <a:xfrm rot="0" flipH="0" flipV="0">
            <a:off x="381000" y="2181225"/>
            <a:ext cx="5715000" cy="3390900"/>
          </a:xfrm>
          <a:prstGeom prst="rect">
            <a:avLst/>
          </a:prstGeom>
          <a:ln/>
        </p:spPr>
      </p:pic>
      <p:sp>
        <p:nvSpPr>
          <p:cNvPr id="241" name=""/>
          <p:cNvSpPr/>
          <p:nvPr/>
        </p:nvSpPr>
        <p:spPr>
          <a:xfrm rot="0" flipH="0" flipV="0">
            <a:off x="6381750" y="1905000"/>
            <a:ext cx="5467350" cy="971550"/>
          </a:xfrm>
          <a:prstGeom prst="roundRect">
            <a:avLst>
              <a:gd name="adj" fmla="val 8824"/>
            </a:avLst>
          </a:prstGeom>
          <a:solidFill>
            <a:srgbClr val="F0F5FC"/>
          </a:solidFill>
          <a:ln/>
        </p:spPr>
        <p:txBody>
          <a:bodyPr/>
          <a:p>
            <a:pPr/>
            <a:endParaRPr/>
          </a:p>
        </p:txBody>
      </p:sp>
      <p:sp>
        <p:nvSpPr>
          <p:cNvPr id="242" name=""/>
          <p:cNvSpPr/>
          <p:nvPr/>
        </p:nvSpPr>
        <p:spPr>
          <a:xfrm rot="0" flipH="0" flipV="0">
            <a:off x="6381750" y="1905000"/>
            <a:ext cx="5467350" cy="971550"/>
          </a:xfrm>
          <a:custGeom>
            <a:pathLst>
              <a:path w="574" h="102">
                <a:moveTo>
                  <a:pt x="9" y="0"/>
                </a:moveTo>
                <a:cubicBezTo>
                  <a:pt x="6" y="0"/>
                  <a:pt x="4" y="2"/>
                  <a:pt x="4" y="5"/>
                </a:cubicBezTo>
                <a:lnTo>
                  <a:pt x="4" y="97"/>
                </a:lnTo>
                <a:cubicBezTo>
                  <a:pt x="4" y="99"/>
                  <a:pt x="6" y="101"/>
                  <a:pt x="8" y="102"/>
                </a:cubicBezTo>
                <a:cubicBezTo>
                  <a:pt x="4" y="102"/>
                  <a:pt x="0" y="98"/>
                  <a:pt x="0" y="93"/>
                </a:cubicBezTo>
                <a:lnTo>
                  <a:pt x="0" y="9"/>
                </a:lnTo>
                <a:cubicBezTo>
                  <a:pt x="0" y="4"/>
                  <a:pt x="4" y="0"/>
                  <a:pt x="9" y="0"/>
                </a:cubicBezTo>
                <a:close/>
              </a:path>
            </a:pathLst>
          </a:custGeom>
          <a:solidFill>
            <a:srgbClr val="1E4FA8"/>
          </a:solidFill>
          <a:ln/>
        </p:spPr>
        <p:txBody>
          <a:bodyPr/>
          <a:p>
            <a:pPr/>
            <a:endParaRPr/>
          </a:p>
        </p:txBody>
      </p:sp>
      <p:sp>
        <p:nvSpPr>
          <p:cNvPr id="243" name="" descr="{&quot;isTemplate&quot;:true,&quot;type&quot;:&quot;text&quot;}"/>
          <p:cNvSpPr txBox="1"/>
          <p:nvPr/>
        </p:nvSpPr>
        <p:spPr>
          <a:xfrm rot="0" flipH="0" flipV="0">
            <a:off x="6543675" y="2038350"/>
            <a:ext cx="5105400" cy="180975"/>
          </a:xfrm>
          <a:prstGeom prst="rect"/>
        </p:spPr>
        <p:txBody>
          <a:bodyPr wrap="none" lIns="0" tIns="0" rIns="0" bIns="0"/>
          <a:p>
            <a:pPr>
              <a:lnSpc>
                <a:spcPct val="100000"/>
              </a:lnSpc>
            </a:pPr>
            <a:r>
              <a:rPr lang="en-US" sz="1163" b="1">
                <a:solidFill>
                  <a:srgbClr val="0E3F8C"/>
                </a:solidFill>
                <a:latin typeface="Microsoft YaHei"/>
                <a:ea typeface="Microsoft YaHei"/>
              </a:rPr>
              <a:t>Why Authenticate is an include</a:t>
            </a:r>
            <a:endParaRPr/>
          </a:p>
        </p:txBody>
      </p:sp>
      <p:sp>
        <p:nvSpPr>
          <p:cNvPr id="244" name="" descr="{&quot;isTemplate&quot;:true,&quot;type&quot;:&quot;text&quot;}"/>
          <p:cNvSpPr txBox="1"/>
          <p:nvPr/>
        </p:nvSpPr>
        <p:spPr>
          <a:xfrm rot="0" flipH="0" flipV="0">
            <a:off x="6543675" y="2266950"/>
            <a:ext cx="510540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Every order needs it, every time. Nobody asks for it on its own — that is the signature of an include, not a use case anyone wants.</a:t>
            </a:r>
            <a:endParaRPr/>
          </a:p>
        </p:txBody>
      </p:sp>
      <p:sp>
        <p:nvSpPr>
          <p:cNvPr id="245" name=""/>
          <p:cNvSpPr/>
          <p:nvPr/>
        </p:nvSpPr>
        <p:spPr>
          <a:xfrm rot="0" flipH="0" flipV="0">
            <a:off x="6343650" y="2990850"/>
            <a:ext cx="5467350" cy="971550"/>
          </a:xfrm>
          <a:prstGeom prst="roundRect">
            <a:avLst>
              <a:gd name="adj" fmla="val 8824"/>
            </a:avLst>
          </a:prstGeom>
          <a:solidFill>
            <a:srgbClr val="FFFFFF"/>
          </a:solidFill>
          <a:ln w="12700">
            <a:solidFill>
              <a:srgbClr val="D6DCE5"/>
            </a:solidFill>
            <a:prstDash val="solid"/>
          </a:ln>
        </p:spPr>
        <p:txBody>
          <a:bodyPr/>
          <a:p>
            <a:pPr/>
            <a:endParaRPr/>
          </a:p>
        </p:txBody>
      </p:sp>
      <p:sp>
        <p:nvSpPr>
          <p:cNvPr id="246" name="" descr="{&quot;isTemplate&quot;:true,&quot;type&quot;:&quot;text&quot;}"/>
          <p:cNvSpPr txBox="1"/>
          <p:nvPr/>
        </p:nvSpPr>
        <p:spPr>
          <a:xfrm rot="0" flipH="0" flipV="0">
            <a:off x="6505575" y="3124200"/>
            <a:ext cx="5143500" cy="180975"/>
          </a:xfrm>
          <a:prstGeom prst="rect"/>
        </p:spPr>
        <p:txBody>
          <a:bodyPr wrap="none" lIns="0" tIns="0" rIns="0" bIns="0"/>
          <a:p>
            <a:pPr>
              <a:lnSpc>
                <a:spcPct val="100000"/>
              </a:lnSpc>
            </a:pPr>
            <a:r>
              <a:rPr lang="en-US" sz="1163" b="1">
                <a:solidFill>
                  <a:srgbClr val="0E3F8C"/>
                </a:solidFill>
                <a:latin typeface="Microsoft YaHei"/>
                <a:ea typeface="Microsoft YaHei"/>
              </a:rPr>
              <a:t>Why Pay for Order is a use case</a:t>
            </a:r>
            <a:endParaRPr/>
          </a:p>
        </p:txBody>
      </p:sp>
      <p:sp>
        <p:nvSpPr>
          <p:cNvPr id="247" name="" descr="{&quot;isTemplate&quot;:true,&quot;type&quot;:&quot;text&quot;}"/>
          <p:cNvSpPr txBox="1"/>
          <p:nvPr/>
        </p:nvSpPr>
        <p:spPr>
          <a:xfrm rot="0" flipH="0" flipV="0">
            <a:off x="6505575" y="3352800"/>
            <a:ext cx="514350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A student can pay a later order without placing a new one. It is a goal somebody has, so it earns its own ellipse.</a:t>
            </a:r>
            <a:endParaRPr/>
          </a:p>
        </p:txBody>
      </p:sp>
      <p:sp>
        <p:nvSpPr>
          <p:cNvPr id="248" name=""/>
          <p:cNvSpPr/>
          <p:nvPr/>
        </p:nvSpPr>
        <p:spPr>
          <a:xfrm rot="0" flipH="0" flipV="0">
            <a:off x="6343650" y="4076700"/>
            <a:ext cx="5467350" cy="971550"/>
          </a:xfrm>
          <a:prstGeom prst="roundRect">
            <a:avLst>
              <a:gd name="adj" fmla="val 8824"/>
            </a:avLst>
          </a:prstGeom>
          <a:solidFill>
            <a:srgbClr val="FFFFFF"/>
          </a:solidFill>
          <a:ln w="12700">
            <a:solidFill>
              <a:srgbClr val="D6DCE5"/>
            </a:solidFill>
            <a:prstDash val="solid"/>
          </a:ln>
        </p:spPr>
        <p:txBody>
          <a:bodyPr/>
          <a:p>
            <a:pPr/>
            <a:endParaRPr/>
          </a:p>
        </p:txBody>
      </p:sp>
      <p:sp>
        <p:nvSpPr>
          <p:cNvPr id="249" name="" descr="{&quot;isTemplate&quot;:true,&quot;type&quot;:&quot;text&quot;}"/>
          <p:cNvSpPr txBox="1"/>
          <p:nvPr/>
        </p:nvSpPr>
        <p:spPr>
          <a:xfrm rot="0" flipH="0" flipV="0">
            <a:off x="6505575" y="4210050"/>
            <a:ext cx="5143500" cy="180975"/>
          </a:xfrm>
          <a:prstGeom prst="rect"/>
        </p:spPr>
        <p:txBody>
          <a:bodyPr wrap="none" lIns="0" tIns="0" rIns="0" bIns="0"/>
          <a:p>
            <a:pPr>
              <a:lnSpc>
                <a:spcPct val="100000"/>
              </a:lnSpc>
            </a:pPr>
            <a:r>
              <a:rPr lang="en-US" sz="1163" b="1">
                <a:solidFill>
                  <a:srgbClr val="0E3F8C"/>
                </a:solidFill>
                <a:latin typeface="Microsoft YaHei"/>
                <a:ea typeface="Microsoft YaHei"/>
              </a:rPr>
              <a:t>Why the provider is an actor</a:t>
            </a:r>
            <a:endParaRPr/>
          </a:p>
        </p:txBody>
      </p:sp>
      <p:sp>
        <p:nvSpPr>
          <p:cNvPr id="250" name="" descr="{&quot;isTemplate&quot;:true,&quot;type&quot;:&quot;text&quot;}"/>
          <p:cNvSpPr txBox="1"/>
          <p:nvPr/>
        </p:nvSpPr>
        <p:spPr>
          <a:xfrm rot="0" flipH="0" flipV="0">
            <a:off x="6505575" y="4438650"/>
            <a:ext cx="514350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We do not own the card network, so we cannot change how it behaves. It sits outside the box and serves us.</a:t>
            </a:r>
            <a:endParaRPr/>
          </a:p>
        </p:txBody>
      </p:sp>
      <p:sp>
        <p:nvSpPr>
          <p:cNvPr id="251" name=""/>
          <p:cNvSpPr/>
          <p:nvPr/>
        </p:nvSpPr>
        <p:spPr>
          <a:xfrm rot="0" flipH="0" flipV="0">
            <a:off x="6372225" y="5162550"/>
            <a:ext cx="5467350" cy="676275"/>
          </a:xfrm>
          <a:prstGeom prst="roundRect">
            <a:avLst>
              <a:gd name="adj" fmla="val 11268"/>
            </a:avLst>
          </a:prstGeom>
          <a:solidFill>
            <a:srgbClr val="FDF3F3"/>
          </a:solidFill>
          <a:ln/>
        </p:spPr>
        <p:txBody>
          <a:bodyPr/>
          <a:p>
            <a:pPr/>
            <a:endParaRPr/>
          </a:p>
        </p:txBody>
      </p:sp>
      <p:sp>
        <p:nvSpPr>
          <p:cNvPr id="252" name=""/>
          <p:cNvSpPr/>
          <p:nvPr/>
        </p:nvSpPr>
        <p:spPr>
          <a:xfrm rot="0" flipH="0" flipV="0">
            <a:off x="6372225" y="5162550"/>
            <a:ext cx="5467350" cy="676275"/>
          </a:xfrm>
          <a:custGeom>
            <a:pathLst>
              <a:path w="574" h="71">
                <a:moveTo>
                  <a:pt x="8" y="0"/>
                </a:moveTo>
                <a:cubicBezTo>
                  <a:pt x="5" y="0"/>
                  <a:pt x="3" y="2"/>
                  <a:pt x="3" y="5"/>
                </a:cubicBezTo>
                <a:lnTo>
                  <a:pt x="3" y="66"/>
                </a:lnTo>
                <a:cubicBezTo>
                  <a:pt x="3" y="68"/>
                  <a:pt x="5" y="70"/>
                  <a:pt x="7" y="71"/>
                </a:cubicBezTo>
                <a:cubicBezTo>
                  <a:pt x="3" y="70"/>
                  <a:pt x="0" y="67"/>
                  <a:pt x="0" y="63"/>
                </a:cubicBezTo>
                <a:lnTo>
                  <a:pt x="0" y="8"/>
                </a:lnTo>
                <a:cubicBezTo>
                  <a:pt x="0" y="4"/>
                  <a:pt x="3" y="0"/>
                  <a:pt x="8" y="0"/>
                </a:cubicBezTo>
                <a:close/>
              </a:path>
            </a:pathLst>
          </a:custGeom>
          <a:solidFill>
            <a:srgbClr val="D9534F"/>
          </a:solidFill>
          <a:ln/>
        </p:spPr>
        <p:txBody>
          <a:bodyPr/>
          <a:p>
            <a:pPr/>
            <a:endParaRPr/>
          </a:p>
        </p:txBody>
      </p:sp>
      <p:sp>
        <p:nvSpPr>
          <p:cNvPr id="253" name="" descr="{&quot;isTemplate&quot;:true,&quot;type&quot;:&quot;text&quot;}"/>
          <p:cNvSpPr txBox="1"/>
          <p:nvPr/>
        </p:nvSpPr>
        <p:spPr>
          <a:xfrm rot="0" flipH="0" flipV="0">
            <a:off x="6524625" y="5276850"/>
            <a:ext cx="5133975" cy="447675"/>
          </a:xfrm>
          <a:prstGeom prst="rect"/>
        </p:spPr>
        <p:txBody>
          <a:bodyPr wrap="square" lIns="0" tIns="0" rIns="0" bIns="0">
            <a:normAutofit/>
          </a:bodyPr>
          <a:p>
            <a:pPr>
              <a:lnSpc>
                <a:spcPct val="155000"/>
              </a:lnSpc>
            </a:pPr>
            <a:r>
              <a:rPr lang="en-US" sz="938">
                <a:solidFill>
                  <a:srgbClr val="4A5568"/>
                </a:solidFill>
                <a:latin typeface="Microsoft YaHei"/>
                <a:ea typeface="Microsoft YaHei"/>
              </a:rPr>
              <a:t>Check the arrows. </a:t>
            </a:r>
            <a:r>
              <a:rPr lang="en-US" sz="938">
                <a:solidFill>
                  <a:srgbClr val="4A5568"/>
                </a:solidFill>
                <a:latin typeface="Microsoft YaHei"/>
                <a:ea typeface="Microsoft YaHei"/>
              </a:rPr>
              <a:t>The dashed arrow leaves Place Order and arrives at Authenticate. If yours points the other way, you have described the opposite relationship.</a:t>
            </a:r>
            <a:endParaRPr/>
          </a:p>
        </p:txBody>
      </p:sp>
      <p:sp>
        <p:nvSpPr>
          <p:cNvPr id="254" name="" descr="{&quot;isTemplate&quot;:true,&quot;type&quot;:&quot;text&quot;}"/>
          <p:cNvSpPr txBox="1"/>
          <p:nvPr/>
        </p:nvSpPr>
        <p:spPr>
          <a:xfrm rot="0" flipH="0" flipV="0">
            <a:off x="381000" y="6619875"/>
            <a:ext cx="59055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Read every dashed arrow out loud — the direction is where most first diagrams go wrong</a:t>
            </a:r>
            <a:endParaRPr/>
          </a:p>
        </p:txBody>
      </p:sp>
      <p:sp>
        <p:nvSpPr>
          <p:cNvPr id="255"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18 / 38</a:t>
            </a:r>
            <a:endParaRPr/>
          </a:p>
        </p:txBody>
      </p:sp>
    </p:spTree>
  </p:cSld>
</p:sld>
</file>

<file path=ppt/slides/slide19.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256" name=""/>
        <p:cNvGrpSpPr/>
        <p:nvPr/>
      </p:nvGrpSpPr>
      <p:grpSpPr>
        <a:xfrm>
          <a:off x="0" y="0"/>
          <a:ext cx="0" cy="0"/>
          <a:chOff x="0" y="0"/>
          <a:chExt cx="0" cy="0"/>
        </a:xfrm>
      </p:grpSpPr>
      <p:sp>
        <p:nvSpPr>
          <p:cNvPr id="257" name=""/>
          <p:cNvSpPr/>
          <p:nvPr/>
        </p:nvSpPr>
        <p:spPr>
          <a:xfrm rot="0" flipH="0" flipV="0">
            <a:off x="0" y="0"/>
            <a:ext cx="12192000" cy="6858000"/>
          </a:xfrm>
          <a:prstGeom prst="rect">
            <a:avLst/>
          </a:prstGeom>
          <a:solidFill>
            <a:srgbClr val="FFFFFF"/>
          </a:solidFill>
          <a:ln/>
        </p:spPr>
        <p:txBody>
          <a:bodyPr/>
          <a:p>
            <a:pPr/>
            <a:endParaRPr/>
          </a:p>
        </p:txBody>
      </p:sp>
      <p:sp>
        <p:nvSpPr>
          <p:cNvPr id="258" name=""/>
          <p:cNvSpPr/>
          <p:nvPr/>
        </p:nvSpPr>
        <p:spPr>
          <a:xfrm rot="0" flipH="0" flipV="0">
            <a:off x="0" y="0"/>
            <a:ext cx="12192000" cy="685800"/>
          </a:xfrm>
          <a:prstGeom prst="rect">
            <a:avLst/>
          </a:prstGeom>
          <a:solidFill>
            <a:srgbClr val="1E4FA8"/>
          </a:solidFill>
          <a:ln/>
        </p:spPr>
        <p:txBody>
          <a:bodyPr/>
          <a:p>
            <a:pPr/>
            <a:endParaRPr/>
          </a:p>
        </p:txBody>
      </p:sp>
      <p:sp>
        <p:nvSpPr>
          <p:cNvPr id="259"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60" name="" descr="{&quot;isTemplate&quot;:true,&quot;type&quot;:&quot;text&quot;}"/>
          <p:cNvSpPr txBox="1"/>
          <p:nvPr/>
        </p:nvSpPr>
        <p:spPr>
          <a:xfrm rot="0" flipH="0" flipV="0">
            <a:off x="9629775" y="257175"/>
            <a:ext cx="2181225" cy="171450"/>
          </a:xfrm>
          <a:prstGeom prst="rect"/>
        </p:spPr>
        <p:txBody>
          <a:bodyPr wrap="none" lIns="0" tIns="0" rIns="0" bIns="0"/>
          <a:p>
            <a:pPr>
              <a:lnSpc>
                <a:spcPct val="100000"/>
              </a:lnSpc>
            </a:pPr>
            <a:r>
              <a:rPr lang="en-US" sz="1125">
                <a:solidFill>
                  <a:srgbClr val="B9CDF0"/>
                </a:solidFill>
                <a:latin typeface="Microsoft YaHei"/>
                <a:ea typeface="Microsoft YaHei"/>
              </a:rPr>
              <a:t>W04 · THE USE CASE DIAGRAM</a:t>
            </a:r>
            <a:endParaRPr/>
          </a:p>
        </p:txBody>
      </p:sp>
      <p:sp>
        <p:nvSpPr>
          <p:cNvPr id="261" name="" descr="{&quot;isTemplate&quot;:true,&quot;type&quot;:&quot;text&quot;}"/>
          <p:cNvSpPr txBox="1"/>
          <p:nvPr/>
        </p:nvSpPr>
        <p:spPr>
          <a:xfrm rot="0" flipH="0" flipV="0">
            <a:off x="381000" y="819150"/>
            <a:ext cx="4238625" cy="333375"/>
          </a:xfrm>
          <a:prstGeom prst="rect"/>
        </p:spPr>
        <p:txBody>
          <a:bodyPr wrap="none" lIns="0" tIns="0" rIns="0" bIns="0"/>
          <a:p>
            <a:pPr>
              <a:lnSpc>
                <a:spcPct val="100000"/>
              </a:lnSpc>
            </a:pPr>
            <a:r>
              <a:rPr lang="en-US" sz="2175" b="1">
                <a:solidFill>
                  <a:srgbClr val="0E3F8C"/>
                </a:solidFill>
                <a:latin typeface="Microsoft YaHei"/>
                <a:ea typeface="Microsoft YaHei"/>
              </a:rPr>
              <a:t>Three Mistakes Everyone Makes</a:t>
            </a:r>
            <a:endParaRPr/>
          </a:p>
        </p:txBody>
      </p:sp>
      <p:sp>
        <p:nvSpPr>
          <p:cNvPr id="262"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19 / 38</a:t>
            </a:r>
            <a:endParaRPr/>
          </a:p>
        </p:txBody>
      </p:sp>
      <p:sp>
        <p:nvSpPr>
          <p:cNvPr id="263" name=""/>
          <p:cNvSpPr/>
          <p:nvPr/>
        </p:nvSpPr>
        <p:spPr>
          <a:xfrm rot="0" flipH="0" flipV="0">
            <a:off x="1581150" y="2066925"/>
            <a:ext cx="9086850" cy="1123950"/>
          </a:xfrm>
          <a:prstGeom prst="roundRect">
            <a:avLst>
              <a:gd name="adj" fmla="val 8475"/>
            </a:avLst>
          </a:prstGeom>
          <a:solidFill>
            <a:srgbClr val="F0F5FC"/>
          </a:solidFill>
          <a:ln/>
        </p:spPr>
        <p:txBody>
          <a:bodyPr/>
          <a:p>
            <a:pPr/>
            <a:endParaRPr/>
          </a:p>
        </p:txBody>
      </p:sp>
      <p:sp>
        <p:nvSpPr>
          <p:cNvPr id="264" name=""/>
          <p:cNvSpPr/>
          <p:nvPr/>
        </p:nvSpPr>
        <p:spPr>
          <a:xfrm rot="0" flipH="0" flipV="0">
            <a:off x="1581150" y="2066925"/>
            <a:ext cx="9086850" cy="1123950"/>
          </a:xfrm>
          <a:custGeom>
            <a:pathLst>
              <a:path w="954" h="118">
                <a:moveTo>
                  <a:pt x="10" y="0"/>
                </a:moveTo>
                <a:cubicBezTo>
                  <a:pt x="8" y="0"/>
                  <a:pt x="6" y="2"/>
                  <a:pt x="6" y="4"/>
                </a:cubicBezTo>
                <a:lnTo>
                  <a:pt x="6" y="114"/>
                </a:lnTo>
                <a:cubicBezTo>
                  <a:pt x="6" y="116"/>
                  <a:pt x="8" y="118"/>
                  <a:pt x="10" y="118"/>
                </a:cubicBezTo>
                <a:cubicBezTo>
                  <a:pt x="4" y="118"/>
                  <a:pt x="0" y="113"/>
                  <a:pt x="0" y="108"/>
                </a:cubicBezTo>
                <a:lnTo>
                  <a:pt x="0" y="10"/>
                </a:lnTo>
                <a:cubicBezTo>
                  <a:pt x="0" y="5"/>
                  <a:pt x="4" y="0"/>
                  <a:pt x="10" y="0"/>
                </a:cubicBezTo>
                <a:close/>
              </a:path>
            </a:pathLst>
          </a:custGeom>
          <a:solidFill>
            <a:srgbClr val="D9534F"/>
          </a:solidFill>
          <a:ln/>
        </p:spPr>
        <p:txBody>
          <a:bodyPr/>
          <a:p>
            <a:pPr/>
            <a:endParaRPr/>
          </a:p>
        </p:txBody>
      </p:sp>
      <p:sp>
        <p:nvSpPr>
          <p:cNvPr id="265" name="" descr="{&quot;isTemplate&quot;:true,&quot;type&quot;:&quot;text&quot;}"/>
          <p:cNvSpPr txBox="1"/>
          <p:nvPr/>
        </p:nvSpPr>
        <p:spPr>
          <a:xfrm rot="0" flipH="0" flipV="0">
            <a:off x="1866900" y="2257425"/>
            <a:ext cx="8515350" cy="742950"/>
          </a:xfrm>
          <a:prstGeom prst="rect"/>
        </p:spPr>
        <p:txBody>
          <a:bodyPr wrap="none" lIns="0" tIns="0" rIns="0" bIns="0"/>
          <a:p>
            <a:pPr algn="ctr">
              <a:lnSpc>
                <a:spcPct val="140000"/>
              </a:lnSpc>
            </a:pPr>
            <a:r>
              <a:rPr lang="en-US" sz="1725" b="1">
                <a:solidFill>
                  <a:srgbClr val="0E3F8C"/>
                </a:solidFill>
                <a:latin typeface="Microsoft YaHei"/>
                <a:ea typeface="Microsoft YaHei"/>
              </a:rPr>
              <a:t>All three come from the same habit: describing what the system does</a:t>
            </a:r>
            <a:endParaRPr/>
          </a:p>
          <a:p>
            <a:pPr algn="ctr">
              <a:lnSpc>
                <a:spcPct val="140000"/>
              </a:lnSpc>
            </a:pPr>
            <a:r>
              <a:rPr lang="en-US" sz="1725" b="1">
                <a:solidFill>
                  <a:srgbClr val="0E3F8C"/>
                </a:solidFill>
                <a:latin typeface="Microsoft YaHei"/>
                <a:ea typeface="Microsoft YaHei"/>
              </a:rPr>
              <a:t>instead of what the actor gets.</a:t>
            </a:r>
            <a:endParaRPr/>
          </a:p>
        </p:txBody>
      </p:sp>
      <p:sp>
        <p:nvSpPr>
          <p:cNvPr id="266" name=""/>
          <p:cNvSpPr/>
          <p:nvPr/>
        </p:nvSpPr>
        <p:spPr>
          <a:xfrm rot="0" flipH="0" flipV="0">
            <a:off x="1524000" y="3381375"/>
            <a:ext cx="2933700" cy="2257425"/>
          </a:xfrm>
          <a:prstGeom prst="roundRect">
            <a:avLst>
              <a:gd name="adj" fmla="val 4219"/>
            </a:avLst>
          </a:prstGeom>
          <a:solidFill>
            <a:srgbClr val="FFFFFF"/>
          </a:solidFill>
          <a:ln w="12700">
            <a:solidFill>
              <a:srgbClr val="D6DCE5"/>
            </a:solidFill>
            <a:prstDash val="solid"/>
          </a:ln>
        </p:spPr>
        <p:txBody>
          <a:bodyPr/>
          <a:p>
            <a:pPr/>
            <a:endParaRPr/>
          </a:p>
        </p:txBody>
      </p:sp>
      <p:pic>
        <p:nvPicPr>
          <p:cNvPr id="267" name=""/>
          <p:cNvPicPr>
            <a:picLocks noChangeAspect="1"/>
          </p:cNvPicPr>
          <p:nvPr/>
        </p:nvPicPr>
        <p:blipFill>
          <a:blip>
            <a:extLst>
              <a:ext uri="{96DAC541-7B7A-43D3-8B79-37D633B846F1}">
                <asvg:svgBlip r:embed="rId1"/>
              </a:ext>
            </a:extLst>
          </a:blip>
          <a:stretch>
            <a:fillRect/>
          </a:stretch>
        </p:blipFill>
        <p:spPr>
          <a:xfrm rot="0" flipH="0" flipV="0">
            <a:off x="1695450" y="3571875"/>
            <a:ext cx="190500" cy="190500"/>
          </a:xfrm>
          <a:prstGeom prst="rect">
            <a:avLst/>
          </a:prstGeom>
          <a:ln/>
        </p:spPr>
      </p:pic>
      <p:sp>
        <p:nvSpPr>
          <p:cNvPr id="268" name="" descr="{&quot;isTemplate&quot;:true,&quot;type&quot;:&quot;text&quot;}"/>
          <p:cNvSpPr txBox="1"/>
          <p:nvPr/>
        </p:nvSpPr>
        <p:spPr>
          <a:xfrm rot="0" flipH="0" flipV="0">
            <a:off x="1962150" y="3571875"/>
            <a:ext cx="2209800" cy="190500"/>
          </a:xfrm>
          <a:prstGeom prst="rect"/>
        </p:spPr>
        <p:txBody>
          <a:bodyPr wrap="none" lIns="0" tIns="0" rIns="0" bIns="0"/>
          <a:p>
            <a:pPr>
              <a:lnSpc>
                <a:spcPct val="100000"/>
              </a:lnSpc>
            </a:pPr>
            <a:r>
              <a:rPr lang="en-US" sz="1200" b="1">
                <a:solidFill>
                  <a:srgbClr val="D9534F"/>
                </a:solidFill>
                <a:latin typeface="Microsoft YaHei"/>
                <a:ea typeface="Microsoft YaHei"/>
              </a:rPr>
              <a:t>01 · Functional decomposition</a:t>
            </a:r>
            <a:endParaRPr/>
          </a:p>
        </p:txBody>
      </p:sp>
      <p:sp>
        <p:nvSpPr>
          <p:cNvPr id="269" name=""/>
          <p:cNvSpPr/>
          <p:nvPr/>
        </p:nvSpPr>
        <p:spPr>
          <a:xfrm rot="0" flipH="0" flipV="0">
            <a:off x="1695450" y="3838575"/>
            <a:ext cx="2590800" cy="619125"/>
          </a:xfrm>
          <a:prstGeom prst="roundRect">
            <a:avLst>
              <a:gd name="adj" fmla="val 9231"/>
            </a:avLst>
          </a:prstGeom>
          <a:solidFill>
            <a:srgbClr val="FDF3F3"/>
          </a:solidFill>
          <a:ln/>
        </p:spPr>
        <p:txBody>
          <a:bodyPr/>
          <a:p>
            <a:pPr/>
            <a:endParaRPr/>
          </a:p>
        </p:txBody>
      </p:sp>
      <p:sp>
        <p:nvSpPr>
          <p:cNvPr id="270" name="" descr="{&quot;isTemplate&quot;:true,&quot;type&quot;:&quot;text&quot;}"/>
          <p:cNvSpPr txBox="1"/>
          <p:nvPr/>
        </p:nvSpPr>
        <p:spPr>
          <a:xfrm rot="0" flipH="0" flipV="0">
            <a:off x="1809750" y="3933825"/>
            <a:ext cx="2362200" cy="428625"/>
          </a:xfrm>
          <a:prstGeom prst="rect"/>
        </p:spPr>
        <p:txBody>
          <a:bodyPr wrap="square" lIns="0" tIns="0" rIns="0" bIns="0">
            <a:normAutofit/>
          </a:bodyPr>
          <a:p>
            <a:pPr>
              <a:lnSpc>
                <a:spcPct val="150000"/>
              </a:lnSpc>
            </a:pPr>
            <a:r>
              <a:rPr lang="en-US" sz="938">
                <a:solidFill>
                  <a:srgbClr val="4A5568"/>
                </a:solidFill>
                <a:latin typeface="Microsoft YaHei"/>
                <a:ea typeface="Microsoft YaHei"/>
              </a:rPr>
              <a:t>Enter Address → Choose Restaurant → Add Item → Confirm → Pay</a:t>
            </a:r>
            <a:endParaRPr/>
          </a:p>
        </p:txBody>
      </p:sp>
      <p:sp>
        <p:nvSpPr>
          <p:cNvPr id="271" name="" descr="{&quot;isTemplate&quot;:true,&quot;type&quot;:&quot;text&quot;}"/>
          <p:cNvSpPr txBox="1"/>
          <p:nvPr/>
        </p:nvSpPr>
        <p:spPr>
          <a:xfrm rot="0" flipH="0" flipV="0">
            <a:off x="1695450" y="4533900"/>
            <a:ext cx="2590800" cy="914400"/>
          </a:xfrm>
          <a:prstGeom prst="rect"/>
        </p:spPr>
        <p:txBody>
          <a:bodyPr wrap="square" lIns="0" tIns="0" rIns="0" bIns="0">
            <a:normAutofit/>
          </a:bodyPr>
          <a:p>
            <a:pPr>
              <a:lnSpc>
                <a:spcPct val="160000"/>
              </a:lnSpc>
            </a:pPr>
            <a:r>
              <a:rPr lang="en-US" sz="938">
                <a:solidFill>
                  <a:srgbClr val="4A5568"/>
                </a:solidFill>
                <a:latin typeface="Microsoft YaHei"/>
                <a:ea typeface="Microsoft YaHei"/>
              </a:rPr>
              <a:t>Five “use cases” that are really five steps of one. The student has exactly one goal: get lunch. Everything else is a line inside the scenario — Week 05.</a:t>
            </a:r>
            <a:endParaRPr/>
          </a:p>
        </p:txBody>
      </p:sp>
      <p:sp>
        <p:nvSpPr>
          <p:cNvPr id="272" name=""/>
          <p:cNvSpPr/>
          <p:nvPr/>
        </p:nvSpPr>
        <p:spPr>
          <a:xfrm rot="0" flipH="0" flipV="0">
            <a:off x="4629150" y="3381375"/>
            <a:ext cx="2933700" cy="2257425"/>
          </a:xfrm>
          <a:prstGeom prst="roundRect">
            <a:avLst>
              <a:gd name="adj" fmla="val 4219"/>
            </a:avLst>
          </a:prstGeom>
          <a:solidFill>
            <a:srgbClr val="FFFFFF"/>
          </a:solidFill>
          <a:ln w="12700">
            <a:solidFill>
              <a:srgbClr val="D6DCE5"/>
            </a:solidFill>
            <a:prstDash val="solid"/>
          </a:ln>
        </p:spPr>
        <p:txBody>
          <a:bodyPr/>
          <a:p>
            <a:pPr/>
            <a:endParaRPr/>
          </a:p>
        </p:txBody>
      </p:sp>
      <p:pic>
        <p:nvPicPr>
          <p:cNvPr id="273" name=""/>
          <p:cNvPicPr>
            <a:picLocks noChangeAspect="1"/>
          </p:cNvPicPr>
          <p:nvPr/>
        </p:nvPicPr>
        <p:blipFill>
          <a:blip>
            <a:extLst>
              <a:ext uri="{96DAC541-7B7A-43D3-8B79-37D633B846F1}">
                <asvg:svgBlip r:embed="rId2"/>
              </a:ext>
            </a:extLst>
          </a:blip>
          <a:stretch>
            <a:fillRect/>
          </a:stretch>
        </p:blipFill>
        <p:spPr>
          <a:xfrm rot="0" flipH="0" flipV="0">
            <a:off x="4800600" y="3571875"/>
            <a:ext cx="190500" cy="190500"/>
          </a:xfrm>
          <a:prstGeom prst="rect">
            <a:avLst/>
          </a:prstGeom>
          <a:ln/>
        </p:spPr>
      </p:pic>
      <p:sp>
        <p:nvSpPr>
          <p:cNvPr id="274" name="" descr="{&quot;isTemplate&quot;:true,&quot;type&quot;:&quot;text&quot;}"/>
          <p:cNvSpPr txBox="1"/>
          <p:nvPr/>
        </p:nvSpPr>
        <p:spPr>
          <a:xfrm rot="0" flipH="0" flipV="0">
            <a:off x="5067300" y="3571875"/>
            <a:ext cx="1733550" cy="190500"/>
          </a:xfrm>
          <a:prstGeom prst="rect"/>
        </p:spPr>
        <p:txBody>
          <a:bodyPr wrap="none" lIns="0" tIns="0" rIns="0" bIns="0"/>
          <a:p>
            <a:pPr>
              <a:lnSpc>
                <a:spcPct val="100000"/>
              </a:lnSpc>
            </a:pPr>
            <a:r>
              <a:rPr lang="en-US" sz="1200" b="1">
                <a:solidFill>
                  <a:srgbClr val="D9534F"/>
                </a:solidFill>
                <a:latin typeface="Microsoft YaHei"/>
                <a:ea typeface="Microsoft YaHei"/>
              </a:rPr>
              <a:t>02 · CRUD as use cases</a:t>
            </a:r>
            <a:endParaRPr/>
          </a:p>
        </p:txBody>
      </p:sp>
      <p:sp>
        <p:nvSpPr>
          <p:cNvPr id="275" name=""/>
          <p:cNvSpPr/>
          <p:nvPr/>
        </p:nvSpPr>
        <p:spPr>
          <a:xfrm rot="0" flipH="0" flipV="0">
            <a:off x="4800600" y="3838575"/>
            <a:ext cx="2590800" cy="619125"/>
          </a:xfrm>
          <a:prstGeom prst="roundRect">
            <a:avLst>
              <a:gd name="adj" fmla="val 9231"/>
            </a:avLst>
          </a:prstGeom>
          <a:solidFill>
            <a:srgbClr val="FDF3F3"/>
          </a:solidFill>
          <a:ln/>
        </p:spPr>
        <p:txBody>
          <a:bodyPr/>
          <a:p>
            <a:pPr/>
            <a:endParaRPr/>
          </a:p>
        </p:txBody>
      </p:sp>
      <p:sp>
        <p:nvSpPr>
          <p:cNvPr id="276" name="" descr="{&quot;isTemplate&quot;:true,&quot;type&quot;:&quot;text&quot;}"/>
          <p:cNvSpPr txBox="1"/>
          <p:nvPr/>
        </p:nvSpPr>
        <p:spPr>
          <a:xfrm rot="0" flipH="0" flipV="0">
            <a:off x="4914900" y="3933825"/>
            <a:ext cx="2362200" cy="428625"/>
          </a:xfrm>
          <a:prstGeom prst="rect"/>
        </p:spPr>
        <p:txBody>
          <a:bodyPr wrap="square" lIns="0" tIns="0" rIns="0" bIns="0">
            <a:normAutofit/>
          </a:bodyPr>
          <a:p>
            <a:pPr>
              <a:lnSpc>
                <a:spcPct val="150000"/>
              </a:lnSpc>
            </a:pPr>
            <a:r>
              <a:rPr lang="en-US" sz="938">
                <a:solidFill>
                  <a:srgbClr val="4A5568"/>
                </a:solidFill>
                <a:latin typeface="Microsoft YaHei"/>
                <a:ea typeface="Microsoft YaHei"/>
              </a:rPr>
              <a:t>Create Order · Read Order · Update Order · Delete Order</a:t>
            </a:r>
            <a:endParaRPr/>
          </a:p>
        </p:txBody>
      </p:sp>
      <p:sp>
        <p:nvSpPr>
          <p:cNvPr id="277" name="" descr="{&quot;isTemplate&quot;:true,&quot;type&quot;:&quot;text&quot;}"/>
          <p:cNvSpPr txBox="1"/>
          <p:nvPr/>
        </p:nvSpPr>
        <p:spPr>
          <a:xfrm rot="0" flipH="0" flipV="0">
            <a:off x="4800600" y="4533900"/>
            <a:ext cx="2590800" cy="685800"/>
          </a:xfrm>
          <a:prstGeom prst="rect"/>
        </p:spPr>
        <p:txBody>
          <a:bodyPr wrap="square" lIns="0" tIns="0" rIns="0" bIns="0">
            <a:normAutofit/>
          </a:bodyPr>
          <a:p>
            <a:pPr>
              <a:lnSpc>
                <a:spcPct val="160000"/>
              </a:lnSpc>
            </a:pPr>
            <a:r>
              <a:rPr lang="en-US" sz="938">
                <a:solidFill>
                  <a:srgbClr val="4A5568"/>
                </a:solidFill>
                <a:latin typeface="Microsoft YaHei"/>
                <a:ea typeface="Microsoft YaHei"/>
              </a:rPr>
              <a:t>You have modelled a table. Ask who wakes up wanting this: nobody wants to “update an order”. They want to change the address, or cancel it.</a:t>
            </a:r>
            <a:endParaRPr/>
          </a:p>
        </p:txBody>
      </p:sp>
      <p:sp>
        <p:nvSpPr>
          <p:cNvPr id="278" name=""/>
          <p:cNvSpPr/>
          <p:nvPr/>
        </p:nvSpPr>
        <p:spPr>
          <a:xfrm rot="0" flipH="0" flipV="0">
            <a:off x="7734300" y="3381375"/>
            <a:ext cx="2933700" cy="2257425"/>
          </a:xfrm>
          <a:prstGeom prst="roundRect">
            <a:avLst>
              <a:gd name="adj" fmla="val 4219"/>
            </a:avLst>
          </a:prstGeom>
          <a:solidFill>
            <a:srgbClr val="FFFFFF"/>
          </a:solidFill>
          <a:ln w="12700">
            <a:solidFill>
              <a:srgbClr val="D6DCE5"/>
            </a:solidFill>
            <a:prstDash val="solid"/>
          </a:ln>
        </p:spPr>
        <p:txBody>
          <a:bodyPr/>
          <a:p>
            <a:pPr/>
            <a:endParaRPr/>
          </a:p>
        </p:txBody>
      </p:sp>
      <p:pic>
        <p:nvPicPr>
          <p:cNvPr id="279" name=""/>
          <p:cNvPicPr>
            <a:picLocks noChangeAspect="1"/>
          </p:cNvPicPr>
          <p:nvPr/>
        </p:nvPicPr>
        <p:blipFill>
          <a:blip>
            <a:extLst>
              <a:ext uri="{96DAC541-7B7A-43D3-8B79-37D633B846F1}">
                <asvg:svgBlip r:embed="rId3"/>
              </a:ext>
            </a:extLst>
          </a:blip>
          <a:stretch>
            <a:fillRect/>
          </a:stretch>
        </p:blipFill>
        <p:spPr>
          <a:xfrm rot="0" flipH="0" flipV="0">
            <a:off x="7905750" y="3571875"/>
            <a:ext cx="190500" cy="190500"/>
          </a:xfrm>
          <a:prstGeom prst="rect">
            <a:avLst/>
          </a:prstGeom>
          <a:ln/>
        </p:spPr>
      </p:pic>
      <p:sp>
        <p:nvSpPr>
          <p:cNvPr id="280" name="" descr="{&quot;isTemplate&quot;:true,&quot;type&quot;:&quot;text&quot;}"/>
          <p:cNvSpPr txBox="1"/>
          <p:nvPr/>
        </p:nvSpPr>
        <p:spPr>
          <a:xfrm rot="0" flipH="0" flipV="0">
            <a:off x="8172450" y="3571875"/>
            <a:ext cx="2047875" cy="190500"/>
          </a:xfrm>
          <a:prstGeom prst="rect"/>
        </p:spPr>
        <p:txBody>
          <a:bodyPr wrap="none" lIns="0" tIns="0" rIns="0" bIns="0"/>
          <a:p>
            <a:pPr>
              <a:lnSpc>
                <a:spcPct val="100000"/>
              </a:lnSpc>
            </a:pPr>
            <a:r>
              <a:rPr lang="en-US" sz="1200" b="1">
                <a:solidFill>
                  <a:srgbClr val="D9534F"/>
                </a:solidFill>
                <a:latin typeface="Microsoft YaHei"/>
                <a:ea typeface="Microsoft YaHei"/>
              </a:rPr>
              <a:t>03 · External systems inside</a:t>
            </a:r>
            <a:endParaRPr/>
          </a:p>
        </p:txBody>
      </p:sp>
      <p:sp>
        <p:nvSpPr>
          <p:cNvPr id="281" name=""/>
          <p:cNvSpPr/>
          <p:nvPr/>
        </p:nvSpPr>
        <p:spPr>
          <a:xfrm rot="0" flipH="0" flipV="0">
            <a:off x="7905750" y="3838575"/>
            <a:ext cx="2590800" cy="619125"/>
          </a:xfrm>
          <a:prstGeom prst="roundRect">
            <a:avLst>
              <a:gd name="adj" fmla="val 9231"/>
            </a:avLst>
          </a:prstGeom>
          <a:solidFill>
            <a:srgbClr val="FDF3F3"/>
          </a:solidFill>
          <a:ln/>
        </p:spPr>
        <p:txBody>
          <a:bodyPr/>
          <a:p>
            <a:pPr/>
            <a:endParaRPr/>
          </a:p>
        </p:txBody>
      </p:sp>
      <p:sp>
        <p:nvSpPr>
          <p:cNvPr id="282" name="" descr="{&quot;isTemplate&quot;:true,&quot;type&quot;:&quot;text&quot;}"/>
          <p:cNvSpPr txBox="1"/>
          <p:nvPr/>
        </p:nvSpPr>
        <p:spPr>
          <a:xfrm rot="0" flipH="0" flipV="0">
            <a:off x="8020050" y="3933825"/>
            <a:ext cx="2362200" cy="428625"/>
          </a:xfrm>
          <a:prstGeom prst="rect"/>
        </p:spPr>
        <p:txBody>
          <a:bodyPr wrap="square" lIns="0" tIns="0" rIns="0" bIns="0">
            <a:normAutofit/>
          </a:bodyPr>
          <a:p>
            <a:pPr>
              <a:lnSpc>
                <a:spcPct val="150000"/>
              </a:lnSpc>
            </a:pPr>
            <a:r>
              <a:rPr lang="en-US" sz="938">
                <a:solidFill>
                  <a:srgbClr val="4A5568"/>
                </a:solidFill>
                <a:latin typeface="Microsoft YaHei"/>
                <a:ea typeface="Microsoft YaHei"/>
              </a:rPr>
              <a:t>Process Payment · Send SMS · Charge Campus Card</a:t>
            </a:r>
            <a:endParaRPr/>
          </a:p>
        </p:txBody>
      </p:sp>
      <p:sp>
        <p:nvSpPr>
          <p:cNvPr id="283" name="" descr="{&quot;isTemplate&quot;:true,&quot;type&quot;:&quot;text&quot;}"/>
          <p:cNvSpPr txBox="1"/>
          <p:nvPr/>
        </p:nvSpPr>
        <p:spPr>
          <a:xfrm rot="0" flipH="0" flipV="0">
            <a:off x="7905750" y="4533900"/>
            <a:ext cx="2590800" cy="685800"/>
          </a:xfrm>
          <a:prstGeom prst="rect"/>
        </p:spPr>
        <p:txBody>
          <a:bodyPr wrap="square" lIns="0" tIns="0" rIns="0" bIns="0">
            <a:normAutofit/>
          </a:bodyPr>
          <a:p>
            <a:pPr>
              <a:lnSpc>
                <a:spcPct val="160000"/>
              </a:lnSpc>
            </a:pPr>
            <a:r>
              <a:rPr lang="en-US" sz="938">
                <a:solidFill>
                  <a:srgbClr val="4A5568"/>
                </a:solidFill>
                <a:latin typeface="Microsoft YaHei"/>
                <a:ea typeface="Microsoft YaHei"/>
              </a:rPr>
              <a:t>If you cannot change how it behaves, it is not your use case. Those three are actors outside the box that serve you.</a:t>
            </a:r>
            <a:endParaRPr/>
          </a:p>
        </p:txBody>
      </p:sp>
      <p:sp>
        <p:nvSpPr>
          <p:cNvPr id="284" name=""/>
          <p:cNvSpPr/>
          <p:nvPr/>
        </p:nvSpPr>
        <p:spPr>
          <a:xfrm rot="0" flipH="0" flipV="0">
            <a:off x="0" y="6419850"/>
            <a:ext cx="12192000" cy="438150"/>
          </a:xfrm>
          <a:prstGeom prst="rect">
            <a:avLst/>
          </a:prstGeom>
          <a:solidFill>
            <a:srgbClr val="0E3F8C"/>
          </a:solidFill>
          <a:ln/>
        </p:spPr>
        <p:txBody>
          <a:bodyPr/>
          <a:p>
            <a:pPr/>
            <a:endParaRPr/>
          </a:p>
        </p:txBody>
      </p:sp>
      <p:sp>
        <p:nvSpPr>
          <p:cNvPr id="285" name="" descr="{&quot;isTemplate&quot;:true,&quot;type&quot;:&quot;text&quot;}"/>
          <p:cNvSpPr txBox="1"/>
          <p:nvPr/>
        </p:nvSpPr>
        <p:spPr>
          <a:xfrm rot="0" flipH="0" flipV="0">
            <a:off x="2047875" y="6543675"/>
            <a:ext cx="8096250" cy="190500"/>
          </a:xfrm>
          <a:prstGeom prst="rect"/>
        </p:spPr>
        <p:txBody>
          <a:bodyPr wrap="none" lIns="0" tIns="0" rIns="0" bIns="0"/>
          <a:p>
            <a:pPr>
              <a:lnSpc>
                <a:spcPct val="100000"/>
              </a:lnSpc>
            </a:pPr>
            <a:r>
              <a:rPr lang="en-US" sz="1200" b="1">
                <a:solidFill>
                  <a:srgbClr val="FFFFFF"/>
                </a:solidFill>
                <a:latin typeface="Microsoft YaHei"/>
                <a:ea typeface="Microsoft YaHei"/>
              </a:rPr>
              <a:t>Count your ellipses. Six to twelve is a healthy diagram; forty means you have modelled the menu, not the goals.</a:t>
            </a:r>
            <a:endParaRPr/>
          </a:p>
        </p:txBody>
      </p:sp>
    </p:spTree>
  </p:cSld>
</p:sld>
</file>

<file path=ppt/slides/slide20.xml><?xml version="1.0" encoding="utf-8"?>
<p:sld xmlns:a="http://schemas.openxmlformats.org/drawingml/2006/main" xmlns:p="http://schemas.openxmlformats.org/presentationml/2006/main">
  <p:cSld>
    <p:spTree>
      <p:nvGrpSpPr>
        <p:cNvPr id="323" name=""/>
        <p:cNvGrpSpPr/>
        <p:nvPr/>
      </p:nvGrpSpPr>
      <p:grpSpPr>
        <a:xfrm>
          <a:off x="0" y="0"/>
          <a:ext cx="0" cy="0"/>
          <a:chOff x="0" y="0"/>
          <a:chExt cx="0" cy="0"/>
        </a:xfrm>
      </p:grpSpPr>
      <p:sp>
        <p:nvSpPr>
          <p:cNvPr id="324" name=""/>
          <p:cNvSpPr/>
          <p:nvPr/>
        </p:nvSpPr>
        <p:spPr>
          <a:xfrm rot="0" flipH="0" flipV="0">
            <a:off x="0" y="0"/>
            <a:ext cx="12192000" cy="6858000"/>
          </a:xfrm>
          <a:prstGeom prst="rect">
            <a:avLst/>
          </a:prstGeom>
          <a:solidFill>
            <a:srgbClr val="0E3F8C"/>
          </a:solidFill>
          <a:ln/>
        </p:spPr>
        <p:txBody>
          <a:bodyPr/>
          <a:p>
            <a:pPr/>
            <a:endParaRPr/>
          </a:p>
        </p:txBody>
      </p:sp>
      <p:sp>
        <p:nvSpPr>
          <p:cNvPr id="32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326" name="" descr="{&quot;isTemplate&quot;:true,&quot;type&quot;:&quot;text&quot;}"/>
          <p:cNvSpPr txBox="1"/>
          <p:nvPr/>
        </p:nvSpPr>
        <p:spPr>
          <a:xfrm rot="0" flipH="0" flipV="0">
            <a:off x="9525" y="2171700"/>
            <a:ext cx="2838450" cy="2514600"/>
          </a:xfrm>
          <a:prstGeom prst="rect"/>
        </p:spPr>
        <p:txBody>
          <a:bodyPr wrap="none" lIns="0" tIns="0" rIns="0" bIns="0"/>
          <a:p>
            <a:pPr>
              <a:lnSpc>
                <a:spcPct val="100000"/>
              </a:lnSpc>
            </a:pPr>
            <a:r>
              <a:rPr lang="en-US" sz="16500" b="1">
                <a:solidFill>
                  <a:srgbClr val="3D7BD9"/>
                </a:solidFill>
                <a:latin typeface="Georgia"/>
                <a:ea typeface="Georgia"/>
              </a:rPr>
              <a:t>04</a:t>
            </a:r>
            <a:endParaRPr/>
          </a:p>
        </p:txBody>
      </p:sp>
      <p:sp>
        <p:nvSpPr>
          <p:cNvPr id="32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32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Include</a:t>
            </a:r>
            <a:endParaRPr/>
          </a:p>
          <a:p>
            <a:pPr>
              <a:lnSpc>
                <a:spcPct val="118000"/>
              </a:lnSpc>
            </a:pPr>
            <a:r>
              <a:rPr lang="en-US" sz="3450" b="1">
                <a:solidFill>
                  <a:srgbClr val="FFFFFF"/>
                </a:solidFill>
                <a:latin typeface="Microsoft YaHei"/>
                <a:ea typeface="Microsoft YaHei"/>
              </a:rPr>
              <a:t>vs. Extend</a:t>
            </a:r>
            <a:endParaRPr/>
          </a:p>
        </p:txBody>
      </p:sp>
      <p:sp>
        <p:nvSpPr>
          <p:cNvPr id="329" name=""/>
          <p:cNvSpPr/>
          <p:nvPr/>
        </p:nvSpPr>
        <p:spPr>
          <a:xfrm rot="0" flipH="0" flipV="0">
            <a:off x="3467100" y="3752850"/>
            <a:ext cx="609600" cy="38100"/>
          </a:xfrm>
          <a:prstGeom prst="rect">
            <a:avLst/>
          </a:prstGeom>
          <a:solidFill>
            <a:srgbClr val="FFC107"/>
          </a:solidFill>
          <a:ln/>
        </p:spPr>
        <p:txBody>
          <a:bodyPr/>
          <a:p>
            <a:pPr/>
            <a:endParaRPr/>
          </a:p>
        </p:txBody>
      </p:sp>
      <p:sp>
        <p:nvSpPr>
          <p:cNvPr id="330" name=""/>
          <p:cNvSpPr/>
          <p:nvPr/>
        </p:nvSpPr>
        <p:spPr>
          <a:xfrm rot="0" flipH="0" flipV="0">
            <a:off x="3467100" y="4114800"/>
            <a:ext cx="76200" cy="76200"/>
          </a:xfrm>
          <a:prstGeom prst="roundRect">
            <a:avLst>
              <a:gd name="adj" fmla="val 50000"/>
            </a:avLst>
          </a:prstGeom>
          <a:solidFill>
            <a:srgbClr val="3D7BD9"/>
          </a:solidFill>
          <a:ln/>
        </p:spPr>
        <p:txBody>
          <a:bodyPr/>
          <a:p>
            <a:pPr/>
            <a:endParaRPr/>
          </a:p>
        </p:txBody>
      </p:sp>
      <p:sp>
        <p:nvSpPr>
          <p:cNvPr id="331" name="" descr="{&quot;isTemplate&quot;:true,&quot;type&quot;:&quot;text&quot;}"/>
          <p:cNvSpPr txBox="1"/>
          <p:nvPr/>
        </p:nvSpPr>
        <p:spPr>
          <a:xfrm rot="0" flipH="0" flipV="0">
            <a:off x="3657600" y="4038600"/>
            <a:ext cx="4848225" cy="228600"/>
          </a:xfrm>
          <a:prstGeom prst="rect"/>
        </p:spPr>
        <p:txBody>
          <a:bodyPr wrap="none" lIns="0" tIns="0" rIns="0" bIns="0"/>
          <a:p>
            <a:pPr>
              <a:lnSpc>
                <a:spcPct val="100000"/>
              </a:lnSpc>
            </a:pPr>
            <a:r>
              <a:rPr lang="en-US" sz="1500">
                <a:solidFill>
                  <a:srgbClr val="C5D4EA"/>
                </a:solidFill>
                <a:latin typeface="Microsoft YaHei"/>
                <a:ea typeface="Microsoft YaHei"/>
              </a:rPr>
              <a:t>include: always happens, the base cannot finish without it</a:t>
            </a:r>
            <a:endParaRPr/>
          </a:p>
        </p:txBody>
      </p:sp>
      <p:sp>
        <p:nvSpPr>
          <p:cNvPr id="332" name=""/>
          <p:cNvSpPr/>
          <p:nvPr/>
        </p:nvSpPr>
        <p:spPr>
          <a:xfrm rot="0" flipH="0" flipV="0">
            <a:off x="3467100" y="4457700"/>
            <a:ext cx="76200" cy="76200"/>
          </a:xfrm>
          <a:prstGeom prst="roundRect">
            <a:avLst>
              <a:gd name="adj" fmla="val 50000"/>
            </a:avLst>
          </a:prstGeom>
          <a:solidFill>
            <a:srgbClr val="3D7BD9"/>
          </a:solidFill>
          <a:ln/>
        </p:spPr>
        <p:txBody>
          <a:bodyPr/>
          <a:p>
            <a:pPr/>
            <a:endParaRPr/>
          </a:p>
        </p:txBody>
      </p:sp>
      <p:sp>
        <p:nvSpPr>
          <p:cNvPr id="333" name="" descr="{&quot;isTemplate&quot;:true,&quot;type&quot;:&quot;text&quot;}"/>
          <p:cNvSpPr txBox="1"/>
          <p:nvPr/>
        </p:nvSpPr>
        <p:spPr>
          <a:xfrm rot="0" flipH="0" flipV="0">
            <a:off x="3657600" y="4381500"/>
            <a:ext cx="4505325" cy="228600"/>
          </a:xfrm>
          <a:prstGeom prst="rect"/>
        </p:spPr>
        <p:txBody>
          <a:bodyPr wrap="none" lIns="0" tIns="0" rIns="0" bIns="0"/>
          <a:p>
            <a:pPr>
              <a:lnSpc>
                <a:spcPct val="100000"/>
              </a:lnSpc>
            </a:pPr>
            <a:r>
              <a:rPr lang="en-US" sz="1500">
                <a:solidFill>
                  <a:srgbClr val="C5D4EA"/>
                </a:solidFill>
                <a:latin typeface="Microsoft YaHei"/>
                <a:ea typeface="Microsoft YaHei"/>
              </a:rPr>
              <a:t>extend: may happen, the base is complete either way</a:t>
            </a:r>
            <a:endParaRPr/>
          </a:p>
        </p:txBody>
      </p:sp>
      <p:sp>
        <p:nvSpPr>
          <p:cNvPr id="334" name=""/>
          <p:cNvSpPr/>
          <p:nvPr/>
        </p:nvSpPr>
        <p:spPr>
          <a:xfrm rot="0" flipH="0" flipV="0">
            <a:off x="3467100" y="4800600"/>
            <a:ext cx="76200" cy="76200"/>
          </a:xfrm>
          <a:prstGeom prst="roundRect">
            <a:avLst>
              <a:gd name="adj" fmla="val 50000"/>
            </a:avLst>
          </a:prstGeom>
          <a:solidFill>
            <a:srgbClr val="3D7BD9"/>
          </a:solidFill>
          <a:ln/>
        </p:spPr>
        <p:txBody>
          <a:bodyPr/>
          <a:p>
            <a:pPr/>
            <a:endParaRPr/>
          </a:p>
        </p:txBody>
      </p:sp>
      <p:sp>
        <p:nvSpPr>
          <p:cNvPr id="335" name="" descr="{&quot;isTemplate&quot;:true,&quot;type&quot;:&quot;text&quot;}"/>
          <p:cNvSpPr txBox="1"/>
          <p:nvPr/>
        </p:nvSpPr>
        <p:spPr>
          <a:xfrm rot="0" flipH="0" flipV="0">
            <a:off x="3657600" y="4724400"/>
            <a:ext cx="4438650" cy="228600"/>
          </a:xfrm>
          <a:prstGeom prst="rect"/>
        </p:spPr>
        <p:txBody>
          <a:bodyPr wrap="none" lIns="0" tIns="0" rIns="0" bIns="0"/>
          <a:p>
            <a:pPr>
              <a:lnSpc>
                <a:spcPct val="100000"/>
              </a:lnSpc>
            </a:pPr>
            <a:r>
              <a:rPr lang="en-US" sz="1500">
                <a:solidFill>
                  <a:srgbClr val="C5D4EA"/>
                </a:solidFill>
                <a:latin typeface="Microsoft YaHei"/>
                <a:ea typeface="Microsoft YaHei"/>
              </a:rPr>
              <a:t>The arrow direction is the part everybody gets wrong</a:t>
            </a:r>
            <a:endParaRPr/>
          </a:p>
        </p:txBody>
      </p:sp>
      <p:sp>
        <p:nvSpPr>
          <p:cNvPr id="336"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21.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337" name=""/>
        <p:cNvGrpSpPr/>
        <p:nvPr/>
      </p:nvGrpSpPr>
      <p:grpSpPr>
        <a:xfrm>
          <a:off x="0" y="0"/>
          <a:ext cx="0" cy="0"/>
          <a:chOff x="0" y="0"/>
          <a:chExt cx="0" cy="0"/>
        </a:xfrm>
      </p:grpSpPr>
      <p:sp>
        <p:nvSpPr>
          <p:cNvPr id="338" name=""/>
          <p:cNvSpPr/>
          <p:nvPr/>
        </p:nvSpPr>
        <p:spPr>
          <a:xfrm rot="0" flipH="0" flipV="0">
            <a:off x="0" y="0"/>
            <a:ext cx="12192000" cy="6858000"/>
          </a:xfrm>
          <a:prstGeom prst="rect">
            <a:avLst/>
          </a:prstGeom>
          <a:solidFill>
            <a:srgbClr val="FFFFFF"/>
          </a:solidFill>
          <a:ln/>
        </p:spPr>
        <p:txBody>
          <a:bodyPr/>
          <a:p>
            <a:pPr/>
            <a:endParaRPr/>
          </a:p>
        </p:txBody>
      </p:sp>
      <p:sp>
        <p:nvSpPr>
          <p:cNvPr id="339" name=""/>
          <p:cNvSpPr/>
          <p:nvPr/>
        </p:nvSpPr>
        <p:spPr>
          <a:xfrm rot="0" flipH="0" flipV="0">
            <a:off x="0" y="0"/>
            <a:ext cx="12192000" cy="685800"/>
          </a:xfrm>
          <a:prstGeom prst="rect">
            <a:avLst/>
          </a:prstGeom>
          <a:solidFill>
            <a:srgbClr val="1E4FA8"/>
          </a:solidFill>
          <a:ln/>
        </p:spPr>
        <p:txBody>
          <a:bodyPr/>
          <a:p>
            <a:pPr/>
            <a:endParaRPr/>
          </a:p>
        </p:txBody>
      </p:sp>
      <p:sp>
        <p:nvSpPr>
          <p:cNvPr id="34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41"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W04 · INCLUDE &amp; EXTEND</a:t>
            </a:r>
            <a:endParaRPr/>
          </a:p>
        </p:txBody>
      </p:sp>
      <p:sp>
        <p:nvSpPr>
          <p:cNvPr id="342" name="" descr="{&quot;isTemplate&quot;:true,&quot;type&quot;:&quot;text&quot;}"/>
          <p:cNvSpPr txBox="1"/>
          <p:nvPr/>
        </p:nvSpPr>
        <p:spPr>
          <a:xfrm rot="0" flipH="0" flipV="0">
            <a:off x="381000" y="800100"/>
            <a:ext cx="4238625" cy="333375"/>
          </a:xfrm>
          <a:prstGeom prst="rect"/>
        </p:spPr>
        <p:txBody>
          <a:bodyPr wrap="none" lIns="0" tIns="0" rIns="0" bIns="0"/>
          <a:p>
            <a:pPr>
              <a:lnSpc>
                <a:spcPct val="100000"/>
              </a:lnSpc>
            </a:pPr>
            <a:r>
              <a:rPr lang="en-US" sz="2175" b="1">
                <a:solidFill>
                  <a:srgbClr val="0E3F8C"/>
                </a:solidFill>
                <a:latin typeface="Microsoft YaHei"/>
                <a:ea typeface="Microsoft YaHei"/>
              </a:rPr>
              <a:t>&lt;&lt;include&gt;&gt; — Always Happens</a:t>
            </a:r>
            <a:endParaRPr/>
          </a:p>
        </p:txBody>
      </p:sp>
      <p:sp>
        <p:nvSpPr>
          <p:cNvPr id="343"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21 / 38</a:t>
            </a:r>
            <a:endParaRPr/>
          </a:p>
        </p:txBody>
      </p:sp>
      <p:pic>
        <p:nvPicPr>
          <p:cNvPr id="344" name=""/>
          <p:cNvPicPr>
            <a:picLocks noChangeAspect="1"/>
          </p:cNvPicPr>
          <p:nvPr/>
        </p:nvPicPr>
        <p:blipFill>
          <a:blip>
            <a:extLst>
              <a:ext uri="{96DAC541-7B7A-43D3-8B79-37D633B846F1}">
                <asvg:svgBlip r:embed="rId1"/>
              </a:ext>
            </a:extLst>
          </a:blip>
          <a:stretch>
            <a:fillRect/>
          </a:stretch>
        </p:blipFill>
        <p:spPr>
          <a:xfrm rot="0" flipH="0" flipV="0">
            <a:off x="381000" y="2200275"/>
            <a:ext cx="5619750" cy="3352800"/>
          </a:xfrm>
          <a:prstGeom prst="rect">
            <a:avLst/>
          </a:prstGeom>
          <a:ln/>
        </p:spPr>
      </p:pic>
      <p:sp>
        <p:nvSpPr>
          <p:cNvPr id="345" name=""/>
          <p:cNvSpPr/>
          <p:nvPr/>
        </p:nvSpPr>
        <p:spPr>
          <a:xfrm rot="0" flipH="0" flipV="0">
            <a:off x="6286500" y="1971675"/>
            <a:ext cx="5562600" cy="1000125"/>
          </a:xfrm>
          <a:prstGeom prst="roundRect">
            <a:avLst>
              <a:gd name="adj" fmla="val 8571"/>
            </a:avLst>
          </a:prstGeom>
          <a:solidFill>
            <a:srgbClr val="F0F5FC"/>
          </a:solidFill>
          <a:ln/>
        </p:spPr>
        <p:txBody>
          <a:bodyPr/>
          <a:p>
            <a:pPr/>
            <a:endParaRPr/>
          </a:p>
        </p:txBody>
      </p:sp>
      <p:sp>
        <p:nvSpPr>
          <p:cNvPr id="346" name=""/>
          <p:cNvSpPr/>
          <p:nvPr/>
        </p:nvSpPr>
        <p:spPr>
          <a:xfrm rot="0" flipH="0" flipV="0">
            <a:off x="6286500" y="1971675"/>
            <a:ext cx="5562600" cy="1000125"/>
          </a:xfrm>
          <a:custGeom>
            <a:pathLst>
              <a:path w="58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a:pPr/>
            <a:endParaRPr/>
          </a:p>
        </p:txBody>
      </p:sp>
      <p:sp>
        <p:nvSpPr>
          <p:cNvPr id="347" name="" descr="{&quot;isTemplate&quot;:true,&quot;type&quot;:&quot;text&quot;}"/>
          <p:cNvSpPr txBox="1"/>
          <p:nvPr/>
        </p:nvSpPr>
        <p:spPr>
          <a:xfrm rot="0" flipH="0" flipV="0">
            <a:off x="6448425" y="2114550"/>
            <a:ext cx="5200650" cy="190500"/>
          </a:xfrm>
          <a:prstGeom prst="rect"/>
        </p:spPr>
        <p:txBody>
          <a:bodyPr wrap="none" lIns="0" tIns="0" rIns="0" bIns="0"/>
          <a:p>
            <a:pPr>
              <a:lnSpc>
                <a:spcPct val="100000"/>
              </a:lnSpc>
            </a:pPr>
            <a:r>
              <a:rPr lang="en-US" sz="1200" b="1">
                <a:solidFill>
                  <a:srgbClr val="0E3F8C"/>
                </a:solidFill>
                <a:latin typeface="Microsoft YaHei"/>
                <a:ea typeface="Microsoft YaHei"/>
              </a:rPr>
              <a:t>The test</a:t>
            </a:r>
            <a:endParaRPr/>
          </a:p>
        </p:txBody>
      </p:sp>
      <p:sp>
        <p:nvSpPr>
          <p:cNvPr id="348" name="" descr="{&quot;isTemplate&quot;:true,&quot;type&quot;:&quot;text&quot;}"/>
          <p:cNvSpPr txBox="1"/>
          <p:nvPr/>
        </p:nvSpPr>
        <p:spPr>
          <a:xfrm rot="0" flipH="0" flipV="0">
            <a:off x="6448425" y="2352675"/>
            <a:ext cx="52006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Delete the included use case from your head. Can the base still reach its goal? If the answer is no, it is an include.</a:t>
            </a:r>
            <a:endParaRPr/>
          </a:p>
        </p:txBody>
      </p:sp>
      <p:sp>
        <p:nvSpPr>
          <p:cNvPr id="349" name=""/>
          <p:cNvSpPr/>
          <p:nvPr/>
        </p:nvSpPr>
        <p:spPr>
          <a:xfrm rot="0" flipH="0" flipV="0">
            <a:off x="6248400" y="3086100"/>
            <a:ext cx="5562600" cy="1000125"/>
          </a:xfrm>
          <a:prstGeom prst="roundRect">
            <a:avLst>
              <a:gd name="adj" fmla="val 8571"/>
            </a:avLst>
          </a:prstGeom>
          <a:solidFill>
            <a:srgbClr val="FFFFFF"/>
          </a:solidFill>
          <a:ln w="12700">
            <a:solidFill>
              <a:srgbClr val="D6DCE5"/>
            </a:solidFill>
            <a:prstDash val="solid"/>
          </a:ln>
        </p:spPr>
        <p:txBody>
          <a:bodyPr/>
          <a:p>
            <a:pPr/>
            <a:endParaRPr/>
          </a:p>
        </p:txBody>
      </p:sp>
      <p:sp>
        <p:nvSpPr>
          <p:cNvPr id="350" name="" descr="{&quot;isTemplate&quot;:true,&quot;type&quot;:&quot;text&quot;}"/>
          <p:cNvSpPr txBox="1"/>
          <p:nvPr/>
        </p:nvSpPr>
        <p:spPr>
          <a:xfrm rot="0" flipH="0" flipV="0">
            <a:off x="6410325" y="3228975"/>
            <a:ext cx="5238750" cy="190500"/>
          </a:xfrm>
          <a:prstGeom prst="rect"/>
        </p:spPr>
        <p:txBody>
          <a:bodyPr wrap="none" lIns="0" tIns="0" rIns="0" bIns="0"/>
          <a:p>
            <a:pPr>
              <a:lnSpc>
                <a:spcPct val="100000"/>
              </a:lnSpc>
            </a:pPr>
            <a:r>
              <a:rPr lang="en-US" sz="1200" b="1">
                <a:solidFill>
                  <a:srgbClr val="0E3F8C"/>
                </a:solidFill>
                <a:latin typeface="Microsoft YaHei"/>
                <a:ea typeface="Microsoft YaHei"/>
              </a:rPr>
              <a:t>It is about reuse, not options</a:t>
            </a:r>
            <a:endParaRPr/>
          </a:p>
        </p:txBody>
      </p:sp>
      <p:sp>
        <p:nvSpPr>
          <p:cNvPr id="351" name="" descr="{&quot;isTemplate&quot;:true,&quot;type&quot;:&quot;text&quot;}"/>
          <p:cNvSpPr txBox="1"/>
          <p:nvPr/>
        </p:nvSpPr>
        <p:spPr>
          <a:xfrm rot="0" flipH="0" flipV="0">
            <a:off x="6410325" y="3467100"/>
            <a:ext cx="52387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You draw it once because three use cases all need it, and you refuse to write “authenticate the user” three times. That is the whole reason.</a:t>
            </a:r>
            <a:endParaRPr/>
          </a:p>
        </p:txBody>
      </p:sp>
      <p:sp>
        <p:nvSpPr>
          <p:cNvPr id="352" name=""/>
          <p:cNvSpPr/>
          <p:nvPr/>
        </p:nvSpPr>
        <p:spPr>
          <a:xfrm rot="0" flipH="0" flipV="0">
            <a:off x="6286500" y="4200525"/>
            <a:ext cx="5562600" cy="1000125"/>
          </a:xfrm>
          <a:prstGeom prst="roundRect">
            <a:avLst>
              <a:gd name="adj" fmla="val 8571"/>
            </a:avLst>
          </a:prstGeom>
          <a:solidFill>
            <a:srgbClr val="FDF3F3"/>
          </a:solidFill>
          <a:ln/>
        </p:spPr>
        <p:txBody>
          <a:bodyPr/>
          <a:p>
            <a:pPr/>
            <a:endParaRPr/>
          </a:p>
        </p:txBody>
      </p:sp>
      <p:sp>
        <p:nvSpPr>
          <p:cNvPr id="353" name=""/>
          <p:cNvSpPr/>
          <p:nvPr/>
        </p:nvSpPr>
        <p:spPr>
          <a:xfrm rot="0" flipH="0" flipV="0">
            <a:off x="6286500" y="4200525"/>
            <a:ext cx="5562600" cy="1000125"/>
          </a:xfrm>
          <a:custGeom>
            <a:pathLst>
              <a:path w="58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D9534F"/>
          </a:solidFill>
          <a:ln/>
        </p:spPr>
        <p:txBody>
          <a:bodyPr/>
          <a:p>
            <a:pPr/>
            <a:endParaRPr/>
          </a:p>
        </p:txBody>
      </p:sp>
      <p:sp>
        <p:nvSpPr>
          <p:cNvPr id="354" name="" descr="{&quot;isTemplate&quot;:true,&quot;type&quot;:&quot;text&quot;}"/>
          <p:cNvSpPr txBox="1"/>
          <p:nvPr/>
        </p:nvSpPr>
        <p:spPr>
          <a:xfrm rot="0" flipH="0" flipV="0">
            <a:off x="6448425" y="4343400"/>
            <a:ext cx="5200650" cy="190500"/>
          </a:xfrm>
          <a:prstGeom prst="rect"/>
        </p:spPr>
        <p:txBody>
          <a:bodyPr wrap="none" lIns="0" tIns="0" rIns="0" bIns="0"/>
          <a:p>
            <a:pPr>
              <a:lnSpc>
                <a:spcPct val="100000"/>
              </a:lnSpc>
            </a:pPr>
            <a:r>
              <a:rPr lang="en-US" sz="1200" b="1">
                <a:solidFill>
                  <a:srgbClr val="D9534F"/>
                </a:solidFill>
                <a:latin typeface="Microsoft YaHei"/>
                <a:ea typeface="Microsoft YaHei"/>
              </a:rPr>
              <a:t>Common misuse</a:t>
            </a:r>
            <a:endParaRPr/>
          </a:p>
        </p:txBody>
      </p:sp>
      <p:sp>
        <p:nvSpPr>
          <p:cNvPr id="355" name="" descr="{&quot;isTemplate&quot;:true,&quot;type&quot;:&quot;text&quot;}"/>
          <p:cNvSpPr txBox="1"/>
          <p:nvPr/>
        </p:nvSpPr>
        <p:spPr>
          <a:xfrm rot="0" flipH="0" flipV="0">
            <a:off x="6448425" y="4581525"/>
            <a:ext cx="52006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Using include to break one use case into steps. Steps belong in the scenario text next week, not in ellipses.</a:t>
            </a:r>
            <a:endParaRPr/>
          </a:p>
        </p:txBody>
      </p:sp>
      <p:sp>
        <p:nvSpPr>
          <p:cNvPr id="356" name=""/>
          <p:cNvSpPr/>
          <p:nvPr/>
        </p:nvSpPr>
        <p:spPr>
          <a:xfrm rot="0" flipH="0" flipV="0">
            <a:off x="6248400" y="5314950"/>
            <a:ext cx="5562600" cy="457200"/>
          </a:xfrm>
          <a:prstGeom prst="roundRect">
            <a:avLst>
              <a:gd name="adj" fmla="val 16667"/>
            </a:avLst>
          </a:prstGeom>
          <a:solidFill>
            <a:srgbClr val="F7F9FC"/>
          </a:solidFill>
          <a:ln w="12700">
            <a:solidFill>
              <a:srgbClr val="D6DCE5"/>
            </a:solidFill>
            <a:prstDash val="dash"/>
          </a:ln>
        </p:spPr>
        <p:txBody>
          <a:bodyPr/>
          <a:p>
            <a:pPr/>
            <a:endParaRPr/>
          </a:p>
        </p:txBody>
      </p:sp>
      <p:sp>
        <p:nvSpPr>
          <p:cNvPr id="357" name="" descr="{&quot;isTemplate&quot;:true,&quot;type&quot;:&quot;text&quot;}"/>
          <p:cNvSpPr txBox="1"/>
          <p:nvPr/>
        </p:nvSpPr>
        <p:spPr>
          <a:xfrm rot="0" flipH="0" flipV="0">
            <a:off x="6400800" y="5429250"/>
            <a:ext cx="5257800" cy="228600"/>
          </a:xfrm>
          <a:prstGeom prst="rect"/>
        </p:spPr>
        <p:txBody>
          <a:bodyPr wrap="none" lIns="0" tIns="0" rIns="0" bIns="0"/>
          <a:p>
            <a:pPr>
              <a:lnSpc>
                <a:spcPct val="155000"/>
              </a:lnSpc>
            </a:pPr>
            <a:r>
              <a:rPr lang="en-US" sz="938">
                <a:solidFill>
                  <a:srgbClr val="8B97A8"/>
                </a:solidFill>
                <a:latin typeface="Microsoft YaHei"/>
                <a:ea typeface="Microsoft YaHei"/>
              </a:rPr>
              <a:t>Memory hook: </a:t>
            </a:r>
            <a:r>
              <a:rPr lang="en-US" sz="938">
                <a:solidFill>
                  <a:srgbClr val="8B97A8"/>
                </a:solidFill>
                <a:latin typeface="Microsoft YaHei"/>
                <a:ea typeface="Microsoft YaHei"/>
              </a:rPr>
              <a:t>in</a:t>
            </a:r>
            <a:r>
              <a:rPr lang="en-US" sz="938">
                <a:solidFill>
                  <a:srgbClr val="8B97A8"/>
                </a:solidFill>
                <a:latin typeface="Microsoft YaHei"/>
                <a:ea typeface="Microsoft YaHei"/>
              </a:rPr>
              <a:t>clude = </a:t>
            </a:r>
            <a:r>
              <a:rPr lang="en-US" sz="938">
                <a:solidFill>
                  <a:srgbClr val="8B97A8"/>
                </a:solidFill>
                <a:latin typeface="Microsoft YaHei"/>
                <a:ea typeface="Microsoft YaHei"/>
              </a:rPr>
              <a:t>in</a:t>
            </a:r>
            <a:r>
              <a:rPr lang="en-US" sz="938">
                <a:solidFill>
                  <a:srgbClr val="8B97A8"/>
                </a:solidFill>
                <a:latin typeface="Microsoft YaHei"/>
                <a:ea typeface="Microsoft YaHei"/>
              </a:rPr>
              <a:t>evitable.</a:t>
            </a:r>
            <a:endParaRPr/>
          </a:p>
        </p:txBody>
      </p:sp>
      <p:sp>
        <p:nvSpPr>
          <p:cNvPr id="358" name="" descr="{&quot;isTemplate&quot;:true,&quot;type&quot;:&quot;text&quot;}"/>
          <p:cNvSpPr txBox="1"/>
          <p:nvPr/>
        </p:nvSpPr>
        <p:spPr>
          <a:xfrm rot="0" flipH="0" flipV="0">
            <a:off x="381000" y="6619875"/>
            <a:ext cx="381000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base owns the arrow: it points at what it needs</a:t>
            </a:r>
            <a:endParaRPr/>
          </a:p>
        </p:txBody>
      </p:sp>
      <p:sp>
        <p:nvSpPr>
          <p:cNvPr id="359"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21 / 38</a:t>
            </a:r>
            <a:endParaRPr/>
          </a:p>
        </p:txBody>
      </p:sp>
    </p:spTree>
  </p:cSld>
</p:sld>
</file>

<file path=ppt/slides/slide22.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360" name=""/>
        <p:cNvGrpSpPr/>
        <p:nvPr/>
      </p:nvGrpSpPr>
      <p:grpSpPr>
        <a:xfrm>
          <a:off x="0" y="0"/>
          <a:ext cx="0" cy="0"/>
          <a:chOff x="0" y="0"/>
          <a:chExt cx="0" cy="0"/>
        </a:xfrm>
      </p:grpSpPr>
      <p:sp>
        <p:nvSpPr>
          <p:cNvPr id="361" name=""/>
          <p:cNvSpPr/>
          <p:nvPr/>
        </p:nvSpPr>
        <p:spPr>
          <a:xfrm rot="0" flipH="0" flipV="0">
            <a:off x="0" y="0"/>
            <a:ext cx="12192000" cy="6858000"/>
          </a:xfrm>
          <a:prstGeom prst="rect">
            <a:avLst/>
          </a:prstGeom>
          <a:solidFill>
            <a:srgbClr val="FFFFFF"/>
          </a:solidFill>
          <a:ln/>
        </p:spPr>
        <p:txBody>
          <a:bodyPr/>
          <a:p>
            <a:pPr/>
            <a:endParaRPr/>
          </a:p>
        </p:txBody>
      </p:sp>
      <p:sp>
        <p:nvSpPr>
          <p:cNvPr id="362" name=""/>
          <p:cNvSpPr/>
          <p:nvPr/>
        </p:nvSpPr>
        <p:spPr>
          <a:xfrm rot="0" flipH="0" flipV="0">
            <a:off x="0" y="0"/>
            <a:ext cx="12192000" cy="685800"/>
          </a:xfrm>
          <a:prstGeom prst="rect">
            <a:avLst/>
          </a:prstGeom>
          <a:solidFill>
            <a:srgbClr val="1E4FA8"/>
          </a:solidFill>
          <a:ln/>
        </p:spPr>
        <p:txBody>
          <a:bodyPr/>
          <a:p>
            <a:pPr/>
            <a:endParaRPr/>
          </a:p>
        </p:txBody>
      </p:sp>
      <p:sp>
        <p:nvSpPr>
          <p:cNvPr id="36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64"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W04 · INCLUDE &amp; EXTEND</a:t>
            </a:r>
            <a:endParaRPr/>
          </a:p>
        </p:txBody>
      </p:sp>
      <p:sp>
        <p:nvSpPr>
          <p:cNvPr id="365" name="" descr="{&quot;isTemplate&quot;:true,&quot;type&quot;:&quot;text&quot;}"/>
          <p:cNvSpPr txBox="1"/>
          <p:nvPr/>
        </p:nvSpPr>
        <p:spPr>
          <a:xfrm rot="0" flipH="0" flipV="0">
            <a:off x="381000" y="800100"/>
            <a:ext cx="4962525" cy="333375"/>
          </a:xfrm>
          <a:prstGeom prst="rect"/>
        </p:spPr>
        <p:txBody>
          <a:bodyPr wrap="none" lIns="0" tIns="0" rIns="0" bIns="0"/>
          <a:p>
            <a:pPr>
              <a:lnSpc>
                <a:spcPct val="100000"/>
              </a:lnSpc>
            </a:pPr>
            <a:r>
              <a:rPr lang="en-US" sz="2175" b="1">
                <a:solidFill>
                  <a:srgbClr val="0E3F8C"/>
                </a:solidFill>
                <a:latin typeface="Microsoft YaHei"/>
                <a:ea typeface="Microsoft YaHei"/>
              </a:rPr>
              <a:t>&lt;&lt;extend&gt;&gt; — Conditionally Happens</a:t>
            </a:r>
            <a:endParaRPr/>
          </a:p>
        </p:txBody>
      </p:sp>
      <p:sp>
        <p:nvSpPr>
          <p:cNvPr id="366"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22 / 38</a:t>
            </a:r>
            <a:endParaRPr/>
          </a:p>
        </p:txBody>
      </p:sp>
      <p:pic>
        <p:nvPicPr>
          <p:cNvPr id="367" name=""/>
          <p:cNvPicPr>
            <a:picLocks noChangeAspect="1"/>
          </p:cNvPicPr>
          <p:nvPr/>
        </p:nvPicPr>
        <p:blipFill>
          <a:blip>
            <a:extLst>
              <a:ext uri="{96DAC541-7B7A-43D3-8B79-37D633B846F1}">
                <asvg:svgBlip r:embed="rId1"/>
              </a:ext>
            </a:extLst>
          </a:blip>
          <a:stretch>
            <a:fillRect/>
          </a:stretch>
        </p:blipFill>
        <p:spPr>
          <a:xfrm rot="0" flipH="0" flipV="0">
            <a:off x="381000" y="2200275"/>
            <a:ext cx="5619750" cy="3352800"/>
          </a:xfrm>
          <a:prstGeom prst="rect">
            <a:avLst/>
          </a:prstGeom>
          <a:ln/>
        </p:spPr>
      </p:pic>
      <p:sp>
        <p:nvSpPr>
          <p:cNvPr id="368" name=""/>
          <p:cNvSpPr/>
          <p:nvPr/>
        </p:nvSpPr>
        <p:spPr>
          <a:xfrm rot="0" flipH="0" flipV="0">
            <a:off x="6286500" y="1971675"/>
            <a:ext cx="5562600" cy="1000125"/>
          </a:xfrm>
          <a:prstGeom prst="roundRect">
            <a:avLst>
              <a:gd name="adj" fmla="val 8571"/>
            </a:avLst>
          </a:prstGeom>
          <a:solidFill>
            <a:srgbClr val="F0F5FC"/>
          </a:solidFill>
          <a:ln/>
        </p:spPr>
        <p:txBody>
          <a:bodyPr/>
          <a:p>
            <a:pPr/>
            <a:endParaRPr/>
          </a:p>
        </p:txBody>
      </p:sp>
      <p:sp>
        <p:nvSpPr>
          <p:cNvPr id="369" name=""/>
          <p:cNvSpPr/>
          <p:nvPr/>
        </p:nvSpPr>
        <p:spPr>
          <a:xfrm rot="0" flipH="0" flipV="0">
            <a:off x="6286500" y="1971675"/>
            <a:ext cx="5562600" cy="1000125"/>
          </a:xfrm>
          <a:custGeom>
            <a:pathLst>
              <a:path w="58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3D7BD9"/>
          </a:solidFill>
          <a:ln/>
        </p:spPr>
        <p:txBody>
          <a:bodyPr/>
          <a:p>
            <a:pPr/>
            <a:endParaRPr/>
          </a:p>
        </p:txBody>
      </p:sp>
      <p:sp>
        <p:nvSpPr>
          <p:cNvPr id="370" name="" descr="{&quot;isTemplate&quot;:true,&quot;type&quot;:&quot;text&quot;}"/>
          <p:cNvSpPr txBox="1"/>
          <p:nvPr/>
        </p:nvSpPr>
        <p:spPr>
          <a:xfrm rot="0" flipH="0" flipV="0">
            <a:off x="6448425" y="2114550"/>
            <a:ext cx="5200650" cy="190500"/>
          </a:xfrm>
          <a:prstGeom prst="rect"/>
        </p:spPr>
        <p:txBody>
          <a:bodyPr wrap="none" lIns="0" tIns="0" rIns="0" bIns="0"/>
          <a:p>
            <a:pPr>
              <a:lnSpc>
                <a:spcPct val="100000"/>
              </a:lnSpc>
            </a:pPr>
            <a:r>
              <a:rPr lang="en-US" sz="1200" b="1">
                <a:solidFill>
                  <a:srgbClr val="0E3F8C"/>
                </a:solidFill>
                <a:latin typeface="Microsoft YaHei"/>
                <a:ea typeface="Microsoft YaHei"/>
              </a:rPr>
              <a:t>The test</a:t>
            </a:r>
            <a:endParaRPr/>
          </a:p>
        </p:txBody>
      </p:sp>
      <p:sp>
        <p:nvSpPr>
          <p:cNvPr id="371" name="" descr="{&quot;isTemplate&quot;:true,&quot;type&quot;:&quot;text&quot;}"/>
          <p:cNvSpPr txBox="1"/>
          <p:nvPr/>
        </p:nvSpPr>
        <p:spPr>
          <a:xfrm rot="0" flipH="0" flipV="0">
            <a:off x="6448425" y="2352675"/>
            <a:ext cx="52006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Delete the extension. Does the base still deliver its goal? If yes — the base is complete, so the extra is an extend.</a:t>
            </a:r>
            <a:endParaRPr/>
          </a:p>
        </p:txBody>
      </p:sp>
      <p:sp>
        <p:nvSpPr>
          <p:cNvPr id="372" name=""/>
          <p:cNvSpPr/>
          <p:nvPr/>
        </p:nvSpPr>
        <p:spPr>
          <a:xfrm rot="0" flipH="0" flipV="0">
            <a:off x="6248400" y="3086100"/>
            <a:ext cx="5562600" cy="1000125"/>
          </a:xfrm>
          <a:prstGeom prst="roundRect">
            <a:avLst>
              <a:gd name="adj" fmla="val 8571"/>
            </a:avLst>
          </a:prstGeom>
          <a:solidFill>
            <a:srgbClr val="FFFFFF"/>
          </a:solidFill>
          <a:ln w="12700">
            <a:solidFill>
              <a:srgbClr val="D6DCE5"/>
            </a:solidFill>
            <a:prstDash val="solid"/>
          </a:ln>
        </p:spPr>
        <p:txBody>
          <a:bodyPr/>
          <a:p>
            <a:pPr/>
            <a:endParaRPr/>
          </a:p>
        </p:txBody>
      </p:sp>
      <p:sp>
        <p:nvSpPr>
          <p:cNvPr id="373" name="" descr="{&quot;isTemplate&quot;:true,&quot;type&quot;:&quot;text&quot;}"/>
          <p:cNvSpPr txBox="1"/>
          <p:nvPr/>
        </p:nvSpPr>
        <p:spPr>
          <a:xfrm rot="0" flipH="0" flipV="0">
            <a:off x="6410325" y="3228975"/>
            <a:ext cx="5238750" cy="190500"/>
          </a:xfrm>
          <a:prstGeom prst="rect"/>
        </p:spPr>
        <p:txBody>
          <a:bodyPr wrap="none" lIns="0" tIns="0" rIns="0" bIns="0"/>
          <a:p>
            <a:pPr>
              <a:lnSpc>
                <a:spcPct val="100000"/>
              </a:lnSpc>
            </a:pPr>
            <a:r>
              <a:rPr lang="en-US" sz="1200" b="1">
                <a:solidFill>
                  <a:srgbClr val="0E3F8C"/>
                </a:solidFill>
                <a:latin typeface="Microsoft YaHei"/>
                <a:ea typeface="Microsoft YaHei"/>
              </a:rPr>
              <a:t>Name the condition</a:t>
            </a:r>
            <a:endParaRPr/>
          </a:p>
        </p:txBody>
      </p:sp>
      <p:sp>
        <p:nvSpPr>
          <p:cNvPr id="374" name="" descr="{&quot;isTemplate&quot;:true,&quot;type&quot;:&quot;text&quot;}"/>
          <p:cNvSpPr txBox="1"/>
          <p:nvPr/>
        </p:nvSpPr>
        <p:spPr>
          <a:xfrm rot="0" flipH="0" flipV="0">
            <a:off x="6410325" y="3467100"/>
            <a:ext cx="52387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An extend without a stated condition is a guess. Write it on the diagram as a note: “only when the student holds a valid coupon”.</a:t>
            </a:r>
            <a:endParaRPr/>
          </a:p>
        </p:txBody>
      </p:sp>
      <p:sp>
        <p:nvSpPr>
          <p:cNvPr id="375" name=""/>
          <p:cNvSpPr/>
          <p:nvPr/>
        </p:nvSpPr>
        <p:spPr>
          <a:xfrm rot="0" flipH="0" flipV="0">
            <a:off x="6286500" y="4200525"/>
            <a:ext cx="5562600" cy="1000125"/>
          </a:xfrm>
          <a:prstGeom prst="roundRect">
            <a:avLst>
              <a:gd name="adj" fmla="val 8571"/>
            </a:avLst>
          </a:prstGeom>
          <a:solidFill>
            <a:srgbClr val="FDF3F3"/>
          </a:solidFill>
          <a:ln/>
        </p:spPr>
        <p:txBody>
          <a:bodyPr/>
          <a:p>
            <a:pPr/>
            <a:endParaRPr/>
          </a:p>
        </p:txBody>
      </p:sp>
      <p:sp>
        <p:nvSpPr>
          <p:cNvPr id="376" name=""/>
          <p:cNvSpPr/>
          <p:nvPr/>
        </p:nvSpPr>
        <p:spPr>
          <a:xfrm rot="0" flipH="0" flipV="0">
            <a:off x="6286500" y="4200525"/>
            <a:ext cx="5562600" cy="1000125"/>
          </a:xfrm>
          <a:custGeom>
            <a:pathLst>
              <a:path w="58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D9534F"/>
          </a:solidFill>
          <a:ln/>
        </p:spPr>
        <p:txBody>
          <a:bodyPr/>
          <a:p>
            <a:pPr/>
            <a:endParaRPr/>
          </a:p>
        </p:txBody>
      </p:sp>
      <p:sp>
        <p:nvSpPr>
          <p:cNvPr id="377" name="" descr="{&quot;isTemplate&quot;:true,&quot;type&quot;:&quot;text&quot;}"/>
          <p:cNvSpPr txBox="1"/>
          <p:nvPr/>
        </p:nvSpPr>
        <p:spPr>
          <a:xfrm rot="0" flipH="0" flipV="0">
            <a:off x="6448425" y="4343400"/>
            <a:ext cx="5200650" cy="190500"/>
          </a:xfrm>
          <a:prstGeom prst="rect"/>
        </p:spPr>
        <p:txBody>
          <a:bodyPr wrap="none" lIns="0" tIns="0" rIns="0" bIns="0"/>
          <a:p>
            <a:pPr>
              <a:lnSpc>
                <a:spcPct val="100000"/>
              </a:lnSpc>
            </a:pPr>
            <a:r>
              <a:rPr lang="en-US" sz="1200" b="1">
                <a:solidFill>
                  <a:srgbClr val="D9534F"/>
                </a:solidFill>
                <a:latin typeface="Microsoft YaHei"/>
                <a:ea typeface="Microsoft YaHei"/>
              </a:rPr>
              <a:t>Common misuse</a:t>
            </a:r>
            <a:endParaRPr/>
          </a:p>
        </p:txBody>
      </p:sp>
      <p:sp>
        <p:nvSpPr>
          <p:cNvPr id="378" name="" descr="{&quot;isTemplate&quot;:true,&quot;type&quot;:&quot;text&quot;}"/>
          <p:cNvSpPr txBox="1"/>
          <p:nvPr/>
        </p:nvSpPr>
        <p:spPr>
          <a:xfrm rot="0" flipH="0" flipV="0">
            <a:off x="6448425" y="4581525"/>
            <a:ext cx="520065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Using extend for the normal path. If it happens eight times out of ten, it is part of the base, not an extension of it.</a:t>
            </a:r>
            <a:endParaRPr/>
          </a:p>
        </p:txBody>
      </p:sp>
      <p:sp>
        <p:nvSpPr>
          <p:cNvPr id="379" name=""/>
          <p:cNvSpPr/>
          <p:nvPr/>
        </p:nvSpPr>
        <p:spPr>
          <a:xfrm rot="0" flipH="0" flipV="0">
            <a:off x="6248400" y="5314950"/>
            <a:ext cx="5562600" cy="457200"/>
          </a:xfrm>
          <a:prstGeom prst="roundRect">
            <a:avLst>
              <a:gd name="adj" fmla="val 16667"/>
            </a:avLst>
          </a:prstGeom>
          <a:solidFill>
            <a:srgbClr val="F7F9FC"/>
          </a:solidFill>
          <a:ln w="12700">
            <a:solidFill>
              <a:srgbClr val="D6DCE5"/>
            </a:solidFill>
            <a:prstDash val="dash"/>
          </a:ln>
        </p:spPr>
        <p:txBody>
          <a:bodyPr/>
          <a:p>
            <a:pPr/>
            <a:endParaRPr/>
          </a:p>
        </p:txBody>
      </p:sp>
      <p:sp>
        <p:nvSpPr>
          <p:cNvPr id="380" name="" descr="{&quot;isTemplate&quot;:true,&quot;type&quot;:&quot;text&quot;}"/>
          <p:cNvSpPr txBox="1"/>
          <p:nvPr/>
        </p:nvSpPr>
        <p:spPr>
          <a:xfrm rot="0" flipH="0" flipV="0">
            <a:off x="6400800" y="5429250"/>
            <a:ext cx="5257800" cy="228600"/>
          </a:xfrm>
          <a:prstGeom prst="rect"/>
        </p:spPr>
        <p:txBody>
          <a:bodyPr wrap="none" lIns="0" tIns="0" rIns="0" bIns="0"/>
          <a:p>
            <a:pPr>
              <a:lnSpc>
                <a:spcPct val="155000"/>
              </a:lnSpc>
            </a:pPr>
            <a:r>
              <a:rPr lang="en-US" sz="938">
                <a:solidFill>
                  <a:srgbClr val="8B97A8"/>
                </a:solidFill>
                <a:latin typeface="Microsoft YaHei"/>
                <a:ea typeface="Microsoft YaHei"/>
              </a:rPr>
              <a:t>Memory hook: </a:t>
            </a:r>
            <a:r>
              <a:rPr lang="en-US" sz="938">
                <a:solidFill>
                  <a:srgbClr val="8B97A8"/>
                </a:solidFill>
                <a:latin typeface="Microsoft YaHei"/>
                <a:ea typeface="Microsoft YaHei"/>
              </a:rPr>
              <a:t>ex</a:t>
            </a:r>
            <a:r>
              <a:rPr lang="en-US" sz="938">
                <a:solidFill>
                  <a:srgbClr val="8B97A8"/>
                </a:solidFill>
                <a:latin typeface="Microsoft YaHei"/>
                <a:ea typeface="Microsoft YaHei"/>
              </a:rPr>
              <a:t>tend = </a:t>
            </a:r>
            <a:r>
              <a:rPr lang="en-US" sz="938">
                <a:solidFill>
                  <a:srgbClr val="8B97A8"/>
                </a:solidFill>
                <a:latin typeface="Microsoft YaHei"/>
                <a:ea typeface="Microsoft YaHei"/>
              </a:rPr>
              <a:t>ex</a:t>
            </a:r>
            <a:r>
              <a:rPr lang="en-US" sz="938">
                <a:solidFill>
                  <a:srgbClr val="8B97A8"/>
                </a:solidFill>
                <a:latin typeface="Microsoft YaHei"/>
                <a:ea typeface="Microsoft YaHei"/>
              </a:rPr>
              <a:t>ception, and the arrow comes back.</a:t>
            </a:r>
            <a:endParaRPr/>
          </a:p>
        </p:txBody>
      </p:sp>
      <p:sp>
        <p:nvSpPr>
          <p:cNvPr id="381" name="" descr="{&quot;isTemplate&quot;:true,&quot;type&quot;:&quot;text&quot;}"/>
          <p:cNvSpPr txBox="1"/>
          <p:nvPr/>
        </p:nvSpPr>
        <p:spPr>
          <a:xfrm rot="0" flipH="0" flipV="0">
            <a:off x="381000" y="6619875"/>
            <a:ext cx="421957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Arrow from the extra to the base — the opposite of include</a:t>
            </a:r>
            <a:endParaRPr/>
          </a:p>
        </p:txBody>
      </p:sp>
      <p:sp>
        <p:nvSpPr>
          <p:cNvPr id="382"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22 / 38</a:t>
            </a:r>
            <a:endParaRPr/>
          </a:p>
        </p:txBody>
      </p:sp>
    </p:spTree>
  </p:cSld>
</p:sld>
</file>

<file path=ppt/slides/slide23.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383" name=""/>
        <p:cNvGrpSpPr/>
        <p:nvPr/>
      </p:nvGrpSpPr>
      <p:grpSpPr>
        <a:xfrm>
          <a:off x="0" y="0"/>
          <a:ext cx="0" cy="0"/>
          <a:chOff x="0" y="0"/>
          <a:chExt cx="0" cy="0"/>
        </a:xfrm>
      </p:grpSpPr>
      <p:sp>
        <p:nvSpPr>
          <p:cNvPr id="384" name=""/>
          <p:cNvSpPr/>
          <p:nvPr/>
        </p:nvSpPr>
        <p:spPr>
          <a:xfrm rot="0" flipH="0" flipV="0">
            <a:off x="0" y="0"/>
            <a:ext cx="12192000" cy="6858000"/>
          </a:xfrm>
          <a:prstGeom prst="rect">
            <a:avLst/>
          </a:prstGeom>
          <a:solidFill>
            <a:srgbClr val="FFFFFF"/>
          </a:solidFill>
          <a:ln/>
        </p:spPr>
        <p:txBody>
          <a:bodyPr/>
          <a:p>
            <a:pPr/>
            <a:endParaRPr/>
          </a:p>
        </p:txBody>
      </p:sp>
      <p:sp>
        <p:nvSpPr>
          <p:cNvPr id="385" name=""/>
          <p:cNvSpPr/>
          <p:nvPr/>
        </p:nvSpPr>
        <p:spPr>
          <a:xfrm rot="0" flipH="0" flipV="0">
            <a:off x="0" y="0"/>
            <a:ext cx="12192000" cy="685800"/>
          </a:xfrm>
          <a:prstGeom prst="rect">
            <a:avLst/>
          </a:prstGeom>
          <a:solidFill>
            <a:srgbClr val="1E4FA8"/>
          </a:solidFill>
          <a:ln/>
        </p:spPr>
        <p:txBody>
          <a:bodyPr/>
          <a:p>
            <a:pPr/>
            <a:endParaRPr/>
          </a:p>
        </p:txBody>
      </p:sp>
      <p:sp>
        <p:nvSpPr>
          <p:cNvPr id="38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87" name="" descr="{&quot;isTemplate&quot;:true,&quot;type&quot;:&quot;text&quot;}"/>
          <p:cNvSpPr txBox="1"/>
          <p:nvPr/>
        </p:nvSpPr>
        <p:spPr>
          <a:xfrm rot="0" flipH="0" flipV="0">
            <a:off x="10001250" y="257175"/>
            <a:ext cx="1809750" cy="171450"/>
          </a:xfrm>
          <a:prstGeom prst="rect"/>
        </p:spPr>
        <p:txBody>
          <a:bodyPr wrap="none" lIns="0" tIns="0" rIns="0" bIns="0"/>
          <a:p>
            <a:pPr>
              <a:lnSpc>
                <a:spcPct val="100000"/>
              </a:lnSpc>
            </a:pPr>
            <a:r>
              <a:rPr lang="en-US" sz="1125">
                <a:solidFill>
                  <a:srgbClr val="B9CDF0"/>
                </a:solidFill>
                <a:latin typeface="Microsoft YaHei"/>
                <a:ea typeface="Microsoft YaHei"/>
              </a:rPr>
              <a:t>W04 · INCLUDE &amp; EXTEND</a:t>
            </a:r>
            <a:endParaRPr/>
          </a:p>
        </p:txBody>
      </p:sp>
      <p:sp>
        <p:nvSpPr>
          <p:cNvPr id="388" name="" descr="{&quot;isTemplate&quot;:true,&quot;type&quot;:&quot;text&quot;}"/>
          <p:cNvSpPr txBox="1"/>
          <p:nvPr/>
        </p:nvSpPr>
        <p:spPr>
          <a:xfrm rot="0" flipH="0" flipV="0">
            <a:off x="381000" y="819150"/>
            <a:ext cx="5353050" cy="333375"/>
          </a:xfrm>
          <a:prstGeom prst="rect"/>
        </p:spPr>
        <p:txBody>
          <a:bodyPr wrap="none" lIns="0" tIns="0" rIns="0" bIns="0"/>
          <a:p>
            <a:pPr>
              <a:lnSpc>
                <a:spcPct val="100000"/>
              </a:lnSpc>
            </a:pPr>
            <a:r>
              <a:rPr lang="en-US" sz="2175" b="1">
                <a:solidFill>
                  <a:srgbClr val="0E3F8C"/>
                </a:solidFill>
                <a:latin typeface="Microsoft YaHei"/>
                <a:ea typeface="Microsoft YaHei"/>
              </a:rPr>
              <a:t>Include vs. Extend — The Decision Table</a:t>
            </a:r>
            <a:endParaRPr/>
          </a:p>
        </p:txBody>
      </p:sp>
      <p:sp>
        <p:nvSpPr>
          <p:cNvPr id="389"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23 / 38</a:t>
            </a:r>
            <a:endParaRPr/>
          </a:p>
        </p:txBody>
      </p:sp>
      <p:graphicFrame>
        <p:nvGraphicFramePr>
          <p:cNvPr id="390" name=""/>
          <p:cNvGraphicFramePr/>
          <p:nvPr/>
        </p:nvGraphicFramePr>
        <p:xfrm rot="0" flipH="0" flipV="0">
          <a:off x="381000" y="1247775"/>
          <a:ext cx="11430000" cy="5114925"/>
        </p:xfrm>
        <a:graphic>
          <a:graphicData uri="http://schemas.openxmlformats.org/drawingml/2006/table">
            <a:tbl>
              <a:tblGrid>
                <a:gridCol w="3101768">
                  <a:extLst>
                    <a:ext uri="{9D8B030D-6E8A-4147-A177-3AD203B41FA5}">
                      <a16:colId val="1"/>
                    </a:ext>
                  </a:extLst>
                </a:gridCol>
                <a:gridCol w="4229158">
                  <a:extLst>
                    <a:ext uri="{9D8B030D-6E8A-4147-A177-3AD203B41FA5}">
                      <a16:colId val="2"/>
                    </a:ext>
                  </a:extLst>
                </a:gridCol>
                <a:gridCol w="4099074">
                  <a:extLst>
                    <a:ext uri="{9D8B030D-6E8A-4147-A177-3AD203B41FA5}">
                      <a16:colId val="3"/>
                    </a:ext>
                  </a:extLst>
                </a:gridCol>
              </a:tblGrid>
              <a:tr h="639366">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Dimension</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&lt;&lt;include&gt;&gt;</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&lt;&lt;extend&gt;&gt;</a:t>
                      </a:r>
                      <a:endParaRPr/>
                    </a:p>
                  </a:txBody>
                  <a:tcPr marL="45720" marR="45720" marT="45720" marB="45720" anchor="ctr">
                    <a:lnL>
                      <a:noFill/>
                    </a:lnL>
                    <a:lnR>
                      <a:noFill/>
                    </a:lnR>
                    <a:lnT>
                      <a:noFill/>
                    </a:lnT>
                    <a:lnB>
                      <a:noFill/>
                    </a:lnB>
                    <a:solidFill>
                      <a:srgbClr val="3D7BD9"/>
                    </a:solidFill>
                  </a:tcPr>
                </a:tc>
                <a:extLst>
                  <a:ext uri="{0D108BD9-81ED-4DB2-BD59-A6C34878D82A}">
                    <a16:rowId val="1"/>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Does it always happen?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Yes. Every run of the base.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 Only when a condition holds.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Is the base complete without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 Remove it and the goal is unreachable.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Yes. The goal is met either way.</a:t>
                      </a:r>
                      <a:endParaRPr/>
                    </a:p>
                  </a:txBody>
                  <a:tcPr marL="45720" marR="45720" marT="45720" marB="45720" anchor="ctr">
                    <a:lnL>
                      <a:noFill/>
                    </a:lnL>
                    <a:lnR>
                      <a:noFill/>
                    </a:lnR>
                    <a:lnT>
                      <a:noFill/>
                    </a:lnT>
                    <a:lnB>
                      <a:noFill/>
                    </a:lnB>
                  </a:tcPr>
                </a:tc>
                <a:extLst>
                  <a:ext uri="{0D108BD9-81ED-4DB2-BD59-A6C34878D82A}">
                    <a16:rowId val="3"/>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Who depends on whom?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base needs the included behaviour.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extension needs the base to hook into.</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Arrow direction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Base → included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Extension → base</a:t>
                      </a:r>
                      <a:endParaRPr/>
                    </a:p>
                  </a:txBody>
                  <a:tcPr marL="45720" marR="45720" marT="45720" marB="45720" anchor="ctr">
                    <a:lnL>
                      <a:noFill/>
                    </a:lnL>
                    <a:lnR>
                      <a:noFill/>
                    </a:lnR>
                    <a:lnT>
                      <a:noFill/>
                    </a:lnT>
                    <a:lnB>
                      <a:noFill/>
                    </a:lnB>
                  </a:tcPr>
                </a:tc>
                <a:extLst>
                  <a:ext uri="{0D108BD9-81ED-4DB2-BD59-A6C34878D82A}">
                    <a16:rowId val="5"/>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Can it stand alone?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Usually not — nobody asks for it on its own.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Often yes — it may be a small goal of its own.</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Why you draw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To stop writing the same behaviour three times.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To keep a rare case out of the main text.</a:t>
                      </a:r>
                      <a:endParaRPr/>
                    </a:p>
                  </a:txBody>
                  <a:tcPr marL="45720" marR="45720" marT="45720" marB="45720" anchor="ctr">
                    <a:lnL>
                      <a:noFill/>
                    </a:lnL>
                    <a:lnR>
                      <a:noFill/>
                    </a:lnR>
                    <a:lnT>
                      <a:noFill/>
                    </a:lnT>
                    <a:lnB>
                      <a:noFill/>
                    </a:lnB>
                  </a:tcPr>
                </a:tc>
                <a:extLst>
                  <a:ext uri="{0D108BD9-81ED-4DB2-BD59-A6C34878D82A}">
                    <a16:rowId val="7"/>
                  </a:ext>
                </a:extLst>
              </a:tr>
              <a:tr h="639366">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CampusBites example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 Order includes Authenticate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Apply Coupon extends Place Order</a:t>
                      </a:r>
                      <a:endParaRPr/>
                    </a:p>
                  </a:txBody>
                  <a:tcPr marL="45720" marR="45720" marT="45720" marB="45720" anchor="ctr">
                    <a:lnL>
                      <a:noFill/>
                    </a:lnL>
                    <a:lnR>
                      <a:noFill/>
                    </a:lnR>
                    <a:lnT>
                      <a:noFill/>
                    </a:lnT>
                    <a:lnB>
                      <a:noFill/>
                    </a:lnB>
                    <a:solidFill>
                      <a:srgbClr val="F7F9FC"/>
                    </a:solidFill>
                  </a:tcPr>
                </a:tc>
                <a:extLst>
                  <a:ext uri="{0D108BD9-81ED-4DB2-BD59-A6C34878D82A}">
                    <a16:rowId val="8"/>
                  </a:ext>
                </a:extLst>
              </a:tr>
            </a:tbl>
          </a:graphicData>
        </a:graphic>
      </p:graphicFrame>
      <p:sp>
        <p:nvSpPr>
          <p:cNvPr id="391" name=""/>
          <p:cNvSpPr/>
          <p:nvPr/>
        </p:nvSpPr>
        <p:spPr>
          <a:xfrm rot="0" flipH="0" flipV="0">
            <a:off x="0" y="6419850"/>
            <a:ext cx="12192000" cy="438150"/>
          </a:xfrm>
          <a:prstGeom prst="rect">
            <a:avLst/>
          </a:prstGeom>
          <a:solidFill>
            <a:srgbClr val="0E3F8C"/>
          </a:solidFill>
          <a:ln/>
        </p:spPr>
        <p:txBody>
          <a:bodyPr/>
          <a:p>
            <a:pPr/>
            <a:endParaRPr/>
          </a:p>
        </p:txBody>
      </p:sp>
      <p:sp>
        <p:nvSpPr>
          <p:cNvPr id="392" name="" descr="{&quot;isTemplate&quot;:true,&quot;type&quot;:&quot;text&quot;}"/>
          <p:cNvSpPr txBox="1"/>
          <p:nvPr/>
        </p:nvSpPr>
        <p:spPr>
          <a:xfrm rot="0" flipH="0" flipV="0">
            <a:off x="2857500" y="6543675"/>
            <a:ext cx="6477000" cy="190500"/>
          </a:xfrm>
          <a:prstGeom prst="rect"/>
        </p:spPr>
        <p:txBody>
          <a:bodyPr wrap="none" lIns="0" tIns="0" rIns="0" bIns="0"/>
          <a:p>
            <a:pPr>
              <a:lnSpc>
                <a:spcPct val="100000"/>
              </a:lnSpc>
            </a:pPr>
            <a:r>
              <a:rPr lang="en-US" sz="1200" b="1">
                <a:solidFill>
                  <a:srgbClr val="FFFFFF"/>
                </a:solidFill>
                <a:latin typeface="Microsoft YaHei"/>
                <a:ea typeface="Microsoft YaHei"/>
              </a:rPr>
              <a:t>Ask only one question: is the base still complete without it? No → include. Yes → extend.</a:t>
            </a:r>
            <a:endParaRPr/>
          </a:p>
        </p:txBody>
      </p:sp>
    </p:spTree>
  </p:cSld>
</p:sld>
</file>

<file path=ppt/slides/slide24.xml><?xml version="1.0" encoding="utf-8"?>
<p:sld xmlns:a="http://schemas.openxmlformats.org/drawingml/2006/main" xmlns:p="http://schemas.openxmlformats.org/presentationml/2006/main">
  <p:cSld>
    <p:spTree>
      <p:nvGrpSpPr>
        <p:cNvPr id="393" name=""/>
        <p:cNvGrpSpPr/>
        <p:nvPr/>
      </p:nvGrpSpPr>
      <p:grpSpPr>
        <a:xfrm>
          <a:off x="0" y="0"/>
          <a:ext cx="0" cy="0"/>
          <a:chOff x="0" y="0"/>
          <a:chExt cx="0" cy="0"/>
        </a:xfrm>
      </p:grpSpPr>
      <p:sp>
        <p:nvSpPr>
          <p:cNvPr id="394" name=""/>
          <p:cNvSpPr/>
          <p:nvPr/>
        </p:nvSpPr>
        <p:spPr>
          <a:xfrm rot="0" flipH="0" flipV="0">
            <a:off x="0" y="0"/>
            <a:ext cx="12192000" cy="6858000"/>
          </a:xfrm>
          <a:prstGeom prst="rect">
            <a:avLst/>
          </a:prstGeom>
          <a:solidFill>
            <a:srgbClr val="0E3F8C"/>
          </a:solidFill>
          <a:ln/>
        </p:spPr>
        <p:txBody>
          <a:bodyPr/>
          <a:p>
            <a:pPr/>
            <a:endParaRPr/>
          </a:p>
        </p:txBody>
      </p:sp>
      <p:sp>
        <p:nvSpPr>
          <p:cNvPr id="39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396" name="" descr="{&quot;isTemplate&quot;:true,&quot;type&quot;:&quot;text&quot;}"/>
          <p:cNvSpPr txBox="1"/>
          <p:nvPr/>
        </p:nvSpPr>
        <p:spPr>
          <a:xfrm rot="0" flipH="0" flipV="0">
            <a:off x="57150" y="2171700"/>
            <a:ext cx="2733675" cy="2514600"/>
          </a:xfrm>
          <a:prstGeom prst="rect"/>
        </p:spPr>
        <p:txBody>
          <a:bodyPr wrap="none" lIns="0" tIns="0" rIns="0" bIns="0"/>
          <a:p>
            <a:pPr>
              <a:lnSpc>
                <a:spcPct val="100000"/>
              </a:lnSpc>
            </a:pPr>
            <a:r>
              <a:rPr lang="en-US" sz="16500" b="1">
                <a:solidFill>
                  <a:srgbClr val="3D7BD9"/>
                </a:solidFill>
                <a:latin typeface="Georgia"/>
                <a:ea typeface="Georgia"/>
              </a:rPr>
              <a:t>05</a:t>
            </a:r>
            <a:endParaRPr/>
          </a:p>
        </p:txBody>
      </p:sp>
      <p:sp>
        <p:nvSpPr>
          <p:cNvPr id="39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39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Finding</a:t>
            </a:r>
            <a:endParaRPr/>
          </a:p>
          <a:p>
            <a:pPr>
              <a:lnSpc>
                <a:spcPct val="118000"/>
              </a:lnSpc>
            </a:pPr>
            <a:r>
              <a:rPr lang="en-US" sz="3450" b="1">
                <a:solidFill>
                  <a:srgbClr val="FFFFFF"/>
                </a:solidFill>
                <a:latin typeface="Microsoft YaHei"/>
                <a:ea typeface="Microsoft YaHei"/>
              </a:rPr>
              <a:t>Use Cases</a:t>
            </a:r>
            <a:endParaRPr/>
          </a:p>
        </p:txBody>
      </p:sp>
      <p:sp>
        <p:nvSpPr>
          <p:cNvPr id="399" name=""/>
          <p:cNvSpPr/>
          <p:nvPr/>
        </p:nvSpPr>
        <p:spPr>
          <a:xfrm rot="0" flipH="0" flipV="0">
            <a:off x="3467100" y="3752850"/>
            <a:ext cx="609600" cy="38100"/>
          </a:xfrm>
          <a:prstGeom prst="rect">
            <a:avLst/>
          </a:prstGeom>
          <a:solidFill>
            <a:srgbClr val="FFC107"/>
          </a:solidFill>
          <a:ln/>
        </p:spPr>
        <p:txBody>
          <a:bodyPr/>
          <a:p>
            <a:pPr/>
            <a:endParaRPr/>
          </a:p>
        </p:txBody>
      </p:sp>
      <p:sp>
        <p:nvSpPr>
          <p:cNvPr id="400" name=""/>
          <p:cNvSpPr/>
          <p:nvPr/>
        </p:nvSpPr>
        <p:spPr>
          <a:xfrm rot="0" flipH="0" flipV="0">
            <a:off x="3467100" y="4114800"/>
            <a:ext cx="76200" cy="76200"/>
          </a:xfrm>
          <a:prstGeom prst="roundRect">
            <a:avLst>
              <a:gd name="adj" fmla="val 50000"/>
            </a:avLst>
          </a:prstGeom>
          <a:solidFill>
            <a:srgbClr val="3D7BD9"/>
          </a:solidFill>
          <a:ln/>
        </p:spPr>
        <p:txBody>
          <a:bodyPr/>
          <a:p>
            <a:pPr/>
            <a:endParaRPr/>
          </a:p>
        </p:txBody>
      </p:sp>
      <p:sp>
        <p:nvSpPr>
          <p:cNvPr id="401" name="" descr="{&quot;isTemplate&quot;:true,&quot;type&quot;:&quot;text&quot;}"/>
          <p:cNvSpPr txBox="1"/>
          <p:nvPr/>
        </p:nvSpPr>
        <p:spPr>
          <a:xfrm rot="0" flipH="0" flipV="0">
            <a:off x="3657600" y="4038600"/>
            <a:ext cx="3990975" cy="228600"/>
          </a:xfrm>
          <a:prstGeom prst="rect"/>
        </p:spPr>
        <p:txBody>
          <a:bodyPr wrap="none" lIns="0" tIns="0" rIns="0" bIns="0"/>
          <a:p>
            <a:pPr>
              <a:lnSpc>
                <a:spcPct val="100000"/>
              </a:lnSpc>
            </a:pPr>
            <a:r>
              <a:rPr lang="en-US" sz="1500">
                <a:solidFill>
                  <a:srgbClr val="C5D4EA"/>
                </a:solidFill>
                <a:latin typeface="Microsoft YaHei"/>
                <a:ea typeface="Microsoft YaHei"/>
              </a:rPr>
              <a:t>Two heuristics: events, and the noun-verb scan</a:t>
            </a:r>
            <a:endParaRPr/>
          </a:p>
        </p:txBody>
      </p:sp>
      <p:sp>
        <p:nvSpPr>
          <p:cNvPr id="402" name=""/>
          <p:cNvSpPr/>
          <p:nvPr/>
        </p:nvSpPr>
        <p:spPr>
          <a:xfrm rot="0" flipH="0" flipV="0">
            <a:off x="3467100" y="4457700"/>
            <a:ext cx="76200" cy="76200"/>
          </a:xfrm>
          <a:prstGeom prst="roundRect">
            <a:avLst>
              <a:gd name="adj" fmla="val 50000"/>
            </a:avLst>
          </a:prstGeom>
          <a:solidFill>
            <a:srgbClr val="3D7BD9"/>
          </a:solidFill>
          <a:ln/>
        </p:spPr>
        <p:txBody>
          <a:bodyPr/>
          <a:p>
            <a:pPr/>
            <a:endParaRPr/>
          </a:p>
        </p:txBody>
      </p:sp>
      <p:sp>
        <p:nvSpPr>
          <p:cNvPr id="403" name="" descr="{&quot;isTemplate&quot;:true,&quot;type&quot;:&quot;text&quot;}"/>
          <p:cNvSpPr txBox="1"/>
          <p:nvPr/>
        </p:nvSpPr>
        <p:spPr>
          <a:xfrm rot="0" flipH="0" flipV="0">
            <a:off x="3657600" y="4381500"/>
            <a:ext cx="3962400" cy="228600"/>
          </a:xfrm>
          <a:prstGeom prst="rect"/>
        </p:spPr>
        <p:txBody>
          <a:bodyPr wrap="none" lIns="0" tIns="0" rIns="0" bIns="0"/>
          <a:p>
            <a:pPr>
              <a:lnSpc>
                <a:spcPct val="100000"/>
              </a:lnSpc>
            </a:pPr>
            <a:r>
              <a:rPr lang="en-US" sz="1500">
                <a:solidFill>
                  <a:srgbClr val="C5D4EA"/>
                </a:solidFill>
                <a:latin typeface="Microsoft YaHei"/>
                <a:ea typeface="Microsoft YaHei"/>
              </a:rPr>
              <a:t>Six use cases fall out of the CampusBites pack</a:t>
            </a:r>
            <a:endParaRPr/>
          </a:p>
        </p:txBody>
      </p:sp>
      <p:sp>
        <p:nvSpPr>
          <p:cNvPr id="404" name=""/>
          <p:cNvSpPr/>
          <p:nvPr/>
        </p:nvSpPr>
        <p:spPr>
          <a:xfrm rot="0" flipH="0" flipV="0">
            <a:off x="3467100" y="4800600"/>
            <a:ext cx="76200" cy="76200"/>
          </a:xfrm>
          <a:prstGeom prst="roundRect">
            <a:avLst>
              <a:gd name="adj" fmla="val 50000"/>
            </a:avLst>
          </a:prstGeom>
          <a:solidFill>
            <a:srgbClr val="3D7BD9"/>
          </a:solidFill>
          <a:ln/>
        </p:spPr>
        <p:txBody>
          <a:bodyPr/>
          <a:p>
            <a:pPr/>
            <a:endParaRPr/>
          </a:p>
        </p:txBody>
      </p:sp>
      <p:sp>
        <p:nvSpPr>
          <p:cNvPr id="405" name="" descr="{&quot;isTemplate&quot;:true,&quot;type&quot;:&quot;text&quot;}"/>
          <p:cNvSpPr txBox="1"/>
          <p:nvPr/>
        </p:nvSpPr>
        <p:spPr>
          <a:xfrm rot="0" flipH="0" flipV="0">
            <a:off x="3657600" y="4724400"/>
            <a:ext cx="4676775" cy="228600"/>
          </a:xfrm>
          <a:prstGeom prst="rect"/>
        </p:spPr>
        <p:txBody>
          <a:bodyPr wrap="none" lIns="0" tIns="0" rIns="0" bIns="0"/>
          <a:p>
            <a:pPr>
              <a:lnSpc>
                <a:spcPct val="100000"/>
              </a:lnSpc>
            </a:pPr>
            <a:r>
              <a:rPr lang="en-US" sz="1500">
                <a:solidFill>
                  <a:srgbClr val="C5D4EA"/>
                </a:solidFill>
                <a:latin typeface="Microsoft YaHei"/>
                <a:ea typeface="Microsoft YaHei"/>
              </a:rPr>
              <a:t>A name is not a use case — the text comes in Week 05</a:t>
            </a:r>
            <a:endParaRPr/>
          </a:p>
        </p:txBody>
      </p:sp>
      <p:sp>
        <p:nvSpPr>
          <p:cNvPr id="406"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25.xml><?xml version="1.0" encoding="utf-8"?>
<p:sld xmlns:a="http://schemas.openxmlformats.org/drawingml/2006/main" xmlns:p="http://schemas.openxmlformats.org/presentationml/2006/main">
  <p:cSld>
    <p:spTree>
      <p:nvGrpSpPr>
        <p:cNvPr id="407" name=""/>
        <p:cNvGrpSpPr/>
        <p:nvPr/>
      </p:nvGrpSpPr>
      <p:grpSpPr>
        <a:xfrm>
          <a:off x="0" y="0"/>
          <a:ext cx="0" cy="0"/>
          <a:chOff x="0" y="0"/>
          <a:chExt cx="0" cy="0"/>
        </a:xfrm>
      </p:grpSpPr>
      <p:sp>
        <p:nvSpPr>
          <p:cNvPr id="408" name=""/>
          <p:cNvSpPr/>
          <p:nvPr/>
        </p:nvSpPr>
        <p:spPr>
          <a:xfrm rot="0" flipH="0" flipV="0">
            <a:off x="0" y="0"/>
            <a:ext cx="12192000" cy="6858000"/>
          </a:xfrm>
          <a:prstGeom prst="rect">
            <a:avLst/>
          </a:prstGeom>
          <a:solidFill>
            <a:srgbClr val="FFFFFF"/>
          </a:solidFill>
          <a:ln/>
        </p:spPr>
        <p:txBody>
          <a:bodyPr/>
          <a:p>
            <a:pPr/>
            <a:endParaRPr/>
          </a:p>
        </p:txBody>
      </p:sp>
      <p:sp>
        <p:nvSpPr>
          <p:cNvPr id="409" name=""/>
          <p:cNvSpPr/>
          <p:nvPr/>
        </p:nvSpPr>
        <p:spPr>
          <a:xfrm rot="0" flipH="0" flipV="0">
            <a:off x="0" y="0"/>
            <a:ext cx="12192000" cy="685800"/>
          </a:xfrm>
          <a:prstGeom prst="rect">
            <a:avLst/>
          </a:prstGeom>
          <a:solidFill>
            <a:srgbClr val="1E4FA8"/>
          </a:solidFill>
          <a:ln/>
        </p:spPr>
        <p:txBody>
          <a:bodyPr/>
          <a:p>
            <a:pPr/>
            <a:endParaRPr/>
          </a:p>
        </p:txBody>
      </p:sp>
      <p:sp>
        <p:nvSpPr>
          <p:cNvPr id="41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11"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W04 · FINDING USE CASES</a:t>
            </a:r>
            <a:endParaRPr/>
          </a:p>
        </p:txBody>
      </p:sp>
      <p:sp>
        <p:nvSpPr>
          <p:cNvPr id="412" name="" descr="{&quot;isTemplate&quot;:true,&quot;type&quot;:&quot;text&quot;}"/>
          <p:cNvSpPr txBox="1"/>
          <p:nvPr/>
        </p:nvSpPr>
        <p:spPr>
          <a:xfrm rot="0" flipH="0" flipV="0">
            <a:off x="381000" y="819150"/>
            <a:ext cx="3133725" cy="333375"/>
          </a:xfrm>
          <a:prstGeom prst="rect"/>
        </p:spPr>
        <p:txBody>
          <a:bodyPr wrap="none" lIns="0" tIns="0" rIns="0" bIns="0"/>
          <a:p>
            <a:pPr>
              <a:lnSpc>
                <a:spcPct val="100000"/>
              </a:lnSpc>
            </a:pPr>
            <a:r>
              <a:rPr lang="en-US" sz="2175" b="1">
                <a:solidFill>
                  <a:srgbClr val="0E3F8C"/>
                </a:solidFill>
                <a:latin typeface="Microsoft YaHei"/>
                <a:ea typeface="Microsoft YaHei"/>
              </a:rPr>
              <a:t>Two Ways to Find Them</a:t>
            </a:r>
            <a:endParaRPr/>
          </a:p>
        </p:txBody>
      </p:sp>
      <p:sp>
        <p:nvSpPr>
          <p:cNvPr id="413"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25 / 38</a:t>
            </a:r>
            <a:endParaRPr/>
          </a:p>
        </p:txBody>
      </p:sp>
      <p:sp>
        <p:nvSpPr>
          <p:cNvPr id="414" name=""/>
          <p:cNvSpPr/>
          <p:nvPr/>
        </p:nvSpPr>
        <p:spPr>
          <a:xfrm rot="0" flipH="0" flipV="0">
            <a:off x="381000" y="1304925"/>
            <a:ext cx="5410200" cy="847725"/>
          </a:xfrm>
          <a:prstGeom prst="roundRect">
            <a:avLst>
              <a:gd name="adj" fmla="val 11236"/>
            </a:avLst>
          </a:prstGeom>
          <a:solidFill>
            <a:srgbClr val="F0F5FC"/>
          </a:solidFill>
          <a:ln/>
        </p:spPr>
        <p:txBody>
          <a:bodyPr/>
          <a:p>
            <a:pPr/>
            <a:endParaRPr/>
          </a:p>
        </p:txBody>
      </p:sp>
      <p:sp>
        <p:nvSpPr>
          <p:cNvPr id="415" name=""/>
          <p:cNvSpPr/>
          <p:nvPr/>
        </p:nvSpPr>
        <p:spPr>
          <a:xfrm rot="0" flipH="0" flipV="0">
            <a:off x="381000" y="1304925"/>
            <a:ext cx="5410200" cy="847725"/>
          </a:xfrm>
          <a:custGeom>
            <a:pathLst>
              <a:path w="568" h="89">
                <a:moveTo>
                  <a:pt x="558" y="0"/>
                </a:moveTo>
                <a:cubicBezTo>
                  <a:pt x="563" y="0"/>
                  <a:pt x="567" y="4"/>
                  <a:pt x="568" y="8"/>
                </a:cubicBezTo>
                <a:cubicBezTo>
                  <a:pt x="567" y="6"/>
                  <a:pt x="565" y="4"/>
                  <a:pt x="562" y="4"/>
                </a:cubicBezTo>
                <a:lnTo>
                  <a:pt x="6" y="4"/>
                </a:lnTo>
                <a:cubicBezTo>
                  <a:pt x="3" y="4"/>
                  <a:pt x="1" y="6"/>
                  <a:pt x="0" y="9"/>
                </a:cubicBezTo>
                <a:cubicBezTo>
                  <a:pt x="1" y="4"/>
                  <a:pt x="5" y="0"/>
                  <a:pt x="10" y="0"/>
                </a:cubicBezTo>
                <a:lnTo>
                  <a:pt x="558" y="0"/>
                </a:lnTo>
                <a:close/>
              </a:path>
            </a:pathLst>
          </a:custGeom>
          <a:solidFill>
            <a:srgbClr val="1E4FA8"/>
          </a:solidFill>
          <a:ln/>
        </p:spPr>
        <p:txBody>
          <a:bodyPr/>
          <a:p>
            <a:pPr/>
            <a:endParaRPr/>
          </a:p>
        </p:txBody>
      </p:sp>
      <p:sp>
        <p:nvSpPr>
          <p:cNvPr id="416" name="" descr="{&quot;isTemplate&quot;:true,&quot;type&quot;:&quot;text&quot;}"/>
          <p:cNvSpPr txBox="1"/>
          <p:nvPr/>
        </p:nvSpPr>
        <p:spPr>
          <a:xfrm rot="0" flipH="0" flipV="0">
            <a:off x="552450" y="1457325"/>
            <a:ext cx="5067300" cy="209550"/>
          </a:xfrm>
          <a:prstGeom prst="rect"/>
        </p:spPr>
        <p:txBody>
          <a:bodyPr wrap="none" lIns="0" tIns="0" rIns="0" bIns="0"/>
          <a:p>
            <a:pPr>
              <a:lnSpc>
                <a:spcPct val="100000"/>
              </a:lnSpc>
            </a:pPr>
            <a:r>
              <a:rPr lang="en-US" sz="1350" b="1">
                <a:solidFill>
                  <a:srgbClr val="0E3F8C"/>
                </a:solidFill>
                <a:latin typeface="Microsoft YaHei"/>
                <a:ea typeface="Microsoft YaHei"/>
              </a:rPr>
              <a:t>01 · Event analysis</a:t>
            </a:r>
            <a:endParaRPr/>
          </a:p>
        </p:txBody>
      </p:sp>
      <p:sp>
        <p:nvSpPr>
          <p:cNvPr id="417" name="" descr="{&quot;isTemplate&quot;:true,&quot;type&quot;:&quot;text&quot;}"/>
          <p:cNvSpPr txBox="1"/>
          <p:nvPr/>
        </p:nvSpPr>
        <p:spPr>
          <a:xfrm rot="0" flipH="0" flipV="0">
            <a:off x="552450" y="1724025"/>
            <a:ext cx="5067300" cy="238125"/>
          </a:xfrm>
          <a:prstGeom prst="rect"/>
        </p:spPr>
        <p:txBody>
          <a:bodyPr wrap="none" lIns="0" tIns="0" rIns="0" bIns="0"/>
          <a:p>
            <a:pPr>
              <a:lnSpc>
                <a:spcPct val="160000"/>
              </a:lnSpc>
            </a:pPr>
            <a:r>
              <a:rPr lang="en-US" sz="975">
                <a:solidFill>
                  <a:srgbClr val="4A5568"/>
                </a:solidFill>
                <a:latin typeface="Microsoft YaHei"/>
                <a:ea typeface="Microsoft YaHei"/>
              </a:rPr>
              <a:t>Start from what happens to the business, then ask what the system must do about it.</a:t>
            </a:r>
            <a:endParaRPr/>
          </a:p>
        </p:txBody>
      </p:sp>
      <p:sp>
        <p:nvSpPr>
          <p:cNvPr id="418" name=""/>
          <p:cNvSpPr/>
          <p:nvPr/>
        </p:nvSpPr>
        <p:spPr>
          <a:xfrm rot="0" flipH="0" flipV="0">
            <a:off x="381000" y="22098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19" name="" descr="{&quot;isTemplate&quot;:true,&quot;type&quot;:&quot;text&quot;}"/>
          <p:cNvSpPr txBox="1"/>
          <p:nvPr/>
        </p:nvSpPr>
        <p:spPr>
          <a:xfrm rot="0" flipH="0" flipV="0">
            <a:off x="523875" y="23241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BEST WHEN</a:t>
            </a:r>
            <a:endParaRPr/>
          </a:p>
        </p:txBody>
      </p:sp>
      <p:sp>
        <p:nvSpPr>
          <p:cNvPr id="420" name="" descr="{&quot;isTemplate&quot;:true,&quot;type&quot;:&quot;text&quot;}"/>
          <p:cNvSpPr txBox="1"/>
          <p:nvPr/>
        </p:nvSpPr>
        <p:spPr>
          <a:xfrm rot="0" flipH="0" flipV="0">
            <a:off x="523875" y="24765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The process is well understood and somebody can list the events</a:t>
            </a:r>
            <a:endParaRPr/>
          </a:p>
        </p:txBody>
      </p:sp>
      <p:sp>
        <p:nvSpPr>
          <p:cNvPr id="421" name=""/>
          <p:cNvSpPr/>
          <p:nvPr/>
        </p:nvSpPr>
        <p:spPr>
          <a:xfrm rot="0" flipH="0" flipV="0">
            <a:off x="381000" y="28956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22" name="" descr="{&quot;isTemplate&quot;:true,&quot;type&quot;:&quot;text&quot;}"/>
          <p:cNvSpPr txBox="1"/>
          <p:nvPr/>
        </p:nvSpPr>
        <p:spPr>
          <a:xfrm rot="0" flipH="0" flipV="0">
            <a:off x="523875" y="30099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YOU GET</a:t>
            </a:r>
            <a:endParaRPr/>
          </a:p>
        </p:txBody>
      </p:sp>
      <p:sp>
        <p:nvSpPr>
          <p:cNvPr id="423" name="" descr="{&quot;isTemplate&quot;:true,&quot;type&quot;:&quot;text&quot;}"/>
          <p:cNvSpPr txBox="1"/>
          <p:nvPr/>
        </p:nvSpPr>
        <p:spPr>
          <a:xfrm rot="0" flipH="0" flipV="0">
            <a:off x="523875" y="31623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A use case per business event — traceable back to the business</a:t>
            </a:r>
            <a:endParaRPr/>
          </a:p>
        </p:txBody>
      </p:sp>
      <p:sp>
        <p:nvSpPr>
          <p:cNvPr id="424" name=""/>
          <p:cNvSpPr/>
          <p:nvPr/>
        </p:nvSpPr>
        <p:spPr>
          <a:xfrm rot="0" flipH="0" flipV="0">
            <a:off x="381000" y="35814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25" name="" descr="{&quot;isTemplate&quot;:true,&quot;type&quot;:&quot;text&quot;}"/>
          <p:cNvSpPr txBox="1"/>
          <p:nvPr/>
        </p:nvSpPr>
        <p:spPr>
          <a:xfrm rot="0" flipH="0" flipV="0">
            <a:off x="523875" y="36957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BLIND SPOT</a:t>
            </a:r>
            <a:endParaRPr/>
          </a:p>
        </p:txBody>
      </p:sp>
      <p:sp>
        <p:nvSpPr>
          <p:cNvPr id="426" name="" descr="{&quot;isTemplate&quot;:true,&quot;type&quot;:&quot;text&quot;}"/>
          <p:cNvSpPr txBox="1"/>
          <p:nvPr/>
        </p:nvSpPr>
        <p:spPr>
          <a:xfrm rot="0" flipH="0" flipV="0">
            <a:off x="523875" y="38481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Misses quiet goals: browsing, searching, comparing</a:t>
            </a:r>
            <a:endParaRPr/>
          </a:p>
        </p:txBody>
      </p:sp>
      <p:sp>
        <p:nvSpPr>
          <p:cNvPr id="427" name=""/>
          <p:cNvSpPr/>
          <p:nvPr/>
        </p:nvSpPr>
        <p:spPr>
          <a:xfrm rot="0" flipH="0" flipV="0">
            <a:off x="381000" y="42672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28" name="" descr="{&quot;isTemplate&quot;:true,&quot;type&quot;:&quot;text&quot;}"/>
          <p:cNvSpPr txBox="1"/>
          <p:nvPr/>
        </p:nvSpPr>
        <p:spPr>
          <a:xfrm rot="0" flipH="0" flipV="0">
            <a:off x="523875" y="43815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EFFORT</a:t>
            </a:r>
            <a:endParaRPr/>
          </a:p>
        </p:txBody>
      </p:sp>
      <p:sp>
        <p:nvSpPr>
          <p:cNvPr id="429" name="" descr="{&quot;isTemplate&quot;:true,&quot;type&quot;:&quot;text&quot;}"/>
          <p:cNvSpPr txBox="1"/>
          <p:nvPr/>
        </p:nvSpPr>
        <p:spPr>
          <a:xfrm rot="0" flipH="0" flipV="0">
            <a:off x="523875" y="45339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Needs a domain expert in the room for an hour</a:t>
            </a:r>
            <a:endParaRPr/>
          </a:p>
        </p:txBody>
      </p:sp>
      <p:sp>
        <p:nvSpPr>
          <p:cNvPr id="430" name=""/>
          <p:cNvSpPr/>
          <p:nvPr/>
        </p:nvSpPr>
        <p:spPr>
          <a:xfrm rot="0" flipH="0" flipV="0">
            <a:off x="6400800" y="1304925"/>
            <a:ext cx="5410200" cy="847725"/>
          </a:xfrm>
          <a:prstGeom prst="roundRect">
            <a:avLst>
              <a:gd name="adj" fmla="val 11236"/>
            </a:avLst>
          </a:prstGeom>
          <a:solidFill>
            <a:srgbClr val="F7F9FC"/>
          </a:solidFill>
          <a:ln/>
        </p:spPr>
        <p:txBody>
          <a:bodyPr/>
          <a:p>
            <a:pPr/>
            <a:endParaRPr/>
          </a:p>
        </p:txBody>
      </p:sp>
      <p:sp>
        <p:nvSpPr>
          <p:cNvPr id="431" name=""/>
          <p:cNvSpPr/>
          <p:nvPr/>
        </p:nvSpPr>
        <p:spPr>
          <a:xfrm rot="0" flipH="0" flipV="0">
            <a:off x="6400800" y="1304925"/>
            <a:ext cx="5410200" cy="847725"/>
          </a:xfrm>
          <a:custGeom>
            <a:pathLst>
              <a:path w="568" h="89">
                <a:moveTo>
                  <a:pt x="558" y="0"/>
                </a:moveTo>
                <a:cubicBezTo>
                  <a:pt x="563" y="0"/>
                  <a:pt x="567" y="4"/>
                  <a:pt x="568" y="8"/>
                </a:cubicBezTo>
                <a:cubicBezTo>
                  <a:pt x="567" y="6"/>
                  <a:pt x="565" y="4"/>
                  <a:pt x="562" y="4"/>
                </a:cubicBezTo>
                <a:lnTo>
                  <a:pt x="6" y="4"/>
                </a:lnTo>
                <a:cubicBezTo>
                  <a:pt x="3" y="4"/>
                  <a:pt x="1" y="6"/>
                  <a:pt x="0" y="9"/>
                </a:cubicBezTo>
                <a:cubicBezTo>
                  <a:pt x="1" y="4"/>
                  <a:pt x="5" y="0"/>
                  <a:pt x="10" y="0"/>
                </a:cubicBezTo>
                <a:lnTo>
                  <a:pt x="558" y="0"/>
                </a:lnTo>
                <a:close/>
              </a:path>
            </a:pathLst>
          </a:custGeom>
          <a:solidFill>
            <a:srgbClr val="3D7BD9"/>
          </a:solidFill>
          <a:ln/>
        </p:spPr>
        <p:txBody>
          <a:bodyPr/>
          <a:p>
            <a:pPr/>
            <a:endParaRPr/>
          </a:p>
        </p:txBody>
      </p:sp>
      <p:sp>
        <p:nvSpPr>
          <p:cNvPr id="432" name="" descr="{&quot;isTemplate&quot;:true,&quot;type&quot;:&quot;text&quot;}"/>
          <p:cNvSpPr txBox="1"/>
          <p:nvPr/>
        </p:nvSpPr>
        <p:spPr>
          <a:xfrm rot="0" flipH="0" flipV="0">
            <a:off x="6572250" y="1457325"/>
            <a:ext cx="5067300" cy="209550"/>
          </a:xfrm>
          <a:prstGeom prst="rect"/>
        </p:spPr>
        <p:txBody>
          <a:bodyPr wrap="none" lIns="0" tIns="0" rIns="0" bIns="0"/>
          <a:p>
            <a:pPr>
              <a:lnSpc>
                <a:spcPct val="100000"/>
              </a:lnSpc>
            </a:pPr>
            <a:r>
              <a:rPr lang="en-US" sz="1350" b="1">
                <a:solidFill>
                  <a:srgbClr val="0E3F8C"/>
                </a:solidFill>
                <a:latin typeface="Microsoft YaHei"/>
                <a:ea typeface="Microsoft YaHei"/>
              </a:rPr>
              <a:t>02 · Noun–verb scanning</a:t>
            </a:r>
            <a:endParaRPr/>
          </a:p>
        </p:txBody>
      </p:sp>
      <p:sp>
        <p:nvSpPr>
          <p:cNvPr id="433" name="" descr="{&quot;isTemplate&quot;:true,&quot;type&quot;:&quot;text&quot;}"/>
          <p:cNvSpPr txBox="1"/>
          <p:nvPr/>
        </p:nvSpPr>
        <p:spPr>
          <a:xfrm rot="0" flipH="0" flipV="0">
            <a:off x="6572250" y="1724025"/>
            <a:ext cx="5067300" cy="238125"/>
          </a:xfrm>
          <a:prstGeom prst="rect"/>
        </p:spPr>
        <p:txBody>
          <a:bodyPr wrap="none" lIns="0" tIns="0" rIns="0" bIns="0"/>
          <a:p>
            <a:pPr>
              <a:lnSpc>
                <a:spcPct val="160000"/>
              </a:lnSpc>
            </a:pPr>
            <a:r>
              <a:rPr lang="en-US" sz="975">
                <a:solidFill>
                  <a:srgbClr val="4A5568"/>
                </a:solidFill>
                <a:latin typeface="Microsoft YaHei"/>
                <a:ea typeface="Microsoft YaHei"/>
              </a:rPr>
              <a:t>Read the narrative. Underline the nouns and the verbs, then sort what you underlined.</a:t>
            </a:r>
            <a:endParaRPr/>
          </a:p>
        </p:txBody>
      </p:sp>
      <p:sp>
        <p:nvSpPr>
          <p:cNvPr id="434" name=""/>
          <p:cNvSpPr/>
          <p:nvPr/>
        </p:nvSpPr>
        <p:spPr>
          <a:xfrm rot="0" flipH="0" flipV="0">
            <a:off x="6400800" y="22098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35" name="" descr="{&quot;isTemplate&quot;:true,&quot;type&quot;:&quot;text&quot;}"/>
          <p:cNvSpPr txBox="1"/>
          <p:nvPr/>
        </p:nvSpPr>
        <p:spPr>
          <a:xfrm rot="0" flipH="0" flipV="0">
            <a:off x="6543675" y="23241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BEST WHEN</a:t>
            </a:r>
            <a:endParaRPr/>
          </a:p>
        </p:txBody>
      </p:sp>
      <p:sp>
        <p:nvSpPr>
          <p:cNvPr id="436" name="" descr="{&quot;isTemplate&quot;:true,&quot;type&quot;:&quot;text&quot;}"/>
          <p:cNvSpPr txBox="1"/>
          <p:nvPr/>
        </p:nvSpPr>
        <p:spPr>
          <a:xfrm rot="0" flipH="0" flipV="0">
            <a:off x="6543675" y="24765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You have a written brief and no expert available</a:t>
            </a:r>
            <a:endParaRPr/>
          </a:p>
        </p:txBody>
      </p:sp>
      <p:sp>
        <p:nvSpPr>
          <p:cNvPr id="437" name=""/>
          <p:cNvSpPr/>
          <p:nvPr/>
        </p:nvSpPr>
        <p:spPr>
          <a:xfrm rot="0" flipH="0" flipV="0">
            <a:off x="6400800" y="28956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38" name="" descr="{&quot;isTemplate&quot;:true,&quot;type&quot;:&quot;text&quot;}"/>
          <p:cNvSpPr txBox="1"/>
          <p:nvPr/>
        </p:nvSpPr>
        <p:spPr>
          <a:xfrm rot="0" flipH="0" flipV="0">
            <a:off x="6543675" y="30099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YOU GET</a:t>
            </a:r>
            <a:endParaRPr/>
          </a:p>
        </p:txBody>
      </p:sp>
      <p:sp>
        <p:nvSpPr>
          <p:cNvPr id="439" name="" descr="{&quot;isTemplate&quot;:true,&quot;type&quot;:&quot;text&quot;}"/>
          <p:cNvSpPr txBox="1"/>
          <p:nvPr/>
        </p:nvSpPr>
        <p:spPr>
          <a:xfrm rot="0" flipH="0" flipV="0">
            <a:off x="6543675" y="31623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Candidate actors and use cases in one pass — plus candidate classes</a:t>
            </a:r>
            <a:endParaRPr/>
          </a:p>
        </p:txBody>
      </p:sp>
      <p:sp>
        <p:nvSpPr>
          <p:cNvPr id="440" name=""/>
          <p:cNvSpPr/>
          <p:nvPr/>
        </p:nvSpPr>
        <p:spPr>
          <a:xfrm rot="0" flipH="0" flipV="0">
            <a:off x="6400800" y="35814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41" name="" descr="{&quot;isTemplate&quot;:true,&quot;type&quot;:&quot;text&quot;}"/>
          <p:cNvSpPr txBox="1"/>
          <p:nvPr/>
        </p:nvSpPr>
        <p:spPr>
          <a:xfrm rot="0" flipH="0" flipV="0">
            <a:off x="6543675" y="36957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BLIND SPOT</a:t>
            </a:r>
            <a:endParaRPr/>
          </a:p>
        </p:txBody>
      </p:sp>
      <p:sp>
        <p:nvSpPr>
          <p:cNvPr id="442" name="" descr="{&quot;isTemplate&quot;:true,&quot;type&quot;:&quot;text&quot;}"/>
          <p:cNvSpPr txBox="1"/>
          <p:nvPr/>
        </p:nvSpPr>
        <p:spPr>
          <a:xfrm rot="0" flipH="0" flipV="0">
            <a:off x="6543675" y="38481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Finds what the text says, not what the text forgot</a:t>
            </a:r>
            <a:endParaRPr/>
          </a:p>
        </p:txBody>
      </p:sp>
      <p:sp>
        <p:nvSpPr>
          <p:cNvPr id="443" name=""/>
          <p:cNvSpPr/>
          <p:nvPr/>
        </p:nvSpPr>
        <p:spPr>
          <a:xfrm rot="0" flipH="0" flipV="0">
            <a:off x="6400800" y="4267200"/>
            <a:ext cx="5410200" cy="609600"/>
          </a:xfrm>
          <a:prstGeom prst="roundRect">
            <a:avLst>
              <a:gd name="adj" fmla="val 12500"/>
            </a:avLst>
          </a:prstGeom>
          <a:solidFill>
            <a:srgbClr val="FFFFFF"/>
          </a:solidFill>
          <a:ln w="12700">
            <a:solidFill>
              <a:srgbClr val="D6DCE5"/>
            </a:solidFill>
            <a:prstDash val="solid"/>
          </a:ln>
        </p:spPr>
        <p:txBody>
          <a:bodyPr/>
          <a:p>
            <a:pPr/>
            <a:endParaRPr/>
          </a:p>
        </p:txBody>
      </p:sp>
      <p:sp>
        <p:nvSpPr>
          <p:cNvPr id="444" name="" descr="{&quot;isTemplate&quot;:true,&quot;type&quot;:&quot;text&quot;}"/>
          <p:cNvSpPr txBox="1"/>
          <p:nvPr/>
        </p:nvSpPr>
        <p:spPr>
          <a:xfrm rot="0" flipH="0" flipV="0">
            <a:off x="6543675" y="4381500"/>
            <a:ext cx="5124450" cy="133350"/>
          </a:xfrm>
          <a:prstGeom prst="rect"/>
        </p:spPr>
        <p:txBody>
          <a:bodyPr wrap="none" lIns="0" tIns="0" rIns="0" bIns="0"/>
          <a:p>
            <a:pPr>
              <a:lnSpc>
                <a:spcPct val="100000"/>
              </a:lnSpc>
            </a:pPr>
            <a:r>
              <a:rPr lang="en-US" sz="863">
                <a:solidFill>
                  <a:srgbClr val="8B97A8"/>
                </a:solidFill>
                <a:latin typeface="Microsoft YaHei"/>
                <a:ea typeface="Microsoft YaHei"/>
              </a:rPr>
              <a:t>EFFORT</a:t>
            </a:r>
            <a:endParaRPr/>
          </a:p>
        </p:txBody>
      </p:sp>
      <p:sp>
        <p:nvSpPr>
          <p:cNvPr id="445" name="" descr="{&quot;isTemplate&quot;:true,&quot;type&quot;:&quot;text&quot;}"/>
          <p:cNvSpPr txBox="1"/>
          <p:nvPr/>
        </p:nvSpPr>
        <p:spPr>
          <a:xfrm rot="0" flipH="0" flipV="0">
            <a:off x="6543675" y="4533900"/>
            <a:ext cx="5124450" cy="228600"/>
          </a:xfrm>
          <a:prstGeom prst="rect"/>
        </p:spPr>
        <p:txBody>
          <a:bodyPr wrap="none" lIns="0" tIns="0" rIns="0" bIns="0"/>
          <a:p>
            <a:pPr>
              <a:lnSpc>
                <a:spcPct val="150000"/>
              </a:lnSpc>
            </a:pPr>
            <a:r>
              <a:rPr lang="en-US" sz="975">
                <a:solidFill>
                  <a:srgbClr val="4A5568"/>
                </a:solidFill>
                <a:latin typeface="Microsoft YaHei"/>
                <a:ea typeface="Microsoft YaHei"/>
              </a:rPr>
              <a:t>Twenty minutes alone with a highlighter</a:t>
            </a:r>
            <a:endParaRPr/>
          </a:p>
        </p:txBody>
      </p:sp>
      <p:sp>
        <p:nvSpPr>
          <p:cNvPr id="446" name=""/>
          <p:cNvSpPr/>
          <p:nvPr/>
        </p:nvSpPr>
        <p:spPr>
          <a:xfrm rot="0" flipH="0" flipV="0">
            <a:off x="0" y="6419850"/>
            <a:ext cx="12192000" cy="438150"/>
          </a:xfrm>
          <a:prstGeom prst="rect">
            <a:avLst/>
          </a:prstGeom>
          <a:solidFill>
            <a:srgbClr val="0E3F8C"/>
          </a:solidFill>
          <a:ln/>
        </p:spPr>
        <p:txBody>
          <a:bodyPr/>
          <a:p>
            <a:pPr/>
            <a:endParaRPr/>
          </a:p>
        </p:txBody>
      </p:sp>
      <p:sp>
        <p:nvSpPr>
          <p:cNvPr id="447" name="" descr="{&quot;isTemplate&quot;:true,&quot;type&quot;:&quot;text&quot;}"/>
          <p:cNvSpPr txBox="1"/>
          <p:nvPr/>
        </p:nvSpPr>
        <p:spPr>
          <a:xfrm rot="0" flipH="0" flipV="0">
            <a:off x="2352675" y="6543675"/>
            <a:ext cx="7486650" cy="190500"/>
          </a:xfrm>
          <a:prstGeom prst="rect"/>
        </p:spPr>
        <p:txBody>
          <a:bodyPr wrap="none" lIns="0" tIns="0" rIns="0" bIns="0"/>
          <a:p>
            <a:pPr>
              <a:lnSpc>
                <a:spcPct val="100000"/>
              </a:lnSpc>
            </a:pPr>
            <a:r>
              <a:rPr lang="en-US" sz="1200" b="1">
                <a:solidFill>
                  <a:srgbClr val="FFFFFF"/>
                </a:solidFill>
                <a:latin typeface="Microsoft YaHei"/>
                <a:ea typeface="Microsoft YaHei"/>
              </a:rPr>
              <a:t>Run both. Where they agree, you are confident; where they disagree, you have found a question to ask.</a:t>
            </a:r>
            <a:endParaRPr/>
          </a:p>
        </p:txBody>
      </p:sp>
    </p:spTree>
  </p:cSld>
</p:sld>
</file>

<file path=ppt/slides/slide26.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448" name=""/>
        <p:cNvGrpSpPr/>
        <p:nvPr/>
      </p:nvGrpSpPr>
      <p:grpSpPr>
        <a:xfrm>
          <a:off x="0" y="0"/>
          <a:ext cx="0" cy="0"/>
          <a:chOff x="0" y="0"/>
          <a:chExt cx="0" cy="0"/>
        </a:xfrm>
      </p:grpSpPr>
      <p:sp>
        <p:nvSpPr>
          <p:cNvPr id="449" name=""/>
          <p:cNvSpPr/>
          <p:nvPr/>
        </p:nvSpPr>
        <p:spPr>
          <a:xfrm rot="0" flipH="0" flipV="0">
            <a:off x="0" y="0"/>
            <a:ext cx="12192000" cy="6858000"/>
          </a:xfrm>
          <a:prstGeom prst="rect">
            <a:avLst/>
          </a:prstGeom>
          <a:solidFill>
            <a:srgbClr val="FFFFFF"/>
          </a:solidFill>
          <a:ln/>
        </p:spPr>
        <p:txBody>
          <a:bodyPr/>
          <a:p>
            <a:pPr/>
            <a:endParaRPr/>
          </a:p>
        </p:txBody>
      </p:sp>
      <p:sp>
        <p:nvSpPr>
          <p:cNvPr id="450" name=""/>
          <p:cNvSpPr/>
          <p:nvPr/>
        </p:nvSpPr>
        <p:spPr>
          <a:xfrm rot="0" flipH="0" flipV="0">
            <a:off x="0" y="0"/>
            <a:ext cx="12192000" cy="685800"/>
          </a:xfrm>
          <a:prstGeom prst="rect">
            <a:avLst/>
          </a:prstGeom>
          <a:solidFill>
            <a:srgbClr val="1E4FA8"/>
          </a:solidFill>
          <a:ln/>
        </p:spPr>
        <p:txBody>
          <a:bodyPr/>
          <a:p>
            <a:pPr/>
            <a:endParaRPr/>
          </a:p>
        </p:txBody>
      </p:sp>
      <p:sp>
        <p:nvSpPr>
          <p:cNvPr id="451"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52"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W04 · FINDING USE CASES</a:t>
            </a:r>
            <a:endParaRPr/>
          </a:p>
        </p:txBody>
      </p:sp>
      <p:sp>
        <p:nvSpPr>
          <p:cNvPr id="453" name="" descr="{&quot;isTemplate&quot;:true,&quot;type&quot;:&quot;text&quot;}"/>
          <p:cNvSpPr txBox="1"/>
          <p:nvPr/>
        </p:nvSpPr>
        <p:spPr>
          <a:xfrm rot="0" flipH="0" flipV="0">
            <a:off x="381000" y="819150"/>
            <a:ext cx="2105025" cy="333375"/>
          </a:xfrm>
          <a:prstGeom prst="rect"/>
        </p:spPr>
        <p:txBody>
          <a:bodyPr wrap="none" lIns="0" tIns="0" rIns="0" bIns="0"/>
          <a:p>
            <a:pPr>
              <a:lnSpc>
                <a:spcPct val="100000"/>
              </a:lnSpc>
            </a:pPr>
            <a:r>
              <a:rPr lang="en-US" sz="2175" b="1">
                <a:solidFill>
                  <a:srgbClr val="0E3F8C"/>
                </a:solidFill>
                <a:latin typeface="Microsoft YaHei"/>
                <a:ea typeface="Microsoft YaHei"/>
              </a:rPr>
              <a:t>The Event Table</a:t>
            </a:r>
            <a:endParaRPr/>
          </a:p>
        </p:txBody>
      </p:sp>
      <p:sp>
        <p:nvSpPr>
          <p:cNvPr id="454"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26 / 38</a:t>
            </a:r>
            <a:endParaRPr/>
          </a:p>
        </p:txBody>
      </p:sp>
      <p:graphicFrame>
        <p:nvGraphicFramePr>
          <p:cNvPr id="455" name=""/>
          <p:cNvGraphicFramePr/>
          <p:nvPr/>
        </p:nvGraphicFramePr>
        <p:xfrm rot="0" flipH="0" flipV="0">
          <a:off x="381000" y="1247775"/>
          <a:ext cx="11430000" cy="5114925"/>
        </p:xfrm>
        <a:graphic>
          <a:graphicData uri="http://schemas.openxmlformats.org/drawingml/2006/table">
            <a:tbl>
              <a:tblGrid>
                <a:gridCol w="3133909">
                  <a:extLst>
                    <a:ext uri="{9D8B030D-6E8A-4147-A177-3AD203B41FA5}">
                      <a16:colId val="1"/>
                    </a:ext>
                  </a:extLst>
                </a:gridCol>
                <a:gridCol w="1850354">
                  <a:extLst>
                    <a:ext uri="{9D8B030D-6E8A-4147-A177-3AD203B41FA5}">
                      <a16:colId val="2"/>
                    </a:ext>
                  </a:extLst>
                </a:gridCol>
                <a:gridCol w="4506424">
                  <a:extLst>
                    <a:ext uri="{9D8B030D-6E8A-4147-A177-3AD203B41FA5}">
                      <a16:colId val="3"/>
                    </a:ext>
                  </a:extLst>
                </a:gridCol>
                <a:gridCol w="1939313">
                  <a:extLst>
                    <a:ext uri="{9D8B030D-6E8A-4147-A177-3AD203B41FA5}">
                      <a16:colId val="4"/>
                    </a:ext>
                  </a:extLst>
                </a:gridCol>
              </a:tblGrid>
              <a:tr h="730704">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External event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Who triggers it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What the system must do</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13" b="1">
                          <a:solidFill>
                            <a:srgbClr val="FFFFFF"/>
                          </a:solidFill>
                          <a:latin typeface="Microsoft YaHei"/>
                          <a:ea typeface="Microsoft YaHei"/>
                        </a:rPr>
                        <a:t>Use case</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student wants lunch</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Show the menu, take the selection, take the money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Place Order</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restaurant changes its menu</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Restaurant Manager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Let the manager mark items sold out before service starts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Manage Today’s Menu</a:t>
                      </a:r>
                      <a:endParaRPr/>
                    </a:p>
                  </a:txBody>
                  <a:tcPr marL="45720" marR="45720" marT="45720" marB="45720" anchor="ctr">
                    <a:lnL>
                      <a:noFill/>
                    </a:lnL>
                    <a:lnR>
                      <a:noFill/>
                    </a:lnR>
                    <a:lnT>
                      <a:noFill/>
                    </a:lnT>
                    <a:lnB>
                      <a:noFill/>
                    </a:lnB>
                  </a:tcPr>
                </a:tc>
                <a:extLst>
                  <a:ext uri="{0D108BD9-81ED-4DB2-BD59-A6C34878D82A}">
                    <a16:rowId val="3"/>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An order is ready for pickup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Kitchen (system clock)</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Find an available courier and assign the delivery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Dispatch Courier</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student wants to know where lunch is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Show the current status of a live order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Track Order</a:t>
                      </a:r>
                      <a:endParaRPr/>
                    </a:p>
                  </a:txBody>
                  <a:tcPr marL="45720" marR="45720" marT="45720" marB="45720" anchor="ctr">
                    <a:lnL>
                      <a:noFill/>
                    </a:lnL>
                    <a:lnR>
                      <a:noFill/>
                    </a:lnR>
                    <a:lnT>
                      <a:noFill/>
                    </a:lnT>
                    <a:lnB>
                      <a:noFill/>
                    </a:lnB>
                  </a:tcPr>
                </a:tc>
                <a:extLst>
                  <a:ext uri="{0D108BD9-81ED-4DB2-BD59-A6C34878D82A}">
                    <a16:rowId val="5"/>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delivery has arrived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Courier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Close the order, record the arrival time, open the rating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Confirm Delivery</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0704">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payment is declined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Payment Provider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Tell the student, hold the order for thirty minutes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Pay for Order</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456" name=""/>
          <p:cNvSpPr/>
          <p:nvPr/>
        </p:nvSpPr>
        <p:spPr>
          <a:xfrm rot="0" flipH="0" flipV="0">
            <a:off x="0" y="6419850"/>
            <a:ext cx="12192000" cy="438150"/>
          </a:xfrm>
          <a:prstGeom prst="rect">
            <a:avLst/>
          </a:prstGeom>
          <a:solidFill>
            <a:srgbClr val="0E3F8C"/>
          </a:solidFill>
          <a:ln/>
        </p:spPr>
        <p:txBody>
          <a:bodyPr/>
          <a:p>
            <a:pPr/>
            <a:endParaRPr/>
          </a:p>
        </p:txBody>
      </p:sp>
      <p:sp>
        <p:nvSpPr>
          <p:cNvPr id="457" name="" descr="{&quot;isTemplate&quot;:true,&quot;type&quot;:&quot;text&quot;}"/>
          <p:cNvSpPr txBox="1"/>
          <p:nvPr/>
        </p:nvSpPr>
        <p:spPr>
          <a:xfrm rot="0" flipH="0" flipV="0">
            <a:off x="2476500" y="6543675"/>
            <a:ext cx="7248525" cy="190500"/>
          </a:xfrm>
          <a:prstGeom prst="rect"/>
        </p:spPr>
        <p:txBody>
          <a:bodyPr wrap="none" lIns="0" tIns="0" rIns="0" bIns="0"/>
          <a:p>
            <a:pPr>
              <a:lnSpc>
                <a:spcPct val="100000"/>
              </a:lnSpc>
            </a:pPr>
            <a:r>
              <a:rPr lang="en-US" sz="1200" b="1">
                <a:solidFill>
                  <a:srgbClr val="FFFFFF"/>
                </a:solidFill>
                <a:latin typeface="Microsoft YaHei"/>
                <a:ea typeface="Microsoft YaHei"/>
              </a:rPr>
              <a:t>One row per event, one verb phrase per row — if two rows produce the same use case, merge them.</a:t>
            </a:r>
            <a:endParaRPr/>
          </a:p>
        </p:txBody>
      </p:sp>
    </p:spTree>
  </p:cSld>
</p:sld>
</file>

<file path=ppt/slides/slide27.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458" name=""/>
        <p:cNvGrpSpPr/>
        <p:nvPr/>
      </p:nvGrpSpPr>
      <p:grpSpPr>
        <a:xfrm>
          <a:off x="0" y="0"/>
          <a:ext cx="0" cy="0"/>
          <a:chOff x="0" y="0"/>
          <a:chExt cx="0" cy="0"/>
        </a:xfrm>
      </p:grpSpPr>
      <p:sp>
        <p:nvSpPr>
          <p:cNvPr id="459" name=""/>
          <p:cNvSpPr/>
          <p:nvPr/>
        </p:nvSpPr>
        <p:spPr>
          <a:xfrm rot="0" flipH="0" flipV="0">
            <a:off x="0" y="0"/>
            <a:ext cx="12192000" cy="6858000"/>
          </a:xfrm>
          <a:prstGeom prst="rect">
            <a:avLst/>
          </a:prstGeom>
          <a:solidFill>
            <a:srgbClr val="FFFFFF"/>
          </a:solidFill>
          <a:ln/>
        </p:spPr>
        <p:txBody>
          <a:bodyPr/>
          <a:p>
            <a:pPr/>
            <a:endParaRPr/>
          </a:p>
        </p:txBody>
      </p:sp>
      <p:sp>
        <p:nvSpPr>
          <p:cNvPr id="460" name=""/>
          <p:cNvSpPr/>
          <p:nvPr/>
        </p:nvSpPr>
        <p:spPr>
          <a:xfrm rot="0" flipH="0" flipV="0">
            <a:off x="0" y="0"/>
            <a:ext cx="12192000" cy="685800"/>
          </a:xfrm>
          <a:prstGeom prst="rect">
            <a:avLst/>
          </a:prstGeom>
          <a:solidFill>
            <a:srgbClr val="1E4FA8"/>
          </a:solidFill>
          <a:ln/>
        </p:spPr>
        <p:txBody>
          <a:bodyPr/>
          <a:p>
            <a:pPr/>
            <a:endParaRPr/>
          </a:p>
        </p:txBody>
      </p:sp>
      <p:sp>
        <p:nvSpPr>
          <p:cNvPr id="461"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62"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W04 · FINDING USE CASES</a:t>
            </a:r>
            <a:endParaRPr/>
          </a:p>
        </p:txBody>
      </p:sp>
      <p:sp>
        <p:nvSpPr>
          <p:cNvPr id="463" name="" descr="{&quot;isTemplate&quot;:true,&quot;type&quot;:&quot;text&quot;}"/>
          <p:cNvSpPr txBox="1"/>
          <p:nvPr/>
        </p:nvSpPr>
        <p:spPr>
          <a:xfrm rot="0" flipH="0" flipV="0">
            <a:off x="381000" y="800100"/>
            <a:ext cx="2876550" cy="342900"/>
          </a:xfrm>
          <a:prstGeom prst="rect"/>
        </p:spPr>
        <p:txBody>
          <a:bodyPr wrap="none" lIns="0" tIns="0" rIns="0" bIns="0"/>
          <a:p>
            <a:pPr>
              <a:lnSpc>
                <a:spcPct val="100000"/>
              </a:lnSpc>
            </a:pPr>
            <a:r>
              <a:rPr lang="en-US" sz="2250" b="1">
                <a:solidFill>
                  <a:srgbClr val="0E3F8C"/>
                </a:solidFill>
                <a:latin typeface="Microsoft YaHei"/>
                <a:ea typeface="Microsoft YaHei"/>
              </a:rPr>
              <a:t>Noun–Verb Scanning</a:t>
            </a:r>
            <a:endParaRPr/>
          </a:p>
        </p:txBody>
      </p:sp>
      <p:sp>
        <p:nvSpPr>
          <p:cNvPr id="464"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27 / 38</a:t>
            </a:r>
            <a:endParaRPr/>
          </a:p>
        </p:txBody>
      </p:sp>
      <p:pic>
        <p:nvPicPr>
          <p:cNvPr id="465" name=""/>
          <p:cNvPicPr>
            <a:picLocks noChangeAspect="1"/>
          </p:cNvPicPr>
          <p:nvPr/>
        </p:nvPicPr>
        <p:blipFill>
          <a:blip>
            <a:extLst>
              <a:ext uri="{96DAC541-7B7A-43D3-8B79-37D633B846F1}">
                <asvg:svgBlip r:embed="rId1"/>
              </a:ext>
            </a:extLst>
          </a:blip>
          <a:stretch>
            <a:fillRect/>
          </a:stretch>
        </p:blipFill>
        <p:spPr>
          <a:xfrm rot="0" flipH="0" flipV="0">
            <a:off x="476250" y="2038350"/>
            <a:ext cx="11239500" cy="3638550"/>
          </a:xfrm>
          <a:prstGeom prst="rect">
            <a:avLst/>
          </a:prstGeom>
          <a:ln/>
        </p:spPr>
      </p:pic>
      <p:sp>
        <p:nvSpPr>
          <p:cNvPr id="466" name="" descr="{&quot;isTemplate&quot;:true,&quot;type&quot;:&quot;text&quot;}"/>
          <p:cNvSpPr txBox="1"/>
          <p:nvPr/>
        </p:nvSpPr>
        <p:spPr>
          <a:xfrm rot="0" flipH="0" flipV="0">
            <a:off x="381000" y="6619875"/>
            <a:ext cx="56102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scan gives you candidates, not answers — you still have to say “is this a goal?”</a:t>
            </a:r>
            <a:endParaRPr/>
          </a:p>
        </p:txBody>
      </p:sp>
      <p:sp>
        <p:nvSpPr>
          <p:cNvPr id="467"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27 / 38</a:t>
            </a:r>
            <a:endParaRPr/>
          </a:p>
        </p:txBody>
      </p:sp>
    </p:spTree>
  </p:cSld>
</p:sld>
</file>

<file path=ppt/slides/slide28.xml><?xml version="1.0" encoding="utf-8"?>
<p:sld xmlns:a="http://schemas.openxmlformats.org/drawingml/2006/main" xmlns:p="http://schemas.openxmlformats.org/presentationml/2006/main">
  <p:cSld>
    <p:spTree>
      <p:nvGrpSpPr>
        <p:cNvPr id="468" name=""/>
        <p:cNvGrpSpPr/>
        <p:nvPr/>
      </p:nvGrpSpPr>
      <p:grpSpPr>
        <a:xfrm>
          <a:off x="0" y="0"/>
          <a:ext cx="0" cy="0"/>
          <a:chOff x="0" y="0"/>
          <a:chExt cx="0" cy="0"/>
        </a:xfrm>
      </p:grpSpPr>
      <p:sp>
        <p:nvSpPr>
          <p:cNvPr id="469" name=""/>
          <p:cNvSpPr/>
          <p:nvPr/>
        </p:nvSpPr>
        <p:spPr>
          <a:xfrm rot="0" flipH="0" flipV="0">
            <a:off x="0" y="0"/>
            <a:ext cx="12192000" cy="6858000"/>
          </a:xfrm>
          <a:prstGeom prst="rect">
            <a:avLst/>
          </a:prstGeom>
          <a:solidFill>
            <a:srgbClr val="FFFFFF"/>
          </a:solidFill>
          <a:ln/>
        </p:spPr>
        <p:txBody>
          <a:bodyPr/>
          <a:p>
            <a:pPr/>
            <a:endParaRPr/>
          </a:p>
        </p:txBody>
      </p:sp>
      <p:sp>
        <p:nvSpPr>
          <p:cNvPr id="470" name=""/>
          <p:cNvSpPr/>
          <p:nvPr/>
        </p:nvSpPr>
        <p:spPr>
          <a:xfrm rot="0" flipH="0" flipV="0">
            <a:off x="0" y="0"/>
            <a:ext cx="12192000" cy="685800"/>
          </a:xfrm>
          <a:prstGeom prst="rect">
            <a:avLst/>
          </a:prstGeom>
          <a:solidFill>
            <a:srgbClr val="1E4FA8"/>
          </a:solidFill>
          <a:ln/>
        </p:spPr>
        <p:txBody>
          <a:bodyPr/>
          <a:p>
            <a:pPr/>
            <a:endParaRPr/>
          </a:p>
        </p:txBody>
      </p:sp>
      <p:sp>
        <p:nvSpPr>
          <p:cNvPr id="471"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72"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W04 · FINDING USE CASES</a:t>
            </a:r>
            <a:endParaRPr/>
          </a:p>
        </p:txBody>
      </p:sp>
      <p:sp>
        <p:nvSpPr>
          <p:cNvPr id="473" name="" descr="{&quot;isTemplate&quot;:true,&quot;type&quot;:&quot;text&quot;}"/>
          <p:cNvSpPr txBox="1"/>
          <p:nvPr/>
        </p:nvSpPr>
        <p:spPr>
          <a:xfrm rot="0" flipH="0" flipV="0">
            <a:off x="381000" y="819150"/>
            <a:ext cx="4076700" cy="333375"/>
          </a:xfrm>
          <a:prstGeom prst="rect"/>
        </p:spPr>
        <p:txBody>
          <a:bodyPr wrap="none" lIns="0" tIns="0" rIns="0" bIns="0"/>
          <a:p>
            <a:pPr>
              <a:lnSpc>
                <a:spcPct val="100000"/>
              </a:lnSpc>
            </a:pPr>
            <a:r>
              <a:rPr lang="en-US" sz="2175" b="1">
                <a:solidFill>
                  <a:srgbClr val="0E3F8C"/>
                </a:solidFill>
                <a:latin typeface="Microsoft YaHei"/>
                <a:ea typeface="Microsoft YaHei"/>
              </a:rPr>
              <a:t>Six Use Cases of CampusBites</a:t>
            </a:r>
            <a:endParaRPr/>
          </a:p>
        </p:txBody>
      </p:sp>
      <p:sp>
        <p:nvSpPr>
          <p:cNvPr id="474"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28 / 38</a:t>
            </a:r>
            <a:endParaRPr/>
          </a:p>
        </p:txBody>
      </p:sp>
      <p:sp>
        <p:nvSpPr>
          <p:cNvPr id="475" name=""/>
          <p:cNvSpPr/>
          <p:nvPr/>
        </p:nvSpPr>
        <p:spPr>
          <a:xfrm rot="0" flipH="0" flipV="0">
            <a:off x="381000" y="1323975"/>
            <a:ext cx="1790700" cy="5133975"/>
          </a:xfrm>
          <a:prstGeom prst="roundRect">
            <a:avLst>
              <a:gd name="adj" fmla="val 5319"/>
            </a:avLst>
          </a:prstGeom>
          <a:solidFill>
            <a:srgbClr val="FFFFFF"/>
          </a:solidFill>
          <a:ln/>
        </p:spPr>
        <p:txBody>
          <a:bodyPr/>
          <a:p>
            <a:pPr/>
            <a:endParaRPr/>
          </a:p>
        </p:txBody>
      </p:sp>
      <p:sp>
        <p:nvSpPr>
          <p:cNvPr id="476" name=""/>
          <p:cNvSpPr/>
          <p:nvPr/>
        </p:nvSpPr>
        <p:spPr>
          <a:xfrm rot="0" flipH="0" flipV="0">
            <a:off x="381000" y="1323975"/>
            <a:ext cx="1790700" cy="5133975"/>
          </a:xfrm>
          <a:custGeom>
            <a:pathLst>
              <a:path w="188" h="539">
                <a:moveTo>
                  <a:pt x="178" y="0"/>
                </a:moveTo>
                <a:cubicBezTo>
                  <a:pt x="183" y="0"/>
                  <a:pt x="187" y="4"/>
                  <a:pt x="188" y="8"/>
                </a:cubicBezTo>
                <a:cubicBezTo>
                  <a:pt x="187" y="6"/>
                  <a:pt x="185" y="4"/>
                  <a:pt x="182" y="4"/>
                </a:cubicBezTo>
                <a:lnTo>
                  <a:pt x="6" y="4"/>
                </a:lnTo>
                <a:cubicBezTo>
                  <a:pt x="3" y="4"/>
                  <a:pt x="1" y="6"/>
                  <a:pt x="0" y="9"/>
                </a:cubicBezTo>
                <a:cubicBezTo>
                  <a:pt x="1" y="4"/>
                  <a:pt x="5" y="0"/>
                  <a:pt x="10" y="0"/>
                </a:cubicBezTo>
                <a:lnTo>
                  <a:pt x="178" y="0"/>
                </a:lnTo>
                <a:close/>
              </a:path>
            </a:pathLst>
          </a:custGeom>
          <a:solidFill>
            <a:srgbClr val="1E4FA8"/>
          </a:solidFill>
          <a:ln/>
        </p:spPr>
        <p:txBody>
          <a:bodyPr/>
          <a:p>
            <a:pPr/>
            <a:endParaRPr/>
          </a:p>
        </p:txBody>
      </p:sp>
      <p:sp>
        <p:nvSpPr>
          <p:cNvPr id="477" name="" descr="{&quot;isTemplate&quot;:true,&quot;type&quot;:&quot;text&quot;}"/>
          <p:cNvSpPr txBox="1"/>
          <p:nvPr/>
        </p:nvSpPr>
        <p:spPr>
          <a:xfrm rot="0" flipH="0" flipV="0">
            <a:off x="514350" y="1476375"/>
            <a:ext cx="1524000" cy="152400"/>
          </a:xfrm>
          <a:prstGeom prst="rect"/>
        </p:spPr>
        <p:txBody>
          <a:bodyPr wrap="none" lIns="0" tIns="0" rIns="0" bIns="0"/>
          <a:p>
            <a:pPr>
              <a:lnSpc>
                <a:spcPct val="100000"/>
              </a:lnSpc>
            </a:pPr>
            <a:r>
              <a:rPr lang="en-US" sz="975" b="1" spc="75">
                <a:solidFill>
                  <a:srgbClr val="8B97A8"/>
                </a:solidFill>
                <a:latin typeface="Microsoft YaHei"/>
                <a:ea typeface="Microsoft YaHei"/>
              </a:rPr>
              <a:t>01</a:t>
            </a:r>
            <a:endParaRPr/>
          </a:p>
        </p:txBody>
      </p:sp>
      <p:sp>
        <p:nvSpPr>
          <p:cNvPr id="478" name="" descr="{&quot;isTemplate&quot;:true,&quot;type&quot;:&quot;text&quot;}"/>
          <p:cNvSpPr txBox="1"/>
          <p:nvPr/>
        </p:nvSpPr>
        <p:spPr>
          <a:xfrm rot="0" flipH="0" flipV="0">
            <a:off x="514350" y="1685925"/>
            <a:ext cx="1524000" cy="238125"/>
          </a:xfrm>
          <a:prstGeom prst="rect"/>
        </p:spPr>
        <p:txBody>
          <a:bodyPr wrap="none" lIns="0" tIns="0" rIns="0" bIns="0"/>
          <a:p>
            <a:pPr>
              <a:lnSpc>
                <a:spcPct val="130000"/>
              </a:lnSpc>
            </a:pPr>
            <a:r>
              <a:rPr lang="en-US" sz="1163" b="1">
                <a:solidFill>
                  <a:srgbClr val="0E3F8C"/>
                </a:solidFill>
                <a:latin typeface="Microsoft YaHei"/>
                <a:ea typeface="Microsoft YaHei"/>
              </a:rPr>
              <a:t>Place Order</a:t>
            </a:r>
            <a:endParaRPr/>
          </a:p>
        </p:txBody>
      </p:sp>
      <p:sp>
        <p:nvSpPr>
          <p:cNvPr id="479" name=""/>
          <p:cNvSpPr/>
          <p:nvPr/>
        </p:nvSpPr>
        <p:spPr>
          <a:xfrm rot="0" flipH="0" flipV="0">
            <a:off x="514350" y="2019300"/>
            <a:ext cx="561975" cy="209550"/>
          </a:xfrm>
          <a:prstGeom prst="roundRect">
            <a:avLst>
              <a:gd name="adj" fmla="val 18182"/>
            </a:avLst>
          </a:prstGeom>
          <a:solidFill>
            <a:srgbClr val="F0F5FC"/>
          </a:solidFill>
          <a:ln/>
        </p:spPr>
        <p:txBody>
          <a:bodyPr/>
          <a:p>
            <a:pPr/>
            <a:endParaRPr/>
          </a:p>
        </p:txBody>
      </p:sp>
      <p:sp>
        <p:nvSpPr>
          <p:cNvPr id="480" name="" descr="{&quot;isTemplate&quot;:true,&quot;type&quot;:&quot;text&quot;}"/>
          <p:cNvSpPr txBox="1"/>
          <p:nvPr/>
        </p:nvSpPr>
        <p:spPr>
          <a:xfrm rot="0" flipH="0" flipV="0">
            <a:off x="590550" y="2057400"/>
            <a:ext cx="409575" cy="133350"/>
          </a:xfrm>
          <a:prstGeom prst="rect"/>
        </p:spPr>
        <p:txBody>
          <a:bodyPr wrap="none" lIns="0" tIns="0" rIns="0" bIns="0"/>
          <a:p>
            <a:pPr>
              <a:lnSpc>
                <a:spcPct val="100000"/>
              </a:lnSpc>
            </a:pPr>
            <a:r>
              <a:rPr lang="en-US" sz="863" b="1">
                <a:solidFill>
                  <a:srgbClr val="1E4FA8"/>
                </a:solidFill>
                <a:latin typeface="Microsoft YaHei"/>
                <a:ea typeface="Microsoft YaHei"/>
              </a:rPr>
              <a:t>Student</a:t>
            </a:r>
            <a:endParaRPr/>
          </a:p>
        </p:txBody>
      </p:sp>
      <p:sp>
        <p:nvSpPr>
          <p:cNvPr id="481" name="" descr="{&quot;isTemplate&quot;:true,&quot;type&quot;:&quot;text&quot;}"/>
          <p:cNvSpPr txBox="1"/>
          <p:nvPr/>
        </p:nvSpPr>
        <p:spPr>
          <a:xfrm rot="0" flipH="0" flipV="0">
            <a:off x="514350" y="2324100"/>
            <a:ext cx="1524000"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the order is accepted and paid for</a:t>
            </a:r>
            <a:endParaRPr/>
          </a:p>
        </p:txBody>
      </p:sp>
      <p:sp>
        <p:nvSpPr>
          <p:cNvPr id="482" name=""/>
          <p:cNvSpPr/>
          <p:nvPr/>
        </p:nvSpPr>
        <p:spPr>
          <a:xfrm rot="0" flipH="0" flipV="0">
            <a:off x="2305050" y="1323975"/>
            <a:ext cx="1800225" cy="5133975"/>
          </a:xfrm>
          <a:prstGeom prst="roundRect">
            <a:avLst>
              <a:gd name="adj" fmla="val 5291"/>
            </a:avLst>
          </a:prstGeom>
          <a:solidFill>
            <a:srgbClr val="FFFFFF"/>
          </a:solidFill>
          <a:ln/>
        </p:spPr>
        <p:txBody>
          <a:bodyPr/>
          <a:p>
            <a:pPr/>
            <a:endParaRPr/>
          </a:p>
        </p:txBody>
      </p:sp>
      <p:sp>
        <p:nvSpPr>
          <p:cNvPr id="483" name=""/>
          <p:cNvSpPr/>
          <p:nvPr/>
        </p:nvSpPr>
        <p:spPr>
          <a:xfrm rot="0" flipH="0" flipV="0">
            <a:off x="2305050" y="1323975"/>
            <a:ext cx="1800225" cy="5133975"/>
          </a:xfrm>
          <a:custGeom>
            <a:pathLst>
              <a:path w="189" h="539">
                <a:moveTo>
                  <a:pt x="179" y="0"/>
                </a:moveTo>
                <a:cubicBezTo>
                  <a:pt x="184" y="0"/>
                  <a:pt x="188" y="4"/>
                  <a:pt x="189" y="8"/>
                </a:cubicBezTo>
                <a:cubicBezTo>
                  <a:pt x="188" y="6"/>
                  <a:pt x="186" y="4"/>
                  <a:pt x="183" y="4"/>
                </a:cubicBezTo>
                <a:lnTo>
                  <a:pt x="6" y="4"/>
                </a:lnTo>
                <a:cubicBezTo>
                  <a:pt x="3" y="4"/>
                  <a:pt x="1" y="6"/>
                  <a:pt x="0" y="9"/>
                </a:cubicBezTo>
                <a:cubicBezTo>
                  <a:pt x="1" y="4"/>
                  <a:pt x="5" y="0"/>
                  <a:pt x="10" y="0"/>
                </a:cubicBezTo>
                <a:lnTo>
                  <a:pt x="179" y="0"/>
                </a:lnTo>
                <a:close/>
              </a:path>
            </a:pathLst>
          </a:custGeom>
          <a:solidFill>
            <a:srgbClr val="1E4FA8"/>
          </a:solidFill>
          <a:ln/>
        </p:spPr>
        <p:txBody>
          <a:bodyPr/>
          <a:p>
            <a:pPr/>
            <a:endParaRPr/>
          </a:p>
        </p:txBody>
      </p:sp>
      <p:sp>
        <p:nvSpPr>
          <p:cNvPr id="484" name="" descr="{&quot;isTemplate&quot;:true,&quot;type&quot;:&quot;text&quot;}"/>
          <p:cNvSpPr txBox="1"/>
          <p:nvPr/>
        </p:nvSpPr>
        <p:spPr>
          <a:xfrm rot="0" flipH="0" flipV="0">
            <a:off x="2438400" y="1476375"/>
            <a:ext cx="1533525" cy="152400"/>
          </a:xfrm>
          <a:prstGeom prst="rect"/>
        </p:spPr>
        <p:txBody>
          <a:bodyPr wrap="none" lIns="0" tIns="0" rIns="0" bIns="0"/>
          <a:p>
            <a:pPr>
              <a:lnSpc>
                <a:spcPct val="100000"/>
              </a:lnSpc>
            </a:pPr>
            <a:r>
              <a:rPr lang="en-US" sz="975" b="1" spc="75">
                <a:solidFill>
                  <a:srgbClr val="8B97A8"/>
                </a:solidFill>
                <a:latin typeface="Microsoft YaHei"/>
                <a:ea typeface="Microsoft YaHei"/>
              </a:rPr>
              <a:t>02</a:t>
            </a:r>
            <a:endParaRPr/>
          </a:p>
        </p:txBody>
      </p:sp>
      <p:sp>
        <p:nvSpPr>
          <p:cNvPr id="485" name="" descr="{&quot;isTemplate&quot;:true,&quot;type&quot;:&quot;text&quot;}"/>
          <p:cNvSpPr txBox="1"/>
          <p:nvPr/>
        </p:nvSpPr>
        <p:spPr>
          <a:xfrm rot="0" flipH="0" flipV="0">
            <a:off x="2438400" y="1685925"/>
            <a:ext cx="1533525" cy="238125"/>
          </a:xfrm>
          <a:prstGeom prst="rect"/>
        </p:spPr>
        <p:txBody>
          <a:bodyPr wrap="none" lIns="0" tIns="0" rIns="0" bIns="0"/>
          <a:p>
            <a:pPr>
              <a:lnSpc>
                <a:spcPct val="130000"/>
              </a:lnSpc>
            </a:pPr>
            <a:r>
              <a:rPr lang="en-US" sz="1163" b="1">
                <a:solidFill>
                  <a:srgbClr val="0E3F8C"/>
                </a:solidFill>
                <a:latin typeface="Microsoft YaHei"/>
                <a:ea typeface="Microsoft YaHei"/>
              </a:rPr>
              <a:t>Pay for Order</a:t>
            </a:r>
            <a:endParaRPr/>
          </a:p>
        </p:txBody>
      </p:sp>
      <p:sp>
        <p:nvSpPr>
          <p:cNvPr id="486" name=""/>
          <p:cNvSpPr/>
          <p:nvPr/>
        </p:nvSpPr>
        <p:spPr>
          <a:xfrm rot="0" flipH="0" flipV="0">
            <a:off x="2438400" y="2019300"/>
            <a:ext cx="561975" cy="209550"/>
          </a:xfrm>
          <a:prstGeom prst="roundRect">
            <a:avLst>
              <a:gd name="adj" fmla="val 18182"/>
            </a:avLst>
          </a:prstGeom>
          <a:solidFill>
            <a:srgbClr val="F0F5FC"/>
          </a:solidFill>
          <a:ln/>
        </p:spPr>
        <p:txBody>
          <a:bodyPr/>
          <a:p>
            <a:pPr/>
            <a:endParaRPr/>
          </a:p>
        </p:txBody>
      </p:sp>
      <p:sp>
        <p:nvSpPr>
          <p:cNvPr id="487" name="" descr="{&quot;isTemplate&quot;:true,&quot;type&quot;:&quot;text&quot;}"/>
          <p:cNvSpPr txBox="1"/>
          <p:nvPr/>
        </p:nvSpPr>
        <p:spPr>
          <a:xfrm rot="0" flipH="0" flipV="0">
            <a:off x="2514600" y="2057400"/>
            <a:ext cx="409575" cy="133350"/>
          </a:xfrm>
          <a:prstGeom prst="rect"/>
        </p:spPr>
        <p:txBody>
          <a:bodyPr wrap="none" lIns="0" tIns="0" rIns="0" bIns="0"/>
          <a:p>
            <a:pPr>
              <a:lnSpc>
                <a:spcPct val="100000"/>
              </a:lnSpc>
            </a:pPr>
            <a:r>
              <a:rPr lang="en-US" sz="863" b="1">
                <a:solidFill>
                  <a:srgbClr val="1E4FA8"/>
                </a:solidFill>
                <a:latin typeface="Microsoft YaHei"/>
                <a:ea typeface="Microsoft YaHei"/>
              </a:rPr>
              <a:t>Student</a:t>
            </a:r>
            <a:endParaRPr/>
          </a:p>
        </p:txBody>
      </p:sp>
      <p:sp>
        <p:nvSpPr>
          <p:cNvPr id="488" name="" descr="{&quot;isTemplate&quot;:true,&quot;type&quot;:&quot;text&quot;}"/>
          <p:cNvSpPr txBox="1"/>
          <p:nvPr/>
        </p:nvSpPr>
        <p:spPr>
          <a:xfrm rot="0" flipH="0" flipV="0">
            <a:off x="2438400" y="2324100"/>
            <a:ext cx="1533525"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the provider confirms or declines</a:t>
            </a:r>
            <a:endParaRPr/>
          </a:p>
        </p:txBody>
      </p:sp>
      <p:sp>
        <p:nvSpPr>
          <p:cNvPr id="489" name=""/>
          <p:cNvSpPr/>
          <p:nvPr/>
        </p:nvSpPr>
        <p:spPr>
          <a:xfrm rot="0" flipH="0" flipV="0">
            <a:off x="4238625" y="1323975"/>
            <a:ext cx="1790700" cy="5133975"/>
          </a:xfrm>
          <a:prstGeom prst="roundRect">
            <a:avLst>
              <a:gd name="adj" fmla="val 5319"/>
            </a:avLst>
          </a:prstGeom>
          <a:solidFill>
            <a:srgbClr val="FFFFFF"/>
          </a:solidFill>
          <a:ln/>
        </p:spPr>
        <p:txBody>
          <a:bodyPr/>
          <a:p>
            <a:pPr/>
            <a:endParaRPr/>
          </a:p>
        </p:txBody>
      </p:sp>
      <p:sp>
        <p:nvSpPr>
          <p:cNvPr id="490" name=""/>
          <p:cNvSpPr/>
          <p:nvPr/>
        </p:nvSpPr>
        <p:spPr>
          <a:xfrm rot="0" flipH="0" flipV="0">
            <a:off x="4238625" y="1323975"/>
            <a:ext cx="1790700" cy="5133975"/>
          </a:xfrm>
          <a:custGeom>
            <a:pathLst>
              <a:path w="188" h="539">
                <a:moveTo>
                  <a:pt x="178" y="0"/>
                </a:moveTo>
                <a:cubicBezTo>
                  <a:pt x="183" y="0"/>
                  <a:pt x="187" y="4"/>
                  <a:pt x="188" y="8"/>
                </a:cubicBezTo>
                <a:cubicBezTo>
                  <a:pt x="187" y="6"/>
                  <a:pt x="185" y="4"/>
                  <a:pt x="182" y="4"/>
                </a:cubicBezTo>
                <a:lnTo>
                  <a:pt x="6" y="4"/>
                </a:lnTo>
                <a:cubicBezTo>
                  <a:pt x="3" y="4"/>
                  <a:pt x="1" y="6"/>
                  <a:pt x="0" y="9"/>
                </a:cubicBezTo>
                <a:cubicBezTo>
                  <a:pt x="1" y="4"/>
                  <a:pt x="5" y="0"/>
                  <a:pt x="10" y="0"/>
                </a:cubicBezTo>
                <a:lnTo>
                  <a:pt x="178" y="0"/>
                </a:lnTo>
                <a:close/>
              </a:path>
            </a:pathLst>
          </a:custGeom>
          <a:solidFill>
            <a:srgbClr val="1E4FA8"/>
          </a:solidFill>
          <a:ln/>
        </p:spPr>
        <p:txBody>
          <a:bodyPr/>
          <a:p>
            <a:pPr/>
            <a:endParaRPr/>
          </a:p>
        </p:txBody>
      </p:sp>
      <p:sp>
        <p:nvSpPr>
          <p:cNvPr id="491" name="" descr="{&quot;isTemplate&quot;:true,&quot;type&quot;:&quot;text&quot;}"/>
          <p:cNvSpPr txBox="1"/>
          <p:nvPr/>
        </p:nvSpPr>
        <p:spPr>
          <a:xfrm rot="0" flipH="0" flipV="0">
            <a:off x="4371975" y="1476375"/>
            <a:ext cx="1524000" cy="152400"/>
          </a:xfrm>
          <a:prstGeom prst="rect"/>
        </p:spPr>
        <p:txBody>
          <a:bodyPr wrap="none" lIns="0" tIns="0" rIns="0" bIns="0"/>
          <a:p>
            <a:pPr>
              <a:lnSpc>
                <a:spcPct val="100000"/>
              </a:lnSpc>
            </a:pPr>
            <a:r>
              <a:rPr lang="en-US" sz="975" b="1" spc="75">
                <a:solidFill>
                  <a:srgbClr val="8B97A8"/>
                </a:solidFill>
                <a:latin typeface="Microsoft YaHei"/>
                <a:ea typeface="Microsoft YaHei"/>
              </a:rPr>
              <a:t>03</a:t>
            </a:r>
            <a:endParaRPr/>
          </a:p>
        </p:txBody>
      </p:sp>
      <p:sp>
        <p:nvSpPr>
          <p:cNvPr id="492" name="" descr="{&quot;isTemplate&quot;:true,&quot;type&quot;:&quot;text&quot;}"/>
          <p:cNvSpPr txBox="1"/>
          <p:nvPr/>
        </p:nvSpPr>
        <p:spPr>
          <a:xfrm rot="0" flipH="0" flipV="0">
            <a:off x="4371975" y="1685925"/>
            <a:ext cx="1524000" cy="238125"/>
          </a:xfrm>
          <a:prstGeom prst="rect"/>
        </p:spPr>
        <p:txBody>
          <a:bodyPr wrap="none" lIns="0" tIns="0" rIns="0" bIns="0"/>
          <a:p>
            <a:pPr>
              <a:lnSpc>
                <a:spcPct val="130000"/>
              </a:lnSpc>
            </a:pPr>
            <a:r>
              <a:rPr lang="en-US" sz="1163" b="1">
                <a:solidFill>
                  <a:srgbClr val="0E3F8C"/>
                </a:solidFill>
                <a:latin typeface="Microsoft YaHei"/>
                <a:ea typeface="Microsoft YaHei"/>
              </a:rPr>
              <a:t>Track Order</a:t>
            </a:r>
            <a:endParaRPr/>
          </a:p>
        </p:txBody>
      </p:sp>
      <p:sp>
        <p:nvSpPr>
          <p:cNvPr id="493" name=""/>
          <p:cNvSpPr/>
          <p:nvPr/>
        </p:nvSpPr>
        <p:spPr>
          <a:xfrm rot="0" flipH="0" flipV="0">
            <a:off x="4371975" y="2019300"/>
            <a:ext cx="561975" cy="209550"/>
          </a:xfrm>
          <a:prstGeom prst="roundRect">
            <a:avLst>
              <a:gd name="adj" fmla="val 18182"/>
            </a:avLst>
          </a:prstGeom>
          <a:solidFill>
            <a:srgbClr val="F0F5FC"/>
          </a:solidFill>
          <a:ln/>
        </p:spPr>
        <p:txBody>
          <a:bodyPr/>
          <a:p>
            <a:pPr/>
            <a:endParaRPr/>
          </a:p>
        </p:txBody>
      </p:sp>
      <p:sp>
        <p:nvSpPr>
          <p:cNvPr id="494" name="" descr="{&quot;isTemplate&quot;:true,&quot;type&quot;:&quot;text&quot;}"/>
          <p:cNvSpPr txBox="1"/>
          <p:nvPr/>
        </p:nvSpPr>
        <p:spPr>
          <a:xfrm rot="0" flipH="0" flipV="0">
            <a:off x="4448175" y="2057400"/>
            <a:ext cx="409575" cy="133350"/>
          </a:xfrm>
          <a:prstGeom prst="rect"/>
        </p:spPr>
        <p:txBody>
          <a:bodyPr wrap="none" lIns="0" tIns="0" rIns="0" bIns="0"/>
          <a:p>
            <a:pPr>
              <a:lnSpc>
                <a:spcPct val="100000"/>
              </a:lnSpc>
            </a:pPr>
            <a:r>
              <a:rPr lang="en-US" sz="863" b="1">
                <a:solidFill>
                  <a:srgbClr val="1E4FA8"/>
                </a:solidFill>
                <a:latin typeface="Microsoft YaHei"/>
                <a:ea typeface="Microsoft YaHei"/>
              </a:rPr>
              <a:t>Student</a:t>
            </a:r>
            <a:endParaRPr/>
          </a:p>
        </p:txBody>
      </p:sp>
      <p:sp>
        <p:nvSpPr>
          <p:cNvPr id="495" name="" descr="{&quot;isTemplate&quot;:true,&quot;type&quot;:&quot;text&quot;}"/>
          <p:cNvSpPr txBox="1"/>
          <p:nvPr/>
        </p:nvSpPr>
        <p:spPr>
          <a:xfrm rot="0" flipH="0" flipV="0">
            <a:off x="4371975" y="2324100"/>
            <a:ext cx="1524000"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the student sees the current status</a:t>
            </a:r>
            <a:endParaRPr/>
          </a:p>
        </p:txBody>
      </p:sp>
      <p:sp>
        <p:nvSpPr>
          <p:cNvPr id="496" name=""/>
          <p:cNvSpPr/>
          <p:nvPr/>
        </p:nvSpPr>
        <p:spPr>
          <a:xfrm rot="0" flipH="0" flipV="0">
            <a:off x="6162675" y="1323975"/>
            <a:ext cx="1790700" cy="5133975"/>
          </a:xfrm>
          <a:prstGeom prst="roundRect">
            <a:avLst>
              <a:gd name="adj" fmla="val 5319"/>
            </a:avLst>
          </a:prstGeom>
          <a:solidFill>
            <a:srgbClr val="FFFFFF"/>
          </a:solidFill>
          <a:ln/>
        </p:spPr>
        <p:txBody>
          <a:bodyPr/>
          <a:p>
            <a:pPr/>
            <a:endParaRPr/>
          </a:p>
        </p:txBody>
      </p:sp>
      <p:sp>
        <p:nvSpPr>
          <p:cNvPr id="497" name=""/>
          <p:cNvSpPr/>
          <p:nvPr/>
        </p:nvSpPr>
        <p:spPr>
          <a:xfrm rot="0" flipH="0" flipV="0">
            <a:off x="6162675" y="1323975"/>
            <a:ext cx="1790700" cy="5133975"/>
          </a:xfrm>
          <a:custGeom>
            <a:pathLst>
              <a:path w="188" h="539">
                <a:moveTo>
                  <a:pt x="178" y="0"/>
                </a:moveTo>
                <a:cubicBezTo>
                  <a:pt x="183" y="0"/>
                  <a:pt x="187" y="4"/>
                  <a:pt x="188" y="8"/>
                </a:cubicBezTo>
                <a:cubicBezTo>
                  <a:pt x="187" y="6"/>
                  <a:pt x="185" y="4"/>
                  <a:pt x="182" y="4"/>
                </a:cubicBezTo>
                <a:lnTo>
                  <a:pt x="6" y="4"/>
                </a:lnTo>
                <a:cubicBezTo>
                  <a:pt x="3" y="4"/>
                  <a:pt x="1" y="6"/>
                  <a:pt x="0" y="9"/>
                </a:cubicBezTo>
                <a:cubicBezTo>
                  <a:pt x="1" y="4"/>
                  <a:pt x="5" y="0"/>
                  <a:pt x="10" y="0"/>
                </a:cubicBezTo>
                <a:lnTo>
                  <a:pt x="178" y="0"/>
                </a:lnTo>
                <a:close/>
              </a:path>
            </a:pathLst>
          </a:custGeom>
          <a:solidFill>
            <a:srgbClr val="1E4FA8"/>
          </a:solidFill>
          <a:ln/>
        </p:spPr>
        <p:txBody>
          <a:bodyPr/>
          <a:p>
            <a:pPr/>
            <a:endParaRPr/>
          </a:p>
        </p:txBody>
      </p:sp>
      <p:sp>
        <p:nvSpPr>
          <p:cNvPr id="498" name="" descr="{&quot;isTemplate&quot;:true,&quot;type&quot;:&quot;text&quot;}"/>
          <p:cNvSpPr txBox="1"/>
          <p:nvPr/>
        </p:nvSpPr>
        <p:spPr>
          <a:xfrm rot="0" flipH="0" flipV="0">
            <a:off x="6296025" y="1476375"/>
            <a:ext cx="1524000" cy="152400"/>
          </a:xfrm>
          <a:prstGeom prst="rect"/>
        </p:spPr>
        <p:txBody>
          <a:bodyPr wrap="none" lIns="0" tIns="0" rIns="0" bIns="0"/>
          <a:p>
            <a:pPr>
              <a:lnSpc>
                <a:spcPct val="100000"/>
              </a:lnSpc>
            </a:pPr>
            <a:r>
              <a:rPr lang="en-US" sz="975" b="1" spc="75">
                <a:solidFill>
                  <a:srgbClr val="8B97A8"/>
                </a:solidFill>
                <a:latin typeface="Microsoft YaHei"/>
                <a:ea typeface="Microsoft YaHei"/>
              </a:rPr>
              <a:t>04</a:t>
            </a:r>
            <a:endParaRPr/>
          </a:p>
        </p:txBody>
      </p:sp>
      <p:sp>
        <p:nvSpPr>
          <p:cNvPr id="499" name="" descr="{&quot;isTemplate&quot;:true,&quot;type&quot;:&quot;text&quot;}"/>
          <p:cNvSpPr txBox="1"/>
          <p:nvPr/>
        </p:nvSpPr>
        <p:spPr>
          <a:xfrm rot="0" flipH="0" flipV="0">
            <a:off x="6296025" y="1685925"/>
            <a:ext cx="1524000" cy="466725"/>
          </a:xfrm>
          <a:prstGeom prst="rect"/>
        </p:spPr>
        <p:txBody>
          <a:bodyPr wrap="square" lIns="0" tIns="0" rIns="0" bIns="0">
            <a:normAutofit/>
          </a:bodyPr>
          <a:p>
            <a:pPr>
              <a:lnSpc>
                <a:spcPct val="130000"/>
              </a:lnSpc>
            </a:pPr>
            <a:r>
              <a:rPr lang="en-US" sz="1163" b="1">
                <a:solidFill>
                  <a:srgbClr val="0E3F8C"/>
                </a:solidFill>
                <a:latin typeface="Microsoft YaHei"/>
                <a:ea typeface="Microsoft YaHei"/>
              </a:rPr>
              <a:t>Manage Today’s Menu</a:t>
            </a:r>
            <a:endParaRPr/>
          </a:p>
        </p:txBody>
      </p:sp>
      <p:sp>
        <p:nvSpPr>
          <p:cNvPr id="500" name=""/>
          <p:cNvSpPr/>
          <p:nvPr/>
        </p:nvSpPr>
        <p:spPr>
          <a:xfrm rot="0" flipH="0" flipV="0">
            <a:off x="6296025" y="2247900"/>
            <a:ext cx="1209675" cy="209550"/>
          </a:xfrm>
          <a:prstGeom prst="roundRect">
            <a:avLst>
              <a:gd name="adj" fmla="val 18182"/>
            </a:avLst>
          </a:prstGeom>
          <a:solidFill>
            <a:srgbClr val="F0F5FC"/>
          </a:solidFill>
          <a:ln/>
        </p:spPr>
        <p:txBody>
          <a:bodyPr/>
          <a:p>
            <a:pPr/>
            <a:endParaRPr/>
          </a:p>
        </p:txBody>
      </p:sp>
      <p:sp>
        <p:nvSpPr>
          <p:cNvPr id="501" name="" descr="{&quot;isTemplate&quot;:true,&quot;type&quot;:&quot;text&quot;}"/>
          <p:cNvSpPr txBox="1"/>
          <p:nvPr/>
        </p:nvSpPr>
        <p:spPr>
          <a:xfrm rot="0" flipH="0" flipV="0">
            <a:off x="6372225" y="2286000"/>
            <a:ext cx="1057275" cy="133350"/>
          </a:xfrm>
          <a:prstGeom prst="rect"/>
        </p:spPr>
        <p:txBody>
          <a:bodyPr wrap="none" lIns="0" tIns="0" rIns="0" bIns="0"/>
          <a:p>
            <a:pPr>
              <a:lnSpc>
                <a:spcPct val="100000"/>
              </a:lnSpc>
            </a:pPr>
            <a:r>
              <a:rPr lang="en-US" sz="863" b="1">
                <a:solidFill>
                  <a:srgbClr val="1E4FA8"/>
                </a:solidFill>
                <a:latin typeface="Microsoft YaHei"/>
                <a:ea typeface="Microsoft YaHei"/>
              </a:rPr>
              <a:t>Restaurant Manager</a:t>
            </a:r>
            <a:endParaRPr/>
          </a:p>
        </p:txBody>
      </p:sp>
      <p:sp>
        <p:nvSpPr>
          <p:cNvPr id="502" name="" descr="{&quot;isTemplate&quot;:true,&quot;type&quot;:&quot;text&quot;}"/>
          <p:cNvSpPr txBox="1"/>
          <p:nvPr/>
        </p:nvSpPr>
        <p:spPr>
          <a:xfrm rot="0" flipH="0" flipV="0">
            <a:off x="6296025" y="2552700"/>
            <a:ext cx="1524000"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the kitchen sees the live menu</a:t>
            </a:r>
            <a:endParaRPr/>
          </a:p>
        </p:txBody>
      </p:sp>
      <p:sp>
        <p:nvSpPr>
          <p:cNvPr id="503" name=""/>
          <p:cNvSpPr/>
          <p:nvPr/>
        </p:nvSpPr>
        <p:spPr>
          <a:xfrm rot="0" flipH="0" flipV="0">
            <a:off x="8086725" y="1323975"/>
            <a:ext cx="1800225" cy="5133975"/>
          </a:xfrm>
          <a:prstGeom prst="roundRect">
            <a:avLst>
              <a:gd name="adj" fmla="val 5291"/>
            </a:avLst>
          </a:prstGeom>
          <a:solidFill>
            <a:srgbClr val="FFFFFF"/>
          </a:solidFill>
          <a:ln/>
        </p:spPr>
        <p:txBody>
          <a:bodyPr/>
          <a:p>
            <a:pPr/>
            <a:endParaRPr/>
          </a:p>
        </p:txBody>
      </p:sp>
      <p:sp>
        <p:nvSpPr>
          <p:cNvPr id="504" name=""/>
          <p:cNvSpPr/>
          <p:nvPr/>
        </p:nvSpPr>
        <p:spPr>
          <a:xfrm rot="0" flipH="0" flipV="0">
            <a:off x="8086725" y="1323975"/>
            <a:ext cx="1800225" cy="5133975"/>
          </a:xfrm>
          <a:custGeom>
            <a:pathLst>
              <a:path w="189" h="539">
                <a:moveTo>
                  <a:pt x="179" y="0"/>
                </a:moveTo>
                <a:cubicBezTo>
                  <a:pt x="184" y="0"/>
                  <a:pt x="188" y="4"/>
                  <a:pt x="189" y="8"/>
                </a:cubicBezTo>
                <a:cubicBezTo>
                  <a:pt x="188" y="6"/>
                  <a:pt x="186" y="4"/>
                  <a:pt x="183" y="4"/>
                </a:cubicBezTo>
                <a:lnTo>
                  <a:pt x="6" y="4"/>
                </a:lnTo>
                <a:cubicBezTo>
                  <a:pt x="3" y="4"/>
                  <a:pt x="1" y="6"/>
                  <a:pt x="0" y="9"/>
                </a:cubicBezTo>
                <a:cubicBezTo>
                  <a:pt x="1" y="4"/>
                  <a:pt x="5" y="0"/>
                  <a:pt x="10" y="0"/>
                </a:cubicBezTo>
                <a:lnTo>
                  <a:pt x="179" y="0"/>
                </a:lnTo>
                <a:close/>
              </a:path>
            </a:pathLst>
          </a:custGeom>
          <a:solidFill>
            <a:srgbClr val="1E4FA8"/>
          </a:solidFill>
          <a:ln/>
        </p:spPr>
        <p:txBody>
          <a:bodyPr/>
          <a:p>
            <a:pPr/>
            <a:endParaRPr/>
          </a:p>
        </p:txBody>
      </p:sp>
      <p:sp>
        <p:nvSpPr>
          <p:cNvPr id="505" name="" descr="{&quot;isTemplate&quot;:true,&quot;type&quot;:&quot;text&quot;}"/>
          <p:cNvSpPr txBox="1"/>
          <p:nvPr/>
        </p:nvSpPr>
        <p:spPr>
          <a:xfrm rot="0" flipH="0" flipV="0">
            <a:off x="8220075" y="1476375"/>
            <a:ext cx="1533525" cy="152400"/>
          </a:xfrm>
          <a:prstGeom prst="rect"/>
        </p:spPr>
        <p:txBody>
          <a:bodyPr wrap="none" lIns="0" tIns="0" rIns="0" bIns="0"/>
          <a:p>
            <a:pPr>
              <a:lnSpc>
                <a:spcPct val="100000"/>
              </a:lnSpc>
            </a:pPr>
            <a:r>
              <a:rPr lang="en-US" sz="975" b="1" spc="75">
                <a:solidFill>
                  <a:srgbClr val="8B97A8"/>
                </a:solidFill>
                <a:latin typeface="Microsoft YaHei"/>
                <a:ea typeface="Microsoft YaHei"/>
              </a:rPr>
              <a:t>05</a:t>
            </a:r>
            <a:endParaRPr/>
          </a:p>
        </p:txBody>
      </p:sp>
      <p:sp>
        <p:nvSpPr>
          <p:cNvPr id="506" name="" descr="{&quot;isTemplate&quot;:true,&quot;type&quot;:&quot;text&quot;}"/>
          <p:cNvSpPr txBox="1"/>
          <p:nvPr/>
        </p:nvSpPr>
        <p:spPr>
          <a:xfrm rot="0" flipH="0" flipV="0">
            <a:off x="8220075" y="1685925"/>
            <a:ext cx="1533525" cy="238125"/>
          </a:xfrm>
          <a:prstGeom prst="rect"/>
        </p:spPr>
        <p:txBody>
          <a:bodyPr wrap="none" lIns="0" tIns="0" rIns="0" bIns="0"/>
          <a:p>
            <a:pPr>
              <a:lnSpc>
                <a:spcPct val="130000"/>
              </a:lnSpc>
            </a:pPr>
            <a:r>
              <a:rPr lang="en-US" sz="1163" b="1">
                <a:solidFill>
                  <a:srgbClr val="0E3F8C"/>
                </a:solidFill>
                <a:latin typeface="Microsoft YaHei"/>
                <a:ea typeface="Microsoft YaHei"/>
              </a:rPr>
              <a:t>Dispatch Courier</a:t>
            </a:r>
            <a:endParaRPr/>
          </a:p>
        </p:txBody>
      </p:sp>
      <p:sp>
        <p:nvSpPr>
          <p:cNvPr id="507" name=""/>
          <p:cNvSpPr/>
          <p:nvPr/>
        </p:nvSpPr>
        <p:spPr>
          <a:xfrm rot="0" flipH="0" flipV="0">
            <a:off x="8220075" y="2019300"/>
            <a:ext cx="723900" cy="209550"/>
          </a:xfrm>
          <a:prstGeom prst="roundRect">
            <a:avLst>
              <a:gd name="adj" fmla="val 18182"/>
            </a:avLst>
          </a:prstGeom>
          <a:solidFill>
            <a:srgbClr val="F0F5FC"/>
          </a:solidFill>
          <a:ln/>
        </p:spPr>
        <p:txBody>
          <a:bodyPr/>
          <a:p>
            <a:pPr/>
            <a:endParaRPr/>
          </a:p>
        </p:txBody>
      </p:sp>
      <p:sp>
        <p:nvSpPr>
          <p:cNvPr id="508" name="" descr="{&quot;isTemplate&quot;:true,&quot;type&quot;:&quot;text&quot;}"/>
          <p:cNvSpPr txBox="1"/>
          <p:nvPr/>
        </p:nvSpPr>
        <p:spPr>
          <a:xfrm rot="0" flipH="0" flipV="0">
            <a:off x="8296275" y="2057400"/>
            <a:ext cx="571500" cy="133350"/>
          </a:xfrm>
          <a:prstGeom prst="rect"/>
        </p:spPr>
        <p:txBody>
          <a:bodyPr wrap="none" lIns="0" tIns="0" rIns="0" bIns="0"/>
          <a:p>
            <a:pPr>
              <a:lnSpc>
                <a:spcPct val="100000"/>
              </a:lnSpc>
            </a:pPr>
            <a:r>
              <a:rPr lang="en-US" sz="863" b="1">
                <a:solidFill>
                  <a:srgbClr val="1E4FA8"/>
                </a:solidFill>
                <a:latin typeface="Microsoft YaHei"/>
                <a:ea typeface="Microsoft YaHei"/>
              </a:rPr>
              <a:t>Dispatcher</a:t>
            </a:r>
            <a:endParaRPr/>
          </a:p>
        </p:txBody>
      </p:sp>
      <p:sp>
        <p:nvSpPr>
          <p:cNvPr id="509" name="" descr="{&quot;isTemplate&quot;:true,&quot;type&quot;:&quot;text&quot;}"/>
          <p:cNvSpPr txBox="1"/>
          <p:nvPr/>
        </p:nvSpPr>
        <p:spPr>
          <a:xfrm rot="0" flipH="0" flipV="0">
            <a:off x="8220075" y="2324100"/>
            <a:ext cx="1533525"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a rider accepts the delivery</a:t>
            </a:r>
            <a:endParaRPr/>
          </a:p>
        </p:txBody>
      </p:sp>
      <p:sp>
        <p:nvSpPr>
          <p:cNvPr id="510" name=""/>
          <p:cNvSpPr/>
          <p:nvPr/>
        </p:nvSpPr>
        <p:spPr>
          <a:xfrm rot="0" flipH="0" flipV="0">
            <a:off x="10020300" y="1323975"/>
            <a:ext cx="1790700" cy="5133975"/>
          </a:xfrm>
          <a:prstGeom prst="roundRect">
            <a:avLst>
              <a:gd name="adj" fmla="val 5319"/>
            </a:avLst>
          </a:prstGeom>
          <a:solidFill>
            <a:srgbClr val="FFFFFF"/>
          </a:solidFill>
          <a:ln/>
        </p:spPr>
        <p:txBody>
          <a:bodyPr/>
          <a:p>
            <a:pPr/>
            <a:endParaRPr/>
          </a:p>
        </p:txBody>
      </p:sp>
      <p:sp>
        <p:nvSpPr>
          <p:cNvPr id="511" name=""/>
          <p:cNvSpPr/>
          <p:nvPr/>
        </p:nvSpPr>
        <p:spPr>
          <a:xfrm rot="0" flipH="0" flipV="0">
            <a:off x="10020300" y="1323975"/>
            <a:ext cx="1790700" cy="5133975"/>
          </a:xfrm>
          <a:custGeom>
            <a:pathLst>
              <a:path w="188" h="539">
                <a:moveTo>
                  <a:pt x="178" y="0"/>
                </a:moveTo>
                <a:cubicBezTo>
                  <a:pt x="183" y="0"/>
                  <a:pt x="187" y="4"/>
                  <a:pt x="188" y="8"/>
                </a:cubicBezTo>
                <a:cubicBezTo>
                  <a:pt x="187" y="6"/>
                  <a:pt x="185" y="4"/>
                  <a:pt x="182" y="4"/>
                </a:cubicBezTo>
                <a:lnTo>
                  <a:pt x="6" y="4"/>
                </a:lnTo>
                <a:cubicBezTo>
                  <a:pt x="3" y="4"/>
                  <a:pt x="1" y="6"/>
                  <a:pt x="0" y="9"/>
                </a:cubicBezTo>
                <a:cubicBezTo>
                  <a:pt x="1" y="4"/>
                  <a:pt x="5" y="0"/>
                  <a:pt x="10" y="0"/>
                </a:cubicBezTo>
                <a:lnTo>
                  <a:pt x="178" y="0"/>
                </a:lnTo>
                <a:close/>
              </a:path>
            </a:pathLst>
          </a:custGeom>
          <a:solidFill>
            <a:srgbClr val="1E4FA8"/>
          </a:solidFill>
          <a:ln/>
        </p:spPr>
        <p:txBody>
          <a:bodyPr/>
          <a:p>
            <a:pPr/>
            <a:endParaRPr/>
          </a:p>
        </p:txBody>
      </p:sp>
      <p:sp>
        <p:nvSpPr>
          <p:cNvPr id="512" name="" descr="{&quot;isTemplate&quot;:true,&quot;type&quot;:&quot;text&quot;}"/>
          <p:cNvSpPr txBox="1"/>
          <p:nvPr/>
        </p:nvSpPr>
        <p:spPr>
          <a:xfrm rot="0" flipH="0" flipV="0">
            <a:off x="10153650" y="1476375"/>
            <a:ext cx="1524000" cy="152400"/>
          </a:xfrm>
          <a:prstGeom prst="rect"/>
        </p:spPr>
        <p:txBody>
          <a:bodyPr wrap="none" lIns="0" tIns="0" rIns="0" bIns="0"/>
          <a:p>
            <a:pPr>
              <a:lnSpc>
                <a:spcPct val="100000"/>
              </a:lnSpc>
            </a:pPr>
            <a:r>
              <a:rPr lang="en-US" sz="975" b="1" spc="75">
                <a:solidFill>
                  <a:srgbClr val="8B97A8"/>
                </a:solidFill>
                <a:latin typeface="Microsoft YaHei"/>
                <a:ea typeface="Microsoft YaHei"/>
              </a:rPr>
              <a:t>06</a:t>
            </a:r>
            <a:endParaRPr/>
          </a:p>
        </p:txBody>
      </p:sp>
      <p:sp>
        <p:nvSpPr>
          <p:cNvPr id="513" name="" descr="{&quot;isTemplate&quot;:true,&quot;type&quot;:&quot;text&quot;}"/>
          <p:cNvSpPr txBox="1"/>
          <p:nvPr/>
        </p:nvSpPr>
        <p:spPr>
          <a:xfrm rot="0" flipH="0" flipV="0">
            <a:off x="10153650" y="1685925"/>
            <a:ext cx="1524000" cy="238125"/>
          </a:xfrm>
          <a:prstGeom prst="rect"/>
        </p:spPr>
        <p:txBody>
          <a:bodyPr wrap="none" lIns="0" tIns="0" rIns="0" bIns="0"/>
          <a:p>
            <a:pPr>
              <a:lnSpc>
                <a:spcPct val="130000"/>
              </a:lnSpc>
            </a:pPr>
            <a:r>
              <a:rPr lang="en-US" sz="1163" b="1">
                <a:solidFill>
                  <a:srgbClr val="0E3F8C"/>
                </a:solidFill>
                <a:latin typeface="Microsoft YaHei"/>
                <a:ea typeface="Microsoft YaHei"/>
              </a:rPr>
              <a:t>Rate Restaurant</a:t>
            </a:r>
            <a:endParaRPr/>
          </a:p>
        </p:txBody>
      </p:sp>
      <p:sp>
        <p:nvSpPr>
          <p:cNvPr id="514" name=""/>
          <p:cNvSpPr/>
          <p:nvPr/>
        </p:nvSpPr>
        <p:spPr>
          <a:xfrm rot="0" flipH="0" flipV="0">
            <a:off x="10153650" y="2019300"/>
            <a:ext cx="561975" cy="209550"/>
          </a:xfrm>
          <a:prstGeom prst="roundRect">
            <a:avLst>
              <a:gd name="adj" fmla="val 18182"/>
            </a:avLst>
          </a:prstGeom>
          <a:solidFill>
            <a:srgbClr val="F0F5FC"/>
          </a:solidFill>
          <a:ln/>
        </p:spPr>
        <p:txBody>
          <a:bodyPr/>
          <a:p>
            <a:pPr/>
            <a:endParaRPr/>
          </a:p>
        </p:txBody>
      </p:sp>
      <p:sp>
        <p:nvSpPr>
          <p:cNvPr id="515" name="" descr="{&quot;isTemplate&quot;:true,&quot;type&quot;:&quot;text&quot;}"/>
          <p:cNvSpPr txBox="1"/>
          <p:nvPr/>
        </p:nvSpPr>
        <p:spPr>
          <a:xfrm rot="0" flipH="0" flipV="0">
            <a:off x="10229850" y="2057400"/>
            <a:ext cx="409575" cy="133350"/>
          </a:xfrm>
          <a:prstGeom prst="rect"/>
        </p:spPr>
        <p:txBody>
          <a:bodyPr wrap="none" lIns="0" tIns="0" rIns="0" bIns="0"/>
          <a:p>
            <a:pPr>
              <a:lnSpc>
                <a:spcPct val="100000"/>
              </a:lnSpc>
            </a:pPr>
            <a:r>
              <a:rPr lang="en-US" sz="863" b="1">
                <a:solidFill>
                  <a:srgbClr val="1E4FA8"/>
                </a:solidFill>
                <a:latin typeface="Microsoft YaHei"/>
                <a:ea typeface="Microsoft YaHei"/>
              </a:rPr>
              <a:t>Student</a:t>
            </a:r>
            <a:endParaRPr/>
          </a:p>
        </p:txBody>
      </p:sp>
      <p:sp>
        <p:nvSpPr>
          <p:cNvPr id="516" name="" descr="{&quot;isTemplate&quot;:true,&quot;type&quot;:&quot;text&quot;}"/>
          <p:cNvSpPr txBox="1"/>
          <p:nvPr/>
        </p:nvSpPr>
        <p:spPr>
          <a:xfrm rot="0" flipH="0" flipV="0">
            <a:off x="10153650" y="2324100"/>
            <a:ext cx="1524000" cy="400050"/>
          </a:xfrm>
          <a:prstGeom prst="rect"/>
        </p:spPr>
        <p:txBody>
          <a:bodyPr wrap="square" lIns="0" tIns="0" rIns="0" bIns="0">
            <a:normAutofit/>
          </a:bodyPr>
          <a:p>
            <a:pPr>
              <a:lnSpc>
                <a:spcPct val="150000"/>
              </a:lnSpc>
            </a:pPr>
            <a:r>
              <a:rPr lang="en-US" sz="863">
                <a:solidFill>
                  <a:srgbClr val="4A5568"/>
                </a:solidFill>
                <a:latin typeface="Microsoft YaHei"/>
                <a:ea typeface="Microsoft YaHei"/>
              </a:rPr>
              <a:t>Ends when the rating is stored and shown</a:t>
            </a:r>
            <a:endParaRPr/>
          </a:p>
        </p:txBody>
      </p:sp>
      <p:sp>
        <p:nvSpPr>
          <p:cNvPr id="517" name=""/>
          <p:cNvSpPr/>
          <p:nvPr/>
        </p:nvSpPr>
        <p:spPr>
          <a:xfrm rot="0" flipH="0" flipV="0">
            <a:off x="0" y="6419850"/>
            <a:ext cx="12192000" cy="438150"/>
          </a:xfrm>
          <a:prstGeom prst="rect">
            <a:avLst/>
          </a:prstGeom>
          <a:solidFill>
            <a:srgbClr val="0E3F8C"/>
          </a:solidFill>
          <a:ln/>
        </p:spPr>
        <p:txBody>
          <a:bodyPr/>
          <a:p>
            <a:pPr/>
            <a:endParaRPr/>
          </a:p>
        </p:txBody>
      </p:sp>
      <p:sp>
        <p:nvSpPr>
          <p:cNvPr id="518" name="" descr="{&quot;isTemplate&quot;:true,&quot;type&quot;:&quot;text&quot;}"/>
          <p:cNvSpPr txBox="1"/>
          <p:nvPr/>
        </p:nvSpPr>
        <p:spPr>
          <a:xfrm rot="0" flipH="0" flipV="0">
            <a:off x="2714625" y="6543675"/>
            <a:ext cx="6772275" cy="190500"/>
          </a:xfrm>
          <a:prstGeom prst="rect"/>
        </p:spPr>
        <p:txBody>
          <a:bodyPr wrap="none" lIns="0" tIns="0" rIns="0" bIns="0"/>
          <a:p>
            <a:pPr>
              <a:lnSpc>
                <a:spcPct val="100000"/>
              </a:lnSpc>
            </a:pPr>
            <a:r>
              <a:rPr lang="en-US" sz="1200" b="1">
                <a:solidFill>
                  <a:srgbClr val="FFFFFF"/>
                </a:solidFill>
                <a:latin typeface="Microsoft YaHei"/>
                <a:ea typeface="Microsoft YaHei"/>
              </a:rPr>
              <a:t>Six is the right number for a first pass. If your M1 diagram has twenty, look for the CRUD trap.</a:t>
            </a:r>
            <a:endParaRPr/>
          </a:p>
        </p:txBody>
      </p:sp>
    </p:spTree>
  </p:cSld>
</p:sld>
</file>

<file path=ppt/slides/slide29.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519" name=""/>
        <p:cNvGrpSpPr/>
        <p:nvPr/>
      </p:nvGrpSpPr>
      <p:grpSpPr>
        <a:xfrm>
          <a:off x="0" y="0"/>
          <a:ext cx="0" cy="0"/>
          <a:chOff x="0" y="0"/>
          <a:chExt cx="0" cy="0"/>
        </a:xfrm>
      </p:grpSpPr>
      <p:sp>
        <p:nvSpPr>
          <p:cNvPr id="520" name=""/>
          <p:cNvSpPr/>
          <p:nvPr/>
        </p:nvSpPr>
        <p:spPr>
          <a:xfrm rot="0" flipH="0" flipV="0">
            <a:off x="0" y="0"/>
            <a:ext cx="12192000" cy="6858000"/>
          </a:xfrm>
          <a:prstGeom prst="rect">
            <a:avLst/>
          </a:prstGeom>
          <a:solidFill>
            <a:srgbClr val="FFFFFF"/>
          </a:solidFill>
          <a:ln/>
        </p:spPr>
        <p:txBody>
          <a:bodyPr/>
          <a:p>
            <a:pPr/>
            <a:endParaRPr/>
          </a:p>
        </p:txBody>
      </p:sp>
      <p:sp>
        <p:nvSpPr>
          <p:cNvPr id="521" name=""/>
          <p:cNvSpPr/>
          <p:nvPr/>
        </p:nvSpPr>
        <p:spPr>
          <a:xfrm rot="0" flipH="0" flipV="0">
            <a:off x="0" y="0"/>
            <a:ext cx="12192000" cy="685800"/>
          </a:xfrm>
          <a:prstGeom prst="rect">
            <a:avLst/>
          </a:prstGeom>
          <a:solidFill>
            <a:srgbClr val="1E4FA8"/>
          </a:solidFill>
          <a:ln/>
        </p:spPr>
        <p:txBody>
          <a:bodyPr/>
          <a:p>
            <a:pPr/>
            <a:endParaRPr/>
          </a:p>
        </p:txBody>
      </p:sp>
      <p:sp>
        <p:nvSpPr>
          <p:cNvPr id="52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23"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W04 · FINDING USE CASES</a:t>
            </a:r>
            <a:endParaRPr/>
          </a:p>
        </p:txBody>
      </p:sp>
      <p:sp>
        <p:nvSpPr>
          <p:cNvPr id="524" name="" descr="{&quot;isTemplate&quot;:true,&quot;type&quot;:&quot;text&quot;}"/>
          <p:cNvSpPr txBox="1"/>
          <p:nvPr/>
        </p:nvSpPr>
        <p:spPr>
          <a:xfrm rot="0" flipH="0" flipV="0">
            <a:off x="381000" y="819150"/>
            <a:ext cx="3695700" cy="333375"/>
          </a:xfrm>
          <a:prstGeom prst="rect"/>
        </p:spPr>
        <p:txBody>
          <a:bodyPr wrap="none" lIns="0" tIns="0" rIns="0" bIns="0"/>
          <a:p>
            <a:pPr>
              <a:lnSpc>
                <a:spcPct val="100000"/>
              </a:lnSpc>
            </a:pPr>
            <a:r>
              <a:rPr lang="en-US" sz="2175" b="1">
                <a:solidFill>
                  <a:srgbClr val="0E3F8C"/>
                </a:solidFill>
                <a:latin typeface="Microsoft YaHei"/>
                <a:ea typeface="Microsoft YaHei"/>
              </a:rPr>
              <a:t>What We Have Not Done Yet</a:t>
            </a:r>
            <a:endParaRPr/>
          </a:p>
        </p:txBody>
      </p:sp>
      <p:sp>
        <p:nvSpPr>
          <p:cNvPr id="525"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29 / 38</a:t>
            </a:r>
            <a:endParaRPr/>
          </a:p>
        </p:txBody>
      </p:sp>
      <p:sp>
        <p:nvSpPr>
          <p:cNvPr id="526" name=""/>
          <p:cNvSpPr/>
          <p:nvPr/>
        </p:nvSpPr>
        <p:spPr>
          <a:xfrm rot="0" flipH="0" flipV="0">
            <a:off x="1581150" y="2276475"/>
            <a:ext cx="9086850" cy="1123950"/>
          </a:xfrm>
          <a:prstGeom prst="roundRect">
            <a:avLst>
              <a:gd name="adj" fmla="val 8475"/>
            </a:avLst>
          </a:prstGeom>
          <a:solidFill>
            <a:srgbClr val="FFF6E0"/>
          </a:solidFill>
          <a:ln/>
        </p:spPr>
        <p:txBody>
          <a:bodyPr/>
          <a:p>
            <a:pPr/>
            <a:endParaRPr/>
          </a:p>
        </p:txBody>
      </p:sp>
      <p:sp>
        <p:nvSpPr>
          <p:cNvPr id="527" name=""/>
          <p:cNvSpPr/>
          <p:nvPr/>
        </p:nvSpPr>
        <p:spPr>
          <a:xfrm rot="0" flipH="0" flipV="0">
            <a:off x="1581150" y="2276475"/>
            <a:ext cx="9086850" cy="1123950"/>
          </a:xfrm>
          <a:custGeom>
            <a:pathLst>
              <a:path w="954" h="118">
                <a:moveTo>
                  <a:pt x="10" y="0"/>
                </a:moveTo>
                <a:cubicBezTo>
                  <a:pt x="8" y="0"/>
                  <a:pt x="6" y="2"/>
                  <a:pt x="6" y="4"/>
                </a:cubicBezTo>
                <a:lnTo>
                  <a:pt x="6" y="114"/>
                </a:lnTo>
                <a:cubicBezTo>
                  <a:pt x="6" y="116"/>
                  <a:pt x="8" y="118"/>
                  <a:pt x="10" y="118"/>
                </a:cubicBezTo>
                <a:cubicBezTo>
                  <a:pt x="4" y="118"/>
                  <a:pt x="0" y="113"/>
                  <a:pt x="0" y="108"/>
                </a:cubicBezTo>
                <a:lnTo>
                  <a:pt x="0" y="10"/>
                </a:lnTo>
                <a:cubicBezTo>
                  <a:pt x="0" y="5"/>
                  <a:pt x="4" y="0"/>
                  <a:pt x="10" y="0"/>
                </a:cubicBezTo>
                <a:close/>
              </a:path>
            </a:pathLst>
          </a:custGeom>
          <a:solidFill>
            <a:srgbClr val="FFC107"/>
          </a:solidFill>
          <a:ln/>
        </p:spPr>
        <p:txBody>
          <a:bodyPr/>
          <a:p>
            <a:pPr/>
            <a:endParaRPr/>
          </a:p>
        </p:txBody>
      </p:sp>
      <p:sp>
        <p:nvSpPr>
          <p:cNvPr id="528" name="" descr="{&quot;isTemplate&quot;:true,&quot;type&quot;:&quot;text&quot;}"/>
          <p:cNvSpPr txBox="1"/>
          <p:nvPr/>
        </p:nvSpPr>
        <p:spPr>
          <a:xfrm rot="0" flipH="0" flipV="0">
            <a:off x="1866900" y="2466975"/>
            <a:ext cx="8515350" cy="742950"/>
          </a:xfrm>
          <a:prstGeom prst="rect"/>
        </p:spPr>
        <p:txBody>
          <a:bodyPr wrap="none" lIns="0" tIns="0" rIns="0" bIns="0"/>
          <a:p>
            <a:pPr algn="ctr">
              <a:lnSpc>
                <a:spcPct val="140000"/>
              </a:lnSpc>
            </a:pPr>
            <a:r>
              <a:rPr lang="en-US" sz="1725" b="1">
                <a:solidFill>
                  <a:srgbClr val="0E3F8C"/>
                </a:solidFill>
                <a:latin typeface="Microsoft YaHei"/>
                <a:ea typeface="Microsoft YaHei"/>
              </a:rPr>
              <a:t>A named ellipse is a promise to write something.</a:t>
            </a:r>
            <a:endParaRPr/>
          </a:p>
          <a:p>
            <a:pPr algn="ctr">
              <a:lnSpc>
                <a:spcPct val="140000"/>
              </a:lnSpc>
            </a:pPr>
            <a:r>
              <a:rPr lang="en-US" sz="1725" b="1">
                <a:solidFill>
                  <a:srgbClr val="0E3F8C"/>
                </a:solidFill>
                <a:latin typeface="Microsoft YaHei"/>
                <a:ea typeface="Microsoft YaHei"/>
              </a:rPr>
              <a:t>The promise is kept next week.</a:t>
            </a:r>
            <a:endParaRPr/>
          </a:p>
        </p:txBody>
      </p:sp>
      <p:sp>
        <p:nvSpPr>
          <p:cNvPr id="529" name=""/>
          <p:cNvSpPr/>
          <p:nvPr/>
        </p:nvSpPr>
        <p:spPr>
          <a:xfrm rot="0" flipH="0" flipV="0">
            <a:off x="1524000" y="3590925"/>
            <a:ext cx="2933700" cy="1857375"/>
          </a:xfrm>
          <a:prstGeom prst="roundRect">
            <a:avLst>
              <a:gd name="adj" fmla="val 5128"/>
            </a:avLst>
          </a:prstGeom>
          <a:solidFill>
            <a:srgbClr val="FFFFFF"/>
          </a:solidFill>
          <a:ln w="12700">
            <a:solidFill>
              <a:srgbClr val="D6DCE5"/>
            </a:solidFill>
            <a:prstDash val="solid"/>
          </a:ln>
        </p:spPr>
        <p:txBody>
          <a:bodyPr/>
          <a:p>
            <a:pPr/>
            <a:endParaRPr/>
          </a:p>
        </p:txBody>
      </p:sp>
      <p:pic>
        <p:nvPicPr>
          <p:cNvPr id="530" name=""/>
          <p:cNvPicPr>
            <a:picLocks noChangeAspect="1"/>
          </p:cNvPicPr>
          <p:nvPr/>
        </p:nvPicPr>
        <p:blipFill>
          <a:blip>
            <a:extLst>
              <a:ext uri="{96DAC541-7B7A-43D3-8B79-37D633B846F1}">
                <asvg:svgBlip r:embed="rId1"/>
              </a:ext>
            </a:extLst>
          </a:blip>
          <a:stretch>
            <a:fillRect/>
          </a:stretch>
        </p:blipFill>
        <p:spPr>
          <a:xfrm rot="0" flipH="0" flipV="0">
            <a:off x="1695450" y="3781425"/>
            <a:ext cx="190500" cy="190500"/>
          </a:xfrm>
          <a:prstGeom prst="rect">
            <a:avLst/>
          </a:prstGeom>
          <a:ln/>
        </p:spPr>
      </p:pic>
      <p:sp>
        <p:nvSpPr>
          <p:cNvPr id="531" name="" descr="{&quot;isTemplate&quot;:true,&quot;type&quot;:&quot;text&quot;}"/>
          <p:cNvSpPr txBox="1"/>
          <p:nvPr/>
        </p:nvSpPr>
        <p:spPr>
          <a:xfrm rot="0" flipH="0" flipV="0">
            <a:off x="1962150" y="3781425"/>
            <a:ext cx="1838325" cy="190500"/>
          </a:xfrm>
          <a:prstGeom prst="rect"/>
        </p:spPr>
        <p:txBody>
          <a:bodyPr wrap="none" lIns="0" tIns="0" rIns="0" bIns="0"/>
          <a:p>
            <a:pPr>
              <a:lnSpc>
                <a:spcPct val="100000"/>
              </a:lnSpc>
            </a:pPr>
            <a:r>
              <a:rPr lang="en-US" sz="1200" b="1">
                <a:solidFill>
                  <a:srgbClr val="0E3F8C"/>
                </a:solidFill>
                <a:latin typeface="Microsoft YaHei"/>
                <a:ea typeface="Microsoft YaHei"/>
              </a:rPr>
              <a:t>Not yet: the use case text</a:t>
            </a:r>
            <a:endParaRPr/>
          </a:p>
        </p:txBody>
      </p:sp>
      <p:sp>
        <p:nvSpPr>
          <p:cNvPr id="532" name="" descr="{&quot;isTemplate&quot;:true,&quot;type&quot;:&quot;text&quot;}"/>
          <p:cNvSpPr txBox="1"/>
          <p:nvPr/>
        </p:nvSpPr>
        <p:spPr>
          <a:xfrm rot="0" flipH="0" flipV="0">
            <a:off x="1695450" y="4048125"/>
            <a:ext cx="2590800" cy="1209675"/>
          </a:xfrm>
          <a:prstGeom prst="rect"/>
        </p:spPr>
        <p:txBody>
          <a:bodyPr wrap="square" lIns="0" tIns="0" rIns="0" bIns="0">
            <a:normAutofit/>
          </a:bodyPr>
          <a:p>
            <a:pPr>
              <a:lnSpc>
                <a:spcPct val="165000"/>
              </a:lnSpc>
            </a:pPr>
            <a:r>
              <a:rPr lang="en-US" sz="960">
                <a:solidFill>
                  <a:srgbClr val="4A5568"/>
                </a:solidFill>
                <a:latin typeface="Microsoft YaHei"/>
                <a:ea typeface="Microsoft YaHei"/>
              </a:rPr>
              <a:t>“Place Order” on a diagram tells you a goal exists. It does not tell you what happens when the card is declined, or what must be true before the student starts. That is the use case specification — </a:t>
            </a:r>
            <a:r>
              <a:rPr lang="en-US" sz="960">
                <a:solidFill>
                  <a:srgbClr val="4A5568"/>
                </a:solidFill>
                <a:latin typeface="Microsoft YaHei"/>
                <a:ea typeface="Microsoft YaHei"/>
              </a:rPr>
              <a:t>Week 05</a:t>
            </a:r>
            <a:r>
              <a:rPr lang="en-US" sz="960">
                <a:solidFill>
                  <a:srgbClr val="4A5568"/>
                </a:solidFill>
                <a:latin typeface="Microsoft YaHei"/>
                <a:ea typeface="Microsoft YaHei"/>
              </a:rPr>
              <a:t>.</a:t>
            </a:r>
            <a:endParaRPr/>
          </a:p>
        </p:txBody>
      </p:sp>
      <p:sp>
        <p:nvSpPr>
          <p:cNvPr id="533" name=""/>
          <p:cNvSpPr/>
          <p:nvPr/>
        </p:nvSpPr>
        <p:spPr>
          <a:xfrm rot="0" flipH="0" flipV="0">
            <a:off x="4629150" y="3590925"/>
            <a:ext cx="2933700" cy="1857375"/>
          </a:xfrm>
          <a:prstGeom prst="roundRect">
            <a:avLst>
              <a:gd name="adj" fmla="val 5128"/>
            </a:avLst>
          </a:prstGeom>
          <a:solidFill>
            <a:srgbClr val="FFFFFF"/>
          </a:solidFill>
          <a:ln w="12700">
            <a:solidFill>
              <a:srgbClr val="D6DCE5"/>
            </a:solidFill>
            <a:prstDash val="solid"/>
          </a:ln>
        </p:spPr>
        <p:txBody>
          <a:bodyPr/>
          <a:p>
            <a:pPr/>
            <a:endParaRPr/>
          </a:p>
        </p:txBody>
      </p:sp>
      <p:pic>
        <p:nvPicPr>
          <p:cNvPr id="534" name=""/>
          <p:cNvPicPr>
            <a:picLocks noChangeAspect="1"/>
          </p:cNvPicPr>
          <p:nvPr/>
        </p:nvPicPr>
        <p:blipFill>
          <a:blip>
            <a:extLst>
              <a:ext uri="{96DAC541-7B7A-43D3-8B79-37D633B846F1}">
                <asvg:svgBlip r:embed="rId2"/>
              </a:ext>
            </a:extLst>
          </a:blip>
          <a:stretch>
            <a:fillRect/>
          </a:stretch>
        </p:blipFill>
        <p:spPr>
          <a:xfrm rot="0" flipH="0" flipV="0">
            <a:off x="4800600" y="3781425"/>
            <a:ext cx="190500" cy="190500"/>
          </a:xfrm>
          <a:prstGeom prst="rect">
            <a:avLst/>
          </a:prstGeom>
          <a:ln/>
        </p:spPr>
      </p:pic>
      <p:sp>
        <p:nvSpPr>
          <p:cNvPr id="535" name="" descr="{&quot;isTemplate&quot;:true,&quot;type&quot;:&quot;text&quot;}"/>
          <p:cNvSpPr txBox="1"/>
          <p:nvPr/>
        </p:nvSpPr>
        <p:spPr>
          <a:xfrm rot="0" flipH="0" flipV="0">
            <a:off x="5067300" y="3781425"/>
            <a:ext cx="1914525" cy="190500"/>
          </a:xfrm>
          <a:prstGeom prst="rect"/>
        </p:spPr>
        <p:txBody>
          <a:bodyPr wrap="none" lIns="0" tIns="0" rIns="0" bIns="0"/>
          <a:p>
            <a:pPr>
              <a:lnSpc>
                <a:spcPct val="100000"/>
              </a:lnSpc>
            </a:pPr>
            <a:r>
              <a:rPr lang="en-US" sz="1200" b="1">
                <a:solidFill>
                  <a:srgbClr val="0E3F8C"/>
                </a:solidFill>
                <a:latin typeface="Microsoft YaHei"/>
                <a:ea typeface="Microsoft YaHei"/>
              </a:rPr>
              <a:t>Not yet: the domain model</a:t>
            </a:r>
            <a:endParaRPr/>
          </a:p>
        </p:txBody>
      </p:sp>
      <p:sp>
        <p:nvSpPr>
          <p:cNvPr id="536" name="" descr="{&quot;isTemplate&quot;:true,&quot;type&quot;:&quot;text&quot;}"/>
          <p:cNvSpPr txBox="1"/>
          <p:nvPr/>
        </p:nvSpPr>
        <p:spPr>
          <a:xfrm rot="0" flipH="0" flipV="0">
            <a:off x="4800600" y="4048125"/>
            <a:ext cx="2590800" cy="971550"/>
          </a:xfrm>
          <a:prstGeom prst="rect"/>
        </p:spPr>
        <p:txBody>
          <a:bodyPr wrap="square" lIns="0" tIns="0" rIns="0" bIns="0">
            <a:normAutofit/>
          </a:bodyPr>
          <a:p>
            <a:pPr>
              <a:lnSpc>
                <a:spcPct val="165000"/>
              </a:lnSpc>
            </a:pPr>
            <a:r>
              <a:rPr lang="en-US" sz="960">
                <a:solidFill>
                  <a:srgbClr val="4A5568"/>
                </a:solidFill>
                <a:latin typeface="Microsoft YaHei"/>
                <a:ea typeface="Microsoft YaHei"/>
              </a:rPr>
              <a:t>Order, MenuItem and Courier are names on this page. Turning them into classes with attributes and associations is a different artefact — </a:t>
            </a:r>
            <a:r>
              <a:rPr lang="en-US" sz="960">
                <a:solidFill>
                  <a:srgbClr val="4A5568"/>
                </a:solidFill>
                <a:latin typeface="Microsoft YaHei"/>
                <a:ea typeface="Microsoft YaHei"/>
              </a:rPr>
              <a:t>Week 06</a:t>
            </a:r>
            <a:r>
              <a:rPr lang="en-US" sz="960">
                <a:solidFill>
                  <a:srgbClr val="4A5568"/>
                </a:solidFill>
                <a:latin typeface="Microsoft YaHei"/>
                <a:ea typeface="Microsoft YaHei"/>
              </a:rPr>
              <a:t>. Resist the urge to draw boxes today.</a:t>
            </a:r>
            <a:endParaRPr/>
          </a:p>
        </p:txBody>
      </p:sp>
      <p:sp>
        <p:nvSpPr>
          <p:cNvPr id="537" name=""/>
          <p:cNvSpPr/>
          <p:nvPr/>
        </p:nvSpPr>
        <p:spPr>
          <a:xfrm rot="0" flipH="0" flipV="0">
            <a:off x="7734300" y="3590925"/>
            <a:ext cx="2933700" cy="1857375"/>
          </a:xfrm>
          <a:prstGeom prst="roundRect">
            <a:avLst>
              <a:gd name="adj" fmla="val 5128"/>
            </a:avLst>
          </a:prstGeom>
          <a:solidFill>
            <a:srgbClr val="F0F5FC"/>
          </a:solidFill>
          <a:ln w="12700">
            <a:solidFill>
              <a:srgbClr val="1E4FA8"/>
            </a:solidFill>
            <a:prstDash val="solid"/>
          </a:ln>
        </p:spPr>
        <p:txBody>
          <a:bodyPr/>
          <a:p>
            <a:pPr/>
            <a:endParaRPr/>
          </a:p>
        </p:txBody>
      </p:sp>
      <p:pic>
        <p:nvPicPr>
          <p:cNvPr id="538" name=""/>
          <p:cNvPicPr>
            <a:picLocks noChangeAspect="1"/>
          </p:cNvPicPr>
          <p:nvPr/>
        </p:nvPicPr>
        <p:blipFill>
          <a:blip>
            <a:extLst>
              <a:ext uri="{96DAC541-7B7A-43D3-8B79-37D633B846F1}">
                <asvg:svgBlip r:embed="rId3"/>
              </a:ext>
            </a:extLst>
          </a:blip>
          <a:stretch>
            <a:fillRect/>
          </a:stretch>
        </p:blipFill>
        <p:spPr>
          <a:xfrm rot="0" flipH="0" flipV="0">
            <a:off x="7905750" y="3781425"/>
            <a:ext cx="190500" cy="190500"/>
          </a:xfrm>
          <a:prstGeom prst="rect">
            <a:avLst/>
          </a:prstGeom>
          <a:ln/>
        </p:spPr>
      </p:pic>
      <p:sp>
        <p:nvSpPr>
          <p:cNvPr id="539" name="" descr="{&quot;isTemplate&quot;:true,&quot;type&quot;:&quot;text&quot;}"/>
          <p:cNvSpPr txBox="1"/>
          <p:nvPr/>
        </p:nvSpPr>
        <p:spPr>
          <a:xfrm rot="0" flipH="0" flipV="0">
            <a:off x="8172450" y="3781425"/>
            <a:ext cx="2095500" cy="190500"/>
          </a:xfrm>
          <a:prstGeom prst="rect"/>
        </p:spPr>
        <p:txBody>
          <a:bodyPr wrap="none" lIns="0" tIns="0" rIns="0" bIns="0"/>
          <a:p>
            <a:pPr>
              <a:lnSpc>
                <a:spcPct val="100000"/>
              </a:lnSpc>
            </a:pPr>
            <a:r>
              <a:rPr lang="en-US" sz="1200" b="1">
                <a:solidFill>
                  <a:srgbClr val="0E3F8C"/>
                </a:solidFill>
                <a:latin typeface="Microsoft YaHei"/>
                <a:ea typeface="Microsoft YaHei"/>
              </a:rPr>
              <a:t>Next week: you are the client</a:t>
            </a:r>
            <a:endParaRPr/>
          </a:p>
        </p:txBody>
      </p:sp>
      <p:sp>
        <p:nvSpPr>
          <p:cNvPr id="540" name="" descr="{&quot;isTemplate&quot;:true,&quot;type&quot;:&quot;text&quot;}"/>
          <p:cNvSpPr txBox="1"/>
          <p:nvPr/>
        </p:nvSpPr>
        <p:spPr>
          <a:xfrm rot="0" flipH="0" flipV="0">
            <a:off x="7905750" y="4048125"/>
            <a:ext cx="2590800" cy="971550"/>
          </a:xfrm>
          <a:prstGeom prst="rect"/>
        </p:spPr>
        <p:txBody>
          <a:bodyPr wrap="square" lIns="0" tIns="0" rIns="0" bIns="0">
            <a:normAutofit/>
          </a:bodyPr>
          <a:p>
            <a:pPr>
              <a:lnSpc>
                <a:spcPct val="165000"/>
              </a:lnSpc>
            </a:pPr>
            <a:r>
              <a:rPr lang="en-US" sz="960">
                <a:solidFill>
                  <a:srgbClr val="4A5568"/>
                </a:solidFill>
                <a:latin typeface="Microsoft YaHei"/>
                <a:ea typeface="Microsoft YaHei"/>
              </a:rPr>
              <a:t>In Week 05 the instructor plays the client and reviews your pack with you. Bring a diagram you can defend, because the client will ask why “Manage Order” is on it.</a:t>
            </a:r>
            <a:endParaRPr/>
          </a:p>
        </p:txBody>
      </p:sp>
      <p:sp>
        <p:nvSpPr>
          <p:cNvPr id="541" name=""/>
          <p:cNvSpPr/>
          <p:nvPr/>
        </p:nvSpPr>
        <p:spPr>
          <a:xfrm rot="0" flipH="0" flipV="0">
            <a:off x="0" y="6419850"/>
            <a:ext cx="12192000" cy="438150"/>
          </a:xfrm>
          <a:prstGeom prst="rect">
            <a:avLst/>
          </a:prstGeom>
          <a:solidFill>
            <a:srgbClr val="0E3F8C"/>
          </a:solidFill>
          <a:ln/>
        </p:spPr>
        <p:txBody>
          <a:bodyPr/>
          <a:p>
            <a:pPr/>
            <a:endParaRPr/>
          </a:p>
        </p:txBody>
      </p:sp>
      <p:sp>
        <p:nvSpPr>
          <p:cNvPr id="542" name="" descr="{&quot;isTemplate&quot;:true,&quot;type&quot;:&quot;text&quot;}"/>
          <p:cNvSpPr txBox="1"/>
          <p:nvPr/>
        </p:nvSpPr>
        <p:spPr>
          <a:xfrm rot="0" flipH="0" flipV="0">
            <a:off x="2714625" y="6543675"/>
            <a:ext cx="6772275" cy="190500"/>
          </a:xfrm>
          <a:prstGeom prst="rect"/>
        </p:spPr>
        <p:txBody>
          <a:bodyPr wrap="none" lIns="0" tIns="0" rIns="0" bIns="0"/>
          <a:p>
            <a:pPr>
              <a:lnSpc>
                <a:spcPct val="100000"/>
              </a:lnSpc>
            </a:pPr>
            <a:r>
              <a:rPr lang="en-US" sz="1200" b="1">
                <a:solidFill>
                  <a:srgbClr val="FFFFFF"/>
                </a:solidFill>
                <a:latin typeface="Microsoft YaHei"/>
                <a:ea typeface="Microsoft YaHei"/>
              </a:rPr>
              <a:t>This week you find the goals. Next week you write them down so a stranger could build them.</a:t>
            </a:r>
            <a:endParaRPr/>
          </a:p>
        </p:txBody>
      </p:sp>
    </p:spTree>
  </p:cSld>
</p:sld>
</file>

<file path=ppt/slides/slide30.xml><?xml version="1.0" encoding="utf-8"?>
<p:sld xmlns:a="http://schemas.openxmlformats.org/drawingml/2006/main" xmlns:p="http://schemas.openxmlformats.org/presentationml/2006/main">
  <p:cSld>
    <p:spTree>
      <p:nvGrpSpPr>
        <p:cNvPr id="557" name=""/>
        <p:cNvGrpSpPr/>
        <p:nvPr/>
      </p:nvGrpSpPr>
      <p:grpSpPr>
        <a:xfrm>
          <a:off x="0" y="0"/>
          <a:ext cx="0" cy="0"/>
          <a:chOff x="0" y="0"/>
          <a:chExt cx="0" cy="0"/>
        </a:xfrm>
      </p:grpSpPr>
      <p:sp>
        <p:nvSpPr>
          <p:cNvPr id="558" name=""/>
          <p:cNvSpPr/>
          <p:nvPr/>
        </p:nvSpPr>
        <p:spPr>
          <a:xfrm rot="0" flipH="0" flipV="0">
            <a:off x="0" y="0"/>
            <a:ext cx="12192000" cy="6858000"/>
          </a:xfrm>
          <a:prstGeom prst="rect">
            <a:avLst/>
          </a:prstGeom>
          <a:solidFill>
            <a:srgbClr val="0E3F8C"/>
          </a:solidFill>
          <a:ln/>
        </p:spPr>
        <p:txBody>
          <a:bodyPr/>
          <a:p>
            <a:pPr/>
            <a:endParaRPr/>
          </a:p>
        </p:txBody>
      </p:sp>
      <p:sp>
        <p:nvSpPr>
          <p:cNvPr id="559"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a:pPr/>
            <a:endParaRPr/>
          </a:p>
        </p:txBody>
      </p:sp>
      <p:sp>
        <p:nvSpPr>
          <p:cNvPr id="560" name="" descr="{&quot;isTemplate&quot;:true,&quot;type&quot;:&quot;text&quot;}"/>
          <p:cNvSpPr txBox="1"/>
          <p:nvPr/>
        </p:nvSpPr>
        <p:spPr>
          <a:xfrm rot="0" flipH="0" flipV="0">
            <a:off x="9525" y="2171700"/>
            <a:ext cx="2828925" cy="2514600"/>
          </a:xfrm>
          <a:prstGeom prst="rect"/>
        </p:spPr>
        <p:txBody>
          <a:bodyPr wrap="none" lIns="0" tIns="0" rIns="0" bIns="0"/>
          <a:p>
            <a:pPr>
              <a:lnSpc>
                <a:spcPct val="100000"/>
              </a:lnSpc>
            </a:pPr>
            <a:r>
              <a:rPr lang="en-US" sz="16500" b="1">
                <a:solidFill>
                  <a:srgbClr val="3D7BD9"/>
                </a:solidFill>
                <a:latin typeface="Georgia"/>
                <a:ea typeface="Georgia"/>
              </a:rPr>
              <a:t>06</a:t>
            </a:r>
            <a:endParaRPr/>
          </a:p>
        </p:txBody>
      </p:sp>
      <p:sp>
        <p:nvSpPr>
          <p:cNvPr id="561" name="" descr="{&quot;isTemplate&quot;:true,&quot;type&quot;:&quot;text&quot;}"/>
          <p:cNvSpPr txBox="1"/>
          <p:nvPr/>
        </p:nvSpPr>
        <p:spPr>
          <a:xfrm rot="0" flipH="0" flipV="0">
            <a:off x="3467100" y="1943100"/>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2 · LAB</a:t>
            </a:r>
            <a:endParaRPr/>
          </a:p>
        </p:txBody>
      </p:sp>
      <p:sp>
        <p:nvSpPr>
          <p:cNvPr id="562" name="" descr="{&quot;isTemplate&quot;:true,&quot;type&quot;:&quot;text&quot;}"/>
          <p:cNvSpPr txBox="1"/>
          <p:nvPr/>
        </p:nvSpPr>
        <p:spPr>
          <a:xfrm rot="0" flipH="0" flipV="0">
            <a:off x="3467100" y="2286000"/>
            <a:ext cx="8115300" cy="1190625"/>
          </a:xfrm>
          <a:prstGeom prst="rect"/>
        </p:spPr>
        <p:txBody>
          <a:bodyPr wrap="none" lIns="0" tIns="0" rIns="0" bIns="0"/>
          <a:p>
            <a:pPr>
              <a:lnSpc>
                <a:spcPct val="118000"/>
              </a:lnSpc>
            </a:pPr>
            <a:r>
              <a:rPr lang="en-US" sz="3300" b="1">
                <a:solidFill>
                  <a:srgbClr val="FFFFFF"/>
                </a:solidFill>
                <a:latin typeface="Microsoft YaHei"/>
                <a:ea typeface="Microsoft YaHei"/>
              </a:rPr>
              <a:t>Exercise 4.1,</a:t>
            </a:r>
            <a:endParaRPr/>
          </a:p>
          <a:p>
            <a:pPr>
              <a:lnSpc>
                <a:spcPct val="118000"/>
              </a:lnSpc>
            </a:pPr>
            <a:r>
              <a:rPr lang="en-US" sz="3300" b="1">
                <a:solidFill>
                  <a:srgbClr val="FFFFFF"/>
                </a:solidFill>
                <a:latin typeface="Microsoft YaHei"/>
                <a:ea typeface="Microsoft YaHei"/>
              </a:rPr>
              <a:t>4.2 &amp; M1</a:t>
            </a:r>
            <a:endParaRPr/>
          </a:p>
        </p:txBody>
      </p:sp>
      <p:sp>
        <p:nvSpPr>
          <p:cNvPr id="563" name=""/>
          <p:cNvSpPr/>
          <p:nvPr/>
        </p:nvSpPr>
        <p:spPr>
          <a:xfrm rot="0" flipH="0" flipV="0">
            <a:off x="3467100" y="3724275"/>
            <a:ext cx="609600" cy="38100"/>
          </a:xfrm>
          <a:prstGeom prst="rect">
            <a:avLst/>
          </a:prstGeom>
          <a:solidFill>
            <a:srgbClr val="FFC107"/>
          </a:solidFill>
          <a:ln/>
        </p:spPr>
        <p:txBody>
          <a:bodyPr/>
          <a:p>
            <a:pPr/>
            <a:endParaRPr/>
          </a:p>
        </p:txBody>
      </p:sp>
      <p:sp>
        <p:nvSpPr>
          <p:cNvPr id="564" name=""/>
          <p:cNvSpPr/>
          <p:nvPr/>
        </p:nvSpPr>
        <p:spPr>
          <a:xfrm rot="0" flipH="0" flipV="0">
            <a:off x="3467100" y="4086225"/>
            <a:ext cx="76200" cy="76200"/>
          </a:xfrm>
          <a:prstGeom prst="roundRect">
            <a:avLst>
              <a:gd name="adj" fmla="val 50000"/>
            </a:avLst>
          </a:prstGeom>
          <a:solidFill>
            <a:srgbClr val="3D7BD9"/>
          </a:solidFill>
          <a:ln/>
        </p:spPr>
        <p:txBody>
          <a:bodyPr/>
          <a:p>
            <a:pPr/>
            <a:endParaRPr/>
          </a:p>
        </p:txBody>
      </p:sp>
      <p:sp>
        <p:nvSpPr>
          <p:cNvPr id="565" name="" descr="{&quot;isTemplate&quot;:true,&quot;type&quot;:&quot;text&quot;}"/>
          <p:cNvSpPr txBox="1"/>
          <p:nvPr/>
        </p:nvSpPr>
        <p:spPr>
          <a:xfrm rot="0" flipH="0" flipV="0">
            <a:off x="3657600" y="4010025"/>
            <a:ext cx="4067175" cy="228600"/>
          </a:xfrm>
          <a:prstGeom prst="rect"/>
        </p:spPr>
        <p:txBody>
          <a:bodyPr wrap="none" lIns="0" tIns="0" rIns="0" bIns="0"/>
          <a:p>
            <a:pPr>
              <a:lnSpc>
                <a:spcPct val="100000"/>
              </a:lnSpc>
            </a:pPr>
            <a:r>
              <a:rPr lang="en-US" sz="1500">
                <a:solidFill>
                  <a:srgbClr val="C5D4EA"/>
                </a:solidFill>
                <a:latin typeface="Microsoft YaHei"/>
                <a:ea typeface="Microsoft YaHei"/>
              </a:rPr>
              <a:t>Read the narrative, find the actors and the goals</a:t>
            </a:r>
            <a:endParaRPr/>
          </a:p>
        </p:txBody>
      </p:sp>
      <p:sp>
        <p:nvSpPr>
          <p:cNvPr id="566" name=""/>
          <p:cNvSpPr/>
          <p:nvPr/>
        </p:nvSpPr>
        <p:spPr>
          <a:xfrm rot="0" flipH="0" flipV="0">
            <a:off x="3467100" y="4429125"/>
            <a:ext cx="76200" cy="76200"/>
          </a:xfrm>
          <a:prstGeom prst="roundRect">
            <a:avLst>
              <a:gd name="adj" fmla="val 50000"/>
            </a:avLst>
          </a:prstGeom>
          <a:solidFill>
            <a:srgbClr val="3D7BD9"/>
          </a:solidFill>
          <a:ln/>
        </p:spPr>
        <p:txBody>
          <a:bodyPr/>
          <a:p>
            <a:pPr/>
            <a:endParaRPr/>
          </a:p>
        </p:txBody>
      </p:sp>
      <p:sp>
        <p:nvSpPr>
          <p:cNvPr id="567" name="" descr="{&quot;isTemplate&quot;:true,&quot;type&quot;:&quot;text&quot;}"/>
          <p:cNvSpPr txBox="1"/>
          <p:nvPr/>
        </p:nvSpPr>
        <p:spPr>
          <a:xfrm rot="0" flipH="0" flipV="0">
            <a:off x="3657600" y="4352925"/>
            <a:ext cx="3829050" cy="228600"/>
          </a:xfrm>
          <a:prstGeom prst="rect"/>
        </p:spPr>
        <p:txBody>
          <a:bodyPr wrap="none" lIns="0" tIns="0" rIns="0" bIns="0"/>
          <a:p>
            <a:pPr>
              <a:lnSpc>
                <a:spcPct val="100000"/>
              </a:lnSpc>
            </a:pPr>
            <a:r>
              <a:rPr lang="en-US" sz="1500">
                <a:solidFill>
                  <a:srgbClr val="C5D4EA"/>
                </a:solidFill>
                <a:latin typeface="Microsoft YaHei"/>
                <a:ea typeface="Microsoft YaHei"/>
              </a:rPr>
              <a:t>Draw the diagram — one include, one extend</a:t>
            </a:r>
            <a:endParaRPr/>
          </a:p>
        </p:txBody>
      </p:sp>
      <p:sp>
        <p:nvSpPr>
          <p:cNvPr id="568" name=""/>
          <p:cNvSpPr/>
          <p:nvPr/>
        </p:nvSpPr>
        <p:spPr>
          <a:xfrm rot="0" flipH="0" flipV="0">
            <a:off x="3467100" y="4772025"/>
            <a:ext cx="76200" cy="76200"/>
          </a:xfrm>
          <a:prstGeom prst="roundRect">
            <a:avLst>
              <a:gd name="adj" fmla="val 50000"/>
            </a:avLst>
          </a:prstGeom>
          <a:solidFill>
            <a:srgbClr val="3D7BD9"/>
          </a:solidFill>
          <a:ln/>
        </p:spPr>
        <p:txBody>
          <a:bodyPr/>
          <a:p>
            <a:pPr/>
            <a:endParaRPr/>
          </a:p>
        </p:txBody>
      </p:sp>
      <p:sp>
        <p:nvSpPr>
          <p:cNvPr id="569" name="" descr="{&quot;isTemplate&quot;:true,&quot;type&quot;:&quot;text&quot;}"/>
          <p:cNvSpPr txBox="1"/>
          <p:nvPr/>
        </p:nvSpPr>
        <p:spPr>
          <a:xfrm rot="0" flipH="0" flipV="0">
            <a:off x="3657600" y="4695825"/>
            <a:ext cx="4181475" cy="228600"/>
          </a:xfrm>
          <a:prstGeom prst="rect"/>
        </p:spPr>
        <p:txBody>
          <a:bodyPr wrap="none" lIns="0" tIns="0" rIns="0" bIns="0"/>
          <a:p>
            <a:pPr>
              <a:lnSpc>
                <a:spcPct val="100000"/>
              </a:lnSpc>
            </a:pPr>
            <a:r>
              <a:rPr lang="en-US" sz="1500">
                <a:solidFill>
                  <a:srgbClr val="C5D4EA"/>
                </a:solidFill>
                <a:latin typeface="Microsoft YaHei"/>
                <a:ea typeface="Microsoft YaHei"/>
              </a:rPr>
              <a:t>M1 opens today and closes on Sunday 4 October</a:t>
            </a:r>
            <a:endParaRPr/>
          </a:p>
        </p:txBody>
      </p:sp>
      <p:sp>
        <p:nvSpPr>
          <p:cNvPr id="570" name=""/>
          <p:cNvSpPr/>
          <p:nvPr/>
        </p:nvSpPr>
        <p:spPr>
          <a:xfrm rot="0" flipH="0" flipV="0">
            <a:off x="0" y="0"/>
            <a:ext cx="12192000" cy="76200"/>
          </a:xfrm>
          <a:prstGeom prst="rect">
            <a:avLst/>
          </a:prstGeom>
          <a:solidFill>
            <a:srgbClr val="1E4FA8"/>
          </a:solidFill>
          <a:ln/>
        </p:spPr>
        <p:txBody>
          <a:bodyPr/>
          <a:p>
            <a:pPr/>
            <a:endParaRPr/>
          </a:p>
        </p:txBody>
      </p:sp>
    </p:spTree>
  </p:cSld>
</p:sld>
</file>

<file path=ppt/slides/slide31.xml><?xml version="1.0" encoding="utf-8"?>
<p:sld xmlns:a="http://schemas.openxmlformats.org/drawingml/2006/main" xmlns:p="http://schemas.openxmlformats.org/presentationml/2006/main">
  <p:cSld>
    <p:spTree>
      <p:nvGrpSpPr>
        <p:cNvPr id="571" name=""/>
        <p:cNvGrpSpPr/>
        <p:nvPr/>
      </p:nvGrpSpPr>
      <p:grpSpPr>
        <a:xfrm>
          <a:off x="0" y="0"/>
          <a:ext cx="0" cy="0"/>
          <a:chOff x="0" y="0"/>
          <a:chExt cx="0" cy="0"/>
        </a:xfrm>
      </p:grpSpPr>
      <p:sp>
        <p:nvSpPr>
          <p:cNvPr id="572" name=""/>
          <p:cNvSpPr/>
          <p:nvPr/>
        </p:nvSpPr>
        <p:spPr>
          <a:xfrm rot="0" flipH="0" flipV="0">
            <a:off x="0" y="0"/>
            <a:ext cx="12192000" cy="6858000"/>
          </a:xfrm>
          <a:prstGeom prst="rect">
            <a:avLst/>
          </a:prstGeom>
          <a:solidFill>
            <a:srgbClr val="FFFFFF"/>
          </a:solidFill>
          <a:ln/>
        </p:spPr>
        <p:txBody>
          <a:bodyPr/>
          <a:p>
            <a:pPr/>
            <a:endParaRPr/>
          </a:p>
        </p:txBody>
      </p:sp>
      <p:sp>
        <p:nvSpPr>
          <p:cNvPr id="573" name=""/>
          <p:cNvSpPr/>
          <p:nvPr/>
        </p:nvSpPr>
        <p:spPr>
          <a:xfrm rot="0" flipH="0" flipV="0">
            <a:off x="0" y="0"/>
            <a:ext cx="12192000" cy="685800"/>
          </a:xfrm>
          <a:prstGeom prst="rect">
            <a:avLst/>
          </a:prstGeom>
          <a:solidFill>
            <a:srgbClr val="1E4FA8"/>
          </a:solidFill>
          <a:ln/>
        </p:spPr>
        <p:txBody>
          <a:bodyPr/>
          <a:p>
            <a:pPr/>
            <a:endParaRPr/>
          </a:p>
        </p:txBody>
      </p:sp>
      <p:sp>
        <p:nvSpPr>
          <p:cNvPr id="574"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75"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4.1</a:t>
            </a:r>
            <a:endParaRPr/>
          </a:p>
        </p:txBody>
      </p:sp>
      <p:sp>
        <p:nvSpPr>
          <p:cNvPr id="576" name="" descr="{&quot;isTemplate&quot;:true,&quot;type&quot;:&quot;text&quot;}"/>
          <p:cNvSpPr txBox="1"/>
          <p:nvPr/>
        </p:nvSpPr>
        <p:spPr>
          <a:xfrm rot="0" flipH="0" flipV="0">
            <a:off x="381000" y="819150"/>
            <a:ext cx="3800475" cy="333375"/>
          </a:xfrm>
          <a:prstGeom prst="rect"/>
        </p:spPr>
        <p:txBody>
          <a:bodyPr wrap="none" lIns="0" tIns="0" rIns="0" bIns="0"/>
          <a:p>
            <a:pPr>
              <a:lnSpc>
                <a:spcPct val="100000"/>
              </a:lnSpc>
            </a:pPr>
            <a:r>
              <a:rPr lang="en-US" sz="2175" b="1">
                <a:solidFill>
                  <a:srgbClr val="0E3F8C"/>
                </a:solidFill>
                <a:latin typeface="Microsoft YaHei"/>
                <a:ea typeface="Microsoft YaHei"/>
              </a:rPr>
              <a:t>Exercise 4.1 — The Narrative</a:t>
            </a:r>
            <a:endParaRPr/>
          </a:p>
        </p:txBody>
      </p:sp>
      <p:sp>
        <p:nvSpPr>
          <p:cNvPr id="577"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31 / 38</a:t>
            </a:r>
            <a:endParaRPr/>
          </a:p>
        </p:txBody>
      </p:sp>
      <p:sp>
        <p:nvSpPr>
          <p:cNvPr id="578" name=""/>
          <p:cNvSpPr/>
          <p:nvPr/>
        </p:nvSpPr>
        <p:spPr>
          <a:xfrm rot="0" flipH="0" flipV="0">
            <a:off x="8658225" y="2238375"/>
            <a:ext cx="3190875" cy="1219200"/>
          </a:xfrm>
          <a:prstGeom prst="roundRect">
            <a:avLst>
              <a:gd name="adj" fmla="val 7031"/>
            </a:avLst>
          </a:prstGeom>
          <a:solidFill>
            <a:srgbClr val="F0F5FC"/>
          </a:solidFill>
          <a:ln/>
        </p:spPr>
        <p:txBody>
          <a:bodyPr/>
          <a:p>
            <a:pPr/>
            <a:endParaRPr/>
          </a:p>
        </p:txBody>
      </p:sp>
      <p:sp>
        <p:nvSpPr>
          <p:cNvPr id="579" name=""/>
          <p:cNvSpPr/>
          <p:nvPr/>
        </p:nvSpPr>
        <p:spPr>
          <a:xfrm rot="0" flipH="0" flipV="0">
            <a:off x="8658225" y="22383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1E4FA8"/>
          </a:solidFill>
          <a:ln/>
        </p:spPr>
        <p:txBody>
          <a:bodyPr/>
          <a:p>
            <a:pPr/>
            <a:endParaRPr/>
          </a:p>
        </p:txBody>
      </p:sp>
      <p:sp>
        <p:nvSpPr>
          <p:cNvPr id="580" name="" descr="{&quot;isTemplate&quot;:true,&quot;type&quot;:&quot;text&quot;}"/>
          <p:cNvSpPr txBox="1"/>
          <p:nvPr/>
        </p:nvSpPr>
        <p:spPr>
          <a:xfrm rot="0" flipH="0" flipV="0">
            <a:off x="8820150" y="2381250"/>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This is real</a:t>
            </a:r>
            <a:endParaRPr/>
          </a:p>
        </p:txBody>
      </p:sp>
      <p:sp>
        <p:nvSpPr>
          <p:cNvPr id="581" name="" descr="{&quot;isTemplate&quot;:true,&quot;type&quot;:&quot;text&quot;}"/>
          <p:cNvSpPr txBox="1"/>
          <p:nvPr/>
        </p:nvSpPr>
        <p:spPr>
          <a:xfrm rot="0" flipH="0" flipV="0">
            <a:off x="8820150" y="26098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This is the extract your team has in the pack. The full version has four more paragraphs; the lab works on this one.</a:t>
            </a:r>
            <a:endParaRPr/>
          </a:p>
        </p:txBody>
      </p:sp>
      <p:sp>
        <p:nvSpPr>
          <p:cNvPr id="582" name=""/>
          <p:cNvSpPr/>
          <p:nvPr/>
        </p:nvSpPr>
        <p:spPr>
          <a:xfrm rot="0" flipH="0" flipV="0">
            <a:off x="8658225" y="3571875"/>
            <a:ext cx="3190875" cy="990600"/>
          </a:xfrm>
          <a:prstGeom prst="roundRect">
            <a:avLst>
              <a:gd name="adj" fmla="val 8654"/>
            </a:avLst>
          </a:prstGeom>
          <a:solidFill>
            <a:srgbClr val="FFF6E0"/>
          </a:solidFill>
          <a:ln/>
        </p:spPr>
        <p:txBody>
          <a:bodyPr/>
          <a:p>
            <a:pPr/>
            <a:endParaRPr/>
          </a:p>
        </p:txBody>
      </p:sp>
      <p:sp>
        <p:nvSpPr>
          <p:cNvPr id="583" name=""/>
          <p:cNvSpPr/>
          <p:nvPr/>
        </p:nvSpPr>
        <p:spPr>
          <a:xfrm rot="0" flipH="0" flipV="0">
            <a:off x="8658225" y="3571875"/>
            <a:ext cx="3190875" cy="990600"/>
          </a:xfrm>
          <a:custGeom>
            <a:pathLst>
              <a:path w="335" h="104">
                <a:moveTo>
                  <a:pt x="9" y="0"/>
                </a:moveTo>
                <a:cubicBezTo>
                  <a:pt x="6" y="0"/>
                  <a:pt x="4" y="2"/>
                  <a:pt x="4" y="5"/>
                </a:cubicBezTo>
                <a:lnTo>
                  <a:pt x="4" y="99"/>
                </a:lnTo>
                <a:cubicBezTo>
                  <a:pt x="4" y="101"/>
                  <a:pt x="6" y="103"/>
                  <a:pt x="8" y="104"/>
                </a:cubicBezTo>
                <a:cubicBezTo>
                  <a:pt x="4" y="104"/>
                  <a:pt x="0" y="100"/>
                  <a:pt x="0" y="95"/>
                </a:cubicBezTo>
                <a:lnTo>
                  <a:pt x="0" y="9"/>
                </a:lnTo>
                <a:cubicBezTo>
                  <a:pt x="0" y="4"/>
                  <a:pt x="4" y="0"/>
                  <a:pt x="9" y="0"/>
                </a:cubicBezTo>
                <a:close/>
              </a:path>
            </a:pathLst>
          </a:custGeom>
          <a:solidFill>
            <a:srgbClr val="FFC107"/>
          </a:solidFill>
          <a:ln/>
        </p:spPr>
        <p:txBody>
          <a:bodyPr/>
          <a:p>
            <a:pPr/>
            <a:endParaRPr/>
          </a:p>
        </p:txBody>
      </p:sp>
      <p:sp>
        <p:nvSpPr>
          <p:cNvPr id="584" name="" descr="{&quot;isTemplate&quot;:true,&quot;type&quot;:&quot;text&quot;}"/>
          <p:cNvSpPr txBox="1"/>
          <p:nvPr/>
        </p:nvSpPr>
        <p:spPr>
          <a:xfrm rot="0" flipH="0" flipV="0">
            <a:off x="8820150" y="3714750"/>
            <a:ext cx="2828925" cy="180975"/>
          </a:xfrm>
          <a:prstGeom prst="rect"/>
        </p:spPr>
        <p:txBody>
          <a:bodyPr wrap="none" lIns="0" tIns="0" rIns="0" bIns="0"/>
          <a:p>
            <a:pPr>
              <a:lnSpc>
                <a:spcPct val="100000"/>
              </a:lnSpc>
            </a:pPr>
            <a:r>
              <a:rPr lang="en-US" sz="1163" b="1">
                <a:solidFill>
                  <a:srgbClr val="996F00"/>
                </a:solidFill>
                <a:latin typeface="Microsoft YaHei"/>
                <a:ea typeface="Microsoft YaHei"/>
              </a:rPr>
              <a:t>Read it twice</a:t>
            </a:r>
            <a:endParaRPr/>
          </a:p>
        </p:txBody>
      </p:sp>
      <p:sp>
        <p:nvSpPr>
          <p:cNvPr id="585" name="" descr="{&quot;isTemplate&quot;:true,&quot;type&quot;:&quot;text&quot;}"/>
          <p:cNvSpPr txBox="1"/>
          <p:nvPr/>
        </p:nvSpPr>
        <p:spPr>
          <a:xfrm rot="0" flipH="0" flipV="0">
            <a:off x="8820150" y="3943350"/>
            <a:ext cx="2828925"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First time for the story. Second time with a pen, marking nouns and verbs as we did on page 27.</a:t>
            </a:r>
            <a:endParaRPr/>
          </a:p>
        </p:txBody>
      </p:sp>
      <p:sp>
        <p:nvSpPr>
          <p:cNvPr id="586" name=""/>
          <p:cNvSpPr/>
          <p:nvPr/>
        </p:nvSpPr>
        <p:spPr>
          <a:xfrm rot="0" flipH="0" flipV="0">
            <a:off x="8620125" y="4676775"/>
            <a:ext cx="3190875" cy="762000"/>
          </a:xfrm>
          <a:prstGeom prst="roundRect">
            <a:avLst>
              <a:gd name="adj" fmla="val 11250"/>
            </a:avLst>
          </a:prstGeom>
          <a:solidFill>
            <a:srgbClr val="FFFFFF"/>
          </a:solidFill>
          <a:ln w="12700">
            <a:solidFill>
              <a:srgbClr val="D6DCE5"/>
            </a:solidFill>
            <a:prstDash val="dash"/>
          </a:ln>
        </p:spPr>
        <p:txBody>
          <a:bodyPr/>
          <a:p>
            <a:pPr/>
            <a:endParaRPr/>
          </a:p>
        </p:txBody>
      </p:sp>
      <p:sp>
        <p:nvSpPr>
          <p:cNvPr id="587" name="" descr="{&quot;isTemplate&quot;:true,&quot;type&quot;:&quot;text&quot;}"/>
          <p:cNvSpPr txBox="1"/>
          <p:nvPr/>
        </p:nvSpPr>
        <p:spPr>
          <a:xfrm rot="0" flipH="0" flipV="0">
            <a:off x="8782050" y="4819650"/>
            <a:ext cx="2867025" cy="4762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Do not start drawing yet. A diagram drawn from a half-read paragraph has to be drawn twice.</a:t>
            </a:r>
            <a:endParaRPr/>
          </a:p>
        </p:txBody>
      </p:sp>
      <p:sp>
        <p:nvSpPr>
          <p:cNvPr id="588" name=""/>
          <p:cNvSpPr/>
          <p:nvPr/>
        </p:nvSpPr>
        <p:spPr>
          <a:xfrm rot="0" flipH="0" flipV="0">
            <a:off x="0" y="6419850"/>
            <a:ext cx="12192000" cy="438150"/>
          </a:xfrm>
          <a:prstGeom prst="rect">
            <a:avLst/>
          </a:prstGeom>
          <a:solidFill>
            <a:srgbClr val="0E3F8C"/>
          </a:solidFill>
          <a:ln/>
        </p:spPr>
        <p:txBody>
          <a:bodyPr/>
          <a:p>
            <a:pPr/>
            <a:endParaRPr/>
          </a:p>
        </p:txBody>
      </p:sp>
      <p:sp>
        <p:nvSpPr>
          <p:cNvPr id="589" name="" descr="{&quot;isTemplate&quot;:true,&quot;type&quot;:&quot;text&quot;}"/>
          <p:cNvSpPr txBox="1"/>
          <p:nvPr/>
        </p:nvSpPr>
        <p:spPr>
          <a:xfrm rot="0" flipH="0" flipV="0">
            <a:off x="2914650" y="6543675"/>
            <a:ext cx="6372225" cy="190500"/>
          </a:xfrm>
          <a:prstGeom prst="rect"/>
        </p:spPr>
        <p:txBody>
          <a:bodyPr wrap="none" lIns="0" tIns="0" rIns="0" bIns="0"/>
          <a:p>
            <a:pPr>
              <a:lnSpc>
                <a:spcPct val="100000"/>
              </a:lnSpc>
            </a:pPr>
            <a:r>
              <a:rPr lang="en-US" sz="1200" b="1">
                <a:solidFill>
                  <a:srgbClr val="FFFFFF"/>
                </a:solidFill>
                <a:latin typeface="Microsoft YaHei"/>
                <a:ea typeface="Microsoft YaHei"/>
              </a:rPr>
              <a:t>Fifteen minutes with the text. It is the cheapest fifteen minutes you will spend this week.</a:t>
            </a:r>
            <a:endParaRPr/>
          </a:p>
        </p:txBody>
      </p:sp>
      <p:sp>
        <p:nvSpPr>
          <p:cNvPr id="590" name=""/>
          <p:cNvSpPr/>
          <p:nvPr/>
        </p:nvSpPr>
        <p:spPr>
          <a:xfrm rot="0" flipH="0" flipV="0">
            <a:off x="381000" y="2257425"/>
            <a:ext cx="7991475" cy="3152775"/>
          </a:xfrm>
          <a:prstGeom prst="roundRect">
            <a:avLst>
              <a:gd name="adj" fmla="val 2417"/>
            </a:avLst>
          </a:prstGeom>
          <a:solidFill>
            <a:srgbClr val="0E1116"/>
          </a:solidFill>
          <a:ln/>
        </p:spPr>
        <p:txBody>
          <a:bodyPr/>
          <a:p>
            <a:pPr/>
            <a:endParaRPr/>
          </a:p>
        </p:txBody>
      </p:sp>
      <p:sp>
        <p:nvSpPr>
          <p:cNvPr id="591" name=""/>
          <p:cNvSpPr txBox="1"/>
          <p:nvPr/>
        </p:nvSpPr>
        <p:spPr>
          <a:xfrm rot="0" flipH="0" flipV="0">
            <a:off x="533400" y="2390775"/>
            <a:ext cx="7686675" cy="2886075"/>
          </a:xfrm>
          <a:prstGeom prst="rect"/>
        </p:spPr>
        <p:txBody>
          <a:bodyPr wrap="square" lIns="0" tIns="0" rIns="0" bIns="0">
            <a:normAutofit/>
          </a:bodyPr>
          <a:p>
            <a:pPr/>
            <a:r>
              <a:rPr sz="900">
                <a:solidFill>
                  <a:srgbClr val="E5E7EB"/>
                </a:solidFill>
                <a:latin typeface="Menlo"/>
                <a:ea typeface="Menlo"/>
              </a:rPr>
              <a:t>CampusBites — Requirements Pack, section 2.1 (extract)
Students on the Dalian campus order lunch from the
restaurants on campus. A student opens the app, browses
today's menu of a restaurant, selects items, and places
an order. The system authenticates the student against
the campus card centre, calculates the total, and
charges the campus card, a wallet, or cash on delivery.
Restaurant staff keep the menu current. A manager marks
an item sold out before service starts; the kitchen
receives the order on a wall tablet. When an order is
ready, a dispatcher assigns a courier. The courier picks
up the order, delivers it to the student, and confirms
the delivery in the app.
After delivery the student may rate the restaurant and
the courier. The platform administrator can suspend a
restaurant that receives three ratings below two stars
in one week. Every evening at 23:00 the system closes
the day and emails a sales report to each restaurant.</a:t>
            </a:r>
            <a:endParaRPr/>
          </a:p>
        </p:txBody>
      </p:sp>
    </p:spTree>
  </p:cSld>
</p:sld>
</file>

<file path=ppt/slides/slide32.xml><?xml version="1.0" encoding="utf-8"?>
<p:sld xmlns:a="http://schemas.openxmlformats.org/drawingml/2006/main" xmlns:p="http://schemas.openxmlformats.org/presentationml/2006/main">
  <p:cSld>
    <p:spTree>
      <p:nvGrpSpPr>
        <p:cNvPr id="592" name=""/>
        <p:cNvGrpSpPr/>
        <p:nvPr/>
      </p:nvGrpSpPr>
      <p:grpSpPr>
        <a:xfrm>
          <a:off x="0" y="0"/>
          <a:ext cx="0" cy="0"/>
          <a:chOff x="0" y="0"/>
          <a:chExt cx="0" cy="0"/>
        </a:xfrm>
      </p:grpSpPr>
      <p:sp>
        <p:nvSpPr>
          <p:cNvPr id="593" name=""/>
          <p:cNvSpPr/>
          <p:nvPr/>
        </p:nvSpPr>
        <p:spPr>
          <a:xfrm rot="0" flipH="0" flipV="0">
            <a:off x="0" y="0"/>
            <a:ext cx="12192000" cy="6858000"/>
          </a:xfrm>
          <a:prstGeom prst="rect">
            <a:avLst/>
          </a:prstGeom>
          <a:solidFill>
            <a:srgbClr val="FFFFFF"/>
          </a:solidFill>
          <a:ln/>
        </p:spPr>
        <p:txBody>
          <a:bodyPr/>
          <a:p>
            <a:pPr/>
            <a:endParaRPr/>
          </a:p>
        </p:txBody>
      </p:sp>
      <p:sp>
        <p:nvSpPr>
          <p:cNvPr id="594" name=""/>
          <p:cNvSpPr/>
          <p:nvPr/>
        </p:nvSpPr>
        <p:spPr>
          <a:xfrm rot="0" flipH="0" flipV="0">
            <a:off x="0" y="0"/>
            <a:ext cx="12192000" cy="685800"/>
          </a:xfrm>
          <a:prstGeom prst="rect">
            <a:avLst/>
          </a:prstGeom>
          <a:solidFill>
            <a:srgbClr val="1E4FA8"/>
          </a:solidFill>
          <a:ln/>
        </p:spPr>
        <p:txBody>
          <a:bodyPr/>
          <a:p>
            <a:pPr/>
            <a:endParaRPr/>
          </a:p>
        </p:txBody>
      </p:sp>
      <p:sp>
        <p:nvSpPr>
          <p:cNvPr id="59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96"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4.1</a:t>
            </a:r>
            <a:endParaRPr/>
          </a:p>
        </p:txBody>
      </p:sp>
      <p:sp>
        <p:nvSpPr>
          <p:cNvPr id="597" name="" descr="{&quot;isTemplate&quot;:true,&quot;type&quot;:&quot;text&quot;}"/>
          <p:cNvSpPr txBox="1"/>
          <p:nvPr/>
        </p:nvSpPr>
        <p:spPr>
          <a:xfrm rot="0" flipH="0" flipV="0">
            <a:off x="381000" y="819150"/>
            <a:ext cx="3314700" cy="333375"/>
          </a:xfrm>
          <a:prstGeom prst="rect"/>
        </p:spPr>
        <p:txBody>
          <a:bodyPr wrap="none" lIns="0" tIns="0" rIns="0" bIns="0"/>
          <a:p>
            <a:pPr>
              <a:lnSpc>
                <a:spcPct val="100000"/>
              </a:lnSpc>
            </a:pPr>
            <a:r>
              <a:rPr lang="en-US" sz="2175" b="1">
                <a:solidFill>
                  <a:srgbClr val="0E3F8C"/>
                </a:solidFill>
                <a:latin typeface="Microsoft YaHei"/>
                <a:ea typeface="Microsoft YaHei"/>
              </a:rPr>
              <a:t>Exercise 4.1 — Your Turn</a:t>
            </a:r>
            <a:endParaRPr/>
          </a:p>
        </p:txBody>
      </p:sp>
      <p:sp>
        <p:nvSpPr>
          <p:cNvPr id="598"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32 / 38</a:t>
            </a:r>
            <a:endParaRPr/>
          </a:p>
        </p:txBody>
      </p:sp>
      <p:sp>
        <p:nvSpPr>
          <p:cNvPr id="599" name=""/>
          <p:cNvSpPr/>
          <p:nvPr/>
        </p:nvSpPr>
        <p:spPr>
          <a:xfrm rot="0" flipH="0" flipV="0">
            <a:off x="419100" y="1285875"/>
            <a:ext cx="5600700" cy="1285875"/>
          </a:xfrm>
          <a:prstGeom prst="roundRect">
            <a:avLst>
              <a:gd name="adj" fmla="val 7407"/>
            </a:avLst>
          </a:prstGeom>
          <a:solidFill>
            <a:srgbClr val="F0F5FC"/>
          </a:solidFill>
          <a:ln/>
        </p:spPr>
        <p:txBody>
          <a:bodyPr/>
          <a:p>
            <a:pPr/>
            <a:endParaRPr/>
          </a:p>
        </p:txBody>
      </p:sp>
      <p:sp>
        <p:nvSpPr>
          <p:cNvPr id="600" name=""/>
          <p:cNvSpPr/>
          <p:nvPr/>
        </p:nvSpPr>
        <p:spPr>
          <a:xfrm rot="0" flipH="0" flipV="0">
            <a:off x="419100" y="1285875"/>
            <a:ext cx="5600700" cy="1285875"/>
          </a:xfrm>
          <a:custGeom>
            <a:pathLst>
              <a:path w="588" h="135">
                <a:moveTo>
                  <a:pt x="9" y="0"/>
                </a:moveTo>
                <a:cubicBezTo>
                  <a:pt x="6" y="0"/>
                  <a:pt x="4" y="3"/>
                  <a:pt x="4" y="6"/>
                </a:cubicBezTo>
                <a:lnTo>
                  <a:pt x="4" y="129"/>
                </a:lnTo>
                <a:cubicBezTo>
                  <a:pt x="4" y="132"/>
                  <a:pt x="6" y="134"/>
                  <a:pt x="9" y="135"/>
                </a:cubicBezTo>
                <a:cubicBezTo>
                  <a:pt x="4" y="134"/>
                  <a:pt x="0" y="130"/>
                  <a:pt x="0" y="125"/>
                </a:cubicBezTo>
                <a:lnTo>
                  <a:pt x="0" y="10"/>
                </a:lnTo>
                <a:cubicBezTo>
                  <a:pt x="0" y="5"/>
                  <a:pt x="4" y="0"/>
                  <a:pt x="10" y="0"/>
                </a:cubicBezTo>
                <a:close/>
              </a:path>
            </a:pathLst>
          </a:custGeom>
          <a:solidFill>
            <a:srgbClr val="1E4FA8"/>
          </a:solidFill>
          <a:ln/>
        </p:spPr>
        <p:txBody>
          <a:bodyPr/>
          <a:p>
            <a:pPr/>
            <a:endParaRPr/>
          </a:p>
        </p:txBody>
      </p:sp>
      <p:sp>
        <p:nvSpPr>
          <p:cNvPr id="601" name="" descr="{&quot;isTemplate&quot;:true,&quot;type&quot;:&quot;text&quot;}"/>
          <p:cNvSpPr txBox="1"/>
          <p:nvPr/>
        </p:nvSpPr>
        <p:spPr>
          <a:xfrm rot="0" flipH="0" flipV="0">
            <a:off x="590550" y="1457325"/>
            <a:ext cx="5219700" cy="190500"/>
          </a:xfrm>
          <a:prstGeom prst="rect"/>
        </p:spPr>
        <p:txBody>
          <a:bodyPr wrap="none" lIns="0" tIns="0" rIns="0" bIns="0"/>
          <a:p>
            <a:pPr>
              <a:lnSpc>
                <a:spcPct val="100000"/>
              </a:lnSpc>
            </a:pPr>
            <a:r>
              <a:rPr lang="en-US" sz="1200" b="1">
                <a:solidFill>
                  <a:srgbClr val="0E3F8C"/>
                </a:solidFill>
                <a:latin typeface="Microsoft YaHei"/>
                <a:ea typeface="Microsoft YaHei"/>
              </a:rPr>
              <a:t>A · List the actors</a:t>
            </a:r>
            <a:endParaRPr/>
          </a:p>
        </p:txBody>
      </p:sp>
      <p:sp>
        <p:nvSpPr>
          <p:cNvPr id="602" name="" descr="{&quot;isTemplate&quot;:true,&quot;type&quot;:&quot;text&quot;}"/>
          <p:cNvSpPr txBox="1"/>
          <p:nvPr/>
        </p:nvSpPr>
        <p:spPr>
          <a:xfrm rot="0" flipH="0" flipV="0">
            <a:off x="590550" y="1704975"/>
            <a:ext cx="52197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Every role that stands outside CampusBites and talks to it. Name roles, not people — and include the systems that serve you.</a:t>
            </a:r>
            <a:endParaRPr/>
          </a:p>
        </p:txBody>
      </p:sp>
      <p:sp>
        <p:nvSpPr>
          <p:cNvPr id="603" name="" descr="{&quot;isTemplate&quot;:true,&quot;type&quot;:&quot;text&quot;}"/>
          <p:cNvSpPr txBox="1"/>
          <p:nvPr/>
        </p:nvSpPr>
        <p:spPr>
          <a:xfrm rot="0" flipH="0" flipV="0">
            <a:off x="590550" y="2257425"/>
            <a:ext cx="5219700" cy="142875"/>
          </a:xfrm>
          <a:prstGeom prst="rect"/>
        </p:spPr>
        <p:txBody>
          <a:bodyPr wrap="none" lIns="0" tIns="0" rIns="0" bIns="0"/>
          <a:p>
            <a:pPr>
              <a:lnSpc>
                <a:spcPct val="100000"/>
              </a:lnSpc>
            </a:pPr>
            <a:r>
              <a:rPr lang="en-US" sz="938">
                <a:solidFill>
                  <a:srgbClr val="8B97A8"/>
                </a:solidFill>
                <a:latin typeface="Microsoft YaHei"/>
                <a:ea typeface="Microsoft YaHei"/>
              </a:rPr>
              <a:t>Target: five to seven.</a:t>
            </a:r>
            <a:endParaRPr/>
          </a:p>
        </p:txBody>
      </p:sp>
      <p:sp>
        <p:nvSpPr>
          <p:cNvPr id="604" name=""/>
          <p:cNvSpPr/>
          <p:nvPr/>
        </p:nvSpPr>
        <p:spPr>
          <a:xfrm rot="0" flipH="0" flipV="0">
            <a:off x="419100" y="2686050"/>
            <a:ext cx="5600700" cy="1285875"/>
          </a:xfrm>
          <a:prstGeom prst="roundRect">
            <a:avLst>
              <a:gd name="adj" fmla="val 7407"/>
            </a:avLst>
          </a:prstGeom>
          <a:solidFill>
            <a:srgbClr val="F0F5FC"/>
          </a:solidFill>
          <a:ln/>
        </p:spPr>
        <p:txBody>
          <a:bodyPr/>
          <a:p>
            <a:pPr/>
            <a:endParaRPr/>
          </a:p>
        </p:txBody>
      </p:sp>
      <p:sp>
        <p:nvSpPr>
          <p:cNvPr id="605" name=""/>
          <p:cNvSpPr/>
          <p:nvPr/>
        </p:nvSpPr>
        <p:spPr>
          <a:xfrm rot="0" flipH="0" flipV="0">
            <a:off x="419100" y="2686050"/>
            <a:ext cx="5600700" cy="1285875"/>
          </a:xfrm>
          <a:custGeom>
            <a:pathLst>
              <a:path w="588" h="135">
                <a:moveTo>
                  <a:pt x="9" y="0"/>
                </a:moveTo>
                <a:cubicBezTo>
                  <a:pt x="6" y="0"/>
                  <a:pt x="4" y="3"/>
                  <a:pt x="4" y="6"/>
                </a:cubicBezTo>
                <a:lnTo>
                  <a:pt x="4" y="129"/>
                </a:lnTo>
                <a:cubicBezTo>
                  <a:pt x="4" y="132"/>
                  <a:pt x="6" y="134"/>
                  <a:pt x="9" y="135"/>
                </a:cubicBezTo>
                <a:cubicBezTo>
                  <a:pt x="4" y="134"/>
                  <a:pt x="0" y="130"/>
                  <a:pt x="0" y="125"/>
                </a:cubicBezTo>
                <a:lnTo>
                  <a:pt x="0" y="10"/>
                </a:lnTo>
                <a:cubicBezTo>
                  <a:pt x="0" y="5"/>
                  <a:pt x="4" y="0"/>
                  <a:pt x="10" y="0"/>
                </a:cubicBezTo>
                <a:close/>
              </a:path>
            </a:pathLst>
          </a:custGeom>
          <a:solidFill>
            <a:srgbClr val="1E4FA8"/>
          </a:solidFill>
          <a:ln/>
        </p:spPr>
        <p:txBody>
          <a:bodyPr/>
          <a:p>
            <a:pPr/>
            <a:endParaRPr/>
          </a:p>
        </p:txBody>
      </p:sp>
      <p:sp>
        <p:nvSpPr>
          <p:cNvPr id="606" name="" descr="{&quot;isTemplate&quot;:true,&quot;type&quot;:&quot;text&quot;}"/>
          <p:cNvSpPr txBox="1"/>
          <p:nvPr/>
        </p:nvSpPr>
        <p:spPr>
          <a:xfrm rot="0" flipH="0" flipV="0">
            <a:off x="590550" y="2857500"/>
            <a:ext cx="5219700" cy="190500"/>
          </a:xfrm>
          <a:prstGeom prst="rect"/>
        </p:spPr>
        <p:txBody>
          <a:bodyPr wrap="none" lIns="0" tIns="0" rIns="0" bIns="0"/>
          <a:p>
            <a:pPr>
              <a:lnSpc>
                <a:spcPct val="100000"/>
              </a:lnSpc>
            </a:pPr>
            <a:r>
              <a:rPr lang="en-US" sz="1200" b="1">
                <a:solidFill>
                  <a:srgbClr val="0E3F8C"/>
                </a:solidFill>
                <a:latin typeface="Microsoft YaHei"/>
                <a:ea typeface="Microsoft YaHei"/>
              </a:rPr>
              <a:t>B · List candidate use cases</a:t>
            </a:r>
            <a:endParaRPr/>
          </a:p>
        </p:txBody>
      </p:sp>
      <p:sp>
        <p:nvSpPr>
          <p:cNvPr id="607" name="" descr="{&quot;isTemplate&quot;:true,&quot;type&quot;:&quot;text&quot;}"/>
          <p:cNvSpPr txBox="1"/>
          <p:nvPr/>
        </p:nvSpPr>
        <p:spPr>
          <a:xfrm rot="0" flipH="0" flipV="0">
            <a:off x="590550" y="3105150"/>
            <a:ext cx="52197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Take the verbs from the narrative and keep only those that name a goal somebody has. Write them verb plus object.</a:t>
            </a:r>
            <a:endParaRPr/>
          </a:p>
        </p:txBody>
      </p:sp>
      <p:sp>
        <p:nvSpPr>
          <p:cNvPr id="608" name="" descr="{&quot;isTemplate&quot;:true,&quot;type&quot;:&quot;text&quot;}"/>
          <p:cNvSpPr txBox="1"/>
          <p:nvPr/>
        </p:nvSpPr>
        <p:spPr>
          <a:xfrm rot="0" flipH="0" flipV="0">
            <a:off x="590550" y="3657600"/>
            <a:ext cx="5219700" cy="142875"/>
          </a:xfrm>
          <a:prstGeom prst="rect"/>
        </p:spPr>
        <p:txBody>
          <a:bodyPr wrap="none" lIns="0" tIns="0" rIns="0" bIns="0"/>
          <a:p>
            <a:pPr>
              <a:lnSpc>
                <a:spcPct val="100000"/>
              </a:lnSpc>
            </a:pPr>
            <a:r>
              <a:rPr lang="en-US" sz="938">
                <a:solidFill>
                  <a:srgbClr val="8B97A8"/>
                </a:solidFill>
                <a:latin typeface="Microsoft YaHei"/>
                <a:ea typeface="Microsoft YaHei"/>
              </a:rPr>
              <a:t>Target: nine candidates before filtering.</a:t>
            </a:r>
            <a:endParaRPr/>
          </a:p>
        </p:txBody>
      </p:sp>
      <p:sp>
        <p:nvSpPr>
          <p:cNvPr id="609" name=""/>
          <p:cNvSpPr/>
          <p:nvPr/>
        </p:nvSpPr>
        <p:spPr>
          <a:xfrm rot="0" flipH="0" flipV="0">
            <a:off x="6210300" y="1285875"/>
            <a:ext cx="5600700" cy="1066800"/>
          </a:xfrm>
          <a:prstGeom prst="roundRect">
            <a:avLst>
              <a:gd name="adj" fmla="val 8929"/>
            </a:avLst>
          </a:prstGeom>
          <a:solidFill>
            <a:srgbClr val="FFFFFF"/>
          </a:solidFill>
          <a:ln w="12700">
            <a:solidFill>
              <a:srgbClr val="D6DCE5"/>
            </a:solidFill>
            <a:prstDash val="solid"/>
          </a:ln>
        </p:spPr>
        <p:txBody>
          <a:bodyPr/>
          <a:p>
            <a:pPr/>
            <a:endParaRPr/>
          </a:p>
        </p:txBody>
      </p:sp>
      <p:sp>
        <p:nvSpPr>
          <p:cNvPr id="610" name="" descr="{&quot;isTemplate&quot;:true,&quot;type&quot;:&quot;text&quot;}"/>
          <p:cNvSpPr txBox="1"/>
          <p:nvPr/>
        </p:nvSpPr>
        <p:spPr>
          <a:xfrm rot="0" flipH="0" flipV="0">
            <a:off x="6381750" y="1457325"/>
            <a:ext cx="5257800" cy="190500"/>
          </a:xfrm>
          <a:prstGeom prst="rect"/>
        </p:spPr>
        <p:txBody>
          <a:bodyPr wrap="none" lIns="0" tIns="0" rIns="0" bIns="0"/>
          <a:p>
            <a:pPr>
              <a:lnSpc>
                <a:spcPct val="100000"/>
              </a:lnSpc>
            </a:pPr>
            <a:r>
              <a:rPr lang="en-US" sz="1200" b="1">
                <a:solidFill>
                  <a:srgbClr val="0E3F8C"/>
                </a:solidFill>
                <a:latin typeface="Microsoft YaHei"/>
                <a:ea typeface="Microsoft YaHei"/>
              </a:rPr>
              <a:t>C · Mark primary and secondary</a:t>
            </a:r>
            <a:endParaRPr/>
          </a:p>
        </p:txBody>
      </p:sp>
      <p:sp>
        <p:nvSpPr>
          <p:cNvPr id="611" name="" descr="{&quot;isTemplate&quot;:true,&quot;type&quot;:&quot;text&quot;}"/>
          <p:cNvSpPr txBox="1"/>
          <p:nvPr/>
        </p:nvSpPr>
        <p:spPr>
          <a:xfrm rot="0" flipH="0" flipV="0">
            <a:off x="6381750" y="1704975"/>
            <a:ext cx="52578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For each actor, say whether they start use cases (primary) or are called by the system (secondary). Write the goal they own.</a:t>
            </a:r>
            <a:endParaRPr/>
          </a:p>
        </p:txBody>
      </p:sp>
      <p:sp>
        <p:nvSpPr>
          <p:cNvPr id="612" name=""/>
          <p:cNvSpPr/>
          <p:nvPr/>
        </p:nvSpPr>
        <p:spPr>
          <a:xfrm rot="0" flipH="0" flipV="0">
            <a:off x="6210300" y="2466975"/>
            <a:ext cx="5600700" cy="1066800"/>
          </a:xfrm>
          <a:prstGeom prst="roundRect">
            <a:avLst>
              <a:gd name="adj" fmla="val 8929"/>
            </a:avLst>
          </a:prstGeom>
          <a:solidFill>
            <a:srgbClr val="FFFFFF"/>
          </a:solidFill>
          <a:ln w="12700">
            <a:solidFill>
              <a:srgbClr val="D6DCE5"/>
            </a:solidFill>
            <a:prstDash val="solid"/>
          </a:ln>
        </p:spPr>
        <p:txBody>
          <a:bodyPr/>
          <a:p>
            <a:pPr/>
            <a:endParaRPr/>
          </a:p>
        </p:txBody>
      </p:sp>
      <p:sp>
        <p:nvSpPr>
          <p:cNvPr id="613" name="" descr="{&quot;isTemplate&quot;:true,&quot;type&quot;:&quot;text&quot;}"/>
          <p:cNvSpPr txBox="1"/>
          <p:nvPr/>
        </p:nvSpPr>
        <p:spPr>
          <a:xfrm rot="0" flipH="0" flipV="0">
            <a:off x="6381750" y="2638425"/>
            <a:ext cx="5257800" cy="190500"/>
          </a:xfrm>
          <a:prstGeom prst="rect"/>
        </p:spPr>
        <p:txBody>
          <a:bodyPr wrap="none" lIns="0" tIns="0" rIns="0" bIns="0"/>
          <a:p>
            <a:pPr>
              <a:lnSpc>
                <a:spcPct val="100000"/>
              </a:lnSpc>
            </a:pPr>
            <a:r>
              <a:rPr lang="en-US" sz="1200" b="1">
                <a:solidFill>
                  <a:srgbClr val="0E3F8C"/>
                </a:solidFill>
                <a:latin typeface="Microsoft YaHei"/>
                <a:ea typeface="Microsoft YaHei"/>
              </a:rPr>
              <a:t>D · Filter the candidates</a:t>
            </a:r>
            <a:endParaRPr/>
          </a:p>
        </p:txBody>
      </p:sp>
      <p:sp>
        <p:nvSpPr>
          <p:cNvPr id="614" name="" descr="{&quot;isTemplate&quot;:true,&quot;type&quot;:&quot;text&quot;}"/>
          <p:cNvSpPr txBox="1"/>
          <p:nvPr/>
        </p:nvSpPr>
        <p:spPr>
          <a:xfrm rot="0" flipH="0" flipV="0">
            <a:off x="6381750" y="2886075"/>
            <a:ext cx="52578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For each of the nine, answer in one line: is this a user goal, or a step inside one? Keep the goals; park the steps.</a:t>
            </a:r>
            <a:endParaRPr/>
          </a:p>
        </p:txBody>
      </p:sp>
      <p:sp>
        <p:nvSpPr>
          <p:cNvPr id="615" name=""/>
          <p:cNvSpPr/>
          <p:nvPr/>
        </p:nvSpPr>
        <p:spPr>
          <a:xfrm rot="0" flipH="0" flipV="0">
            <a:off x="6210300" y="3648075"/>
            <a:ext cx="5600700" cy="781050"/>
          </a:xfrm>
          <a:prstGeom prst="roundRect">
            <a:avLst>
              <a:gd name="adj" fmla="val 10976"/>
            </a:avLst>
          </a:prstGeom>
          <a:solidFill>
            <a:srgbClr val="FFF6E0"/>
          </a:solidFill>
          <a:ln w="12700">
            <a:solidFill>
              <a:srgbClr val="FFC107"/>
            </a:solidFill>
            <a:prstDash val="solid"/>
          </a:ln>
        </p:spPr>
        <p:txBody>
          <a:bodyPr/>
          <a:p>
            <a:pPr/>
            <a:endParaRPr/>
          </a:p>
        </p:txBody>
      </p:sp>
      <p:sp>
        <p:nvSpPr>
          <p:cNvPr id="616" name="" descr="{&quot;isTemplate&quot;:true,&quot;type&quot;:&quot;text&quot;}"/>
          <p:cNvSpPr txBox="1"/>
          <p:nvPr/>
        </p:nvSpPr>
        <p:spPr>
          <a:xfrm rot="0" flipH="0" flipV="0">
            <a:off x="6381750" y="3800475"/>
            <a:ext cx="52578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Work in your team. </a:t>
            </a:r>
            <a:r>
              <a:rPr lang="en-US" sz="975">
                <a:solidFill>
                  <a:srgbClr val="4A5568"/>
                </a:solidFill>
                <a:latin typeface="Microsoft YaHei"/>
                <a:ea typeface="Microsoft YaHei"/>
              </a:rPr>
              <a:t>One page, two columns, twenty-five minutes. Answers on the next two pages — do not turn the page early.</a:t>
            </a:r>
            <a:endParaRPr/>
          </a:p>
        </p:txBody>
      </p:sp>
      <p:sp>
        <p:nvSpPr>
          <p:cNvPr id="617" name=""/>
          <p:cNvSpPr/>
          <p:nvPr/>
        </p:nvSpPr>
        <p:spPr>
          <a:xfrm rot="0" flipH="0" flipV="0">
            <a:off x="0" y="6419850"/>
            <a:ext cx="12192000" cy="438150"/>
          </a:xfrm>
          <a:prstGeom prst="rect">
            <a:avLst/>
          </a:prstGeom>
          <a:solidFill>
            <a:srgbClr val="0E3F8C"/>
          </a:solidFill>
          <a:ln/>
        </p:spPr>
        <p:txBody>
          <a:bodyPr/>
          <a:p>
            <a:pPr/>
            <a:endParaRPr/>
          </a:p>
        </p:txBody>
      </p:sp>
      <p:sp>
        <p:nvSpPr>
          <p:cNvPr id="618" name="" descr="{&quot;isTemplate&quot;:true,&quot;type&quot;:&quot;text&quot;}"/>
          <p:cNvSpPr txBox="1"/>
          <p:nvPr/>
        </p:nvSpPr>
        <p:spPr>
          <a:xfrm rot="0" flipH="0" flipV="0">
            <a:off x="2257425" y="6543675"/>
            <a:ext cx="7686675" cy="190500"/>
          </a:xfrm>
          <a:prstGeom prst="rect"/>
        </p:spPr>
        <p:txBody>
          <a:bodyPr wrap="none" lIns="0" tIns="0" rIns="0" bIns="0"/>
          <a:p>
            <a:pPr>
              <a:lnSpc>
                <a:spcPct val="100000"/>
              </a:lnSpc>
            </a:pPr>
            <a:r>
              <a:rPr lang="en-US" sz="1200" b="1">
                <a:solidFill>
                  <a:srgbClr val="FFFFFF"/>
                </a:solidFill>
                <a:latin typeface="Microsoft YaHei"/>
                <a:ea typeface="Microsoft YaHei"/>
              </a:rPr>
              <a:t>Twenty-five minutes. One page for the four of you — then each person defends one row you disagreed on.</a:t>
            </a:r>
            <a:endParaRPr/>
          </a:p>
        </p:txBody>
      </p:sp>
    </p:spTree>
  </p:cSld>
</p:sld>
</file>

<file path=ppt/slides/slide33.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619" name=""/>
        <p:cNvGrpSpPr/>
        <p:nvPr/>
      </p:nvGrpSpPr>
      <p:grpSpPr>
        <a:xfrm>
          <a:off x="0" y="0"/>
          <a:ext cx="0" cy="0"/>
          <a:chOff x="0" y="0"/>
          <a:chExt cx="0" cy="0"/>
        </a:xfrm>
      </p:grpSpPr>
      <p:sp>
        <p:nvSpPr>
          <p:cNvPr id="620" name=""/>
          <p:cNvSpPr/>
          <p:nvPr/>
        </p:nvSpPr>
        <p:spPr>
          <a:xfrm rot="0" flipH="0" flipV="0">
            <a:off x="0" y="0"/>
            <a:ext cx="12192000" cy="6858000"/>
          </a:xfrm>
          <a:prstGeom prst="rect">
            <a:avLst/>
          </a:prstGeom>
          <a:solidFill>
            <a:srgbClr val="FFFFFF"/>
          </a:solidFill>
          <a:ln/>
        </p:spPr>
        <p:txBody>
          <a:bodyPr/>
          <a:p>
            <a:pPr/>
            <a:endParaRPr/>
          </a:p>
        </p:txBody>
      </p:sp>
      <p:sp>
        <p:nvSpPr>
          <p:cNvPr id="621" name=""/>
          <p:cNvSpPr/>
          <p:nvPr/>
        </p:nvSpPr>
        <p:spPr>
          <a:xfrm rot="0" flipH="0" flipV="0">
            <a:off x="0" y="0"/>
            <a:ext cx="12192000" cy="685800"/>
          </a:xfrm>
          <a:prstGeom prst="rect">
            <a:avLst/>
          </a:prstGeom>
          <a:solidFill>
            <a:srgbClr val="1E4FA8"/>
          </a:solidFill>
          <a:ln/>
        </p:spPr>
        <p:txBody>
          <a:bodyPr/>
          <a:p>
            <a:pPr/>
            <a:endParaRPr/>
          </a:p>
        </p:txBody>
      </p:sp>
      <p:sp>
        <p:nvSpPr>
          <p:cNvPr id="62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23"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4.1</a:t>
            </a:r>
            <a:endParaRPr/>
          </a:p>
        </p:txBody>
      </p:sp>
      <p:sp>
        <p:nvSpPr>
          <p:cNvPr id="624" name="" descr="{&quot;isTemplate&quot;:true,&quot;type&quot;:&quot;text&quot;}"/>
          <p:cNvSpPr txBox="1"/>
          <p:nvPr/>
        </p:nvSpPr>
        <p:spPr>
          <a:xfrm rot="0" flipH="0" flipV="0">
            <a:off x="381000" y="819150"/>
            <a:ext cx="4381500" cy="333375"/>
          </a:xfrm>
          <a:prstGeom prst="rect"/>
        </p:spPr>
        <p:txBody>
          <a:bodyPr wrap="none" lIns="0" tIns="0" rIns="0" bIns="0"/>
          <a:p>
            <a:pPr>
              <a:lnSpc>
                <a:spcPct val="100000"/>
              </a:lnSpc>
            </a:pPr>
            <a:r>
              <a:rPr lang="en-US" sz="2175" b="1">
                <a:solidFill>
                  <a:srgbClr val="0E3F8C"/>
                </a:solidFill>
                <a:latin typeface="Microsoft YaHei"/>
                <a:ea typeface="Microsoft YaHei"/>
              </a:rPr>
              <a:t>Exercise 4.1 — Actors, Answered</a:t>
            </a:r>
            <a:endParaRPr/>
          </a:p>
        </p:txBody>
      </p:sp>
      <p:sp>
        <p:nvSpPr>
          <p:cNvPr id="625"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33 / 38</a:t>
            </a:r>
            <a:endParaRPr/>
          </a:p>
        </p:txBody>
      </p:sp>
      <p:graphicFrame>
        <p:nvGraphicFramePr>
          <p:cNvPr id="626" name=""/>
          <p:cNvGraphicFramePr/>
          <p:nvPr/>
        </p:nvGraphicFramePr>
        <p:xfrm rot="0" flipH="0" flipV="0">
          <a:off x="381000" y="1247775"/>
          <a:ext cx="11430000" cy="5114925"/>
        </p:xfrm>
        <a:graphic>
          <a:graphicData uri="http://schemas.openxmlformats.org/drawingml/2006/table">
            <a:tbl>
              <a:tblGrid>
                <a:gridCol w="2071722">
                  <a:extLst>
                    <a:ext uri="{9D8B030D-6E8A-4147-A177-3AD203B41FA5}">
                      <a16:colId val="1"/>
                    </a:ext>
                  </a:extLst>
                </a:gridCol>
                <a:gridCol w="1839405">
                  <a:extLst>
                    <a:ext uri="{9D8B030D-6E8A-4147-A177-3AD203B41FA5}">
                      <a16:colId val="2"/>
                    </a:ext>
                  </a:extLst>
                </a:gridCol>
                <a:gridCol w="3561284">
                  <a:extLst>
                    <a:ext uri="{9D8B030D-6E8A-4147-A177-3AD203B41FA5}">
                      <a16:colId val="3"/>
                    </a:ext>
                  </a:extLst>
                </a:gridCol>
                <a:gridCol w="3957590">
                  <a:extLst>
                    <a:ext uri="{9D8B030D-6E8A-4147-A177-3AD203B41FA5}">
                      <a16:colId val="4"/>
                    </a:ext>
                  </a:extLst>
                </a:gridCol>
              </a:tblGrid>
              <a:tr h="511493">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Actor</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Primary / secondary</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The goal they own</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Why they are here</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Order lunch, pay for it, and know where it is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reason the platform exists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Restaurant Manager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Keep today’s menu true to the kitchen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Marks items sold out before service</a:t>
                      </a:r>
                      <a:endParaRPr/>
                    </a:p>
                  </a:txBody>
                  <a:tcPr marL="45720" marR="45720" marT="45720" marB="45720" anchor="ctr">
                    <a:lnL>
                      <a:noFill/>
                    </a:lnL>
                    <a:lnR>
                      <a:noFill/>
                    </a:lnR>
                    <a:lnT>
                      <a:noFill/>
                    </a:lnT>
                    <a:lnB>
                      <a:noFill/>
                    </a:lnB>
                  </a:tcPr>
                </a:tc>
                <a:extLst>
                  <a:ext uri="{0D108BD9-81ED-4DB2-BD59-A6C34878D82A}">
                    <a16:rowId val="3"/>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Kitchen Staff</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Receive an order and mark it ready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Works from the wall tablet, not a phone</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Dispatcher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Get a ready order onto a courier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Assigns, and reassigns when a rider is late</a:t>
                      </a:r>
                      <a:endParaRPr/>
                    </a:p>
                  </a:txBody>
                  <a:tcPr marL="45720" marR="45720" marT="45720" marB="45720" anchor="ctr">
                    <a:lnL>
                      <a:noFill/>
                    </a:lnL>
                    <a:lnR>
                      <a:noFill/>
                    </a:lnR>
                    <a:lnT>
                      <a:noFill/>
                    </a:lnT>
                    <a:lnB>
                      <a:noFill/>
                    </a:lnB>
                  </a:tcPr>
                </a:tc>
                <a:extLst>
                  <a:ext uri="{0D108BD9-81ED-4DB2-BD59-A6C34878D82A}">
                    <a16:rowId val="5"/>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Courier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Deliver an order and prove it arrived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Confirms delivery in the app</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Platform Administrator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Primary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Protect students from failing restaurants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Suspends after three ratings below two stars</a:t>
                      </a:r>
                      <a:endParaRPr/>
                    </a:p>
                  </a:txBody>
                  <a:tcPr marL="45720" marR="45720" marT="45720" marB="45720" anchor="ctr">
                    <a:lnL>
                      <a:noFill/>
                    </a:lnL>
                    <a:lnR>
                      <a:noFill/>
                    </a:lnR>
                    <a:lnT>
                      <a:noFill/>
                    </a:lnT>
                    <a:lnB>
                      <a:noFill/>
                    </a:lnB>
                  </a:tcPr>
                </a:tc>
                <a:extLst>
                  <a:ext uri="{0D108BD9-81ED-4DB2-BD59-A6C34878D82A}">
                    <a16:rowId val="7"/>
                  </a:ext>
                </a:extLst>
              </a:tr>
              <a:tr h="511493">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Campus Card Centre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Secondary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None of its own — it serves us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Authenticates the student and clears the charge</a:t>
                      </a:r>
                      <a:endParaRPr/>
                    </a:p>
                  </a:txBody>
                  <a:tcPr marL="45720" marR="45720" marT="45720" marB="45720" anchor="ctr">
                    <a:lnL>
                      <a:noFill/>
                    </a:lnL>
                    <a:lnR>
                      <a:noFill/>
                    </a:lnR>
                    <a:lnT>
                      <a:noFill/>
                    </a:lnT>
                    <a:lnB>
                      <a:noFill/>
                    </a:lnB>
                    <a:solidFill>
                      <a:srgbClr val="F7F9FC"/>
                    </a:solidFill>
                  </a:tcPr>
                </a:tc>
                <a:extLst>
                  <a:ext uri="{0D108BD9-81ED-4DB2-BD59-A6C34878D82A}">
                    <a16:rowId val="8"/>
                  </a:ext>
                </a:extLst>
              </a:tr>
              <a:tr h="511493">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Payment Provider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Secondary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None of its own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Takes wallet payments; tells us yes or no</a:t>
                      </a:r>
                      <a:endParaRPr/>
                    </a:p>
                  </a:txBody>
                  <a:tcPr marL="45720" marR="45720" marT="45720" marB="45720" anchor="ctr">
                    <a:lnL>
                      <a:noFill/>
                    </a:lnL>
                    <a:lnR>
                      <a:noFill/>
                    </a:lnR>
                    <a:lnT>
                      <a:noFill/>
                    </a:lnT>
                    <a:lnB>
                      <a:noFill/>
                    </a:lnB>
                  </a:tcPr>
                </a:tc>
                <a:extLst>
                  <a:ext uri="{0D108BD9-81ED-4DB2-BD59-A6C34878D82A}">
                    <a16:rowId val="9"/>
                  </a:ext>
                </a:extLst>
              </a:tr>
              <a:tr h="511493">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Email Service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8B97A8"/>
                          </a:solidFill>
                          <a:latin typeface="Microsoft YaHei"/>
                          <a:ea typeface="Microsoft YaHei"/>
                        </a:rPr>
                        <a:t>Secondary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None of its own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Carries the 23:00 sales report to each restaurant</a:t>
                      </a:r>
                      <a:endParaRPr/>
                    </a:p>
                  </a:txBody>
                  <a:tcPr marL="45720" marR="45720" marT="45720" marB="45720" anchor="ctr">
                    <a:lnL>
                      <a:noFill/>
                    </a:lnL>
                    <a:lnR>
                      <a:noFill/>
                    </a:lnR>
                    <a:lnT>
                      <a:noFill/>
                    </a:lnT>
                    <a:lnB>
                      <a:noFill/>
                    </a:lnB>
                    <a:solidFill>
                      <a:srgbClr val="F7F9FC"/>
                    </a:solidFill>
                  </a:tcPr>
                </a:tc>
                <a:extLst>
                  <a:ext uri="{0D108BD9-81ED-4DB2-BD59-A6C34878D82A}">
                    <a16:rowId val="10"/>
                  </a:ext>
                </a:extLst>
              </a:tr>
            </a:tbl>
          </a:graphicData>
        </a:graphic>
      </p:graphicFrame>
      <p:sp>
        <p:nvSpPr>
          <p:cNvPr id="627" name=""/>
          <p:cNvSpPr/>
          <p:nvPr/>
        </p:nvSpPr>
        <p:spPr>
          <a:xfrm rot="0" flipH="0" flipV="0">
            <a:off x="0" y="6419850"/>
            <a:ext cx="12192000" cy="438150"/>
          </a:xfrm>
          <a:prstGeom prst="rect">
            <a:avLst/>
          </a:prstGeom>
          <a:solidFill>
            <a:srgbClr val="0E3F8C"/>
          </a:solidFill>
          <a:ln/>
        </p:spPr>
        <p:txBody>
          <a:bodyPr/>
          <a:p>
            <a:pPr/>
            <a:endParaRPr/>
          </a:p>
        </p:txBody>
      </p:sp>
      <p:sp>
        <p:nvSpPr>
          <p:cNvPr id="628" name="" descr="{&quot;isTemplate&quot;:true,&quot;type&quot;:&quot;text&quot;}"/>
          <p:cNvSpPr txBox="1"/>
          <p:nvPr/>
        </p:nvSpPr>
        <p:spPr>
          <a:xfrm rot="0" flipH="0" flipV="0">
            <a:off x="2162175" y="6553200"/>
            <a:ext cx="7877175" cy="180975"/>
          </a:xfrm>
          <a:prstGeom prst="rect"/>
        </p:spPr>
        <p:txBody>
          <a:bodyPr wrap="none" lIns="0" tIns="0" rIns="0" bIns="0"/>
          <a:p>
            <a:pPr>
              <a:lnSpc>
                <a:spcPct val="100000"/>
              </a:lnSpc>
            </a:pPr>
            <a:r>
              <a:rPr lang="en-US" sz="1163" b="1">
                <a:solidFill>
                  <a:srgbClr val="FFFFFF"/>
                </a:solidFill>
                <a:latin typeface="Microsoft YaHei"/>
                <a:ea typeface="Microsoft YaHei"/>
              </a:rPr>
              <a:t>The trap: authenticate and charge are things the card centre does for us — they are actors, never our use cases.</a:t>
            </a:r>
            <a:endParaRPr/>
          </a:p>
        </p:txBody>
      </p:sp>
    </p:spTree>
  </p:cSld>
</p:sld>
</file>

<file path=ppt/slides/slide34.xml><?xml version="1.0" encoding="utf-8"?>
<p:sld xmlns:a16="http://schemas.microsoft.com/office/drawing/2014/main" xmlns:a="http://schemas.openxmlformats.org/drawingml/2006/main" xmlns:p="http://schemas.openxmlformats.org/presentationml/2006/main" xmlns:mc="http://schemas.openxmlformats.org/markup-compatibility/2006" mc:Ignorable="a16">
  <p:cSld>
    <p:spTree>
      <p:nvGrpSpPr>
        <p:cNvPr id="629" name=""/>
        <p:cNvGrpSpPr/>
        <p:nvPr/>
      </p:nvGrpSpPr>
      <p:grpSpPr>
        <a:xfrm>
          <a:off x="0" y="0"/>
          <a:ext cx="0" cy="0"/>
          <a:chOff x="0" y="0"/>
          <a:chExt cx="0" cy="0"/>
        </a:xfrm>
      </p:grpSpPr>
      <p:sp>
        <p:nvSpPr>
          <p:cNvPr id="630" name=""/>
          <p:cNvSpPr/>
          <p:nvPr/>
        </p:nvSpPr>
        <p:spPr>
          <a:xfrm rot="0" flipH="0" flipV="0">
            <a:off x="0" y="0"/>
            <a:ext cx="12192000" cy="6858000"/>
          </a:xfrm>
          <a:prstGeom prst="rect">
            <a:avLst/>
          </a:prstGeom>
          <a:solidFill>
            <a:srgbClr val="FFFFFF"/>
          </a:solidFill>
          <a:ln/>
        </p:spPr>
        <p:txBody>
          <a:bodyPr/>
          <a:p>
            <a:pPr/>
            <a:endParaRPr/>
          </a:p>
        </p:txBody>
      </p:sp>
      <p:sp>
        <p:nvSpPr>
          <p:cNvPr id="631" name=""/>
          <p:cNvSpPr/>
          <p:nvPr/>
        </p:nvSpPr>
        <p:spPr>
          <a:xfrm rot="0" flipH="0" flipV="0">
            <a:off x="0" y="0"/>
            <a:ext cx="12192000" cy="685800"/>
          </a:xfrm>
          <a:prstGeom prst="rect">
            <a:avLst/>
          </a:prstGeom>
          <a:solidFill>
            <a:srgbClr val="1E4FA8"/>
          </a:solidFill>
          <a:ln/>
        </p:spPr>
        <p:txBody>
          <a:bodyPr/>
          <a:p>
            <a:pPr/>
            <a:endParaRPr/>
          </a:p>
        </p:txBody>
      </p:sp>
      <p:sp>
        <p:nvSpPr>
          <p:cNvPr id="63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33"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4.1</a:t>
            </a:r>
            <a:endParaRPr/>
          </a:p>
        </p:txBody>
      </p:sp>
      <p:sp>
        <p:nvSpPr>
          <p:cNvPr id="634" name="" descr="{&quot;isTemplate&quot;:true,&quot;type&quot;:&quot;text&quot;}"/>
          <p:cNvSpPr txBox="1"/>
          <p:nvPr/>
        </p:nvSpPr>
        <p:spPr>
          <a:xfrm rot="0" flipH="0" flipV="0">
            <a:off x="381000" y="819150"/>
            <a:ext cx="4905375" cy="333375"/>
          </a:xfrm>
          <a:prstGeom prst="rect"/>
        </p:spPr>
        <p:txBody>
          <a:bodyPr wrap="none" lIns="0" tIns="0" rIns="0" bIns="0"/>
          <a:p>
            <a:pPr>
              <a:lnSpc>
                <a:spcPct val="100000"/>
              </a:lnSpc>
            </a:pPr>
            <a:r>
              <a:rPr lang="en-US" sz="2175" b="1">
                <a:solidFill>
                  <a:srgbClr val="0E3F8C"/>
                </a:solidFill>
                <a:latin typeface="Microsoft YaHei"/>
                <a:ea typeface="Microsoft YaHei"/>
              </a:rPr>
              <a:t>Exercise 4.1 — Use Cases, Answered</a:t>
            </a:r>
            <a:endParaRPr/>
          </a:p>
        </p:txBody>
      </p:sp>
      <p:sp>
        <p:nvSpPr>
          <p:cNvPr id="635"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34 / 38</a:t>
            </a:r>
            <a:endParaRPr/>
          </a:p>
        </p:txBody>
      </p:sp>
      <p:graphicFrame>
        <p:nvGraphicFramePr>
          <p:cNvPr id="636" name=""/>
          <p:cNvGraphicFramePr/>
          <p:nvPr/>
        </p:nvGraphicFramePr>
        <p:xfrm rot="0" flipH="0" flipV="0">
          <a:off x="381000" y="1247775"/>
          <a:ext cx="11430000" cy="5114925"/>
        </p:xfrm>
        <a:graphic>
          <a:graphicData uri="http://schemas.openxmlformats.org/drawingml/2006/table">
            <a:tbl>
              <a:tblGrid>
                <a:gridCol w="2361517">
                  <a:extLst>
                    <a:ext uri="{9D8B030D-6E8A-4147-A177-3AD203B41FA5}">
                      <a16:colId val="1"/>
                    </a:ext>
                  </a:extLst>
                </a:gridCol>
                <a:gridCol w="2057528">
                  <a:extLst>
                    <a:ext uri="{9D8B030D-6E8A-4147-A177-3AD203B41FA5}">
                      <a16:colId val="2"/>
                    </a:ext>
                  </a:extLst>
                </a:gridCol>
                <a:gridCol w="1497548">
                  <a:extLst>
                    <a:ext uri="{9D8B030D-6E8A-4147-A177-3AD203B41FA5}">
                      <a16:colId val="3"/>
                    </a:ext>
                  </a:extLst>
                </a:gridCol>
                <a:gridCol w="5513407">
                  <a:extLst>
                    <a:ext uri="{9D8B030D-6E8A-4147-A177-3AD203B41FA5}">
                      <a16:colId val="4"/>
                    </a:ext>
                  </a:extLst>
                </a:gridCol>
              </a:tblGrid>
              <a:tr h="511493">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Candidate</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Who wants it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Goal level?</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975" b="1">
                          <a:solidFill>
                            <a:srgbClr val="FFFFFF"/>
                          </a:solidFill>
                          <a:latin typeface="Microsoft YaHei"/>
                          <a:ea typeface="Microsoft YaHei"/>
                        </a:rPr>
                        <a:t>Why</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Browse Menu</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 student can browse and leave. It ends, on its own.</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Place Order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Student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headline goal. Ends when the order is accepted.</a:t>
                      </a:r>
                      <a:endParaRPr/>
                    </a:p>
                  </a:txBody>
                  <a:tcPr marL="45720" marR="45720" marT="45720" marB="45720" anchor="ctr">
                    <a:lnL>
                      <a:noFill/>
                    </a:lnL>
                    <a:lnR>
                      <a:noFill/>
                    </a:lnR>
                    <a:lnT>
                      <a:noFill/>
                    </a:lnT>
                    <a:lnB>
                      <a:noFill/>
                    </a:lnB>
                  </a:tcPr>
                </a:tc>
                <a:extLst>
                  <a:ext uri="{0D108BD9-81ED-4DB2-BD59-A6C34878D82A}">
                    <a16:rowId val="3"/>
                  </a:ext>
                </a:extLst>
              </a:tr>
              <a:tr h="511493">
                <a:tc>
                  <a:txBody>
                    <a:bodyPr wrap="square" lIns="0" tIns="0" rIns="0" bIns="0" anchor="ctr">
                      <a:normAutofit/>
                    </a:bodyPr>
                    <a:p>
                      <a:pPr marL="114300" marR="114300" algn="l">
                        <a:lnSpc>
                          <a:spcPct val="120000"/>
                        </a:lnSpc>
                      </a:pPr>
                      <a:r>
                        <a:rPr sz="975" b="1">
                          <a:solidFill>
                            <a:srgbClr val="4A5568"/>
                          </a:solidFill>
                          <a:latin typeface="Microsoft YaHei"/>
                          <a:ea typeface="Microsoft YaHei"/>
                        </a:rPr>
                        <a:t>Authenticate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Nobody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D9534F"/>
                          </a:solidFill>
                          <a:latin typeface="Microsoft YaHei"/>
                          <a:ea typeface="Microsoft YaHei"/>
                        </a:rPr>
                        <a:t>No — include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Nobody comes to log in. Place Order always includes it.</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511493">
                <a:tc>
                  <a:txBody>
                    <a:bodyPr wrap="square" lIns="0" tIns="0" rIns="0" bIns="0" anchor="ctr">
                      <a:normAutofit/>
                    </a:bodyPr>
                    <a:p>
                      <a:pPr marL="114300" marR="114300" algn="l">
                        <a:lnSpc>
                          <a:spcPct val="120000"/>
                        </a:lnSpc>
                      </a:pPr>
                      <a:r>
                        <a:rPr sz="975" b="1">
                          <a:solidFill>
                            <a:srgbClr val="4A5568"/>
                          </a:solidFill>
                          <a:latin typeface="Microsoft YaHei"/>
                          <a:ea typeface="Microsoft YaHei"/>
                        </a:rPr>
                        <a:t>Calculate Total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Nobody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D9534F"/>
                          </a:solidFill>
                          <a:latin typeface="Microsoft YaHei"/>
                          <a:ea typeface="Microsoft YaHei"/>
                        </a:rPr>
                        <a:t>No — step</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One line inside the scenario, not a goal of its own.</a:t>
                      </a:r>
                      <a:endParaRPr/>
                    </a:p>
                  </a:txBody>
                  <a:tcPr marL="45720" marR="45720" marT="45720" marB="45720" anchor="ctr">
                    <a:lnL>
                      <a:noFill/>
                    </a:lnL>
                    <a:lnR>
                      <a:noFill/>
                    </a:lnR>
                    <a:lnT>
                      <a:noFill/>
                    </a:lnT>
                    <a:lnB>
                      <a:noFill/>
                    </a:lnB>
                  </a:tcPr>
                </a:tc>
                <a:extLst>
                  <a:ext uri="{0D108BD9-81ED-4DB2-BD59-A6C34878D82A}">
                    <a16:rowId val="5"/>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Pay for 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Can happen on its own — pay a later order.</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Manage Today’s Menu</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Restaurant Manager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Ends when the kitchen sees a menu it can cook.</a:t>
                      </a:r>
                      <a:endParaRPr/>
                    </a:p>
                  </a:txBody>
                  <a:tcPr marL="45720" marR="45720" marT="45720" marB="45720" anchor="ctr">
                    <a:lnL>
                      <a:noFill/>
                    </a:lnL>
                    <a:lnR>
                      <a:noFill/>
                    </a:lnR>
                    <a:lnT>
                      <a:noFill/>
                    </a:lnT>
                    <a:lnB>
                      <a:noFill/>
                    </a:lnB>
                  </a:tcPr>
                </a:tc>
                <a:extLst>
                  <a:ext uri="{0D108BD9-81ED-4DB2-BD59-A6C34878D82A}">
                    <a16:rowId val="7"/>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Receive 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Kitchen Staff</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kitchen has its own goal: see what to cook.</a:t>
                      </a:r>
                      <a:endParaRPr/>
                    </a:p>
                  </a:txBody>
                  <a:tcPr marL="45720" marR="45720" marT="45720" marB="45720" anchor="ctr">
                    <a:lnL>
                      <a:noFill/>
                    </a:lnL>
                    <a:lnR>
                      <a:noFill/>
                    </a:lnR>
                    <a:lnT>
                      <a:noFill/>
                    </a:lnT>
                    <a:lnB>
                      <a:noFill/>
                    </a:lnB>
                    <a:solidFill>
                      <a:srgbClr val="F7F9FC"/>
                    </a:solidFill>
                  </a:tcPr>
                </a:tc>
                <a:extLst>
                  <a:ext uri="{0D108BD9-81ED-4DB2-BD59-A6C34878D82A}">
                    <a16:rowId val="8"/>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Dispatch Courier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Dispatcher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Ends when a rider accepts. Different actor, different goal.</a:t>
                      </a:r>
                      <a:endParaRPr/>
                    </a:p>
                  </a:txBody>
                  <a:tcPr marL="45720" marR="45720" marT="45720" marB="45720" anchor="ctr">
                    <a:lnL>
                      <a:noFill/>
                    </a:lnL>
                    <a:lnR>
                      <a:noFill/>
                    </a:lnR>
                    <a:lnT>
                      <a:noFill/>
                    </a:lnT>
                    <a:lnB>
                      <a:noFill/>
                    </a:lnB>
                  </a:tcPr>
                </a:tc>
                <a:extLst>
                  <a:ext uri="{0D108BD9-81ED-4DB2-BD59-A6C34878D82A}">
                    <a16:rowId val="9"/>
                  </a:ext>
                </a:extLst>
              </a:tr>
              <a:tr h="511493">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Rate Restaurant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Student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b="1">
                          <a:solidFill>
                            <a:srgbClr val="1E4FA8"/>
                          </a:solidFill>
                          <a:latin typeface="Microsoft YaHei"/>
                          <a:ea typeface="Microsoft YaHei"/>
                        </a:rPr>
                        <a:t>Yes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Optional, but a goal — and it can extend Confirm Delivery.</a:t>
                      </a:r>
                      <a:endParaRPr/>
                    </a:p>
                  </a:txBody>
                  <a:tcPr marL="45720" marR="45720" marT="45720" marB="45720" anchor="ctr">
                    <a:lnL>
                      <a:noFill/>
                    </a:lnL>
                    <a:lnR>
                      <a:noFill/>
                    </a:lnR>
                    <a:lnT>
                      <a:noFill/>
                    </a:lnT>
                    <a:lnB>
                      <a:noFill/>
                    </a:lnB>
                    <a:solidFill>
                      <a:srgbClr val="F7F9FC"/>
                    </a:solidFill>
                  </a:tcPr>
                </a:tc>
                <a:extLst>
                  <a:ext uri="{0D108BD9-81ED-4DB2-BD59-A6C34878D82A}">
                    <a16:rowId val="10"/>
                  </a:ext>
                </a:extLst>
              </a:tr>
            </a:tbl>
          </a:graphicData>
        </a:graphic>
      </p:graphicFrame>
      <p:sp>
        <p:nvSpPr>
          <p:cNvPr id="637" name=""/>
          <p:cNvSpPr/>
          <p:nvPr/>
        </p:nvSpPr>
        <p:spPr>
          <a:xfrm rot="0" flipH="0" flipV="0">
            <a:off x="0" y="6419850"/>
            <a:ext cx="12192000" cy="438150"/>
          </a:xfrm>
          <a:prstGeom prst="rect">
            <a:avLst/>
          </a:prstGeom>
          <a:solidFill>
            <a:srgbClr val="0E3F8C"/>
          </a:solidFill>
          <a:ln/>
        </p:spPr>
        <p:txBody>
          <a:bodyPr/>
          <a:p>
            <a:pPr/>
            <a:endParaRPr/>
          </a:p>
        </p:txBody>
      </p:sp>
      <p:sp>
        <p:nvSpPr>
          <p:cNvPr id="638" name="" descr="{&quot;isTemplate&quot;:true,&quot;type&quot;:&quot;text&quot;}"/>
          <p:cNvSpPr txBox="1"/>
          <p:nvPr/>
        </p:nvSpPr>
        <p:spPr>
          <a:xfrm rot="0" flipH="0" flipV="0">
            <a:off x="2019300" y="6553200"/>
            <a:ext cx="8153400" cy="180975"/>
          </a:xfrm>
          <a:prstGeom prst="rect"/>
        </p:spPr>
        <p:txBody>
          <a:bodyPr wrap="none" lIns="0" tIns="0" rIns="0" bIns="0"/>
          <a:p>
            <a:pPr>
              <a:lnSpc>
                <a:spcPct val="100000"/>
              </a:lnSpc>
            </a:pPr>
            <a:r>
              <a:rPr lang="en-US" sz="1163" b="1">
                <a:solidFill>
                  <a:srgbClr val="FFFFFF"/>
                </a:solidFill>
                <a:latin typeface="Microsoft YaHei"/>
                <a:ea typeface="Microsoft YaHei"/>
              </a:rPr>
              <a:t>Two more from the pack: Suspend Restaurant (Administrator) and Close the Day (the 23:00 clock) — both goal level.</a:t>
            </a:r>
            <a:endParaRPr/>
          </a:p>
        </p:txBody>
      </p:sp>
    </p:spTree>
  </p:cSld>
</p:sld>
</file>

<file path=ppt/slides/slide35.xml><?xml version="1.0" encoding="utf-8"?>
<p:sld xmlns:a="http://schemas.openxmlformats.org/drawingml/2006/main" xmlns:p="http://schemas.openxmlformats.org/presentationml/2006/main">
  <p:cSld>
    <p:spTree>
      <p:nvGrpSpPr>
        <p:cNvPr id="639" name=""/>
        <p:cNvGrpSpPr/>
        <p:nvPr/>
      </p:nvGrpSpPr>
      <p:grpSpPr>
        <a:xfrm>
          <a:off x="0" y="0"/>
          <a:ext cx="0" cy="0"/>
          <a:chOff x="0" y="0"/>
          <a:chExt cx="0" cy="0"/>
        </a:xfrm>
      </p:grpSpPr>
      <p:sp>
        <p:nvSpPr>
          <p:cNvPr id="640" name=""/>
          <p:cNvSpPr/>
          <p:nvPr/>
        </p:nvSpPr>
        <p:spPr>
          <a:xfrm rot="0" flipH="0" flipV="0">
            <a:off x="0" y="0"/>
            <a:ext cx="12192000" cy="6858000"/>
          </a:xfrm>
          <a:prstGeom prst="rect">
            <a:avLst/>
          </a:prstGeom>
          <a:solidFill>
            <a:srgbClr val="FFFFFF"/>
          </a:solidFill>
          <a:ln/>
        </p:spPr>
        <p:txBody>
          <a:bodyPr/>
          <a:p>
            <a:pPr/>
            <a:endParaRPr/>
          </a:p>
        </p:txBody>
      </p:sp>
      <p:sp>
        <p:nvSpPr>
          <p:cNvPr id="641" name=""/>
          <p:cNvSpPr/>
          <p:nvPr/>
        </p:nvSpPr>
        <p:spPr>
          <a:xfrm rot="0" flipH="0" flipV="0">
            <a:off x="0" y="0"/>
            <a:ext cx="12192000" cy="685800"/>
          </a:xfrm>
          <a:prstGeom prst="rect">
            <a:avLst/>
          </a:prstGeom>
          <a:solidFill>
            <a:srgbClr val="1E4FA8"/>
          </a:solidFill>
          <a:ln/>
        </p:spPr>
        <p:txBody>
          <a:bodyPr/>
          <a:p>
            <a:pPr/>
            <a:endParaRPr/>
          </a:p>
        </p:txBody>
      </p:sp>
      <p:sp>
        <p:nvSpPr>
          <p:cNvPr id="64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43"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4.2</a:t>
            </a:r>
            <a:endParaRPr/>
          </a:p>
        </p:txBody>
      </p:sp>
      <p:sp>
        <p:nvSpPr>
          <p:cNvPr id="644" name="" descr="{&quot;isTemplate&quot;:true,&quot;type&quot;:&quot;text&quot;}"/>
          <p:cNvSpPr txBox="1"/>
          <p:nvPr/>
        </p:nvSpPr>
        <p:spPr>
          <a:xfrm rot="0" flipH="0" flipV="0">
            <a:off x="381000" y="819150"/>
            <a:ext cx="4381500" cy="333375"/>
          </a:xfrm>
          <a:prstGeom prst="rect"/>
        </p:spPr>
        <p:txBody>
          <a:bodyPr wrap="none" lIns="0" tIns="0" rIns="0" bIns="0"/>
          <a:p>
            <a:pPr>
              <a:lnSpc>
                <a:spcPct val="100000"/>
              </a:lnSpc>
            </a:pPr>
            <a:r>
              <a:rPr lang="en-US" sz="2175" b="1">
                <a:solidFill>
                  <a:srgbClr val="0E3F8C"/>
                </a:solidFill>
                <a:latin typeface="Microsoft YaHei"/>
                <a:ea typeface="Microsoft YaHei"/>
              </a:rPr>
              <a:t>Exercise 4.2 — Draw the Diagram</a:t>
            </a:r>
            <a:endParaRPr/>
          </a:p>
        </p:txBody>
      </p:sp>
      <p:sp>
        <p:nvSpPr>
          <p:cNvPr id="645"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35 / 38</a:t>
            </a:r>
            <a:endParaRPr/>
          </a:p>
        </p:txBody>
      </p:sp>
      <p:sp>
        <p:nvSpPr>
          <p:cNvPr id="646" name=""/>
          <p:cNvSpPr/>
          <p:nvPr/>
        </p:nvSpPr>
        <p:spPr>
          <a:xfrm rot="0" flipH="0" flipV="0">
            <a:off x="419100" y="1266825"/>
            <a:ext cx="6219825" cy="1371600"/>
          </a:xfrm>
          <a:prstGeom prst="roundRect">
            <a:avLst>
              <a:gd name="adj" fmla="val 6944"/>
            </a:avLst>
          </a:prstGeom>
          <a:solidFill>
            <a:srgbClr val="F0F5FC"/>
          </a:solidFill>
          <a:ln/>
        </p:spPr>
        <p:txBody>
          <a:bodyPr/>
          <a:p>
            <a:pPr/>
            <a:endParaRPr/>
          </a:p>
        </p:txBody>
      </p:sp>
      <p:sp>
        <p:nvSpPr>
          <p:cNvPr id="647" name=""/>
          <p:cNvSpPr/>
          <p:nvPr/>
        </p:nvSpPr>
        <p:spPr>
          <a:xfrm rot="0" flipH="0" flipV="0">
            <a:off x="419100" y="1266825"/>
            <a:ext cx="6219825" cy="1371600"/>
          </a:xfrm>
          <a:custGeom>
            <a:pathLst>
              <a:path w="653" h="144">
                <a:moveTo>
                  <a:pt x="9" y="0"/>
                </a:moveTo>
                <a:cubicBezTo>
                  <a:pt x="6" y="0"/>
                  <a:pt x="4" y="3"/>
                  <a:pt x="4" y="6"/>
                </a:cubicBezTo>
                <a:lnTo>
                  <a:pt x="4" y="138"/>
                </a:lnTo>
                <a:cubicBezTo>
                  <a:pt x="4" y="141"/>
                  <a:pt x="6" y="143"/>
                  <a:pt x="9" y="144"/>
                </a:cubicBezTo>
                <a:cubicBezTo>
                  <a:pt x="4" y="143"/>
                  <a:pt x="0" y="139"/>
                  <a:pt x="0" y="134"/>
                </a:cubicBezTo>
                <a:lnTo>
                  <a:pt x="0" y="10"/>
                </a:lnTo>
                <a:cubicBezTo>
                  <a:pt x="0" y="5"/>
                  <a:pt x="4" y="0"/>
                  <a:pt x="10" y="0"/>
                </a:cubicBezTo>
                <a:close/>
              </a:path>
            </a:pathLst>
          </a:custGeom>
          <a:solidFill>
            <a:srgbClr val="1E4FA8"/>
          </a:solidFill>
          <a:ln/>
        </p:spPr>
        <p:txBody>
          <a:bodyPr/>
          <a:p>
            <a:pPr/>
            <a:endParaRPr/>
          </a:p>
        </p:txBody>
      </p:sp>
      <p:sp>
        <p:nvSpPr>
          <p:cNvPr id="648" name="" descr="{&quot;isTemplate&quot;:true,&quot;type&quot;:&quot;text&quot;}"/>
          <p:cNvSpPr txBox="1"/>
          <p:nvPr/>
        </p:nvSpPr>
        <p:spPr>
          <a:xfrm rot="0" flipH="0" flipV="0">
            <a:off x="590550" y="1438275"/>
            <a:ext cx="5838825" cy="200025"/>
          </a:xfrm>
          <a:prstGeom prst="rect"/>
        </p:spPr>
        <p:txBody>
          <a:bodyPr wrap="none" lIns="0" tIns="0" rIns="0" bIns="0"/>
          <a:p>
            <a:pPr>
              <a:lnSpc>
                <a:spcPct val="100000"/>
              </a:lnSpc>
            </a:pPr>
            <a:r>
              <a:rPr lang="en-US" sz="1275" b="1">
                <a:solidFill>
                  <a:srgbClr val="0E3F8C"/>
                </a:solidFill>
                <a:latin typeface="Microsoft YaHei"/>
                <a:ea typeface="Microsoft YaHei"/>
              </a:rPr>
              <a:t>The task</a:t>
            </a:r>
            <a:endParaRPr/>
          </a:p>
        </p:txBody>
      </p:sp>
      <p:sp>
        <p:nvSpPr>
          <p:cNvPr id="649" name="" descr="{&quot;isTemplate&quot;:true,&quot;type&quot;:&quot;text&quot;}"/>
          <p:cNvSpPr txBox="1"/>
          <p:nvPr/>
        </p:nvSpPr>
        <p:spPr>
          <a:xfrm rot="0" flipH="0" flipV="0">
            <a:off x="590550" y="1695450"/>
            <a:ext cx="5838825" cy="771525"/>
          </a:xfrm>
          <a:prstGeom prst="rect"/>
        </p:spPr>
        <p:txBody>
          <a:bodyPr wrap="square" lIns="0" tIns="0" rIns="0" bIns="0">
            <a:normAutofit/>
          </a:bodyPr>
          <a:p>
            <a:pPr>
              <a:lnSpc>
                <a:spcPct val="165000"/>
              </a:lnSpc>
            </a:pPr>
            <a:r>
              <a:rPr lang="en-US" sz="1013">
                <a:solidFill>
                  <a:srgbClr val="4A5568"/>
                </a:solidFill>
                <a:latin typeface="Microsoft YaHei"/>
                <a:ea typeface="Microsoft YaHei"/>
              </a:rPr>
              <a:t>Draw one use case diagram for CampusBites from the Exercise 4.1 narrative. Six to ten use cases, the actors you listed, one </a:t>
            </a:r>
            <a:r>
              <a:rPr lang="en-US" sz="1013">
                <a:solidFill>
                  <a:srgbClr val="4A5568"/>
                </a:solidFill>
                <a:latin typeface="Microsoft YaHei"/>
                <a:ea typeface="Microsoft YaHei"/>
              </a:rPr>
              <a:t>&lt;&lt;include&gt;&gt;</a:t>
            </a:r>
            <a:r>
              <a:rPr lang="en-US" sz="1013">
                <a:solidFill>
                  <a:srgbClr val="4A5568"/>
                </a:solidFill>
                <a:latin typeface="Microsoft YaHei"/>
                <a:ea typeface="Microsoft YaHei"/>
              </a:rPr>
              <a:t> and one </a:t>
            </a:r>
            <a:r>
              <a:rPr lang="en-US" sz="1013">
                <a:solidFill>
                  <a:srgbClr val="4A5568"/>
                </a:solidFill>
                <a:latin typeface="Microsoft YaHei"/>
                <a:ea typeface="Microsoft YaHei"/>
              </a:rPr>
              <a:t>&lt;&lt;extend&gt;&gt;</a:t>
            </a:r>
            <a:r>
              <a:rPr lang="en-US" sz="1013">
                <a:solidFill>
                  <a:srgbClr val="4A5568"/>
                </a:solidFill>
                <a:latin typeface="Microsoft YaHei"/>
                <a:ea typeface="Microsoft YaHei"/>
              </a:rPr>
              <a:t>. Put the external systems outside the boundary box.</a:t>
            </a:r>
            <a:endParaRPr/>
          </a:p>
        </p:txBody>
      </p:sp>
      <p:sp>
        <p:nvSpPr>
          <p:cNvPr id="650" name=""/>
          <p:cNvSpPr/>
          <p:nvPr/>
        </p:nvSpPr>
        <p:spPr>
          <a:xfrm rot="0" flipH="0" flipV="0">
            <a:off x="381000" y="2752725"/>
            <a:ext cx="6219825" cy="1009650"/>
          </a:xfrm>
          <a:prstGeom prst="roundRect">
            <a:avLst>
              <a:gd name="adj" fmla="val 9434"/>
            </a:avLst>
          </a:prstGeom>
          <a:solidFill>
            <a:srgbClr val="FFFFFF"/>
          </a:solidFill>
          <a:ln w="12700">
            <a:solidFill>
              <a:srgbClr val="D6DCE5"/>
            </a:solidFill>
            <a:prstDash val="solid"/>
          </a:ln>
        </p:spPr>
        <p:txBody>
          <a:bodyPr/>
          <a:p>
            <a:pPr/>
            <a:endParaRPr/>
          </a:p>
        </p:txBody>
      </p:sp>
      <p:sp>
        <p:nvSpPr>
          <p:cNvPr id="651" name="" descr="{&quot;isTemplate&quot;:true,&quot;type&quot;:&quot;text&quot;}"/>
          <p:cNvSpPr txBox="1"/>
          <p:nvPr/>
        </p:nvSpPr>
        <p:spPr>
          <a:xfrm rot="0" flipH="0" flipV="0">
            <a:off x="552450" y="2905125"/>
            <a:ext cx="5876925" cy="180975"/>
          </a:xfrm>
          <a:prstGeom prst="rect"/>
        </p:spPr>
        <p:txBody>
          <a:bodyPr wrap="none" lIns="0" tIns="0" rIns="0" bIns="0"/>
          <a:p>
            <a:pPr>
              <a:lnSpc>
                <a:spcPct val="100000"/>
              </a:lnSpc>
            </a:pPr>
            <a:r>
              <a:rPr lang="en-US" sz="1163" b="1">
                <a:solidFill>
                  <a:srgbClr val="0E3F8C"/>
                </a:solidFill>
                <a:latin typeface="Microsoft YaHei"/>
                <a:ea typeface="Microsoft YaHei"/>
              </a:rPr>
              <a:t>For each dashed arrow, write one sentence</a:t>
            </a:r>
            <a:endParaRPr/>
          </a:p>
        </p:txBody>
      </p:sp>
      <p:sp>
        <p:nvSpPr>
          <p:cNvPr id="652" name="" descr="{&quot;isTemplate&quot;:true,&quot;type&quot;:&quot;text&quot;}"/>
          <p:cNvSpPr txBox="1"/>
          <p:nvPr/>
        </p:nvSpPr>
        <p:spPr>
          <a:xfrm rot="0" flipH="0" flipV="0">
            <a:off x="552450" y="3133725"/>
            <a:ext cx="5876925"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State in words what the relationship means and why the arrow points that way. A diagram without the sentence is a drawing; with it, it is a model.</a:t>
            </a:r>
            <a:endParaRPr/>
          </a:p>
        </p:txBody>
      </p:sp>
      <p:sp>
        <p:nvSpPr>
          <p:cNvPr id="653" name=""/>
          <p:cNvSpPr/>
          <p:nvPr/>
        </p:nvSpPr>
        <p:spPr>
          <a:xfrm rot="0" flipH="0" flipV="0">
            <a:off x="381000" y="3876675"/>
            <a:ext cx="6219825" cy="781050"/>
          </a:xfrm>
          <a:prstGeom prst="roundRect">
            <a:avLst>
              <a:gd name="adj" fmla="val 12195"/>
            </a:avLst>
          </a:prstGeom>
          <a:solidFill>
            <a:srgbClr val="F7F9FC"/>
          </a:solidFill>
          <a:ln w="12700">
            <a:solidFill>
              <a:srgbClr val="D6DCE5"/>
            </a:solidFill>
            <a:prstDash val="dash"/>
          </a:ln>
        </p:spPr>
        <p:txBody>
          <a:bodyPr/>
          <a:p>
            <a:pPr/>
            <a:endParaRPr/>
          </a:p>
        </p:txBody>
      </p:sp>
      <p:sp>
        <p:nvSpPr>
          <p:cNvPr id="654" name="" descr="{&quot;isTemplate&quot;:true,&quot;type&quot;:&quot;text&quot;}"/>
          <p:cNvSpPr txBox="1"/>
          <p:nvPr/>
        </p:nvSpPr>
        <p:spPr>
          <a:xfrm rot="0" flipH="0" flipV="0">
            <a:off x="552450" y="4029075"/>
            <a:ext cx="5876925" cy="476250"/>
          </a:xfrm>
          <a:prstGeom prst="rect"/>
        </p:spPr>
        <p:txBody>
          <a:bodyPr wrap="square" lIns="0" tIns="0" rIns="0" bIns="0">
            <a:normAutofit/>
          </a:bodyPr>
          <a:p>
            <a:pPr>
              <a:lnSpc>
                <a:spcPct val="160000"/>
              </a:lnSpc>
            </a:pPr>
            <a:r>
              <a:rPr lang="en-US" sz="975">
                <a:solidFill>
                  <a:srgbClr val="8B97A8"/>
                </a:solidFill>
                <a:latin typeface="Microsoft YaHei"/>
                <a:ea typeface="Microsoft YaHei"/>
              </a:rPr>
              <a:t>Deliverable: </a:t>
            </a:r>
            <a:r>
              <a:rPr lang="en-US" sz="975">
                <a:solidFill>
                  <a:srgbClr val="8B97A8"/>
                </a:solidFill>
                <a:latin typeface="Microsoft YaHei"/>
                <a:ea typeface="Microsoft YaHei"/>
              </a:rPr>
              <a:t>docs/diagrams/use-case-v1.drawio</a:t>
            </a:r>
            <a:r>
              <a:rPr lang="en-US" sz="975">
                <a:solidFill>
                  <a:srgbClr val="8B97A8"/>
                </a:solidFill>
                <a:latin typeface="Microsoft YaHei"/>
                <a:ea typeface="Microsoft YaHei"/>
              </a:rPr>
              <a:t> plus an exported PNG, committed before you leave. Source file and picture — both, as agreed in Week 03.</a:t>
            </a:r>
            <a:endParaRPr/>
          </a:p>
        </p:txBody>
      </p:sp>
      <p:sp>
        <p:nvSpPr>
          <p:cNvPr id="655" name=""/>
          <p:cNvSpPr/>
          <p:nvPr/>
        </p:nvSpPr>
        <p:spPr>
          <a:xfrm rot="0" flipH="0" flipV="0">
            <a:off x="6867525" y="2409825"/>
            <a:ext cx="4981575" cy="495300"/>
          </a:xfrm>
          <a:prstGeom prst="roundRect">
            <a:avLst>
              <a:gd name="adj" fmla="val 19231"/>
            </a:avLst>
          </a:prstGeom>
          <a:solidFill>
            <a:srgbClr val="FFF6E0"/>
          </a:solidFill>
          <a:ln/>
        </p:spPr>
        <p:txBody>
          <a:bodyPr/>
          <a:p>
            <a:pPr/>
            <a:endParaRPr/>
          </a:p>
        </p:txBody>
      </p:sp>
      <p:sp>
        <p:nvSpPr>
          <p:cNvPr id="656" name=""/>
          <p:cNvSpPr/>
          <p:nvPr/>
        </p:nvSpPr>
        <p:spPr>
          <a:xfrm rot="0" flipH="0" flipV="0">
            <a:off x="6867525" y="2409825"/>
            <a:ext cx="4981575" cy="495300"/>
          </a:xfrm>
          <a:custGeom>
            <a:pathLst>
              <a:path w="523" h="52">
                <a:moveTo>
                  <a:pt x="9" y="0"/>
                </a:moveTo>
                <a:cubicBezTo>
                  <a:pt x="6" y="0"/>
                  <a:pt x="4" y="3"/>
                  <a:pt x="4" y="6"/>
                </a:cubicBezTo>
                <a:lnTo>
                  <a:pt x="4" y="46"/>
                </a:lnTo>
                <a:cubicBezTo>
                  <a:pt x="4" y="49"/>
                  <a:pt x="6" y="51"/>
                  <a:pt x="9" y="52"/>
                </a:cubicBezTo>
                <a:cubicBezTo>
                  <a:pt x="4" y="51"/>
                  <a:pt x="0" y="47"/>
                  <a:pt x="0" y="42"/>
                </a:cubicBezTo>
                <a:lnTo>
                  <a:pt x="0" y="10"/>
                </a:lnTo>
                <a:cubicBezTo>
                  <a:pt x="0" y="5"/>
                  <a:pt x="4" y="0"/>
                  <a:pt x="10" y="0"/>
                </a:cubicBezTo>
                <a:close/>
              </a:path>
            </a:pathLst>
          </a:custGeom>
          <a:solidFill>
            <a:srgbClr val="FFC107"/>
          </a:solidFill>
          <a:ln/>
        </p:spPr>
        <p:txBody>
          <a:bodyPr/>
          <a:p>
            <a:pPr/>
            <a:endParaRPr/>
          </a:p>
        </p:txBody>
      </p:sp>
      <p:sp>
        <p:nvSpPr>
          <p:cNvPr id="657" name="" descr="{&quot;isTemplate&quot;:true,&quot;type&quot;:&quot;text&quot;}"/>
          <p:cNvSpPr txBox="1"/>
          <p:nvPr/>
        </p:nvSpPr>
        <p:spPr>
          <a:xfrm rot="0" flipH="0" flipV="0">
            <a:off x="7038975" y="2562225"/>
            <a:ext cx="4600575" cy="190500"/>
          </a:xfrm>
          <a:prstGeom prst="rect"/>
        </p:spPr>
        <p:txBody>
          <a:bodyPr wrap="none" lIns="0" tIns="0" rIns="0" bIns="0"/>
          <a:p>
            <a:pPr>
              <a:lnSpc>
                <a:spcPct val="100000"/>
              </a:lnSpc>
            </a:pPr>
            <a:r>
              <a:rPr lang="en-US" sz="1200" b="1">
                <a:solidFill>
                  <a:srgbClr val="996F00"/>
                </a:solidFill>
                <a:latin typeface="Microsoft YaHei"/>
                <a:ea typeface="Microsoft YaHei"/>
              </a:rPr>
              <a:t>Self-check before you hand it in</a:t>
            </a:r>
            <a:endParaRPr/>
          </a:p>
        </p:txBody>
      </p:sp>
      <p:sp>
        <p:nvSpPr>
          <p:cNvPr id="658" name=""/>
          <p:cNvSpPr/>
          <p:nvPr/>
        </p:nvSpPr>
        <p:spPr>
          <a:xfrm rot="0" flipH="0" flipV="0">
            <a:off x="6829425" y="3028950"/>
            <a:ext cx="123825" cy="123825"/>
          </a:xfrm>
          <a:prstGeom prst="roundRect">
            <a:avLst>
              <a:gd name="adj" fmla="val 53846"/>
            </a:avLst>
          </a:prstGeom>
          <a:ln w="17780">
            <a:solidFill>
              <a:srgbClr val="1E4FA8"/>
            </a:solidFill>
            <a:prstDash val="solid"/>
          </a:ln>
        </p:spPr>
        <p:txBody>
          <a:bodyPr/>
          <a:p>
            <a:pPr/>
            <a:endParaRPr/>
          </a:p>
        </p:txBody>
      </p:sp>
      <p:sp>
        <p:nvSpPr>
          <p:cNvPr id="659" name="" descr="{&quot;isTemplate&quot;:true,&quot;type&quot;:&quot;text&quot;}"/>
          <p:cNvSpPr txBox="1"/>
          <p:nvPr/>
        </p:nvSpPr>
        <p:spPr>
          <a:xfrm rot="0" flipH="0" flipV="0">
            <a:off x="7038975" y="300037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Every ellipse is named verb plus object, in business words</a:t>
            </a:r>
            <a:endParaRPr/>
          </a:p>
        </p:txBody>
      </p:sp>
      <p:sp>
        <p:nvSpPr>
          <p:cNvPr id="660" name=""/>
          <p:cNvSpPr/>
          <p:nvPr/>
        </p:nvSpPr>
        <p:spPr>
          <a:xfrm rot="0" flipH="0" flipV="0">
            <a:off x="6829425" y="3314700"/>
            <a:ext cx="123825" cy="123825"/>
          </a:xfrm>
          <a:prstGeom prst="roundRect">
            <a:avLst>
              <a:gd name="adj" fmla="val 53846"/>
            </a:avLst>
          </a:prstGeom>
          <a:ln w="17780">
            <a:solidFill>
              <a:srgbClr val="1E4FA8"/>
            </a:solidFill>
            <a:prstDash val="solid"/>
          </a:ln>
        </p:spPr>
        <p:txBody>
          <a:bodyPr/>
          <a:p>
            <a:pPr/>
            <a:endParaRPr/>
          </a:p>
        </p:txBody>
      </p:sp>
      <p:sp>
        <p:nvSpPr>
          <p:cNvPr id="661" name="" descr="{&quot;isTemplate&quot;:true,&quot;type&quot;:&quot;text&quot;}"/>
          <p:cNvSpPr txBox="1"/>
          <p:nvPr/>
        </p:nvSpPr>
        <p:spPr>
          <a:xfrm rot="0" flipH="0" flipV="0">
            <a:off x="7038975" y="328612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Every use case belongs to exactly one primary actor</a:t>
            </a:r>
            <a:endParaRPr/>
          </a:p>
        </p:txBody>
      </p:sp>
      <p:sp>
        <p:nvSpPr>
          <p:cNvPr id="662" name=""/>
          <p:cNvSpPr/>
          <p:nvPr/>
        </p:nvSpPr>
        <p:spPr>
          <a:xfrm rot="0" flipH="0" flipV="0">
            <a:off x="6829425" y="3600450"/>
            <a:ext cx="123825" cy="123825"/>
          </a:xfrm>
          <a:prstGeom prst="roundRect">
            <a:avLst>
              <a:gd name="adj" fmla="val 53846"/>
            </a:avLst>
          </a:prstGeom>
          <a:ln w="17780">
            <a:solidFill>
              <a:srgbClr val="1E4FA8"/>
            </a:solidFill>
            <a:prstDash val="solid"/>
          </a:ln>
        </p:spPr>
        <p:txBody>
          <a:bodyPr/>
          <a:p>
            <a:pPr/>
            <a:endParaRPr/>
          </a:p>
        </p:txBody>
      </p:sp>
      <p:sp>
        <p:nvSpPr>
          <p:cNvPr id="663" name="" descr="{&quot;isTemplate&quot;:true,&quot;type&quot;:&quot;text&quot;}"/>
          <p:cNvSpPr txBox="1"/>
          <p:nvPr/>
        </p:nvSpPr>
        <p:spPr>
          <a:xfrm rot="0" flipH="0" flipV="0">
            <a:off x="7038975" y="357187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The boundary box is drawn, and its name is at the top</a:t>
            </a:r>
            <a:endParaRPr/>
          </a:p>
        </p:txBody>
      </p:sp>
      <p:sp>
        <p:nvSpPr>
          <p:cNvPr id="664" name=""/>
          <p:cNvSpPr/>
          <p:nvPr/>
        </p:nvSpPr>
        <p:spPr>
          <a:xfrm rot="0" flipH="0" flipV="0">
            <a:off x="6829425" y="3886200"/>
            <a:ext cx="123825" cy="123825"/>
          </a:xfrm>
          <a:prstGeom prst="roundRect">
            <a:avLst>
              <a:gd name="adj" fmla="val 53846"/>
            </a:avLst>
          </a:prstGeom>
          <a:ln w="17780">
            <a:solidFill>
              <a:srgbClr val="1E4FA8"/>
            </a:solidFill>
            <a:prstDash val="solid"/>
          </a:ln>
        </p:spPr>
        <p:txBody>
          <a:bodyPr/>
          <a:p>
            <a:pPr/>
            <a:endParaRPr/>
          </a:p>
        </p:txBody>
      </p:sp>
      <p:sp>
        <p:nvSpPr>
          <p:cNvPr id="665" name="" descr="{&quot;isTemplate&quot;:true,&quot;type&quot;:&quot;text&quot;}"/>
          <p:cNvSpPr txBox="1"/>
          <p:nvPr/>
        </p:nvSpPr>
        <p:spPr>
          <a:xfrm rot="0" flipH="0" flipV="0">
            <a:off x="7038975" y="385762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External systems sit outside the box and are drawn as boxes</a:t>
            </a:r>
            <a:endParaRPr/>
          </a:p>
        </p:txBody>
      </p:sp>
      <p:sp>
        <p:nvSpPr>
          <p:cNvPr id="666" name=""/>
          <p:cNvSpPr/>
          <p:nvPr/>
        </p:nvSpPr>
        <p:spPr>
          <a:xfrm rot="0" flipH="0" flipV="0">
            <a:off x="6829425" y="4171950"/>
            <a:ext cx="123825" cy="123825"/>
          </a:xfrm>
          <a:prstGeom prst="roundRect">
            <a:avLst>
              <a:gd name="adj" fmla="val 53846"/>
            </a:avLst>
          </a:prstGeom>
          <a:ln w="17780">
            <a:solidFill>
              <a:srgbClr val="1E4FA8"/>
            </a:solidFill>
            <a:prstDash val="solid"/>
          </a:ln>
        </p:spPr>
        <p:txBody>
          <a:bodyPr/>
          <a:p>
            <a:pPr/>
            <a:endParaRPr/>
          </a:p>
        </p:txBody>
      </p:sp>
      <p:sp>
        <p:nvSpPr>
          <p:cNvPr id="667" name="" descr="{&quot;isTemplate&quot;:true,&quot;type&quot;:&quot;text&quot;}"/>
          <p:cNvSpPr txBox="1"/>
          <p:nvPr/>
        </p:nvSpPr>
        <p:spPr>
          <a:xfrm rot="0" flipH="0" flipV="0">
            <a:off x="7038975" y="414337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No “Manage X” and no create-read-update-delete quartet</a:t>
            </a:r>
            <a:endParaRPr/>
          </a:p>
        </p:txBody>
      </p:sp>
      <p:sp>
        <p:nvSpPr>
          <p:cNvPr id="668" name=""/>
          <p:cNvSpPr/>
          <p:nvPr/>
        </p:nvSpPr>
        <p:spPr>
          <a:xfrm rot="0" flipH="0" flipV="0">
            <a:off x="6829425" y="4457700"/>
            <a:ext cx="123825" cy="123825"/>
          </a:xfrm>
          <a:prstGeom prst="roundRect">
            <a:avLst>
              <a:gd name="adj" fmla="val 53846"/>
            </a:avLst>
          </a:prstGeom>
          <a:ln w="17780">
            <a:solidFill>
              <a:srgbClr val="1E4FA8"/>
            </a:solidFill>
            <a:prstDash val="solid"/>
          </a:ln>
        </p:spPr>
        <p:txBody>
          <a:bodyPr/>
          <a:p>
            <a:pPr/>
            <a:endParaRPr/>
          </a:p>
        </p:txBody>
      </p:sp>
      <p:sp>
        <p:nvSpPr>
          <p:cNvPr id="669" name="" descr="{&quot;isTemplate&quot;:true,&quot;type&quot;:&quot;text&quot;}"/>
          <p:cNvSpPr txBox="1"/>
          <p:nvPr/>
        </p:nvSpPr>
        <p:spPr>
          <a:xfrm rot="0" flipH="0" flipV="0">
            <a:off x="7038975" y="442912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The include arrow leaves the base and arrives at what it needs</a:t>
            </a:r>
            <a:endParaRPr/>
          </a:p>
        </p:txBody>
      </p:sp>
      <p:sp>
        <p:nvSpPr>
          <p:cNvPr id="670" name=""/>
          <p:cNvSpPr/>
          <p:nvPr/>
        </p:nvSpPr>
        <p:spPr>
          <a:xfrm rot="0" flipH="0" flipV="0">
            <a:off x="6829425" y="4743450"/>
            <a:ext cx="123825" cy="123825"/>
          </a:xfrm>
          <a:prstGeom prst="roundRect">
            <a:avLst>
              <a:gd name="adj" fmla="val 53846"/>
            </a:avLst>
          </a:prstGeom>
          <a:ln w="17780">
            <a:solidFill>
              <a:srgbClr val="1E4FA8"/>
            </a:solidFill>
            <a:prstDash val="solid"/>
          </a:ln>
        </p:spPr>
        <p:txBody>
          <a:bodyPr/>
          <a:p>
            <a:pPr/>
            <a:endParaRPr/>
          </a:p>
        </p:txBody>
      </p:sp>
      <p:sp>
        <p:nvSpPr>
          <p:cNvPr id="671" name="" descr="{&quot;isTemplate&quot;:true,&quot;type&quot;:&quot;text&quot;}"/>
          <p:cNvSpPr txBox="1"/>
          <p:nvPr/>
        </p:nvSpPr>
        <p:spPr>
          <a:xfrm rot="0" flipH="0" flipV="0">
            <a:off x="7038975" y="471487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The extend arrow comes back from the extra to the base</a:t>
            </a:r>
            <a:endParaRPr/>
          </a:p>
        </p:txBody>
      </p:sp>
      <p:sp>
        <p:nvSpPr>
          <p:cNvPr id="672" name=""/>
          <p:cNvSpPr/>
          <p:nvPr/>
        </p:nvSpPr>
        <p:spPr>
          <a:xfrm rot="0" flipH="0" flipV="0">
            <a:off x="6829425" y="5029200"/>
            <a:ext cx="123825" cy="123825"/>
          </a:xfrm>
          <a:prstGeom prst="roundRect">
            <a:avLst>
              <a:gd name="adj" fmla="val 53846"/>
            </a:avLst>
          </a:prstGeom>
          <a:ln w="17780">
            <a:solidFill>
              <a:srgbClr val="1E4FA8"/>
            </a:solidFill>
            <a:prstDash val="solid"/>
          </a:ln>
        </p:spPr>
        <p:txBody>
          <a:bodyPr/>
          <a:p>
            <a:pPr/>
            <a:endParaRPr/>
          </a:p>
        </p:txBody>
      </p:sp>
      <p:sp>
        <p:nvSpPr>
          <p:cNvPr id="673" name="" descr="{&quot;isTemplate&quot;:true,&quot;type&quot;:&quot;text&quot;}"/>
          <p:cNvSpPr txBox="1"/>
          <p:nvPr/>
        </p:nvSpPr>
        <p:spPr>
          <a:xfrm rot="0" flipH="0" flipV="0">
            <a:off x="7038975" y="5000625"/>
            <a:ext cx="4772025" cy="219075"/>
          </a:xfrm>
          <a:prstGeom prst="rect"/>
        </p:spPr>
        <p:txBody>
          <a:bodyPr wrap="none" lIns="0" tIns="0" rIns="0" bIns="0"/>
          <a:p>
            <a:pPr>
              <a:lnSpc>
                <a:spcPct val="150000"/>
              </a:lnSpc>
            </a:pPr>
            <a:r>
              <a:rPr lang="en-US" sz="938">
                <a:solidFill>
                  <a:srgbClr val="1A2230"/>
                </a:solidFill>
                <a:latin typeface="Microsoft YaHei"/>
                <a:ea typeface="Microsoft YaHei"/>
              </a:rPr>
              <a:t>Each dashed arrow carries a condition or a reason in words</a:t>
            </a:r>
            <a:endParaRPr/>
          </a:p>
        </p:txBody>
      </p:sp>
      <p:sp>
        <p:nvSpPr>
          <p:cNvPr id="674" name=""/>
          <p:cNvSpPr/>
          <p:nvPr/>
        </p:nvSpPr>
        <p:spPr>
          <a:xfrm rot="0" flipH="0" flipV="0">
            <a:off x="0" y="6419850"/>
            <a:ext cx="12192000" cy="438150"/>
          </a:xfrm>
          <a:prstGeom prst="rect">
            <a:avLst/>
          </a:prstGeom>
          <a:solidFill>
            <a:srgbClr val="0E3F8C"/>
          </a:solidFill>
          <a:ln/>
        </p:spPr>
        <p:txBody>
          <a:bodyPr/>
          <a:p>
            <a:pPr/>
            <a:endParaRPr/>
          </a:p>
        </p:txBody>
      </p:sp>
      <p:sp>
        <p:nvSpPr>
          <p:cNvPr id="675" name="" descr="{&quot;isTemplate&quot;:true,&quot;type&quot;:&quot;text&quot;}"/>
          <p:cNvSpPr txBox="1"/>
          <p:nvPr/>
        </p:nvSpPr>
        <p:spPr>
          <a:xfrm rot="0" flipH="0" flipV="0">
            <a:off x="1828800" y="6543675"/>
            <a:ext cx="8543925" cy="190500"/>
          </a:xfrm>
          <a:prstGeom prst="rect"/>
        </p:spPr>
        <p:txBody>
          <a:bodyPr wrap="none" lIns="0" tIns="0" rIns="0" bIns="0"/>
          <a:p>
            <a:pPr>
              <a:lnSpc>
                <a:spcPct val="100000"/>
              </a:lnSpc>
            </a:pPr>
            <a:r>
              <a:rPr lang="en-US" sz="1200" b="1">
                <a:solidFill>
                  <a:srgbClr val="FFFFFF"/>
                </a:solidFill>
                <a:latin typeface="Microsoft YaHei"/>
                <a:ea typeface="Microsoft YaHei"/>
              </a:rPr>
              <a:t>Thirty minutes to draw, fifteen to defend it to the instructor, who is playing the client today. Answers on the next page.</a:t>
            </a:r>
            <a:endParaRPr/>
          </a:p>
        </p:txBody>
      </p:sp>
    </p:spTree>
  </p:cSld>
</p:sld>
</file>

<file path=ppt/slides/slide36.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676" name=""/>
        <p:cNvGrpSpPr/>
        <p:nvPr/>
      </p:nvGrpSpPr>
      <p:grpSpPr>
        <a:xfrm>
          <a:off x="0" y="0"/>
          <a:ext cx="0" cy="0"/>
          <a:chOff x="0" y="0"/>
          <a:chExt cx="0" cy="0"/>
        </a:xfrm>
      </p:grpSpPr>
      <p:sp>
        <p:nvSpPr>
          <p:cNvPr id="677" name=""/>
          <p:cNvSpPr/>
          <p:nvPr/>
        </p:nvSpPr>
        <p:spPr>
          <a:xfrm rot="0" flipH="0" flipV="0">
            <a:off x="0" y="0"/>
            <a:ext cx="12192000" cy="6858000"/>
          </a:xfrm>
          <a:prstGeom prst="rect">
            <a:avLst/>
          </a:prstGeom>
          <a:solidFill>
            <a:srgbClr val="FFFFFF"/>
          </a:solidFill>
          <a:ln/>
        </p:spPr>
        <p:txBody>
          <a:bodyPr/>
          <a:p>
            <a:pPr/>
            <a:endParaRPr/>
          </a:p>
        </p:txBody>
      </p:sp>
      <p:sp>
        <p:nvSpPr>
          <p:cNvPr id="678" name=""/>
          <p:cNvSpPr/>
          <p:nvPr/>
        </p:nvSpPr>
        <p:spPr>
          <a:xfrm rot="0" flipH="0" flipV="0">
            <a:off x="0" y="0"/>
            <a:ext cx="12192000" cy="685800"/>
          </a:xfrm>
          <a:prstGeom prst="rect">
            <a:avLst/>
          </a:prstGeom>
          <a:solidFill>
            <a:srgbClr val="1E4FA8"/>
          </a:solidFill>
          <a:ln/>
        </p:spPr>
        <p:txBody>
          <a:bodyPr/>
          <a:p>
            <a:pPr/>
            <a:endParaRPr/>
          </a:p>
        </p:txBody>
      </p:sp>
      <p:sp>
        <p:nvSpPr>
          <p:cNvPr id="679"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80"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W04 · LAB · EXERCISE 4.2</a:t>
            </a:r>
            <a:endParaRPr/>
          </a:p>
        </p:txBody>
      </p:sp>
      <p:sp>
        <p:nvSpPr>
          <p:cNvPr id="681" name="" descr="{&quot;isTemplate&quot;:true,&quot;type&quot;:&quot;text&quot;}"/>
          <p:cNvSpPr txBox="1"/>
          <p:nvPr/>
        </p:nvSpPr>
        <p:spPr>
          <a:xfrm rot="0" flipH="0" flipV="0">
            <a:off x="381000" y="800100"/>
            <a:ext cx="4552950" cy="333375"/>
          </a:xfrm>
          <a:prstGeom prst="rect"/>
        </p:spPr>
        <p:txBody>
          <a:bodyPr wrap="none" lIns="0" tIns="0" rIns="0" bIns="0"/>
          <a:p>
            <a:pPr>
              <a:lnSpc>
                <a:spcPct val="100000"/>
              </a:lnSpc>
            </a:pPr>
            <a:r>
              <a:rPr lang="en-US" sz="2175" b="1">
                <a:solidFill>
                  <a:srgbClr val="0E3F8C"/>
                </a:solidFill>
                <a:latin typeface="Microsoft YaHei"/>
                <a:ea typeface="Microsoft YaHei"/>
              </a:rPr>
              <a:t>Exercise 4.2 — Reference Solution</a:t>
            </a:r>
            <a:endParaRPr/>
          </a:p>
        </p:txBody>
      </p:sp>
      <p:sp>
        <p:nvSpPr>
          <p:cNvPr id="682" name="" descr="{&quot;isTemplate&quot;:true,&quot;type&quot;:&quot;text&quot;}"/>
          <p:cNvSpPr txBox="1"/>
          <p:nvPr/>
        </p:nvSpPr>
        <p:spPr>
          <a:xfrm rot="0" flipH="0" flipV="0">
            <a:off x="11401425" y="8858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36 / 38</a:t>
            </a:r>
            <a:endParaRPr/>
          </a:p>
        </p:txBody>
      </p:sp>
      <p:pic>
        <p:nvPicPr>
          <p:cNvPr id="683" name=""/>
          <p:cNvPicPr>
            <a:picLocks noChangeAspect="1"/>
          </p:cNvPicPr>
          <p:nvPr/>
        </p:nvPicPr>
        <p:blipFill>
          <a:blip>
            <a:extLst>
              <a:ext uri="{96DAC541-7B7A-43D3-8B79-37D633B846F1}">
                <asvg:svgBlip r:embed="rId1"/>
              </a:ext>
            </a:extLst>
          </a:blip>
          <a:stretch>
            <a:fillRect/>
          </a:stretch>
        </p:blipFill>
        <p:spPr>
          <a:xfrm rot="0" flipH="0" flipV="0">
            <a:off x="476250" y="2028825"/>
            <a:ext cx="11239500" cy="3676650"/>
          </a:xfrm>
          <a:prstGeom prst="rect">
            <a:avLst/>
          </a:prstGeom>
          <a:ln/>
        </p:spPr>
      </p:pic>
      <p:sp>
        <p:nvSpPr>
          <p:cNvPr id="684" name="" descr="{&quot;isTemplate&quot;:true,&quot;type&quot;:&quot;text&quot;}"/>
          <p:cNvSpPr txBox="1"/>
          <p:nvPr/>
        </p:nvSpPr>
        <p:spPr>
          <a:xfrm rot="0" flipH="0" flipV="0">
            <a:off x="381000" y="6648450"/>
            <a:ext cx="5314950" cy="142875"/>
          </a:xfrm>
          <a:prstGeom prst="rect"/>
        </p:spPr>
        <p:txBody>
          <a:bodyPr wrap="none" lIns="0" tIns="0" rIns="0" bIns="0"/>
          <a:p>
            <a:pPr>
              <a:lnSpc>
                <a:spcPct val="100000"/>
              </a:lnSpc>
            </a:pPr>
            <a:r>
              <a:rPr lang="en-US" sz="938">
                <a:solidFill>
                  <a:srgbClr val="8B97A8"/>
                </a:solidFill>
                <a:latin typeface="Microsoft YaHei"/>
                <a:ea typeface="Microsoft YaHei"/>
              </a:rPr>
              <a:t>ISAD · Fall 2026 · Your diagram may differ and still be right — but every difference needs a sentence</a:t>
            </a:r>
            <a:endParaRPr/>
          </a:p>
        </p:txBody>
      </p:sp>
      <p:sp>
        <p:nvSpPr>
          <p:cNvPr id="685" name="" descr="{&quot;isTemplate&quot;:true,&quot;type&quot;:&quot;text&quot;}"/>
          <p:cNvSpPr txBox="1"/>
          <p:nvPr/>
        </p:nvSpPr>
        <p:spPr>
          <a:xfrm rot="0" flipH="0" flipV="0">
            <a:off x="11401425" y="663892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36 / 38</a:t>
            </a:r>
            <a:endParaRPr/>
          </a:p>
        </p:txBody>
      </p:sp>
    </p:spTree>
  </p:cSld>
</p:sld>
</file>

<file path=ppt/slides/slide37.xml><?xml version="1.0" encoding="utf-8"?>
<p:sld xmlns:asvg="http://schemas.microsoft.com/office/drawing/2016/SVG/main" xmlns:a="http://schemas.openxmlformats.org/drawingml/2006/main" xmlns:r="http://schemas.openxmlformats.org/officeDocument/2006/relationships" xmlns:p="http://schemas.openxmlformats.org/presentationml/2006/main" xmlns:mc="http://schemas.openxmlformats.org/markup-compatibility/2006" mc:Ignorable="asvg">
  <p:cSld>
    <p:spTree>
      <p:nvGrpSpPr>
        <p:cNvPr id="686" name=""/>
        <p:cNvGrpSpPr/>
        <p:nvPr/>
      </p:nvGrpSpPr>
      <p:grpSpPr>
        <a:xfrm>
          <a:off x="0" y="0"/>
          <a:ext cx="0" cy="0"/>
          <a:chOff x="0" y="0"/>
          <a:chExt cx="0" cy="0"/>
        </a:xfrm>
      </p:grpSpPr>
      <p:sp>
        <p:nvSpPr>
          <p:cNvPr id="687" name=""/>
          <p:cNvSpPr/>
          <p:nvPr/>
        </p:nvSpPr>
        <p:spPr>
          <a:xfrm rot="0" flipH="0" flipV="0">
            <a:off x="0" y="0"/>
            <a:ext cx="12192000" cy="6858000"/>
          </a:xfrm>
          <a:prstGeom prst="rect">
            <a:avLst/>
          </a:prstGeom>
          <a:solidFill>
            <a:srgbClr val="FFFFFF"/>
          </a:solidFill>
          <a:ln/>
        </p:spPr>
        <p:txBody>
          <a:bodyPr/>
          <a:p>
            <a:pPr/>
            <a:endParaRPr/>
          </a:p>
        </p:txBody>
      </p:sp>
      <p:sp>
        <p:nvSpPr>
          <p:cNvPr id="688" name=""/>
          <p:cNvSpPr/>
          <p:nvPr/>
        </p:nvSpPr>
        <p:spPr>
          <a:xfrm rot="0" flipH="0" flipV="0">
            <a:off x="0" y="0"/>
            <a:ext cx="12192000" cy="685800"/>
          </a:xfrm>
          <a:prstGeom prst="rect">
            <a:avLst/>
          </a:prstGeom>
          <a:solidFill>
            <a:srgbClr val="1E4FA8"/>
          </a:solidFill>
          <a:ln/>
        </p:spPr>
        <p:txBody>
          <a:bodyPr/>
          <a:p>
            <a:pPr/>
            <a:endParaRPr/>
          </a:p>
        </p:txBody>
      </p:sp>
      <p:sp>
        <p:nvSpPr>
          <p:cNvPr id="689"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90" name="" descr="{&quot;isTemplate&quot;:true,&quot;type&quot;:&quot;text&quot;}"/>
          <p:cNvSpPr txBox="1"/>
          <p:nvPr/>
        </p:nvSpPr>
        <p:spPr>
          <a:xfrm rot="0" flipH="0" flipV="0">
            <a:off x="10134600" y="257175"/>
            <a:ext cx="1676400" cy="171450"/>
          </a:xfrm>
          <a:prstGeom prst="rect"/>
        </p:spPr>
        <p:txBody>
          <a:bodyPr wrap="none" lIns="0" tIns="0" rIns="0" bIns="0"/>
          <a:p>
            <a:pPr>
              <a:lnSpc>
                <a:spcPct val="100000"/>
              </a:lnSpc>
            </a:pPr>
            <a:r>
              <a:rPr lang="en-US" sz="1125">
                <a:solidFill>
                  <a:srgbClr val="B9CDF0"/>
                </a:solidFill>
                <a:latin typeface="Microsoft YaHei"/>
                <a:ea typeface="Microsoft YaHei"/>
              </a:rPr>
              <a:t>W04 · HOMEWORK &amp; M1</a:t>
            </a:r>
            <a:endParaRPr/>
          </a:p>
        </p:txBody>
      </p:sp>
      <p:sp>
        <p:nvSpPr>
          <p:cNvPr id="691" name="" descr="{&quot;isTemplate&quot;:true,&quot;type&quot;:&quot;text&quot;}"/>
          <p:cNvSpPr txBox="1"/>
          <p:nvPr/>
        </p:nvSpPr>
        <p:spPr>
          <a:xfrm rot="0" flipH="0" flipV="0">
            <a:off x="381000" y="819150"/>
            <a:ext cx="3162300" cy="333375"/>
          </a:xfrm>
          <a:prstGeom prst="rect"/>
        </p:spPr>
        <p:txBody>
          <a:bodyPr wrap="none" lIns="0" tIns="0" rIns="0" bIns="0"/>
          <a:p>
            <a:pPr>
              <a:lnSpc>
                <a:spcPct val="100000"/>
              </a:lnSpc>
            </a:pPr>
            <a:r>
              <a:rPr lang="en-US" sz="2175" b="1">
                <a:solidFill>
                  <a:srgbClr val="0E3F8C"/>
                </a:solidFill>
                <a:latin typeface="Microsoft YaHei"/>
                <a:ea typeface="Microsoft YaHei"/>
              </a:rPr>
              <a:t>Homework &amp; Project M1</a:t>
            </a:r>
            <a:endParaRPr/>
          </a:p>
        </p:txBody>
      </p:sp>
      <p:sp>
        <p:nvSpPr>
          <p:cNvPr id="692" name="" descr="{&quot;isTemplate&quot;:true,&quot;type&quot;:&quot;text&quot;}"/>
          <p:cNvSpPr txBox="1"/>
          <p:nvPr/>
        </p:nvSpPr>
        <p:spPr>
          <a:xfrm rot="0" flipH="0" flipV="0">
            <a:off x="11401425" y="904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37 / 38</a:t>
            </a:r>
            <a:endParaRPr/>
          </a:p>
        </p:txBody>
      </p:sp>
      <p:pic>
        <p:nvPicPr>
          <p:cNvPr id="693" name=""/>
          <p:cNvPicPr>
            <a:picLocks noChangeAspect="1"/>
          </p:cNvPicPr>
          <p:nvPr/>
        </p:nvPicPr>
        <p:blipFill>
          <a:blip>
            <a:extLst>
              <a:ext uri="{96DAC541-7B7A-43D3-8B79-37D633B846F1}">
                <asvg:svgBlip r:embed="rId1"/>
              </a:ext>
            </a:extLst>
          </a:blip>
          <a:stretch>
            <a:fillRect/>
          </a:stretch>
        </p:blipFill>
        <p:spPr>
          <a:xfrm rot="0" flipH="0" flipV="0">
            <a:off x="381000" y="1276350"/>
            <a:ext cx="171450" cy="171450"/>
          </a:xfrm>
          <a:prstGeom prst="rect">
            <a:avLst/>
          </a:prstGeom>
          <a:ln/>
        </p:spPr>
      </p:pic>
      <p:sp>
        <p:nvSpPr>
          <p:cNvPr id="694" name="" descr="{&quot;isTemplate&quot;:true,&quot;type&quot;:&quot;text&quot;}"/>
          <p:cNvSpPr txBox="1"/>
          <p:nvPr/>
        </p:nvSpPr>
        <p:spPr>
          <a:xfrm rot="0" flipH="0" flipV="0">
            <a:off x="638175" y="1266825"/>
            <a:ext cx="1504950" cy="190500"/>
          </a:xfrm>
          <a:prstGeom prst="rect"/>
        </p:spPr>
        <p:txBody>
          <a:bodyPr wrap="none" lIns="0" tIns="0" rIns="0" bIns="0"/>
          <a:p>
            <a:pPr>
              <a:lnSpc>
                <a:spcPct val="100000"/>
              </a:lnSpc>
            </a:pPr>
            <a:r>
              <a:rPr lang="en-US" sz="1238" b="1">
                <a:solidFill>
                  <a:srgbClr val="0E3F8C"/>
                </a:solidFill>
                <a:latin typeface="Microsoft YaHei"/>
                <a:ea typeface="Microsoft YaHei"/>
              </a:rPr>
              <a:t>Before next Monday</a:t>
            </a:r>
            <a:endParaRPr/>
          </a:p>
        </p:txBody>
      </p:sp>
      <p:sp>
        <p:nvSpPr>
          <p:cNvPr id="695" name=""/>
          <p:cNvSpPr/>
          <p:nvPr/>
        </p:nvSpPr>
        <p:spPr>
          <a:xfrm rot="0" flipH="0" flipV="0">
            <a:off x="381000" y="1600200"/>
            <a:ext cx="123825" cy="123825"/>
          </a:xfrm>
          <a:prstGeom prst="roundRect">
            <a:avLst>
              <a:gd name="adj" fmla="val 53846"/>
            </a:avLst>
          </a:prstGeom>
          <a:ln w="17780">
            <a:solidFill>
              <a:srgbClr val="1E4FA8"/>
            </a:solidFill>
            <a:prstDash val="solid"/>
          </a:ln>
        </p:spPr>
        <p:txBody>
          <a:bodyPr/>
          <a:p>
            <a:pPr/>
            <a:endParaRPr/>
          </a:p>
        </p:txBody>
      </p:sp>
      <p:sp>
        <p:nvSpPr>
          <p:cNvPr id="696" name="" descr="{&quot;isTemplate&quot;:true,&quot;type&quot;:&quot;text&quot;}"/>
          <p:cNvSpPr txBox="1"/>
          <p:nvPr/>
        </p:nvSpPr>
        <p:spPr>
          <a:xfrm rot="0" flipH="0" flipV="0">
            <a:off x="590550" y="1571625"/>
            <a:ext cx="5219700" cy="238125"/>
          </a:xfrm>
          <a:prstGeom prst="rect"/>
        </p:spPr>
        <p:txBody>
          <a:bodyPr wrap="none" lIns="0" tIns="0" rIns="0" bIns="0"/>
          <a:p>
            <a:pPr>
              <a:lnSpc>
                <a:spcPct val="155000"/>
              </a:lnSpc>
            </a:pPr>
            <a:r>
              <a:rPr lang="en-US" sz="975">
                <a:solidFill>
                  <a:srgbClr val="1A2230"/>
                </a:solidFill>
                <a:latin typeface="Microsoft YaHei"/>
                <a:ea typeface="Microsoft YaHei"/>
              </a:rPr>
              <a:t>Finish the diagram — source file and PNG, in docs/diagrams/, pushed</a:t>
            </a:r>
            <a:endParaRPr/>
          </a:p>
        </p:txBody>
      </p:sp>
      <p:sp>
        <p:nvSpPr>
          <p:cNvPr id="697" name=""/>
          <p:cNvSpPr/>
          <p:nvPr/>
        </p:nvSpPr>
        <p:spPr>
          <a:xfrm rot="0" flipH="0" flipV="0">
            <a:off x="381000" y="1933575"/>
            <a:ext cx="123825" cy="123825"/>
          </a:xfrm>
          <a:prstGeom prst="roundRect">
            <a:avLst>
              <a:gd name="adj" fmla="val 53846"/>
            </a:avLst>
          </a:prstGeom>
          <a:ln w="17780">
            <a:solidFill>
              <a:srgbClr val="1E4FA8"/>
            </a:solidFill>
            <a:prstDash val="solid"/>
          </a:ln>
        </p:spPr>
        <p:txBody>
          <a:bodyPr/>
          <a:p>
            <a:pPr/>
            <a:endParaRPr/>
          </a:p>
        </p:txBody>
      </p:sp>
      <p:sp>
        <p:nvSpPr>
          <p:cNvPr id="698" name="" descr="{&quot;isTemplate&quot;:true,&quot;type&quot;:&quot;text&quot;}"/>
          <p:cNvSpPr txBox="1"/>
          <p:nvPr/>
        </p:nvSpPr>
        <p:spPr>
          <a:xfrm rot="0" flipH="0" flipV="0">
            <a:off x="590550" y="1905000"/>
            <a:ext cx="5219700" cy="238125"/>
          </a:xfrm>
          <a:prstGeom prst="rect"/>
        </p:spPr>
        <p:txBody>
          <a:bodyPr wrap="none" lIns="0" tIns="0" rIns="0" bIns="0"/>
          <a:p>
            <a:pPr>
              <a:lnSpc>
                <a:spcPct val="155000"/>
              </a:lnSpc>
            </a:pPr>
            <a:r>
              <a:rPr lang="en-US" sz="975">
                <a:solidFill>
                  <a:srgbClr val="1A2230"/>
                </a:solidFill>
                <a:latin typeface="Microsoft YaHei"/>
                <a:ea typeface="Microsoft YaHei"/>
              </a:rPr>
              <a:t>Write two use case briefs: Place Order and one you choose</a:t>
            </a:r>
            <a:endParaRPr/>
          </a:p>
        </p:txBody>
      </p:sp>
      <p:sp>
        <p:nvSpPr>
          <p:cNvPr id="699" name=""/>
          <p:cNvSpPr/>
          <p:nvPr/>
        </p:nvSpPr>
        <p:spPr>
          <a:xfrm rot="0" flipH="0" flipV="0">
            <a:off x="381000" y="2266950"/>
            <a:ext cx="123825" cy="123825"/>
          </a:xfrm>
          <a:prstGeom prst="roundRect">
            <a:avLst>
              <a:gd name="adj" fmla="val 53846"/>
            </a:avLst>
          </a:prstGeom>
          <a:ln w="17780">
            <a:solidFill>
              <a:srgbClr val="1E4FA8"/>
            </a:solidFill>
            <a:prstDash val="solid"/>
          </a:ln>
        </p:spPr>
        <p:txBody>
          <a:bodyPr/>
          <a:p>
            <a:pPr/>
            <a:endParaRPr/>
          </a:p>
        </p:txBody>
      </p:sp>
      <p:sp>
        <p:nvSpPr>
          <p:cNvPr id="700" name="" descr="{&quot;isTemplate&quot;:true,&quot;type&quot;:&quot;text&quot;}"/>
          <p:cNvSpPr txBox="1"/>
          <p:nvPr/>
        </p:nvSpPr>
        <p:spPr>
          <a:xfrm rot="0" flipH="0" flipV="0">
            <a:off x="590550" y="2238375"/>
            <a:ext cx="5219700" cy="238125"/>
          </a:xfrm>
          <a:prstGeom prst="rect"/>
        </p:spPr>
        <p:txBody>
          <a:bodyPr wrap="none" lIns="0" tIns="0" rIns="0" bIns="0"/>
          <a:p>
            <a:pPr>
              <a:lnSpc>
                <a:spcPct val="155000"/>
              </a:lnSpc>
            </a:pPr>
            <a:r>
              <a:rPr lang="en-US" sz="975">
                <a:solidFill>
                  <a:srgbClr val="1A2230"/>
                </a:solidFill>
                <a:latin typeface="Microsoft YaHei"/>
                <a:ea typeface="Microsoft YaHei"/>
              </a:rPr>
              <a:t>Read Larman Chapter 6 (use cases) — twenty pages, not all of it</a:t>
            </a:r>
            <a:endParaRPr/>
          </a:p>
        </p:txBody>
      </p:sp>
      <p:sp>
        <p:nvSpPr>
          <p:cNvPr id="701" name=""/>
          <p:cNvSpPr/>
          <p:nvPr/>
        </p:nvSpPr>
        <p:spPr>
          <a:xfrm rot="0" flipH="0" flipV="0">
            <a:off x="381000" y="2600325"/>
            <a:ext cx="123825" cy="123825"/>
          </a:xfrm>
          <a:prstGeom prst="roundRect">
            <a:avLst>
              <a:gd name="adj" fmla="val 53846"/>
            </a:avLst>
          </a:prstGeom>
          <a:ln w="17780">
            <a:solidFill>
              <a:srgbClr val="1E4FA8"/>
            </a:solidFill>
            <a:prstDash val="solid"/>
          </a:ln>
        </p:spPr>
        <p:txBody>
          <a:bodyPr/>
          <a:p>
            <a:pPr/>
            <a:endParaRPr/>
          </a:p>
        </p:txBody>
      </p:sp>
      <p:sp>
        <p:nvSpPr>
          <p:cNvPr id="702" name="" descr="{&quot;isTemplate&quot;:true,&quot;type&quot;:&quot;text&quot;}"/>
          <p:cNvSpPr txBox="1"/>
          <p:nvPr/>
        </p:nvSpPr>
        <p:spPr>
          <a:xfrm rot="0" flipH="0" flipV="0">
            <a:off x="590550" y="2571750"/>
            <a:ext cx="5219700" cy="238125"/>
          </a:xfrm>
          <a:prstGeom prst="rect"/>
        </p:spPr>
        <p:txBody>
          <a:bodyPr wrap="none" lIns="0" tIns="0" rIns="0" bIns="0"/>
          <a:p>
            <a:pPr>
              <a:lnSpc>
                <a:spcPct val="155000"/>
              </a:lnSpc>
            </a:pPr>
            <a:r>
              <a:rPr lang="en-US" sz="975">
                <a:solidFill>
                  <a:srgbClr val="1A2230"/>
                </a:solidFill>
                <a:latin typeface="Microsoft YaHei"/>
                <a:ea typeface="Microsoft YaHei"/>
              </a:rPr>
              <a:t>Bring one question the narrative could not answer</a:t>
            </a:r>
            <a:endParaRPr/>
          </a:p>
        </p:txBody>
      </p:sp>
      <p:sp>
        <p:nvSpPr>
          <p:cNvPr id="703" name=""/>
          <p:cNvSpPr/>
          <p:nvPr/>
        </p:nvSpPr>
        <p:spPr>
          <a:xfrm rot="0" flipH="0" flipV="0">
            <a:off x="409575" y="2943225"/>
            <a:ext cx="5429250" cy="666750"/>
          </a:xfrm>
          <a:prstGeom prst="roundRect">
            <a:avLst>
              <a:gd name="adj" fmla="val 11429"/>
            </a:avLst>
          </a:prstGeom>
          <a:solidFill>
            <a:srgbClr val="FFF6E0"/>
          </a:solidFill>
          <a:ln/>
        </p:spPr>
        <p:txBody>
          <a:bodyPr/>
          <a:p>
            <a:pPr/>
            <a:endParaRPr/>
          </a:p>
        </p:txBody>
      </p:sp>
      <p:sp>
        <p:nvSpPr>
          <p:cNvPr id="704" name=""/>
          <p:cNvSpPr/>
          <p:nvPr/>
        </p:nvSpPr>
        <p:spPr>
          <a:xfrm rot="0" flipH="0" flipV="0">
            <a:off x="409575" y="2943225"/>
            <a:ext cx="5429250" cy="666750"/>
          </a:xfrm>
          <a:custGeom>
            <a:pathLst>
              <a:path w="570" h="70">
                <a:moveTo>
                  <a:pt x="8" y="0"/>
                </a:moveTo>
                <a:cubicBezTo>
                  <a:pt x="5" y="0"/>
                  <a:pt x="3" y="2"/>
                  <a:pt x="3" y="5"/>
                </a:cubicBezTo>
                <a:lnTo>
                  <a:pt x="3" y="65"/>
                </a:lnTo>
                <a:cubicBezTo>
                  <a:pt x="3" y="67"/>
                  <a:pt x="5" y="69"/>
                  <a:pt x="7" y="70"/>
                </a:cubicBezTo>
                <a:cubicBezTo>
                  <a:pt x="3" y="69"/>
                  <a:pt x="0" y="66"/>
                  <a:pt x="0" y="62"/>
                </a:cubicBezTo>
                <a:lnTo>
                  <a:pt x="0" y="8"/>
                </a:lnTo>
                <a:cubicBezTo>
                  <a:pt x="0" y="4"/>
                  <a:pt x="3" y="0"/>
                  <a:pt x="8" y="0"/>
                </a:cubicBezTo>
                <a:close/>
              </a:path>
            </a:pathLst>
          </a:custGeom>
          <a:solidFill>
            <a:srgbClr val="FFC107"/>
          </a:solidFill>
          <a:ln/>
        </p:spPr>
        <p:txBody>
          <a:bodyPr/>
          <a:p>
            <a:pPr/>
            <a:endParaRPr/>
          </a:p>
        </p:txBody>
      </p:sp>
      <p:sp>
        <p:nvSpPr>
          <p:cNvPr id="705" name="" descr="{&quot;isTemplate&quot;:true,&quot;type&quot;:&quot;text&quot;}"/>
          <p:cNvSpPr txBox="1"/>
          <p:nvPr/>
        </p:nvSpPr>
        <p:spPr>
          <a:xfrm rot="0" flipH="0" flipV="0">
            <a:off x="542925" y="3057525"/>
            <a:ext cx="5133975" cy="438150"/>
          </a:xfrm>
          <a:prstGeom prst="rect"/>
        </p:spPr>
        <p:txBody>
          <a:bodyPr wrap="square" lIns="0" tIns="0" rIns="0" bIns="0">
            <a:normAutofit/>
          </a:bodyPr>
          <a:p>
            <a:pPr>
              <a:lnSpc>
                <a:spcPct val="155000"/>
              </a:lnSpc>
            </a:pPr>
            <a:r>
              <a:rPr lang="en-US" sz="915">
                <a:solidFill>
                  <a:srgbClr val="4A5568"/>
                </a:solidFill>
                <a:latin typeface="Microsoft YaHei"/>
                <a:ea typeface="Microsoft YaHei"/>
              </a:rPr>
              <a:t>A brief is half a page: the goal in one sentence, the primary actor, and the one thing that can go wrong. Full specifications are Week 05.</a:t>
            </a:r>
            <a:endParaRPr/>
          </a:p>
        </p:txBody>
      </p:sp>
      <p:pic>
        <p:nvPicPr>
          <p:cNvPr id="706" name=""/>
          <p:cNvPicPr>
            <a:picLocks noChangeAspect="1"/>
          </p:cNvPicPr>
          <p:nvPr/>
        </p:nvPicPr>
        <p:blipFill>
          <a:blip>
            <a:extLst>
              <a:ext uri="{96DAC541-7B7A-43D3-8B79-37D633B846F1}">
                <asvg:svgBlip r:embed="rId2"/>
              </a:ext>
            </a:extLst>
          </a:blip>
          <a:stretch>
            <a:fillRect/>
          </a:stretch>
        </p:blipFill>
        <p:spPr>
          <a:xfrm rot="0" flipH="0" flipV="0">
            <a:off x="6381750" y="1276350"/>
            <a:ext cx="171450" cy="171450"/>
          </a:xfrm>
          <a:prstGeom prst="rect">
            <a:avLst/>
          </a:prstGeom>
          <a:ln/>
        </p:spPr>
      </p:pic>
      <p:sp>
        <p:nvSpPr>
          <p:cNvPr id="707" name="" descr="{&quot;isTemplate&quot;:true,&quot;type&quot;:&quot;text&quot;}"/>
          <p:cNvSpPr txBox="1"/>
          <p:nvPr/>
        </p:nvSpPr>
        <p:spPr>
          <a:xfrm rot="0" flipH="0" flipV="0">
            <a:off x="6638925" y="1266825"/>
            <a:ext cx="2905125" cy="190500"/>
          </a:xfrm>
          <a:prstGeom prst="rect"/>
        </p:spPr>
        <p:txBody>
          <a:bodyPr wrap="none" lIns="0" tIns="0" rIns="0" bIns="0"/>
          <a:p>
            <a:pPr>
              <a:lnSpc>
                <a:spcPct val="100000"/>
              </a:lnSpc>
            </a:pPr>
            <a:r>
              <a:rPr lang="en-US" sz="1238" b="1">
                <a:solidFill>
                  <a:srgbClr val="0E3F8C"/>
                </a:solidFill>
                <a:latin typeface="Microsoft YaHei"/>
                <a:ea typeface="Microsoft YaHei"/>
              </a:rPr>
              <a:t>Milestone M1 — due Sunday 4 October</a:t>
            </a:r>
            <a:endParaRPr/>
          </a:p>
        </p:txBody>
      </p:sp>
      <p:sp>
        <p:nvSpPr>
          <p:cNvPr id="708" name=""/>
          <p:cNvSpPr/>
          <p:nvPr/>
        </p:nvSpPr>
        <p:spPr>
          <a:xfrm rot="0" flipH="0" flipV="0">
            <a:off x="6410325" y="1571625"/>
            <a:ext cx="5429250" cy="485775"/>
          </a:xfrm>
          <a:prstGeom prst="roundRect">
            <a:avLst>
              <a:gd name="adj" fmla="val 15686"/>
            </a:avLst>
          </a:prstGeom>
          <a:solidFill>
            <a:srgbClr val="F0F5FC"/>
          </a:solidFill>
          <a:ln/>
        </p:spPr>
        <p:txBody>
          <a:bodyPr/>
          <a:p>
            <a:pPr/>
            <a:endParaRPr/>
          </a:p>
        </p:txBody>
      </p:sp>
      <p:sp>
        <p:nvSpPr>
          <p:cNvPr id="709" name=""/>
          <p:cNvSpPr/>
          <p:nvPr/>
        </p:nvSpPr>
        <p:spPr>
          <a:xfrm rot="0" flipH="0" flipV="0">
            <a:off x="6410325" y="1571625"/>
            <a:ext cx="5429250" cy="485775"/>
          </a:xfrm>
          <a:custGeom>
            <a:pathLst>
              <a:path w="570" h="51">
                <a:moveTo>
                  <a:pt x="8" y="0"/>
                </a:moveTo>
                <a:cubicBezTo>
                  <a:pt x="5" y="0"/>
                  <a:pt x="3" y="2"/>
                  <a:pt x="3" y="5"/>
                </a:cubicBezTo>
                <a:lnTo>
                  <a:pt x="3" y="46"/>
                </a:lnTo>
                <a:cubicBezTo>
                  <a:pt x="3" y="48"/>
                  <a:pt x="5" y="50"/>
                  <a:pt x="7" y="51"/>
                </a:cubicBezTo>
                <a:cubicBezTo>
                  <a:pt x="3" y="50"/>
                  <a:pt x="0" y="47"/>
                  <a:pt x="0" y="43"/>
                </a:cubicBezTo>
                <a:lnTo>
                  <a:pt x="0" y="8"/>
                </a:lnTo>
                <a:cubicBezTo>
                  <a:pt x="0" y="4"/>
                  <a:pt x="3" y="0"/>
                  <a:pt x="8" y="0"/>
                </a:cubicBezTo>
                <a:close/>
              </a:path>
            </a:pathLst>
          </a:custGeom>
          <a:solidFill>
            <a:srgbClr val="1E4FA8"/>
          </a:solidFill>
          <a:ln/>
        </p:spPr>
        <p:txBody>
          <a:bodyPr/>
          <a:p>
            <a:pPr/>
            <a:endParaRPr/>
          </a:p>
        </p:txBody>
      </p:sp>
      <p:sp>
        <p:nvSpPr>
          <p:cNvPr id="710" name="" descr="{&quot;isTemplate&quot;:true,&quot;type&quot;:&quot;text&quot;}"/>
          <p:cNvSpPr txBox="1"/>
          <p:nvPr/>
        </p:nvSpPr>
        <p:spPr>
          <a:xfrm rot="0" flipH="0" flipV="0">
            <a:off x="6553200" y="1695450"/>
            <a:ext cx="5114925" cy="238125"/>
          </a:xfrm>
          <a:prstGeom prst="rect"/>
        </p:spPr>
        <p:txBody>
          <a:bodyPr wrap="none" lIns="0" tIns="0" rIns="0" bIns="0"/>
          <a:p>
            <a:pPr>
              <a:lnSpc>
                <a:spcPct val="155000"/>
              </a:lnSpc>
            </a:pPr>
            <a:r>
              <a:rPr lang="en-US" sz="975">
                <a:solidFill>
                  <a:srgbClr val="1A2230"/>
                </a:solidFill>
                <a:latin typeface="Microsoft YaHei"/>
                <a:ea typeface="Microsoft YaHei"/>
              </a:rPr>
              <a:t>A requirements list: functional and non-functional, each testable</a:t>
            </a:r>
            <a:endParaRPr/>
          </a:p>
        </p:txBody>
      </p:sp>
      <p:sp>
        <p:nvSpPr>
          <p:cNvPr id="711" name=""/>
          <p:cNvSpPr/>
          <p:nvPr/>
        </p:nvSpPr>
        <p:spPr>
          <a:xfrm rot="0" flipH="0" flipV="0">
            <a:off x="6410325" y="2152650"/>
            <a:ext cx="5429250" cy="485775"/>
          </a:xfrm>
          <a:prstGeom prst="roundRect">
            <a:avLst>
              <a:gd name="adj" fmla="val 15686"/>
            </a:avLst>
          </a:prstGeom>
          <a:solidFill>
            <a:srgbClr val="F0F5FC"/>
          </a:solidFill>
          <a:ln/>
        </p:spPr>
        <p:txBody>
          <a:bodyPr/>
          <a:p>
            <a:pPr/>
            <a:endParaRPr/>
          </a:p>
        </p:txBody>
      </p:sp>
      <p:sp>
        <p:nvSpPr>
          <p:cNvPr id="712" name=""/>
          <p:cNvSpPr/>
          <p:nvPr/>
        </p:nvSpPr>
        <p:spPr>
          <a:xfrm rot="0" flipH="0" flipV="0">
            <a:off x="6410325" y="2152650"/>
            <a:ext cx="5429250" cy="485775"/>
          </a:xfrm>
          <a:custGeom>
            <a:pathLst>
              <a:path w="570" h="51">
                <a:moveTo>
                  <a:pt x="8" y="0"/>
                </a:moveTo>
                <a:cubicBezTo>
                  <a:pt x="5" y="0"/>
                  <a:pt x="3" y="2"/>
                  <a:pt x="3" y="5"/>
                </a:cubicBezTo>
                <a:lnTo>
                  <a:pt x="3" y="46"/>
                </a:lnTo>
                <a:cubicBezTo>
                  <a:pt x="3" y="48"/>
                  <a:pt x="5" y="50"/>
                  <a:pt x="7" y="51"/>
                </a:cubicBezTo>
                <a:cubicBezTo>
                  <a:pt x="3" y="50"/>
                  <a:pt x="0" y="47"/>
                  <a:pt x="0" y="43"/>
                </a:cubicBezTo>
                <a:lnTo>
                  <a:pt x="0" y="8"/>
                </a:lnTo>
                <a:cubicBezTo>
                  <a:pt x="0" y="4"/>
                  <a:pt x="3" y="0"/>
                  <a:pt x="8" y="0"/>
                </a:cubicBezTo>
                <a:close/>
              </a:path>
            </a:pathLst>
          </a:custGeom>
          <a:solidFill>
            <a:srgbClr val="1E4FA8"/>
          </a:solidFill>
          <a:ln/>
        </p:spPr>
        <p:txBody>
          <a:bodyPr/>
          <a:p>
            <a:pPr/>
            <a:endParaRPr/>
          </a:p>
        </p:txBody>
      </p:sp>
      <p:sp>
        <p:nvSpPr>
          <p:cNvPr id="713" name="" descr="{&quot;isTemplate&quot;:true,&quot;type&quot;:&quot;text&quot;}"/>
          <p:cNvSpPr txBox="1"/>
          <p:nvPr/>
        </p:nvSpPr>
        <p:spPr>
          <a:xfrm rot="0" flipH="0" flipV="0">
            <a:off x="6553200" y="2276475"/>
            <a:ext cx="5114925" cy="238125"/>
          </a:xfrm>
          <a:prstGeom prst="rect"/>
        </p:spPr>
        <p:txBody>
          <a:bodyPr wrap="none" lIns="0" tIns="0" rIns="0" bIns="0"/>
          <a:p>
            <a:pPr>
              <a:lnSpc>
                <a:spcPct val="155000"/>
              </a:lnSpc>
            </a:pPr>
            <a:r>
              <a:rPr lang="en-US" sz="975">
                <a:solidFill>
                  <a:srgbClr val="1A2230"/>
                </a:solidFill>
                <a:latin typeface="Microsoft YaHei"/>
                <a:ea typeface="Microsoft YaHei"/>
              </a:rPr>
              <a:t>The use case diagram — source file, PNG, and one sentence per dashed arrow</a:t>
            </a:r>
            <a:endParaRPr/>
          </a:p>
        </p:txBody>
      </p:sp>
      <p:sp>
        <p:nvSpPr>
          <p:cNvPr id="714" name=""/>
          <p:cNvSpPr/>
          <p:nvPr/>
        </p:nvSpPr>
        <p:spPr>
          <a:xfrm rot="0" flipH="0" flipV="0">
            <a:off x="6410325" y="2733675"/>
            <a:ext cx="5429250" cy="485775"/>
          </a:xfrm>
          <a:prstGeom prst="roundRect">
            <a:avLst>
              <a:gd name="adj" fmla="val 15686"/>
            </a:avLst>
          </a:prstGeom>
          <a:solidFill>
            <a:srgbClr val="F0F5FC"/>
          </a:solidFill>
          <a:ln/>
        </p:spPr>
        <p:txBody>
          <a:bodyPr/>
          <a:p>
            <a:pPr/>
            <a:endParaRPr/>
          </a:p>
        </p:txBody>
      </p:sp>
      <p:sp>
        <p:nvSpPr>
          <p:cNvPr id="715" name=""/>
          <p:cNvSpPr/>
          <p:nvPr/>
        </p:nvSpPr>
        <p:spPr>
          <a:xfrm rot="0" flipH="0" flipV="0">
            <a:off x="6410325" y="2733675"/>
            <a:ext cx="5429250" cy="485775"/>
          </a:xfrm>
          <a:custGeom>
            <a:pathLst>
              <a:path w="570" h="51">
                <a:moveTo>
                  <a:pt x="8" y="0"/>
                </a:moveTo>
                <a:cubicBezTo>
                  <a:pt x="5" y="0"/>
                  <a:pt x="3" y="2"/>
                  <a:pt x="3" y="5"/>
                </a:cubicBezTo>
                <a:lnTo>
                  <a:pt x="3" y="46"/>
                </a:lnTo>
                <a:cubicBezTo>
                  <a:pt x="3" y="48"/>
                  <a:pt x="5" y="50"/>
                  <a:pt x="7" y="51"/>
                </a:cubicBezTo>
                <a:cubicBezTo>
                  <a:pt x="3" y="50"/>
                  <a:pt x="0" y="47"/>
                  <a:pt x="0" y="43"/>
                </a:cubicBezTo>
                <a:lnTo>
                  <a:pt x="0" y="8"/>
                </a:lnTo>
                <a:cubicBezTo>
                  <a:pt x="0" y="4"/>
                  <a:pt x="3" y="0"/>
                  <a:pt x="8" y="0"/>
                </a:cubicBezTo>
                <a:close/>
              </a:path>
            </a:pathLst>
          </a:custGeom>
          <a:solidFill>
            <a:srgbClr val="1E4FA8"/>
          </a:solidFill>
          <a:ln/>
        </p:spPr>
        <p:txBody>
          <a:bodyPr/>
          <a:p>
            <a:pPr/>
            <a:endParaRPr/>
          </a:p>
        </p:txBody>
      </p:sp>
      <p:sp>
        <p:nvSpPr>
          <p:cNvPr id="716" name="" descr="{&quot;isTemplate&quot;:true,&quot;type&quot;:&quot;text&quot;}"/>
          <p:cNvSpPr txBox="1"/>
          <p:nvPr/>
        </p:nvSpPr>
        <p:spPr>
          <a:xfrm rot="0" flipH="0" flipV="0">
            <a:off x="6553200" y="2857500"/>
            <a:ext cx="5114925" cy="238125"/>
          </a:xfrm>
          <a:prstGeom prst="rect"/>
        </p:spPr>
        <p:txBody>
          <a:bodyPr wrap="none" lIns="0" tIns="0" rIns="0" bIns="0"/>
          <a:p>
            <a:pPr>
              <a:lnSpc>
                <a:spcPct val="155000"/>
              </a:lnSpc>
            </a:pPr>
            <a:r>
              <a:rPr lang="en-US" sz="975">
                <a:solidFill>
                  <a:srgbClr val="1A2230"/>
                </a:solidFill>
                <a:latin typeface="Microsoft YaHei"/>
                <a:ea typeface="Microsoft YaHei"/>
              </a:rPr>
              <a:t>Two use case briefs, written in your own words</a:t>
            </a:r>
            <a:endParaRPr/>
          </a:p>
        </p:txBody>
      </p:sp>
      <p:pic>
        <p:nvPicPr>
          <p:cNvPr id="717" name=""/>
          <p:cNvPicPr>
            <a:picLocks noChangeAspect="1"/>
          </p:cNvPicPr>
          <p:nvPr/>
        </p:nvPicPr>
        <p:blipFill>
          <a:blip>
            <a:extLst>
              <a:ext uri="{96DAC541-7B7A-43D3-8B79-37D633B846F1}">
                <asvg:svgBlip r:embed="rId3"/>
              </a:ext>
            </a:extLst>
          </a:blip>
          <a:stretch>
            <a:fillRect/>
          </a:stretch>
        </p:blipFill>
        <p:spPr>
          <a:xfrm rot="0" flipH="0" flipV="0">
            <a:off x="6381750" y="3390900"/>
            <a:ext cx="161925" cy="161925"/>
          </a:xfrm>
          <a:prstGeom prst="rect">
            <a:avLst/>
          </a:prstGeom>
          <a:ln/>
        </p:spPr>
      </p:pic>
      <p:sp>
        <p:nvSpPr>
          <p:cNvPr id="718" name="" descr="{&quot;isTemplate&quot;:true,&quot;type&quot;:&quot;text&quot;}"/>
          <p:cNvSpPr txBox="1"/>
          <p:nvPr/>
        </p:nvSpPr>
        <p:spPr>
          <a:xfrm rot="0" flipH="0" flipV="0">
            <a:off x="6629400" y="3371850"/>
            <a:ext cx="1447800" cy="190500"/>
          </a:xfrm>
          <a:prstGeom prst="rect"/>
        </p:spPr>
        <p:txBody>
          <a:bodyPr wrap="none" lIns="0" tIns="0" rIns="0" bIns="0"/>
          <a:p>
            <a:pPr>
              <a:lnSpc>
                <a:spcPct val="100000"/>
              </a:lnSpc>
            </a:pPr>
            <a:r>
              <a:rPr lang="en-US" sz="1238" b="1">
                <a:solidFill>
                  <a:srgbClr val="D9534F"/>
                </a:solidFill>
                <a:latin typeface="Microsoft YaHei"/>
                <a:ea typeface="Microsoft YaHei"/>
              </a:rPr>
              <a:t>How it is submitted</a:t>
            </a:r>
            <a:endParaRPr/>
          </a:p>
        </p:txBody>
      </p:sp>
      <p:sp>
        <p:nvSpPr>
          <p:cNvPr id="719" name=""/>
          <p:cNvSpPr/>
          <p:nvPr/>
        </p:nvSpPr>
        <p:spPr>
          <a:xfrm rot="0" flipH="0" flipV="0">
            <a:off x="6381750" y="3676650"/>
            <a:ext cx="5429250" cy="1276350"/>
          </a:xfrm>
          <a:prstGeom prst="roundRect">
            <a:avLst>
              <a:gd name="adj" fmla="val 6716"/>
            </a:avLst>
          </a:prstGeom>
          <a:solidFill>
            <a:srgbClr val="FDF3F3"/>
          </a:solidFill>
          <a:ln w="12700">
            <a:solidFill>
              <a:srgbClr val="D9534F"/>
            </a:solidFill>
            <a:prstDash val="solid"/>
          </a:ln>
        </p:spPr>
        <p:txBody>
          <a:bodyPr/>
          <a:p>
            <a:pPr/>
            <a:endParaRPr/>
          </a:p>
        </p:txBody>
      </p:sp>
      <p:sp>
        <p:nvSpPr>
          <p:cNvPr id="720" name="" descr="{&quot;isTemplate&quot;:true,&quot;type&quot;:&quot;text&quot;}"/>
          <p:cNvSpPr txBox="1"/>
          <p:nvPr/>
        </p:nvSpPr>
        <p:spPr>
          <a:xfrm rot="0" flipH="0" flipV="0">
            <a:off x="6534150" y="3810000"/>
            <a:ext cx="5124450" cy="476250"/>
          </a:xfrm>
          <a:prstGeom prst="rect"/>
        </p:spPr>
        <p:txBody>
          <a:bodyPr wrap="square" lIns="0" tIns="0" rIns="0" bIns="0">
            <a:normAutofit/>
          </a:bodyPr>
          <a:p>
            <a:pPr>
              <a:lnSpc>
                <a:spcPct val="160000"/>
              </a:lnSpc>
            </a:pPr>
            <a:r>
              <a:rPr lang="en-US" sz="975">
                <a:solidFill>
                  <a:srgbClr val="1A2230"/>
                </a:solidFill>
                <a:latin typeface="Microsoft YaHei"/>
                <a:ea typeface="Microsoft YaHei"/>
              </a:rPr>
              <a:t>Push to GitHub, then tag it </a:t>
            </a:r>
            <a:r>
              <a:rPr lang="en-US" sz="975">
                <a:solidFill>
                  <a:srgbClr val="1A2230"/>
                </a:solidFill>
                <a:latin typeface="Microsoft YaHei"/>
                <a:ea typeface="Microsoft YaHei"/>
              </a:rPr>
              <a:t>m1</a:t>
            </a:r>
            <a:r>
              <a:rPr lang="en-US" sz="975">
                <a:solidFill>
                  <a:srgbClr val="1A2230"/>
                </a:solidFill>
                <a:latin typeface="Microsoft YaHei"/>
                <a:ea typeface="Microsoft YaHei"/>
              </a:rPr>
              <a:t>. A push without a tag is not a submission — the tag is the snapshot that gets graded.</a:t>
            </a:r>
            <a:endParaRPr/>
          </a:p>
        </p:txBody>
      </p:sp>
      <p:sp>
        <p:nvSpPr>
          <p:cNvPr id="721" name="" descr="{&quot;isTemplate&quot;:true,&quot;type&quot;:&quot;text&quot;}"/>
          <p:cNvSpPr txBox="1"/>
          <p:nvPr/>
        </p:nvSpPr>
        <p:spPr>
          <a:xfrm rot="0" flipH="0" flipV="0">
            <a:off x="6534150" y="4343400"/>
            <a:ext cx="5124450" cy="219075"/>
          </a:xfrm>
          <a:prstGeom prst="rect"/>
        </p:spPr>
        <p:txBody>
          <a:bodyPr wrap="none" lIns="0" tIns="0" rIns="0" bIns="0"/>
          <a:p>
            <a:pPr>
              <a:lnSpc>
                <a:spcPct val="155000"/>
              </a:lnSpc>
            </a:pPr>
            <a:r>
              <a:rPr lang="en-US" sz="900">
                <a:solidFill>
                  <a:srgbClr val="8B97A8"/>
                </a:solidFill>
                <a:latin typeface="Microsoft YaHei"/>
                <a:ea typeface="Microsoft YaHei"/>
              </a:rPr>
              <a:t>git tag -a m1 -m "M1: requirements, use case diagram, two briefs" &amp;&amp; git push origin m1</a:t>
            </a:r>
            <a:endParaRPr/>
          </a:p>
        </p:txBody>
      </p:sp>
      <p:sp>
        <p:nvSpPr>
          <p:cNvPr id="722" name="" descr="{&quot;isTemplate&quot;:true,&quot;type&quot;:&quot;text&quot;}"/>
          <p:cNvSpPr txBox="1"/>
          <p:nvPr/>
        </p:nvSpPr>
        <p:spPr>
          <a:xfrm rot="0" flipH="0" flipV="0">
            <a:off x="6534150" y="4600575"/>
            <a:ext cx="5124450" cy="219075"/>
          </a:xfrm>
          <a:prstGeom prst="rect"/>
        </p:spPr>
        <p:txBody>
          <a:bodyPr wrap="none" lIns="0" tIns="0" rIns="0" bIns="0"/>
          <a:p>
            <a:pPr>
              <a:lnSpc>
                <a:spcPct val="155000"/>
              </a:lnSpc>
            </a:pPr>
            <a:r>
              <a:rPr lang="en-US" sz="900">
                <a:solidFill>
                  <a:srgbClr val="8B97A8"/>
                </a:solidFill>
                <a:latin typeface="Microsoft YaHei"/>
                <a:ea typeface="Microsoft YaHei"/>
              </a:rPr>
              <a:t>Check it landed: git ls-remote --tags origin</a:t>
            </a:r>
            <a:endParaRPr/>
          </a:p>
        </p:txBody>
      </p:sp>
      <p:sp>
        <p:nvSpPr>
          <p:cNvPr id="723" name=""/>
          <p:cNvSpPr/>
          <p:nvPr/>
        </p:nvSpPr>
        <p:spPr>
          <a:xfrm rot="0" flipH="0" flipV="0">
            <a:off x="0" y="6419850"/>
            <a:ext cx="12192000" cy="438150"/>
          </a:xfrm>
          <a:prstGeom prst="rect">
            <a:avLst/>
          </a:prstGeom>
          <a:solidFill>
            <a:srgbClr val="0E3F8C"/>
          </a:solidFill>
          <a:ln/>
        </p:spPr>
        <p:txBody>
          <a:bodyPr/>
          <a:p>
            <a:pPr/>
            <a:endParaRPr/>
          </a:p>
        </p:txBody>
      </p:sp>
      <p:sp>
        <p:nvSpPr>
          <p:cNvPr id="724" name="" descr="{&quot;isTemplate&quot;:true,&quot;type&quot;:&quot;text&quot;}"/>
          <p:cNvSpPr txBox="1"/>
          <p:nvPr/>
        </p:nvSpPr>
        <p:spPr>
          <a:xfrm rot="0" flipH="0" flipV="0">
            <a:off x="2247900" y="6543675"/>
            <a:ext cx="7696200" cy="190500"/>
          </a:xfrm>
          <a:prstGeom prst="rect"/>
        </p:spPr>
        <p:txBody>
          <a:bodyPr wrap="none" lIns="0" tIns="0" rIns="0" bIns="0"/>
          <a:p>
            <a:pPr>
              <a:lnSpc>
                <a:spcPct val="100000"/>
              </a:lnSpc>
            </a:pPr>
            <a:r>
              <a:rPr lang="en-US" sz="1200" b="1">
                <a:solidFill>
                  <a:srgbClr val="FFFFFF"/>
                </a:solidFill>
                <a:latin typeface="Microsoft YaHei"/>
                <a:ea typeface="Microsoft YaHei"/>
              </a:rPr>
              <a:t>M1 closes on Sunday 4 October. The diagram is due next week; the briefs and the requirements list follow.</a:t>
            </a:r>
            <a:endParaRPr/>
          </a:p>
        </p:txBody>
      </p:sp>
    </p:spTree>
  </p:cSld>
</p:sld>
</file>

<file path=ppt/slides/slide38.xml><?xml version="1.0" encoding="utf-8"?>
<p:sld xmlns:a="http://schemas.openxmlformats.org/drawingml/2006/main" xmlns:p="http://schemas.openxmlformats.org/presentationml/2006/main">
  <p:cSld>
    <p:spTree>
      <p:nvGrpSpPr>
        <p:cNvPr id="725" name=""/>
        <p:cNvGrpSpPr/>
        <p:nvPr/>
      </p:nvGrpSpPr>
      <p:grpSpPr>
        <a:xfrm>
          <a:off x="0" y="0"/>
          <a:ext cx="0" cy="0"/>
          <a:chOff x="0" y="0"/>
          <a:chExt cx="0" cy="0"/>
        </a:xfrm>
      </p:grpSpPr>
      <p:sp>
        <p:nvSpPr>
          <p:cNvPr id="726" name=""/>
          <p:cNvSpPr/>
          <p:nvPr/>
        </p:nvSpPr>
        <p:spPr>
          <a:xfrm rot="0" flipH="0" flipV="0">
            <a:off x="0" y="0"/>
            <a:ext cx="12192000" cy="6858000"/>
          </a:xfrm>
          <a:prstGeom prst="rect">
            <a:avLst/>
          </a:prstGeom>
          <a:solidFill>
            <a:srgbClr val="0E3F8C"/>
          </a:solidFill>
          <a:ln/>
        </p:spPr>
        <p:txBody>
          <a:bodyPr/>
          <a:p>
            <a:pPr/>
            <a:endParaRPr/>
          </a:p>
        </p:txBody>
      </p:sp>
      <p:sp>
        <p:nvSpPr>
          <p:cNvPr id="727" name="" descr="{&quot;isTemplate&quot;:true,&quot;type&quot;:&quot;text&quot;}"/>
          <p:cNvSpPr txBox="1"/>
          <p:nvPr/>
        </p:nvSpPr>
        <p:spPr>
          <a:xfrm rot="0" flipH="0" flipV="0">
            <a:off x="762000" y="1581150"/>
            <a:ext cx="10668000" cy="171450"/>
          </a:xfrm>
          <a:prstGeom prst="rect"/>
        </p:spPr>
        <p:txBody>
          <a:bodyPr wrap="none" lIns="0" tIns="0" rIns="0" bIns="0"/>
          <a:p>
            <a:pPr>
              <a:lnSpc>
                <a:spcPct val="100000"/>
              </a:lnSpc>
            </a:pPr>
            <a:r>
              <a:rPr lang="en-US" sz="1125" spc="150">
                <a:solidFill>
                  <a:srgbClr val="7FA2D6"/>
                </a:solidFill>
                <a:latin typeface="Microsoft YaHei"/>
                <a:ea typeface="Microsoft YaHei"/>
              </a:rPr>
              <a:t>WEEK 04 · WHAT YOU TAKE AWAY</a:t>
            </a:r>
            <a:endParaRPr/>
          </a:p>
        </p:txBody>
      </p:sp>
      <p:sp>
        <p:nvSpPr>
          <p:cNvPr id="728" name="" descr="{&quot;isTemplate&quot;:true,&quot;type&quot;:&quot;text&quot;}"/>
          <p:cNvSpPr txBox="1"/>
          <p:nvPr/>
        </p:nvSpPr>
        <p:spPr>
          <a:xfrm rot="0" flipH="0" flipV="0">
            <a:off x="762000" y="1905000"/>
            <a:ext cx="10668000" cy="1162050"/>
          </a:xfrm>
          <a:prstGeom prst="rect"/>
        </p:spPr>
        <p:txBody>
          <a:bodyPr wrap="none" lIns="0" tIns="0" rIns="0" bIns="0"/>
          <a:p>
            <a:pPr>
              <a:lnSpc>
                <a:spcPct val="114999"/>
              </a:lnSpc>
            </a:pPr>
            <a:r>
              <a:rPr lang="en-US" sz="3300" b="1">
                <a:solidFill>
                  <a:srgbClr val="FFFFFF"/>
                </a:solidFill>
                <a:latin typeface="Georgia"/>
                <a:ea typeface="Georgia"/>
              </a:rPr>
              <a:t>Goals first.</a:t>
            </a:r>
            <a:endParaRPr/>
          </a:p>
          <a:p>
            <a:pPr>
              <a:lnSpc>
                <a:spcPct val="114999"/>
              </a:lnSpc>
            </a:pPr>
            <a:r>
              <a:rPr lang="en-US" sz="3300" b="1">
                <a:solidFill>
                  <a:srgbClr val="FFFFFF"/>
                </a:solidFill>
                <a:latin typeface="Georgia"/>
                <a:ea typeface="Georgia"/>
              </a:rPr>
              <a:t>Notation second.</a:t>
            </a:r>
            <a:endParaRPr/>
          </a:p>
        </p:txBody>
      </p:sp>
      <p:sp>
        <p:nvSpPr>
          <p:cNvPr id="729" name=""/>
          <p:cNvSpPr/>
          <p:nvPr/>
        </p:nvSpPr>
        <p:spPr>
          <a:xfrm rot="0" flipH="0" flipV="0">
            <a:off x="762000" y="3295650"/>
            <a:ext cx="838200" cy="47625"/>
          </a:xfrm>
          <a:prstGeom prst="rect">
            <a:avLst/>
          </a:prstGeom>
          <a:solidFill>
            <a:srgbClr val="FFC107"/>
          </a:solidFill>
          <a:ln/>
        </p:spPr>
        <p:txBody>
          <a:bodyPr/>
          <a:p>
            <a:pPr/>
            <a:endParaRPr/>
          </a:p>
        </p:txBody>
      </p:sp>
      <p:sp>
        <p:nvSpPr>
          <p:cNvPr id="730" name=""/>
          <p:cNvSpPr/>
          <p:nvPr/>
        </p:nvSpPr>
        <p:spPr>
          <a:xfrm rot="0" flipH="0" flipV="0">
            <a:off x="762000" y="3648075"/>
            <a:ext cx="66675" cy="66675"/>
          </a:xfrm>
          <a:prstGeom prst="roundRect">
            <a:avLst>
              <a:gd name="adj" fmla="val 57143"/>
            </a:avLst>
          </a:prstGeom>
          <a:solidFill>
            <a:srgbClr val="3D7BD9"/>
          </a:solidFill>
          <a:ln/>
        </p:spPr>
        <p:txBody>
          <a:bodyPr/>
          <a:p>
            <a:pPr/>
            <a:endParaRPr/>
          </a:p>
        </p:txBody>
      </p:sp>
      <p:sp>
        <p:nvSpPr>
          <p:cNvPr id="731" name="" descr="{&quot;isTemplate&quot;:true,&quot;type&quot;:&quot;text&quot;}"/>
          <p:cNvSpPr txBox="1"/>
          <p:nvPr/>
        </p:nvSpPr>
        <p:spPr>
          <a:xfrm rot="0" flipH="0" flipV="0">
            <a:off x="923925" y="3590925"/>
            <a:ext cx="3638550" cy="180975"/>
          </a:xfrm>
          <a:prstGeom prst="rect"/>
        </p:spPr>
        <p:txBody>
          <a:bodyPr wrap="none" lIns="0" tIns="0" rIns="0" bIns="0"/>
          <a:p>
            <a:pPr>
              <a:lnSpc>
                <a:spcPct val="100000"/>
              </a:lnSpc>
            </a:pPr>
            <a:r>
              <a:rPr lang="en-US" sz="1163">
                <a:solidFill>
                  <a:srgbClr val="C5D4EA"/>
                </a:solidFill>
                <a:latin typeface="Microsoft YaHei"/>
                <a:ea typeface="Microsoft YaHei"/>
              </a:rPr>
              <a:t>01 · Functional says what, non-functional says how well</a:t>
            </a:r>
            <a:endParaRPr/>
          </a:p>
        </p:txBody>
      </p:sp>
      <p:sp>
        <p:nvSpPr>
          <p:cNvPr id="732" name=""/>
          <p:cNvSpPr/>
          <p:nvPr/>
        </p:nvSpPr>
        <p:spPr>
          <a:xfrm rot="0" flipH="0" flipV="0">
            <a:off x="6000750" y="3648075"/>
            <a:ext cx="66675" cy="66675"/>
          </a:xfrm>
          <a:prstGeom prst="roundRect">
            <a:avLst>
              <a:gd name="adj" fmla="val 57143"/>
            </a:avLst>
          </a:prstGeom>
          <a:solidFill>
            <a:srgbClr val="3D7BD9"/>
          </a:solidFill>
          <a:ln/>
        </p:spPr>
        <p:txBody>
          <a:bodyPr/>
          <a:p>
            <a:pPr/>
            <a:endParaRPr/>
          </a:p>
        </p:txBody>
      </p:sp>
      <p:sp>
        <p:nvSpPr>
          <p:cNvPr id="733" name="" descr="{&quot;isTemplate&quot;:true,&quot;type&quot;:&quot;text&quot;}"/>
          <p:cNvSpPr txBox="1"/>
          <p:nvPr/>
        </p:nvSpPr>
        <p:spPr>
          <a:xfrm rot="0" flipH="0" flipV="0">
            <a:off x="6162675" y="3590925"/>
            <a:ext cx="2790825" cy="180975"/>
          </a:xfrm>
          <a:prstGeom prst="rect"/>
        </p:spPr>
        <p:txBody>
          <a:bodyPr wrap="none" lIns="0" tIns="0" rIns="0" bIns="0"/>
          <a:p>
            <a:pPr>
              <a:lnSpc>
                <a:spcPct val="100000"/>
              </a:lnSpc>
            </a:pPr>
            <a:r>
              <a:rPr lang="en-US" sz="1163">
                <a:solidFill>
                  <a:srgbClr val="C5D4EA"/>
                </a:solidFill>
                <a:latin typeface="Microsoft YaHei"/>
                <a:ea typeface="Microsoft YaHei"/>
              </a:rPr>
              <a:t>02 · An actor is a role; a use case is a goal</a:t>
            </a:r>
            <a:endParaRPr/>
          </a:p>
        </p:txBody>
      </p:sp>
      <p:sp>
        <p:nvSpPr>
          <p:cNvPr id="734" name=""/>
          <p:cNvSpPr/>
          <p:nvPr/>
        </p:nvSpPr>
        <p:spPr>
          <a:xfrm rot="0" flipH="0" flipV="0">
            <a:off x="762000" y="3943350"/>
            <a:ext cx="66675" cy="66675"/>
          </a:xfrm>
          <a:prstGeom prst="roundRect">
            <a:avLst>
              <a:gd name="adj" fmla="val 57143"/>
            </a:avLst>
          </a:prstGeom>
          <a:solidFill>
            <a:srgbClr val="3D7BD9"/>
          </a:solidFill>
          <a:ln/>
        </p:spPr>
        <p:txBody>
          <a:bodyPr/>
          <a:p>
            <a:pPr/>
            <a:endParaRPr/>
          </a:p>
        </p:txBody>
      </p:sp>
      <p:sp>
        <p:nvSpPr>
          <p:cNvPr id="735" name="" descr="{&quot;isTemplate&quot;:true,&quot;type&quot;:&quot;text&quot;}"/>
          <p:cNvSpPr txBox="1"/>
          <p:nvPr/>
        </p:nvSpPr>
        <p:spPr>
          <a:xfrm rot="0" flipH="0" flipV="0">
            <a:off x="923925" y="3886200"/>
            <a:ext cx="3286125" cy="180975"/>
          </a:xfrm>
          <a:prstGeom prst="rect"/>
        </p:spPr>
        <p:txBody>
          <a:bodyPr wrap="none" lIns="0" tIns="0" rIns="0" bIns="0"/>
          <a:p>
            <a:pPr>
              <a:lnSpc>
                <a:spcPct val="100000"/>
              </a:lnSpc>
            </a:pPr>
            <a:r>
              <a:rPr lang="en-US" sz="1163">
                <a:solidFill>
                  <a:srgbClr val="C5D4EA"/>
                </a:solidFill>
                <a:latin typeface="Microsoft YaHei"/>
                <a:ea typeface="Microsoft YaHei"/>
              </a:rPr>
              <a:t>03 · Six symbols, and the boundary is one of them</a:t>
            </a:r>
            <a:endParaRPr/>
          </a:p>
        </p:txBody>
      </p:sp>
      <p:sp>
        <p:nvSpPr>
          <p:cNvPr id="736" name=""/>
          <p:cNvSpPr/>
          <p:nvPr/>
        </p:nvSpPr>
        <p:spPr>
          <a:xfrm rot="0" flipH="0" flipV="0">
            <a:off x="6000750" y="3943350"/>
            <a:ext cx="66675" cy="66675"/>
          </a:xfrm>
          <a:prstGeom prst="roundRect">
            <a:avLst>
              <a:gd name="adj" fmla="val 57143"/>
            </a:avLst>
          </a:prstGeom>
          <a:solidFill>
            <a:srgbClr val="3D7BD9"/>
          </a:solidFill>
          <a:ln/>
        </p:spPr>
        <p:txBody>
          <a:bodyPr/>
          <a:p>
            <a:pPr/>
            <a:endParaRPr/>
          </a:p>
        </p:txBody>
      </p:sp>
      <p:sp>
        <p:nvSpPr>
          <p:cNvPr id="737" name="" descr="{&quot;isTemplate&quot;:true,&quot;type&quot;:&quot;text&quot;}"/>
          <p:cNvSpPr txBox="1"/>
          <p:nvPr/>
        </p:nvSpPr>
        <p:spPr>
          <a:xfrm rot="0" flipH="0" flipV="0">
            <a:off x="6162675" y="3886200"/>
            <a:ext cx="3000375" cy="180975"/>
          </a:xfrm>
          <a:prstGeom prst="rect"/>
        </p:spPr>
        <p:txBody>
          <a:bodyPr wrap="none" lIns="0" tIns="0" rIns="0" bIns="0"/>
          <a:p>
            <a:pPr>
              <a:lnSpc>
                <a:spcPct val="100000"/>
              </a:lnSpc>
            </a:pPr>
            <a:r>
              <a:rPr lang="en-US" sz="1163">
                <a:solidFill>
                  <a:srgbClr val="C5D4EA"/>
                </a:solidFill>
                <a:latin typeface="Microsoft YaHei"/>
                <a:ea typeface="Microsoft YaHei"/>
              </a:rPr>
              <a:t>04 · include is inevitable, extend is conditional</a:t>
            </a:r>
            <a:endParaRPr/>
          </a:p>
        </p:txBody>
      </p:sp>
      <p:sp>
        <p:nvSpPr>
          <p:cNvPr id="738" name=""/>
          <p:cNvSpPr/>
          <p:nvPr/>
        </p:nvSpPr>
        <p:spPr>
          <a:xfrm rot="0" flipH="0" flipV="0">
            <a:off x="762000" y="4238625"/>
            <a:ext cx="66675" cy="66675"/>
          </a:xfrm>
          <a:prstGeom prst="roundRect">
            <a:avLst>
              <a:gd name="adj" fmla="val 57143"/>
            </a:avLst>
          </a:prstGeom>
          <a:solidFill>
            <a:srgbClr val="3D7BD9"/>
          </a:solidFill>
          <a:ln/>
        </p:spPr>
        <p:txBody>
          <a:bodyPr/>
          <a:p>
            <a:pPr/>
            <a:endParaRPr/>
          </a:p>
        </p:txBody>
      </p:sp>
      <p:sp>
        <p:nvSpPr>
          <p:cNvPr id="739" name="" descr="{&quot;isTemplate&quot;:true,&quot;type&quot;:&quot;text&quot;}"/>
          <p:cNvSpPr txBox="1"/>
          <p:nvPr/>
        </p:nvSpPr>
        <p:spPr>
          <a:xfrm rot="0" flipH="0" flipV="0">
            <a:off x="923925" y="4181475"/>
            <a:ext cx="3267075" cy="180975"/>
          </a:xfrm>
          <a:prstGeom prst="rect"/>
        </p:spPr>
        <p:txBody>
          <a:bodyPr wrap="none" lIns="0" tIns="0" rIns="0" bIns="0"/>
          <a:p>
            <a:pPr>
              <a:lnSpc>
                <a:spcPct val="100000"/>
              </a:lnSpc>
            </a:pPr>
            <a:r>
              <a:rPr lang="en-US" sz="1163">
                <a:solidFill>
                  <a:srgbClr val="C5D4EA"/>
                </a:solidFill>
                <a:latin typeface="Microsoft YaHei"/>
                <a:ea typeface="Microsoft YaHei"/>
              </a:rPr>
              <a:t>05 · Events and the noun-verb scan find the goals</a:t>
            </a:r>
            <a:endParaRPr/>
          </a:p>
        </p:txBody>
      </p:sp>
      <p:sp>
        <p:nvSpPr>
          <p:cNvPr id="740" name=""/>
          <p:cNvSpPr/>
          <p:nvPr/>
        </p:nvSpPr>
        <p:spPr>
          <a:xfrm rot="0" flipH="0" flipV="0">
            <a:off x="6000750" y="4238625"/>
            <a:ext cx="66675" cy="66675"/>
          </a:xfrm>
          <a:prstGeom prst="roundRect">
            <a:avLst>
              <a:gd name="adj" fmla="val 57143"/>
            </a:avLst>
          </a:prstGeom>
          <a:solidFill>
            <a:srgbClr val="3D7BD9"/>
          </a:solidFill>
          <a:ln/>
        </p:spPr>
        <p:txBody>
          <a:bodyPr/>
          <a:p>
            <a:pPr/>
            <a:endParaRPr/>
          </a:p>
        </p:txBody>
      </p:sp>
      <p:sp>
        <p:nvSpPr>
          <p:cNvPr id="741" name="" descr="{&quot;isTemplate&quot;:true,&quot;type&quot;:&quot;text&quot;}"/>
          <p:cNvSpPr txBox="1"/>
          <p:nvPr/>
        </p:nvSpPr>
        <p:spPr>
          <a:xfrm rot="0" flipH="0" flipV="0">
            <a:off x="6162675" y="4181475"/>
            <a:ext cx="3124200" cy="180975"/>
          </a:xfrm>
          <a:prstGeom prst="rect"/>
        </p:spPr>
        <p:txBody>
          <a:bodyPr wrap="none" lIns="0" tIns="0" rIns="0" bIns="0"/>
          <a:p>
            <a:pPr>
              <a:lnSpc>
                <a:spcPct val="100000"/>
              </a:lnSpc>
            </a:pPr>
            <a:r>
              <a:rPr lang="en-US" sz="1163">
                <a:solidFill>
                  <a:srgbClr val="C5D4EA"/>
                </a:solidFill>
                <a:latin typeface="Microsoft YaHei"/>
                <a:ea typeface="Microsoft YaHei"/>
              </a:rPr>
              <a:t>06 · M1 opened today — tag it m1 by 4 October</a:t>
            </a:r>
            <a:endParaRPr/>
          </a:p>
        </p:txBody>
      </p:sp>
      <p:sp>
        <p:nvSpPr>
          <p:cNvPr id="742" name=""/>
          <p:cNvSpPr/>
          <p:nvPr/>
        </p:nvSpPr>
        <p:spPr>
          <a:xfrm rot="0" flipH="0" flipV="0">
            <a:off x="762000" y="4648200"/>
            <a:ext cx="10668000" cy="647700"/>
          </a:xfrm>
          <a:custGeom>
            <a:pathLst>
              <a:path w="1120" h="68">
                <a:moveTo>
                  <a:pt x="0" y="0"/>
                </a:moveTo>
                <a:lnTo>
                  <a:pt x="1120" y="0"/>
                </a:lnTo>
                <a:lnTo>
                  <a:pt x="1120" y="1"/>
                </a:lnTo>
                <a:lnTo>
                  <a:pt x="0" y="1"/>
                </a:lnTo>
                <a:close/>
              </a:path>
            </a:pathLst>
          </a:custGeom>
          <a:solidFill>
            <a:srgbClr val="2B5793"/>
          </a:solidFill>
          <a:ln/>
        </p:spPr>
        <p:txBody>
          <a:bodyPr/>
          <a:p>
            <a:pPr/>
            <a:endParaRPr/>
          </a:p>
        </p:txBody>
      </p:sp>
      <p:sp>
        <p:nvSpPr>
          <p:cNvPr id="743" name="" descr="{&quot;isTemplate&quot;:true,&quot;type&quot;:&quot;text&quot;}"/>
          <p:cNvSpPr txBox="1"/>
          <p:nvPr/>
        </p:nvSpPr>
        <p:spPr>
          <a:xfrm rot="0" flipH="0" flipV="0">
            <a:off x="762000" y="4848225"/>
            <a:ext cx="9458325" cy="161925"/>
          </a:xfrm>
          <a:prstGeom prst="rect"/>
        </p:spPr>
        <p:txBody>
          <a:bodyPr wrap="none" lIns="0" tIns="0" rIns="0" bIns="0"/>
          <a:p>
            <a:pPr>
              <a:lnSpc>
                <a:spcPct val="100000"/>
              </a:lnSpc>
            </a:pPr>
            <a:r>
              <a:rPr lang="en-US" sz="1050" spc="75">
                <a:solidFill>
                  <a:srgbClr val="7FA2D6"/>
                </a:solidFill>
                <a:latin typeface="Microsoft YaHei"/>
                <a:ea typeface="Microsoft YaHei"/>
              </a:rPr>
              <a:t>NEXT WEEK — W05</a:t>
            </a:r>
            <a:endParaRPr/>
          </a:p>
        </p:txBody>
      </p:sp>
      <p:sp>
        <p:nvSpPr>
          <p:cNvPr id="744" name="" descr="{&quot;isTemplate&quot;:true,&quot;type&quot;:&quot;text&quot;}"/>
          <p:cNvSpPr txBox="1"/>
          <p:nvPr/>
        </p:nvSpPr>
        <p:spPr>
          <a:xfrm rot="0" flipH="0" flipV="0">
            <a:off x="762000" y="5067300"/>
            <a:ext cx="9458325" cy="219075"/>
          </a:xfrm>
          <a:prstGeom prst="rect"/>
        </p:spPr>
        <p:txBody>
          <a:bodyPr wrap="none" lIns="0" tIns="0" rIns="0" bIns="0"/>
          <a:p>
            <a:pPr>
              <a:lnSpc>
                <a:spcPct val="100000"/>
              </a:lnSpc>
            </a:pPr>
            <a:r>
              <a:rPr lang="en-US" sz="1425" b="1">
                <a:solidFill>
                  <a:srgbClr val="FFFFFF"/>
                </a:solidFill>
                <a:latin typeface="Microsoft YaHei"/>
                <a:ea typeface="Microsoft YaHei"/>
              </a:rPr>
              <a:t>Writing the Use Case — and being reviewed by the client</a:t>
            </a:r>
            <a:endParaRPr/>
          </a:p>
        </p:txBody>
      </p:sp>
      <p:sp>
        <p:nvSpPr>
          <p:cNvPr id="745" name=""/>
          <p:cNvSpPr/>
          <p:nvPr/>
        </p:nvSpPr>
        <p:spPr>
          <a:xfrm rot="0" flipH="0" flipV="0">
            <a:off x="10220325" y="4886325"/>
            <a:ext cx="1209675" cy="361950"/>
          </a:xfrm>
          <a:prstGeom prst="roundRect">
            <a:avLst>
              <a:gd name="adj" fmla="val 57895"/>
            </a:avLst>
          </a:prstGeom>
          <a:solidFill>
            <a:srgbClr val="1E4FA8"/>
          </a:solidFill>
          <a:ln/>
        </p:spPr>
        <p:txBody>
          <a:bodyPr/>
          <a:p>
            <a:pPr/>
            <a:endParaRPr/>
          </a:p>
        </p:txBody>
      </p:sp>
      <p:sp>
        <p:nvSpPr>
          <p:cNvPr id="746" name="" descr="{&quot;isTemplate&quot;:true,&quot;type&quot;:&quot;text&quot;}"/>
          <p:cNvSpPr txBox="1"/>
          <p:nvPr/>
        </p:nvSpPr>
        <p:spPr>
          <a:xfrm rot="0" flipH="0" flipV="0">
            <a:off x="10429875" y="4981575"/>
            <a:ext cx="790575" cy="171450"/>
          </a:xfrm>
          <a:prstGeom prst="rect"/>
        </p:spPr>
        <p:txBody>
          <a:bodyPr wrap="none" lIns="0" tIns="0" rIns="0" bIns="0"/>
          <a:p>
            <a:pPr>
              <a:lnSpc>
                <a:spcPct val="100000"/>
              </a:lnSpc>
            </a:pPr>
            <a:r>
              <a:rPr lang="en-US" sz="1125" b="1">
                <a:solidFill>
                  <a:srgbClr val="FFFFFF"/>
                </a:solidFill>
                <a:latin typeface="Microsoft YaHei"/>
                <a:ea typeface="Microsoft YaHei"/>
              </a:rPr>
              <a:t>Questions?</a:t>
            </a:r>
            <a:endParaRPr/>
          </a:p>
        </p:txBody>
      </p:sp>
      <p:sp>
        <p:nvSpPr>
          <p:cNvPr id="747" name=""/>
          <p:cNvSpPr/>
          <p:nvPr/>
        </p:nvSpPr>
        <p:spPr>
          <a:xfrm rot="0" flipH="0" flipV="0">
            <a:off x="0" y="0"/>
            <a:ext cx="12192000" cy="76200"/>
          </a:xfrm>
          <a:prstGeom prst="rect">
            <a:avLst/>
          </a:prstGeom>
          <a:solidFill>
            <a:srgbClr val="1E4FA8"/>
          </a:solidFill>
          <a:ln/>
        </p:spPr>
        <p:txBody>
          <a:bodyPr/>
          <a:p>
            <a:pP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dc="http://purl.org/dc/elements/1.1/" xmlns:cp="http://schemas.openxmlformats.org/package/2006/metadata/core-properties">
  <dcterms:created xsi:type="dcterms:W3CDTF">2026-09-16T16:32:39Z</dcterms:created>
  <dcterms:modified xsi:type="dcterms:W3CDTF">2026-09-16T16:32:39Z</dcterms:modified>
</cp:coreProperties>
</file>
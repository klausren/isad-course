
<file path=[Content_Types].xml><?xml version="1.0" encoding="utf-8"?>
<Types xmlns="http://schemas.openxmlformats.org/package/2006/content-types">
  <Default Extension="svg" ContentType="image/svg+xml"/>
  <Default Extension="xml" ContentType="application/xml"/>
  <Default Extension="rels" ContentType="application/vnd.openxmlformats-package.relationships+xml"/>
  <Override PartName="/ppt/theme/theme2.xml" ContentType="application/vnd.openxmlformats-officedocument.theme+xml"/>
  <Override PartName="/ppt/theme/theme1.xml" ContentType="application/vnd.openxmlformats-officedocument.theme+xml"/>
  <Override PartName="/ppt/viewProps.xml" ContentType="application/vnd.openxmlformats-officedocument.presentationml.viewProps+xml"/>
  <Override PartName="/ppt/slides/slide2.xml" ContentType="application/vnd.openxmlformats-officedocument.presentationml.slide+xml"/>
  <Override PartName="/ppt/slides/slide10.xml" ContentType="application/vnd.openxmlformats-officedocument.presentationml.slide+xml"/>
  <Override PartName="/ppt/slides/slide36.xml" ContentType="application/vnd.openxmlformats-officedocument.presentationml.slide+xml"/>
  <Override PartName="/ppt/slides/slide1.xml" ContentType="application/vnd.openxmlformats-officedocument.presentationml.slide+xml"/>
  <Override PartName="/ppt/slides/slide11.xml" ContentType="application/vnd.openxmlformats-officedocument.presentationml.slide+xml"/>
  <Override PartName="/ppt/slides/slide13.xml" ContentType="application/vnd.openxmlformats-officedocument.presentationml.slide+xml"/>
  <Override PartName="/ppt/slides/slide29.xml" ContentType="application/vnd.openxmlformats-officedocument.presentationml.slide+xml"/>
  <Override PartName="/ppt/slides/slide6.xml" ContentType="application/vnd.openxmlformats-officedocument.presentationml.slide+xml"/>
  <Override PartName="/ppt/slides/slide8.xml" ContentType="application/vnd.openxmlformats-officedocument.presentationml.slide+xml"/>
  <Override PartName="/ppt/slides/slide17.xml" ContentType="application/vnd.openxmlformats-officedocument.presentationml.slide+xml"/>
  <Override PartName="/ppt/slides/slide3.xml" ContentType="application/vnd.openxmlformats-officedocument.presentationml.slide+xml"/>
  <Override PartName="/ppt/slides/slide38.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12.xml" ContentType="application/vnd.openxmlformats-officedocument.presentationml.slide+xml"/>
  <Override PartName="/ppt/slides/slide20.xml" ContentType="application/vnd.openxmlformats-officedocument.presentationml.slide+xml"/>
  <Override PartName="/ppt/slides/slide7.xml" ContentType="application/vnd.openxmlformats-officedocument.presentationml.slide+xml"/>
  <Override PartName="/ppt/slides/slide4.xml" ContentType="application/vnd.openxmlformats-officedocument.presentationml.slide+xml"/>
  <Override PartName="/ppt/slides/slide22.xml" ContentType="application/vnd.openxmlformats-officedocument.presentationml.slide+xml"/>
  <Override PartName="/docProps/app.xml" ContentType="application/vnd.openxmlformats-officedocument.extended-properties+xml"/>
  <Override PartName="/ppt/slides/slide31.xml" ContentType="application/vnd.openxmlformats-officedocument.presentationml.slide+xml"/>
  <Override PartName="/ppt/tableStyles.xml" ContentType="application/vnd.openxmlformats-officedocument.presentationml.tableStyles+xml"/>
  <Override PartName="/ppt/slides/slide5.xml" ContentType="application/vnd.openxmlformats-officedocument.presentationml.slide+xml"/>
  <Override PartName="/ppt/slides/slide35.xml" ContentType="application/vnd.openxmlformats-officedocument.presentationml.slide+xml"/>
  <Override PartName="/ppt/slides/slide14.xml" ContentType="application/vnd.openxmlformats-officedocument.presentationml.slide+xml"/>
  <Override PartName="/ppt/presentation.xml" ContentType="application/vnd.openxmlformats-officedocument.presentationml.presentation.main+xml"/>
  <Override PartName="/ppt/slides/slide32.xml" ContentType="application/vnd.openxmlformats-officedocument.presentationml.slide+xml"/>
  <Override PartName="/ppt/slides/slide9.xml" ContentType="application/vnd.openxmlformats-officedocument.presentationml.slide+xml"/>
  <Override PartName="/ppt/slides/slide21.xml" ContentType="application/vnd.openxmlformats-officedocument.presentationml.slide+xml"/>
  <Override PartName="/ppt/slides/slide30.xml" ContentType="application/vnd.openxmlformats-officedocument.presentationml.slide+xml"/>
  <Override PartName="/ppt/slides/slide24.xml" ContentType="application/vnd.openxmlformats-officedocument.presentationml.slide+xml"/>
  <Override PartName="/ppt/slides/slide15.xml" ContentType="application/vnd.openxmlformats-officedocument.presentationml.slide+xml"/>
  <Override PartName="/ppt/slides/slide34.xml" ContentType="application/vnd.openxmlformats-officedocument.presentationml.slide+xml"/>
  <Override PartName="/ppt/slides/slide33.xml" ContentType="application/vnd.openxmlformats-officedocument.presentationml.slide+xml"/>
  <Override PartName="/ppt/slides/slide37.xml" ContentType="application/vnd.openxmlformats-officedocument.presentationml.slide+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slides/slide26.xml" ContentType="application/vnd.openxmlformats-officedocument.presentationml.slide+xml"/>
  <Override PartName="/ppt/slides/slide28.xml" ContentType="application/vnd.openxmlformats-officedocument.presentationml.slide+xml"/>
  <Override PartName="/ppt/slides/slide25.xml" ContentType="application/vnd.openxmlformats-officedocument.presentationml.slide+xml"/>
  <Override PartName="/ppt/presProps.xml" ContentType="application/vnd.openxmlformats-officedocument.presentationml.presProps+xml"/>
  <Override PartName="/ppt/slideLayouts/slideLayout1.xml" ContentType="application/vnd.openxmlformats-officedocument.presentationml.slideLayout+xml"/>
  <Override PartName="/ppt/slides/slide27.xml" ContentType="application/vnd.openxmlformats-officedocument.presentationml.slide+xml"/>
  <Override PartName="/ppt/slides/slide23.xml" ContentType="application/vnd.openxmlformats-officedocument.presentationml.slide+xml"/>
  <Override PartName="/ppt/slides/slide16.xml" ContentType="application/vnd.openxmlformats-officedocument.presentationml.slide+xml"/>
  <Override PartName="/docProps/core.xml" ContentType="application/vnd.openxmlformats-package.core-properties+xml"/>
</Types>
</file>

<file path=_rels/.rels><?xml version="1.0" encoding="UTF-8" standalone="yes"?><Relationships xmlns="http://schemas.openxmlformats.org/package/2006/relationships"><Relationship Id="rId2" Type="http://schemas.openxmlformats.org/officeDocument/2006/relationships/extended-properties" Target="docProps/app.xml" /><Relationship Id="rId1" Type="http://schemas.openxmlformats.org/package/2006/relationships/metadata/core-properties" Target="docProps/core.xml" /><Relationship Id="rId0"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firstSlideNum="1">
  <p:sldMasterIdLst>
    <p:sldMasterId id="2147483648" r:id="rId0"/>
  </p:sldMasterIdLst>
  <p:notesMasterIdLst>
    <p:notesMasterId r:id="rId39"/>
  </p:notesMasterIdLst>
  <p:sldIdLst>
    <p:sldId id="256" r:id="rId1"/>
    <p:sldId id="257" r:id="rId2"/>
    <p:sldId id="258" r:id="rId3"/>
    <p:sldId id="259" r:id="rId4"/>
    <p:sldId id="260" r:id="rId5"/>
    <p:sldId id="261" r:id="rId6"/>
    <p:sldId id="262" r:id="rId7"/>
    <p:sldId id="263" r:id="rId8"/>
    <p:sldId id="264" r:id="rId9"/>
    <p:sldId id="265" r:id="rId10"/>
    <p:sldId id="266" r:id="rId11"/>
    <p:sldId id="267" r:id="rId12"/>
    <p:sldId id="268" r:id="rId13"/>
    <p:sldId id="269" r:id="rId14"/>
    <p:sldId id="270" r:id="rId15"/>
    <p:sldId id="271" r:id="rId16"/>
    <p:sldId id="272" r:id="rId17"/>
    <p:sldId id="273" r:id="rId18"/>
    <p:sldId id="274" r:id="rId19"/>
    <p:sldId id="275" r:id="rId20"/>
    <p:sldId id="276" r:id="rId21"/>
    <p:sldId id="277" r:id="rId22"/>
    <p:sldId id="278" r:id="rId23"/>
    <p:sldId id="279" r:id="rId24"/>
    <p:sldId id="280" r:id="rId25"/>
    <p:sldId id="281" r:id="rId26"/>
    <p:sldId id="282" r:id="rId27"/>
    <p:sldId id="283" r:id="rId28"/>
    <p:sldId id="284" r:id="rId29"/>
    <p:sldId id="285" r:id="rId30"/>
    <p:sldId id="286" r:id="rId31"/>
    <p:sldId id="287" r:id="rId32"/>
    <p:sldId id="288" r:id="rId33"/>
    <p:sldId id="289" r:id="rId34"/>
    <p:sldId id="290" r:id="rId35"/>
    <p:sldId id="291" r:id="rId36"/>
    <p:sldId id="292" r:id="rId37"/>
    <p:sldId id="293" r:id="rId38"/>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p="http://schemas.openxmlformats.org/presentationml/2006/main">
  <p:extLst>
    <p:ext uri="{E76CE94A-603C-4142-B9EB-6D1370010A27}"/>
    <p:ext uri="{D31A062A-798A-4329-ABDD-BBA856620510}"/>
    <p:ext uri="{FD5EFAAD-0ECE-453E-9831-46B23BE46B34}"/>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lastView="sldThumbnailView">
  <p:normalViewPr horzBarState="maximized">
    <p:restoredLeft sz="15611"/>
    <p:restoredTop sz="94610"/>
  </p:normalViewPr>
  <p:slideViewPr>
    <p:cSldViewPr snapToGrid="0" snapToObjects="1">
      <p:cViewPr varScale="1">
        <p:scale>
          <a:sx n="127" d="100"/>
          <a:sy n="127" d="100"/>
        </p:scale>
        <p:origin x="536" y="192"/>
      </p:cViewPr>
      <p:guideLst/>
    </p:cSldViewPr>
  </p:slideViewPr>
  <p:notesTextViewPr>
    <p:cViewPr>
      <p:scale>
        <a:sx n="1" d="1"/>
        <a:sy n="1" d="1"/>
      </p:scale>
      <p:origin x="0" y="0"/>
    </p:cViewPr>
  </p:notesTextViewPr>
  <p:gridSpacing cx="76200" cy="76200"/>
</p:viewPr>
</file>

<file path=ppt/_rels/presentation.xml.rels><?xml version="1.0" encoding="UTF-8" standalone="yes"?><Relationships xmlns="http://schemas.openxmlformats.org/package/2006/relationships"><Relationship Id="rId7" Type="http://schemas.openxmlformats.org/officeDocument/2006/relationships/slide" Target="slides/slide7.xml" /><Relationship Id="rId5" Type="http://schemas.openxmlformats.org/officeDocument/2006/relationships/slide" Target="slides/slide5.xml" /><Relationship Id="rId4" Type="http://schemas.openxmlformats.org/officeDocument/2006/relationships/slide" Target="slides/slide4.xml" /><Relationship Id="rId39" Type="http://schemas.openxmlformats.org/officeDocument/2006/relationships/notesMaster" Target="notesMasters/notesMaster1.xml" /><Relationship Id="rId37" Type="http://schemas.openxmlformats.org/officeDocument/2006/relationships/slide" Target="slides/slide37.xml" /><Relationship Id="rId33" Type="http://schemas.openxmlformats.org/officeDocument/2006/relationships/slide" Target="slides/slide33.xml" /><Relationship Id="rId30" Type="http://schemas.openxmlformats.org/officeDocument/2006/relationships/slide" Target="slides/slide30.xml" /><Relationship Id="rId38" Type="http://schemas.openxmlformats.org/officeDocument/2006/relationships/slide" Target="slides/slide38.xml" /><Relationship Id="rId35" Type="http://schemas.openxmlformats.org/officeDocument/2006/relationships/slide" Target="slides/slide35.xml" /><Relationship Id="rId14" Type="http://schemas.openxmlformats.org/officeDocument/2006/relationships/slide" Target="slides/slide14.xml" /><Relationship Id="rId29" Type="http://schemas.openxmlformats.org/officeDocument/2006/relationships/slide" Target="slides/slide29.xml" /><Relationship Id="rId42" Type="http://schemas.openxmlformats.org/officeDocument/2006/relationships/viewProps" Target="viewProps.xml" /><Relationship Id="rId34" Type="http://schemas.openxmlformats.org/officeDocument/2006/relationships/slide" Target="slides/slide34.xml" /><Relationship Id="rId31" Type="http://schemas.openxmlformats.org/officeDocument/2006/relationships/slide" Target="slides/slide31.xml" /><Relationship Id="rId28" Type="http://schemas.openxmlformats.org/officeDocument/2006/relationships/slide" Target="slides/slide28.xml" /><Relationship Id="rId26" Type="http://schemas.openxmlformats.org/officeDocument/2006/relationships/slide" Target="slides/slide26.xml" /><Relationship Id="rId9" Type="http://schemas.openxmlformats.org/officeDocument/2006/relationships/slide" Target="slides/slide9.xml" /><Relationship Id="rId23" Type="http://schemas.openxmlformats.org/officeDocument/2006/relationships/slide" Target="slides/slide23.xml" /><Relationship Id="rId32" Type="http://schemas.openxmlformats.org/officeDocument/2006/relationships/slide" Target="slides/slide32.xml" /><Relationship Id="rId3" Type="http://schemas.openxmlformats.org/officeDocument/2006/relationships/slide" Target="slides/slide3.xml" /><Relationship Id="rId27" Type="http://schemas.openxmlformats.org/officeDocument/2006/relationships/slide" Target="slides/slide27.xml" /><Relationship Id="rId22" Type="http://schemas.openxmlformats.org/officeDocument/2006/relationships/slide" Target="slides/slide22.xml" /><Relationship Id="rId2" Type="http://schemas.openxmlformats.org/officeDocument/2006/relationships/slide" Target="slides/slide2.xml" /><Relationship Id="rId19" Type="http://schemas.openxmlformats.org/officeDocument/2006/relationships/slide" Target="slides/slide19.xml" /><Relationship Id="rId20" Type="http://schemas.openxmlformats.org/officeDocument/2006/relationships/slide" Target="slides/slide20.xml" /><Relationship Id="rId18" Type="http://schemas.openxmlformats.org/officeDocument/2006/relationships/slide" Target="slides/slide18.xml" /><Relationship Id="rId41" Type="http://schemas.openxmlformats.org/officeDocument/2006/relationships/tableStyles" Target="tableStyles.xml" /><Relationship Id="rId40" Type="http://schemas.openxmlformats.org/officeDocument/2006/relationships/presProps" Target="presProps.xml" /><Relationship Id="rId16" Type="http://schemas.openxmlformats.org/officeDocument/2006/relationships/slide" Target="slides/slide16.xml" /><Relationship Id="rId21" Type="http://schemas.openxmlformats.org/officeDocument/2006/relationships/slide" Target="slides/slide21.xml" /><Relationship Id="rId8" Type="http://schemas.openxmlformats.org/officeDocument/2006/relationships/slide" Target="slides/slide8.xml" /><Relationship Id="rId6" Type="http://schemas.openxmlformats.org/officeDocument/2006/relationships/slide" Target="slides/slide6.xml" /><Relationship Id="rId15" Type="http://schemas.openxmlformats.org/officeDocument/2006/relationships/slide" Target="slides/slide15.xml" /><Relationship Id="rId12" Type="http://schemas.openxmlformats.org/officeDocument/2006/relationships/slide" Target="slides/slide12.xml" /><Relationship Id="rId0" Type="http://schemas.openxmlformats.org/officeDocument/2006/relationships/slideMaster" Target="slideMasters/slideMaster1.xml" /><Relationship Id="rId13" Type="http://schemas.openxmlformats.org/officeDocument/2006/relationships/slide" Target="slides/slide13.xml" /><Relationship Id="rId11" Type="http://schemas.openxmlformats.org/officeDocument/2006/relationships/slide" Target="slides/slide11.xml" /><Relationship Id="rId1" Type="http://schemas.openxmlformats.org/officeDocument/2006/relationships/slide" Target="slides/slide1.xml" /><Relationship Id="rId24" Type="http://schemas.openxmlformats.org/officeDocument/2006/relationships/slide" Target="slides/slide24.xml" /><Relationship Id="rId25" Type="http://schemas.openxmlformats.org/officeDocument/2006/relationships/slide" Target="slides/slide25.xml" /><Relationship Id="rId36" Type="http://schemas.openxmlformats.org/officeDocument/2006/relationships/slide" Target="slides/slide36.xml" /><Relationship Id="rId17" Type="http://schemas.openxmlformats.org/officeDocument/2006/relationships/slide" Target="slides/slide17.xml" /><Relationship Id="rId10" Type="http://schemas.openxmlformats.org/officeDocument/2006/relationships/slide" Target="slides/slide10.xml" /></Relationships>
</file>

<file path=ppt/notesMasters/_rels/notesMaster1.xml.rels><?xml version="1.0" encoding="UTF-8" standalone="yes"?><Relationships xmlns="http://schemas.openxmlformats.org/package/2006/relationships"><Relationship Id="rId0" Type="http://schemas.openxmlformats.org/officeDocument/2006/relationships/theme" Target="../theme/theme2.xml" /></Relationships>
</file>

<file path=ppt/notesMasters/notesMaster1.xml><?xml version="1.0" encoding="utf-8"?>
<p:notesMaster xmlns:a="http://schemas.openxmlformats.org/drawingml/2006/main"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Relationships xmlns="http://schemas.openxmlformats.org/package/2006/relationships"><Relationship Id="rId0" Type="http://schemas.openxmlformats.org/officeDocument/2006/relationships/slideMaster" Target="../slideMasters/slideMaster1.xml" /></Relationships>
</file>

<file path=ppt/slideLayouts/slideLayout1.xml><?xml version="1.0" encoding="utf-8"?>
<p:sldLayout xmlns:a="http://schemas.openxmlformats.org/drawingml/2006/main" xmlns:p="http://schemas.openxmlformats.org/presentationml/2006/main">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1" Type="http://schemas.openxmlformats.org/officeDocument/2006/relationships/theme" Target="../theme/theme1.xml" /><Relationship Id="rId0" Type="http://schemas.openxmlformats.org/officeDocument/2006/relationships/slideLayout" Target="../slideLayouts/slideLayout1.xml" /></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0"/>
  </p:sldLayoutIdLst>
  <p:hf sldNum="0" hdr="0" ftr="0" dt="0"/>
  <p:txStyles>
    <p:titleStyle>
      <a:lvl1pPr algn="ctr" defTabSz="914400" rtl="0" eaLnBrk="1" latinLnBrk="0" hangingPunct="1">
        <a:spcBef>
          <a:spcPct val="1"/>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Relationships xmlns="http://schemas.openxmlformats.org/package/2006/relationships"><Relationship Id="rId0" Type="http://schemas.openxmlformats.org/officeDocument/2006/relationships/slideLayout" Target="../slideLayouts/slideLayout1.xml" /></Relationships>
</file>

<file path=ppt/slides/_rels/slide2.xml.rels><?xml version="1.0" encoding="UTF-8" standalone="yes"?><Relationships xmlns="http://schemas.openxmlformats.org/package/2006/relationships"><Relationship Id="rId0" Type="http://schemas.openxmlformats.org/officeDocument/2006/relationships/slideLayout" Target="../slideLayouts/slideLayout1.xml" /></Relationships>
</file>

<file path=ppt/slides/_rels/slide3.xml.rels><?xml version="1.0" encoding="UTF-8" standalone="yes"?><Relationships xmlns="http://schemas.openxmlformats.org/package/2006/relationships"><Relationship Id="rId0" Type="http://schemas.openxmlformats.org/officeDocument/2006/relationships/slideLayout" Target="../slideLayouts/slideLayout1.xml" /></Relationships>
</file>

<file path=ppt/slides/_rels/slide4.xml.rels><?xml version="1.0" encoding="UTF-8" standalone="yes"?><Relationships xmlns="http://schemas.openxmlformats.org/package/2006/relationships"><Relationship Id="rId5" Type="http://schemas.openxmlformats.org/officeDocument/2006/relationships/image" Target="media/image27.svg" /><Relationship Id="rId4" Type="http://schemas.openxmlformats.org/officeDocument/2006/relationships/image" Target="media/image26.svg" /><Relationship Id="rId2" Type="http://schemas.openxmlformats.org/officeDocument/2006/relationships/image" Target="media/image2.svg" /><Relationship Id="rId0" Type="http://schemas.openxmlformats.org/officeDocument/2006/relationships/slideLayout" Target="../slideLayouts/slideLayout1.xml" /><Relationship Id="rId1" Type="http://schemas.openxmlformats.org/officeDocument/2006/relationships/image" Target="media/image24.svg" /><Relationship Id="rId3" Type="http://schemas.openxmlformats.org/officeDocument/2006/relationships/image" Target="media/image25.svg" /></Relationships>
</file>

<file path=ppt/slides/_rels/slide5.xml.rels><?xml version="1.0" encoding="UTF-8" standalone="yes"?><Relationships xmlns="http://schemas.openxmlformats.org/package/2006/relationships"><Relationship Id="rId0" Type="http://schemas.openxmlformats.org/officeDocument/2006/relationships/slideLayout" Target="../slideLayouts/slideLayout1.xml" /></Relationships>
</file>

<file path=ppt/slides/_rels/slide6.xml.rels><?xml version="1.0" encoding="UTF-8" standalone="yes"?><Relationships xmlns="http://schemas.openxmlformats.org/package/2006/relationships"><Relationship Id="rId1" Type="http://schemas.openxmlformats.org/officeDocument/2006/relationships/image" Target="media/image28.svg" /><Relationship Id="rId0" Type="http://schemas.openxmlformats.org/officeDocument/2006/relationships/slideLayout" Target="../slideLayouts/slideLayout1.xml" /></Relationships>
</file>

<file path=ppt/slides/_rels/slide7.xml.rels><?xml version="1.0" encoding="UTF-8" standalone="yes"?><Relationships xmlns="http://schemas.openxmlformats.org/package/2006/relationships"><Relationship Id="rId3" Type="http://schemas.openxmlformats.org/officeDocument/2006/relationships/image" Target="media/image31.svg" /><Relationship Id="rId2" Type="http://schemas.openxmlformats.org/officeDocument/2006/relationships/image" Target="media/image30.svg" /><Relationship Id="rId1" Type="http://schemas.openxmlformats.org/officeDocument/2006/relationships/image" Target="media/image29.svg" /><Relationship Id="rId0" Type="http://schemas.openxmlformats.org/officeDocument/2006/relationships/slideLayout" Target="../slideLayouts/slideLayout1.xml" /></Relationships>
</file>

<file path=ppt/slides/_rels/slide8.xml.rels><?xml version="1.0" encoding="UTF-8" standalone="yes"?><Relationships xmlns="http://schemas.openxmlformats.org/package/2006/relationships"><Relationship Id="rId0" Type="http://schemas.openxmlformats.org/officeDocument/2006/relationships/slideLayout" Target="../slideLayouts/slideLayout1.xml" /></Relationships>
</file>

<file path=ppt/slides/_rels/slide9.xml.rels><?xml version="1.0" encoding="UTF-8" standalone="yes"?><Relationships xmlns="http://schemas.openxmlformats.org/package/2006/relationships"><Relationship Id="rId1" Type="http://schemas.openxmlformats.org/officeDocument/2006/relationships/image" Target="media/image32.svg" /><Relationship Id="rId0" Type="http://schemas.openxmlformats.org/officeDocument/2006/relationships/slideLayout" Target="../slideLayouts/slideLayout1.xml" /></Relationships>
</file>

<file path=ppt/slides/_rels/slide10.xml.rels><?xml version="1.0" encoding="UTF-8" standalone="yes"?><Relationships xmlns="http://schemas.openxmlformats.org/package/2006/relationships"><Relationship Id="rId1" Type="http://schemas.openxmlformats.org/officeDocument/2006/relationships/image" Target="media/image1.svg" /><Relationship Id="rId3" Type="http://schemas.openxmlformats.org/officeDocument/2006/relationships/image" Target="media/image3.svg" /><Relationship Id="rId2" Type="http://schemas.openxmlformats.org/officeDocument/2006/relationships/image" Target="media/image2.svg" /><Relationship Id="rId0" Type="http://schemas.openxmlformats.org/officeDocument/2006/relationships/slideLayout" Target="../slideLayouts/slideLayout1.xml" /></Relationships>
</file>

<file path=ppt/slides/_rels/slide11.xml.rels><?xml version="1.0" encoding="UTF-8" standalone="yes"?><Relationships xmlns="http://schemas.openxmlformats.org/package/2006/relationships"><Relationship Id="rId3" Type="http://schemas.openxmlformats.org/officeDocument/2006/relationships/image" Target="media/image3.svg" /><Relationship Id="rId2" Type="http://schemas.openxmlformats.org/officeDocument/2006/relationships/image" Target="media/image5.svg" /><Relationship Id="rId1" Type="http://schemas.openxmlformats.org/officeDocument/2006/relationships/image" Target="media/image4.svg" /><Relationship Id="rId0" Type="http://schemas.openxmlformats.org/officeDocument/2006/relationships/slideLayout" Target="../slideLayouts/slideLayout1.xml" /></Relationships>
</file>

<file path=ppt/slides/_rels/slide12.xml.rels><?xml version="1.0" encoding="UTF-8" standalone="yes"?><Relationships xmlns="http://schemas.openxmlformats.org/package/2006/relationships"><Relationship Id="rId1" Type="http://schemas.openxmlformats.org/officeDocument/2006/relationships/image" Target="media/image6.svg" /><Relationship Id="rId0" Type="http://schemas.openxmlformats.org/officeDocument/2006/relationships/slideLayout" Target="../slideLayouts/slideLayout1.xml" /></Relationships>
</file>

<file path=ppt/slides/_rels/slide13.xml.rels><?xml version="1.0" encoding="UTF-8" standalone="yes"?><Relationships xmlns="http://schemas.openxmlformats.org/package/2006/relationships"><Relationship Id="rId1" Type="http://schemas.openxmlformats.org/officeDocument/2006/relationships/image" Target="media/image7.svg" /><Relationship Id="rId0" Type="http://schemas.openxmlformats.org/officeDocument/2006/relationships/slideLayout" Target="../slideLayouts/slideLayout1.xml" /></Relationships>
</file>

<file path=ppt/slides/_rels/slide14.xml.rels><?xml version="1.0" encoding="UTF-8" standalone="yes"?><Relationships xmlns="http://schemas.openxmlformats.org/package/2006/relationships"><Relationship Id="rId0" Type="http://schemas.openxmlformats.org/officeDocument/2006/relationships/slideLayout" Target="../slideLayouts/slideLayout1.xml" /></Relationships>
</file>

<file path=ppt/slides/_rels/slide15.xml.rels><?xml version="1.0" encoding="UTF-8" standalone="yes"?><Relationships xmlns="http://schemas.openxmlformats.org/package/2006/relationships"><Relationship Id="rId1" Type="http://schemas.openxmlformats.org/officeDocument/2006/relationships/image" Target="media/image8.svg" /><Relationship Id="rId0" Type="http://schemas.openxmlformats.org/officeDocument/2006/relationships/slideLayout" Target="../slideLayouts/slideLayout1.xml" /></Relationships>
</file>

<file path=ppt/slides/_rels/slide16.xml.rels><?xml version="1.0" encoding="UTF-8" standalone="yes"?><Relationships xmlns="http://schemas.openxmlformats.org/package/2006/relationships"><Relationship Id="rId1" Type="http://schemas.openxmlformats.org/officeDocument/2006/relationships/image" Target="media/image9.svg" /><Relationship Id="rId0" Type="http://schemas.openxmlformats.org/officeDocument/2006/relationships/slideLayout" Target="../slideLayouts/slideLayout1.xml" /></Relationships>
</file>

<file path=ppt/slides/_rels/slide17.xml.rels><?xml version="1.0" encoding="UTF-8" standalone="yes"?><Relationships xmlns="http://schemas.openxmlformats.org/package/2006/relationships"><Relationship Id="rId0" Type="http://schemas.openxmlformats.org/officeDocument/2006/relationships/slideLayout" Target="../slideLayouts/slideLayout1.xml" /></Relationships>
</file>

<file path=ppt/slides/_rels/slide18.xml.rels><?xml version="1.0" encoding="UTF-8" standalone="yes"?><Relationships xmlns="http://schemas.openxmlformats.org/package/2006/relationships"><Relationship Id="rId1" Type="http://schemas.openxmlformats.org/officeDocument/2006/relationships/image" Target="media/image10.svg" /><Relationship Id="rId0" Type="http://schemas.openxmlformats.org/officeDocument/2006/relationships/slideLayout" Target="../slideLayouts/slideLayout1.xml" /></Relationships>
</file>

<file path=ppt/slides/_rels/slide19.xml.rels><?xml version="1.0" encoding="UTF-8" standalone="yes"?><Relationships xmlns="http://schemas.openxmlformats.org/package/2006/relationships"><Relationship Id="rId3" Type="http://schemas.openxmlformats.org/officeDocument/2006/relationships/image" Target="media/image13.svg" /><Relationship Id="rId2" Type="http://schemas.openxmlformats.org/officeDocument/2006/relationships/image" Target="media/image12.svg" /><Relationship Id="rId1" Type="http://schemas.openxmlformats.org/officeDocument/2006/relationships/image" Target="media/image11.svg" /><Relationship Id="rId0" Type="http://schemas.openxmlformats.org/officeDocument/2006/relationships/slideLayout" Target="../slideLayouts/slideLayout1.xml" /></Relationships>
</file>

<file path=ppt/slides/_rels/slide20.xml.rels><?xml version="1.0" encoding="UTF-8" standalone="yes"?><Relationships xmlns="http://schemas.openxmlformats.org/package/2006/relationships"><Relationship Id="rId0" Type="http://schemas.openxmlformats.org/officeDocument/2006/relationships/slideLayout" Target="../slideLayouts/slideLayout1.xml" /></Relationships>
</file>

<file path=ppt/slides/_rels/slide21.xml.rels><?xml version="1.0" encoding="UTF-8" standalone="yes"?><Relationships xmlns="http://schemas.openxmlformats.org/package/2006/relationships"><Relationship Id="rId1" Type="http://schemas.openxmlformats.org/officeDocument/2006/relationships/image" Target="media/image14.svg" /><Relationship Id="rId0" Type="http://schemas.openxmlformats.org/officeDocument/2006/relationships/slideLayout" Target="../slideLayouts/slideLayout1.xml" /></Relationships>
</file>

<file path=ppt/slides/_rels/slide22.xml.rels><?xml version="1.0" encoding="UTF-8" standalone="yes"?><Relationships xmlns="http://schemas.openxmlformats.org/package/2006/relationships"><Relationship Id="rId1" Type="http://schemas.openxmlformats.org/officeDocument/2006/relationships/image" Target="media/image15.svg" /><Relationship Id="rId0" Type="http://schemas.openxmlformats.org/officeDocument/2006/relationships/slideLayout" Target="../slideLayouts/slideLayout1.xml" /></Relationships>
</file>

<file path=ppt/slides/_rels/slide23.xml.rels><?xml version="1.0" encoding="UTF-8" standalone="yes"?><Relationships xmlns="http://schemas.openxmlformats.org/package/2006/relationships"><Relationship Id="rId0" Type="http://schemas.openxmlformats.org/officeDocument/2006/relationships/slideLayout" Target="../slideLayouts/slideLayout1.xml" /></Relationships>
</file>

<file path=ppt/slides/_rels/slide24.xml.rels><?xml version="1.0" encoding="UTF-8" standalone="yes"?><Relationships xmlns="http://schemas.openxmlformats.org/package/2006/relationships"><Relationship Id="rId0" Type="http://schemas.openxmlformats.org/officeDocument/2006/relationships/slideLayout" Target="../slideLayouts/slideLayout1.xml" /></Relationships>
</file>

<file path=ppt/slides/_rels/slide25.xml.rels><?xml version="1.0" encoding="UTF-8" standalone="yes"?><Relationships xmlns="http://schemas.openxmlformats.org/package/2006/relationships"><Relationship Id="rId0" Type="http://schemas.openxmlformats.org/officeDocument/2006/relationships/slideLayout" Target="../slideLayouts/slideLayout1.xml" /></Relationships>
</file>

<file path=ppt/slides/_rels/slide26.xml.rels><?xml version="1.0" encoding="UTF-8" standalone="yes"?><Relationships xmlns="http://schemas.openxmlformats.org/package/2006/relationships"><Relationship Id="rId0" Type="http://schemas.openxmlformats.org/officeDocument/2006/relationships/slideLayout" Target="../slideLayouts/slideLayout1.xml" /></Relationships>
</file>

<file path=ppt/slides/_rels/slide27.xml.rels><?xml version="1.0" encoding="UTF-8" standalone="yes"?><Relationships xmlns="http://schemas.openxmlformats.org/package/2006/relationships"><Relationship Id="rId1" Type="http://schemas.openxmlformats.org/officeDocument/2006/relationships/image" Target="media/image16.svg" /><Relationship Id="rId0" Type="http://schemas.openxmlformats.org/officeDocument/2006/relationships/slideLayout" Target="../slideLayouts/slideLayout1.xml" /></Relationships>
</file>

<file path=ppt/slides/_rels/slide28.xml.rels><?xml version="1.0" encoding="UTF-8" standalone="yes"?><Relationships xmlns="http://schemas.openxmlformats.org/package/2006/relationships"><Relationship Id="rId0" Type="http://schemas.openxmlformats.org/officeDocument/2006/relationships/slideLayout" Target="../slideLayouts/slideLayout1.xml" /></Relationships>
</file>

<file path=ppt/slides/_rels/slide29.xml.rels><?xml version="1.0" encoding="UTF-8" standalone="yes"?><Relationships xmlns="http://schemas.openxmlformats.org/package/2006/relationships"><Relationship Id="rId2" Type="http://schemas.openxmlformats.org/officeDocument/2006/relationships/image" Target="media/image18.svg" /><Relationship Id="rId3" Type="http://schemas.openxmlformats.org/officeDocument/2006/relationships/image" Target="media/image19.svg" /><Relationship Id="rId1" Type="http://schemas.openxmlformats.org/officeDocument/2006/relationships/image" Target="media/image17.svg" /><Relationship Id="rId0" Type="http://schemas.openxmlformats.org/officeDocument/2006/relationships/slideLayout" Target="../slideLayouts/slideLayout1.xml" /></Relationships>
</file>

<file path=ppt/slides/_rels/slide30.xml.rels><?xml version="1.0" encoding="UTF-8" standalone="yes"?><Relationships xmlns="http://schemas.openxmlformats.org/package/2006/relationships"><Relationship Id="rId0" Type="http://schemas.openxmlformats.org/officeDocument/2006/relationships/slideLayout" Target="../slideLayouts/slideLayout1.xml" /></Relationships>
</file>

<file path=ppt/slides/_rels/slide31.xml.rels><?xml version="1.0" encoding="UTF-8" standalone="yes"?><Relationships xmlns="http://schemas.openxmlformats.org/package/2006/relationships"><Relationship Id="rId0" Type="http://schemas.openxmlformats.org/officeDocument/2006/relationships/slideLayout" Target="../slideLayouts/slideLayout1.xml" /></Relationships>
</file>

<file path=ppt/slides/_rels/slide32.xml.rels><?xml version="1.0" encoding="UTF-8" standalone="yes"?><Relationships xmlns="http://schemas.openxmlformats.org/package/2006/relationships"><Relationship Id="rId0" Type="http://schemas.openxmlformats.org/officeDocument/2006/relationships/slideLayout" Target="../slideLayouts/slideLayout1.xml" /></Relationships>
</file>

<file path=ppt/slides/_rels/slide33.xml.rels><?xml version="1.0" encoding="UTF-8" standalone="yes"?><Relationships xmlns="http://schemas.openxmlformats.org/package/2006/relationships"><Relationship Id="rId0" Type="http://schemas.openxmlformats.org/officeDocument/2006/relationships/slideLayout" Target="../slideLayouts/slideLayout1.xml" /></Relationships>
</file>

<file path=ppt/slides/_rels/slide34.xml.rels><?xml version="1.0" encoding="UTF-8" standalone="yes"?><Relationships xmlns="http://schemas.openxmlformats.org/package/2006/relationships"><Relationship Id="rId0" Type="http://schemas.openxmlformats.org/officeDocument/2006/relationships/slideLayout" Target="../slideLayouts/slideLayout1.xml" /></Relationships>
</file>

<file path=ppt/slides/_rels/slide35.xml.rels><?xml version="1.0" encoding="UTF-8" standalone="yes"?><Relationships xmlns="http://schemas.openxmlformats.org/package/2006/relationships"><Relationship Id="rId0" Type="http://schemas.openxmlformats.org/officeDocument/2006/relationships/slideLayout" Target="../slideLayouts/slideLayout1.xml" /></Relationships>
</file>

<file path=ppt/slides/_rels/slide36.xml.rels><?xml version="1.0" encoding="UTF-8" standalone="yes"?><Relationships xmlns="http://schemas.openxmlformats.org/package/2006/relationships"><Relationship Id="rId1" Type="http://schemas.openxmlformats.org/officeDocument/2006/relationships/image" Target="media/image20.svg" /><Relationship Id="rId0" Type="http://schemas.openxmlformats.org/officeDocument/2006/relationships/slideLayout" Target="../slideLayouts/slideLayout1.xml" /></Relationships>
</file>

<file path=ppt/slides/_rels/slide37.xml.rels><?xml version="1.0" encoding="UTF-8" standalone="yes"?><Relationships xmlns="http://schemas.openxmlformats.org/package/2006/relationships"><Relationship Id="rId2" Type="http://schemas.openxmlformats.org/officeDocument/2006/relationships/image" Target="media/image22.svg" /><Relationship Id="rId1" Type="http://schemas.openxmlformats.org/officeDocument/2006/relationships/image" Target="media/image21.svg" /><Relationship Id="rId3" Type="http://schemas.openxmlformats.org/officeDocument/2006/relationships/image" Target="media/image23.svg" /><Relationship Id="rId0" Type="http://schemas.openxmlformats.org/officeDocument/2006/relationships/slideLayout" Target="../slideLayouts/slideLayout1.xml" /></Relationships>
</file>

<file path=ppt/slides/_rels/slide38.xml.rels><?xml version="1.0" encoding="UTF-8" standalone="yes"?><Relationships xmlns="http://schemas.openxmlformats.org/package/2006/relationships"><Relationship Id="rId0" Type="http://schemas.openxmlformats.org/officeDocument/2006/relationships/slideLayout" Target="../slideLayouts/slideLayout1.xml" /></Relationships>
</file>

<file path=ppt/slides/slide1.xml><?xml version="1.0" encoding="utf-8"?>
<p:sld xmlns:a="http://schemas.openxmlformats.org/drawingml/2006/main" xmlns:p="http://schemas.openxmlformats.org/presentationml/2006/main">
  <p:cSld>
    <p:spTree>
      <p:nvGrpSpPr>
        <p:cNvPr id="1" name="" descr="&lt;Slide style={{ background: '#0E3F8C', padding: 0 }}&gt;&#10;  &lt;Box style={{ flexDirection: 'column', height: '100%', justifyContent: 'center', padding: '0 80px', position: 'relative' }}&gt;&#10;    &lt;Box style={{ position: 'absolute', top: 0, left: 0, right: 0, height: 8, background: '#1E4FA8' }} /&gt;&#10;    &lt;Box style={{ position: 'absolute', top: 8, left: 0, right: 0, height: 2, background: '#3D7BD9' }} /&gt;&#10;    &lt;Box style={{ flexDirection: 'row', alignItems: 'center', gap: 14, marginBottom: 30 }}&gt;&#10;      &lt;Box style={{ padding: '7px 18px', background: '#3D7BD9', borderRadius: 18 }}&gt;&#10;        &lt;Text style={{ fontSize: 16, color: '#FFFFFF', fontWeight: 'bold', letterSpacing: 2 }}&gt;ISAD · WEEK 04&lt;/Text&gt;&#10;      &lt;/Box&gt;&#10;      &lt;Box style={{ width: 56, height: 1, background: '#5B84C4' }} /&gt;&#10;      &lt;Text style={{ fontSize: 16, color: '#7FA2D6', letterSpacing: 1 }}&gt;MODULE B · OO ANALYSIS&lt;/Text&gt;&#10;    &lt;/Box&gt;&#10;    &lt;Text style={{ fontSize: 56, fontWeight: 'bold', color: '#FFFFFF', fontFamily: 'Georgia, serif', lineHeight: 1.12 }}&gt;&#10;      Requirements&#10;      &lt;br /&gt;&#10;      &amp;amp; Use Case Modeling&#10;    &lt;/Text&gt;&#10;    &lt;Box style={{ width: 88, height: 5, background: '#FFC107', marginTop: 28, marginBottom: 22 }} /&gt;&#10;    &lt;Text style={{ fontSize: 26, color: '#B9CDF0', lineHeight: 1.45 }}&gt;&#10;      Where the Requirements Pack Lands on Your Desk — and Becomes a Model&#10;    &lt;/Text&gt;&#10;    &lt;Box style={{ position: 'absolute', bottom: 46, left: 80, right: 80, flexDirection: 'row', justifyContent: 'space-between', alignItems: 'center', borderTop: '1px solid #2B5793', paddingTop: 18 }}&gt;&#10;      &lt;Text style={{ fontSize: 17, color: '#C5D4EA' }}&gt;Ren Zheng · School of Software Engineering&lt;/Text&gt;&#10;      &lt;Text style={{ fontSize: 17, color: '#C5D4EA' }}&gt;Fall 2026&lt;/Text&gt;&#10;    &lt;/Box&gt;&#10;  &lt;/Box&gt;&#10;&lt;/Slide&gt;"/>
        <p:cNvGrpSpPr/>
        <p:nvPr/>
      </p:nvGrpSpPr>
      <p:grpSpPr>
        <a:xfrm>
          <a:off x="0" y="0"/>
          <a:ext cx="0" cy="0"/>
          <a:chOff x="0" y="0"/>
          <a:chExt cx="0" cy="0"/>
        </a:xfrm>
      </p:grpSpPr>
      <p:sp>
        <p:nvSpPr>
          <p:cNvPr id="2" name=""/>
          <p:cNvSpPr/>
          <p:nvPr/>
        </p:nvSpPr>
        <p:spPr>
          <a:xfrm rot="0" flipH="0" flipV="0">
            <a:off x="0" y="0"/>
            <a:ext cx="12192000" cy="6858000"/>
          </a:xfrm>
          <a:prstGeom prst="rect">
            <a:avLst/>
          </a:prstGeom>
          <a:solidFill>
            <a:srgbClr val="0E3F8C"/>
          </a:solidFill>
          <a:ln/>
        </p:spPr>
        <p:txBody>
          <a:bodyPr/>
          <a:p/>
        </p:txBody>
      </p:sp>
      <p:sp>
        <p:nvSpPr>
          <p:cNvPr id="3" name=""/>
          <p:cNvSpPr/>
          <p:nvPr/>
        </p:nvSpPr>
        <p:spPr>
          <a:xfrm rot="0" flipH="0" flipV="0">
            <a:off x="762000" y="1924050"/>
            <a:ext cx="1781175" cy="323850"/>
          </a:xfrm>
          <a:prstGeom prst="roundRect">
            <a:avLst>
              <a:gd name="adj" fmla="val 52941"/>
            </a:avLst>
          </a:prstGeom>
          <a:solidFill>
            <a:srgbClr val="3D7BD9"/>
          </a:solidFill>
          <a:ln/>
        </p:spPr>
        <p:txBody>
          <a:bodyPr/>
          <a:p/>
        </p:txBody>
      </p:sp>
      <p:sp>
        <p:nvSpPr>
          <p:cNvPr id="4" name="" descr="{&quot;isTemplate&quot;:true,&quot;type&quot;:&quot;text&quot;}"/>
          <p:cNvSpPr txBox="1"/>
          <p:nvPr/>
        </p:nvSpPr>
        <p:spPr>
          <a:xfrm rot="0" flipH="0" flipV="0">
            <a:off x="933450" y="1990725"/>
            <a:ext cx="1438275" cy="190500"/>
          </a:xfrm>
          <a:prstGeom prst="rect"/>
        </p:spPr>
        <p:txBody>
          <a:bodyPr wrap="none" lIns="0" tIns="0" rIns="0" bIns="0"/>
          <a:p>
            <a:pPr>
              <a:lnSpc>
                <a:spcPct val="100000"/>
              </a:lnSpc>
            </a:pPr>
            <a:r>
              <a:rPr lang="en-US" sz="1200" b="1" spc="150">
                <a:solidFill>
                  <a:srgbClr val="FFFFFF"/>
                </a:solidFill>
                <a:latin typeface="Microsoft YaHei"/>
                <a:ea typeface="Microsoft YaHei"/>
              </a:rPr>
              <a:t>ISAD · WEEK 04</a:t>
            </a:r>
            <a:endParaRPr/>
          </a:p>
        </p:txBody>
      </p:sp>
      <p:sp>
        <p:nvSpPr>
          <p:cNvPr id="5" name=""/>
          <p:cNvSpPr/>
          <p:nvPr/>
        </p:nvSpPr>
        <p:spPr>
          <a:xfrm rot="0" flipH="0" flipV="0">
            <a:off x="2676525" y="2085975"/>
            <a:ext cx="533400" cy="9525"/>
          </a:xfrm>
          <a:prstGeom prst="rect">
            <a:avLst/>
          </a:prstGeom>
          <a:solidFill>
            <a:srgbClr val="5B84C4"/>
          </a:solidFill>
          <a:ln/>
        </p:spPr>
        <p:txBody>
          <a:bodyPr/>
          <a:p/>
        </p:txBody>
      </p:sp>
      <p:sp>
        <p:nvSpPr>
          <p:cNvPr id="6" name="" descr="{&quot;isTemplate&quot;:true,&quot;type&quot;:&quot;text&quot;}"/>
          <p:cNvSpPr txBox="1"/>
          <p:nvPr/>
        </p:nvSpPr>
        <p:spPr>
          <a:xfrm rot="0" flipH="0" flipV="0">
            <a:off x="3343275" y="1990725"/>
            <a:ext cx="2171700" cy="190500"/>
          </a:xfrm>
          <a:prstGeom prst="rect"/>
        </p:spPr>
        <p:txBody>
          <a:bodyPr wrap="none" lIns="0" tIns="0" rIns="0" bIns="0"/>
          <a:p>
            <a:pPr>
              <a:lnSpc>
                <a:spcPct val="100000"/>
              </a:lnSpc>
            </a:pPr>
            <a:r>
              <a:rPr lang="en-US" sz="1200" spc="75">
                <a:solidFill>
                  <a:srgbClr val="7FA2D6"/>
                </a:solidFill>
                <a:latin typeface="Microsoft YaHei"/>
                <a:ea typeface="Microsoft YaHei"/>
              </a:rPr>
              <a:t>MODULE B · OO ANALYSIS</a:t>
            </a:r>
            <a:endParaRPr/>
          </a:p>
        </p:txBody>
      </p:sp>
      <p:sp>
        <p:nvSpPr>
          <p:cNvPr id="7" name="" descr="{&quot;isTemplate&quot;:true,&quot;type&quot;:&quot;text&quot;}"/>
          <p:cNvSpPr txBox="1"/>
          <p:nvPr/>
        </p:nvSpPr>
        <p:spPr>
          <a:xfrm rot="0" flipH="0" flipV="0">
            <a:off x="762000" y="2533650"/>
            <a:ext cx="10668000" cy="1438275"/>
          </a:xfrm>
          <a:prstGeom prst="rect"/>
        </p:spPr>
        <p:txBody>
          <a:bodyPr wrap="none" lIns="0" tIns="0" rIns="0" bIns="0"/>
          <a:p>
            <a:pPr>
              <a:lnSpc>
                <a:spcPct val="112000"/>
              </a:lnSpc>
            </a:pPr>
            <a:r>
              <a:rPr lang="en-US" sz="4200" b="1">
                <a:solidFill>
                  <a:srgbClr val="FFFFFF"/>
                </a:solidFill>
                <a:latin typeface="Georgia"/>
                <a:ea typeface="Georgia"/>
              </a:rPr>
              <a:t>Requirements</a:t>
            </a:r>
            <a:endParaRPr/>
          </a:p>
          <a:p>
            <a:pPr>
              <a:lnSpc>
                <a:spcPct val="112000"/>
              </a:lnSpc>
            </a:pPr>
            <a:r>
              <a:rPr lang="en-US" sz="4200" b="1">
                <a:solidFill>
                  <a:srgbClr val="FFFFFF"/>
                </a:solidFill>
                <a:latin typeface="Georgia"/>
                <a:ea typeface="Georgia"/>
              </a:rPr>
              <a:t>&amp; Use Case Modeling</a:t>
            </a:r>
            <a:endParaRPr/>
          </a:p>
        </p:txBody>
      </p:sp>
      <p:sp>
        <p:nvSpPr>
          <p:cNvPr id="8" name=""/>
          <p:cNvSpPr/>
          <p:nvPr/>
        </p:nvSpPr>
        <p:spPr>
          <a:xfrm rot="0" flipH="0" flipV="0">
            <a:off x="762000" y="4238625"/>
            <a:ext cx="838200" cy="47625"/>
          </a:xfrm>
          <a:prstGeom prst="rect">
            <a:avLst/>
          </a:prstGeom>
          <a:solidFill>
            <a:srgbClr val="FFC107"/>
          </a:solidFill>
          <a:ln/>
        </p:spPr>
        <p:txBody>
          <a:bodyPr/>
          <a:p/>
        </p:txBody>
      </p:sp>
      <p:sp>
        <p:nvSpPr>
          <p:cNvPr id="9" name="" descr="{&quot;isTemplate&quot;:true,&quot;type&quot;:&quot;text&quot;}"/>
          <p:cNvSpPr txBox="1"/>
          <p:nvPr/>
        </p:nvSpPr>
        <p:spPr>
          <a:xfrm rot="0" flipH="0" flipV="0">
            <a:off x="762000" y="4495800"/>
            <a:ext cx="10668000" cy="438150"/>
          </a:xfrm>
          <a:prstGeom prst="rect"/>
        </p:spPr>
        <p:txBody>
          <a:bodyPr wrap="none" lIns="0" tIns="0" rIns="0" bIns="0"/>
          <a:p>
            <a:pPr>
              <a:lnSpc>
                <a:spcPct val="145000"/>
              </a:lnSpc>
            </a:pPr>
            <a:r>
              <a:rPr lang="en-US" sz="1950">
                <a:solidFill>
                  <a:srgbClr val="B9CDF0"/>
                </a:solidFill>
                <a:latin typeface="Microsoft YaHei"/>
                <a:ea typeface="Microsoft YaHei"/>
              </a:rPr>
              <a:t>Where the Requirements Pack Lands on Your Desk — and Becomes a Model</a:t>
            </a:r>
            <a:endParaRPr/>
          </a:p>
        </p:txBody>
      </p:sp>
      <p:sp>
        <p:nvSpPr>
          <p:cNvPr id="10" name=""/>
          <p:cNvSpPr/>
          <p:nvPr/>
        </p:nvSpPr>
        <p:spPr>
          <a:xfrm rot="0" flipH="0" flipV="0">
            <a:off x="0" y="0"/>
            <a:ext cx="12192000" cy="76200"/>
          </a:xfrm>
          <a:prstGeom prst="rect">
            <a:avLst/>
          </a:prstGeom>
          <a:solidFill>
            <a:srgbClr val="1E4FA8"/>
          </a:solidFill>
          <a:ln/>
        </p:spPr>
        <p:txBody>
          <a:bodyPr/>
          <a:p/>
        </p:txBody>
      </p:sp>
      <p:sp>
        <p:nvSpPr>
          <p:cNvPr id="11" name=""/>
          <p:cNvSpPr/>
          <p:nvPr/>
        </p:nvSpPr>
        <p:spPr>
          <a:xfrm rot="0" flipH="0" flipV="0">
            <a:off x="0" y="76200"/>
            <a:ext cx="12192000" cy="19050"/>
          </a:xfrm>
          <a:prstGeom prst="rect">
            <a:avLst/>
          </a:prstGeom>
          <a:solidFill>
            <a:srgbClr val="3D7BD9"/>
          </a:solidFill>
          <a:ln/>
        </p:spPr>
        <p:txBody>
          <a:bodyPr/>
          <a:p/>
        </p:txBody>
      </p:sp>
      <p:sp>
        <p:nvSpPr>
          <p:cNvPr id="12" name=""/>
          <p:cNvSpPr/>
          <p:nvPr/>
        </p:nvSpPr>
        <p:spPr>
          <a:xfrm rot="0" flipH="0" flipV="0">
            <a:off x="762000" y="6038850"/>
            <a:ext cx="10668000" cy="390525"/>
          </a:xfrm>
          <a:custGeom>
            <a:pathLst>
              <a:path w="1120" h="41">
                <a:moveTo>
                  <a:pt x="0" y="0"/>
                </a:moveTo>
                <a:lnTo>
                  <a:pt x="1120" y="0"/>
                </a:lnTo>
                <a:lnTo>
                  <a:pt x="1120" y="1"/>
                </a:lnTo>
                <a:lnTo>
                  <a:pt x="0" y="1"/>
                </a:lnTo>
                <a:close/>
              </a:path>
            </a:pathLst>
          </a:custGeom>
          <a:solidFill>
            <a:srgbClr val="2B5793"/>
          </a:solidFill>
          <a:ln/>
        </p:spPr>
        <p:txBody>
          <a:bodyPr/>
          <a:p/>
        </p:txBody>
      </p:sp>
      <p:sp>
        <p:nvSpPr>
          <p:cNvPr id="13" name="" descr="{&quot;isTemplate&quot;:true,&quot;type&quot;:&quot;text&quot;}"/>
          <p:cNvSpPr txBox="1"/>
          <p:nvPr/>
        </p:nvSpPr>
        <p:spPr>
          <a:xfrm rot="0" flipH="0" flipV="0">
            <a:off x="762000" y="6219825"/>
            <a:ext cx="3219450" cy="200025"/>
          </a:xfrm>
          <a:prstGeom prst="rect"/>
        </p:spPr>
        <p:txBody>
          <a:bodyPr wrap="none" lIns="0" tIns="0" rIns="0" bIns="0"/>
          <a:p>
            <a:pPr>
              <a:lnSpc>
                <a:spcPct val="100000"/>
              </a:lnSpc>
            </a:pPr>
            <a:r>
              <a:rPr lang="en-US" sz="1275">
                <a:solidFill>
                  <a:srgbClr val="C5D4EA"/>
                </a:solidFill>
                <a:latin typeface="Microsoft YaHei"/>
                <a:ea typeface="Microsoft YaHei"/>
              </a:rPr>
              <a:t>Ren Zheng · School of Software Engineering</a:t>
            </a:r>
            <a:endParaRPr/>
          </a:p>
        </p:txBody>
      </p:sp>
      <p:sp>
        <p:nvSpPr>
          <p:cNvPr id="14" name="" descr="{&quot;isTemplate&quot;:true,&quot;type&quot;:&quot;text&quot;}"/>
          <p:cNvSpPr txBox="1"/>
          <p:nvPr/>
        </p:nvSpPr>
        <p:spPr>
          <a:xfrm rot="0" flipH="0" flipV="0">
            <a:off x="10763250" y="6219825"/>
            <a:ext cx="666750" cy="200025"/>
          </a:xfrm>
          <a:prstGeom prst="rect"/>
        </p:spPr>
        <p:txBody>
          <a:bodyPr wrap="none" lIns="0" tIns="0" rIns="0" bIns="0"/>
          <a:p>
            <a:pPr>
              <a:lnSpc>
                <a:spcPct val="100000"/>
              </a:lnSpc>
            </a:pPr>
            <a:r>
              <a:rPr lang="en-US" sz="1275">
                <a:solidFill>
                  <a:srgbClr val="C5D4EA"/>
                </a:solidFill>
                <a:latin typeface="Microsoft YaHei"/>
                <a:ea typeface="Microsoft YaHei"/>
              </a:rPr>
              <a:t>Fall 2026</a:t>
            </a:r>
            <a:endParaRPr/>
          </a:p>
        </p:txBody>
      </p:sp>
    </p:spTree>
  </p:cSld>
</p:sld>
</file>

<file path=ppt/slides/slide2.xml><?xml version="1.0" encoding="utf-8"?>
<p:sld xmlns:a="http://schemas.openxmlformats.org/drawingml/2006/main" xmlns:p="http://schemas.openxmlformats.org/presentationml/2006/main">
  <p:cSld>
    <p:spTree>
      <p:nvGrpSpPr>
        <p:cNvPr id="286" name="" descr="&lt;Slide style={{ background: '#FFFFFF', padding: 0 }}&gt;&#10;  &lt;Box style={{ flexDirection: 'row', height: '100%' }}&gt;&#10;    &lt;Box style={{ width: 320, background: '#0E3F8C', padding: '60px 44px', flexDirection: 'column', justifyContent: 'space-between' }}&gt;&#10;      &lt;Box&gt;&#10;        &lt;Box style={{ width: 40, height: 4, background: '#FFC107', marginBottom: 24 }} /&gt;&#10;        &lt;Text style={{ fontSize: 46, fontWeight: 'bold', color: '#FFFFFF', fontFamily: 'Georgia, serif', lineHeight: 1.15 }}&gt;Contents&lt;/Text&gt;&#10;        &lt;Text style={{ fontSize: 16, color: '#7FA2D6', marginTop: 18, letterSpacing: 1 }}&gt;WEEK 04 · ROADMAP&lt;/Text&gt;&#10;      &lt;/Box&gt;&#10;      &lt;Text style={{ fontSize: 15, color: '#5B84C4', lineHeight: 1.5 }}&gt;Requirements&lt;br /&gt;&amp;amp; Use Case Modeling&lt;/Text&gt;&#10;    &lt;/Box&gt;&#10;    &lt;Box style={{ flex: 1, padding: '50px 56px', flexDirection: 'column', gap: 15 }}&gt;&#10;      {[&#10;        { n: '01', t: 'Requirements, Briefly', p: '03' },&#10;        { n: '02', t: 'Actors &amp;amp; Goals', p: '08' },&#10;        { n: '03', t: 'The Use Case Diagram', p: '14' },&#10;        { n: '04', t: 'Include vs. Extend', p: '20' },&#10;        { n: '05', t: 'Finding Use Cases', p: '24' },&#10;        { n: '06', t: 'Lab — Exercise 4.1, 4.2 &amp;amp; M1', p: '30' },&#10;      ].map((item) =&gt; (&#10;        &lt;Box key={item.n} style={{ flexDirection: 'row', alignItems: 'center', gap: 20, padding: '14px 20px', background: '#F7F9FC', borderRadius: 10, border: '1px solid #E5E7EB' }}&gt;&#10;          &lt;Box style={{ width: 52, height: 52, borderRadius: 8, background: '#1E4FA8', justifyContent: 'center', alignItems: 'center' }}&gt;&#10;            &lt;Text style={{ fontSize: 22, fontWeight: 'bold', color: '#FFFFFF' }}&gt;{item.n}&lt;/Text&gt;&#10;          &lt;/Box&gt;&#10;          &lt;Text style={{ flex: 1, fontSize: 20, color: '#1A2230', fontWeight: '600' }}&gt;{item.t}&lt;/Text&gt;&#10;          &lt;Text style={{ fontSize: 20, color: '#8B97A8', fontWeight: 'bold' }}&gt;{item.p}&lt;/Text&gt;&#10;        &lt;/Box&gt;&#10;      ))}&#10;    &lt;/Box&gt;&#10;  &lt;/Box&gt;&#10;&lt;/Slide&gt;"/>
        <p:cNvGrpSpPr/>
        <p:nvPr/>
      </p:nvGrpSpPr>
      <p:grpSpPr>
        <a:xfrm>
          <a:off x="0" y="0"/>
          <a:ext cx="0" cy="0"/>
          <a:chOff x="0" y="0"/>
          <a:chExt cx="0" cy="0"/>
        </a:xfrm>
      </p:grpSpPr>
      <p:sp>
        <p:nvSpPr>
          <p:cNvPr id="287" name=""/>
          <p:cNvSpPr/>
          <p:nvPr/>
        </p:nvSpPr>
        <p:spPr>
          <a:xfrm rot="0" flipH="0" flipV="0">
            <a:off x="0" y="0"/>
            <a:ext cx="12192000" cy="6858000"/>
          </a:xfrm>
          <a:prstGeom prst="rect">
            <a:avLst/>
          </a:prstGeom>
          <a:solidFill>
            <a:srgbClr val="FFFFFF"/>
          </a:solidFill>
          <a:ln/>
        </p:spPr>
        <p:txBody>
          <a:bodyPr/>
          <a:p/>
        </p:txBody>
      </p:sp>
      <p:sp>
        <p:nvSpPr>
          <p:cNvPr id="288" name=""/>
          <p:cNvSpPr/>
          <p:nvPr/>
        </p:nvSpPr>
        <p:spPr>
          <a:xfrm rot="0" flipH="0" flipV="0">
            <a:off x="0" y="0"/>
            <a:ext cx="3048000" cy="6858000"/>
          </a:xfrm>
          <a:prstGeom prst="rect">
            <a:avLst/>
          </a:prstGeom>
          <a:solidFill>
            <a:srgbClr val="0E3F8C"/>
          </a:solidFill>
          <a:ln/>
        </p:spPr>
        <p:txBody>
          <a:bodyPr/>
          <a:p/>
        </p:txBody>
      </p:sp>
      <p:sp>
        <p:nvSpPr>
          <p:cNvPr id="289" name=""/>
          <p:cNvSpPr/>
          <p:nvPr/>
        </p:nvSpPr>
        <p:spPr>
          <a:xfrm rot="0" flipH="0" flipV="0">
            <a:off x="419100" y="571500"/>
            <a:ext cx="381000" cy="38100"/>
          </a:xfrm>
          <a:prstGeom prst="rect">
            <a:avLst/>
          </a:prstGeom>
          <a:solidFill>
            <a:srgbClr val="FFC107"/>
          </a:solidFill>
          <a:ln/>
        </p:spPr>
        <p:txBody>
          <a:bodyPr/>
          <a:p/>
        </p:txBody>
      </p:sp>
      <p:sp>
        <p:nvSpPr>
          <p:cNvPr id="290" name="" descr="{&quot;isTemplate&quot;:true,&quot;type&quot;:&quot;text&quot;}"/>
          <p:cNvSpPr txBox="1"/>
          <p:nvPr/>
        </p:nvSpPr>
        <p:spPr>
          <a:xfrm rot="0" flipH="0" flipV="0">
            <a:off x="419100" y="838200"/>
            <a:ext cx="2209800" cy="609600"/>
          </a:xfrm>
          <a:prstGeom prst="rect"/>
        </p:spPr>
        <p:txBody>
          <a:bodyPr wrap="none" lIns="0" tIns="0" rIns="0" bIns="0"/>
          <a:p>
            <a:pPr>
              <a:lnSpc>
                <a:spcPct val="114999"/>
              </a:lnSpc>
            </a:pPr>
            <a:r>
              <a:rPr lang="en-US" sz="3450" b="1">
                <a:solidFill>
                  <a:srgbClr val="FFFFFF"/>
                </a:solidFill>
                <a:latin typeface="Georgia"/>
                <a:ea typeface="Georgia"/>
              </a:rPr>
              <a:t>Contents</a:t>
            </a:r>
            <a:endParaRPr/>
          </a:p>
        </p:txBody>
      </p:sp>
      <p:sp>
        <p:nvSpPr>
          <p:cNvPr id="291" name="" descr="{&quot;isTemplate&quot;:true,&quot;type&quot;:&quot;text&quot;}"/>
          <p:cNvSpPr txBox="1"/>
          <p:nvPr/>
        </p:nvSpPr>
        <p:spPr>
          <a:xfrm rot="0" flipH="0" flipV="0">
            <a:off x="419100" y="1619250"/>
            <a:ext cx="2209800" cy="190500"/>
          </a:xfrm>
          <a:prstGeom prst="rect"/>
        </p:spPr>
        <p:txBody>
          <a:bodyPr wrap="none" lIns="0" tIns="0" rIns="0" bIns="0"/>
          <a:p>
            <a:pPr>
              <a:lnSpc>
                <a:spcPct val="100000"/>
              </a:lnSpc>
            </a:pPr>
            <a:r>
              <a:rPr lang="en-US" sz="1200" spc="75">
                <a:solidFill>
                  <a:srgbClr val="7FA2D6"/>
                </a:solidFill>
                <a:latin typeface="Microsoft YaHei"/>
                <a:ea typeface="Microsoft YaHei"/>
              </a:rPr>
              <a:t>WEEK 04 · ROADMAP</a:t>
            </a:r>
            <a:endParaRPr/>
          </a:p>
        </p:txBody>
      </p:sp>
      <p:sp>
        <p:nvSpPr>
          <p:cNvPr id="292" name="" descr="{&quot;isTemplate&quot;:true,&quot;type&quot;:&quot;text&quot;}"/>
          <p:cNvSpPr txBox="1"/>
          <p:nvPr/>
        </p:nvSpPr>
        <p:spPr>
          <a:xfrm rot="0" flipH="0" flipV="0">
            <a:off x="419100" y="5772150"/>
            <a:ext cx="2209800" cy="514350"/>
          </a:xfrm>
          <a:prstGeom prst="rect"/>
        </p:spPr>
        <p:txBody>
          <a:bodyPr wrap="none" lIns="0" tIns="0" rIns="0" bIns="0"/>
          <a:p>
            <a:pPr>
              <a:lnSpc>
                <a:spcPct val="150000"/>
              </a:lnSpc>
            </a:pPr>
            <a:r>
              <a:rPr lang="en-US" sz="1125">
                <a:solidFill>
                  <a:srgbClr val="5B84C4"/>
                </a:solidFill>
                <a:latin typeface="Microsoft YaHei"/>
                <a:ea typeface="Microsoft YaHei"/>
              </a:rPr>
              <a:t>Requirements</a:t>
            </a:r>
            <a:endParaRPr/>
          </a:p>
          <a:p>
            <a:pPr>
              <a:lnSpc>
                <a:spcPct val="150000"/>
              </a:lnSpc>
            </a:pPr>
            <a:r>
              <a:rPr lang="en-US" sz="1125">
                <a:solidFill>
                  <a:srgbClr val="5B84C4"/>
                </a:solidFill>
                <a:latin typeface="Microsoft YaHei"/>
                <a:ea typeface="Microsoft YaHei"/>
              </a:rPr>
              <a:t>&amp; Use Case Modeling</a:t>
            </a:r>
            <a:endParaRPr/>
          </a:p>
        </p:txBody>
      </p:sp>
      <p:sp>
        <p:nvSpPr>
          <p:cNvPr id="293" name=""/>
          <p:cNvSpPr/>
          <p:nvPr/>
        </p:nvSpPr>
        <p:spPr>
          <a:xfrm rot="0" flipH="0" flipV="0">
            <a:off x="3581400" y="476250"/>
            <a:ext cx="8077200" cy="762000"/>
          </a:xfrm>
          <a:prstGeom prst="roundRect">
            <a:avLst>
              <a:gd name="adj" fmla="val 12500"/>
            </a:avLst>
          </a:prstGeom>
          <a:solidFill>
            <a:srgbClr val="F7F9FC"/>
          </a:solidFill>
          <a:ln w="12700">
            <a:solidFill>
              <a:srgbClr val="E5E7EB"/>
            </a:solidFill>
            <a:prstDash val="solid"/>
          </a:ln>
        </p:spPr>
        <p:txBody>
          <a:bodyPr/>
          <a:p/>
        </p:txBody>
      </p:sp>
      <p:sp>
        <p:nvSpPr>
          <p:cNvPr id="294" name=""/>
          <p:cNvSpPr/>
          <p:nvPr/>
        </p:nvSpPr>
        <p:spPr>
          <a:xfrm rot="0" flipH="0" flipV="0">
            <a:off x="3771900" y="609600"/>
            <a:ext cx="495300" cy="495300"/>
          </a:xfrm>
          <a:prstGeom prst="roundRect">
            <a:avLst>
              <a:gd name="adj" fmla="val 15385"/>
            </a:avLst>
          </a:prstGeom>
          <a:solidFill>
            <a:srgbClr val="1E4FA8"/>
          </a:solidFill>
          <a:ln/>
        </p:spPr>
        <p:txBody>
          <a:bodyPr/>
          <a:p/>
        </p:txBody>
      </p:sp>
      <p:sp>
        <p:nvSpPr>
          <p:cNvPr id="295" name="" descr="{&quot;isTemplate&quot;:true,&quot;type&quot;:&quot;text&quot;}"/>
          <p:cNvSpPr txBox="1"/>
          <p:nvPr/>
        </p:nvSpPr>
        <p:spPr>
          <a:xfrm rot="0" flipH="0" flipV="0">
            <a:off x="3905250" y="733425"/>
            <a:ext cx="238125" cy="257175"/>
          </a:xfrm>
          <a:prstGeom prst="rect"/>
        </p:spPr>
        <p:txBody>
          <a:bodyPr wrap="none" lIns="0" tIns="0" rIns="0" bIns="0"/>
          <a:p>
            <a:pPr>
              <a:lnSpc>
                <a:spcPct val="100000"/>
              </a:lnSpc>
            </a:pPr>
            <a:r>
              <a:rPr lang="en-US" sz="1650" b="1">
                <a:solidFill>
                  <a:srgbClr val="FFFFFF"/>
                </a:solidFill>
                <a:latin typeface="Microsoft YaHei"/>
                <a:ea typeface="Microsoft YaHei"/>
              </a:rPr>
              <a:t>01</a:t>
            </a:r>
            <a:endParaRPr/>
          </a:p>
        </p:txBody>
      </p:sp>
      <p:sp>
        <p:nvSpPr>
          <p:cNvPr id="296" name="" descr="{&quot;isTemplate&quot;:true,&quot;type&quot;:&quot;text&quot;}"/>
          <p:cNvSpPr txBox="1"/>
          <p:nvPr/>
        </p:nvSpPr>
        <p:spPr>
          <a:xfrm rot="0" flipH="0" flipV="0">
            <a:off x="4457700" y="742950"/>
            <a:ext cx="6600825" cy="228600"/>
          </a:xfrm>
          <a:prstGeom prst="rect"/>
        </p:spPr>
        <p:txBody>
          <a:bodyPr wrap="none" lIns="0" tIns="0" rIns="0" bIns="0"/>
          <a:p>
            <a:pPr>
              <a:lnSpc>
                <a:spcPct val="100000"/>
              </a:lnSpc>
            </a:pPr>
            <a:r>
              <a:rPr lang="en-US" sz="1500" b="1">
                <a:solidFill>
                  <a:srgbClr val="1A2230"/>
                </a:solidFill>
                <a:latin typeface="Microsoft YaHei"/>
                <a:ea typeface="Microsoft YaHei"/>
              </a:rPr>
              <a:t>Requirements, Briefly</a:t>
            </a:r>
            <a:endParaRPr/>
          </a:p>
        </p:txBody>
      </p:sp>
      <p:sp>
        <p:nvSpPr>
          <p:cNvPr id="297" name="" descr="{&quot;isTemplate&quot;:true,&quot;type&quot;:&quot;text&quot;}"/>
          <p:cNvSpPr txBox="1"/>
          <p:nvPr/>
        </p:nvSpPr>
        <p:spPr>
          <a:xfrm rot="0" flipH="0" flipV="0">
            <a:off x="11249025" y="742950"/>
            <a:ext cx="219075" cy="228600"/>
          </a:xfrm>
          <a:prstGeom prst="rect"/>
        </p:spPr>
        <p:txBody>
          <a:bodyPr wrap="none" lIns="0" tIns="0" rIns="0" bIns="0"/>
          <a:p>
            <a:pPr>
              <a:lnSpc>
                <a:spcPct val="100000"/>
              </a:lnSpc>
            </a:pPr>
            <a:r>
              <a:rPr lang="en-US" sz="1500" b="1">
                <a:solidFill>
                  <a:srgbClr val="8B97A8"/>
                </a:solidFill>
                <a:latin typeface="Microsoft YaHei"/>
                <a:ea typeface="Microsoft YaHei"/>
              </a:rPr>
              <a:t>03</a:t>
            </a:r>
            <a:endParaRPr/>
          </a:p>
        </p:txBody>
      </p:sp>
      <p:sp>
        <p:nvSpPr>
          <p:cNvPr id="298" name=""/>
          <p:cNvSpPr/>
          <p:nvPr/>
        </p:nvSpPr>
        <p:spPr>
          <a:xfrm rot="0" flipH="0" flipV="0">
            <a:off x="3581400" y="1381125"/>
            <a:ext cx="8077200" cy="762000"/>
          </a:xfrm>
          <a:prstGeom prst="roundRect">
            <a:avLst>
              <a:gd name="adj" fmla="val 12500"/>
            </a:avLst>
          </a:prstGeom>
          <a:solidFill>
            <a:srgbClr val="F7F9FC"/>
          </a:solidFill>
          <a:ln w="12700">
            <a:solidFill>
              <a:srgbClr val="E5E7EB"/>
            </a:solidFill>
            <a:prstDash val="solid"/>
          </a:ln>
        </p:spPr>
        <p:txBody>
          <a:bodyPr/>
          <a:p/>
        </p:txBody>
      </p:sp>
      <p:sp>
        <p:nvSpPr>
          <p:cNvPr id="299" name=""/>
          <p:cNvSpPr/>
          <p:nvPr/>
        </p:nvSpPr>
        <p:spPr>
          <a:xfrm rot="0" flipH="0" flipV="0">
            <a:off x="3771900" y="1514475"/>
            <a:ext cx="495300" cy="495300"/>
          </a:xfrm>
          <a:prstGeom prst="roundRect">
            <a:avLst>
              <a:gd name="adj" fmla="val 15385"/>
            </a:avLst>
          </a:prstGeom>
          <a:solidFill>
            <a:srgbClr val="1E4FA8"/>
          </a:solidFill>
          <a:ln/>
        </p:spPr>
        <p:txBody>
          <a:bodyPr/>
          <a:p/>
        </p:txBody>
      </p:sp>
      <p:sp>
        <p:nvSpPr>
          <p:cNvPr id="300" name="" descr="{&quot;isTemplate&quot;:true,&quot;type&quot;:&quot;text&quot;}"/>
          <p:cNvSpPr txBox="1"/>
          <p:nvPr/>
        </p:nvSpPr>
        <p:spPr>
          <a:xfrm rot="0" flipH="0" flipV="0">
            <a:off x="3905250" y="1638300"/>
            <a:ext cx="238125" cy="257175"/>
          </a:xfrm>
          <a:prstGeom prst="rect"/>
        </p:spPr>
        <p:txBody>
          <a:bodyPr wrap="none" lIns="0" tIns="0" rIns="0" bIns="0"/>
          <a:p>
            <a:pPr>
              <a:lnSpc>
                <a:spcPct val="100000"/>
              </a:lnSpc>
            </a:pPr>
            <a:r>
              <a:rPr lang="en-US" sz="1650" b="1">
                <a:solidFill>
                  <a:srgbClr val="FFFFFF"/>
                </a:solidFill>
                <a:latin typeface="Microsoft YaHei"/>
                <a:ea typeface="Microsoft YaHei"/>
              </a:rPr>
              <a:t>02</a:t>
            </a:r>
            <a:endParaRPr/>
          </a:p>
        </p:txBody>
      </p:sp>
      <p:sp>
        <p:nvSpPr>
          <p:cNvPr id="301" name="" descr="{&quot;isTemplate&quot;:true,&quot;type&quot;:&quot;text&quot;}"/>
          <p:cNvSpPr txBox="1"/>
          <p:nvPr/>
        </p:nvSpPr>
        <p:spPr>
          <a:xfrm rot="0" flipH="0" flipV="0">
            <a:off x="4457700" y="1647825"/>
            <a:ext cx="6600825" cy="228600"/>
          </a:xfrm>
          <a:prstGeom prst="rect"/>
        </p:spPr>
        <p:txBody>
          <a:bodyPr wrap="none" lIns="0" tIns="0" rIns="0" bIns="0"/>
          <a:p>
            <a:pPr>
              <a:lnSpc>
                <a:spcPct val="100000"/>
              </a:lnSpc>
            </a:pPr>
            <a:r>
              <a:rPr lang="en-US" sz="1500" b="1">
                <a:solidFill>
                  <a:srgbClr val="1A2230"/>
                </a:solidFill>
                <a:latin typeface="Microsoft YaHei"/>
                <a:ea typeface="Microsoft YaHei"/>
              </a:rPr>
              <a:t>Actors &amp;amp; Goals</a:t>
            </a:r>
            <a:endParaRPr/>
          </a:p>
        </p:txBody>
      </p:sp>
      <p:sp>
        <p:nvSpPr>
          <p:cNvPr id="302" name="" descr="{&quot;isTemplate&quot;:true,&quot;type&quot;:&quot;text&quot;}"/>
          <p:cNvSpPr txBox="1"/>
          <p:nvPr/>
        </p:nvSpPr>
        <p:spPr>
          <a:xfrm rot="0" flipH="0" flipV="0">
            <a:off x="11249025" y="1647825"/>
            <a:ext cx="219075" cy="228600"/>
          </a:xfrm>
          <a:prstGeom prst="rect"/>
        </p:spPr>
        <p:txBody>
          <a:bodyPr wrap="none" lIns="0" tIns="0" rIns="0" bIns="0"/>
          <a:p>
            <a:pPr>
              <a:lnSpc>
                <a:spcPct val="100000"/>
              </a:lnSpc>
            </a:pPr>
            <a:r>
              <a:rPr lang="en-US" sz="1500" b="1">
                <a:solidFill>
                  <a:srgbClr val="8B97A8"/>
                </a:solidFill>
                <a:latin typeface="Microsoft YaHei"/>
                <a:ea typeface="Microsoft YaHei"/>
              </a:rPr>
              <a:t>08</a:t>
            </a:r>
            <a:endParaRPr/>
          </a:p>
        </p:txBody>
      </p:sp>
      <p:sp>
        <p:nvSpPr>
          <p:cNvPr id="303" name=""/>
          <p:cNvSpPr/>
          <p:nvPr/>
        </p:nvSpPr>
        <p:spPr>
          <a:xfrm rot="0" flipH="0" flipV="0">
            <a:off x="3581400" y="2286000"/>
            <a:ext cx="8077200" cy="762000"/>
          </a:xfrm>
          <a:prstGeom prst="roundRect">
            <a:avLst>
              <a:gd name="adj" fmla="val 12500"/>
            </a:avLst>
          </a:prstGeom>
          <a:solidFill>
            <a:srgbClr val="F7F9FC"/>
          </a:solidFill>
          <a:ln w="12700">
            <a:solidFill>
              <a:srgbClr val="E5E7EB"/>
            </a:solidFill>
            <a:prstDash val="solid"/>
          </a:ln>
        </p:spPr>
        <p:txBody>
          <a:bodyPr/>
          <a:p/>
        </p:txBody>
      </p:sp>
      <p:sp>
        <p:nvSpPr>
          <p:cNvPr id="304" name=""/>
          <p:cNvSpPr/>
          <p:nvPr/>
        </p:nvSpPr>
        <p:spPr>
          <a:xfrm rot="0" flipH="0" flipV="0">
            <a:off x="3771900" y="2419350"/>
            <a:ext cx="495300" cy="495300"/>
          </a:xfrm>
          <a:prstGeom prst="roundRect">
            <a:avLst>
              <a:gd name="adj" fmla="val 15385"/>
            </a:avLst>
          </a:prstGeom>
          <a:solidFill>
            <a:srgbClr val="1E4FA8"/>
          </a:solidFill>
          <a:ln/>
        </p:spPr>
        <p:txBody>
          <a:bodyPr/>
          <a:p/>
        </p:txBody>
      </p:sp>
      <p:sp>
        <p:nvSpPr>
          <p:cNvPr id="305" name="" descr="{&quot;isTemplate&quot;:true,&quot;type&quot;:&quot;text&quot;}"/>
          <p:cNvSpPr txBox="1"/>
          <p:nvPr/>
        </p:nvSpPr>
        <p:spPr>
          <a:xfrm rot="0" flipH="0" flipV="0">
            <a:off x="3905250" y="2543175"/>
            <a:ext cx="238125" cy="257175"/>
          </a:xfrm>
          <a:prstGeom prst="rect"/>
        </p:spPr>
        <p:txBody>
          <a:bodyPr wrap="none" lIns="0" tIns="0" rIns="0" bIns="0"/>
          <a:p>
            <a:pPr>
              <a:lnSpc>
                <a:spcPct val="100000"/>
              </a:lnSpc>
            </a:pPr>
            <a:r>
              <a:rPr lang="en-US" sz="1650" b="1">
                <a:solidFill>
                  <a:srgbClr val="FFFFFF"/>
                </a:solidFill>
                <a:latin typeface="Microsoft YaHei"/>
                <a:ea typeface="Microsoft YaHei"/>
              </a:rPr>
              <a:t>03</a:t>
            </a:r>
            <a:endParaRPr/>
          </a:p>
        </p:txBody>
      </p:sp>
      <p:sp>
        <p:nvSpPr>
          <p:cNvPr id="306" name="" descr="{&quot;isTemplate&quot;:true,&quot;type&quot;:&quot;text&quot;}"/>
          <p:cNvSpPr txBox="1"/>
          <p:nvPr/>
        </p:nvSpPr>
        <p:spPr>
          <a:xfrm rot="0" flipH="0" flipV="0">
            <a:off x="4457700" y="2552700"/>
            <a:ext cx="6600825" cy="228600"/>
          </a:xfrm>
          <a:prstGeom prst="rect"/>
        </p:spPr>
        <p:txBody>
          <a:bodyPr wrap="none" lIns="0" tIns="0" rIns="0" bIns="0"/>
          <a:p>
            <a:pPr>
              <a:lnSpc>
                <a:spcPct val="100000"/>
              </a:lnSpc>
            </a:pPr>
            <a:r>
              <a:rPr lang="en-US" sz="1500" b="1">
                <a:solidFill>
                  <a:srgbClr val="1A2230"/>
                </a:solidFill>
                <a:latin typeface="Microsoft YaHei"/>
                <a:ea typeface="Microsoft YaHei"/>
              </a:rPr>
              <a:t>The Use Case Diagram</a:t>
            </a:r>
            <a:endParaRPr/>
          </a:p>
        </p:txBody>
      </p:sp>
      <p:sp>
        <p:nvSpPr>
          <p:cNvPr id="307" name="" descr="{&quot;isTemplate&quot;:true,&quot;type&quot;:&quot;text&quot;}"/>
          <p:cNvSpPr txBox="1"/>
          <p:nvPr/>
        </p:nvSpPr>
        <p:spPr>
          <a:xfrm rot="0" flipH="0" flipV="0">
            <a:off x="11249025" y="2552700"/>
            <a:ext cx="219075" cy="228600"/>
          </a:xfrm>
          <a:prstGeom prst="rect"/>
        </p:spPr>
        <p:txBody>
          <a:bodyPr wrap="none" lIns="0" tIns="0" rIns="0" bIns="0"/>
          <a:p>
            <a:pPr>
              <a:lnSpc>
                <a:spcPct val="100000"/>
              </a:lnSpc>
            </a:pPr>
            <a:r>
              <a:rPr lang="en-US" sz="1500" b="1">
                <a:solidFill>
                  <a:srgbClr val="8B97A8"/>
                </a:solidFill>
                <a:latin typeface="Microsoft YaHei"/>
                <a:ea typeface="Microsoft YaHei"/>
              </a:rPr>
              <a:t>14</a:t>
            </a:r>
            <a:endParaRPr/>
          </a:p>
        </p:txBody>
      </p:sp>
      <p:sp>
        <p:nvSpPr>
          <p:cNvPr id="308" name=""/>
          <p:cNvSpPr/>
          <p:nvPr/>
        </p:nvSpPr>
        <p:spPr>
          <a:xfrm rot="0" flipH="0" flipV="0">
            <a:off x="3581400" y="3190875"/>
            <a:ext cx="8077200" cy="762000"/>
          </a:xfrm>
          <a:prstGeom prst="roundRect">
            <a:avLst>
              <a:gd name="adj" fmla="val 12500"/>
            </a:avLst>
          </a:prstGeom>
          <a:solidFill>
            <a:srgbClr val="F7F9FC"/>
          </a:solidFill>
          <a:ln w="12700">
            <a:solidFill>
              <a:srgbClr val="E5E7EB"/>
            </a:solidFill>
            <a:prstDash val="solid"/>
          </a:ln>
        </p:spPr>
        <p:txBody>
          <a:bodyPr/>
          <a:p/>
        </p:txBody>
      </p:sp>
      <p:sp>
        <p:nvSpPr>
          <p:cNvPr id="309" name=""/>
          <p:cNvSpPr/>
          <p:nvPr/>
        </p:nvSpPr>
        <p:spPr>
          <a:xfrm rot="0" flipH="0" flipV="0">
            <a:off x="3771900" y="3324225"/>
            <a:ext cx="495300" cy="495300"/>
          </a:xfrm>
          <a:prstGeom prst="roundRect">
            <a:avLst>
              <a:gd name="adj" fmla="val 15385"/>
            </a:avLst>
          </a:prstGeom>
          <a:solidFill>
            <a:srgbClr val="1E4FA8"/>
          </a:solidFill>
          <a:ln/>
        </p:spPr>
        <p:txBody>
          <a:bodyPr/>
          <a:p/>
        </p:txBody>
      </p:sp>
      <p:sp>
        <p:nvSpPr>
          <p:cNvPr id="310" name="" descr="{&quot;isTemplate&quot;:true,&quot;type&quot;:&quot;text&quot;}"/>
          <p:cNvSpPr txBox="1"/>
          <p:nvPr/>
        </p:nvSpPr>
        <p:spPr>
          <a:xfrm rot="0" flipH="0" flipV="0">
            <a:off x="3905250" y="3448050"/>
            <a:ext cx="238125" cy="257175"/>
          </a:xfrm>
          <a:prstGeom prst="rect"/>
        </p:spPr>
        <p:txBody>
          <a:bodyPr wrap="none" lIns="0" tIns="0" rIns="0" bIns="0"/>
          <a:p>
            <a:pPr>
              <a:lnSpc>
                <a:spcPct val="100000"/>
              </a:lnSpc>
            </a:pPr>
            <a:r>
              <a:rPr lang="en-US" sz="1650" b="1">
                <a:solidFill>
                  <a:srgbClr val="FFFFFF"/>
                </a:solidFill>
                <a:latin typeface="Microsoft YaHei"/>
                <a:ea typeface="Microsoft YaHei"/>
              </a:rPr>
              <a:t>04</a:t>
            </a:r>
            <a:endParaRPr/>
          </a:p>
        </p:txBody>
      </p:sp>
      <p:sp>
        <p:nvSpPr>
          <p:cNvPr id="311" name="" descr="{&quot;isTemplate&quot;:true,&quot;type&quot;:&quot;text&quot;}"/>
          <p:cNvSpPr txBox="1"/>
          <p:nvPr/>
        </p:nvSpPr>
        <p:spPr>
          <a:xfrm rot="0" flipH="0" flipV="0">
            <a:off x="4457700" y="3457575"/>
            <a:ext cx="6600825" cy="228600"/>
          </a:xfrm>
          <a:prstGeom prst="rect"/>
        </p:spPr>
        <p:txBody>
          <a:bodyPr wrap="none" lIns="0" tIns="0" rIns="0" bIns="0"/>
          <a:p>
            <a:pPr>
              <a:lnSpc>
                <a:spcPct val="100000"/>
              </a:lnSpc>
            </a:pPr>
            <a:r>
              <a:rPr lang="en-US" sz="1500" b="1">
                <a:solidFill>
                  <a:srgbClr val="1A2230"/>
                </a:solidFill>
                <a:latin typeface="Microsoft YaHei"/>
                <a:ea typeface="Microsoft YaHei"/>
              </a:rPr>
              <a:t>Include vs. Extend</a:t>
            </a:r>
            <a:endParaRPr/>
          </a:p>
        </p:txBody>
      </p:sp>
      <p:sp>
        <p:nvSpPr>
          <p:cNvPr id="312" name="" descr="{&quot;isTemplate&quot;:true,&quot;type&quot;:&quot;text&quot;}"/>
          <p:cNvSpPr txBox="1"/>
          <p:nvPr/>
        </p:nvSpPr>
        <p:spPr>
          <a:xfrm rot="0" flipH="0" flipV="0">
            <a:off x="11249025" y="3457575"/>
            <a:ext cx="219075" cy="228600"/>
          </a:xfrm>
          <a:prstGeom prst="rect"/>
        </p:spPr>
        <p:txBody>
          <a:bodyPr wrap="none" lIns="0" tIns="0" rIns="0" bIns="0"/>
          <a:p>
            <a:pPr>
              <a:lnSpc>
                <a:spcPct val="100000"/>
              </a:lnSpc>
            </a:pPr>
            <a:r>
              <a:rPr lang="en-US" sz="1500" b="1">
                <a:solidFill>
                  <a:srgbClr val="8B97A8"/>
                </a:solidFill>
                <a:latin typeface="Microsoft YaHei"/>
                <a:ea typeface="Microsoft YaHei"/>
              </a:rPr>
              <a:t>20</a:t>
            </a:r>
            <a:endParaRPr/>
          </a:p>
        </p:txBody>
      </p:sp>
      <p:sp>
        <p:nvSpPr>
          <p:cNvPr id="313" name=""/>
          <p:cNvSpPr/>
          <p:nvPr/>
        </p:nvSpPr>
        <p:spPr>
          <a:xfrm rot="0" flipH="0" flipV="0">
            <a:off x="3581400" y="4095750"/>
            <a:ext cx="8077200" cy="762000"/>
          </a:xfrm>
          <a:prstGeom prst="roundRect">
            <a:avLst>
              <a:gd name="adj" fmla="val 12500"/>
            </a:avLst>
          </a:prstGeom>
          <a:solidFill>
            <a:srgbClr val="F7F9FC"/>
          </a:solidFill>
          <a:ln w="12700">
            <a:solidFill>
              <a:srgbClr val="E5E7EB"/>
            </a:solidFill>
            <a:prstDash val="solid"/>
          </a:ln>
        </p:spPr>
        <p:txBody>
          <a:bodyPr/>
          <a:p/>
        </p:txBody>
      </p:sp>
      <p:sp>
        <p:nvSpPr>
          <p:cNvPr id="314" name=""/>
          <p:cNvSpPr/>
          <p:nvPr/>
        </p:nvSpPr>
        <p:spPr>
          <a:xfrm rot="0" flipH="0" flipV="0">
            <a:off x="3771900" y="4229100"/>
            <a:ext cx="495300" cy="495300"/>
          </a:xfrm>
          <a:prstGeom prst="roundRect">
            <a:avLst>
              <a:gd name="adj" fmla="val 15385"/>
            </a:avLst>
          </a:prstGeom>
          <a:solidFill>
            <a:srgbClr val="1E4FA8"/>
          </a:solidFill>
          <a:ln/>
        </p:spPr>
        <p:txBody>
          <a:bodyPr/>
          <a:p/>
        </p:txBody>
      </p:sp>
      <p:sp>
        <p:nvSpPr>
          <p:cNvPr id="315" name="" descr="{&quot;isTemplate&quot;:true,&quot;type&quot;:&quot;text&quot;}"/>
          <p:cNvSpPr txBox="1"/>
          <p:nvPr/>
        </p:nvSpPr>
        <p:spPr>
          <a:xfrm rot="0" flipH="0" flipV="0">
            <a:off x="3905250" y="4352925"/>
            <a:ext cx="238125" cy="257175"/>
          </a:xfrm>
          <a:prstGeom prst="rect"/>
        </p:spPr>
        <p:txBody>
          <a:bodyPr wrap="none" lIns="0" tIns="0" rIns="0" bIns="0"/>
          <a:p>
            <a:pPr>
              <a:lnSpc>
                <a:spcPct val="100000"/>
              </a:lnSpc>
            </a:pPr>
            <a:r>
              <a:rPr lang="en-US" sz="1650" b="1">
                <a:solidFill>
                  <a:srgbClr val="FFFFFF"/>
                </a:solidFill>
                <a:latin typeface="Microsoft YaHei"/>
                <a:ea typeface="Microsoft YaHei"/>
              </a:rPr>
              <a:t>05</a:t>
            </a:r>
            <a:endParaRPr/>
          </a:p>
        </p:txBody>
      </p:sp>
      <p:sp>
        <p:nvSpPr>
          <p:cNvPr id="316" name="" descr="{&quot;isTemplate&quot;:true,&quot;type&quot;:&quot;text&quot;}"/>
          <p:cNvSpPr txBox="1"/>
          <p:nvPr/>
        </p:nvSpPr>
        <p:spPr>
          <a:xfrm rot="0" flipH="0" flipV="0">
            <a:off x="4457700" y="4362450"/>
            <a:ext cx="6600825" cy="228600"/>
          </a:xfrm>
          <a:prstGeom prst="rect"/>
        </p:spPr>
        <p:txBody>
          <a:bodyPr wrap="none" lIns="0" tIns="0" rIns="0" bIns="0"/>
          <a:p>
            <a:pPr>
              <a:lnSpc>
                <a:spcPct val="100000"/>
              </a:lnSpc>
            </a:pPr>
            <a:r>
              <a:rPr lang="en-US" sz="1500" b="1">
                <a:solidFill>
                  <a:srgbClr val="1A2230"/>
                </a:solidFill>
                <a:latin typeface="Microsoft YaHei"/>
                <a:ea typeface="Microsoft YaHei"/>
              </a:rPr>
              <a:t>Finding Use Cases</a:t>
            </a:r>
            <a:endParaRPr/>
          </a:p>
        </p:txBody>
      </p:sp>
      <p:sp>
        <p:nvSpPr>
          <p:cNvPr id="317" name="" descr="{&quot;isTemplate&quot;:true,&quot;type&quot;:&quot;text&quot;}"/>
          <p:cNvSpPr txBox="1"/>
          <p:nvPr/>
        </p:nvSpPr>
        <p:spPr>
          <a:xfrm rot="0" flipH="0" flipV="0">
            <a:off x="11249025" y="4362450"/>
            <a:ext cx="219075" cy="228600"/>
          </a:xfrm>
          <a:prstGeom prst="rect"/>
        </p:spPr>
        <p:txBody>
          <a:bodyPr wrap="none" lIns="0" tIns="0" rIns="0" bIns="0"/>
          <a:p>
            <a:pPr>
              <a:lnSpc>
                <a:spcPct val="100000"/>
              </a:lnSpc>
            </a:pPr>
            <a:r>
              <a:rPr lang="en-US" sz="1500" b="1">
                <a:solidFill>
                  <a:srgbClr val="8B97A8"/>
                </a:solidFill>
                <a:latin typeface="Microsoft YaHei"/>
                <a:ea typeface="Microsoft YaHei"/>
              </a:rPr>
              <a:t>24</a:t>
            </a:r>
            <a:endParaRPr/>
          </a:p>
        </p:txBody>
      </p:sp>
      <p:sp>
        <p:nvSpPr>
          <p:cNvPr id="318" name=""/>
          <p:cNvSpPr/>
          <p:nvPr/>
        </p:nvSpPr>
        <p:spPr>
          <a:xfrm rot="0" flipH="0" flipV="0">
            <a:off x="3581400" y="5000625"/>
            <a:ext cx="8077200" cy="762000"/>
          </a:xfrm>
          <a:prstGeom prst="roundRect">
            <a:avLst>
              <a:gd name="adj" fmla="val 12500"/>
            </a:avLst>
          </a:prstGeom>
          <a:solidFill>
            <a:srgbClr val="F7F9FC"/>
          </a:solidFill>
          <a:ln w="12700">
            <a:solidFill>
              <a:srgbClr val="E5E7EB"/>
            </a:solidFill>
            <a:prstDash val="solid"/>
          </a:ln>
        </p:spPr>
        <p:txBody>
          <a:bodyPr/>
          <a:p/>
        </p:txBody>
      </p:sp>
      <p:sp>
        <p:nvSpPr>
          <p:cNvPr id="319" name=""/>
          <p:cNvSpPr/>
          <p:nvPr/>
        </p:nvSpPr>
        <p:spPr>
          <a:xfrm rot="0" flipH="0" flipV="0">
            <a:off x="3771900" y="5133975"/>
            <a:ext cx="495300" cy="495300"/>
          </a:xfrm>
          <a:prstGeom prst="roundRect">
            <a:avLst>
              <a:gd name="adj" fmla="val 15385"/>
            </a:avLst>
          </a:prstGeom>
          <a:solidFill>
            <a:srgbClr val="1E4FA8"/>
          </a:solidFill>
          <a:ln/>
        </p:spPr>
        <p:txBody>
          <a:bodyPr/>
          <a:p/>
        </p:txBody>
      </p:sp>
      <p:sp>
        <p:nvSpPr>
          <p:cNvPr id="320" name="" descr="{&quot;isTemplate&quot;:true,&quot;type&quot;:&quot;text&quot;}"/>
          <p:cNvSpPr txBox="1"/>
          <p:nvPr/>
        </p:nvSpPr>
        <p:spPr>
          <a:xfrm rot="0" flipH="0" flipV="0">
            <a:off x="3905250" y="5257800"/>
            <a:ext cx="238125" cy="257175"/>
          </a:xfrm>
          <a:prstGeom prst="rect"/>
        </p:spPr>
        <p:txBody>
          <a:bodyPr wrap="none" lIns="0" tIns="0" rIns="0" bIns="0"/>
          <a:p>
            <a:pPr>
              <a:lnSpc>
                <a:spcPct val="100000"/>
              </a:lnSpc>
            </a:pPr>
            <a:r>
              <a:rPr lang="en-US" sz="1650" b="1">
                <a:solidFill>
                  <a:srgbClr val="FFFFFF"/>
                </a:solidFill>
                <a:latin typeface="Microsoft YaHei"/>
                <a:ea typeface="Microsoft YaHei"/>
              </a:rPr>
              <a:t>06</a:t>
            </a:r>
            <a:endParaRPr/>
          </a:p>
        </p:txBody>
      </p:sp>
      <p:sp>
        <p:nvSpPr>
          <p:cNvPr id="321" name="" descr="{&quot;isTemplate&quot;:true,&quot;type&quot;:&quot;text&quot;}"/>
          <p:cNvSpPr txBox="1"/>
          <p:nvPr/>
        </p:nvSpPr>
        <p:spPr>
          <a:xfrm rot="0" flipH="0" flipV="0">
            <a:off x="4457700" y="5267325"/>
            <a:ext cx="6600825" cy="228600"/>
          </a:xfrm>
          <a:prstGeom prst="rect"/>
        </p:spPr>
        <p:txBody>
          <a:bodyPr wrap="none" lIns="0" tIns="0" rIns="0" bIns="0"/>
          <a:p>
            <a:pPr>
              <a:lnSpc>
                <a:spcPct val="100000"/>
              </a:lnSpc>
            </a:pPr>
            <a:r>
              <a:rPr lang="en-US" sz="1500" b="1">
                <a:solidFill>
                  <a:srgbClr val="1A2230"/>
                </a:solidFill>
                <a:latin typeface="Microsoft YaHei"/>
                <a:ea typeface="Microsoft YaHei"/>
              </a:rPr>
              <a:t>Lab — Exercise 4.1, 4.2 &amp;amp; M1</a:t>
            </a:r>
            <a:endParaRPr/>
          </a:p>
        </p:txBody>
      </p:sp>
      <p:sp>
        <p:nvSpPr>
          <p:cNvPr id="322" name="" descr="{&quot;isTemplate&quot;:true,&quot;type&quot;:&quot;text&quot;}"/>
          <p:cNvSpPr txBox="1"/>
          <p:nvPr/>
        </p:nvSpPr>
        <p:spPr>
          <a:xfrm rot="0" flipH="0" flipV="0">
            <a:off x="11249025" y="5267325"/>
            <a:ext cx="219075" cy="228600"/>
          </a:xfrm>
          <a:prstGeom prst="rect"/>
        </p:spPr>
        <p:txBody>
          <a:bodyPr wrap="none" lIns="0" tIns="0" rIns="0" bIns="0"/>
          <a:p>
            <a:pPr>
              <a:lnSpc>
                <a:spcPct val="100000"/>
              </a:lnSpc>
            </a:pPr>
            <a:r>
              <a:rPr lang="en-US" sz="1500" b="1">
                <a:solidFill>
                  <a:srgbClr val="8B97A8"/>
                </a:solidFill>
                <a:latin typeface="Microsoft YaHei"/>
                <a:ea typeface="Microsoft YaHei"/>
              </a:rPr>
              <a:t>30</a:t>
            </a:r>
            <a:endParaRPr/>
          </a:p>
        </p:txBody>
      </p:sp>
    </p:spTree>
  </p:cSld>
</p:sld>
</file>

<file path=ppt/slides/slide3.xml><?xml version="1.0" encoding="utf-8"?>
<p:sld xmlns:a="http://schemas.openxmlformats.org/drawingml/2006/main" xmlns:p="http://schemas.openxmlformats.org/presentationml/2006/main">
  <p:cSld>
    <p:spTree>
      <p:nvGrpSpPr>
        <p:cNvPr id="543" name="" descr="&lt;Slide style={{ background: '#0E3F8C', padding: 0 }}&gt;&#10;  &lt;Box style={{ flexDirection: 'row', height: '100%', position: 'relative' }}&gt;&#10;    &lt;Box style={{ position: 'absolute', top: 0, left: 0, right: 0, height: 8, background: '#1E4FA8' }} /&gt;&#10;    &lt;Box style={{ width: 300, justifyContent: 'center', alignItems: 'center', borderRight: '1px solid #2B5793' }}&gt;&#10;      &lt;Text style={{ fontSize: 220, fontWeight: 'bold', color: '#3D7BD9', fontFamily: 'Georgia, serif', lineHeight: 1 }}&gt;01&lt;/Text&gt;&#10;    &lt;/Box&gt;&#10;    &lt;Box style={{ flex: 1, padding: '70px 64px', flexDirection: 'column', justifyContent: 'center' }}&gt;&#10;      &lt;Text style={{ fontSize: 15, color: '#7FA2D6', letterSpacing: 2, marginBottom: 18 }}&gt;PART 1 · LECTURE&lt;/Text&gt;&#10;      &lt;Text style={{ fontSize: 46, fontWeight: 'bold', color: '#FFFFFF', lineHeight: 1.18 }}&gt;Requirements,&lt;br /&gt;Briefly&lt;/Text&gt;&#10;      &lt;Box style={{ width: 64, height: 4, background: '#FFC107', marginTop: 26, marginBottom: 26 }} /&gt;&#10;      &lt;Box style={{ flexDirection: 'column', gap: 12 }}&gt;&#10;        {[&#10;          'The requirements pack arrives today',&#10;          'Functional says what, non-functional says how well',&#10;          'A requirement you cannot test is not a requirement',&#10;        ].map((t) =&gt; (&#10;          &lt;Box key={t} style={{ flexDirection: 'row', alignItems: 'center', gap: 12 }}&gt;&#10;            &lt;Box style={{ width: 8, height: 8, borderRadius: 4, background: '#3D7BD9' }} /&gt;&#10;            &lt;Text style={{ fontSize: 20, color: '#C5D4EA' }}&gt;{t}&lt;/Text&gt;&#10;          &lt;/Box&gt;&#10;        ))}&#10;      &lt;/Box&gt;&#10;    &lt;/Box&gt;&#10;  &lt;/Box&gt;&#10;&lt;/Slide&gt;"/>
        <p:cNvGrpSpPr/>
        <p:nvPr/>
      </p:nvGrpSpPr>
      <p:grpSpPr>
        <a:xfrm>
          <a:off x="0" y="0"/>
          <a:ext cx="0" cy="0"/>
          <a:chOff x="0" y="0"/>
          <a:chExt cx="0" cy="0"/>
        </a:xfrm>
      </p:grpSpPr>
      <p:sp>
        <p:nvSpPr>
          <p:cNvPr id="544" name=""/>
          <p:cNvSpPr/>
          <p:nvPr/>
        </p:nvSpPr>
        <p:spPr>
          <a:xfrm rot="0" flipH="0" flipV="0">
            <a:off x="0" y="0"/>
            <a:ext cx="12192000" cy="6858000"/>
          </a:xfrm>
          <a:prstGeom prst="rect">
            <a:avLst/>
          </a:prstGeom>
          <a:solidFill>
            <a:srgbClr val="0E3F8C"/>
          </a:solidFill>
          <a:ln/>
        </p:spPr>
        <p:txBody>
          <a:bodyPr/>
          <a:p/>
        </p:txBody>
      </p:sp>
      <p:sp>
        <p:nvSpPr>
          <p:cNvPr id="545" name=""/>
          <p:cNvSpPr/>
          <p:nvPr/>
        </p:nvSpPr>
        <p:spPr>
          <a:xfrm rot="0" flipH="0" flipV="0">
            <a:off x="0" y="0"/>
            <a:ext cx="2857500" cy="6858000"/>
          </a:xfrm>
          <a:custGeom>
            <a:pathLst>
              <a:path w="300" h="720">
                <a:moveTo>
                  <a:pt x="299" y="0"/>
                </a:moveTo>
                <a:lnTo>
                  <a:pt x="300" y="0"/>
                </a:lnTo>
                <a:lnTo>
                  <a:pt x="300" y="720"/>
                </a:lnTo>
                <a:lnTo>
                  <a:pt x="299" y="720"/>
                </a:lnTo>
                <a:close/>
              </a:path>
            </a:pathLst>
          </a:custGeom>
          <a:solidFill>
            <a:srgbClr val="2B5793"/>
          </a:solidFill>
          <a:ln/>
        </p:spPr>
        <p:txBody>
          <a:bodyPr/>
          <a:p/>
        </p:txBody>
      </p:sp>
      <p:sp>
        <p:nvSpPr>
          <p:cNvPr id="546" name="" descr="{&quot;isTemplate&quot;:true,&quot;type&quot;:&quot;text&quot;}"/>
          <p:cNvSpPr txBox="1"/>
          <p:nvPr/>
        </p:nvSpPr>
        <p:spPr>
          <a:xfrm rot="0" flipH="0" flipV="0">
            <a:off x="171450" y="2171700"/>
            <a:ext cx="2505075" cy="2514600"/>
          </a:xfrm>
          <a:prstGeom prst="rect"/>
        </p:spPr>
        <p:txBody>
          <a:bodyPr wrap="none" lIns="0" tIns="0" rIns="0" bIns="0"/>
          <a:p>
            <a:pPr>
              <a:lnSpc>
                <a:spcPct val="100000"/>
              </a:lnSpc>
            </a:pPr>
            <a:r>
              <a:rPr lang="en-US" sz="16500" b="1">
                <a:solidFill>
                  <a:srgbClr val="3D7BD9"/>
                </a:solidFill>
                <a:latin typeface="Georgia"/>
                <a:ea typeface="Georgia"/>
              </a:rPr>
              <a:t>01</a:t>
            </a:r>
            <a:endParaRPr/>
          </a:p>
        </p:txBody>
      </p:sp>
      <p:sp>
        <p:nvSpPr>
          <p:cNvPr id="547" name="" descr="{&quot;isTemplate&quot;:true,&quot;type&quot;:&quot;text&quot;}"/>
          <p:cNvSpPr txBox="1"/>
          <p:nvPr/>
        </p:nvSpPr>
        <p:spPr>
          <a:xfrm rot="0" flipH="0" flipV="0">
            <a:off x="3467100" y="1914525"/>
            <a:ext cx="8115300" cy="171450"/>
          </a:xfrm>
          <a:prstGeom prst="rect"/>
        </p:spPr>
        <p:txBody>
          <a:bodyPr wrap="none" lIns="0" tIns="0" rIns="0" bIns="0"/>
          <a:p>
            <a:pPr>
              <a:lnSpc>
                <a:spcPct val="100000"/>
              </a:lnSpc>
            </a:pPr>
            <a:r>
              <a:rPr lang="en-US" sz="1125" spc="150">
                <a:solidFill>
                  <a:srgbClr val="7FA2D6"/>
                </a:solidFill>
                <a:latin typeface="Microsoft YaHei"/>
                <a:ea typeface="Microsoft YaHei"/>
              </a:rPr>
              <a:t>PART 1 · LECTURE</a:t>
            </a:r>
            <a:endParaRPr/>
          </a:p>
        </p:txBody>
      </p:sp>
      <p:sp>
        <p:nvSpPr>
          <p:cNvPr id="548" name="" descr="{&quot;isTemplate&quot;:true,&quot;type&quot;:&quot;text&quot;}"/>
          <p:cNvSpPr txBox="1"/>
          <p:nvPr/>
        </p:nvSpPr>
        <p:spPr>
          <a:xfrm rot="0" flipH="0" flipV="0">
            <a:off x="3467100" y="2257425"/>
            <a:ext cx="8115300" cy="1247775"/>
          </a:xfrm>
          <a:prstGeom prst="rect"/>
        </p:spPr>
        <p:txBody>
          <a:bodyPr wrap="none" lIns="0" tIns="0" rIns="0" bIns="0"/>
          <a:p>
            <a:pPr>
              <a:lnSpc>
                <a:spcPct val="118000"/>
              </a:lnSpc>
            </a:pPr>
            <a:r>
              <a:rPr lang="en-US" sz="3450" b="1">
                <a:solidFill>
                  <a:srgbClr val="FFFFFF"/>
                </a:solidFill>
                <a:latin typeface="Microsoft YaHei"/>
                <a:ea typeface="Microsoft YaHei"/>
              </a:rPr>
              <a:t>Requirements,</a:t>
            </a:r>
            <a:endParaRPr/>
          </a:p>
          <a:p>
            <a:pPr>
              <a:lnSpc>
                <a:spcPct val="118000"/>
              </a:lnSpc>
            </a:pPr>
            <a:r>
              <a:rPr lang="en-US" sz="3450" b="1">
                <a:solidFill>
                  <a:srgbClr val="FFFFFF"/>
                </a:solidFill>
                <a:latin typeface="Microsoft YaHei"/>
                <a:ea typeface="Microsoft YaHei"/>
              </a:rPr>
              <a:t>Briefly</a:t>
            </a:r>
            <a:endParaRPr/>
          </a:p>
        </p:txBody>
      </p:sp>
      <p:sp>
        <p:nvSpPr>
          <p:cNvPr id="549" name=""/>
          <p:cNvSpPr/>
          <p:nvPr/>
        </p:nvSpPr>
        <p:spPr>
          <a:xfrm rot="0" flipH="0" flipV="0">
            <a:off x="3467100" y="3752850"/>
            <a:ext cx="609600" cy="38100"/>
          </a:xfrm>
          <a:prstGeom prst="rect">
            <a:avLst/>
          </a:prstGeom>
          <a:solidFill>
            <a:srgbClr val="FFC107"/>
          </a:solidFill>
          <a:ln/>
        </p:spPr>
        <p:txBody>
          <a:bodyPr/>
          <a:p/>
        </p:txBody>
      </p:sp>
      <p:sp>
        <p:nvSpPr>
          <p:cNvPr id="550" name=""/>
          <p:cNvSpPr/>
          <p:nvPr/>
        </p:nvSpPr>
        <p:spPr>
          <a:xfrm rot="0" flipH="0" flipV="0">
            <a:off x="3467100" y="4114800"/>
            <a:ext cx="76200" cy="76200"/>
          </a:xfrm>
          <a:prstGeom prst="roundRect">
            <a:avLst>
              <a:gd name="adj" fmla="val 50000"/>
            </a:avLst>
          </a:prstGeom>
          <a:solidFill>
            <a:srgbClr val="3D7BD9"/>
          </a:solidFill>
          <a:ln/>
        </p:spPr>
        <p:txBody>
          <a:bodyPr/>
          <a:p/>
        </p:txBody>
      </p:sp>
      <p:sp>
        <p:nvSpPr>
          <p:cNvPr id="551" name="" descr="{&quot;isTemplate&quot;:true,&quot;type&quot;:&quot;text&quot;}"/>
          <p:cNvSpPr txBox="1"/>
          <p:nvPr/>
        </p:nvSpPr>
        <p:spPr>
          <a:xfrm rot="0" flipH="0" flipV="0">
            <a:off x="3657600" y="4038600"/>
            <a:ext cx="3095625" cy="228600"/>
          </a:xfrm>
          <a:prstGeom prst="rect"/>
        </p:spPr>
        <p:txBody>
          <a:bodyPr wrap="none" lIns="0" tIns="0" rIns="0" bIns="0"/>
          <a:p>
            <a:pPr>
              <a:lnSpc>
                <a:spcPct val="100000"/>
              </a:lnSpc>
            </a:pPr>
            <a:r>
              <a:rPr lang="en-US" sz="1500">
                <a:solidFill>
                  <a:srgbClr val="C5D4EA"/>
                </a:solidFill>
                <a:latin typeface="Microsoft YaHei"/>
                <a:ea typeface="Microsoft YaHei"/>
              </a:rPr>
              <a:t>The requirements pack arrives today</a:t>
            </a:r>
            <a:endParaRPr/>
          </a:p>
        </p:txBody>
      </p:sp>
      <p:sp>
        <p:nvSpPr>
          <p:cNvPr id="552" name=""/>
          <p:cNvSpPr/>
          <p:nvPr/>
        </p:nvSpPr>
        <p:spPr>
          <a:xfrm rot="0" flipH="0" flipV="0">
            <a:off x="3467100" y="4457700"/>
            <a:ext cx="76200" cy="76200"/>
          </a:xfrm>
          <a:prstGeom prst="roundRect">
            <a:avLst>
              <a:gd name="adj" fmla="val 50000"/>
            </a:avLst>
          </a:prstGeom>
          <a:solidFill>
            <a:srgbClr val="3D7BD9"/>
          </a:solidFill>
          <a:ln/>
        </p:spPr>
        <p:txBody>
          <a:bodyPr/>
          <a:p/>
        </p:txBody>
      </p:sp>
      <p:sp>
        <p:nvSpPr>
          <p:cNvPr id="553" name="" descr="{&quot;isTemplate&quot;:true,&quot;type&quot;:&quot;text&quot;}"/>
          <p:cNvSpPr txBox="1"/>
          <p:nvPr/>
        </p:nvSpPr>
        <p:spPr>
          <a:xfrm rot="0" flipH="0" flipV="0">
            <a:off x="3657600" y="4381500"/>
            <a:ext cx="4314825" cy="228600"/>
          </a:xfrm>
          <a:prstGeom prst="rect"/>
        </p:spPr>
        <p:txBody>
          <a:bodyPr wrap="none" lIns="0" tIns="0" rIns="0" bIns="0"/>
          <a:p>
            <a:pPr>
              <a:lnSpc>
                <a:spcPct val="100000"/>
              </a:lnSpc>
            </a:pPr>
            <a:r>
              <a:rPr lang="en-US" sz="1500">
                <a:solidFill>
                  <a:srgbClr val="C5D4EA"/>
                </a:solidFill>
                <a:latin typeface="Microsoft YaHei"/>
                <a:ea typeface="Microsoft YaHei"/>
              </a:rPr>
              <a:t>Functional says what, non-functional says how well</a:t>
            </a:r>
            <a:endParaRPr/>
          </a:p>
        </p:txBody>
      </p:sp>
      <p:sp>
        <p:nvSpPr>
          <p:cNvPr id="554" name=""/>
          <p:cNvSpPr/>
          <p:nvPr/>
        </p:nvSpPr>
        <p:spPr>
          <a:xfrm rot="0" flipH="0" flipV="0">
            <a:off x="3467100" y="4800600"/>
            <a:ext cx="76200" cy="76200"/>
          </a:xfrm>
          <a:prstGeom prst="roundRect">
            <a:avLst>
              <a:gd name="adj" fmla="val 50000"/>
            </a:avLst>
          </a:prstGeom>
          <a:solidFill>
            <a:srgbClr val="3D7BD9"/>
          </a:solidFill>
          <a:ln/>
        </p:spPr>
        <p:txBody>
          <a:bodyPr/>
          <a:p/>
        </p:txBody>
      </p:sp>
      <p:sp>
        <p:nvSpPr>
          <p:cNvPr id="555" name="" descr="{&quot;isTemplate&quot;:true,&quot;type&quot;:&quot;text&quot;}"/>
          <p:cNvSpPr txBox="1"/>
          <p:nvPr/>
        </p:nvSpPr>
        <p:spPr>
          <a:xfrm rot="0" flipH="0" flipV="0">
            <a:off x="3657600" y="4724400"/>
            <a:ext cx="4286250" cy="228600"/>
          </a:xfrm>
          <a:prstGeom prst="rect"/>
        </p:spPr>
        <p:txBody>
          <a:bodyPr wrap="none" lIns="0" tIns="0" rIns="0" bIns="0"/>
          <a:p>
            <a:pPr>
              <a:lnSpc>
                <a:spcPct val="100000"/>
              </a:lnSpc>
            </a:pPr>
            <a:r>
              <a:rPr lang="en-US" sz="1500">
                <a:solidFill>
                  <a:srgbClr val="C5D4EA"/>
                </a:solidFill>
                <a:latin typeface="Microsoft YaHei"/>
                <a:ea typeface="Microsoft YaHei"/>
              </a:rPr>
              <a:t>A requirement you cannot test is not a requirement</a:t>
            </a:r>
            <a:endParaRPr/>
          </a:p>
        </p:txBody>
      </p:sp>
      <p:sp>
        <p:nvSpPr>
          <p:cNvPr id="556" name=""/>
          <p:cNvSpPr/>
          <p:nvPr/>
        </p:nvSpPr>
        <p:spPr>
          <a:xfrm rot="0" flipH="0" flipV="0">
            <a:off x="0" y="0"/>
            <a:ext cx="12192000" cy="76200"/>
          </a:xfrm>
          <a:prstGeom prst="rect">
            <a:avLst/>
          </a:prstGeom>
          <a:solidFill>
            <a:srgbClr val="1E4FA8"/>
          </a:solidFill>
          <a:ln/>
        </p:spPr>
        <p:txBody>
          <a:bodyPr/>
          <a:p/>
        </p:txBody>
      </p:sp>
    </p:spTree>
  </p:cSld>
</p:sld>
</file>

<file path=ppt/slides/slide4.xml><?xml version="1.0" encoding="utf-8"?>
<p:sld xmlns:asvg="http://schemas.microsoft.com/office/drawing/2016/SVG/main" xmlns:a="http://schemas.openxmlformats.org/drawingml/2006/main" xmlns:r="http://schemas.openxmlformats.org/officeDocument/2006/relationships" xmlns:p="http://schemas.openxmlformats.org/presentationml/2006/main" xmlns:mc="http://schemas.openxmlformats.org/markup-compatibility/2006" mc:Ignorable="asvg">
  <p:cSld>
    <p:spTree>
      <p:nvGrpSpPr>
        <p:cNvPr id="748" name="" descr="&lt;Slide style={{ background: '#FFFFFF', padding: 0 }}&gt;&#10;  &lt;Box style={{ height: 72, background: '#1E4FA8', padding: '0 40px', flexDirection: 'row', alignItems: 'center', justifyContent: 'space-between' }}&gt;&#10;    &lt;Text style={{ fontSize: 15, color: '#B9CDF0', letterSpacing: 1 }}&gt;ISAD · INFORMATION SYSTEMS ANALYSIS &amp;amp; DESIGN&lt;/Text&gt;&#10;    &lt;Text style={{ fontSize: 15, color: '#B9CDF0' }}&gt;W04 · REQUIREMENTS&lt;/Text&gt;&#10;  &lt;/Box&gt;&#10;  &lt;Box style={{ padding: '14px 40px 0 40px', flexDirection: 'row', alignItems: 'center', justifyContent: 'space-between' }}&gt;&#10;    &lt;Text style={{ fontSize: 30, fontWeight: 'bold', color: '#0E3F8C' }}&gt;The Requirements Pack Arrives&lt;/Text&gt;&#10;    &lt;Text style={{ fontSize: 14, color: '#1E4FA8', fontWeight: 'bold' }}&gt;04 / 38&lt;/Text&gt;&#10;  &lt;/Box&gt;&#10;  &lt;Box style={{ flex: 1, padding: '10px 40px 0 40px', flexDirection: 'row', gap: 26 }}&gt;&#10;    &lt;Box style={{ flex: 3, flexDirection: 'column', gap: 10 }}&gt;&#10;      &lt;Text style={{ fontSize: 16, color: '#0E3F8C', fontWeight: 'bold', marginBottom: 2 }}&gt;What is in the pack&lt;/Text&gt;&#10;      {[&#10;        ['file-lines', 'Vision', 'One paragraph: who this is for, what problem it solves, and why it is worth building.'],&#10;        ['users', 'Stakeholder list', 'Six kinds of people and systems with a stake in CampusBites — you met them in Week 01.'],&#10;        ['list-check', 'About 20 functional requirements', 'The things the system must do, written as short statements.'],&#10;        ['gauge-high', 'Non-functional requirements', 'How well it must do them: speed, scale, availability, usability.'],&#10;        ['lock', 'Constraints', 'Things you cannot change: the campus card API, the network, the devices.'],&#10;      ].map(([icon, t, d]) =&gt; (&#10;        &lt;Box key={t} style={{ flexDirection: 'row', gap: 12, alignItems: 'flex-start', padding: '11px 14px', background: '#F7F9FC', borderRadius: 9, borderLeft: '3px solid #1E4FA8' }}&gt;&#10;          &lt;Box style={{ width: 32, height: 32, borderRadius: 8, background: '#E8EFF8', justifyContent: 'center', alignItems: 'center' }}&gt;&#10;            &lt;FAIcon name={icon} style={{ fill: '#1E4FA8', width: 15, height: 15 }} /&gt;&#10;          &lt;/Box&gt;&#10;          &lt;Box style={{ flex: 1, flexDirection: 'column', gap: 2 }}&gt;&#10;            &lt;Text style={{ fontSize: 15, fontWeight: 'bold', color: '#0E3F8C' }}&gt;{t}&lt;/Text&gt;&#10;            &lt;Text style={{ fontSize: 12.5, color: '#4A5568', lineHeight: 1.45 }}&gt;{d}&lt;/Text&gt;&#10;          &lt;/Box&gt;&#10;        &lt;/Box&gt;&#10;      ))}&#10;    &lt;/Box&gt;&#10;    &lt;Box style={{ flex: 2, flexDirection: 'column', gap: 12 }}&gt;&#10;      &lt;Box style={{ padding: '16px 18px', background: '#0E3F8C', borderRadius: 10 }}&gt;&#10;        &lt;Text style={{ fontSize: 15, fontWeight: 'bold', color: '#FFC107', marginBottom: 8 }}&gt;Your job this week&lt;/Text&gt;&#10;        &lt;Text style={{ fontSize: 14, color: '#FFFFFF', lineHeight: 1.55 }}&gt;&#10;          Turn twenty sentences of prose into a picture that shows &lt;Text style={{ fontWeight: 'bold' }}&gt;who wants what&lt;/Text&gt; from this system.&#10;        &lt;/Text&gt;&#10;      &lt;/Box&gt;&#10;      {[&#10;        ['1', 'Read the pack', 'Today, in the lab.'],&#10;        ['2', 'Find the actors', 'Who or what touches this system?'],&#10;        ['3', 'Find the use cases', 'What goal does each one reach?'],&#10;        ['4', 'Draw the diagram', 'Boundary, ellipses, lines, two dashed arrows.'],&#10;      ].map(([n, t, d]) =&gt; (&#10;        &lt;Box key={n} style={{ flexDirection: 'row', gap: 12, alignItems: 'flex-start' }}&gt;&#10;          &lt;Box style={{ width: 26, height: 26, borderRadius: 13, background: '#1E4FA8', justifyContent: 'center', alignItems: 'center' }}&gt;&#10;            &lt;Text style={{ fontSize: 13, fontWeight: 'bold', color: '#FFFFFF' }}&gt;{n}&lt;/Text&gt;&#10;          &lt;/Box&gt;&#10;          &lt;Box style={{ flex: 1, flexDirection: 'column' }}&gt;&#10;            &lt;Text style={{ fontSize: 14, fontWeight: 'bold', color: '#1A2230' }}&gt;{t}&lt;/Text&gt;&#10;            &lt;Text style={{ fontSize: 12, color: '#8B97A8' }}&gt;{d}&lt;/Text&gt;&#10;          &lt;/Box&gt;&#10;        &lt;/Box&gt;&#10;      ))}&#10;      &lt;Box style={{ padding: '12px 14px', background: '#F0F5FC', borderRadius: 9, border: '1px dashed #3D7BD9' }}&gt;&#10;        &lt;Text style={{ fontSize: 12.5, color: '#0E3F8C', lineHeight: 1.5 }}&gt;&#10;          &lt;Text style={{ fontWeight: 'bold' }}&gt;Heads up:&lt;/Text&gt; three requirement changes will be injected later this term. Your model must absorb them — that is part of the design grade.&#10;        &lt;/Text&gt;&#10;      &lt;/Box&gt;&#10;    &lt;/Box&gt;&#10;  &lt;/Box&gt;&#10;  &lt;Box style={{ height: 34, padding: '0 40px', flexDirection: 'row', alignItems: 'center', justifyContent: 'space-between' }}&gt;&#10;    &lt;Text style={{ fontSize: 13, color: '#8B97A8' }}&gt;ISAD · Fall 2026 · the pack is also in 04-项目实践 on the course drive&lt;/Text&gt;&#10;    &lt;Text style={{ fontSize: 14, color: '#1E4FA8', fontWeight: 'bold' }}&gt;04 / 38&lt;/Text&gt;&#10;  &lt;/Box&gt;&#10;&lt;/Slide&gt;"/>
        <p:cNvGrpSpPr/>
        <p:nvPr/>
      </p:nvGrpSpPr>
      <p:grpSpPr>
        <a:xfrm>
          <a:off x="0" y="0"/>
          <a:ext cx="0" cy="0"/>
          <a:chOff x="0" y="0"/>
          <a:chExt cx="0" cy="0"/>
        </a:xfrm>
      </p:grpSpPr>
      <p:sp>
        <p:nvSpPr>
          <p:cNvPr id="749" name=""/>
          <p:cNvSpPr/>
          <p:nvPr/>
        </p:nvSpPr>
        <p:spPr>
          <a:xfrm rot="0" flipH="0" flipV="0">
            <a:off x="0" y="0"/>
            <a:ext cx="12192000" cy="6858000"/>
          </a:xfrm>
          <a:prstGeom prst="rect">
            <a:avLst/>
          </a:prstGeom>
          <a:solidFill>
            <a:srgbClr val="FFFFFF"/>
          </a:solidFill>
          <a:ln/>
        </p:spPr>
        <p:txBody>
          <a:bodyPr/>
          <a:p/>
        </p:txBody>
      </p:sp>
      <p:sp>
        <p:nvSpPr>
          <p:cNvPr id="750" name=""/>
          <p:cNvSpPr/>
          <p:nvPr/>
        </p:nvSpPr>
        <p:spPr>
          <a:xfrm rot="0" flipH="0" flipV="0">
            <a:off x="0" y="0"/>
            <a:ext cx="12192000" cy="685800"/>
          </a:xfrm>
          <a:prstGeom prst="rect">
            <a:avLst/>
          </a:prstGeom>
          <a:solidFill>
            <a:srgbClr val="1E4FA8"/>
          </a:solidFill>
          <a:ln/>
        </p:spPr>
        <p:txBody>
          <a:bodyPr/>
          <a:p/>
        </p:txBody>
      </p:sp>
      <p:sp>
        <p:nvSpPr>
          <p:cNvPr id="751" name="" descr="{&quot;isTemplate&quot;:true,&quot;type&quot;:&quot;text&quot;}"/>
          <p:cNvSpPr txBox="1"/>
          <p:nvPr/>
        </p:nvSpPr>
        <p:spPr>
          <a:xfrm rot="0" flipH="0" flipV="0">
            <a:off x="381000" y="257175"/>
            <a:ext cx="4067175" cy="171450"/>
          </a:xfrm>
          <a:prstGeom prst="rect"/>
        </p:spPr>
        <p:txBody>
          <a:bodyPr wrap="none" lIns="0" tIns="0" rIns="0" bIns="0"/>
          <a:p>
            <a:pPr>
              <a:lnSpc>
                <a:spcPct val="100000"/>
              </a:lnSpc>
            </a:pPr>
            <a:r>
              <a:rPr lang="en-US" sz="1125" spc="75">
                <a:solidFill>
                  <a:srgbClr val="B9CDF0"/>
                </a:solidFill>
                <a:latin typeface="Microsoft YaHei"/>
                <a:ea typeface="Microsoft YaHei"/>
              </a:rPr>
              <a:t>ISAD · INFORMATION SYSTEMS ANALYSIS &amp; DESIGN</a:t>
            </a:r>
            <a:endParaRPr/>
          </a:p>
        </p:txBody>
      </p:sp>
      <p:sp>
        <p:nvSpPr>
          <p:cNvPr id="752" name="" descr="{&quot;isTemplate&quot;:true,&quot;type&quot;:&quot;text&quot;}"/>
          <p:cNvSpPr txBox="1"/>
          <p:nvPr/>
        </p:nvSpPr>
        <p:spPr>
          <a:xfrm rot="0" flipH="0" flipV="0">
            <a:off x="10229850" y="257175"/>
            <a:ext cx="1581150" cy="171450"/>
          </a:xfrm>
          <a:prstGeom prst="rect"/>
        </p:spPr>
        <p:txBody>
          <a:bodyPr wrap="none" lIns="0" tIns="0" rIns="0" bIns="0"/>
          <a:p>
            <a:pPr>
              <a:lnSpc>
                <a:spcPct val="100000"/>
              </a:lnSpc>
            </a:pPr>
            <a:r>
              <a:rPr lang="en-US" sz="1125">
                <a:solidFill>
                  <a:srgbClr val="B9CDF0"/>
                </a:solidFill>
                <a:latin typeface="Microsoft YaHei"/>
                <a:ea typeface="Microsoft YaHei"/>
              </a:rPr>
              <a:t>W04 · REQUIREMENTS</a:t>
            </a:r>
            <a:endParaRPr/>
          </a:p>
        </p:txBody>
      </p:sp>
      <p:sp>
        <p:nvSpPr>
          <p:cNvPr id="753" name="" descr="{&quot;isTemplate&quot;:true,&quot;type&quot;:&quot;text&quot;}"/>
          <p:cNvSpPr txBox="1"/>
          <p:nvPr/>
        </p:nvSpPr>
        <p:spPr>
          <a:xfrm rot="0" flipH="0" flipV="0">
            <a:off x="381000" y="819150"/>
            <a:ext cx="4305300" cy="342900"/>
          </a:xfrm>
          <a:prstGeom prst="rect"/>
        </p:spPr>
        <p:txBody>
          <a:bodyPr wrap="none" lIns="0" tIns="0" rIns="0" bIns="0"/>
          <a:p>
            <a:pPr>
              <a:lnSpc>
                <a:spcPct val="100000"/>
              </a:lnSpc>
            </a:pPr>
            <a:r>
              <a:rPr lang="en-US" sz="2250" b="1">
                <a:solidFill>
                  <a:srgbClr val="0E3F8C"/>
                </a:solidFill>
                <a:latin typeface="Microsoft YaHei"/>
                <a:ea typeface="Microsoft YaHei"/>
              </a:rPr>
              <a:t>The Requirements Pack Arrives</a:t>
            </a:r>
            <a:endParaRPr/>
          </a:p>
        </p:txBody>
      </p:sp>
      <p:sp>
        <p:nvSpPr>
          <p:cNvPr id="754" name="" descr="{&quot;isTemplate&quot;:true,&quot;type&quot;:&quot;text&quot;}"/>
          <p:cNvSpPr txBox="1"/>
          <p:nvPr/>
        </p:nvSpPr>
        <p:spPr>
          <a:xfrm rot="0" flipH="0" flipV="0">
            <a:off x="11401425" y="914400"/>
            <a:ext cx="409575" cy="161925"/>
          </a:xfrm>
          <a:prstGeom prst="rect"/>
        </p:spPr>
        <p:txBody>
          <a:bodyPr wrap="none" lIns="0" tIns="0" rIns="0" bIns="0"/>
          <a:p>
            <a:pPr>
              <a:lnSpc>
                <a:spcPct val="100000"/>
              </a:lnSpc>
            </a:pPr>
            <a:r>
              <a:rPr lang="en-US" sz="1050" b="1">
                <a:solidFill>
                  <a:srgbClr val="1E4FA8"/>
                </a:solidFill>
                <a:latin typeface="Microsoft YaHei"/>
                <a:ea typeface="Microsoft YaHei"/>
              </a:rPr>
              <a:t>04 / 38</a:t>
            </a:r>
            <a:endParaRPr/>
          </a:p>
        </p:txBody>
      </p:sp>
      <p:sp>
        <p:nvSpPr>
          <p:cNvPr id="755" name="" descr="{&quot;isTemplate&quot;:true,&quot;type&quot;:&quot;text&quot;}"/>
          <p:cNvSpPr txBox="1"/>
          <p:nvPr/>
        </p:nvSpPr>
        <p:spPr>
          <a:xfrm rot="0" flipH="0" flipV="0">
            <a:off x="381000" y="1257300"/>
            <a:ext cx="6705600" cy="190500"/>
          </a:xfrm>
          <a:prstGeom prst="rect"/>
        </p:spPr>
        <p:txBody>
          <a:bodyPr wrap="none" lIns="0" tIns="0" rIns="0" bIns="0"/>
          <a:p>
            <a:pPr>
              <a:lnSpc>
                <a:spcPct val="100000"/>
              </a:lnSpc>
            </a:pPr>
            <a:r>
              <a:rPr lang="en-US" sz="1200" b="1">
                <a:solidFill>
                  <a:srgbClr val="0E3F8C"/>
                </a:solidFill>
                <a:latin typeface="Microsoft YaHei"/>
                <a:ea typeface="Microsoft YaHei"/>
              </a:rPr>
              <a:t>What is in the pack</a:t>
            </a:r>
            <a:endParaRPr/>
          </a:p>
        </p:txBody>
      </p:sp>
      <p:sp>
        <p:nvSpPr>
          <p:cNvPr id="756" name=""/>
          <p:cNvSpPr/>
          <p:nvPr/>
        </p:nvSpPr>
        <p:spPr>
          <a:xfrm rot="0" flipH="0" flipV="0">
            <a:off x="409575" y="1562100"/>
            <a:ext cx="6705600" cy="609600"/>
          </a:xfrm>
          <a:prstGeom prst="roundRect">
            <a:avLst>
              <a:gd name="adj" fmla="val 14063"/>
            </a:avLst>
          </a:prstGeom>
          <a:solidFill>
            <a:srgbClr val="F7F9FC"/>
          </a:solidFill>
          <a:ln/>
        </p:spPr>
        <p:txBody>
          <a:bodyPr/>
          <a:p/>
        </p:txBody>
      </p:sp>
      <p:sp>
        <p:nvSpPr>
          <p:cNvPr id="757" name=""/>
          <p:cNvSpPr/>
          <p:nvPr/>
        </p:nvSpPr>
        <p:spPr>
          <a:xfrm rot="0" flipH="0" flipV="0">
            <a:off x="409575" y="1562100"/>
            <a:ext cx="6705600" cy="609600"/>
          </a:xfrm>
          <a:custGeom>
            <a:pathLst>
              <a:path w="704" h="64">
                <a:moveTo>
                  <a:pt x="8" y="0"/>
                </a:moveTo>
                <a:cubicBezTo>
                  <a:pt x="5" y="0"/>
                  <a:pt x="3" y="3"/>
                  <a:pt x="3" y="6"/>
                </a:cubicBezTo>
                <a:lnTo>
                  <a:pt x="3" y="58"/>
                </a:lnTo>
                <a:cubicBezTo>
                  <a:pt x="3" y="61"/>
                  <a:pt x="5" y="63"/>
                  <a:pt x="8" y="64"/>
                </a:cubicBezTo>
                <a:cubicBezTo>
                  <a:pt x="3" y="63"/>
                  <a:pt x="0" y="59"/>
                  <a:pt x="0" y="55"/>
                </a:cubicBezTo>
                <a:lnTo>
                  <a:pt x="0" y="9"/>
                </a:lnTo>
                <a:cubicBezTo>
                  <a:pt x="0" y="4"/>
                  <a:pt x="4" y="0"/>
                  <a:pt x="9" y="0"/>
                </a:cubicBezTo>
                <a:close/>
              </a:path>
            </a:pathLst>
          </a:custGeom>
          <a:solidFill>
            <a:srgbClr val="1E4FA8"/>
          </a:solidFill>
          <a:ln/>
        </p:spPr>
        <p:txBody>
          <a:bodyPr/>
          <a:p/>
        </p:txBody>
      </p:sp>
      <p:sp>
        <p:nvSpPr>
          <p:cNvPr id="758" name=""/>
          <p:cNvSpPr/>
          <p:nvPr/>
        </p:nvSpPr>
        <p:spPr>
          <a:xfrm rot="0" flipH="0" flipV="0">
            <a:off x="542925" y="1666875"/>
            <a:ext cx="304800" cy="304800"/>
          </a:xfrm>
          <a:prstGeom prst="roundRect">
            <a:avLst>
              <a:gd name="adj" fmla="val 25000"/>
            </a:avLst>
          </a:prstGeom>
          <a:solidFill>
            <a:srgbClr val="E8EFF8"/>
          </a:solidFill>
          <a:ln/>
        </p:spPr>
        <p:txBody>
          <a:bodyPr/>
          <a:p/>
        </p:txBody>
      </p:sp>
      <p:pic>
        <p:nvPicPr>
          <p:cNvPr id="759" name=""/>
          <p:cNvPicPr>
            <a:picLocks noChangeAspect="1"/>
          </p:cNvPicPr>
          <p:nvPr/>
        </p:nvPicPr>
        <p:blipFill>
          <a:blip>
            <a:extLst>
              <a:ext uri="{96DAC541-7B7A-43D3-8B79-37D633B846F1}">
                <asvg:svgBlip r:embed="rId1"/>
              </a:ext>
            </a:extLst>
          </a:blip>
          <a:stretch>
            <a:fillRect/>
          </a:stretch>
        </p:blipFill>
        <p:spPr>
          <a:xfrm rot="0" flipH="0" flipV="0">
            <a:off x="628650" y="1752600"/>
            <a:ext cx="142875" cy="142875"/>
          </a:xfrm>
          <a:prstGeom prst="rect">
            <a:avLst/>
          </a:prstGeom>
          <a:ln/>
        </p:spPr>
      </p:pic>
      <p:sp>
        <p:nvSpPr>
          <p:cNvPr id="760" name="" descr="{&quot;isTemplate&quot;:true,&quot;type&quot;:&quot;text&quot;}"/>
          <p:cNvSpPr txBox="1"/>
          <p:nvPr/>
        </p:nvSpPr>
        <p:spPr>
          <a:xfrm rot="0" flipH="0" flipV="0">
            <a:off x="962025" y="1666875"/>
            <a:ext cx="5991225" cy="171450"/>
          </a:xfrm>
          <a:prstGeom prst="rect"/>
        </p:spPr>
        <p:txBody>
          <a:bodyPr wrap="none" lIns="0" tIns="0" rIns="0" bIns="0"/>
          <a:p>
            <a:pPr>
              <a:lnSpc>
                <a:spcPct val="100000"/>
              </a:lnSpc>
            </a:pPr>
            <a:r>
              <a:rPr lang="en-US" sz="1125" b="1">
                <a:solidFill>
                  <a:srgbClr val="0E3F8C"/>
                </a:solidFill>
                <a:latin typeface="Microsoft YaHei"/>
                <a:ea typeface="Microsoft YaHei"/>
              </a:rPr>
              <a:t>Vision</a:t>
            </a:r>
            <a:endParaRPr/>
          </a:p>
        </p:txBody>
      </p:sp>
      <p:sp>
        <p:nvSpPr>
          <p:cNvPr id="761" name="" descr="{&quot;isTemplate&quot;:true,&quot;type&quot;:&quot;text&quot;}"/>
          <p:cNvSpPr txBox="1"/>
          <p:nvPr/>
        </p:nvSpPr>
        <p:spPr>
          <a:xfrm rot="0" flipH="0" flipV="0">
            <a:off x="962025" y="1857375"/>
            <a:ext cx="5991225" cy="209550"/>
          </a:xfrm>
          <a:prstGeom prst="rect"/>
        </p:spPr>
        <p:txBody>
          <a:bodyPr wrap="none" lIns="0" tIns="0" rIns="0" bIns="0"/>
          <a:p>
            <a:pPr>
              <a:lnSpc>
                <a:spcPct val="145000"/>
              </a:lnSpc>
            </a:pPr>
            <a:r>
              <a:rPr lang="en-US" sz="938">
                <a:solidFill>
                  <a:srgbClr val="4A5568"/>
                </a:solidFill>
                <a:latin typeface="Microsoft YaHei"/>
                <a:ea typeface="Microsoft YaHei"/>
              </a:rPr>
              <a:t>One paragraph: who this is for, what problem it solves, and why it is worth building.</a:t>
            </a:r>
            <a:endParaRPr/>
          </a:p>
        </p:txBody>
      </p:sp>
      <p:sp>
        <p:nvSpPr>
          <p:cNvPr id="762" name=""/>
          <p:cNvSpPr/>
          <p:nvPr/>
        </p:nvSpPr>
        <p:spPr>
          <a:xfrm rot="0" flipH="0" flipV="0">
            <a:off x="409575" y="2266950"/>
            <a:ext cx="6705600" cy="609600"/>
          </a:xfrm>
          <a:prstGeom prst="roundRect">
            <a:avLst>
              <a:gd name="adj" fmla="val 14063"/>
            </a:avLst>
          </a:prstGeom>
          <a:solidFill>
            <a:srgbClr val="F7F9FC"/>
          </a:solidFill>
          <a:ln/>
        </p:spPr>
        <p:txBody>
          <a:bodyPr/>
          <a:p/>
        </p:txBody>
      </p:sp>
      <p:sp>
        <p:nvSpPr>
          <p:cNvPr id="763" name=""/>
          <p:cNvSpPr/>
          <p:nvPr/>
        </p:nvSpPr>
        <p:spPr>
          <a:xfrm rot="0" flipH="0" flipV="0">
            <a:off x="409575" y="2266950"/>
            <a:ext cx="6705600" cy="609600"/>
          </a:xfrm>
          <a:custGeom>
            <a:pathLst>
              <a:path w="704" h="64">
                <a:moveTo>
                  <a:pt x="8" y="0"/>
                </a:moveTo>
                <a:cubicBezTo>
                  <a:pt x="5" y="0"/>
                  <a:pt x="3" y="3"/>
                  <a:pt x="3" y="6"/>
                </a:cubicBezTo>
                <a:lnTo>
                  <a:pt x="3" y="58"/>
                </a:lnTo>
                <a:cubicBezTo>
                  <a:pt x="3" y="61"/>
                  <a:pt x="5" y="63"/>
                  <a:pt x="8" y="64"/>
                </a:cubicBezTo>
                <a:cubicBezTo>
                  <a:pt x="3" y="63"/>
                  <a:pt x="0" y="59"/>
                  <a:pt x="0" y="55"/>
                </a:cubicBezTo>
                <a:lnTo>
                  <a:pt x="0" y="9"/>
                </a:lnTo>
                <a:cubicBezTo>
                  <a:pt x="0" y="4"/>
                  <a:pt x="4" y="0"/>
                  <a:pt x="9" y="0"/>
                </a:cubicBezTo>
                <a:close/>
              </a:path>
            </a:pathLst>
          </a:custGeom>
          <a:solidFill>
            <a:srgbClr val="1E4FA8"/>
          </a:solidFill>
          <a:ln/>
        </p:spPr>
        <p:txBody>
          <a:bodyPr/>
          <a:p/>
        </p:txBody>
      </p:sp>
      <p:sp>
        <p:nvSpPr>
          <p:cNvPr id="764" name=""/>
          <p:cNvSpPr/>
          <p:nvPr/>
        </p:nvSpPr>
        <p:spPr>
          <a:xfrm rot="0" flipH="0" flipV="0">
            <a:off x="542925" y="2371725"/>
            <a:ext cx="304800" cy="304800"/>
          </a:xfrm>
          <a:prstGeom prst="roundRect">
            <a:avLst>
              <a:gd name="adj" fmla="val 25000"/>
            </a:avLst>
          </a:prstGeom>
          <a:solidFill>
            <a:srgbClr val="E8EFF8"/>
          </a:solidFill>
          <a:ln/>
        </p:spPr>
        <p:txBody>
          <a:bodyPr/>
          <a:p/>
        </p:txBody>
      </p:sp>
      <p:pic>
        <p:nvPicPr>
          <p:cNvPr id="765" name=""/>
          <p:cNvPicPr>
            <a:picLocks noChangeAspect="1"/>
          </p:cNvPicPr>
          <p:nvPr/>
        </p:nvPicPr>
        <p:blipFill>
          <a:blip>
            <a:extLst>
              <a:ext uri="{96DAC541-7B7A-43D3-8B79-37D633B846F1}">
                <asvg:svgBlip r:embed="rId2"/>
              </a:ext>
            </a:extLst>
          </a:blip>
          <a:stretch>
            <a:fillRect/>
          </a:stretch>
        </p:blipFill>
        <p:spPr>
          <a:xfrm rot="0" flipH="0" flipV="0">
            <a:off x="628650" y="2457450"/>
            <a:ext cx="142875" cy="142875"/>
          </a:xfrm>
          <a:prstGeom prst="rect">
            <a:avLst/>
          </a:prstGeom>
          <a:ln/>
        </p:spPr>
      </p:pic>
      <p:sp>
        <p:nvSpPr>
          <p:cNvPr id="766" name="" descr="{&quot;isTemplate&quot;:true,&quot;type&quot;:&quot;text&quot;}"/>
          <p:cNvSpPr txBox="1"/>
          <p:nvPr/>
        </p:nvSpPr>
        <p:spPr>
          <a:xfrm rot="0" flipH="0" flipV="0">
            <a:off x="962025" y="2371725"/>
            <a:ext cx="5991225" cy="171450"/>
          </a:xfrm>
          <a:prstGeom prst="rect"/>
        </p:spPr>
        <p:txBody>
          <a:bodyPr wrap="none" lIns="0" tIns="0" rIns="0" bIns="0"/>
          <a:p>
            <a:pPr>
              <a:lnSpc>
                <a:spcPct val="100000"/>
              </a:lnSpc>
            </a:pPr>
            <a:r>
              <a:rPr lang="en-US" sz="1125" b="1">
                <a:solidFill>
                  <a:srgbClr val="0E3F8C"/>
                </a:solidFill>
                <a:latin typeface="Microsoft YaHei"/>
                <a:ea typeface="Microsoft YaHei"/>
              </a:rPr>
              <a:t>Stakeholder list</a:t>
            </a:r>
            <a:endParaRPr/>
          </a:p>
        </p:txBody>
      </p:sp>
      <p:sp>
        <p:nvSpPr>
          <p:cNvPr id="767" name="" descr="{&quot;isTemplate&quot;:true,&quot;type&quot;:&quot;text&quot;}"/>
          <p:cNvSpPr txBox="1"/>
          <p:nvPr/>
        </p:nvSpPr>
        <p:spPr>
          <a:xfrm rot="0" flipH="0" flipV="0">
            <a:off x="962025" y="2562225"/>
            <a:ext cx="5991225" cy="209550"/>
          </a:xfrm>
          <a:prstGeom prst="rect"/>
        </p:spPr>
        <p:txBody>
          <a:bodyPr wrap="none" lIns="0" tIns="0" rIns="0" bIns="0"/>
          <a:p>
            <a:pPr>
              <a:lnSpc>
                <a:spcPct val="145000"/>
              </a:lnSpc>
            </a:pPr>
            <a:r>
              <a:rPr lang="en-US" sz="938">
                <a:solidFill>
                  <a:srgbClr val="4A5568"/>
                </a:solidFill>
                <a:latin typeface="Microsoft YaHei"/>
                <a:ea typeface="Microsoft YaHei"/>
              </a:rPr>
              <a:t>Six kinds of people and systems with a stake in CampusBites — you met them in Week 01.</a:t>
            </a:r>
            <a:endParaRPr/>
          </a:p>
        </p:txBody>
      </p:sp>
      <p:sp>
        <p:nvSpPr>
          <p:cNvPr id="768" name=""/>
          <p:cNvSpPr/>
          <p:nvPr/>
        </p:nvSpPr>
        <p:spPr>
          <a:xfrm rot="0" flipH="0" flipV="0">
            <a:off x="409575" y="2971800"/>
            <a:ext cx="6705600" cy="609600"/>
          </a:xfrm>
          <a:prstGeom prst="roundRect">
            <a:avLst>
              <a:gd name="adj" fmla="val 14063"/>
            </a:avLst>
          </a:prstGeom>
          <a:solidFill>
            <a:srgbClr val="F7F9FC"/>
          </a:solidFill>
          <a:ln/>
        </p:spPr>
        <p:txBody>
          <a:bodyPr/>
          <a:p/>
        </p:txBody>
      </p:sp>
      <p:sp>
        <p:nvSpPr>
          <p:cNvPr id="769" name=""/>
          <p:cNvSpPr/>
          <p:nvPr/>
        </p:nvSpPr>
        <p:spPr>
          <a:xfrm rot="0" flipH="0" flipV="0">
            <a:off x="409575" y="2971800"/>
            <a:ext cx="6705600" cy="609600"/>
          </a:xfrm>
          <a:custGeom>
            <a:pathLst>
              <a:path w="704" h="64">
                <a:moveTo>
                  <a:pt x="8" y="0"/>
                </a:moveTo>
                <a:cubicBezTo>
                  <a:pt x="5" y="0"/>
                  <a:pt x="3" y="3"/>
                  <a:pt x="3" y="6"/>
                </a:cubicBezTo>
                <a:lnTo>
                  <a:pt x="3" y="58"/>
                </a:lnTo>
                <a:cubicBezTo>
                  <a:pt x="3" y="61"/>
                  <a:pt x="5" y="63"/>
                  <a:pt x="8" y="64"/>
                </a:cubicBezTo>
                <a:cubicBezTo>
                  <a:pt x="3" y="63"/>
                  <a:pt x="0" y="59"/>
                  <a:pt x="0" y="55"/>
                </a:cubicBezTo>
                <a:lnTo>
                  <a:pt x="0" y="9"/>
                </a:lnTo>
                <a:cubicBezTo>
                  <a:pt x="0" y="4"/>
                  <a:pt x="4" y="0"/>
                  <a:pt x="9" y="0"/>
                </a:cubicBezTo>
                <a:close/>
              </a:path>
            </a:pathLst>
          </a:custGeom>
          <a:solidFill>
            <a:srgbClr val="1E4FA8"/>
          </a:solidFill>
          <a:ln/>
        </p:spPr>
        <p:txBody>
          <a:bodyPr/>
          <a:p/>
        </p:txBody>
      </p:sp>
      <p:sp>
        <p:nvSpPr>
          <p:cNvPr id="770" name=""/>
          <p:cNvSpPr/>
          <p:nvPr/>
        </p:nvSpPr>
        <p:spPr>
          <a:xfrm rot="0" flipH="0" flipV="0">
            <a:off x="542925" y="3076575"/>
            <a:ext cx="304800" cy="304800"/>
          </a:xfrm>
          <a:prstGeom prst="roundRect">
            <a:avLst>
              <a:gd name="adj" fmla="val 25000"/>
            </a:avLst>
          </a:prstGeom>
          <a:solidFill>
            <a:srgbClr val="E8EFF8"/>
          </a:solidFill>
          <a:ln/>
        </p:spPr>
        <p:txBody>
          <a:bodyPr/>
          <a:p/>
        </p:txBody>
      </p:sp>
      <p:pic>
        <p:nvPicPr>
          <p:cNvPr id="771" name=""/>
          <p:cNvPicPr>
            <a:picLocks noChangeAspect="1"/>
          </p:cNvPicPr>
          <p:nvPr/>
        </p:nvPicPr>
        <p:blipFill>
          <a:blip>
            <a:extLst>
              <a:ext uri="{96DAC541-7B7A-43D3-8B79-37D633B846F1}">
                <asvg:svgBlip r:embed="rId3"/>
              </a:ext>
            </a:extLst>
          </a:blip>
          <a:stretch>
            <a:fillRect/>
          </a:stretch>
        </p:blipFill>
        <p:spPr>
          <a:xfrm rot="0" flipH="0" flipV="0">
            <a:off x="628650" y="3162300"/>
            <a:ext cx="142875" cy="142875"/>
          </a:xfrm>
          <a:prstGeom prst="rect">
            <a:avLst/>
          </a:prstGeom>
          <a:ln/>
        </p:spPr>
      </p:pic>
      <p:sp>
        <p:nvSpPr>
          <p:cNvPr id="772" name="" descr="{&quot;isTemplate&quot;:true,&quot;type&quot;:&quot;text&quot;}"/>
          <p:cNvSpPr txBox="1"/>
          <p:nvPr/>
        </p:nvSpPr>
        <p:spPr>
          <a:xfrm rot="0" flipH="0" flipV="0">
            <a:off x="962025" y="3076575"/>
            <a:ext cx="5991225" cy="171450"/>
          </a:xfrm>
          <a:prstGeom prst="rect"/>
        </p:spPr>
        <p:txBody>
          <a:bodyPr wrap="none" lIns="0" tIns="0" rIns="0" bIns="0"/>
          <a:p>
            <a:pPr>
              <a:lnSpc>
                <a:spcPct val="100000"/>
              </a:lnSpc>
            </a:pPr>
            <a:r>
              <a:rPr lang="en-US" sz="1125" b="1">
                <a:solidFill>
                  <a:srgbClr val="0E3F8C"/>
                </a:solidFill>
                <a:latin typeface="Microsoft YaHei"/>
                <a:ea typeface="Microsoft YaHei"/>
              </a:rPr>
              <a:t>About 20 functional requirements</a:t>
            </a:r>
            <a:endParaRPr/>
          </a:p>
        </p:txBody>
      </p:sp>
      <p:sp>
        <p:nvSpPr>
          <p:cNvPr id="773" name="" descr="{&quot;isTemplate&quot;:true,&quot;type&quot;:&quot;text&quot;}"/>
          <p:cNvSpPr txBox="1"/>
          <p:nvPr/>
        </p:nvSpPr>
        <p:spPr>
          <a:xfrm rot="0" flipH="0" flipV="0">
            <a:off x="962025" y="3267075"/>
            <a:ext cx="5991225" cy="209550"/>
          </a:xfrm>
          <a:prstGeom prst="rect"/>
        </p:spPr>
        <p:txBody>
          <a:bodyPr wrap="none" lIns="0" tIns="0" rIns="0" bIns="0"/>
          <a:p>
            <a:pPr>
              <a:lnSpc>
                <a:spcPct val="145000"/>
              </a:lnSpc>
            </a:pPr>
            <a:r>
              <a:rPr lang="en-US" sz="938">
                <a:solidFill>
                  <a:srgbClr val="4A5568"/>
                </a:solidFill>
                <a:latin typeface="Microsoft YaHei"/>
                <a:ea typeface="Microsoft YaHei"/>
              </a:rPr>
              <a:t>The things the system must do, written as short statements.</a:t>
            </a:r>
            <a:endParaRPr/>
          </a:p>
        </p:txBody>
      </p:sp>
      <p:sp>
        <p:nvSpPr>
          <p:cNvPr id="774" name=""/>
          <p:cNvSpPr/>
          <p:nvPr/>
        </p:nvSpPr>
        <p:spPr>
          <a:xfrm rot="0" flipH="0" flipV="0">
            <a:off x="409575" y="3676650"/>
            <a:ext cx="6705600" cy="609600"/>
          </a:xfrm>
          <a:prstGeom prst="roundRect">
            <a:avLst>
              <a:gd name="adj" fmla="val 14063"/>
            </a:avLst>
          </a:prstGeom>
          <a:solidFill>
            <a:srgbClr val="F7F9FC"/>
          </a:solidFill>
          <a:ln/>
        </p:spPr>
        <p:txBody>
          <a:bodyPr/>
          <a:p/>
        </p:txBody>
      </p:sp>
      <p:sp>
        <p:nvSpPr>
          <p:cNvPr id="775" name=""/>
          <p:cNvSpPr/>
          <p:nvPr/>
        </p:nvSpPr>
        <p:spPr>
          <a:xfrm rot="0" flipH="0" flipV="0">
            <a:off x="409575" y="3676650"/>
            <a:ext cx="6705600" cy="609600"/>
          </a:xfrm>
          <a:custGeom>
            <a:pathLst>
              <a:path w="704" h="64">
                <a:moveTo>
                  <a:pt x="8" y="0"/>
                </a:moveTo>
                <a:cubicBezTo>
                  <a:pt x="5" y="0"/>
                  <a:pt x="3" y="3"/>
                  <a:pt x="3" y="6"/>
                </a:cubicBezTo>
                <a:lnTo>
                  <a:pt x="3" y="58"/>
                </a:lnTo>
                <a:cubicBezTo>
                  <a:pt x="3" y="61"/>
                  <a:pt x="5" y="63"/>
                  <a:pt x="8" y="64"/>
                </a:cubicBezTo>
                <a:cubicBezTo>
                  <a:pt x="3" y="63"/>
                  <a:pt x="0" y="59"/>
                  <a:pt x="0" y="55"/>
                </a:cubicBezTo>
                <a:lnTo>
                  <a:pt x="0" y="9"/>
                </a:lnTo>
                <a:cubicBezTo>
                  <a:pt x="0" y="4"/>
                  <a:pt x="4" y="0"/>
                  <a:pt x="9" y="0"/>
                </a:cubicBezTo>
                <a:close/>
              </a:path>
            </a:pathLst>
          </a:custGeom>
          <a:solidFill>
            <a:srgbClr val="1E4FA8"/>
          </a:solidFill>
          <a:ln/>
        </p:spPr>
        <p:txBody>
          <a:bodyPr/>
          <a:p/>
        </p:txBody>
      </p:sp>
      <p:sp>
        <p:nvSpPr>
          <p:cNvPr id="776" name=""/>
          <p:cNvSpPr/>
          <p:nvPr/>
        </p:nvSpPr>
        <p:spPr>
          <a:xfrm rot="0" flipH="0" flipV="0">
            <a:off x="542925" y="3781425"/>
            <a:ext cx="304800" cy="304800"/>
          </a:xfrm>
          <a:prstGeom prst="roundRect">
            <a:avLst>
              <a:gd name="adj" fmla="val 25000"/>
            </a:avLst>
          </a:prstGeom>
          <a:solidFill>
            <a:srgbClr val="E8EFF8"/>
          </a:solidFill>
          <a:ln/>
        </p:spPr>
        <p:txBody>
          <a:bodyPr/>
          <a:p/>
        </p:txBody>
      </p:sp>
      <p:pic>
        <p:nvPicPr>
          <p:cNvPr id="777" name=""/>
          <p:cNvPicPr>
            <a:picLocks noChangeAspect="1"/>
          </p:cNvPicPr>
          <p:nvPr/>
        </p:nvPicPr>
        <p:blipFill>
          <a:blip>
            <a:extLst>
              <a:ext uri="{96DAC541-7B7A-43D3-8B79-37D633B846F1}">
                <asvg:svgBlip r:embed="rId4"/>
              </a:ext>
            </a:extLst>
          </a:blip>
          <a:stretch>
            <a:fillRect/>
          </a:stretch>
        </p:blipFill>
        <p:spPr>
          <a:xfrm rot="0" flipH="0" flipV="0">
            <a:off x="628650" y="3867150"/>
            <a:ext cx="142875" cy="142875"/>
          </a:xfrm>
          <a:prstGeom prst="rect">
            <a:avLst/>
          </a:prstGeom>
          <a:ln/>
        </p:spPr>
      </p:pic>
      <p:sp>
        <p:nvSpPr>
          <p:cNvPr id="778" name="" descr="{&quot;isTemplate&quot;:true,&quot;type&quot;:&quot;text&quot;}"/>
          <p:cNvSpPr txBox="1"/>
          <p:nvPr/>
        </p:nvSpPr>
        <p:spPr>
          <a:xfrm rot="0" flipH="0" flipV="0">
            <a:off x="962025" y="3781425"/>
            <a:ext cx="5991225" cy="171450"/>
          </a:xfrm>
          <a:prstGeom prst="rect"/>
        </p:spPr>
        <p:txBody>
          <a:bodyPr wrap="none" lIns="0" tIns="0" rIns="0" bIns="0"/>
          <a:p>
            <a:pPr>
              <a:lnSpc>
                <a:spcPct val="100000"/>
              </a:lnSpc>
            </a:pPr>
            <a:r>
              <a:rPr lang="en-US" sz="1125" b="1">
                <a:solidFill>
                  <a:srgbClr val="0E3F8C"/>
                </a:solidFill>
                <a:latin typeface="Microsoft YaHei"/>
                <a:ea typeface="Microsoft YaHei"/>
              </a:rPr>
              <a:t>Non-functional requirements</a:t>
            </a:r>
            <a:endParaRPr/>
          </a:p>
        </p:txBody>
      </p:sp>
      <p:sp>
        <p:nvSpPr>
          <p:cNvPr id="779" name="" descr="{&quot;isTemplate&quot;:true,&quot;type&quot;:&quot;text&quot;}"/>
          <p:cNvSpPr txBox="1"/>
          <p:nvPr/>
        </p:nvSpPr>
        <p:spPr>
          <a:xfrm rot="0" flipH="0" flipV="0">
            <a:off x="962025" y="3971925"/>
            <a:ext cx="5991225" cy="209550"/>
          </a:xfrm>
          <a:prstGeom prst="rect"/>
        </p:spPr>
        <p:txBody>
          <a:bodyPr wrap="none" lIns="0" tIns="0" rIns="0" bIns="0"/>
          <a:p>
            <a:pPr>
              <a:lnSpc>
                <a:spcPct val="145000"/>
              </a:lnSpc>
            </a:pPr>
            <a:r>
              <a:rPr lang="en-US" sz="938">
                <a:solidFill>
                  <a:srgbClr val="4A5568"/>
                </a:solidFill>
                <a:latin typeface="Microsoft YaHei"/>
                <a:ea typeface="Microsoft YaHei"/>
              </a:rPr>
              <a:t>How well it must do them: speed, scale, availability, usability.</a:t>
            </a:r>
            <a:endParaRPr/>
          </a:p>
        </p:txBody>
      </p:sp>
      <p:sp>
        <p:nvSpPr>
          <p:cNvPr id="780" name=""/>
          <p:cNvSpPr/>
          <p:nvPr/>
        </p:nvSpPr>
        <p:spPr>
          <a:xfrm rot="0" flipH="0" flipV="0">
            <a:off x="409575" y="4381500"/>
            <a:ext cx="6705600" cy="609600"/>
          </a:xfrm>
          <a:prstGeom prst="roundRect">
            <a:avLst>
              <a:gd name="adj" fmla="val 14063"/>
            </a:avLst>
          </a:prstGeom>
          <a:solidFill>
            <a:srgbClr val="F7F9FC"/>
          </a:solidFill>
          <a:ln/>
        </p:spPr>
        <p:txBody>
          <a:bodyPr/>
          <a:p/>
        </p:txBody>
      </p:sp>
      <p:sp>
        <p:nvSpPr>
          <p:cNvPr id="781" name=""/>
          <p:cNvSpPr/>
          <p:nvPr/>
        </p:nvSpPr>
        <p:spPr>
          <a:xfrm rot="0" flipH="0" flipV="0">
            <a:off x="409575" y="4381500"/>
            <a:ext cx="6705600" cy="609600"/>
          </a:xfrm>
          <a:custGeom>
            <a:pathLst>
              <a:path w="704" h="64">
                <a:moveTo>
                  <a:pt x="8" y="0"/>
                </a:moveTo>
                <a:cubicBezTo>
                  <a:pt x="5" y="0"/>
                  <a:pt x="3" y="3"/>
                  <a:pt x="3" y="6"/>
                </a:cubicBezTo>
                <a:lnTo>
                  <a:pt x="3" y="58"/>
                </a:lnTo>
                <a:cubicBezTo>
                  <a:pt x="3" y="61"/>
                  <a:pt x="5" y="63"/>
                  <a:pt x="8" y="64"/>
                </a:cubicBezTo>
                <a:cubicBezTo>
                  <a:pt x="3" y="63"/>
                  <a:pt x="0" y="59"/>
                  <a:pt x="0" y="55"/>
                </a:cubicBezTo>
                <a:lnTo>
                  <a:pt x="0" y="9"/>
                </a:lnTo>
                <a:cubicBezTo>
                  <a:pt x="0" y="4"/>
                  <a:pt x="4" y="0"/>
                  <a:pt x="9" y="0"/>
                </a:cubicBezTo>
                <a:close/>
              </a:path>
            </a:pathLst>
          </a:custGeom>
          <a:solidFill>
            <a:srgbClr val="1E4FA8"/>
          </a:solidFill>
          <a:ln/>
        </p:spPr>
        <p:txBody>
          <a:bodyPr/>
          <a:p/>
        </p:txBody>
      </p:sp>
      <p:sp>
        <p:nvSpPr>
          <p:cNvPr id="782" name=""/>
          <p:cNvSpPr/>
          <p:nvPr/>
        </p:nvSpPr>
        <p:spPr>
          <a:xfrm rot="0" flipH="0" flipV="0">
            <a:off x="542925" y="4486275"/>
            <a:ext cx="304800" cy="304800"/>
          </a:xfrm>
          <a:prstGeom prst="roundRect">
            <a:avLst>
              <a:gd name="adj" fmla="val 25000"/>
            </a:avLst>
          </a:prstGeom>
          <a:solidFill>
            <a:srgbClr val="E8EFF8"/>
          </a:solidFill>
          <a:ln/>
        </p:spPr>
        <p:txBody>
          <a:bodyPr/>
          <a:p/>
        </p:txBody>
      </p:sp>
      <p:pic>
        <p:nvPicPr>
          <p:cNvPr id="783" name=""/>
          <p:cNvPicPr>
            <a:picLocks noChangeAspect="1"/>
          </p:cNvPicPr>
          <p:nvPr/>
        </p:nvPicPr>
        <p:blipFill>
          <a:blip>
            <a:extLst>
              <a:ext uri="{96DAC541-7B7A-43D3-8B79-37D633B846F1}">
                <asvg:svgBlip r:embed="rId5"/>
              </a:ext>
            </a:extLst>
          </a:blip>
          <a:stretch>
            <a:fillRect/>
          </a:stretch>
        </p:blipFill>
        <p:spPr>
          <a:xfrm rot="0" flipH="0" flipV="0">
            <a:off x="628650" y="4572000"/>
            <a:ext cx="142875" cy="142875"/>
          </a:xfrm>
          <a:prstGeom prst="rect">
            <a:avLst/>
          </a:prstGeom>
          <a:ln/>
        </p:spPr>
      </p:pic>
      <p:sp>
        <p:nvSpPr>
          <p:cNvPr id="784" name="" descr="{&quot;isTemplate&quot;:true,&quot;type&quot;:&quot;text&quot;}"/>
          <p:cNvSpPr txBox="1"/>
          <p:nvPr/>
        </p:nvSpPr>
        <p:spPr>
          <a:xfrm rot="0" flipH="0" flipV="0">
            <a:off x="962025" y="4486275"/>
            <a:ext cx="5991225" cy="171450"/>
          </a:xfrm>
          <a:prstGeom prst="rect"/>
        </p:spPr>
        <p:txBody>
          <a:bodyPr wrap="none" lIns="0" tIns="0" rIns="0" bIns="0"/>
          <a:p>
            <a:pPr>
              <a:lnSpc>
                <a:spcPct val="100000"/>
              </a:lnSpc>
            </a:pPr>
            <a:r>
              <a:rPr lang="en-US" sz="1125" b="1">
                <a:solidFill>
                  <a:srgbClr val="0E3F8C"/>
                </a:solidFill>
                <a:latin typeface="Microsoft YaHei"/>
                <a:ea typeface="Microsoft YaHei"/>
              </a:rPr>
              <a:t>Constraints</a:t>
            </a:r>
            <a:endParaRPr/>
          </a:p>
        </p:txBody>
      </p:sp>
      <p:sp>
        <p:nvSpPr>
          <p:cNvPr id="785" name="" descr="{&quot;isTemplate&quot;:true,&quot;type&quot;:&quot;text&quot;}"/>
          <p:cNvSpPr txBox="1"/>
          <p:nvPr/>
        </p:nvSpPr>
        <p:spPr>
          <a:xfrm rot="0" flipH="0" flipV="0">
            <a:off x="962025" y="4676775"/>
            <a:ext cx="5991225" cy="209550"/>
          </a:xfrm>
          <a:prstGeom prst="rect"/>
        </p:spPr>
        <p:txBody>
          <a:bodyPr wrap="none" lIns="0" tIns="0" rIns="0" bIns="0"/>
          <a:p>
            <a:pPr>
              <a:lnSpc>
                <a:spcPct val="145000"/>
              </a:lnSpc>
            </a:pPr>
            <a:r>
              <a:rPr lang="en-US" sz="938">
                <a:solidFill>
                  <a:srgbClr val="4A5568"/>
                </a:solidFill>
                <a:latin typeface="Microsoft YaHei"/>
                <a:ea typeface="Microsoft YaHei"/>
              </a:rPr>
              <a:t>Things you cannot change: the campus card API, the network, the devices.</a:t>
            </a:r>
            <a:endParaRPr/>
          </a:p>
        </p:txBody>
      </p:sp>
      <p:sp>
        <p:nvSpPr>
          <p:cNvPr id="786" name=""/>
          <p:cNvSpPr/>
          <p:nvPr/>
        </p:nvSpPr>
        <p:spPr>
          <a:xfrm rot="0" flipH="0" flipV="0">
            <a:off x="7334250" y="1257300"/>
            <a:ext cx="4476750" cy="1057275"/>
          </a:xfrm>
          <a:prstGeom prst="roundRect">
            <a:avLst>
              <a:gd name="adj" fmla="val 9009"/>
            </a:avLst>
          </a:prstGeom>
          <a:solidFill>
            <a:srgbClr val="0E3F8C"/>
          </a:solidFill>
          <a:ln/>
        </p:spPr>
        <p:txBody>
          <a:bodyPr/>
          <a:p/>
        </p:txBody>
      </p:sp>
      <p:sp>
        <p:nvSpPr>
          <p:cNvPr id="787" name="" descr="{&quot;isTemplate&quot;:true,&quot;type&quot;:&quot;text&quot;}"/>
          <p:cNvSpPr txBox="1"/>
          <p:nvPr/>
        </p:nvSpPr>
        <p:spPr>
          <a:xfrm rot="0" flipH="0" flipV="0">
            <a:off x="7505700" y="1409700"/>
            <a:ext cx="4133850" cy="171450"/>
          </a:xfrm>
          <a:prstGeom prst="rect"/>
        </p:spPr>
        <p:txBody>
          <a:bodyPr wrap="none" lIns="0" tIns="0" rIns="0" bIns="0"/>
          <a:p>
            <a:pPr>
              <a:lnSpc>
                <a:spcPct val="100000"/>
              </a:lnSpc>
            </a:pPr>
            <a:r>
              <a:rPr lang="en-US" sz="1125" b="1">
                <a:solidFill>
                  <a:srgbClr val="FFC107"/>
                </a:solidFill>
                <a:latin typeface="Microsoft YaHei"/>
                <a:ea typeface="Microsoft YaHei"/>
              </a:rPr>
              <a:t>Your job this week</a:t>
            </a:r>
            <a:endParaRPr/>
          </a:p>
        </p:txBody>
      </p:sp>
      <p:sp>
        <p:nvSpPr>
          <p:cNvPr id="788" name="" descr="{&quot;isTemplate&quot;:true,&quot;type&quot;:&quot;text&quot;}"/>
          <p:cNvSpPr txBox="1"/>
          <p:nvPr/>
        </p:nvSpPr>
        <p:spPr>
          <a:xfrm rot="0" flipH="0" flipV="0">
            <a:off x="7505700" y="1657350"/>
            <a:ext cx="4133850" cy="504825"/>
          </a:xfrm>
          <a:prstGeom prst="rect"/>
        </p:spPr>
        <p:txBody>
          <a:bodyPr wrap="square" lIns="0" tIns="0" rIns="0" bIns="0">
            <a:normAutofit/>
          </a:bodyPr>
          <a:p>
            <a:pPr>
              <a:lnSpc>
                <a:spcPct val="155000"/>
              </a:lnSpc>
            </a:pPr>
            <a:r>
              <a:rPr lang="en-US" sz="1050">
                <a:solidFill>
                  <a:srgbClr val="FFFFFF"/>
                </a:solidFill>
                <a:latin typeface="Microsoft YaHei"/>
                <a:ea typeface="Microsoft YaHei"/>
              </a:rPr>
              <a:t>Turn twenty sentences of prose into a picture that shows </a:t>
            </a:r>
            <a:r>
              <a:rPr lang="en-US" sz="1050">
                <a:solidFill>
                  <a:srgbClr val="FFFFFF"/>
                </a:solidFill>
                <a:latin typeface="Microsoft YaHei"/>
                <a:ea typeface="Microsoft YaHei"/>
              </a:rPr>
              <a:t>who wants what</a:t>
            </a:r>
            <a:r>
              <a:rPr lang="en-US" sz="1050">
                <a:solidFill>
                  <a:srgbClr val="FFFFFF"/>
                </a:solidFill>
                <a:latin typeface="Microsoft YaHei"/>
                <a:ea typeface="Microsoft YaHei"/>
              </a:rPr>
              <a:t> from this system.</a:t>
            </a:r>
            <a:endParaRPr/>
          </a:p>
        </p:txBody>
      </p:sp>
      <p:sp>
        <p:nvSpPr>
          <p:cNvPr id="789" name=""/>
          <p:cNvSpPr/>
          <p:nvPr/>
        </p:nvSpPr>
        <p:spPr>
          <a:xfrm rot="0" flipH="0" flipV="0">
            <a:off x="7334250" y="2428875"/>
            <a:ext cx="247650" cy="247650"/>
          </a:xfrm>
          <a:prstGeom prst="roundRect">
            <a:avLst>
              <a:gd name="adj" fmla="val 50000"/>
            </a:avLst>
          </a:prstGeom>
          <a:solidFill>
            <a:srgbClr val="1E4FA8"/>
          </a:solidFill>
          <a:ln/>
        </p:spPr>
        <p:txBody>
          <a:bodyPr/>
          <a:p/>
        </p:txBody>
      </p:sp>
      <p:sp>
        <p:nvSpPr>
          <p:cNvPr id="790" name="" descr="{&quot;isTemplate&quot;:true,&quot;type&quot;:&quot;text&quot;}"/>
          <p:cNvSpPr txBox="1"/>
          <p:nvPr/>
        </p:nvSpPr>
        <p:spPr>
          <a:xfrm rot="0" flipH="0" flipV="0">
            <a:off x="7419975" y="2476500"/>
            <a:ext cx="76200" cy="152400"/>
          </a:xfrm>
          <a:prstGeom prst="rect"/>
        </p:spPr>
        <p:txBody>
          <a:bodyPr wrap="none" lIns="0" tIns="0" rIns="0" bIns="0"/>
          <a:p>
            <a:pPr>
              <a:lnSpc>
                <a:spcPct val="100000"/>
              </a:lnSpc>
            </a:pPr>
            <a:r>
              <a:rPr lang="en-US" sz="975" b="1">
                <a:solidFill>
                  <a:srgbClr val="FFFFFF"/>
                </a:solidFill>
                <a:latin typeface="Microsoft YaHei"/>
                <a:ea typeface="Microsoft YaHei"/>
              </a:rPr>
              <a:t>1</a:t>
            </a:r>
            <a:endParaRPr/>
          </a:p>
        </p:txBody>
      </p:sp>
      <p:sp>
        <p:nvSpPr>
          <p:cNvPr id="791" name="" descr="{&quot;isTemplate&quot;:true,&quot;type&quot;:&quot;text&quot;}"/>
          <p:cNvSpPr txBox="1"/>
          <p:nvPr/>
        </p:nvSpPr>
        <p:spPr>
          <a:xfrm rot="0" flipH="0" flipV="0">
            <a:off x="7696200" y="2428875"/>
            <a:ext cx="4114800" cy="161925"/>
          </a:xfrm>
          <a:prstGeom prst="rect"/>
        </p:spPr>
        <p:txBody>
          <a:bodyPr wrap="none" lIns="0" tIns="0" rIns="0" bIns="0"/>
          <a:p>
            <a:pPr>
              <a:lnSpc>
                <a:spcPct val="100000"/>
              </a:lnSpc>
            </a:pPr>
            <a:r>
              <a:rPr lang="en-US" sz="1050" b="1">
                <a:solidFill>
                  <a:srgbClr val="1A2230"/>
                </a:solidFill>
                <a:latin typeface="Microsoft YaHei"/>
                <a:ea typeface="Microsoft YaHei"/>
              </a:rPr>
              <a:t>Read the pack</a:t>
            </a:r>
            <a:endParaRPr/>
          </a:p>
        </p:txBody>
      </p:sp>
      <p:sp>
        <p:nvSpPr>
          <p:cNvPr id="792" name="" descr="{&quot;isTemplate&quot;:true,&quot;type&quot;:&quot;text&quot;}"/>
          <p:cNvSpPr txBox="1"/>
          <p:nvPr/>
        </p:nvSpPr>
        <p:spPr>
          <a:xfrm rot="0" flipH="0" flipV="0">
            <a:off x="7696200" y="2590800"/>
            <a:ext cx="4114800" cy="142875"/>
          </a:xfrm>
          <a:prstGeom prst="rect"/>
        </p:spPr>
        <p:txBody>
          <a:bodyPr wrap="none" lIns="0" tIns="0" rIns="0" bIns="0"/>
          <a:p>
            <a:pPr>
              <a:lnSpc>
                <a:spcPct val="100000"/>
              </a:lnSpc>
            </a:pPr>
            <a:r>
              <a:rPr lang="en-US" sz="900">
                <a:solidFill>
                  <a:srgbClr val="8B97A8"/>
                </a:solidFill>
                <a:latin typeface="Microsoft YaHei"/>
                <a:ea typeface="Microsoft YaHei"/>
              </a:rPr>
              <a:t>Today, in the lab.</a:t>
            </a:r>
            <a:endParaRPr/>
          </a:p>
        </p:txBody>
      </p:sp>
      <p:sp>
        <p:nvSpPr>
          <p:cNvPr id="793" name=""/>
          <p:cNvSpPr/>
          <p:nvPr/>
        </p:nvSpPr>
        <p:spPr>
          <a:xfrm rot="0" flipH="0" flipV="0">
            <a:off x="7334250" y="2847975"/>
            <a:ext cx="247650" cy="247650"/>
          </a:xfrm>
          <a:prstGeom prst="roundRect">
            <a:avLst>
              <a:gd name="adj" fmla="val 50000"/>
            </a:avLst>
          </a:prstGeom>
          <a:solidFill>
            <a:srgbClr val="1E4FA8"/>
          </a:solidFill>
          <a:ln/>
        </p:spPr>
        <p:txBody>
          <a:bodyPr/>
          <a:p/>
        </p:txBody>
      </p:sp>
      <p:sp>
        <p:nvSpPr>
          <p:cNvPr id="794" name="" descr="{&quot;isTemplate&quot;:true,&quot;type&quot;:&quot;text&quot;}"/>
          <p:cNvSpPr txBox="1"/>
          <p:nvPr/>
        </p:nvSpPr>
        <p:spPr>
          <a:xfrm rot="0" flipH="0" flipV="0">
            <a:off x="7419975" y="2895600"/>
            <a:ext cx="76200" cy="152400"/>
          </a:xfrm>
          <a:prstGeom prst="rect"/>
        </p:spPr>
        <p:txBody>
          <a:bodyPr wrap="none" lIns="0" tIns="0" rIns="0" bIns="0"/>
          <a:p>
            <a:pPr>
              <a:lnSpc>
                <a:spcPct val="100000"/>
              </a:lnSpc>
            </a:pPr>
            <a:r>
              <a:rPr lang="en-US" sz="975" b="1">
                <a:solidFill>
                  <a:srgbClr val="FFFFFF"/>
                </a:solidFill>
                <a:latin typeface="Microsoft YaHei"/>
                <a:ea typeface="Microsoft YaHei"/>
              </a:rPr>
              <a:t>2</a:t>
            </a:r>
            <a:endParaRPr/>
          </a:p>
        </p:txBody>
      </p:sp>
      <p:sp>
        <p:nvSpPr>
          <p:cNvPr id="795" name="" descr="{&quot;isTemplate&quot;:true,&quot;type&quot;:&quot;text&quot;}"/>
          <p:cNvSpPr txBox="1"/>
          <p:nvPr/>
        </p:nvSpPr>
        <p:spPr>
          <a:xfrm rot="0" flipH="0" flipV="0">
            <a:off x="7696200" y="2847975"/>
            <a:ext cx="4114800" cy="161925"/>
          </a:xfrm>
          <a:prstGeom prst="rect"/>
        </p:spPr>
        <p:txBody>
          <a:bodyPr wrap="none" lIns="0" tIns="0" rIns="0" bIns="0"/>
          <a:p>
            <a:pPr>
              <a:lnSpc>
                <a:spcPct val="100000"/>
              </a:lnSpc>
            </a:pPr>
            <a:r>
              <a:rPr lang="en-US" sz="1050" b="1">
                <a:solidFill>
                  <a:srgbClr val="1A2230"/>
                </a:solidFill>
                <a:latin typeface="Microsoft YaHei"/>
                <a:ea typeface="Microsoft YaHei"/>
              </a:rPr>
              <a:t>Find the actors</a:t>
            </a:r>
            <a:endParaRPr/>
          </a:p>
        </p:txBody>
      </p:sp>
      <p:sp>
        <p:nvSpPr>
          <p:cNvPr id="796" name="" descr="{&quot;isTemplate&quot;:true,&quot;type&quot;:&quot;text&quot;}"/>
          <p:cNvSpPr txBox="1"/>
          <p:nvPr/>
        </p:nvSpPr>
        <p:spPr>
          <a:xfrm rot="0" flipH="0" flipV="0">
            <a:off x="7696200" y="3009900"/>
            <a:ext cx="4114800" cy="142875"/>
          </a:xfrm>
          <a:prstGeom prst="rect"/>
        </p:spPr>
        <p:txBody>
          <a:bodyPr wrap="none" lIns="0" tIns="0" rIns="0" bIns="0"/>
          <a:p>
            <a:pPr>
              <a:lnSpc>
                <a:spcPct val="100000"/>
              </a:lnSpc>
            </a:pPr>
            <a:r>
              <a:rPr lang="en-US" sz="900">
                <a:solidFill>
                  <a:srgbClr val="8B97A8"/>
                </a:solidFill>
                <a:latin typeface="Microsoft YaHei"/>
                <a:ea typeface="Microsoft YaHei"/>
              </a:rPr>
              <a:t>Who or what touches this system?</a:t>
            </a:r>
            <a:endParaRPr/>
          </a:p>
        </p:txBody>
      </p:sp>
      <p:sp>
        <p:nvSpPr>
          <p:cNvPr id="797" name=""/>
          <p:cNvSpPr/>
          <p:nvPr/>
        </p:nvSpPr>
        <p:spPr>
          <a:xfrm rot="0" flipH="0" flipV="0">
            <a:off x="7334250" y="3267075"/>
            <a:ext cx="247650" cy="247650"/>
          </a:xfrm>
          <a:prstGeom prst="roundRect">
            <a:avLst>
              <a:gd name="adj" fmla="val 50000"/>
            </a:avLst>
          </a:prstGeom>
          <a:solidFill>
            <a:srgbClr val="1E4FA8"/>
          </a:solidFill>
          <a:ln/>
        </p:spPr>
        <p:txBody>
          <a:bodyPr/>
          <a:p/>
        </p:txBody>
      </p:sp>
      <p:sp>
        <p:nvSpPr>
          <p:cNvPr id="798" name="" descr="{&quot;isTemplate&quot;:true,&quot;type&quot;:&quot;text&quot;}"/>
          <p:cNvSpPr txBox="1"/>
          <p:nvPr/>
        </p:nvSpPr>
        <p:spPr>
          <a:xfrm rot="0" flipH="0" flipV="0">
            <a:off x="7419975" y="3314700"/>
            <a:ext cx="76200" cy="152400"/>
          </a:xfrm>
          <a:prstGeom prst="rect"/>
        </p:spPr>
        <p:txBody>
          <a:bodyPr wrap="none" lIns="0" tIns="0" rIns="0" bIns="0"/>
          <a:p>
            <a:pPr>
              <a:lnSpc>
                <a:spcPct val="100000"/>
              </a:lnSpc>
            </a:pPr>
            <a:r>
              <a:rPr lang="en-US" sz="975" b="1">
                <a:solidFill>
                  <a:srgbClr val="FFFFFF"/>
                </a:solidFill>
                <a:latin typeface="Microsoft YaHei"/>
                <a:ea typeface="Microsoft YaHei"/>
              </a:rPr>
              <a:t>3</a:t>
            </a:r>
            <a:endParaRPr/>
          </a:p>
        </p:txBody>
      </p:sp>
      <p:sp>
        <p:nvSpPr>
          <p:cNvPr id="799" name="" descr="{&quot;isTemplate&quot;:true,&quot;type&quot;:&quot;text&quot;}"/>
          <p:cNvSpPr txBox="1"/>
          <p:nvPr/>
        </p:nvSpPr>
        <p:spPr>
          <a:xfrm rot="0" flipH="0" flipV="0">
            <a:off x="7696200" y="3267075"/>
            <a:ext cx="4114800" cy="161925"/>
          </a:xfrm>
          <a:prstGeom prst="rect"/>
        </p:spPr>
        <p:txBody>
          <a:bodyPr wrap="none" lIns="0" tIns="0" rIns="0" bIns="0"/>
          <a:p>
            <a:pPr>
              <a:lnSpc>
                <a:spcPct val="100000"/>
              </a:lnSpc>
            </a:pPr>
            <a:r>
              <a:rPr lang="en-US" sz="1050" b="1">
                <a:solidFill>
                  <a:srgbClr val="1A2230"/>
                </a:solidFill>
                <a:latin typeface="Microsoft YaHei"/>
                <a:ea typeface="Microsoft YaHei"/>
              </a:rPr>
              <a:t>Find the use cases</a:t>
            </a:r>
            <a:endParaRPr/>
          </a:p>
        </p:txBody>
      </p:sp>
      <p:sp>
        <p:nvSpPr>
          <p:cNvPr id="800" name="" descr="{&quot;isTemplate&quot;:true,&quot;type&quot;:&quot;text&quot;}"/>
          <p:cNvSpPr txBox="1"/>
          <p:nvPr/>
        </p:nvSpPr>
        <p:spPr>
          <a:xfrm rot="0" flipH="0" flipV="0">
            <a:off x="7696200" y="3429000"/>
            <a:ext cx="4114800" cy="142875"/>
          </a:xfrm>
          <a:prstGeom prst="rect"/>
        </p:spPr>
        <p:txBody>
          <a:bodyPr wrap="none" lIns="0" tIns="0" rIns="0" bIns="0"/>
          <a:p>
            <a:pPr>
              <a:lnSpc>
                <a:spcPct val="100000"/>
              </a:lnSpc>
            </a:pPr>
            <a:r>
              <a:rPr lang="en-US" sz="900">
                <a:solidFill>
                  <a:srgbClr val="8B97A8"/>
                </a:solidFill>
                <a:latin typeface="Microsoft YaHei"/>
                <a:ea typeface="Microsoft YaHei"/>
              </a:rPr>
              <a:t>What goal does each one reach?</a:t>
            </a:r>
            <a:endParaRPr/>
          </a:p>
        </p:txBody>
      </p:sp>
      <p:sp>
        <p:nvSpPr>
          <p:cNvPr id="801" name=""/>
          <p:cNvSpPr/>
          <p:nvPr/>
        </p:nvSpPr>
        <p:spPr>
          <a:xfrm rot="0" flipH="0" flipV="0">
            <a:off x="7334250" y="3686175"/>
            <a:ext cx="247650" cy="247650"/>
          </a:xfrm>
          <a:prstGeom prst="roundRect">
            <a:avLst>
              <a:gd name="adj" fmla="val 50000"/>
            </a:avLst>
          </a:prstGeom>
          <a:solidFill>
            <a:srgbClr val="1E4FA8"/>
          </a:solidFill>
          <a:ln/>
        </p:spPr>
        <p:txBody>
          <a:bodyPr/>
          <a:p/>
        </p:txBody>
      </p:sp>
      <p:sp>
        <p:nvSpPr>
          <p:cNvPr id="802" name="" descr="{&quot;isTemplate&quot;:true,&quot;type&quot;:&quot;text&quot;}"/>
          <p:cNvSpPr txBox="1"/>
          <p:nvPr/>
        </p:nvSpPr>
        <p:spPr>
          <a:xfrm rot="0" flipH="0" flipV="0">
            <a:off x="7419975" y="3733800"/>
            <a:ext cx="76200" cy="152400"/>
          </a:xfrm>
          <a:prstGeom prst="rect"/>
        </p:spPr>
        <p:txBody>
          <a:bodyPr wrap="none" lIns="0" tIns="0" rIns="0" bIns="0"/>
          <a:p>
            <a:pPr>
              <a:lnSpc>
                <a:spcPct val="100000"/>
              </a:lnSpc>
            </a:pPr>
            <a:r>
              <a:rPr lang="en-US" sz="975" b="1">
                <a:solidFill>
                  <a:srgbClr val="FFFFFF"/>
                </a:solidFill>
                <a:latin typeface="Microsoft YaHei"/>
                <a:ea typeface="Microsoft YaHei"/>
              </a:rPr>
              <a:t>4</a:t>
            </a:r>
            <a:endParaRPr/>
          </a:p>
        </p:txBody>
      </p:sp>
      <p:sp>
        <p:nvSpPr>
          <p:cNvPr id="803" name="" descr="{&quot;isTemplate&quot;:true,&quot;type&quot;:&quot;text&quot;}"/>
          <p:cNvSpPr txBox="1"/>
          <p:nvPr/>
        </p:nvSpPr>
        <p:spPr>
          <a:xfrm rot="0" flipH="0" flipV="0">
            <a:off x="7696200" y="3686175"/>
            <a:ext cx="4114800" cy="161925"/>
          </a:xfrm>
          <a:prstGeom prst="rect"/>
        </p:spPr>
        <p:txBody>
          <a:bodyPr wrap="none" lIns="0" tIns="0" rIns="0" bIns="0"/>
          <a:p>
            <a:pPr>
              <a:lnSpc>
                <a:spcPct val="100000"/>
              </a:lnSpc>
            </a:pPr>
            <a:r>
              <a:rPr lang="en-US" sz="1050" b="1">
                <a:solidFill>
                  <a:srgbClr val="1A2230"/>
                </a:solidFill>
                <a:latin typeface="Microsoft YaHei"/>
                <a:ea typeface="Microsoft YaHei"/>
              </a:rPr>
              <a:t>Draw the diagram</a:t>
            </a:r>
            <a:endParaRPr/>
          </a:p>
        </p:txBody>
      </p:sp>
      <p:sp>
        <p:nvSpPr>
          <p:cNvPr id="804" name="" descr="{&quot;isTemplate&quot;:true,&quot;type&quot;:&quot;text&quot;}"/>
          <p:cNvSpPr txBox="1"/>
          <p:nvPr/>
        </p:nvSpPr>
        <p:spPr>
          <a:xfrm rot="0" flipH="0" flipV="0">
            <a:off x="7696200" y="3848100"/>
            <a:ext cx="4114800" cy="142875"/>
          </a:xfrm>
          <a:prstGeom prst="rect"/>
        </p:spPr>
        <p:txBody>
          <a:bodyPr wrap="none" lIns="0" tIns="0" rIns="0" bIns="0"/>
          <a:p>
            <a:pPr>
              <a:lnSpc>
                <a:spcPct val="100000"/>
              </a:lnSpc>
            </a:pPr>
            <a:r>
              <a:rPr lang="en-US" sz="900">
                <a:solidFill>
                  <a:srgbClr val="8B97A8"/>
                </a:solidFill>
                <a:latin typeface="Microsoft YaHei"/>
                <a:ea typeface="Microsoft YaHei"/>
              </a:rPr>
              <a:t>Boundary, ellipses, lines, two dashed arrows.</a:t>
            </a:r>
            <a:endParaRPr/>
          </a:p>
        </p:txBody>
      </p:sp>
      <p:sp>
        <p:nvSpPr>
          <p:cNvPr id="805" name=""/>
          <p:cNvSpPr/>
          <p:nvPr/>
        </p:nvSpPr>
        <p:spPr>
          <a:xfrm rot="0" flipH="0" flipV="0">
            <a:off x="7334250" y="4105275"/>
            <a:ext cx="4476750" cy="657225"/>
          </a:xfrm>
          <a:prstGeom prst="roundRect">
            <a:avLst>
              <a:gd name="adj" fmla="val 13043"/>
            </a:avLst>
          </a:prstGeom>
          <a:solidFill>
            <a:srgbClr val="F0F5FC"/>
          </a:solidFill>
          <a:ln w="12700">
            <a:solidFill>
              <a:srgbClr val="3D7BD9"/>
            </a:solidFill>
            <a:prstDash val="dash"/>
          </a:ln>
        </p:spPr>
        <p:txBody>
          <a:bodyPr/>
          <a:p/>
        </p:txBody>
      </p:sp>
      <p:sp>
        <p:nvSpPr>
          <p:cNvPr id="806" name="" descr="{&quot;isTemplate&quot;:true,&quot;type&quot;:&quot;text&quot;}"/>
          <p:cNvSpPr txBox="1"/>
          <p:nvPr/>
        </p:nvSpPr>
        <p:spPr>
          <a:xfrm rot="0" flipH="0" flipV="0">
            <a:off x="7467600" y="4219575"/>
            <a:ext cx="4210050" cy="428625"/>
          </a:xfrm>
          <a:prstGeom prst="rect"/>
        </p:spPr>
        <p:txBody>
          <a:bodyPr wrap="square" lIns="0" tIns="0" rIns="0" bIns="0">
            <a:normAutofit/>
          </a:bodyPr>
          <a:p>
            <a:pPr>
              <a:lnSpc>
                <a:spcPct val="150000"/>
              </a:lnSpc>
            </a:pPr>
            <a:r>
              <a:rPr lang="en-US" sz="938">
                <a:solidFill>
                  <a:srgbClr val="0E3F8C"/>
                </a:solidFill>
                <a:latin typeface="Microsoft YaHei"/>
                <a:ea typeface="Microsoft YaHei"/>
              </a:rPr>
              <a:t>Heads up:</a:t>
            </a:r>
            <a:r>
              <a:rPr lang="en-US" sz="938">
                <a:solidFill>
                  <a:srgbClr val="0E3F8C"/>
                </a:solidFill>
                <a:latin typeface="Microsoft YaHei"/>
                <a:ea typeface="Microsoft YaHei"/>
              </a:rPr>
              <a:t> three requirement changes will be injected later this term. Your model must absorb them — that is part of the design grade.</a:t>
            </a:r>
            <a:endParaRPr/>
          </a:p>
        </p:txBody>
      </p:sp>
      <p:sp>
        <p:nvSpPr>
          <p:cNvPr id="807" name="" descr="{&quot;isTemplate&quot;:true,&quot;type&quot;:&quot;text&quot;}"/>
          <p:cNvSpPr txBox="1"/>
          <p:nvPr/>
        </p:nvSpPr>
        <p:spPr>
          <a:xfrm rot="0" flipH="0" flipV="0">
            <a:off x="381000" y="6619875"/>
            <a:ext cx="3800475" cy="152400"/>
          </a:xfrm>
          <a:prstGeom prst="rect"/>
        </p:spPr>
        <p:txBody>
          <a:bodyPr wrap="none" lIns="0" tIns="0" rIns="0" bIns="0"/>
          <a:p>
            <a:pPr>
              <a:lnSpc>
                <a:spcPct val="100000"/>
              </a:lnSpc>
            </a:pPr>
            <a:r>
              <a:rPr lang="en-US" sz="975">
                <a:solidFill>
                  <a:srgbClr val="8B97A8"/>
                </a:solidFill>
                <a:latin typeface="Microsoft YaHei"/>
                <a:ea typeface="Microsoft YaHei"/>
              </a:rPr>
              <a:t>ISAD · Fall 2026 · the pack is also in 04-</a:t>
            </a:r>
            <a:r>
              <a:rPr lang="zh-CN" sz="975">
                <a:solidFill>
                  <a:srgbClr val="8B97A8"/>
                </a:solidFill>
                <a:latin typeface="Microsoft YaHei"/>
                <a:ea typeface="Microsoft YaHei"/>
              </a:rPr>
              <a:t>项目实践</a:t>
            </a:r>
            <a:r>
              <a:rPr lang="en-US" sz="975">
                <a:solidFill>
                  <a:srgbClr val="8B97A8"/>
                </a:solidFill>
                <a:latin typeface="Microsoft YaHei"/>
                <a:ea typeface="Microsoft YaHei"/>
              </a:rPr>
              <a:t> on the course drive</a:t>
            </a:r>
            <a:endParaRPr/>
          </a:p>
        </p:txBody>
      </p:sp>
      <p:sp>
        <p:nvSpPr>
          <p:cNvPr id="808" name="" descr="{&quot;isTemplate&quot;:true,&quot;type&quot;:&quot;text&quot;}"/>
          <p:cNvSpPr txBox="1"/>
          <p:nvPr/>
        </p:nvSpPr>
        <p:spPr>
          <a:xfrm rot="0" flipH="0" flipV="0">
            <a:off x="11401425" y="6619875"/>
            <a:ext cx="409575" cy="161925"/>
          </a:xfrm>
          <a:prstGeom prst="rect"/>
        </p:spPr>
        <p:txBody>
          <a:bodyPr wrap="none" lIns="0" tIns="0" rIns="0" bIns="0"/>
          <a:p>
            <a:pPr>
              <a:lnSpc>
                <a:spcPct val="100000"/>
              </a:lnSpc>
            </a:pPr>
            <a:r>
              <a:rPr lang="en-US" sz="1050" b="1">
                <a:solidFill>
                  <a:srgbClr val="1E4FA8"/>
                </a:solidFill>
                <a:latin typeface="Microsoft YaHei"/>
                <a:ea typeface="Microsoft YaHei"/>
              </a:rPr>
              <a:t>04 / 38</a:t>
            </a:r>
            <a:endParaRPr/>
          </a:p>
        </p:txBody>
      </p:sp>
    </p:spTree>
  </p:cSld>
</p:sld>
</file>

<file path=ppt/slides/slide5.xml><?xml version="1.0" encoding="utf-8"?>
<p:sld xmlns:a16="http://schemas.microsoft.com/office/drawing/2014/main" xmlns:a="http://schemas.openxmlformats.org/drawingml/2006/main" xmlns:p="http://schemas.openxmlformats.org/presentationml/2006/main" xmlns:mc="http://schemas.openxmlformats.org/markup-compatibility/2006" mc:Ignorable="a16">
  <p:cSld>
    <p:spTree>
      <p:nvGrpSpPr>
        <p:cNvPr id="809" name="" descr="&lt;Slide style={{ background: '#FFFFFF', padding: 0 }}&gt;&#10;  &lt;Box style={{ height: 72, background: '#1E4FA8', padding: '0 40px', flexDirection: 'row', alignItems: 'center', justifyContent: 'space-between' }}&gt;&#10;    &lt;Text style={{ fontSize: 15, color: '#B9CDF0', letterSpacing: 1 }}&gt;ISAD · INFORMATION SYSTEMS ANALYSIS &amp;amp; DESIGN&lt;/Text&gt;&#10;    &lt;Text style={{ fontSize: 15, color: '#B9CDF0' }}&gt;W04 · REQUIREMENTS&lt;/Text&gt;&#10;  &lt;/Box&gt;&#10;  &lt;Box style={{ padding: '14px 40px 0 40px', flexDirection: 'row', alignItems: 'center', justifyContent: 'space-between' }}&gt;&#10;    &lt;Text style={{ fontSize: 30, fontWeight: 'bold', color: '#0E3F8C' }}&gt;Functional vs. Non-Functional&lt;/Text&gt;&#10;    &lt;Text style={{ fontSize: 14, color: '#1E4FA8', fontWeight: 'bold' }}&gt;05 / 38&lt;/Text&gt;&#10;  &lt;/Box&gt;&#10;  &lt;Box style={{ flex: 1, padding: '10px 40px 6px 40px' }}&gt;&#10;    &lt;Table&#10;      style={{ width: '100%', height: '100%' }}&#10;      defaultTextStyle={{ fontSize: 14, textAlign: 'left', color: '#1A2230' }}&#10;      defaultCellStyle={{&#10;        border: {&#10;          left: { width: 1, color: '#E5E7EB' },&#10;          right: { width: 1, color: '#E5E7EB' },&#10;          top: { width: 1, color: '#E5E7EB' },&#10;          bottom: { width: 1, color: '#E5E7EB' },&#10;        },&#10;      }}&#10;      cells={[&#10;        [&#10;          { text: '', textStyle: { bold: true, color: '#FFFFFF' }, cellStyle: { background: { color: '#0E3F8C' } } },&#10;          { text: 'Functional', textStyle: { bold: true, color: '#FFFFFF', fontSize: 16 }, cellStyle: { background: { color: '#1E4FA8' } } },&#10;          { text: 'Non-functional', textStyle: { bold: true, color: '#FFFFFF', fontSize: 16 }, cellStyle: { background: { color: '#3D7BD9' } } },&#10;        ],&#10;        [&#10;          { text: 'What it says', textStyle: { bold: true, color: '#0E3F8C' }, cellStyle: { background: { color: '#F7F9FC' } } },&#10;          { text: 'What the system does', textStyle: { color: '#4A5568' }, cellStyle: { background: { color: '#F7F9FC' } } },&#10;          { text: 'How well it does it', textStyle: { color: '#4A5568' }, cellStyle: { background: { color: '#F7F9FC' } } },&#10;        ],&#10;        [&#10;          { text: 'CampusBites example', textStyle: { bold: true, color: '#0E3F8C' } },&#10;          { text: 'A student shall pay for an order with a campus card, a wallet, or cash on delivery.', textStyle: { color: '#4A5568' } },&#10;          { text: 'The order status screen shall refresh within 2 seconds for 5 000 concurrent users.', textStyle: { color: '#4A5568' } },&#10;        ],&#10;        [&#10;          { text: 'How you test it', textStyle: { bold: true, color: '#0E3F8C' }, cellStyle: { background: { color: '#F7F9FC' } } },&#10;          { text: 'Give it an input, check the output. One pass, one fail.', textStyle: { color: '#4A5568' }, cellStyle: { background: { color: '#F7F9FC' } } },&#10;          { text: 'Put it under load and measure. There is no single pass — there is a curve.', textStyle: { color: '#4A5568' }, cellStyle: { background: { color: '#F7F9FC' } } },&#10;        ],&#10;        [&#10;          { text: 'Typical failure', textStyle: { bold: true, color: '#0E3F8C' } },&#10;          { text: 'A feature is missing. The client notices at the demo.', textStyle: { color: '#4A5568' } },&#10;          { text: 'It works for one user and dies for five thousand. Nobody notices until launch.', textStyle: { color: '#4A5568' } },&#10;        ],&#10;        [&#10;          { text: 'Who complains', textStyle: { bold: true, color: '#0E3F8C' }, cellStyle: { background: { color: '#F7F9FC' } } },&#10;          { text: 'The client — &quot;where is my button?&quot;', textStyle: { color: '#4A5568' }, cellStyle: { background: { color: '#F7F9FC' } } },&#10;          { text: 'Operations — at 12:05 on a Monday, with a queue out the door.', textStyle: { color: '#4A5568' }, cellStyle: { background: { color: '#F7F9FC' } } },&#10;        ],&#10;      ]}&#10;    /&gt;&#10;  &lt;/Box&gt;&#10;  &lt;Box style={{ height: 46, background: '#0E3F8C', padding: '0 40px', flexDirection: 'row', alignItems: 'center', justifyContent: 'center' }}&gt;&#10;    &lt;Text style={{ fontSize: 16.5, color: '#FFFFFF', fontWeight: '600' }}&gt;Functional requirements get you the demo. Non-functional requirements get you the deployment.&lt;/Text&gt;&#10;  &lt;/Box&gt;&#10;&lt;/Slide&gt;"/>
        <p:cNvGrpSpPr/>
        <p:nvPr/>
      </p:nvGrpSpPr>
      <p:grpSpPr>
        <a:xfrm>
          <a:off x="0" y="0"/>
          <a:ext cx="0" cy="0"/>
          <a:chOff x="0" y="0"/>
          <a:chExt cx="0" cy="0"/>
        </a:xfrm>
      </p:grpSpPr>
      <p:sp>
        <p:nvSpPr>
          <p:cNvPr id="810" name=""/>
          <p:cNvSpPr/>
          <p:nvPr/>
        </p:nvSpPr>
        <p:spPr>
          <a:xfrm rot="0" flipH="0" flipV="0">
            <a:off x="0" y="0"/>
            <a:ext cx="12192000" cy="6858000"/>
          </a:xfrm>
          <a:prstGeom prst="rect">
            <a:avLst/>
          </a:prstGeom>
          <a:solidFill>
            <a:srgbClr val="FFFFFF"/>
          </a:solidFill>
          <a:ln/>
        </p:spPr>
        <p:txBody>
          <a:bodyPr/>
          <a:p/>
        </p:txBody>
      </p:sp>
      <p:sp>
        <p:nvSpPr>
          <p:cNvPr id="811" name=""/>
          <p:cNvSpPr/>
          <p:nvPr/>
        </p:nvSpPr>
        <p:spPr>
          <a:xfrm rot="0" flipH="0" flipV="0">
            <a:off x="0" y="0"/>
            <a:ext cx="12192000" cy="685800"/>
          </a:xfrm>
          <a:prstGeom prst="rect">
            <a:avLst/>
          </a:prstGeom>
          <a:solidFill>
            <a:srgbClr val="1E4FA8"/>
          </a:solidFill>
          <a:ln/>
        </p:spPr>
        <p:txBody>
          <a:bodyPr/>
          <a:p/>
        </p:txBody>
      </p:sp>
      <p:sp>
        <p:nvSpPr>
          <p:cNvPr id="812" name="" descr="{&quot;isTemplate&quot;:true,&quot;type&quot;:&quot;text&quot;}"/>
          <p:cNvSpPr txBox="1"/>
          <p:nvPr/>
        </p:nvSpPr>
        <p:spPr>
          <a:xfrm rot="0" flipH="0" flipV="0">
            <a:off x="381000" y="257175"/>
            <a:ext cx="4067175" cy="171450"/>
          </a:xfrm>
          <a:prstGeom prst="rect"/>
        </p:spPr>
        <p:txBody>
          <a:bodyPr wrap="none" lIns="0" tIns="0" rIns="0" bIns="0"/>
          <a:p>
            <a:pPr>
              <a:lnSpc>
                <a:spcPct val="100000"/>
              </a:lnSpc>
            </a:pPr>
            <a:r>
              <a:rPr lang="en-US" sz="1125" spc="75">
                <a:solidFill>
                  <a:srgbClr val="B9CDF0"/>
                </a:solidFill>
                <a:latin typeface="Microsoft YaHei"/>
                <a:ea typeface="Microsoft YaHei"/>
              </a:rPr>
              <a:t>ISAD · INFORMATION SYSTEMS ANALYSIS &amp; DESIGN</a:t>
            </a:r>
            <a:endParaRPr/>
          </a:p>
        </p:txBody>
      </p:sp>
      <p:sp>
        <p:nvSpPr>
          <p:cNvPr id="813" name="" descr="{&quot;isTemplate&quot;:true,&quot;type&quot;:&quot;text&quot;}"/>
          <p:cNvSpPr txBox="1"/>
          <p:nvPr/>
        </p:nvSpPr>
        <p:spPr>
          <a:xfrm rot="0" flipH="0" flipV="0">
            <a:off x="10229850" y="257175"/>
            <a:ext cx="1581150" cy="171450"/>
          </a:xfrm>
          <a:prstGeom prst="rect"/>
        </p:spPr>
        <p:txBody>
          <a:bodyPr wrap="none" lIns="0" tIns="0" rIns="0" bIns="0"/>
          <a:p>
            <a:pPr>
              <a:lnSpc>
                <a:spcPct val="100000"/>
              </a:lnSpc>
            </a:pPr>
            <a:r>
              <a:rPr lang="en-US" sz="1125">
                <a:solidFill>
                  <a:srgbClr val="B9CDF0"/>
                </a:solidFill>
                <a:latin typeface="Microsoft YaHei"/>
                <a:ea typeface="Microsoft YaHei"/>
              </a:rPr>
              <a:t>W04 · REQUIREMENTS</a:t>
            </a:r>
            <a:endParaRPr/>
          </a:p>
        </p:txBody>
      </p:sp>
      <p:sp>
        <p:nvSpPr>
          <p:cNvPr id="814" name="" descr="{&quot;isTemplate&quot;:true,&quot;type&quot;:&quot;text&quot;}"/>
          <p:cNvSpPr txBox="1"/>
          <p:nvPr/>
        </p:nvSpPr>
        <p:spPr>
          <a:xfrm rot="0" flipH="0" flipV="0">
            <a:off x="381000" y="819150"/>
            <a:ext cx="4095750" cy="342900"/>
          </a:xfrm>
          <a:prstGeom prst="rect"/>
        </p:spPr>
        <p:txBody>
          <a:bodyPr wrap="none" lIns="0" tIns="0" rIns="0" bIns="0"/>
          <a:p>
            <a:pPr>
              <a:lnSpc>
                <a:spcPct val="100000"/>
              </a:lnSpc>
            </a:pPr>
            <a:r>
              <a:rPr lang="en-US" sz="2250" b="1">
                <a:solidFill>
                  <a:srgbClr val="0E3F8C"/>
                </a:solidFill>
                <a:latin typeface="Microsoft YaHei"/>
                <a:ea typeface="Microsoft YaHei"/>
              </a:rPr>
              <a:t>Functional vs. Non-Functional</a:t>
            </a:r>
            <a:endParaRPr/>
          </a:p>
        </p:txBody>
      </p:sp>
      <p:sp>
        <p:nvSpPr>
          <p:cNvPr id="815" name="" descr="{&quot;isTemplate&quot;:true,&quot;type&quot;:&quot;text&quot;}"/>
          <p:cNvSpPr txBox="1"/>
          <p:nvPr/>
        </p:nvSpPr>
        <p:spPr>
          <a:xfrm rot="0" flipH="0" flipV="0">
            <a:off x="11401425" y="914400"/>
            <a:ext cx="409575" cy="161925"/>
          </a:xfrm>
          <a:prstGeom prst="rect"/>
        </p:spPr>
        <p:txBody>
          <a:bodyPr wrap="none" lIns="0" tIns="0" rIns="0" bIns="0"/>
          <a:p>
            <a:pPr>
              <a:lnSpc>
                <a:spcPct val="100000"/>
              </a:lnSpc>
            </a:pPr>
            <a:r>
              <a:rPr lang="en-US" sz="1050" b="1">
                <a:solidFill>
                  <a:srgbClr val="1E4FA8"/>
                </a:solidFill>
                <a:latin typeface="Microsoft YaHei"/>
                <a:ea typeface="Microsoft YaHei"/>
              </a:rPr>
              <a:t>05 / 38</a:t>
            </a:r>
            <a:endParaRPr/>
          </a:p>
        </p:txBody>
      </p:sp>
      <p:graphicFrame>
        <p:nvGraphicFramePr>
          <p:cNvPr id="816" name=""/>
          <p:cNvGraphicFramePr/>
          <p:nvPr/>
        </p:nvGraphicFramePr>
        <p:xfrm rot="0" flipH="0" flipV="0">
          <a:off x="381000" y="1257300"/>
          <a:ext cx="11430000" cy="5105400"/>
        </p:xfrm>
        <a:graphic>
          <a:graphicData uri="http://schemas.openxmlformats.org/drawingml/2006/table">
            <a:tbl>
              <a:tblGrid>
                <a:gridCol w="1534512">
                  <a:extLst>
                    <a:ext uri="{9D8B030D-6E8A-4147-A177-3AD203B41FA5}">
                      <a16:colId val="1"/>
                    </a:ext>
                  </a:extLst>
                </a:gridCol>
                <a:gridCol w="4928514">
                  <a:extLst>
                    <a:ext uri="{9D8B030D-6E8A-4147-A177-3AD203B41FA5}">
                      <a16:colId val="2"/>
                    </a:ext>
                  </a:extLst>
                </a:gridCol>
                <a:gridCol w="4966973">
                  <a:extLst>
                    <a:ext uri="{9D8B030D-6E8A-4147-A177-3AD203B41FA5}">
                      <a16:colId val="3"/>
                    </a:ext>
                  </a:extLst>
                </a:gridCol>
              </a:tblGrid>
              <a:tr h="919300">
                <a:tc>
                  <a:txBody>
                    <a:bodyPr wrap="square" lIns="0" tIns="0" rIns="0" bIns="0" anchor="ctr">
                      <a:normAutofit/>
                    </a:bodyPr>
                    <a:p>
                      <a:pPr marL="114300" marR="114300" algn="l">
                        <a:lnSpc>
                          <a:spcPct val="120000"/>
                        </a:lnSpc>
                      </a:pPr>
                      <a:endParaRPr/>
                    </a:p>
                  </a:txBody>
                  <a:tcPr marL="45720" marR="45720" marT="45720" marB="45720" anchor="ctr">
                    <a:lnL>
                      <a:noFill/>
                    </a:lnL>
                    <a:lnR>
                      <a:noFill/>
                    </a:lnR>
                    <a:lnT>
                      <a:noFill/>
                    </a:lnT>
                    <a:lnB>
                      <a:noFill/>
                    </a:lnB>
                    <a:solidFill>
                      <a:srgbClr val="0E3F8C"/>
                    </a:solidFill>
                  </a:tcPr>
                </a:tc>
                <a:tc>
                  <a:txBody>
                    <a:bodyPr wrap="square" lIns="0" tIns="0" rIns="0" bIns="0" anchor="ctr">
                      <a:normAutofit/>
                    </a:bodyPr>
                    <a:p>
                      <a:pPr marL="114300" marR="114300" algn="l">
                        <a:lnSpc>
                          <a:spcPct val="120000"/>
                        </a:lnSpc>
                      </a:pPr>
                      <a:r>
                        <a:rPr sz="1200" b="1">
                          <a:solidFill>
                            <a:srgbClr val="FFFFFF"/>
                          </a:solidFill>
                          <a:latin typeface="Microsoft YaHei"/>
                          <a:ea typeface="Microsoft YaHei"/>
                        </a:rPr>
                        <a:t>Functional</a:t>
                      </a:r>
                      <a:endParaRPr/>
                    </a:p>
                  </a:txBody>
                  <a:tcPr marL="45720" marR="45720" marT="45720" marB="45720" anchor="ctr">
                    <a:lnL>
                      <a:noFill/>
                    </a:lnL>
                    <a:lnR>
                      <a:noFill/>
                    </a:lnR>
                    <a:lnT>
                      <a:noFill/>
                    </a:lnT>
                    <a:lnB>
                      <a:noFill/>
                    </a:lnB>
                    <a:solidFill>
                      <a:srgbClr val="1E4FA8"/>
                    </a:solidFill>
                  </a:tcPr>
                </a:tc>
                <a:tc>
                  <a:txBody>
                    <a:bodyPr wrap="square" lIns="0" tIns="0" rIns="0" bIns="0" anchor="ctr">
                      <a:normAutofit/>
                    </a:bodyPr>
                    <a:p>
                      <a:pPr marL="114300" marR="114300" algn="l">
                        <a:lnSpc>
                          <a:spcPct val="120000"/>
                        </a:lnSpc>
                      </a:pPr>
                      <a:r>
                        <a:rPr sz="1200" b="1">
                          <a:solidFill>
                            <a:srgbClr val="FFFFFF"/>
                          </a:solidFill>
                          <a:latin typeface="Microsoft YaHei"/>
                          <a:ea typeface="Microsoft YaHei"/>
                        </a:rPr>
                        <a:t>Non-functional</a:t>
                      </a:r>
                      <a:endParaRPr/>
                    </a:p>
                  </a:txBody>
                  <a:tcPr marL="45720" marR="45720" marT="45720" marB="45720" anchor="ctr">
                    <a:lnL>
                      <a:noFill/>
                    </a:lnL>
                    <a:lnR>
                      <a:noFill/>
                    </a:lnR>
                    <a:lnT>
                      <a:noFill/>
                    </a:lnT>
                    <a:lnB>
                      <a:noFill/>
                    </a:lnB>
                    <a:solidFill>
                      <a:srgbClr val="3D7BD9"/>
                    </a:solidFill>
                  </a:tcPr>
                </a:tc>
                <a:extLst>
                  <a:ext uri="{0D108BD9-81ED-4DB2-BD59-A6C34878D82A}">
                    <a16:rowId val="1"/>
                  </a:ext>
                </a:extLst>
              </a:tr>
              <a:tr h="837220">
                <a:tc>
                  <a:txBody>
                    <a:bodyPr wrap="square" lIns="0" tIns="0" rIns="0" bIns="0" anchor="ctr">
                      <a:normAutofit/>
                    </a:bodyPr>
                    <a:p>
                      <a:pPr marL="114300" marR="114300" algn="l">
                        <a:lnSpc>
                          <a:spcPct val="120000"/>
                        </a:lnSpc>
                      </a:pPr>
                      <a:r>
                        <a:rPr sz="1050" b="1">
                          <a:solidFill>
                            <a:srgbClr val="0E3F8C"/>
                          </a:solidFill>
                          <a:latin typeface="Microsoft YaHei"/>
                          <a:ea typeface="Microsoft YaHei"/>
                        </a:rPr>
                        <a:t>What it says</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1050">
                          <a:solidFill>
                            <a:srgbClr val="4A5568"/>
                          </a:solidFill>
                          <a:latin typeface="Microsoft YaHei"/>
                          <a:ea typeface="Microsoft YaHei"/>
                        </a:rPr>
                        <a:t>What the system does</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1050">
                          <a:solidFill>
                            <a:srgbClr val="4A5568"/>
                          </a:solidFill>
                          <a:latin typeface="Microsoft YaHei"/>
                          <a:ea typeface="Microsoft YaHei"/>
                        </a:rPr>
                        <a:t>How well it does it</a:t>
                      </a:r>
                      <a:endParaRPr/>
                    </a:p>
                  </a:txBody>
                  <a:tcPr marL="45720" marR="45720" marT="45720" marB="45720" anchor="ctr">
                    <a:lnL>
                      <a:noFill/>
                    </a:lnL>
                    <a:lnR>
                      <a:noFill/>
                    </a:lnR>
                    <a:lnT>
                      <a:noFill/>
                    </a:lnT>
                    <a:lnB>
                      <a:noFill/>
                    </a:lnB>
                    <a:solidFill>
                      <a:srgbClr val="F7F9FC"/>
                    </a:solidFill>
                  </a:tcPr>
                </a:tc>
                <a:extLst>
                  <a:ext uri="{0D108BD9-81ED-4DB2-BD59-A6C34878D82A}">
                    <a16:rowId val="2"/>
                  </a:ext>
                </a:extLst>
              </a:tr>
              <a:tr h="837220">
                <a:tc>
                  <a:txBody>
                    <a:bodyPr wrap="square" lIns="0" tIns="0" rIns="0" bIns="0" anchor="ctr">
                      <a:normAutofit/>
                    </a:bodyPr>
                    <a:p>
                      <a:pPr marL="114300" marR="114300" algn="l">
                        <a:lnSpc>
                          <a:spcPct val="120000"/>
                        </a:lnSpc>
                      </a:pPr>
                      <a:r>
                        <a:rPr sz="1050" b="1">
                          <a:solidFill>
                            <a:srgbClr val="0E3F8C"/>
                          </a:solidFill>
                          <a:latin typeface="Microsoft YaHei"/>
                          <a:ea typeface="Microsoft YaHei"/>
                        </a:rPr>
                        <a:t>CampusBites example</a:t>
                      </a:r>
                      <a:endParaRPr/>
                    </a:p>
                  </a:txBody>
                  <a:tcPr marL="45720" marR="45720" marT="45720" marB="45720" anchor="ctr">
                    <a:lnL>
                      <a:noFill/>
                    </a:lnL>
                    <a:lnR>
                      <a:noFill/>
                    </a:lnR>
                    <a:lnT>
                      <a:noFill/>
                    </a:lnT>
                    <a:lnB>
                      <a:noFill/>
                    </a:lnB>
                  </a:tcPr>
                </a:tc>
                <a:tc>
                  <a:txBody>
                    <a:bodyPr wrap="square" lIns="0" tIns="0" rIns="0" bIns="0" anchor="ctr">
                      <a:normAutofit/>
                    </a:bodyPr>
                    <a:p>
                      <a:pPr marL="114300" marR="114300" algn="l">
                        <a:lnSpc>
                          <a:spcPct val="120000"/>
                        </a:lnSpc>
                      </a:pPr>
                      <a:r>
                        <a:rPr sz="1050">
                          <a:solidFill>
                            <a:srgbClr val="4A5568"/>
                          </a:solidFill>
                          <a:latin typeface="Microsoft YaHei"/>
                          <a:ea typeface="Microsoft YaHei"/>
                        </a:rPr>
                        <a:t>A student shall pay for an order with a campus card, a wallet, or cash on delivery.</a:t>
                      </a:r>
                      <a:endParaRPr/>
                    </a:p>
                  </a:txBody>
                  <a:tcPr marL="45720" marR="45720" marT="45720" marB="45720" anchor="ctr">
                    <a:lnL>
                      <a:noFill/>
                    </a:lnL>
                    <a:lnR>
                      <a:noFill/>
                    </a:lnR>
                    <a:lnT>
                      <a:noFill/>
                    </a:lnT>
                    <a:lnB>
                      <a:noFill/>
                    </a:lnB>
                  </a:tcPr>
                </a:tc>
                <a:tc>
                  <a:txBody>
                    <a:bodyPr wrap="square" lIns="0" tIns="0" rIns="0" bIns="0" anchor="ctr">
                      <a:normAutofit/>
                    </a:bodyPr>
                    <a:p>
                      <a:pPr marL="114300" marR="114300" algn="l">
                        <a:lnSpc>
                          <a:spcPct val="120000"/>
                        </a:lnSpc>
                      </a:pPr>
                      <a:r>
                        <a:rPr sz="1050">
                          <a:solidFill>
                            <a:srgbClr val="4A5568"/>
                          </a:solidFill>
                          <a:latin typeface="Microsoft YaHei"/>
                          <a:ea typeface="Microsoft YaHei"/>
                        </a:rPr>
                        <a:t>The order status screen shall refresh within 2 seconds for 5 000 concurrent users.</a:t>
                      </a:r>
                      <a:endParaRPr/>
                    </a:p>
                  </a:txBody>
                  <a:tcPr marL="45720" marR="45720" marT="45720" marB="45720" anchor="ctr">
                    <a:lnL>
                      <a:noFill/>
                    </a:lnL>
                    <a:lnR>
                      <a:noFill/>
                    </a:lnR>
                    <a:lnT>
                      <a:noFill/>
                    </a:lnT>
                    <a:lnB>
                      <a:noFill/>
                    </a:lnB>
                  </a:tcPr>
                </a:tc>
                <a:extLst>
                  <a:ext uri="{0D108BD9-81ED-4DB2-BD59-A6C34878D82A}">
                    <a16:rowId val="3"/>
                  </a:ext>
                </a:extLst>
              </a:tr>
              <a:tr h="837220">
                <a:tc>
                  <a:txBody>
                    <a:bodyPr wrap="square" lIns="0" tIns="0" rIns="0" bIns="0" anchor="ctr">
                      <a:normAutofit/>
                    </a:bodyPr>
                    <a:p>
                      <a:pPr marL="114300" marR="114300" algn="l">
                        <a:lnSpc>
                          <a:spcPct val="120000"/>
                        </a:lnSpc>
                      </a:pPr>
                      <a:r>
                        <a:rPr sz="1050" b="1">
                          <a:solidFill>
                            <a:srgbClr val="0E3F8C"/>
                          </a:solidFill>
                          <a:latin typeface="Microsoft YaHei"/>
                          <a:ea typeface="Microsoft YaHei"/>
                        </a:rPr>
                        <a:t>How you test it</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1050">
                          <a:solidFill>
                            <a:srgbClr val="4A5568"/>
                          </a:solidFill>
                          <a:latin typeface="Microsoft YaHei"/>
                          <a:ea typeface="Microsoft YaHei"/>
                        </a:rPr>
                        <a:t>Give it an input, check the output. One pass, one fail.</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1050">
                          <a:solidFill>
                            <a:srgbClr val="4A5568"/>
                          </a:solidFill>
                          <a:latin typeface="Microsoft YaHei"/>
                          <a:ea typeface="Microsoft YaHei"/>
                        </a:rPr>
                        <a:t>Put it under load and measure. There is no single pass — there is a curve.</a:t>
                      </a:r>
                      <a:endParaRPr/>
                    </a:p>
                  </a:txBody>
                  <a:tcPr marL="45720" marR="45720" marT="45720" marB="45720" anchor="ctr">
                    <a:lnL>
                      <a:noFill/>
                    </a:lnL>
                    <a:lnR>
                      <a:noFill/>
                    </a:lnR>
                    <a:lnT>
                      <a:noFill/>
                    </a:lnT>
                    <a:lnB>
                      <a:noFill/>
                    </a:lnB>
                    <a:solidFill>
                      <a:srgbClr val="F7F9FC"/>
                    </a:solidFill>
                  </a:tcPr>
                </a:tc>
                <a:extLst>
                  <a:ext uri="{0D108BD9-81ED-4DB2-BD59-A6C34878D82A}">
                    <a16:rowId val="4"/>
                  </a:ext>
                </a:extLst>
              </a:tr>
              <a:tr h="837220">
                <a:tc>
                  <a:txBody>
                    <a:bodyPr wrap="square" lIns="0" tIns="0" rIns="0" bIns="0" anchor="ctr">
                      <a:normAutofit/>
                    </a:bodyPr>
                    <a:p>
                      <a:pPr marL="114300" marR="114300" algn="l">
                        <a:lnSpc>
                          <a:spcPct val="120000"/>
                        </a:lnSpc>
                      </a:pPr>
                      <a:r>
                        <a:rPr sz="1050" b="1">
                          <a:solidFill>
                            <a:srgbClr val="0E3F8C"/>
                          </a:solidFill>
                          <a:latin typeface="Microsoft YaHei"/>
                          <a:ea typeface="Microsoft YaHei"/>
                        </a:rPr>
                        <a:t>Typical failure</a:t>
                      </a:r>
                      <a:endParaRPr/>
                    </a:p>
                  </a:txBody>
                  <a:tcPr marL="45720" marR="45720" marT="45720" marB="45720" anchor="ctr">
                    <a:lnL>
                      <a:noFill/>
                    </a:lnL>
                    <a:lnR>
                      <a:noFill/>
                    </a:lnR>
                    <a:lnT>
                      <a:noFill/>
                    </a:lnT>
                    <a:lnB>
                      <a:noFill/>
                    </a:lnB>
                  </a:tcPr>
                </a:tc>
                <a:tc>
                  <a:txBody>
                    <a:bodyPr wrap="square" lIns="0" tIns="0" rIns="0" bIns="0" anchor="ctr">
                      <a:normAutofit/>
                    </a:bodyPr>
                    <a:p>
                      <a:pPr marL="114300" marR="114300" algn="l">
                        <a:lnSpc>
                          <a:spcPct val="120000"/>
                        </a:lnSpc>
                      </a:pPr>
                      <a:r>
                        <a:rPr sz="1050">
                          <a:solidFill>
                            <a:srgbClr val="4A5568"/>
                          </a:solidFill>
                          <a:latin typeface="Microsoft YaHei"/>
                          <a:ea typeface="Microsoft YaHei"/>
                        </a:rPr>
                        <a:t>A feature is missing. The client notices at the demo.</a:t>
                      </a:r>
                      <a:endParaRPr/>
                    </a:p>
                  </a:txBody>
                  <a:tcPr marL="45720" marR="45720" marT="45720" marB="45720" anchor="ctr">
                    <a:lnL>
                      <a:noFill/>
                    </a:lnL>
                    <a:lnR>
                      <a:noFill/>
                    </a:lnR>
                    <a:lnT>
                      <a:noFill/>
                    </a:lnT>
                    <a:lnB>
                      <a:noFill/>
                    </a:lnB>
                  </a:tcPr>
                </a:tc>
                <a:tc>
                  <a:txBody>
                    <a:bodyPr wrap="square" lIns="0" tIns="0" rIns="0" bIns="0" anchor="ctr">
                      <a:normAutofit/>
                    </a:bodyPr>
                    <a:p>
                      <a:pPr marL="114300" marR="114300" algn="l">
                        <a:lnSpc>
                          <a:spcPct val="120000"/>
                        </a:lnSpc>
                      </a:pPr>
                      <a:r>
                        <a:rPr sz="1050">
                          <a:solidFill>
                            <a:srgbClr val="4A5568"/>
                          </a:solidFill>
                          <a:latin typeface="Microsoft YaHei"/>
                          <a:ea typeface="Microsoft YaHei"/>
                        </a:rPr>
                        <a:t>It works for one user and dies for five thousand. Nobody notices until launch.</a:t>
                      </a:r>
                      <a:endParaRPr/>
                    </a:p>
                  </a:txBody>
                  <a:tcPr marL="45720" marR="45720" marT="45720" marB="45720" anchor="ctr">
                    <a:lnL>
                      <a:noFill/>
                    </a:lnL>
                    <a:lnR>
                      <a:noFill/>
                    </a:lnR>
                    <a:lnT>
                      <a:noFill/>
                    </a:lnT>
                    <a:lnB>
                      <a:noFill/>
                    </a:lnB>
                  </a:tcPr>
                </a:tc>
                <a:extLst>
                  <a:ext uri="{0D108BD9-81ED-4DB2-BD59-A6C34878D82A}">
                    <a16:rowId val="5"/>
                  </a:ext>
                </a:extLst>
              </a:tr>
              <a:tr h="837220">
                <a:tc>
                  <a:txBody>
                    <a:bodyPr wrap="square" lIns="0" tIns="0" rIns="0" bIns="0" anchor="ctr">
                      <a:normAutofit/>
                    </a:bodyPr>
                    <a:p>
                      <a:pPr marL="114300" marR="114300" algn="l">
                        <a:lnSpc>
                          <a:spcPct val="120000"/>
                        </a:lnSpc>
                      </a:pPr>
                      <a:r>
                        <a:rPr sz="1050" b="1">
                          <a:solidFill>
                            <a:srgbClr val="0E3F8C"/>
                          </a:solidFill>
                          <a:latin typeface="Microsoft YaHei"/>
                          <a:ea typeface="Microsoft YaHei"/>
                        </a:rPr>
                        <a:t>Who complains</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1050">
                          <a:solidFill>
                            <a:srgbClr val="4A5568"/>
                          </a:solidFill>
                          <a:latin typeface="Microsoft YaHei"/>
                          <a:ea typeface="Microsoft YaHei"/>
                        </a:rPr>
                        <a:t>The client — "where is my button?"</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1050">
                          <a:solidFill>
                            <a:srgbClr val="4A5568"/>
                          </a:solidFill>
                          <a:latin typeface="Microsoft YaHei"/>
                          <a:ea typeface="Microsoft YaHei"/>
                        </a:rPr>
                        <a:t>Operations — at 12:05 on a Monday, with a queue out the door.</a:t>
                      </a:r>
                      <a:endParaRPr/>
                    </a:p>
                  </a:txBody>
                  <a:tcPr marL="45720" marR="45720" marT="45720" marB="45720" anchor="ctr">
                    <a:lnL>
                      <a:noFill/>
                    </a:lnL>
                    <a:lnR>
                      <a:noFill/>
                    </a:lnR>
                    <a:lnT>
                      <a:noFill/>
                    </a:lnT>
                    <a:lnB>
                      <a:noFill/>
                    </a:lnB>
                    <a:solidFill>
                      <a:srgbClr val="F7F9FC"/>
                    </a:solidFill>
                  </a:tcPr>
                </a:tc>
                <a:extLst>
                  <a:ext uri="{0D108BD9-81ED-4DB2-BD59-A6C34878D82A}">
                    <a16:rowId val="6"/>
                  </a:ext>
                </a:extLst>
              </a:tr>
            </a:tbl>
          </a:graphicData>
        </a:graphic>
      </p:graphicFrame>
      <p:sp>
        <p:nvSpPr>
          <p:cNvPr id="817" name=""/>
          <p:cNvSpPr/>
          <p:nvPr/>
        </p:nvSpPr>
        <p:spPr>
          <a:xfrm rot="0" flipH="0" flipV="0">
            <a:off x="0" y="6419850"/>
            <a:ext cx="12192000" cy="438150"/>
          </a:xfrm>
          <a:prstGeom prst="rect">
            <a:avLst/>
          </a:prstGeom>
          <a:solidFill>
            <a:srgbClr val="0E3F8C"/>
          </a:solidFill>
          <a:ln/>
        </p:spPr>
        <p:txBody>
          <a:bodyPr/>
          <a:p/>
        </p:txBody>
      </p:sp>
      <p:sp>
        <p:nvSpPr>
          <p:cNvPr id="818" name="" descr="{&quot;isTemplate&quot;:true,&quot;type&quot;:&quot;text&quot;}"/>
          <p:cNvSpPr txBox="1"/>
          <p:nvPr/>
        </p:nvSpPr>
        <p:spPr>
          <a:xfrm rot="0" flipH="0" flipV="0">
            <a:off x="2466975" y="6543675"/>
            <a:ext cx="7267575" cy="190500"/>
          </a:xfrm>
          <a:prstGeom prst="rect"/>
        </p:spPr>
        <p:txBody>
          <a:bodyPr wrap="none" lIns="0" tIns="0" rIns="0" bIns="0"/>
          <a:p>
            <a:pPr>
              <a:lnSpc>
                <a:spcPct val="100000"/>
              </a:lnSpc>
            </a:pPr>
            <a:r>
              <a:rPr lang="en-US" sz="1238" b="1">
                <a:solidFill>
                  <a:srgbClr val="FFFFFF"/>
                </a:solidFill>
                <a:latin typeface="Microsoft YaHei"/>
                <a:ea typeface="Microsoft YaHei"/>
              </a:rPr>
              <a:t>Functional requirements get you the demo. Non-functional requirements get you the deployment.</a:t>
            </a:r>
            <a:endParaRPr/>
          </a:p>
        </p:txBody>
      </p:sp>
    </p:spTree>
  </p:cSld>
</p:sld>
</file>

<file path=ppt/slides/slide6.xml><?xml version="1.0" encoding="utf-8"?>
<p:sld xmlns:asvg="http://schemas.microsoft.com/office/drawing/2016/SVG/main" xmlns:a="http://schemas.openxmlformats.org/drawingml/2006/main" xmlns:r="http://schemas.openxmlformats.org/officeDocument/2006/relationships" xmlns:p="http://schemas.openxmlformats.org/presentationml/2006/main" xmlns:mc="http://schemas.openxmlformats.org/markup-compatibility/2006" mc:Ignorable="asvg">
  <p:cSld>
    <p:spTree>
      <p:nvGrpSpPr>
        <p:cNvPr id="819" name="" descr="&lt;Slide style={{ background: '#FFFFFF', padding: 0 }}&gt;&#10;  &lt;Box style={{ height: 72, background: '#1E4FA8', padding: '0 40px', flexDirection: 'row', alignItems: 'center', justifyContent: 'space-between' }}&gt;&#10;    &lt;Text style={{ fontSize: 15, color: '#B9CDF0', letterSpacing: 1 }}&gt;ISAD · INFORMATION SYSTEMS ANALYSIS &amp;amp; DESIGN&lt;/Text&gt;&#10;    &lt;Text style={{ fontSize: 15, color: '#B9CDF0' }}&gt;W04 · REQUIREMENTS&lt;/Text&gt;&#10;  &lt;/Box&gt;&#10;  &lt;Box style={{ padding: '12px 40px 0 40px', flexDirection: 'row', alignItems: 'center', justifyContent: 'space-between' }}&gt;&#10;    &lt;Text style={{ fontSize: 30, fontWeight: 'bold', color: '#0E3F8C' }}&gt;FURPS+ at a Glance&lt;/Text&gt;&#10;    &lt;Text style={{ fontSize: 14, color: '#1E4FA8', fontWeight: 'bold' }}&gt;06 / 38&lt;/Text&gt;&#10;  &lt;/Box&gt;&#10;  &lt;Box style={{ flex: 1, padding: '4px 40px 0 40px', justifyContent: 'center', alignItems: 'center' }}&gt;&#10;    &lt;svg width={1180} height={382} viewBox='0 0 1180 382'&gt;&#10;      &lt;text x='10' y='16' fill='#8B97A8' fontSize='13'&gt;FURPS — five lenses for non-functional and functional requirements&lt;/text&gt;&#10;&#10;      &lt;g transform='translate(10,30)'&gt;&#10;        &lt;rect x='0' y='0' width='220' height='156' rx='8' fill='#F0F5FC' stroke='#1E4FA8' strokeWidth='2' /&gt;&#10;        &lt;circle cx='25' cy='26' r='14' fill='#1E4FA8' /&gt;&#10;        &lt;text x='25' y='32' textAnchor='middle' fill='#FFFFFF' fontSize='15' fontWeight='bold'&gt;F&lt;/text&gt;&#10;        &lt;text x='48' y='31' fill='#0E3F8C' fontSize='15' fontWeight='bold'&gt;Functionality&lt;/text&gt;&#10;        &lt;text x='14' y='60' fill='#4A5568' fontSize='12'&gt;Features, capabilities,&lt;/text&gt;&#10;        &lt;text x='14' y='78' fill='#4A5568' fontSize='12'&gt;and security.&lt;/text&gt;&#10;        &lt;line x1='14' y1='92' x2='206' y2='92' stroke='#D6DCE5' strokeWidth='1' /&gt;&#10;        &lt;text x='14' y='112' fill='#1E4FA8' fontSize='11.5' fontWeight='bold'&gt;CampusBites:&lt;/text&gt;&#10;        &lt;text x='14' y='130' fill='#1E4FA8' fontSize='11.5'&gt;place an order, pay,&lt;/text&gt;&#10;        &lt;text x='14' y='146' fill='#1E4FA8' fontSize='11.5'&gt;track it, rate the rider&lt;/text&gt;&#10;      &lt;/g&gt;&#10;&#10;      &lt;g transform='translate(242,30)'&gt;&#10;        &lt;rect x='0' y='0' width='220' height='156' rx='8' fill='#F0F5FC' stroke='#1E4FA8' strokeWidth='2' /&gt;&#10;        &lt;circle cx='25' cy='26' r='14' fill='#1E4FA8' /&gt;&#10;        &lt;text x='25' y='32' textAnchor='middle' fill='#FFFFFF' fontSize='15' fontWeight='bold'&gt;U&lt;/text&gt;&#10;        &lt;text x='48' y='31' fill='#0E3F8C' fontSize='15' fontWeight='bold'&gt;Usability&lt;/text&gt;&#10;        &lt;text x='14' y='60' fill='#4A5568' fontSize='12'&gt;Learnability, efficiency,&lt;/text&gt;&#10;        &lt;text x='14' y='78' fill='#4A5568' fontSize='12'&gt;error handling.&lt;/text&gt;&#10;        &lt;line x1='14' y1='92' x2='206' y2='92' stroke='#D6DCE5' strokeWidth='1' /&gt;&#10;        &lt;text x='14' y='112' fill='#1E4FA8' fontSize='11.5' fontWeight='bold'&gt;CampusBites:&lt;/text&gt;&#10;        &lt;text x='14' y='130' fill='#1E4FA8' fontSize='11.5'&gt;a first-time user orders&lt;/text&gt;&#10;        &lt;text x='14' y='146' fill='#1E4FA8' fontSize='11.5'&gt;in under 90 seconds&lt;/text&gt;&#10;      &lt;/g&gt;&#10;&#10;      &lt;g transform='translate(474,30)'&gt;&#10;        &lt;rect x='0' y='0' width='220' height='156' rx='8' fill='#F0F5FC' stroke='#1E4FA8' strokeWidth='2' /&gt;&#10;        &lt;circle cx='25' cy='26' r='14' fill='#1E4FA8' /&gt;&#10;        &lt;text x='25' y='32' textAnchor='middle' fill='#FFFFFF' fontSize='15' fontWeight='bold'&gt;R&lt;/text&gt;&#10;        &lt;text x='48' y='31' fill='#0E3F8C' fontSize='15' fontWeight='bold'&gt;Reliability&lt;/text&gt;&#10;        &lt;text x='14' y='60' fill='#4A5568' fontSize='12'&gt;Availability, fault&lt;/text&gt;&#10;        &lt;text x='14' y='78' fill='#4A5568' fontSize='12'&gt;tolerance, recovery.&lt;/text&gt;&#10;        &lt;line x1='14' y1='92' x2='206' y2='92' stroke='#D6DCE5' strokeWidth='1' /&gt;&#10;        &lt;text x='14' y='112' fill='#1E4FA8' fontSize='11.5' fontWeight='bold'&gt;CampusBites:&lt;/text&gt;&#10;        &lt;text x='14' y='130' fill='#1E4FA8' fontSize='11.5'&gt;99.5% available during&lt;/text&gt;&#10;        &lt;text x='14' y='146' fill='#1E4FA8' fontSize='11.5'&gt;term; no lost orders&lt;/text&gt;&#10;      &lt;/g&gt;&#10;&#10;      &lt;g transform='translate(706,30)'&gt;&#10;        &lt;rect x='0' y='0' width='220' height='156' rx='8' fill='#F0F5FC' stroke='#1E4FA8' strokeWidth='2' /&gt;&#10;        &lt;circle cx='25' cy='26' r='14' fill='#1E4FA8' /&gt;&#10;        &lt;text x='25' y='32' textAnchor='middle' fill='#FFFFFF' fontSize='15' fontWeight='bold'&gt;P&lt;/text&gt;&#10;        &lt;text x='48' y='31' fill='#0E3F8C' fontSize='15' fontWeight='bold'&gt;Performance&lt;/text&gt;&#10;        &lt;text x='14' y='60' fill='#4A5568' fontSize='12'&gt;Throughput, response&lt;/text&gt;&#10;        &lt;text x='14' y='78' fill='#4A5568' fontSize='12'&gt;time, resource use.&lt;/text&gt;&#10;        &lt;line x1='14' y1='92' x2='206' y2='92' stroke='#D6DCE5' strokeWidth='1' /&gt;&#10;        &lt;text x='14' y='112' fill='#1E4FA8' fontSize='11.5' fontWeight='bold'&gt;CampusBites:&lt;/text&gt;&#10;        &lt;text x='14' y='130' fill='#1E4FA8' fontSize='11.5'&gt;5 000 students at the&lt;/text&gt;&#10;        &lt;text x='14' y='146' fill='#1E4FA8' fontSize='11.5'&gt;12:00 lunch peak&lt;/text&gt;&#10;      &lt;/g&gt;&#10;&#10;      &lt;g transform='translate(938,30)'&gt;&#10;        &lt;rect x='0' y='0' width='220' height='156' rx='8' fill='#F0F5FC' stroke='#1E4FA8' strokeWidth='2' /&gt;&#10;        &lt;circle cx='25' cy='26' r='14' fill='#1E4FA8' /&gt;&#10;        &lt;text x='25' y='32' textAnchor='middle' fill='#FFFFFF' fontSize='15' fontWeight='bold'&gt;S&lt;/text&gt;&#10;        &lt;text x='48' y='31' fill='#0E3F8C' fontSize='15' fontWeight='bold'&gt;Supportability&lt;/text&gt;&#10;        &lt;text x='14' y='60' fill='#4A5568' fontSize='12'&gt;Testability, changeability,&lt;/text&gt;&#10;        &lt;text x='14' y='78' fill='#4A5568' fontSize='12'&gt;configurability.&lt;/text&gt;&#10;        &lt;line x1='14' y1='92' x2='206' y2='92' stroke='#D6DCE5' strokeWidth='1' /&gt;&#10;        &lt;text x='14' y='112' fill='#1E4FA8' fontSize='11.5' fontWeight='bold'&gt;CampusBites:&lt;/text&gt;&#10;        &lt;text x='14' y='130' fill='#1E4FA8' fontSize='11.5'&gt;a new payment method&lt;/text&gt;&#10;        &lt;text x='14' y='146' fill='#1E4FA8' fontSize='11.5'&gt;added without a rewrite&lt;/text&gt;&#10;      &lt;/g&gt;&#10;&#10;      &lt;g transform='translate(10,204)'&gt;&#10;        &lt;rect x='0' y='0' width='1148' height='164' rx='8' fill='#FFFFFF' stroke='#D6DCE5' strokeWidth='1' /&gt;&#10;        &lt;circle cx='34' cy='34' r='17' fill='#FFC107' /&gt;&#10;        &lt;text x='34' y='41' textAnchor='middle' fill='#1A2230' fontSize='17' fontWeight='bold'&gt;+&lt;/text&gt;&#10;        &lt;text x='60' y='39' fill='#0E3F8C' fontSize='16' fontWeight='bold'&gt;The “+” — constraints you did not choose&lt;/text&gt;&#10;        &lt;text x='60' y='58' fill='#8B97A8' fontSize='12'&gt;These are not wishes. They are the walls of the room you are building in.&lt;/text&gt;&#10;&#10;        &lt;g transform='translate(24,74)'&gt;&#10;          &lt;rect x='0' y='0' width='266' height='72' rx='6' fill='#F7F9FC' stroke='#E5E7EB' strokeWidth='1' /&gt;&#10;          &lt;text x='14' y='22' fill='#0E3F8C' fontSize='13' fontWeight='bold'&gt;Design constraints&lt;/text&gt;&#10;          &lt;text x='14' y='42' fill='#4A5568' fontSize='11.5'&gt;Must run on the campus&lt;/text&gt;&#10;          &lt;text x='14' y='58' fill='#4A5568' fontSize='11.5'&gt;network; Android and iOS.&lt;/text&gt;&#10;        &lt;/g&gt;&#10;        &lt;g transform='translate(302,74)'&gt;&#10;          &lt;rect x='0' y='0' width='266' height='72' rx='6' fill='#F7F9FC' stroke='#E5E7EB' strokeWidth='1' /&gt;&#10;          &lt;text x='14' y='22' fill='#0E3F8C' fontSize='13' fontWeight='bold'&gt;Implementation constraints&lt;/text&gt;&#10;          &lt;text x='14' y='42' fill='#4A5568' fontSize='11.5'&gt;Web app on campus servers;&lt;/text&gt;&#10;          &lt;text x='14' y='58' fill='#4A5568' fontSize='11.5'&gt;Git and GitHub for delivery.&lt;/text&gt;&#10;        &lt;/g&gt;&#10;        &lt;g transform='translate(580,74)'&gt;&#10;          &lt;rect x='0' y='0' width='266' height='72' rx='6' fill='#F7F9FC' stroke='#E5E7EB' strokeWidth='1' /&gt;&#10;          &lt;text x='14' y='22' fill='#0E3F8C' fontSize='13' fontWeight='bold'&gt;Interface constraints&lt;/text&gt;&#10;          &lt;text x='14' y='42' fill='#4A5568' fontSize='11.5'&gt;Campus card centre legacy&lt;/text&gt;&#10;          &lt;text x='14' y='58' fill='#4A5568' fontSize='11.5'&gt;API; external SMS gateway.&lt;/text&gt;&#10;        &lt;/g&gt;&#10;        &lt;g transform='translate(858,74)'&gt;&#10;          &lt;rect x='0' y='0' width='266' height='72' rx='6' fill='#F7F9FC' stroke='#E5E7EB' strokeWidth='1' /&gt;&#10;          &lt;text x='14' y='22' fill='#0E3F8C' fontSize='13' fontWeight='bold'&gt;Physical constraints&lt;/text&gt;&#10;          &lt;text x='14' y='42' fill='#4A5568' fontSize='11.5'&gt;Phones in a courier’s pocket;&lt;/text&gt;&#10;          &lt;text x='14' y='58' fill='#4A5568' fontSize='11.5'&gt;kitchen tablets on the wall.&lt;/text&gt;&#10;        &lt;/g&gt;&#10;      &lt;/g&gt;&#10;    &lt;/svg&gt;&#10;  &lt;/Box&gt;&#10;  &lt;Box style={{ height: 34, padding: '0 40px', flexDirection: 'row', alignItems: 'center', justifyContent: 'space-between' }}&gt;&#10;    &lt;Text style={{ fontSize: 13, color: '#8B97A8' }}&gt;ISAD · Fall 2026 · FURPS+ is a checklist, not a procedure — use it to notice what you forgot&lt;/Text&gt;&#10;    &lt;Text style={{ fontSize: 14, color: '#1E4FA8', fontWeight: 'bold' }}&gt;06 / 38&lt;/Text&gt;&#10;  &lt;/Box&gt;&#10;&lt;/Slide&gt;"/>
        <p:cNvGrpSpPr/>
        <p:nvPr/>
      </p:nvGrpSpPr>
      <p:grpSpPr>
        <a:xfrm>
          <a:off x="0" y="0"/>
          <a:ext cx="0" cy="0"/>
          <a:chOff x="0" y="0"/>
          <a:chExt cx="0" cy="0"/>
        </a:xfrm>
      </p:grpSpPr>
      <p:sp>
        <p:nvSpPr>
          <p:cNvPr id="820" name=""/>
          <p:cNvSpPr/>
          <p:nvPr/>
        </p:nvSpPr>
        <p:spPr>
          <a:xfrm rot="0" flipH="0" flipV="0">
            <a:off x="0" y="0"/>
            <a:ext cx="12192000" cy="6858000"/>
          </a:xfrm>
          <a:prstGeom prst="rect">
            <a:avLst/>
          </a:prstGeom>
          <a:solidFill>
            <a:srgbClr val="FFFFFF"/>
          </a:solidFill>
          <a:ln/>
        </p:spPr>
        <p:txBody>
          <a:bodyPr/>
          <a:p/>
        </p:txBody>
      </p:sp>
      <p:sp>
        <p:nvSpPr>
          <p:cNvPr id="821" name=""/>
          <p:cNvSpPr/>
          <p:nvPr/>
        </p:nvSpPr>
        <p:spPr>
          <a:xfrm rot="0" flipH="0" flipV="0">
            <a:off x="0" y="0"/>
            <a:ext cx="12192000" cy="685800"/>
          </a:xfrm>
          <a:prstGeom prst="rect">
            <a:avLst/>
          </a:prstGeom>
          <a:solidFill>
            <a:srgbClr val="1E4FA8"/>
          </a:solidFill>
          <a:ln/>
        </p:spPr>
        <p:txBody>
          <a:bodyPr/>
          <a:p/>
        </p:txBody>
      </p:sp>
      <p:sp>
        <p:nvSpPr>
          <p:cNvPr id="822" name="" descr="{&quot;isTemplate&quot;:true,&quot;type&quot;:&quot;text&quot;}"/>
          <p:cNvSpPr txBox="1"/>
          <p:nvPr/>
        </p:nvSpPr>
        <p:spPr>
          <a:xfrm rot="0" flipH="0" flipV="0">
            <a:off x="381000" y="257175"/>
            <a:ext cx="4067175" cy="171450"/>
          </a:xfrm>
          <a:prstGeom prst="rect"/>
        </p:spPr>
        <p:txBody>
          <a:bodyPr wrap="none" lIns="0" tIns="0" rIns="0" bIns="0"/>
          <a:p>
            <a:pPr>
              <a:lnSpc>
                <a:spcPct val="100000"/>
              </a:lnSpc>
            </a:pPr>
            <a:r>
              <a:rPr lang="en-US" sz="1125" spc="75">
                <a:solidFill>
                  <a:srgbClr val="B9CDF0"/>
                </a:solidFill>
                <a:latin typeface="Microsoft YaHei"/>
                <a:ea typeface="Microsoft YaHei"/>
              </a:rPr>
              <a:t>ISAD · INFORMATION SYSTEMS ANALYSIS &amp; DESIGN</a:t>
            </a:r>
            <a:endParaRPr/>
          </a:p>
        </p:txBody>
      </p:sp>
      <p:sp>
        <p:nvSpPr>
          <p:cNvPr id="823" name="" descr="{&quot;isTemplate&quot;:true,&quot;type&quot;:&quot;text&quot;}"/>
          <p:cNvSpPr txBox="1"/>
          <p:nvPr/>
        </p:nvSpPr>
        <p:spPr>
          <a:xfrm rot="0" flipH="0" flipV="0">
            <a:off x="10229850" y="257175"/>
            <a:ext cx="1581150" cy="171450"/>
          </a:xfrm>
          <a:prstGeom prst="rect"/>
        </p:spPr>
        <p:txBody>
          <a:bodyPr wrap="none" lIns="0" tIns="0" rIns="0" bIns="0"/>
          <a:p>
            <a:pPr>
              <a:lnSpc>
                <a:spcPct val="100000"/>
              </a:lnSpc>
            </a:pPr>
            <a:r>
              <a:rPr lang="en-US" sz="1125">
                <a:solidFill>
                  <a:srgbClr val="B9CDF0"/>
                </a:solidFill>
                <a:latin typeface="Microsoft YaHei"/>
                <a:ea typeface="Microsoft YaHei"/>
              </a:rPr>
              <a:t>W04 · REQUIREMENTS</a:t>
            </a:r>
            <a:endParaRPr/>
          </a:p>
        </p:txBody>
      </p:sp>
      <p:sp>
        <p:nvSpPr>
          <p:cNvPr id="824" name="" descr="{&quot;isTemplate&quot;:true,&quot;type&quot;:&quot;text&quot;}"/>
          <p:cNvSpPr txBox="1"/>
          <p:nvPr/>
        </p:nvSpPr>
        <p:spPr>
          <a:xfrm rot="0" flipH="0" flipV="0">
            <a:off x="381000" y="800100"/>
            <a:ext cx="2743200" cy="342900"/>
          </a:xfrm>
          <a:prstGeom prst="rect"/>
        </p:spPr>
        <p:txBody>
          <a:bodyPr wrap="none" lIns="0" tIns="0" rIns="0" bIns="0"/>
          <a:p>
            <a:pPr>
              <a:lnSpc>
                <a:spcPct val="100000"/>
              </a:lnSpc>
            </a:pPr>
            <a:r>
              <a:rPr lang="en-US" sz="2250" b="1">
                <a:solidFill>
                  <a:srgbClr val="0E3F8C"/>
                </a:solidFill>
                <a:latin typeface="Microsoft YaHei"/>
                <a:ea typeface="Microsoft YaHei"/>
              </a:rPr>
              <a:t>FURPS+ at a Glance</a:t>
            </a:r>
            <a:endParaRPr/>
          </a:p>
        </p:txBody>
      </p:sp>
      <p:sp>
        <p:nvSpPr>
          <p:cNvPr id="825" name="" descr="{&quot;isTemplate&quot;:true,&quot;type&quot;:&quot;text&quot;}"/>
          <p:cNvSpPr txBox="1"/>
          <p:nvPr/>
        </p:nvSpPr>
        <p:spPr>
          <a:xfrm rot="0" flipH="0" flipV="0">
            <a:off x="11401425" y="895350"/>
            <a:ext cx="409575" cy="161925"/>
          </a:xfrm>
          <a:prstGeom prst="rect"/>
        </p:spPr>
        <p:txBody>
          <a:bodyPr wrap="none" lIns="0" tIns="0" rIns="0" bIns="0"/>
          <a:p>
            <a:pPr>
              <a:lnSpc>
                <a:spcPct val="100000"/>
              </a:lnSpc>
            </a:pPr>
            <a:r>
              <a:rPr lang="en-US" sz="1050" b="1">
                <a:solidFill>
                  <a:srgbClr val="1E4FA8"/>
                </a:solidFill>
                <a:latin typeface="Microsoft YaHei"/>
                <a:ea typeface="Microsoft YaHei"/>
              </a:rPr>
              <a:t>06 / 38</a:t>
            </a:r>
            <a:endParaRPr/>
          </a:p>
        </p:txBody>
      </p:sp>
      <p:pic>
        <p:nvPicPr>
          <p:cNvPr id="826" name=""/>
          <p:cNvPicPr>
            <a:picLocks noChangeAspect="1"/>
          </p:cNvPicPr>
          <p:nvPr/>
        </p:nvPicPr>
        <p:blipFill>
          <a:blip>
            <a:extLst>
              <a:ext uri="{96DAC541-7B7A-43D3-8B79-37D633B846F1}">
                <asvg:svgBlip r:embed="rId1"/>
              </a:ext>
            </a:extLst>
          </a:blip>
          <a:stretch>
            <a:fillRect/>
          </a:stretch>
        </p:blipFill>
        <p:spPr>
          <a:xfrm rot="0" flipH="0" flipV="0">
            <a:off x="476250" y="2038350"/>
            <a:ext cx="11239500" cy="3638550"/>
          </a:xfrm>
          <a:prstGeom prst="rect">
            <a:avLst/>
          </a:prstGeom>
          <a:ln/>
        </p:spPr>
      </p:pic>
      <p:sp>
        <p:nvSpPr>
          <p:cNvPr id="827" name="" descr="{&quot;isTemplate&quot;:true,&quot;type&quot;:&quot;text&quot;}"/>
          <p:cNvSpPr txBox="1"/>
          <p:nvPr/>
        </p:nvSpPr>
        <p:spPr>
          <a:xfrm rot="0" flipH="0" flipV="0">
            <a:off x="381000" y="6619875"/>
            <a:ext cx="5057775" cy="152400"/>
          </a:xfrm>
          <a:prstGeom prst="rect"/>
        </p:spPr>
        <p:txBody>
          <a:bodyPr wrap="none" lIns="0" tIns="0" rIns="0" bIns="0"/>
          <a:p>
            <a:pPr>
              <a:lnSpc>
                <a:spcPct val="100000"/>
              </a:lnSpc>
            </a:pPr>
            <a:r>
              <a:rPr lang="en-US" sz="975">
                <a:solidFill>
                  <a:srgbClr val="8B97A8"/>
                </a:solidFill>
                <a:latin typeface="Microsoft YaHei"/>
                <a:ea typeface="Microsoft YaHei"/>
              </a:rPr>
              <a:t>ISAD · Fall 2026 · FURPS+ is a checklist, not a procedure — use it to notice what you forgot</a:t>
            </a:r>
            <a:endParaRPr/>
          </a:p>
        </p:txBody>
      </p:sp>
      <p:sp>
        <p:nvSpPr>
          <p:cNvPr id="828" name="" descr="{&quot;isTemplate&quot;:true,&quot;type&quot;:&quot;text&quot;}"/>
          <p:cNvSpPr txBox="1"/>
          <p:nvPr/>
        </p:nvSpPr>
        <p:spPr>
          <a:xfrm rot="0" flipH="0" flipV="0">
            <a:off x="11401425" y="6619875"/>
            <a:ext cx="409575" cy="161925"/>
          </a:xfrm>
          <a:prstGeom prst="rect"/>
        </p:spPr>
        <p:txBody>
          <a:bodyPr wrap="none" lIns="0" tIns="0" rIns="0" bIns="0"/>
          <a:p>
            <a:pPr>
              <a:lnSpc>
                <a:spcPct val="100000"/>
              </a:lnSpc>
            </a:pPr>
            <a:r>
              <a:rPr lang="en-US" sz="1050" b="1">
                <a:solidFill>
                  <a:srgbClr val="1E4FA8"/>
                </a:solidFill>
                <a:latin typeface="Microsoft YaHei"/>
                <a:ea typeface="Microsoft YaHei"/>
              </a:rPr>
              <a:t>06 / 38</a:t>
            </a:r>
            <a:endParaRPr/>
          </a:p>
        </p:txBody>
      </p:sp>
    </p:spTree>
  </p:cSld>
</p:sld>
</file>

<file path=ppt/slides/slide7.xml><?xml version="1.0" encoding="utf-8"?>
<p:sld xmlns:asvg="http://schemas.microsoft.com/office/drawing/2016/SVG/main" xmlns:a="http://schemas.openxmlformats.org/drawingml/2006/main" xmlns:r="http://schemas.openxmlformats.org/officeDocument/2006/relationships" xmlns:p="http://schemas.openxmlformats.org/presentationml/2006/main" xmlns:mc="http://schemas.openxmlformats.org/markup-compatibility/2006" mc:Ignorable="asvg">
  <p:cSld>
    <p:spTree>
      <p:nvGrpSpPr>
        <p:cNvPr id="829" name="" descr="&lt;Slide style={{ background: '#FFFFFF', padding: 0 }}&gt;&#10;  &lt;Box style={{ height: 72, background: '#1E4FA8', padding: '0 40px', flexDirection: 'row', alignItems: 'center', justifyContent: 'space-between' }}&gt;&#10;    &lt;Text style={{ fontSize: 15, color: '#B9CDF0', letterSpacing: 1 }}&gt;ISAD · INFORMATION SYSTEMS ANALYSIS &amp;amp; DESIGN&lt;/Text&gt;&#10;    &lt;Text style={{ fontSize: 15, color: '#B9CDF0' }}&gt;W04 · REQUIREMENTS&lt;/Text&gt;&#10;  &lt;/Box&gt;&#10;  &lt;Box style={{ padding: '14px 40px 0 40px', flexDirection: 'row', alignItems: 'center', justifyContent: 'space-between' }}&gt;&#10;    &lt;Text style={{ fontSize: 27, fontWeight: 'bold', color: '#0E3F8C' }}&gt;“The system shall…” — Testable or Not&lt;/Text&gt;&#10;    &lt;Text style={{ fontSize: 14, color: '#1E4FA8', fontWeight: 'bold' }}&gt;07 / 38&lt;/Text&gt;&#10;  &lt;/Box&gt;&#10;  &lt;Box style={{ flex: 1, padding: '10px 40px 0 40px', flexDirection: 'row', gap: 22 }}&gt;&#10;    &lt;Box style={{ flex: 1, flexDirection: 'column', gap: 9 }}&gt;&#10;      &lt;Box style={{ flexDirection: 'row', alignItems: 'center', gap: 9, marginBottom: 2 }}&gt;&#10;        &lt;Box style={{ width: 26, height: 26, borderRadius: 13, background: '#D9534F', justifyContent: 'center', alignItems: 'center' }}&gt;&#10;          &lt;FAIcon name='xmark' style={{ fill: '#FFFFFF', width: 12, height: 12 }} /&gt;&#10;        &lt;/Box&gt;&#10;        &lt;Text style={{ fontSize: 16, fontWeight: 'bold', color: '#D9534F' }}&gt;Untestable — a wish&lt;/Text&gt;&#10;      &lt;/Box&gt;&#10;      {[&#10;        'The system shall be user-friendly.',&#10;        'The system shall be fast and reliable.',&#10;        'The system shall handle payments securely.',&#10;        'The system shall have a good menu page.',&#10;      ].map((t) =&gt; (&#10;        &lt;Box key={t} style={{ padding: '13px 15px', background: '#FDF3F3', borderRadius: 9, borderLeft: '3px solid #D9534F' }}&gt;&#10;          &lt;Text style={{ fontSize: 13.5, color: '#4A5568', lineHeight: 1.5 }}&gt;{t}&lt;/Text&gt;&#10;        &lt;/Box&gt;&#10;      ))}&#10;      &lt;Box style={{ padding: '12px 15px', background: '#F7F9FC', borderRadius: 9, marginTop: 2 }}&gt;&#10;        &lt;Text style={{ fontSize: 12.5, color: '#8B97A8', lineHeight: 1.5 }}&gt;&#10;          Every one of these is an opinion wearing a requirement’s clothes. You cannot fail a test you cannot write.&#10;        &lt;/Text&gt;&#10;      &lt;/Box&gt;&#10;    &lt;/Box&gt;&#10;    &lt;Box style={{ width: 34, justifyContent: 'center', alignItems: 'center' }}&gt;&#10;      &lt;Box style={{ padding: '8px 0', justifyContent: 'center', alignItems: 'center' }}&gt;&#10;        &lt;FAIcon name='arrow-right-long' style={{ fill: '#3D7BD9', width: 22, height: 22 }} /&gt;&#10;      &lt;/Box&gt;&#10;    &lt;/Box&gt;&#10;    &lt;Box style={{ flex: 1, flexDirection: 'column', gap: 9 }}&gt;&#10;      &lt;Box style={{ flexDirection: 'row', alignItems: 'center', gap: 9, marginBottom: 2 }}&gt;&#10;        &lt;Box style={{ width: 26, height: 26, borderRadius: 13, background: '#1E4FA8', justifyContent: 'center', alignItems: 'center' }}&gt;&#10;          &lt;FAIcon name='check' style={{ fill: '#FFFFFF', width: 12, height: 12 }} /&gt;&#10;        &lt;/Box&gt;&#10;        &lt;Text style={{ fontSize: 16, fontWeight: 'bold', color: '#1E4FA8' }}&gt;Testable — a promise&lt;/Text&gt;&#10;      &lt;/Box&gt;&#10;      {[&#10;        'A first-time user shall complete an order in under 90 seconds without help.',&#10;        'The status screen shall refresh within 2 s at 5 000 concurrent users; 99.5% uptime in term.',&#10;        'The system shall store only the provider token — never a full card number.',&#10;        'A manager shall mark an item sold out in no more than three taps.',&#10;      ].map((t) =&gt; (&#10;        &lt;Box key={t} style={{ padding: '13px 15px', background: '#F0F5FC', borderRadius: 9, borderLeft: '3px solid #1E4FA8' }}&gt;&#10;          &lt;Text style={{ fontSize: 13.5, color: '#1A2230', lineHeight: 1.5 }}&gt;{t}&lt;/Text&gt;&#10;        &lt;/Box&gt;&#10;      ))}&#10;      &lt;Box style={{ padding: '12px 15px', background: '#F0F5FC', borderRadius: 9, marginTop: 2 }}&gt;&#10;        &lt;Text style={{ fontSize: 12.5, color: '#0E3F8C', lineHeight: 1.5, fontWeight: 'bold' }}&gt;&#10;          Each one names a number, a threshold, or a forbidden thing. That is what makes it testable.&#10;        &lt;/Text&gt;&#10;      &lt;/Box&gt;&#10;    &lt;/Box&gt;&#10;  &lt;/Box&gt;&#10;  &lt;Box style={{ height: 46, background: '#0E3F8C', padding: '0 40px', flexDirection: 'row', alignItems: 'center', justifyContent: 'center' }}&gt;&#10;    &lt;Text style={{ fontSize: 16, color: '#FFFFFF', fontWeight: '600' }}&gt;If you cannot describe how you would test it, you have not finished writing it.&lt;/Text&gt;&#10;  &lt;/Box&gt;&#10;&lt;/Slide&gt;"/>
        <p:cNvGrpSpPr/>
        <p:nvPr/>
      </p:nvGrpSpPr>
      <p:grpSpPr>
        <a:xfrm>
          <a:off x="0" y="0"/>
          <a:ext cx="0" cy="0"/>
          <a:chOff x="0" y="0"/>
          <a:chExt cx="0" cy="0"/>
        </a:xfrm>
      </p:grpSpPr>
      <p:sp>
        <p:nvSpPr>
          <p:cNvPr id="830" name=""/>
          <p:cNvSpPr/>
          <p:nvPr/>
        </p:nvSpPr>
        <p:spPr>
          <a:xfrm rot="0" flipH="0" flipV="0">
            <a:off x="0" y="0"/>
            <a:ext cx="12192000" cy="6858000"/>
          </a:xfrm>
          <a:prstGeom prst="rect">
            <a:avLst/>
          </a:prstGeom>
          <a:solidFill>
            <a:srgbClr val="FFFFFF"/>
          </a:solidFill>
          <a:ln/>
        </p:spPr>
        <p:txBody>
          <a:bodyPr/>
          <a:p/>
        </p:txBody>
      </p:sp>
      <p:sp>
        <p:nvSpPr>
          <p:cNvPr id="831" name=""/>
          <p:cNvSpPr/>
          <p:nvPr/>
        </p:nvSpPr>
        <p:spPr>
          <a:xfrm rot="0" flipH="0" flipV="0">
            <a:off x="0" y="0"/>
            <a:ext cx="12192000" cy="685800"/>
          </a:xfrm>
          <a:prstGeom prst="rect">
            <a:avLst/>
          </a:prstGeom>
          <a:solidFill>
            <a:srgbClr val="1E4FA8"/>
          </a:solidFill>
          <a:ln/>
        </p:spPr>
        <p:txBody>
          <a:bodyPr/>
          <a:p/>
        </p:txBody>
      </p:sp>
      <p:sp>
        <p:nvSpPr>
          <p:cNvPr id="832" name="" descr="{&quot;isTemplate&quot;:true,&quot;type&quot;:&quot;text&quot;}"/>
          <p:cNvSpPr txBox="1"/>
          <p:nvPr/>
        </p:nvSpPr>
        <p:spPr>
          <a:xfrm rot="0" flipH="0" flipV="0">
            <a:off x="381000" y="257175"/>
            <a:ext cx="4067175" cy="171450"/>
          </a:xfrm>
          <a:prstGeom prst="rect"/>
        </p:spPr>
        <p:txBody>
          <a:bodyPr wrap="none" lIns="0" tIns="0" rIns="0" bIns="0"/>
          <a:p>
            <a:pPr>
              <a:lnSpc>
                <a:spcPct val="100000"/>
              </a:lnSpc>
            </a:pPr>
            <a:r>
              <a:rPr lang="en-US" sz="1125" spc="75">
                <a:solidFill>
                  <a:srgbClr val="B9CDF0"/>
                </a:solidFill>
                <a:latin typeface="Microsoft YaHei"/>
                <a:ea typeface="Microsoft YaHei"/>
              </a:rPr>
              <a:t>ISAD · INFORMATION SYSTEMS ANALYSIS &amp; DESIGN</a:t>
            </a:r>
            <a:endParaRPr/>
          </a:p>
        </p:txBody>
      </p:sp>
      <p:sp>
        <p:nvSpPr>
          <p:cNvPr id="833" name="" descr="{&quot;isTemplate&quot;:true,&quot;type&quot;:&quot;text&quot;}"/>
          <p:cNvSpPr txBox="1"/>
          <p:nvPr/>
        </p:nvSpPr>
        <p:spPr>
          <a:xfrm rot="0" flipH="0" flipV="0">
            <a:off x="10229850" y="257175"/>
            <a:ext cx="1581150" cy="171450"/>
          </a:xfrm>
          <a:prstGeom prst="rect"/>
        </p:spPr>
        <p:txBody>
          <a:bodyPr wrap="none" lIns="0" tIns="0" rIns="0" bIns="0"/>
          <a:p>
            <a:pPr>
              <a:lnSpc>
                <a:spcPct val="100000"/>
              </a:lnSpc>
            </a:pPr>
            <a:r>
              <a:rPr lang="en-US" sz="1125">
                <a:solidFill>
                  <a:srgbClr val="B9CDF0"/>
                </a:solidFill>
                <a:latin typeface="Microsoft YaHei"/>
                <a:ea typeface="Microsoft YaHei"/>
              </a:rPr>
              <a:t>W04 · REQUIREMENTS</a:t>
            </a:r>
            <a:endParaRPr/>
          </a:p>
        </p:txBody>
      </p:sp>
      <p:sp>
        <p:nvSpPr>
          <p:cNvPr id="834" name="" descr="{&quot;isTemplate&quot;:true,&quot;type&quot;:&quot;text&quot;}"/>
          <p:cNvSpPr txBox="1"/>
          <p:nvPr/>
        </p:nvSpPr>
        <p:spPr>
          <a:xfrm rot="0" flipH="0" flipV="0">
            <a:off x="381000" y="819150"/>
            <a:ext cx="4848225" cy="314325"/>
          </a:xfrm>
          <a:prstGeom prst="rect"/>
        </p:spPr>
        <p:txBody>
          <a:bodyPr wrap="none" lIns="0" tIns="0" rIns="0" bIns="0"/>
          <a:p>
            <a:pPr>
              <a:lnSpc>
                <a:spcPct val="100000"/>
              </a:lnSpc>
            </a:pPr>
            <a:r>
              <a:rPr lang="en-US" sz="2025" b="1">
                <a:solidFill>
                  <a:srgbClr val="0E3F8C"/>
                </a:solidFill>
                <a:latin typeface="Microsoft YaHei"/>
                <a:ea typeface="Microsoft YaHei"/>
              </a:rPr>
              <a:t>“The system shall…” — Testable or Not</a:t>
            </a:r>
            <a:endParaRPr/>
          </a:p>
        </p:txBody>
      </p:sp>
      <p:sp>
        <p:nvSpPr>
          <p:cNvPr id="835" name="" descr="{&quot;isTemplate&quot;:true,&quot;type&quot;:&quot;text&quot;}"/>
          <p:cNvSpPr txBox="1"/>
          <p:nvPr/>
        </p:nvSpPr>
        <p:spPr>
          <a:xfrm rot="0" flipH="0" flipV="0">
            <a:off x="11401425" y="895350"/>
            <a:ext cx="409575" cy="161925"/>
          </a:xfrm>
          <a:prstGeom prst="rect"/>
        </p:spPr>
        <p:txBody>
          <a:bodyPr wrap="none" lIns="0" tIns="0" rIns="0" bIns="0"/>
          <a:p>
            <a:pPr>
              <a:lnSpc>
                <a:spcPct val="100000"/>
              </a:lnSpc>
            </a:pPr>
            <a:r>
              <a:rPr lang="en-US" sz="1050" b="1">
                <a:solidFill>
                  <a:srgbClr val="1E4FA8"/>
                </a:solidFill>
                <a:latin typeface="Microsoft YaHei"/>
                <a:ea typeface="Microsoft YaHei"/>
              </a:rPr>
              <a:t>07 / 38</a:t>
            </a:r>
            <a:endParaRPr/>
          </a:p>
        </p:txBody>
      </p:sp>
      <p:sp>
        <p:nvSpPr>
          <p:cNvPr id="836" name=""/>
          <p:cNvSpPr/>
          <p:nvPr/>
        </p:nvSpPr>
        <p:spPr>
          <a:xfrm rot="0" flipH="0" flipV="0">
            <a:off x="381000" y="1228725"/>
            <a:ext cx="247650" cy="247650"/>
          </a:xfrm>
          <a:prstGeom prst="roundRect">
            <a:avLst>
              <a:gd name="adj" fmla="val 50000"/>
            </a:avLst>
          </a:prstGeom>
          <a:solidFill>
            <a:srgbClr val="D9534F"/>
          </a:solidFill>
          <a:ln/>
        </p:spPr>
        <p:txBody>
          <a:bodyPr/>
          <a:p/>
        </p:txBody>
      </p:sp>
      <p:pic>
        <p:nvPicPr>
          <p:cNvPr id="837" name=""/>
          <p:cNvPicPr>
            <a:picLocks noChangeAspect="1"/>
          </p:cNvPicPr>
          <p:nvPr/>
        </p:nvPicPr>
        <p:blipFill>
          <a:blip>
            <a:extLst>
              <a:ext uri="{96DAC541-7B7A-43D3-8B79-37D633B846F1}">
                <asvg:svgBlip r:embed="rId1"/>
              </a:ext>
            </a:extLst>
          </a:blip>
          <a:stretch>
            <a:fillRect/>
          </a:stretch>
        </p:blipFill>
        <p:spPr>
          <a:xfrm rot="0" flipH="0" flipV="0">
            <a:off x="447675" y="1295400"/>
            <a:ext cx="114300" cy="114300"/>
          </a:xfrm>
          <a:prstGeom prst="rect">
            <a:avLst/>
          </a:prstGeom>
          <a:ln/>
        </p:spPr>
      </p:pic>
      <p:sp>
        <p:nvSpPr>
          <p:cNvPr id="838" name="" descr="{&quot;isTemplate&quot;:true,&quot;type&quot;:&quot;text&quot;}"/>
          <p:cNvSpPr txBox="1"/>
          <p:nvPr/>
        </p:nvSpPr>
        <p:spPr>
          <a:xfrm rot="0" flipH="0" flipV="0">
            <a:off x="714375" y="1257300"/>
            <a:ext cx="1485900" cy="190500"/>
          </a:xfrm>
          <a:prstGeom prst="rect"/>
        </p:spPr>
        <p:txBody>
          <a:bodyPr wrap="none" lIns="0" tIns="0" rIns="0" bIns="0"/>
          <a:p>
            <a:pPr>
              <a:lnSpc>
                <a:spcPct val="100000"/>
              </a:lnSpc>
            </a:pPr>
            <a:r>
              <a:rPr lang="en-US" sz="1200" b="1">
                <a:solidFill>
                  <a:srgbClr val="D9534F"/>
                </a:solidFill>
                <a:latin typeface="Microsoft YaHei"/>
                <a:ea typeface="Microsoft YaHei"/>
              </a:rPr>
              <a:t>Untestable — a wish</a:t>
            </a:r>
            <a:endParaRPr/>
          </a:p>
        </p:txBody>
      </p:sp>
      <p:sp>
        <p:nvSpPr>
          <p:cNvPr id="839" name=""/>
          <p:cNvSpPr/>
          <p:nvPr/>
        </p:nvSpPr>
        <p:spPr>
          <a:xfrm rot="0" flipH="0" flipV="0">
            <a:off x="409575" y="1581150"/>
            <a:ext cx="5343525" cy="485775"/>
          </a:xfrm>
          <a:prstGeom prst="roundRect">
            <a:avLst>
              <a:gd name="adj" fmla="val 17647"/>
            </a:avLst>
          </a:prstGeom>
          <a:solidFill>
            <a:srgbClr val="FDF3F3"/>
          </a:solidFill>
          <a:ln/>
        </p:spPr>
        <p:txBody>
          <a:bodyPr/>
          <a:p/>
        </p:txBody>
      </p:sp>
      <p:sp>
        <p:nvSpPr>
          <p:cNvPr id="840" name=""/>
          <p:cNvSpPr/>
          <p:nvPr/>
        </p:nvSpPr>
        <p:spPr>
          <a:xfrm rot="0" flipH="0" flipV="0">
            <a:off x="409575" y="1581150"/>
            <a:ext cx="5343525" cy="485775"/>
          </a:xfrm>
          <a:custGeom>
            <a:pathLst>
              <a:path w="561" h="51">
                <a:moveTo>
                  <a:pt x="8" y="0"/>
                </a:moveTo>
                <a:cubicBezTo>
                  <a:pt x="5" y="0"/>
                  <a:pt x="3" y="3"/>
                  <a:pt x="3" y="6"/>
                </a:cubicBezTo>
                <a:lnTo>
                  <a:pt x="3" y="45"/>
                </a:lnTo>
                <a:cubicBezTo>
                  <a:pt x="3" y="48"/>
                  <a:pt x="5" y="50"/>
                  <a:pt x="8" y="51"/>
                </a:cubicBezTo>
                <a:cubicBezTo>
                  <a:pt x="3" y="50"/>
                  <a:pt x="0" y="46"/>
                  <a:pt x="0" y="42"/>
                </a:cubicBezTo>
                <a:lnTo>
                  <a:pt x="0" y="9"/>
                </a:lnTo>
                <a:cubicBezTo>
                  <a:pt x="0" y="4"/>
                  <a:pt x="4" y="0"/>
                  <a:pt x="9" y="0"/>
                </a:cubicBezTo>
                <a:close/>
              </a:path>
            </a:pathLst>
          </a:custGeom>
          <a:solidFill>
            <a:srgbClr val="D9534F"/>
          </a:solidFill>
          <a:ln/>
        </p:spPr>
        <p:txBody>
          <a:bodyPr/>
          <a:p/>
        </p:txBody>
      </p:sp>
      <p:sp>
        <p:nvSpPr>
          <p:cNvPr id="841" name="" descr="{&quot;isTemplate&quot;:true,&quot;type&quot;:&quot;text&quot;}"/>
          <p:cNvSpPr txBox="1"/>
          <p:nvPr/>
        </p:nvSpPr>
        <p:spPr>
          <a:xfrm rot="0" flipH="0" flipV="0">
            <a:off x="552450" y="1704975"/>
            <a:ext cx="5029200" cy="238125"/>
          </a:xfrm>
          <a:prstGeom prst="rect"/>
        </p:spPr>
        <p:txBody>
          <a:bodyPr wrap="none" lIns="0" tIns="0" rIns="0" bIns="0"/>
          <a:p>
            <a:pPr>
              <a:lnSpc>
                <a:spcPct val="150000"/>
              </a:lnSpc>
            </a:pPr>
            <a:r>
              <a:rPr lang="en-US" sz="1013">
                <a:solidFill>
                  <a:srgbClr val="4A5568"/>
                </a:solidFill>
                <a:latin typeface="Microsoft YaHei"/>
                <a:ea typeface="Microsoft YaHei"/>
              </a:rPr>
              <a:t>The system shall be user-friendly.</a:t>
            </a:r>
            <a:endParaRPr/>
          </a:p>
        </p:txBody>
      </p:sp>
      <p:sp>
        <p:nvSpPr>
          <p:cNvPr id="842" name=""/>
          <p:cNvSpPr/>
          <p:nvPr/>
        </p:nvSpPr>
        <p:spPr>
          <a:xfrm rot="0" flipH="0" flipV="0">
            <a:off x="409575" y="2152650"/>
            <a:ext cx="5343525" cy="485775"/>
          </a:xfrm>
          <a:prstGeom prst="roundRect">
            <a:avLst>
              <a:gd name="adj" fmla="val 17647"/>
            </a:avLst>
          </a:prstGeom>
          <a:solidFill>
            <a:srgbClr val="FDF3F3"/>
          </a:solidFill>
          <a:ln/>
        </p:spPr>
        <p:txBody>
          <a:bodyPr/>
          <a:p/>
        </p:txBody>
      </p:sp>
      <p:sp>
        <p:nvSpPr>
          <p:cNvPr id="843" name=""/>
          <p:cNvSpPr/>
          <p:nvPr/>
        </p:nvSpPr>
        <p:spPr>
          <a:xfrm rot="0" flipH="0" flipV="0">
            <a:off x="409575" y="2152650"/>
            <a:ext cx="5343525" cy="485775"/>
          </a:xfrm>
          <a:custGeom>
            <a:pathLst>
              <a:path w="561" h="51">
                <a:moveTo>
                  <a:pt x="8" y="0"/>
                </a:moveTo>
                <a:cubicBezTo>
                  <a:pt x="5" y="0"/>
                  <a:pt x="3" y="3"/>
                  <a:pt x="3" y="6"/>
                </a:cubicBezTo>
                <a:lnTo>
                  <a:pt x="3" y="45"/>
                </a:lnTo>
                <a:cubicBezTo>
                  <a:pt x="3" y="48"/>
                  <a:pt x="5" y="50"/>
                  <a:pt x="8" y="51"/>
                </a:cubicBezTo>
                <a:cubicBezTo>
                  <a:pt x="3" y="50"/>
                  <a:pt x="0" y="46"/>
                  <a:pt x="0" y="42"/>
                </a:cubicBezTo>
                <a:lnTo>
                  <a:pt x="0" y="9"/>
                </a:lnTo>
                <a:cubicBezTo>
                  <a:pt x="0" y="4"/>
                  <a:pt x="4" y="0"/>
                  <a:pt x="9" y="0"/>
                </a:cubicBezTo>
                <a:close/>
              </a:path>
            </a:pathLst>
          </a:custGeom>
          <a:solidFill>
            <a:srgbClr val="D9534F"/>
          </a:solidFill>
          <a:ln/>
        </p:spPr>
        <p:txBody>
          <a:bodyPr/>
          <a:p/>
        </p:txBody>
      </p:sp>
      <p:sp>
        <p:nvSpPr>
          <p:cNvPr id="844" name="" descr="{&quot;isTemplate&quot;:true,&quot;type&quot;:&quot;text&quot;}"/>
          <p:cNvSpPr txBox="1"/>
          <p:nvPr/>
        </p:nvSpPr>
        <p:spPr>
          <a:xfrm rot="0" flipH="0" flipV="0">
            <a:off x="552450" y="2276475"/>
            <a:ext cx="5029200" cy="238125"/>
          </a:xfrm>
          <a:prstGeom prst="rect"/>
        </p:spPr>
        <p:txBody>
          <a:bodyPr wrap="none" lIns="0" tIns="0" rIns="0" bIns="0"/>
          <a:p>
            <a:pPr>
              <a:lnSpc>
                <a:spcPct val="150000"/>
              </a:lnSpc>
            </a:pPr>
            <a:r>
              <a:rPr lang="en-US" sz="1013">
                <a:solidFill>
                  <a:srgbClr val="4A5568"/>
                </a:solidFill>
                <a:latin typeface="Microsoft YaHei"/>
                <a:ea typeface="Microsoft YaHei"/>
              </a:rPr>
              <a:t>The system shall be fast and reliable.</a:t>
            </a:r>
            <a:endParaRPr/>
          </a:p>
        </p:txBody>
      </p:sp>
      <p:sp>
        <p:nvSpPr>
          <p:cNvPr id="845" name=""/>
          <p:cNvSpPr/>
          <p:nvPr/>
        </p:nvSpPr>
        <p:spPr>
          <a:xfrm rot="0" flipH="0" flipV="0">
            <a:off x="409575" y="2724150"/>
            <a:ext cx="5343525" cy="485775"/>
          </a:xfrm>
          <a:prstGeom prst="roundRect">
            <a:avLst>
              <a:gd name="adj" fmla="val 17647"/>
            </a:avLst>
          </a:prstGeom>
          <a:solidFill>
            <a:srgbClr val="FDF3F3"/>
          </a:solidFill>
          <a:ln/>
        </p:spPr>
        <p:txBody>
          <a:bodyPr/>
          <a:p/>
        </p:txBody>
      </p:sp>
      <p:sp>
        <p:nvSpPr>
          <p:cNvPr id="846" name=""/>
          <p:cNvSpPr/>
          <p:nvPr/>
        </p:nvSpPr>
        <p:spPr>
          <a:xfrm rot="0" flipH="0" flipV="0">
            <a:off x="409575" y="2724150"/>
            <a:ext cx="5343525" cy="485775"/>
          </a:xfrm>
          <a:custGeom>
            <a:pathLst>
              <a:path w="561" h="51">
                <a:moveTo>
                  <a:pt x="8" y="0"/>
                </a:moveTo>
                <a:cubicBezTo>
                  <a:pt x="5" y="0"/>
                  <a:pt x="3" y="3"/>
                  <a:pt x="3" y="6"/>
                </a:cubicBezTo>
                <a:lnTo>
                  <a:pt x="3" y="45"/>
                </a:lnTo>
                <a:cubicBezTo>
                  <a:pt x="3" y="48"/>
                  <a:pt x="5" y="50"/>
                  <a:pt x="8" y="51"/>
                </a:cubicBezTo>
                <a:cubicBezTo>
                  <a:pt x="3" y="50"/>
                  <a:pt x="0" y="46"/>
                  <a:pt x="0" y="42"/>
                </a:cubicBezTo>
                <a:lnTo>
                  <a:pt x="0" y="9"/>
                </a:lnTo>
                <a:cubicBezTo>
                  <a:pt x="0" y="4"/>
                  <a:pt x="4" y="0"/>
                  <a:pt x="9" y="0"/>
                </a:cubicBezTo>
                <a:close/>
              </a:path>
            </a:pathLst>
          </a:custGeom>
          <a:solidFill>
            <a:srgbClr val="D9534F"/>
          </a:solidFill>
          <a:ln/>
        </p:spPr>
        <p:txBody>
          <a:bodyPr/>
          <a:p/>
        </p:txBody>
      </p:sp>
      <p:sp>
        <p:nvSpPr>
          <p:cNvPr id="847" name="" descr="{&quot;isTemplate&quot;:true,&quot;type&quot;:&quot;text&quot;}"/>
          <p:cNvSpPr txBox="1"/>
          <p:nvPr/>
        </p:nvSpPr>
        <p:spPr>
          <a:xfrm rot="0" flipH="0" flipV="0">
            <a:off x="552450" y="2847975"/>
            <a:ext cx="5029200" cy="238125"/>
          </a:xfrm>
          <a:prstGeom prst="rect"/>
        </p:spPr>
        <p:txBody>
          <a:bodyPr wrap="none" lIns="0" tIns="0" rIns="0" bIns="0"/>
          <a:p>
            <a:pPr>
              <a:lnSpc>
                <a:spcPct val="150000"/>
              </a:lnSpc>
            </a:pPr>
            <a:r>
              <a:rPr lang="en-US" sz="1013">
                <a:solidFill>
                  <a:srgbClr val="4A5568"/>
                </a:solidFill>
                <a:latin typeface="Microsoft YaHei"/>
                <a:ea typeface="Microsoft YaHei"/>
              </a:rPr>
              <a:t>The system shall handle payments securely.</a:t>
            </a:r>
            <a:endParaRPr/>
          </a:p>
        </p:txBody>
      </p:sp>
      <p:sp>
        <p:nvSpPr>
          <p:cNvPr id="848" name=""/>
          <p:cNvSpPr/>
          <p:nvPr/>
        </p:nvSpPr>
        <p:spPr>
          <a:xfrm rot="0" flipH="0" flipV="0">
            <a:off x="409575" y="3295650"/>
            <a:ext cx="5343525" cy="485775"/>
          </a:xfrm>
          <a:prstGeom prst="roundRect">
            <a:avLst>
              <a:gd name="adj" fmla="val 17647"/>
            </a:avLst>
          </a:prstGeom>
          <a:solidFill>
            <a:srgbClr val="FDF3F3"/>
          </a:solidFill>
          <a:ln/>
        </p:spPr>
        <p:txBody>
          <a:bodyPr/>
          <a:p/>
        </p:txBody>
      </p:sp>
      <p:sp>
        <p:nvSpPr>
          <p:cNvPr id="849" name=""/>
          <p:cNvSpPr/>
          <p:nvPr/>
        </p:nvSpPr>
        <p:spPr>
          <a:xfrm rot="0" flipH="0" flipV="0">
            <a:off x="409575" y="3295650"/>
            <a:ext cx="5343525" cy="485775"/>
          </a:xfrm>
          <a:custGeom>
            <a:pathLst>
              <a:path w="561" h="51">
                <a:moveTo>
                  <a:pt x="8" y="0"/>
                </a:moveTo>
                <a:cubicBezTo>
                  <a:pt x="5" y="0"/>
                  <a:pt x="3" y="3"/>
                  <a:pt x="3" y="6"/>
                </a:cubicBezTo>
                <a:lnTo>
                  <a:pt x="3" y="45"/>
                </a:lnTo>
                <a:cubicBezTo>
                  <a:pt x="3" y="48"/>
                  <a:pt x="5" y="50"/>
                  <a:pt x="8" y="51"/>
                </a:cubicBezTo>
                <a:cubicBezTo>
                  <a:pt x="3" y="50"/>
                  <a:pt x="0" y="46"/>
                  <a:pt x="0" y="42"/>
                </a:cubicBezTo>
                <a:lnTo>
                  <a:pt x="0" y="9"/>
                </a:lnTo>
                <a:cubicBezTo>
                  <a:pt x="0" y="4"/>
                  <a:pt x="4" y="0"/>
                  <a:pt x="9" y="0"/>
                </a:cubicBezTo>
                <a:close/>
              </a:path>
            </a:pathLst>
          </a:custGeom>
          <a:solidFill>
            <a:srgbClr val="D9534F"/>
          </a:solidFill>
          <a:ln/>
        </p:spPr>
        <p:txBody>
          <a:bodyPr/>
          <a:p/>
        </p:txBody>
      </p:sp>
      <p:sp>
        <p:nvSpPr>
          <p:cNvPr id="850" name="" descr="{&quot;isTemplate&quot;:true,&quot;type&quot;:&quot;text&quot;}"/>
          <p:cNvSpPr txBox="1"/>
          <p:nvPr/>
        </p:nvSpPr>
        <p:spPr>
          <a:xfrm rot="0" flipH="0" flipV="0">
            <a:off x="552450" y="3419475"/>
            <a:ext cx="5029200" cy="238125"/>
          </a:xfrm>
          <a:prstGeom prst="rect"/>
        </p:spPr>
        <p:txBody>
          <a:bodyPr wrap="none" lIns="0" tIns="0" rIns="0" bIns="0"/>
          <a:p>
            <a:pPr>
              <a:lnSpc>
                <a:spcPct val="150000"/>
              </a:lnSpc>
            </a:pPr>
            <a:r>
              <a:rPr lang="en-US" sz="1013">
                <a:solidFill>
                  <a:srgbClr val="4A5568"/>
                </a:solidFill>
                <a:latin typeface="Microsoft YaHei"/>
                <a:ea typeface="Microsoft YaHei"/>
              </a:rPr>
              <a:t>The system shall have a good menu page.</a:t>
            </a:r>
            <a:endParaRPr/>
          </a:p>
        </p:txBody>
      </p:sp>
      <p:sp>
        <p:nvSpPr>
          <p:cNvPr id="851" name=""/>
          <p:cNvSpPr/>
          <p:nvPr/>
        </p:nvSpPr>
        <p:spPr>
          <a:xfrm rot="0" flipH="0" flipV="0">
            <a:off x="381000" y="3886200"/>
            <a:ext cx="5343525" cy="657225"/>
          </a:xfrm>
          <a:prstGeom prst="roundRect">
            <a:avLst>
              <a:gd name="adj" fmla="val 13043"/>
            </a:avLst>
          </a:prstGeom>
          <a:solidFill>
            <a:srgbClr val="F7F9FC"/>
          </a:solidFill>
          <a:ln/>
        </p:spPr>
        <p:txBody>
          <a:bodyPr/>
          <a:p/>
        </p:txBody>
      </p:sp>
      <p:sp>
        <p:nvSpPr>
          <p:cNvPr id="852" name="" descr="{&quot;isTemplate&quot;:true,&quot;type&quot;:&quot;text&quot;}"/>
          <p:cNvSpPr txBox="1"/>
          <p:nvPr/>
        </p:nvSpPr>
        <p:spPr>
          <a:xfrm rot="0" flipH="0" flipV="0">
            <a:off x="523875" y="4000500"/>
            <a:ext cx="5057775" cy="428625"/>
          </a:xfrm>
          <a:prstGeom prst="rect"/>
        </p:spPr>
        <p:txBody>
          <a:bodyPr wrap="square" lIns="0" tIns="0" rIns="0" bIns="0">
            <a:normAutofit/>
          </a:bodyPr>
          <a:p>
            <a:pPr>
              <a:lnSpc>
                <a:spcPct val="150000"/>
              </a:lnSpc>
            </a:pPr>
            <a:r>
              <a:rPr lang="en-US" sz="938">
                <a:solidFill>
                  <a:srgbClr val="8B97A8"/>
                </a:solidFill>
                <a:latin typeface="Microsoft YaHei"/>
                <a:ea typeface="Microsoft YaHei"/>
              </a:rPr>
              <a:t>Every one of these is an opinion wearing a requirement’s clothes. You cannot fail a test you cannot write.</a:t>
            </a:r>
            <a:endParaRPr/>
          </a:p>
        </p:txBody>
      </p:sp>
      <p:pic>
        <p:nvPicPr>
          <p:cNvPr id="853" name=""/>
          <p:cNvPicPr>
            <a:picLocks noChangeAspect="1"/>
          </p:cNvPicPr>
          <p:nvPr/>
        </p:nvPicPr>
        <p:blipFill>
          <a:blip>
            <a:extLst>
              <a:ext uri="{96DAC541-7B7A-43D3-8B79-37D633B846F1}">
                <asvg:svgBlip r:embed="rId2"/>
              </a:ext>
            </a:extLst>
          </a:blip>
          <a:stretch>
            <a:fillRect/>
          </a:stretch>
        </p:blipFill>
        <p:spPr>
          <a:xfrm rot="0" flipH="0" flipV="0">
            <a:off x="5991225" y="3724275"/>
            <a:ext cx="209550" cy="209550"/>
          </a:xfrm>
          <a:prstGeom prst="rect">
            <a:avLst/>
          </a:prstGeom>
          <a:ln/>
        </p:spPr>
      </p:pic>
      <p:sp>
        <p:nvSpPr>
          <p:cNvPr id="854" name=""/>
          <p:cNvSpPr/>
          <p:nvPr/>
        </p:nvSpPr>
        <p:spPr>
          <a:xfrm rot="0" flipH="0" flipV="0">
            <a:off x="6467475" y="1228725"/>
            <a:ext cx="247650" cy="247650"/>
          </a:xfrm>
          <a:prstGeom prst="roundRect">
            <a:avLst>
              <a:gd name="adj" fmla="val 50000"/>
            </a:avLst>
          </a:prstGeom>
          <a:solidFill>
            <a:srgbClr val="1E4FA8"/>
          </a:solidFill>
          <a:ln/>
        </p:spPr>
        <p:txBody>
          <a:bodyPr/>
          <a:p/>
        </p:txBody>
      </p:sp>
      <p:pic>
        <p:nvPicPr>
          <p:cNvPr id="855" name=""/>
          <p:cNvPicPr>
            <a:picLocks noChangeAspect="1"/>
          </p:cNvPicPr>
          <p:nvPr/>
        </p:nvPicPr>
        <p:blipFill>
          <a:blip>
            <a:extLst>
              <a:ext uri="{96DAC541-7B7A-43D3-8B79-37D633B846F1}">
                <asvg:svgBlip r:embed="rId3"/>
              </a:ext>
            </a:extLst>
          </a:blip>
          <a:stretch>
            <a:fillRect/>
          </a:stretch>
        </p:blipFill>
        <p:spPr>
          <a:xfrm rot="0" flipH="0" flipV="0">
            <a:off x="6534150" y="1295400"/>
            <a:ext cx="114300" cy="114300"/>
          </a:xfrm>
          <a:prstGeom prst="rect">
            <a:avLst/>
          </a:prstGeom>
          <a:ln/>
        </p:spPr>
      </p:pic>
      <p:sp>
        <p:nvSpPr>
          <p:cNvPr id="856" name="" descr="{&quot;isTemplate&quot;:true,&quot;type&quot;:&quot;text&quot;}"/>
          <p:cNvSpPr txBox="1"/>
          <p:nvPr/>
        </p:nvSpPr>
        <p:spPr>
          <a:xfrm rot="0" flipH="0" flipV="0">
            <a:off x="6800850" y="1257300"/>
            <a:ext cx="1571625" cy="190500"/>
          </a:xfrm>
          <a:prstGeom prst="rect"/>
        </p:spPr>
        <p:txBody>
          <a:bodyPr wrap="none" lIns="0" tIns="0" rIns="0" bIns="0"/>
          <a:p>
            <a:pPr>
              <a:lnSpc>
                <a:spcPct val="100000"/>
              </a:lnSpc>
            </a:pPr>
            <a:r>
              <a:rPr lang="en-US" sz="1200" b="1">
                <a:solidFill>
                  <a:srgbClr val="1E4FA8"/>
                </a:solidFill>
                <a:latin typeface="Microsoft YaHei"/>
                <a:ea typeface="Microsoft YaHei"/>
              </a:rPr>
              <a:t>Testable — a promise</a:t>
            </a:r>
            <a:endParaRPr/>
          </a:p>
        </p:txBody>
      </p:sp>
      <p:sp>
        <p:nvSpPr>
          <p:cNvPr id="857" name=""/>
          <p:cNvSpPr/>
          <p:nvPr/>
        </p:nvSpPr>
        <p:spPr>
          <a:xfrm rot="0" flipH="0" flipV="0">
            <a:off x="6496050" y="1581150"/>
            <a:ext cx="5343525" cy="485775"/>
          </a:xfrm>
          <a:prstGeom prst="roundRect">
            <a:avLst>
              <a:gd name="adj" fmla="val 17647"/>
            </a:avLst>
          </a:prstGeom>
          <a:solidFill>
            <a:srgbClr val="F0F5FC"/>
          </a:solidFill>
          <a:ln/>
        </p:spPr>
        <p:txBody>
          <a:bodyPr/>
          <a:p/>
        </p:txBody>
      </p:sp>
      <p:sp>
        <p:nvSpPr>
          <p:cNvPr id="858" name=""/>
          <p:cNvSpPr/>
          <p:nvPr/>
        </p:nvSpPr>
        <p:spPr>
          <a:xfrm rot="0" flipH="0" flipV="0">
            <a:off x="6496050" y="1581150"/>
            <a:ext cx="5343525" cy="485775"/>
          </a:xfrm>
          <a:custGeom>
            <a:pathLst>
              <a:path w="561" h="51">
                <a:moveTo>
                  <a:pt x="8" y="0"/>
                </a:moveTo>
                <a:cubicBezTo>
                  <a:pt x="5" y="0"/>
                  <a:pt x="3" y="3"/>
                  <a:pt x="3" y="6"/>
                </a:cubicBezTo>
                <a:lnTo>
                  <a:pt x="3" y="45"/>
                </a:lnTo>
                <a:cubicBezTo>
                  <a:pt x="3" y="48"/>
                  <a:pt x="5" y="50"/>
                  <a:pt x="8" y="51"/>
                </a:cubicBezTo>
                <a:cubicBezTo>
                  <a:pt x="3" y="50"/>
                  <a:pt x="0" y="46"/>
                  <a:pt x="0" y="42"/>
                </a:cubicBezTo>
                <a:lnTo>
                  <a:pt x="0" y="9"/>
                </a:lnTo>
                <a:cubicBezTo>
                  <a:pt x="0" y="4"/>
                  <a:pt x="4" y="0"/>
                  <a:pt x="9" y="0"/>
                </a:cubicBezTo>
                <a:close/>
              </a:path>
            </a:pathLst>
          </a:custGeom>
          <a:solidFill>
            <a:srgbClr val="1E4FA8"/>
          </a:solidFill>
          <a:ln/>
        </p:spPr>
        <p:txBody>
          <a:bodyPr/>
          <a:p/>
        </p:txBody>
      </p:sp>
      <p:sp>
        <p:nvSpPr>
          <p:cNvPr id="859" name="" descr="{&quot;isTemplate&quot;:true,&quot;type&quot;:&quot;text&quot;}"/>
          <p:cNvSpPr txBox="1"/>
          <p:nvPr/>
        </p:nvSpPr>
        <p:spPr>
          <a:xfrm rot="0" flipH="0" flipV="0">
            <a:off x="6638925" y="1704975"/>
            <a:ext cx="5029200" cy="238125"/>
          </a:xfrm>
          <a:prstGeom prst="rect"/>
        </p:spPr>
        <p:txBody>
          <a:bodyPr wrap="none" lIns="0" tIns="0" rIns="0" bIns="0"/>
          <a:p>
            <a:pPr>
              <a:lnSpc>
                <a:spcPct val="150000"/>
              </a:lnSpc>
            </a:pPr>
            <a:r>
              <a:rPr lang="en-US" sz="1013">
                <a:solidFill>
                  <a:srgbClr val="1A2230"/>
                </a:solidFill>
                <a:latin typeface="Microsoft YaHei"/>
                <a:ea typeface="Microsoft YaHei"/>
              </a:rPr>
              <a:t>A first-time user shall complete an order in under 90 seconds without help.</a:t>
            </a:r>
            <a:endParaRPr/>
          </a:p>
        </p:txBody>
      </p:sp>
      <p:sp>
        <p:nvSpPr>
          <p:cNvPr id="860" name=""/>
          <p:cNvSpPr/>
          <p:nvPr/>
        </p:nvSpPr>
        <p:spPr>
          <a:xfrm rot="0" flipH="0" flipV="0">
            <a:off x="6496050" y="2152650"/>
            <a:ext cx="5343525" cy="714375"/>
          </a:xfrm>
          <a:prstGeom prst="roundRect">
            <a:avLst>
              <a:gd name="adj" fmla="val 12000"/>
            </a:avLst>
          </a:prstGeom>
          <a:solidFill>
            <a:srgbClr val="F0F5FC"/>
          </a:solidFill>
          <a:ln/>
        </p:spPr>
        <p:txBody>
          <a:bodyPr/>
          <a:p/>
        </p:txBody>
      </p:sp>
      <p:sp>
        <p:nvSpPr>
          <p:cNvPr id="861" name=""/>
          <p:cNvSpPr/>
          <p:nvPr/>
        </p:nvSpPr>
        <p:spPr>
          <a:xfrm rot="0" flipH="0" flipV="0">
            <a:off x="6496050" y="2152650"/>
            <a:ext cx="5343525" cy="714375"/>
          </a:xfrm>
          <a:custGeom>
            <a:pathLst>
              <a:path w="561" h="75">
                <a:moveTo>
                  <a:pt x="8" y="0"/>
                </a:moveTo>
                <a:cubicBezTo>
                  <a:pt x="5" y="0"/>
                  <a:pt x="3" y="3"/>
                  <a:pt x="3" y="6"/>
                </a:cubicBezTo>
                <a:lnTo>
                  <a:pt x="3" y="69"/>
                </a:lnTo>
                <a:cubicBezTo>
                  <a:pt x="3" y="72"/>
                  <a:pt x="5" y="74"/>
                  <a:pt x="8" y="75"/>
                </a:cubicBezTo>
                <a:cubicBezTo>
                  <a:pt x="3" y="74"/>
                  <a:pt x="0" y="70"/>
                  <a:pt x="0" y="66"/>
                </a:cubicBezTo>
                <a:lnTo>
                  <a:pt x="0" y="9"/>
                </a:lnTo>
                <a:cubicBezTo>
                  <a:pt x="0" y="4"/>
                  <a:pt x="4" y="0"/>
                  <a:pt x="9" y="0"/>
                </a:cubicBezTo>
                <a:close/>
              </a:path>
            </a:pathLst>
          </a:custGeom>
          <a:solidFill>
            <a:srgbClr val="1E4FA8"/>
          </a:solidFill>
          <a:ln/>
        </p:spPr>
        <p:txBody>
          <a:bodyPr/>
          <a:p/>
        </p:txBody>
      </p:sp>
      <p:sp>
        <p:nvSpPr>
          <p:cNvPr id="862" name="" descr="{&quot;isTemplate&quot;:true,&quot;type&quot;:&quot;text&quot;}"/>
          <p:cNvSpPr txBox="1"/>
          <p:nvPr/>
        </p:nvSpPr>
        <p:spPr>
          <a:xfrm rot="0" flipH="0" flipV="0">
            <a:off x="6638925" y="2276475"/>
            <a:ext cx="5029200" cy="466725"/>
          </a:xfrm>
          <a:prstGeom prst="rect"/>
        </p:spPr>
        <p:txBody>
          <a:bodyPr wrap="square" lIns="0" tIns="0" rIns="0" bIns="0">
            <a:normAutofit/>
          </a:bodyPr>
          <a:p>
            <a:pPr>
              <a:lnSpc>
                <a:spcPct val="150000"/>
              </a:lnSpc>
            </a:pPr>
            <a:r>
              <a:rPr lang="en-US" sz="1013">
                <a:solidFill>
                  <a:srgbClr val="1A2230"/>
                </a:solidFill>
                <a:latin typeface="Microsoft YaHei"/>
                <a:ea typeface="Microsoft YaHei"/>
              </a:rPr>
              <a:t>The status screen shall refresh within 2 s at 5 000 concurrent users; 99.5% uptime in term.</a:t>
            </a:r>
            <a:endParaRPr/>
          </a:p>
        </p:txBody>
      </p:sp>
      <p:sp>
        <p:nvSpPr>
          <p:cNvPr id="863" name=""/>
          <p:cNvSpPr/>
          <p:nvPr/>
        </p:nvSpPr>
        <p:spPr>
          <a:xfrm rot="0" flipH="0" flipV="0">
            <a:off x="6496050" y="2952750"/>
            <a:ext cx="5343525" cy="485775"/>
          </a:xfrm>
          <a:prstGeom prst="roundRect">
            <a:avLst>
              <a:gd name="adj" fmla="val 17647"/>
            </a:avLst>
          </a:prstGeom>
          <a:solidFill>
            <a:srgbClr val="F0F5FC"/>
          </a:solidFill>
          <a:ln/>
        </p:spPr>
        <p:txBody>
          <a:bodyPr/>
          <a:p/>
        </p:txBody>
      </p:sp>
      <p:sp>
        <p:nvSpPr>
          <p:cNvPr id="864" name=""/>
          <p:cNvSpPr/>
          <p:nvPr/>
        </p:nvSpPr>
        <p:spPr>
          <a:xfrm rot="0" flipH="0" flipV="0">
            <a:off x="6496050" y="2952750"/>
            <a:ext cx="5343525" cy="485775"/>
          </a:xfrm>
          <a:custGeom>
            <a:pathLst>
              <a:path w="561" h="51">
                <a:moveTo>
                  <a:pt x="8" y="0"/>
                </a:moveTo>
                <a:cubicBezTo>
                  <a:pt x="5" y="0"/>
                  <a:pt x="3" y="3"/>
                  <a:pt x="3" y="6"/>
                </a:cubicBezTo>
                <a:lnTo>
                  <a:pt x="3" y="45"/>
                </a:lnTo>
                <a:cubicBezTo>
                  <a:pt x="3" y="48"/>
                  <a:pt x="5" y="50"/>
                  <a:pt x="8" y="51"/>
                </a:cubicBezTo>
                <a:cubicBezTo>
                  <a:pt x="3" y="50"/>
                  <a:pt x="0" y="46"/>
                  <a:pt x="0" y="42"/>
                </a:cubicBezTo>
                <a:lnTo>
                  <a:pt x="0" y="9"/>
                </a:lnTo>
                <a:cubicBezTo>
                  <a:pt x="0" y="4"/>
                  <a:pt x="4" y="0"/>
                  <a:pt x="9" y="0"/>
                </a:cubicBezTo>
                <a:close/>
              </a:path>
            </a:pathLst>
          </a:custGeom>
          <a:solidFill>
            <a:srgbClr val="1E4FA8"/>
          </a:solidFill>
          <a:ln/>
        </p:spPr>
        <p:txBody>
          <a:bodyPr/>
          <a:p/>
        </p:txBody>
      </p:sp>
      <p:sp>
        <p:nvSpPr>
          <p:cNvPr id="865" name="" descr="{&quot;isTemplate&quot;:true,&quot;type&quot;:&quot;text&quot;}"/>
          <p:cNvSpPr txBox="1"/>
          <p:nvPr/>
        </p:nvSpPr>
        <p:spPr>
          <a:xfrm rot="0" flipH="0" flipV="0">
            <a:off x="6638925" y="3076575"/>
            <a:ext cx="5029200" cy="238125"/>
          </a:xfrm>
          <a:prstGeom prst="rect"/>
        </p:spPr>
        <p:txBody>
          <a:bodyPr wrap="none" lIns="0" tIns="0" rIns="0" bIns="0"/>
          <a:p>
            <a:pPr>
              <a:lnSpc>
                <a:spcPct val="150000"/>
              </a:lnSpc>
            </a:pPr>
            <a:r>
              <a:rPr lang="en-US" sz="1013">
                <a:solidFill>
                  <a:srgbClr val="1A2230"/>
                </a:solidFill>
                <a:latin typeface="Microsoft YaHei"/>
                <a:ea typeface="Microsoft YaHei"/>
              </a:rPr>
              <a:t>The system shall store only the provider token — never a full card number.</a:t>
            </a:r>
            <a:endParaRPr/>
          </a:p>
        </p:txBody>
      </p:sp>
      <p:sp>
        <p:nvSpPr>
          <p:cNvPr id="866" name=""/>
          <p:cNvSpPr/>
          <p:nvPr/>
        </p:nvSpPr>
        <p:spPr>
          <a:xfrm rot="0" flipH="0" flipV="0">
            <a:off x="6496050" y="3524250"/>
            <a:ext cx="5343525" cy="485775"/>
          </a:xfrm>
          <a:prstGeom prst="roundRect">
            <a:avLst>
              <a:gd name="adj" fmla="val 17647"/>
            </a:avLst>
          </a:prstGeom>
          <a:solidFill>
            <a:srgbClr val="F0F5FC"/>
          </a:solidFill>
          <a:ln/>
        </p:spPr>
        <p:txBody>
          <a:bodyPr/>
          <a:p/>
        </p:txBody>
      </p:sp>
      <p:sp>
        <p:nvSpPr>
          <p:cNvPr id="867" name=""/>
          <p:cNvSpPr/>
          <p:nvPr/>
        </p:nvSpPr>
        <p:spPr>
          <a:xfrm rot="0" flipH="0" flipV="0">
            <a:off x="6496050" y="3524250"/>
            <a:ext cx="5343525" cy="485775"/>
          </a:xfrm>
          <a:custGeom>
            <a:pathLst>
              <a:path w="561" h="51">
                <a:moveTo>
                  <a:pt x="8" y="0"/>
                </a:moveTo>
                <a:cubicBezTo>
                  <a:pt x="5" y="0"/>
                  <a:pt x="3" y="3"/>
                  <a:pt x="3" y="6"/>
                </a:cubicBezTo>
                <a:lnTo>
                  <a:pt x="3" y="45"/>
                </a:lnTo>
                <a:cubicBezTo>
                  <a:pt x="3" y="48"/>
                  <a:pt x="5" y="50"/>
                  <a:pt x="8" y="51"/>
                </a:cubicBezTo>
                <a:cubicBezTo>
                  <a:pt x="3" y="50"/>
                  <a:pt x="0" y="46"/>
                  <a:pt x="0" y="42"/>
                </a:cubicBezTo>
                <a:lnTo>
                  <a:pt x="0" y="9"/>
                </a:lnTo>
                <a:cubicBezTo>
                  <a:pt x="0" y="4"/>
                  <a:pt x="4" y="0"/>
                  <a:pt x="9" y="0"/>
                </a:cubicBezTo>
                <a:close/>
              </a:path>
            </a:pathLst>
          </a:custGeom>
          <a:solidFill>
            <a:srgbClr val="1E4FA8"/>
          </a:solidFill>
          <a:ln/>
        </p:spPr>
        <p:txBody>
          <a:bodyPr/>
          <a:p/>
        </p:txBody>
      </p:sp>
      <p:sp>
        <p:nvSpPr>
          <p:cNvPr id="868" name="" descr="{&quot;isTemplate&quot;:true,&quot;type&quot;:&quot;text&quot;}"/>
          <p:cNvSpPr txBox="1"/>
          <p:nvPr/>
        </p:nvSpPr>
        <p:spPr>
          <a:xfrm rot="0" flipH="0" flipV="0">
            <a:off x="6638925" y="3648075"/>
            <a:ext cx="5029200" cy="238125"/>
          </a:xfrm>
          <a:prstGeom prst="rect"/>
        </p:spPr>
        <p:txBody>
          <a:bodyPr wrap="none" lIns="0" tIns="0" rIns="0" bIns="0"/>
          <a:p>
            <a:pPr>
              <a:lnSpc>
                <a:spcPct val="150000"/>
              </a:lnSpc>
            </a:pPr>
            <a:r>
              <a:rPr lang="en-US" sz="1013">
                <a:solidFill>
                  <a:srgbClr val="1A2230"/>
                </a:solidFill>
                <a:latin typeface="Microsoft YaHei"/>
                <a:ea typeface="Microsoft YaHei"/>
              </a:rPr>
              <a:t>A manager shall mark an item sold out in no more than three taps.</a:t>
            </a:r>
            <a:endParaRPr/>
          </a:p>
        </p:txBody>
      </p:sp>
      <p:sp>
        <p:nvSpPr>
          <p:cNvPr id="869" name=""/>
          <p:cNvSpPr/>
          <p:nvPr/>
        </p:nvSpPr>
        <p:spPr>
          <a:xfrm rot="0" flipH="0" flipV="0">
            <a:off x="6467475" y="4114800"/>
            <a:ext cx="5343525" cy="657225"/>
          </a:xfrm>
          <a:prstGeom prst="roundRect">
            <a:avLst>
              <a:gd name="adj" fmla="val 13043"/>
            </a:avLst>
          </a:prstGeom>
          <a:solidFill>
            <a:srgbClr val="F0F5FC"/>
          </a:solidFill>
          <a:ln/>
        </p:spPr>
        <p:txBody>
          <a:bodyPr/>
          <a:p/>
        </p:txBody>
      </p:sp>
      <p:sp>
        <p:nvSpPr>
          <p:cNvPr id="870" name="" descr="{&quot;isTemplate&quot;:true,&quot;type&quot;:&quot;text&quot;}"/>
          <p:cNvSpPr txBox="1"/>
          <p:nvPr/>
        </p:nvSpPr>
        <p:spPr>
          <a:xfrm rot="0" flipH="0" flipV="0">
            <a:off x="6610350" y="4229100"/>
            <a:ext cx="5057775" cy="428625"/>
          </a:xfrm>
          <a:prstGeom prst="rect"/>
        </p:spPr>
        <p:txBody>
          <a:bodyPr wrap="square" lIns="0" tIns="0" rIns="0" bIns="0">
            <a:normAutofit/>
          </a:bodyPr>
          <a:p>
            <a:pPr>
              <a:lnSpc>
                <a:spcPct val="150000"/>
              </a:lnSpc>
            </a:pPr>
            <a:r>
              <a:rPr lang="en-US" sz="938" b="1">
                <a:solidFill>
                  <a:srgbClr val="0E3F8C"/>
                </a:solidFill>
                <a:latin typeface="Microsoft YaHei"/>
                <a:ea typeface="Microsoft YaHei"/>
              </a:rPr>
              <a:t>Each one names a number, a threshold, or a forbidden thing. That is what makes it testable.</a:t>
            </a:r>
            <a:endParaRPr/>
          </a:p>
        </p:txBody>
      </p:sp>
      <p:sp>
        <p:nvSpPr>
          <p:cNvPr id="871" name=""/>
          <p:cNvSpPr/>
          <p:nvPr/>
        </p:nvSpPr>
        <p:spPr>
          <a:xfrm rot="0" flipH="0" flipV="0">
            <a:off x="0" y="6419850"/>
            <a:ext cx="12192000" cy="438150"/>
          </a:xfrm>
          <a:prstGeom prst="rect">
            <a:avLst/>
          </a:prstGeom>
          <a:solidFill>
            <a:srgbClr val="0E3F8C"/>
          </a:solidFill>
          <a:ln/>
        </p:spPr>
        <p:txBody>
          <a:bodyPr/>
          <a:p/>
        </p:txBody>
      </p:sp>
      <p:sp>
        <p:nvSpPr>
          <p:cNvPr id="872" name="" descr="{&quot;isTemplate&quot;:true,&quot;type&quot;:&quot;text&quot;}"/>
          <p:cNvSpPr txBox="1"/>
          <p:nvPr/>
        </p:nvSpPr>
        <p:spPr>
          <a:xfrm rot="0" flipH="0" flipV="0">
            <a:off x="3305175" y="6543675"/>
            <a:ext cx="5581650" cy="190500"/>
          </a:xfrm>
          <a:prstGeom prst="rect"/>
        </p:spPr>
        <p:txBody>
          <a:bodyPr wrap="none" lIns="0" tIns="0" rIns="0" bIns="0"/>
          <a:p>
            <a:pPr>
              <a:lnSpc>
                <a:spcPct val="100000"/>
              </a:lnSpc>
            </a:pPr>
            <a:r>
              <a:rPr lang="en-US" sz="1200" b="1">
                <a:solidFill>
                  <a:srgbClr val="FFFFFF"/>
                </a:solidFill>
                <a:latin typeface="Microsoft YaHei"/>
                <a:ea typeface="Microsoft YaHei"/>
              </a:rPr>
              <a:t>If you cannot describe how you would test it, you have not finished writing it.</a:t>
            </a:r>
            <a:endParaRPr/>
          </a:p>
        </p:txBody>
      </p:sp>
    </p:spTree>
  </p:cSld>
</p:sld>
</file>

<file path=ppt/slides/slide8.xml><?xml version="1.0" encoding="utf-8"?>
<p:sld xmlns:a="http://schemas.openxmlformats.org/drawingml/2006/main" xmlns:p="http://schemas.openxmlformats.org/presentationml/2006/main">
  <p:cSld>
    <p:spTree>
      <p:nvGrpSpPr>
        <p:cNvPr id="873" name="" descr="&lt;Slide style={{ background: '#0E3F8C', padding: 0 }}&gt;&#10;  &lt;Box style={{ flexDirection: 'row', height: '100%', position: 'relative' }}&gt;&#10;    &lt;Box style={{ position: 'absolute', top: 0, left: 0, right: 0, height: 8, background: '#1E4FA8' }} /&gt;&#10;    &lt;Box style={{ width: 300, justifyContent: 'center', alignItems: 'center', borderRight: '1px solid #2B5793' }}&gt;&#10;      &lt;Text style={{ fontSize: 220, fontWeight: 'bold', color: '#3D7BD9', fontFamily: 'Georgia, serif', lineHeight: 1 }}&gt;02&lt;/Text&gt;&#10;    &lt;/Box&gt;&#10;    &lt;Box style={{ flex: 1, padding: '70px 64px', flexDirection: 'column', justifyContent: 'center' }}&gt;&#10;      &lt;Text style={{ fontSize: 15, color: '#7FA2D6', letterSpacing: 2, marginBottom: 18 }}&gt;PART 1 · LECTURE&lt;/Text&gt;&#10;      &lt;Text style={{ fontSize: 46, fontWeight: 'bold', color: '#FFFFFF', lineHeight: 1.18 }}&gt;Actors&lt;br /&gt;&amp;amp; Goals&lt;/Text&gt;&#10;      &lt;Box style={{ width: 64, height: 4, background: '#FFC107', marginTop: 26, marginBottom: 26 }} /&gt;&#10;      &lt;Box style={{ flexDirection: 'column', gap: 12 }}&gt;&#10;        {[&#10;          'An actor is a role, not a person',&#10;          'A use case is a goal, not a function',&#10;          'Beware the CRUD trap — Manage X is not a use case',&#10;        ].map((t) =&gt; (&#10;          &lt;Box key={t} style={{ flexDirection: 'row', alignItems: 'center', gap: 12 }}&gt;&#10;            &lt;Box style={{ width: 8, height: 8, borderRadius: 4, background: '#3D7BD9' }} /&gt;&#10;            &lt;Text style={{ fontSize: 20, color: '#C5D4EA' }}&gt;{t}&lt;/Text&gt;&#10;          &lt;/Box&gt;&#10;        ))}&#10;      &lt;/Box&gt;&#10;    &lt;/Box&gt;&#10;  &lt;/Box&gt;&#10;&lt;/Slide&gt;"/>
        <p:cNvGrpSpPr/>
        <p:nvPr/>
      </p:nvGrpSpPr>
      <p:grpSpPr>
        <a:xfrm>
          <a:off x="0" y="0"/>
          <a:ext cx="0" cy="0"/>
          <a:chOff x="0" y="0"/>
          <a:chExt cx="0" cy="0"/>
        </a:xfrm>
      </p:grpSpPr>
      <p:sp>
        <p:nvSpPr>
          <p:cNvPr id="874" name=""/>
          <p:cNvSpPr/>
          <p:nvPr/>
        </p:nvSpPr>
        <p:spPr>
          <a:xfrm rot="0" flipH="0" flipV="0">
            <a:off x="0" y="0"/>
            <a:ext cx="12192000" cy="6858000"/>
          </a:xfrm>
          <a:prstGeom prst="rect">
            <a:avLst/>
          </a:prstGeom>
          <a:solidFill>
            <a:srgbClr val="0E3F8C"/>
          </a:solidFill>
          <a:ln/>
        </p:spPr>
        <p:txBody>
          <a:bodyPr/>
          <a:p/>
        </p:txBody>
      </p:sp>
      <p:sp>
        <p:nvSpPr>
          <p:cNvPr id="875" name=""/>
          <p:cNvSpPr/>
          <p:nvPr/>
        </p:nvSpPr>
        <p:spPr>
          <a:xfrm rot="0" flipH="0" flipV="0">
            <a:off x="0" y="0"/>
            <a:ext cx="2857500" cy="6858000"/>
          </a:xfrm>
          <a:custGeom>
            <a:pathLst>
              <a:path w="300" h="720">
                <a:moveTo>
                  <a:pt x="299" y="0"/>
                </a:moveTo>
                <a:lnTo>
                  <a:pt x="300" y="0"/>
                </a:lnTo>
                <a:lnTo>
                  <a:pt x="300" y="720"/>
                </a:lnTo>
                <a:lnTo>
                  <a:pt x="299" y="720"/>
                </a:lnTo>
                <a:close/>
              </a:path>
            </a:pathLst>
          </a:custGeom>
          <a:solidFill>
            <a:srgbClr val="2B5793"/>
          </a:solidFill>
          <a:ln/>
        </p:spPr>
        <p:txBody>
          <a:bodyPr/>
          <a:p/>
        </p:txBody>
      </p:sp>
      <p:sp>
        <p:nvSpPr>
          <p:cNvPr id="876" name="" descr="{&quot;isTemplate&quot;:true,&quot;type&quot;:&quot;text&quot;}"/>
          <p:cNvSpPr txBox="1"/>
          <p:nvPr/>
        </p:nvSpPr>
        <p:spPr>
          <a:xfrm rot="0" flipH="0" flipV="0">
            <a:off x="28575" y="2171700"/>
            <a:ext cx="2790825" cy="2514600"/>
          </a:xfrm>
          <a:prstGeom prst="rect"/>
        </p:spPr>
        <p:txBody>
          <a:bodyPr wrap="none" lIns="0" tIns="0" rIns="0" bIns="0"/>
          <a:p>
            <a:pPr>
              <a:lnSpc>
                <a:spcPct val="100000"/>
              </a:lnSpc>
            </a:pPr>
            <a:r>
              <a:rPr lang="en-US" sz="16500" b="1">
                <a:solidFill>
                  <a:srgbClr val="3D7BD9"/>
                </a:solidFill>
                <a:latin typeface="Georgia"/>
                <a:ea typeface="Georgia"/>
              </a:rPr>
              <a:t>02</a:t>
            </a:r>
            <a:endParaRPr/>
          </a:p>
        </p:txBody>
      </p:sp>
      <p:sp>
        <p:nvSpPr>
          <p:cNvPr id="877" name="" descr="{&quot;isTemplate&quot;:true,&quot;type&quot;:&quot;text&quot;}"/>
          <p:cNvSpPr txBox="1"/>
          <p:nvPr/>
        </p:nvSpPr>
        <p:spPr>
          <a:xfrm rot="0" flipH="0" flipV="0">
            <a:off x="3467100" y="1914525"/>
            <a:ext cx="8115300" cy="171450"/>
          </a:xfrm>
          <a:prstGeom prst="rect"/>
        </p:spPr>
        <p:txBody>
          <a:bodyPr wrap="none" lIns="0" tIns="0" rIns="0" bIns="0"/>
          <a:p>
            <a:pPr>
              <a:lnSpc>
                <a:spcPct val="100000"/>
              </a:lnSpc>
            </a:pPr>
            <a:r>
              <a:rPr lang="en-US" sz="1125" spc="150">
                <a:solidFill>
                  <a:srgbClr val="7FA2D6"/>
                </a:solidFill>
                <a:latin typeface="Microsoft YaHei"/>
                <a:ea typeface="Microsoft YaHei"/>
              </a:rPr>
              <a:t>PART 1 · LECTURE</a:t>
            </a:r>
            <a:endParaRPr/>
          </a:p>
        </p:txBody>
      </p:sp>
      <p:sp>
        <p:nvSpPr>
          <p:cNvPr id="878" name="" descr="{&quot;isTemplate&quot;:true,&quot;type&quot;:&quot;text&quot;}"/>
          <p:cNvSpPr txBox="1"/>
          <p:nvPr/>
        </p:nvSpPr>
        <p:spPr>
          <a:xfrm rot="0" flipH="0" flipV="0">
            <a:off x="3467100" y="2257425"/>
            <a:ext cx="8115300" cy="1247775"/>
          </a:xfrm>
          <a:prstGeom prst="rect"/>
        </p:spPr>
        <p:txBody>
          <a:bodyPr wrap="none" lIns="0" tIns="0" rIns="0" bIns="0"/>
          <a:p>
            <a:pPr>
              <a:lnSpc>
                <a:spcPct val="118000"/>
              </a:lnSpc>
            </a:pPr>
            <a:r>
              <a:rPr lang="en-US" sz="3450" b="1">
                <a:solidFill>
                  <a:srgbClr val="FFFFFF"/>
                </a:solidFill>
                <a:latin typeface="Microsoft YaHei"/>
                <a:ea typeface="Microsoft YaHei"/>
              </a:rPr>
              <a:t>Actors</a:t>
            </a:r>
            <a:endParaRPr/>
          </a:p>
          <a:p>
            <a:pPr>
              <a:lnSpc>
                <a:spcPct val="118000"/>
              </a:lnSpc>
            </a:pPr>
            <a:r>
              <a:rPr lang="en-US" sz="3450" b="1">
                <a:solidFill>
                  <a:srgbClr val="FFFFFF"/>
                </a:solidFill>
                <a:latin typeface="Microsoft YaHei"/>
                <a:ea typeface="Microsoft YaHei"/>
              </a:rPr>
              <a:t>&amp; Goals</a:t>
            </a:r>
            <a:endParaRPr/>
          </a:p>
        </p:txBody>
      </p:sp>
      <p:sp>
        <p:nvSpPr>
          <p:cNvPr id="879" name=""/>
          <p:cNvSpPr/>
          <p:nvPr/>
        </p:nvSpPr>
        <p:spPr>
          <a:xfrm rot="0" flipH="0" flipV="0">
            <a:off x="3467100" y="3752850"/>
            <a:ext cx="609600" cy="38100"/>
          </a:xfrm>
          <a:prstGeom prst="rect">
            <a:avLst/>
          </a:prstGeom>
          <a:solidFill>
            <a:srgbClr val="FFC107"/>
          </a:solidFill>
          <a:ln/>
        </p:spPr>
        <p:txBody>
          <a:bodyPr/>
          <a:p/>
        </p:txBody>
      </p:sp>
      <p:sp>
        <p:nvSpPr>
          <p:cNvPr id="880" name=""/>
          <p:cNvSpPr/>
          <p:nvPr/>
        </p:nvSpPr>
        <p:spPr>
          <a:xfrm rot="0" flipH="0" flipV="0">
            <a:off x="3467100" y="4114800"/>
            <a:ext cx="76200" cy="76200"/>
          </a:xfrm>
          <a:prstGeom prst="roundRect">
            <a:avLst>
              <a:gd name="adj" fmla="val 50000"/>
            </a:avLst>
          </a:prstGeom>
          <a:solidFill>
            <a:srgbClr val="3D7BD9"/>
          </a:solidFill>
          <a:ln/>
        </p:spPr>
        <p:txBody>
          <a:bodyPr/>
          <a:p/>
        </p:txBody>
      </p:sp>
      <p:sp>
        <p:nvSpPr>
          <p:cNvPr id="881" name="" descr="{&quot;isTemplate&quot;:true,&quot;type&quot;:&quot;text&quot;}"/>
          <p:cNvSpPr txBox="1"/>
          <p:nvPr/>
        </p:nvSpPr>
        <p:spPr>
          <a:xfrm rot="0" flipH="0" flipV="0">
            <a:off x="3657600" y="4038600"/>
            <a:ext cx="2600325" cy="228600"/>
          </a:xfrm>
          <a:prstGeom prst="rect"/>
        </p:spPr>
        <p:txBody>
          <a:bodyPr wrap="none" lIns="0" tIns="0" rIns="0" bIns="0"/>
          <a:p>
            <a:pPr>
              <a:lnSpc>
                <a:spcPct val="100000"/>
              </a:lnSpc>
            </a:pPr>
            <a:r>
              <a:rPr lang="en-US" sz="1500">
                <a:solidFill>
                  <a:srgbClr val="C5D4EA"/>
                </a:solidFill>
                <a:latin typeface="Microsoft YaHei"/>
                <a:ea typeface="Microsoft YaHei"/>
              </a:rPr>
              <a:t>An actor is a role, not a person</a:t>
            </a:r>
            <a:endParaRPr/>
          </a:p>
        </p:txBody>
      </p:sp>
      <p:sp>
        <p:nvSpPr>
          <p:cNvPr id="882" name=""/>
          <p:cNvSpPr/>
          <p:nvPr/>
        </p:nvSpPr>
        <p:spPr>
          <a:xfrm rot="0" flipH="0" flipV="0">
            <a:off x="3467100" y="4457700"/>
            <a:ext cx="76200" cy="76200"/>
          </a:xfrm>
          <a:prstGeom prst="roundRect">
            <a:avLst>
              <a:gd name="adj" fmla="val 50000"/>
            </a:avLst>
          </a:prstGeom>
          <a:solidFill>
            <a:srgbClr val="3D7BD9"/>
          </a:solidFill>
          <a:ln/>
        </p:spPr>
        <p:txBody>
          <a:bodyPr/>
          <a:p/>
        </p:txBody>
      </p:sp>
      <p:sp>
        <p:nvSpPr>
          <p:cNvPr id="883" name="" descr="{&quot;isTemplate&quot;:true,&quot;type&quot;:&quot;text&quot;}"/>
          <p:cNvSpPr txBox="1"/>
          <p:nvPr/>
        </p:nvSpPr>
        <p:spPr>
          <a:xfrm rot="0" flipH="0" flipV="0">
            <a:off x="3657600" y="4381500"/>
            <a:ext cx="2962275" cy="228600"/>
          </a:xfrm>
          <a:prstGeom prst="rect"/>
        </p:spPr>
        <p:txBody>
          <a:bodyPr wrap="none" lIns="0" tIns="0" rIns="0" bIns="0"/>
          <a:p>
            <a:pPr>
              <a:lnSpc>
                <a:spcPct val="100000"/>
              </a:lnSpc>
            </a:pPr>
            <a:r>
              <a:rPr lang="en-US" sz="1500">
                <a:solidFill>
                  <a:srgbClr val="C5D4EA"/>
                </a:solidFill>
                <a:latin typeface="Microsoft YaHei"/>
                <a:ea typeface="Microsoft YaHei"/>
              </a:rPr>
              <a:t>A use case is a goal, not a function</a:t>
            </a:r>
            <a:endParaRPr/>
          </a:p>
        </p:txBody>
      </p:sp>
      <p:sp>
        <p:nvSpPr>
          <p:cNvPr id="884" name=""/>
          <p:cNvSpPr/>
          <p:nvPr/>
        </p:nvSpPr>
        <p:spPr>
          <a:xfrm rot="0" flipH="0" flipV="0">
            <a:off x="3467100" y="4800600"/>
            <a:ext cx="76200" cy="76200"/>
          </a:xfrm>
          <a:prstGeom prst="roundRect">
            <a:avLst>
              <a:gd name="adj" fmla="val 50000"/>
            </a:avLst>
          </a:prstGeom>
          <a:solidFill>
            <a:srgbClr val="3D7BD9"/>
          </a:solidFill>
          <a:ln/>
        </p:spPr>
        <p:txBody>
          <a:bodyPr/>
          <a:p/>
        </p:txBody>
      </p:sp>
      <p:sp>
        <p:nvSpPr>
          <p:cNvPr id="885" name="" descr="{&quot;isTemplate&quot;:true,&quot;type&quot;:&quot;text&quot;}"/>
          <p:cNvSpPr txBox="1"/>
          <p:nvPr/>
        </p:nvSpPr>
        <p:spPr>
          <a:xfrm rot="0" flipH="0" flipV="0">
            <a:off x="3657600" y="4724400"/>
            <a:ext cx="4600575" cy="228600"/>
          </a:xfrm>
          <a:prstGeom prst="rect"/>
        </p:spPr>
        <p:txBody>
          <a:bodyPr wrap="none" lIns="0" tIns="0" rIns="0" bIns="0"/>
          <a:p>
            <a:pPr>
              <a:lnSpc>
                <a:spcPct val="100000"/>
              </a:lnSpc>
            </a:pPr>
            <a:r>
              <a:rPr lang="en-US" sz="1500">
                <a:solidFill>
                  <a:srgbClr val="C5D4EA"/>
                </a:solidFill>
                <a:latin typeface="Microsoft YaHei"/>
                <a:ea typeface="Microsoft YaHei"/>
              </a:rPr>
              <a:t>Beware the CRUD trap — Manage X is not a use case</a:t>
            </a:r>
            <a:endParaRPr/>
          </a:p>
        </p:txBody>
      </p:sp>
      <p:sp>
        <p:nvSpPr>
          <p:cNvPr id="886" name=""/>
          <p:cNvSpPr/>
          <p:nvPr/>
        </p:nvSpPr>
        <p:spPr>
          <a:xfrm rot="0" flipH="0" flipV="0">
            <a:off x="0" y="0"/>
            <a:ext cx="12192000" cy="76200"/>
          </a:xfrm>
          <a:prstGeom prst="rect">
            <a:avLst/>
          </a:prstGeom>
          <a:solidFill>
            <a:srgbClr val="1E4FA8"/>
          </a:solidFill>
          <a:ln/>
        </p:spPr>
        <p:txBody>
          <a:bodyPr/>
          <a:p/>
        </p:txBody>
      </p:sp>
    </p:spTree>
  </p:cSld>
</p:sld>
</file>

<file path=ppt/slides/slide9.xml><?xml version="1.0" encoding="utf-8"?>
<p:sld xmlns:asvg="http://schemas.microsoft.com/office/drawing/2016/SVG/main" xmlns:a="http://schemas.openxmlformats.org/drawingml/2006/main" xmlns:r="http://schemas.openxmlformats.org/officeDocument/2006/relationships" xmlns:p="http://schemas.openxmlformats.org/presentationml/2006/main" xmlns:mc="http://schemas.openxmlformats.org/markup-compatibility/2006" mc:Ignorable="asvg">
  <p:cSld>
    <p:spTree>
      <p:nvGrpSpPr>
        <p:cNvPr id="887" name="" descr="&lt;Slide style={{ background: '#FFFFFF', padding: 0 }}&gt;&#10;  &lt;Box style={{ height: 72, background: '#1E4FA8', padding: '0 40px', flexDirection: 'row', alignItems: 'center', justifyContent: 'space-between' }}&gt;&#10;    &lt;Text style={{ fontSize: 15, color: '#B9CDF0', letterSpacing: 1 }}&gt;ISAD · INFORMATION SYSTEMS ANALYSIS &amp;amp; DESIGN&lt;/Text&gt;&#10;    &lt;Text style={{ fontSize: 15, color: '#B9CDF0' }}&gt;W04 · ACTORS &amp;amp; GOALS&lt;/Text&gt;&#10;  &lt;/Box&gt;&#10;  &lt;Box style={{ padding: '12px 40px 0 40px', flexDirection: 'row', alignItems: 'center', justifyContent: 'space-between' }}&gt;&#10;    &lt;Text style={{ fontSize: 30, fontWeight: 'bold', color: '#0E3F8C' }}&gt;What Is an Actor?&lt;/Text&gt;&#10;    &lt;Text style={{ fontSize: 14, color: '#1E4FA8', fontWeight: 'bold' }}&gt;09 / 38&lt;/Text&gt;&#10;  &lt;/Box&gt;&#10;  &lt;Box style={{ flex: 1, padding: '4px 40px 0 40px', justifyContent: 'center', alignItems: 'center' }}&gt;&#10;    &lt;svg width={1180} height={384} viewBox='0 0 1180 384'&gt;&#10;      &lt;text x='10' y='16' fill='#8B97A8' fontSize='13'&gt;An actor is a ROLE played toward the system — not a job title, and not a person&lt;/text&gt;&#10;&#10;      &lt;g transform='translate(10,32)'&gt;&#10;        &lt;rect x='0' y='0' width='372' height='172' rx='8' fill='#F0F5FC' stroke='#1E4FA8' strokeWidth='2' /&gt;&#10;        &lt;circle cx='30' cy='28' r='15' fill='#1E4FA8' /&gt;&#10;        &lt;text x='30' y='34' textAnchor='middle' fill='#FFFFFF' fontSize='13' fontWeight='bold'&gt;1&lt;/text&gt;&#10;        &lt;text x='54' y='33' fill='#0E3F8C' fontSize='16' fontWeight='bold'&gt;Primary actor&lt;/text&gt;&#10;        &lt;text x='18' y='60' fill='#4A5568' fontSize='12'&gt;Starts the use case. Has a goal&lt;/text&gt;&#10;        &lt;text x='18' y='78' fill='#4A5568' fontSize='12'&gt;the system must satisfy.&lt;/text&gt;&#10;        &lt;line x1='18' y1='92' x2='354' y2='92' stroke='#D6DCE5' strokeWidth='1' /&gt;&#10;        &lt;text x='18' y='112' fill='#1E4FA8' fontSize='11.5' fontWeight='bold'&gt;CampusBites:&lt;/text&gt;&#10;        &lt;text x='18' y='130' fill='#1E4FA8' fontSize='11.5'&gt;Student, Restaurant Manager,&lt;/text&gt;&#10;        &lt;text x='18' y='148' fill='#1E4FA8' fontSize='11.5'&gt;Courier&lt;/text&gt;&#10;        &lt;text x='18' y='166' fill='#8B97A8' fontSize='10.5'&gt;Test: does the use case exist for them?&lt;/text&gt;&#10;      &lt;/g&gt;&#10;&#10;      &lt;g transform='translate(404,32)'&gt;&#10;        &lt;rect x='0' y='0' width='372' height='172' rx='8' fill='#FFFFFF' stroke='#D6DCE5' strokeWidth='1.5' /&gt;&#10;        &lt;circle cx='30' cy='28' r='15' fill='#3D7BD9' /&gt;&#10;        &lt;text x='30' y='34' textAnchor='middle' fill='#FFFFFF' fontSize='13' fontWeight='bold'&gt;2&lt;/text&gt;&#10;        &lt;text x='54' y='33' fill='#0E3F8C' fontSize='16' fontWeight='bold'&gt;Secondary actor&lt;/text&gt;&#10;        &lt;text x='18' y='60' fill='#4A5568' fontSize='12'&gt;Serves the system. The system&lt;/text&gt;&#10;        &lt;text x='18' y='78' fill='#4A5568' fontSize='12'&gt;calls them; they never start it.&lt;/text&gt;&#10;        &lt;line x1='18' y1='92' x2='354' y2='92' stroke='#D6DCE5' strokeWidth='1' /&gt;&#10;        &lt;text x='18' y='112' fill='#1E4FA8' fontSize='11.5' fontWeight='bold'&gt;CampusBites:&lt;/text&gt;&#10;        &lt;text x='18' y='130' fill='#1E4FA8' fontSize='11.5'&gt;Payment Provider, SMS Gateway,&lt;/text&gt;&#10;        &lt;text x='18' y='148' fill='#1E4FA8' fontSize='11.5'&gt;Campus Card Centre&lt;/text&gt;&#10;        &lt;text x='18' y='166' fill='#8B97A8' fontSize='10.5'&gt;Test: who waits, and who is called?&lt;/text&gt;&#10;      &lt;/g&gt;&#10;&#10;      &lt;g transform='translate(798,32)'&gt;&#10;        &lt;rect x='0' y='0' width='372' height='172' rx='8' fill='#FFFFFF' stroke='#D6DCE5' strokeWidth='1.5' /&gt;&#10;        &lt;circle cx='30' cy='28' r='15' fill='#3D7BD9' /&gt;&#10;        &lt;text x='30' y='34' textAnchor='middle' fill='#FFFFFF' fontSize='13' fontWeight='bold'&gt;3&lt;/text&gt;&#10;        &lt;text x='54' y='33' fill='#0E3F8C' fontSize='16' fontWeight='bold'&gt;Another system&lt;/text&gt;&#10;        &lt;text x='18' y='60' fill='#4A5568' fontSize='12'&gt;Software can be an actor.&lt;/text&gt;&#10;        &lt;text x='18' y='78' fill='#4A5568' fontSize='12'&gt;It sits outside your boundary.&lt;/text&gt;&#10;        &lt;line x1='18' y1='92' x2='354' y2='92' stroke='#D6DCE5' strokeWidth='1' /&gt;&#10;        &lt;text x='18' y='112' fill='#1E4FA8' fontSize='11.5' fontWeight='bold'&gt;CampusBites:&lt;/text&gt;&#10;        &lt;text x='18' y='130' fill='#1E4FA8' fontSize='11.5'&gt;the card centre that must&lt;/text&gt;&#10;        &lt;text x='18' y='148' fill='#1E4FA8' fontSize='11.5'&gt;approve a student payment&lt;/text&gt;&#10;        &lt;text x='18' y='166' fill='#8B97A8' fontSize='10.5'&gt;Drawn as a box, or as an actor&lt;/text&gt;&#10;      &lt;/g&gt;&#10;&#10;      &lt;g transform='translate(10,220)'&gt;&#10;        &lt;rect x='0' y='0' width='1160' height='150' rx='8' fill='#FFFFFF' stroke='#D9534F' strokeWidth='1.5' /&gt;&#10;        &lt;circle cx='30' cy='30' r='16' fill='#D9534F' /&gt;&#10;        &lt;text x='30' y='36' textAnchor='middle' fill='#FFFFFF' fontSize='15' fontWeight='bold'&gt;!&lt;/text&gt;&#10;        &lt;text x='56' y='35' fill='#D9534F' fontSize='16' fontWeight='bold'&gt;A role is not a person — the same human can be three actors&lt;/text&gt;&#10;        &lt;line x1='20' y1='56' x2='1140' y2='56' stroke='#E5E7EB' strokeWidth='1' /&gt;&#10;&#10;        &lt;g transform='translate(30,72)'&gt;&#10;          &lt;circle cx='18' cy='18' r='14' fill='none' stroke='#1E4FA8' strokeWidth='2' /&gt;&#10;          &lt;line x1='18' y1='32' x2='18' y2='56' stroke='#1E4FA8' strokeWidth='2' /&gt;&#10;          &lt;line x1='18' y1='40' x2='4' y2='52' stroke='#1E4FA8' strokeWidth='2' /&gt;&#10;          &lt;line x1='18' y1='40' x2='32' y2='52' stroke='#1E4FA8' strokeWidth='2' /&gt;&#10;          &lt;line x1='18' y1='56' x2='6' y2='72' stroke='#1E4FA8' strokeWidth='2' /&gt;&#10;          &lt;line x1='18' y1='56' x2='30' y2='72' stroke='#1E4FA8' strokeWidth='2' /&gt;&#10;          &lt;text x='44' y='26' fill='#1A2230' fontSize='13' fontWeight='bold'&gt;Li Wei&lt;/text&gt;&#10;          &lt;text x='44' y='44' fill='#4A5568' fontSize='11.5'&gt;one human being&lt;/text&gt;&#10;        &lt;/g&gt;&#10;&#10;        &lt;g transform='translate(300,72)'&gt;&#10;          &lt;rect x='0' y='0' width='230' height='60' rx='6' fill='#F0F5FC' stroke='#1E4FA8' strokeWidth='1' /&gt;&#10;          &lt;text x='14' y='24' fill='#0E3F8C' fontSize='12.5' fontWeight='bold'&gt;Student&lt;/text&gt;&#10;          &lt;text x='14' y='44' fill='#4A5568' fontSize='11'&gt;orders lunch at 12:00&lt;/text&gt;&#10;        &lt;/g&gt;&#10;        &lt;g transform='translate(548,72)'&gt;&#10;          &lt;rect x='0' y='0' width='230' height='60' rx='6' fill='#F0F5FC' stroke='#1E4FA8' strokeWidth='1' /&gt;&#10;          &lt;text x='14' y='24' fill='#0E3F8C' fontSize='12.5' fontWeight='bold'&gt;Courier&lt;/text&gt;&#10;          &lt;text x='14' y='44' fill='#4A5568' fontSize='11'&gt;delivers orders at 18:00&lt;/text&gt;&#10;        &lt;/g&gt;&#10;        &lt;g transform='translate(796,72)'&gt;&#10;          &lt;rect x='0' y='0' width='230' height='60' rx='6' fill='#F0F5FC' stroke='#1E4FA8' strokeWidth='1' /&gt;&#10;          &lt;text x='14' y='24' fill='#0E3F8C' fontSize='12.5' fontWeight='bold'&gt;Reviewer&lt;/text&gt;&#10;          &lt;text x='14' y='44' fill='#4A5568' fontSize='11'&gt;rates the restaurant later&lt;/text&gt;&#10;        &lt;/g&gt;&#10;&#10;        &lt;text x='1050' y='98' fill='#8B97A8' fontSize='11'&gt;Three actors.&lt;/text&gt;&#10;        &lt;text x='1050' y='116' fill='#8B97A8' fontSize='11'&gt;One person.&lt;/text&gt;&#10;      &lt;/g&gt;&#10;    &lt;/svg&gt;&#10;  &lt;/Box&gt;&#10;  &lt;Box style={{ height: 34, padding: '0 40px', flexDirection: 'row', alignItems: 'center', justifyContent: 'space-between' }}&gt;&#10;    &lt;Text style={{ fontSize: 13, color: '#8B97A8' }}&gt;ISAD · Fall 2026 · Name the role, not the person — the role is what the system has to serve&lt;/Text&gt;&#10;    &lt;Text style={{ fontSize: 14, color: '#1E4FA8', fontWeight: 'bold' }}&gt;09 / 38&lt;/Text&gt;&#10;  &lt;/Box&gt;&#10;&lt;/Slide&gt;"/>
        <p:cNvGrpSpPr/>
        <p:nvPr/>
      </p:nvGrpSpPr>
      <p:grpSpPr>
        <a:xfrm>
          <a:off x="0" y="0"/>
          <a:ext cx="0" cy="0"/>
          <a:chOff x="0" y="0"/>
          <a:chExt cx="0" cy="0"/>
        </a:xfrm>
      </p:grpSpPr>
      <p:sp>
        <p:nvSpPr>
          <p:cNvPr id="888" name=""/>
          <p:cNvSpPr/>
          <p:nvPr/>
        </p:nvSpPr>
        <p:spPr>
          <a:xfrm rot="0" flipH="0" flipV="0">
            <a:off x="0" y="0"/>
            <a:ext cx="12192000" cy="6858000"/>
          </a:xfrm>
          <a:prstGeom prst="rect">
            <a:avLst/>
          </a:prstGeom>
          <a:solidFill>
            <a:srgbClr val="FFFFFF"/>
          </a:solidFill>
          <a:ln/>
        </p:spPr>
        <p:txBody>
          <a:bodyPr/>
          <a:p/>
        </p:txBody>
      </p:sp>
      <p:sp>
        <p:nvSpPr>
          <p:cNvPr id="889" name=""/>
          <p:cNvSpPr/>
          <p:nvPr/>
        </p:nvSpPr>
        <p:spPr>
          <a:xfrm rot="0" flipH="0" flipV="0">
            <a:off x="0" y="0"/>
            <a:ext cx="12192000" cy="685800"/>
          </a:xfrm>
          <a:prstGeom prst="rect">
            <a:avLst/>
          </a:prstGeom>
          <a:solidFill>
            <a:srgbClr val="1E4FA8"/>
          </a:solidFill>
          <a:ln/>
        </p:spPr>
        <p:txBody>
          <a:bodyPr/>
          <a:p/>
        </p:txBody>
      </p:sp>
      <p:sp>
        <p:nvSpPr>
          <p:cNvPr id="890" name="" descr="{&quot;isTemplate&quot;:true,&quot;type&quot;:&quot;text&quot;}"/>
          <p:cNvSpPr txBox="1"/>
          <p:nvPr/>
        </p:nvSpPr>
        <p:spPr>
          <a:xfrm rot="0" flipH="0" flipV="0">
            <a:off x="381000" y="257175"/>
            <a:ext cx="4067175" cy="171450"/>
          </a:xfrm>
          <a:prstGeom prst="rect"/>
        </p:spPr>
        <p:txBody>
          <a:bodyPr wrap="none" lIns="0" tIns="0" rIns="0" bIns="0"/>
          <a:p>
            <a:pPr>
              <a:lnSpc>
                <a:spcPct val="100000"/>
              </a:lnSpc>
            </a:pPr>
            <a:r>
              <a:rPr lang="en-US" sz="1125" spc="75">
                <a:solidFill>
                  <a:srgbClr val="B9CDF0"/>
                </a:solidFill>
                <a:latin typeface="Microsoft YaHei"/>
                <a:ea typeface="Microsoft YaHei"/>
              </a:rPr>
              <a:t>ISAD · INFORMATION SYSTEMS ANALYSIS &amp; DESIGN</a:t>
            </a:r>
            <a:endParaRPr/>
          </a:p>
        </p:txBody>
      </p:sp>
      <p:sp>
        <p:nvSpPr>
          <p:cNvPr id="891" name="" descr="{&quot;isTemplate&quot;:true,&quot;type&quot;:&quot;text&quot;}"/>
          <p:cNvSpPr txBox="1"/>
          <p:nvPr/>
        </p:nvSpPr>
        <p:spPr>
          <a:xfrm rot="0" flipH="0" flipV="0">
            <a:off x="10125075" y="257175"/>
            <a:ext cx="1685925" cy="171450"/>
          </a:xfrm>
          <a:prstGeom prst="rect"/>
        </p:spPr>
        <p:txBody>
          <a:bodyPr wrap="none" lIns="0" tIns="0" rIns="0" bIns="0"/>
          <a:p>
            <a:pPr>
              <a:lnSpc>
                <a:spcPct val="100000"/>
              </a:lnSpc>
            </a:pPr>
            <a:r>
              <a:rPr lang="en-US" sz="1125">
                <a:solidFill>
                  <a:srgbClr val="B9CDF0"/>
                </a:solidFill>
                <a:latin typeface="Microsoft YaHei"/>
                <a:ea typeface="Microsoft YaHei"/>
              </a:rPr>
              <a:t>W04 · ACTORS &amp; GOALS</a:t>
            </a:r>
            <a:endParaRPr/>
          </a:p>
        </p:txBody>
      </p:sp>
      <p:sp>
        <p:nvSpPr>
          <p:cNvPr id="892" name="" descr="{&quot;isTemplate&quot;:true,&quot;type&quot;:&quot;text&quot;}"/>
          <p:cNvSpPr txBox="1"/>
          <p:nvPr/>
        </p:nvSpPr>
        <p:spPr>
          <a:xfrm rot="0" flipH="0" flipV="0">
            <a:off x="381000" y="800100"/>
            <a:ext cx="2438400" cy="342900"/>
          </a:xfrm>
          <a:prstGeom prst="rect"/>
        </p:spPr>
        <p:txBody>
          <a:bodyPr wrap="none" lIns="0" tIns="0" rIns="0" bIns="0"/>
          <a:p>
            <a:pPr>
              <a:lnSpc>
                <a:spcPct val="100000"/>
              </a:lnSpc>
            </a:pPr>
            <a:r>
              <a:rPr lang="en-US" sz="2250" b="1">
                <a:solidFill>
                  <a:srgbClr val="0E3F8C"/>
                </a:solidFill>
                <a:latin typeface="Microsoft YaHei"/>
                <a:ea typeface="Microsoft YaHei"/>
              </a:rPr>
              <a:t>What Is an Actor?</a:t>
            </a:r>
            <a:endParaRPr/>
          </a:p>
        </p:txBody>
      </p:sp>
      <p:sp>
        <p:nvSpPr>
          <p:cNvPr id="893" name="" descr="{&quot;isTemplate&quot;:true,&quot;type&quot;:&quot;text&quot;}"/>
          <p:cNvSpPr txBox="1"/>
          <p:nvPr/>
        </p:nvSpPr>
        <p:spPr>
          <a:xfrm rot="0" flipH="0" flipV="0">
            <a:off x="11401425" y="895350"/>
            <a:ext cx="409575" cy="161925"/>
          </a:xfrm>
          <a:prstGeom prst="rect"/>
        </p:spPr>
        <p:txBody>
          <a:bodyPr wrap="none" lIns="0" tIns="0" rIns="0" bIns="0"/>
          <a:p>
            <a:pPr>
              <a:lnSpc>
                <a:spcPct val="100000"/>
              </a:lnSpc>
            </a:pPr>
            <a:r>
              <a:rPr lang="en-US" sz="1050" b="1">
                <a:solidFill>
                  <a:srgbClr val="1E4FA8"/>
                </a:solidFill>
                <a:latin typeface="Microsoft YaHei"/>
                <a:ea typeface="Microsoft YaHei"/>
              </a:rPr>
              <a:t>09 / 38</a:t>
            </a:r>
            <a:endParaRPr/>
          </a:p>
        </p:txBody>
      </p:sp>
      <p:pic>
        <p:nvPicPr>
          <p:cNvPr id="894" name=""/>
          <p:cNvPicPr>
            <a:picLocks noChangeAspect="1"/>
          </p:cNvPicPr>
          <p:nvPr/>
        </p:nvPicPr>
        <p:blipFill>
          <a:blip>
            <a:extLst>
              <a:ext uri="{96DAC541-7B7A-43D3-8B79-37D633B846F1}">
                <asvg:svgBlip r:embed="rId1"/>
              </a:ext>
            </a:extLst>
          </a:blip>
          <a:stretch>
            <a:fillRect/>
          </a:stretch>
        </p:blipFill>
        <p:spPr>
          <a:xfrm rot="0" flipH="0" flipV="0">
            <a:off x="476250" y="2028825"/>
            <a:ext cx="11239500" cy="3657600"/>
          </a:xfrm>
          <a:prstGeom prst="rect">
            <a:avLst/>
          </a:prstGeom>
          <a:ln/>
        </p:spPr>
      </p:pic>
      <p:sp>
        <p:nvSpPr>
          <p:cNvPr id="895" name="" descr="{&quot;isTemplate&quot;:true,&quot;type&quot;:&quot;text&quot;}"/>
          <p:cNvSpPr txBox="1"/>
          <p:nvPr/>
        </p:nvSpPr>
        <p:spPr>
          <a:xfrm rot="0" flipH="0" flipV="0">
            <a:off x="381000" y="6619875"/>
            <a:ext cx="5029200" cy="152400"/>
          </a:xfrm>
          <a:prstGeom prst="rect"/>
        </p:spPr>
        <p:txBody>
          <a:bodyPr wrap="none" lIns="0" tIns="0" rIns="0" bIns="0"/>
          <a:p>
            <a:pPr>
              <a:lnSpc>
                <a:spcPct val="100000"/>
              </a:lnSpc>
            </a:pPr>
            <a:r>
              <a:rPr lang="en-US" sz="975">
                <a:solidFill>
                  <a:srgbClr val="8B97A8"/>
                </a:solidFill>
                <a:latin typeface="Microsoft YaHei"/>
                <a:ea typeface="Microsoft YaHei"/>
              </a:rPr>
              <a:t>ISAD · Fall 2026 · Name the role, not the person — the role is what the system has to serve</a:t>
            </a:r>
            <a:endParaRPr/>
          </a:p>
        </p:txBody>
      </p:sp>
      <p:sp>
        <p:nvSpPr>
          <p:cNvPr id="896" name="" descr="{&quot;isTemplate&quot;:true,&quot;type&quot;:&quot;text&quot;}"/>
          <p:cNvSpPr txBox="1"/>
          <p:nvPr/>
        </p:nvSpPr>
        <p:spPr>
          <a:xfrm rot="0" flipH="0" flipV="0">
            <a:off x="11401425" y="6619875"/>
            <a:ext cx="409575" cy="161925"/>
          </a:xfrm>
          <a:prstGeom prst="rect"/>
        </p:spPr>
        <p:txBody>
          <a:bodyPr wrap="none" lIns="0" tIns="0" rIns="0" bIns="0"/>
          <a:p>
            <a:pPr>
              <a:lnSpc>
                <a:spcPct val="100000"/>
              </a:lnSpc>
            </a:pPr>
            <a:r>
              <a:rPr lang="en-US" sz="1050" b="1">
                <a:solidFill>
                  <a:srgbClr val="1E4FA8"/>
                </a:solidFill>
                <a:latin typeface="Microsoft YaHei"/>
                <a:ea typeface="Microsoft YaHei"/>
              </a:rPr>
              <a:t>09 / 38</a:t>
            </a:r>
            <a:endParaRPr/>
          </a:p>
        </p:txBody>
      </p:sp>
    </p:spTree>
  </p:cSld>
</p:sld>
</file>

<file path=ppt/slides/slide10.xml><?xml version="1.0" encoding="utf-8"?>
<p:sld xmlns:asvg="http://schemas.microsoft.com/office/drawing/2016/SVG/main" xmlns:a="http://schemas.openxmlformats.org/drawingml/2006/main" xmlns:r="http://schemas.openxmlformats.org/officeDocument/2006/relationships" xmlns:p="http://schemas.openxmlformats.org/presentationml/2006/main" xmlns:mc="http://schemas.openxmlformats.org/markup-compatibility/2006" mc:Ignorable="asvg">
  <p:cSld>
    <p:spTree>
      <p:nvGrpSpPr>
        <p:cNvPr id="15" name="" descr="&lt;Slide style={{ background: '#FFFFFF', padding: 0 }}&gt;&#10;  &lt;Box style={{ height: 72, background: '#1E4FA8', padding: '0 40px', flexDirection: 'row', alignItems: 'center', justifyContent: 'space-between' }}&gt;&#10;    &lt;Text style={{ fontSize: 15, color: '#B9CDF0', letterSpacing: 1 }}&gt;ISAD · INFORMATION SYSTEMS ANALYSIS &amp;amp; DESIGN&lt;/Text&gt;&#10;    &lt;Text style={{ fontSize: 15, color: '#B9CDF0' }}&gt;W04 · ACTORS &amp;amp; GOALS&lt;/Text&gt;&#10;  &lt;/Box&gt;&#10;  &lt;Box style={{ padding: '12px 40px 0 40px', flexDirection: 'row', alignItems: 'center', justifyContent: 'space-between' }}&gt;&#10;    &lt;Text style={{ fontSize: 30, fontWeight: 'bold', color: '#0E3F8C' }}&gt;A Use Case Is a Goal, Not a Function&lt;/Text&gt;&#10;    &lt;Text style={{ fontSize: 14, color: '#1E4FA8', fontWeight: 'bold' }}&gt;10 / 38&lt;/Text&gt;&#10;  &lt;/Box&gt;&#10;  &lt;Box style={{ flex: 1, padding: '18px 60px 0 60px', flexDirection: 'column', justifyContent: 'center', alignItems: 'center' }}&gt;&#10;    &lt;Box style={{ padding: '0 40px', marginBottom: 8 }}&gt;&#10;      &lt;Text style={{ fontSize: 19, color: '#8B97A8', letterSpacing: 1 }}&gt;THE DEFINITION WE USE THIS SEMESTER&lt;/Text&gt;&#10;    &lt;/Box&gt;&#10;    &lt;Box style={{ width: 940, padding: '34px 46px', background: '#F0F5FC', borderRadius: 12, borderLeft: '6px solid #1E4FA8', alignItems: 'center' }}&gt;&#10;      &lt;Text style={{ fontSize: 27, color: '#0E3F8C', fontWeight: 'bold', lineHeight: 1.42, textAlign: 'center' }}&gt;&#10;        A use case is a set of scenarios whose end is a&#10;        &lt;br /&gt;&#10;        user goal — something the actor walks away saying “done”.&#10;      &lt;/Text&gt;&#10;    &lt;/Box&gt;&#10;    &lt;Box style={{ width: 940, marginTop: 12, marginBottom: 22 }}&gt;&#10;      &lt;Text style={{ fontSize: 13.5, color: '#8B97A8', textAlign: 'center', lineHeight: 1.5 }}&gt;&#10;        Cockburn’s definition. Three words carry the weight: scenarios, end, goal.&#10;      &lt;/Text&gt;&#10;    &lt;/Box&gt;&#10;    &lt;Box style={{ width: 940, flexDirection: 'row', gap: 20 }}&gt;&#10;      &lt;Box style={{ flex: 1, padding: '22px 20px', background: '#FFFFFF', borderRadius: 10, border: '1px solid #D6DCE5' }}&gt;&#10;        &lt;FAIcon name='flag-checkered' style={{ fill: '#1E4FA8', width: 22, height: 22 }} /&gt;&#10;        &lt;Text style={{ fontSize: 17, fontWeight: 'bold', color: '#0E3F8C', marginTop: 10 }}&gt;It ends&lt;/Text&gt;&#10;        &lt;Text style={{ fontSize: 13, color: '#4A5568', lineHeight: 1.55, marginTop: 6 }}&gt;&#10;          There is a state of the world where the actor stops and says “that is it”. If your use case never ends, you have modelled a process, not a goal.&#10;        &lt;/Text&gt;&#10;      &lt;/Box&gt;&#10;      &lt;Box style={{ flex: 1, padding: '22px 20px', background: '#FFFFFF', borderRadius: 10, border: '1px solid #D6DCE5' }}&gt;&#10;        &lt;FAIcon name='users' style={{ fill: '#1E4FA8', width: 22, height: 22 }} /&gt;&#10;        &lt;Text style={{ fontSize: 17, fontWeight: 'bold', color: '#0E3F8C', marginTop: 10 }}&gt;It belongs to one actor&lt;/Text&gt;&#10;        &lt;Text style={{ fontSize: 13, color: '#4A5568', lineHeight: 1.55, marginTop: 6 }}&gt;&#10;          Exactly one primary actor owns the goal. Other actors may help, but only one of them is the reason the use case exists.&#10;        &lt;/Text&gt;&#10;      &lt;/Box&gt;&#10;      &lt;Box style={{ flex: 1, padding: '22px 20px', background: '#FFFFFF', borderRadius: 10, border: '1px solid #D6DCE5' }}&gt;&#10;        &lt;FAIcon name='check-circle' style={{ fill: '#1E4FA8', width: 22, height: 22 }} /&gt;&#10;        &lt;Text style={{ fontSize: 17, fontWeight: 'bold', color: '#0E3F8C', marginTop: 10 }}&gt;It can fail, and still be one&lt;/Text&gt;&#10;        &lt;Text style={{ fontSize: 13, color: '#4A5568', lineHeight: 1.55, marginTop: 6 }}&gt;&#10;          “Pay for order” stays one use case whether the card clears or is declined. Success and failure are scenarios inside it — not separate use cases.&#10;        &lt;/Text&gt;&#10;      &lt;/Box&gt;&#10;    &lt;/Box&gt;&#10;  &lt;/Box&gt;&#10;  &lt;Box style={{ height: 46, background: '#0E3F8C', padding: '0 40px', flexDirection: 'row', alignItems: 'center', justifyContent: 'center' }}&gt;&#10;    &lt;Text style={{ fontSize: 16, color: '#FFFFFF', fontWeight: '600' }}&gt;Ask “what does the actor get out of this?” — if the answer is “nothing yet”, it is not a use case.&lt;/Text&gt;&#10;  &lt;/Box&gt;&#10;&lt;/Slide&gt;"/>
        <p:cNvGrpSpPr/>
        <p:nvPr/>
      </p:nvGrpSpPr>
      <p:grpSpPr>
        <a:xfrm>
          <a:off x="0" y="0"/>
          <a:ext cx="0" cy="0"/>
          <a:chOff x="0" y="0"/>
          <a:chExt cx="0" cy="0"/>
        </a:xfrm>
      </p:grpSpPr>
      <p:sp>
        <p:nvSpPr>
          <p:cNvPr id="16" name=""/>
          <p:cNvSpPr/>
          <p:nvPr/>
        </p:nvSpPr>
        <p:spPr>
          <a:xfrm rot="0" flipH="0" flipV="0">
            <a:off x="0" y="0"/>
            <a:ext cx="12192000" cy="6858000"/>
          </a:xfrm>
          <a:prstGeom prst="rect">
            <a:avLst/>
          </a:prstGeom>
          <a:solidFill>
            <a:srgbClr val="FFFFFF"/>
          </a:solidFill>
          <a:ln/>
        </p:spPr>
        <p:txBody>
          <a:bodyPr/>
          <a:p/>
        </p:txBody>
      </p:sp>
      <p:sp>
        <p:nvSpPr>
          <p:cNvPr id="17" name=""/>
          <p:cNvSpPr/>
          <p:nvPr/>
        </p:nvSpPr>
        <p:spPr>
          <a:xfrm rot="0" flipH="0" flipV="0">
            <a:off x="0" y="0"/>
            <a:ext cx="12192000" cy="685800"/>
          </a:xfrm>
          <a:prstGeom prst="rect">
            <a:avLst/>
          </a:prstGeom>
          <a:solidFill>
            <a:srgbClr val="1E4FA8"/>
          </a:solidFill>
          <a:ln/>
        </p:spPr>
        <p:txBody>
          <a:bodyPr/>
          <a:p/>
        </p:txBody>
      </p:sp>
      <p:sp>
        <p:nvSpPr>
          <p:cNvPr id="18" name="" descr="{&quot;isTemplate&quot;:true,&quot;type&quot;:&quot;text&quot;}"/>
          <p:cNvSpPr txBox="1"/>
          <p:nvPr/>
        </p:nvSpPr>
        <p:spPr>
          <a:xfrm rot="0" flipH="0" flipV="0">
            <a:off x="381000" y="257175"/>
            <a:ext cx="4067175" cy="171450"/>
          </a:xfrm>
          <a:prstGeom prst="rect"/>
        </p:spPr>
        <p:txBody>
          <a:bodyPr wrap="none" lIns="0" tIns="0" rIns="0" bIns="0"/>
          <a:p>
            <a:pPr>
              <a:lnSpc>
                <a:spcPct val="100000"/>
              </a:lnSpc>
            </a:pPr>
            <a:r>
              <a:rPr lang="en-US" sz="1125" spc="75">
                <a:solidFill>
                  <a:srgbClr val="B9CDF0"/>
                </a:solidFill>
                <a:latin typeface="Microsoft YaHei"/>
                <a:ea typeface="Microsoft YaHei"/>
              </a:rPr>
              <a:t>ISAD · INFORMATION SYSTEMS ANALYSIS &amp; DESIGN</a:t>
            </a:r>
            <a:endParaRPr/>
          </a:p>
        </p:txBody>
      </p:sp>
      <p:sp>
        <p:nvSpPr>
          <p:cNvPr id="19" name="" descr="{&quot;isTemplate&quot;:true,&quot;type&quot;:&quot;text&quot;}"/>
          <p:cNvSpPr txBox="1"/>
          <p:nvPr/>
        </p:nvSpPr>
        <p:spPr>
          <a:xfrm rot="0" flipH="0" flipV="0">
            <a:off x="10125075" y="257175"/>
            <a:ext cx="1685925" cy="171450"/>
          </a:xfrm>
          <a:prstGeom prst="rect"/>
        </p:spPr>
        <p:txBody>
          <a:bodyPr wrap="none" lIns="0" tIns="0" rIns="0" bIns="0"/>
          <a:p>
            <a:pPr>
              <a:lnSpc>
                <a:spcPct val="100000"/>
              </a:lnSpc>
            </a:pPr>
            <a:r>
              <a:rPr lang="en-US" sz="1125">
                <a:solidFill>
                  <a:srgbClr val="B9CDF0"/>
                </a:solidFill>
                <a:latin typeface="Microsoft YaHei"/>
                <a:ea typeface="Microsoft YaHei"/>
              </a:rPr>
              <a:t>W04 · ACTORS &amp; GOALS</a:t>
            </a:r>
            <a:endParaRPr/>
          </a:p>
        </p:txBody>
      </p:sp>
      <p:sp>
        <p:nvSpPr>
          <p:cNvPr id="20" name="" descr="{&quot;isTemplate&quot;:true,&quot;type&quot;:&quot;text&quot;}"/>
          <p:cNvSpPr txBox="1"/>
          <p:nvPr/>
        </p:nvSpPr>
        <p:spPr>
          <a:xfrm rot="0" flipH="0" flipV="0">
            <a:off x="381000" y="800100"/>
            <a:ext cx="5010150" cy="342900"/>
          </a:xfrm>
          <a:prstGeom prst="rect"/>
        </p:spPr>
        <p:txBody>
          <a:bodyPr wrap="none" lIns="0" tIns="0" rIns="0" bIns="0"/>
          <a:p>
            <a:pPr>
              <a:lnSpc>
                <a:spcPct val="100000"/>
              </a:lnSpc>
            </a:pPr>
            <a:r>
              <a:rPr lang="en-US" sz="2250" b="1">
                <a:solidFill>
                  <a:srgbClr val="0E3F8C"/>
                </a:solidFill>
                <a:latin typeface="Microsoft YaHei"/>
                <a:ea typeface="Microsoft YaHei"/>
              </a:rPr>
              <a:t>A Use Case Is a Goal, Not a Function</a:t>
            </a:r>
            <a:endParaRPr/>
          </a:p>
        </p:txBody>
      </p:sp>
      <p:sp>
        <p:nvSpPr>
          <p:cNvPr id="21" name="" descr="{&quot;isTemplate&quot;:true,&quot;type&quot;:&quot;text&quot;}"/>
          <p:cNvSpPr txBox="1"/>
          <p:nvPr/>
        </p:nvSpPr>
        <p:spPr>
          <a:xfrm rot="0" flipH="0" flipV="0">
            <a:off x="11401425" y="895350"/>
            <a:ext cx="409575" cy="161925"/>
          </a:xfrm>
          <a:prstGeom prst="rect"/>
        </p:spPr>
        <p:txBody>
          <a:bodyPr wrap="none" lIns="0" tIns="0" rIns="0" bIns="0"/>
          <a:p>
            <a:pPr>
              <a:lnSpc>
                <a:spcPct val="100000"/>
              </a:lnSpc>
            </a:pPr>
            <a:r>
              <a:rPr lang="en-US" sz="1050" b="1">
                <a:solidFill>
                  <a:srgbClr val="1E4FA8"/>
                </a:solidFill>
                <a:latin typeface="Microsoft YaHei"/>
                <a:ea typeface="Microsoft YaHei"/>
              </a:rPr>
              <a:t>10 / 38</a:t>
            </a:r>
            <a:endParaRPr/>
          </a:p>
        </p:txBody>
      </p:sp>
      <p:sp>
        <p:nvSpPr>
          <p:cNvPr id="22" name="" descr="{&quot;isTemplate&quot;:true,&quot;type&quot;:&quot;text&quot;}"/>
          <p:cNvSpPr txBox="1"/>
          <p:nvPr/>
        </p:nvSpPr>
        <p:spPr>
          <a:xfrm rot="0" flipH="0" flipV="0">
            <a:off x="4076700" y="1724025"/>
            <a:ext cx="4048125" cy="219075"/>
          </a:xfrm>
          <a:prstGeom prst="rect"/>
        </p:spPr>
        <p:txBody>
          <a:bodyPr wrap="none" lIns="0" tIns="0" rIns="0" bIns="0"/>
          <a:p>
            <a:pPr>
              <a:lnSpc>
                <a:spcPct val="100000"/>
              </a:lnSpc>
            </a:pPr>
            <a:r>
              <a:rPr lang="en-US" sz="1425" spc="75">
                <a:solidFill>
                  <a:srgbClr val="8B97A8"/>
                </a:solidFill>
                <a:latin typeface="Microsoft YaHei"/>
                <a:ea typeface="Microsoft YaHei"/>
              </a:rPr>
              <a:t>THE DEFINITION WE USE THIS SEMESTER</a:t>
            </a:r>
            <a:endParaRPr/>
          </a:p>
        </p:txBody>
      </p:sp>
      <p:sp>
        <p:nvSpPr>
          <p:cNvPr id="23" name=""/>
          <p:cNvSpPr/>
          <p:nvPr/>
        </p:nvSpPr>
        <p:spPr>
          <a:xfrm rot="0" flipH="0" flipV="0">
            <a:off x="1676400" y="2019300"/>
            <a:ext cx="8896350" cy="1533525"/>
          </a:xfrm>
          <a:prstGeom prst="roundRect">
            <a:avLst>
              <a:gd name="adj" fmla="val 7453"/>
            </a:avLst>
          </a:prstGeom>
          <a:solidFill>
            <a:srgbClr val="F0F5FC"/>
          </a:solidFill>
          <a:ln/>
        </p:spPr>
        <p:txBody>
          <a:bodyPr/>
          <a:p/>
        </p:txBody>
      </p:sp>
      <p:sp>
        <p:nvSpPr>
          <p:cNvPr id="24" name=""/>
          <p:cNvSpPr/>
          <p:nvPr/>
        </p:nvSpPr>
        <p:spPr>
          <a:xfrm rot="0" flipH="0" flipV="0">
            <a:off x="1676400" y="2019300"/>
            <a:ext cx="8896350" cy="1533525"/>
          </a:xfrm>
          <a:custGeom>
            <a:pathLst>
              <a:path w="934" h="161">
                <a:moveTo>
                  <a:pt x="11" y="0"/>
                </a:moveTo>
                <a:cubicBezTo>
                  <a:pt x="8" y="0"/>
                  <a:pt x="6" y="3"/>
                  <a:pt x="6" y="6"/>
                </a:cubicBezTo>
                <a:lnTo>
                  <a:pt x="6" y="155"/>
                </a:lnTo>
                <a:cubicBezTo>
                  <a:pt x="6" y="158"/>
                  <a:pt x="8" y="160"/>
                  <a:pt x="11" y="161"/>
                </a:cubicBezTo>
                <a:cubicBezTo>
                  <a:pt x="5" y="160"/>
                  <a:pt x="0" y="155"/>
                  <a:pt x="0" y="149"/>
                </a:cubicBezTo>
                <a:lnTo>
                  <a:pt x="0" y="12"/>
                </a:lnTo>
                <a:cubicBezTo>
                  <a:pt x="0" y="5"/>
                  <a:pt x="5" y="0"/>
                  <a:pt x="12" y="0"/>
                </a:cubicBezTo>
                <a:close/>
              </a:path>
            </a:pathLst>
          </a:custGeom>
          <a:solidFill>
            <a:srgbClr val="1E4FA8"/>
          </a:solidFill>
          <a:ln/>
        </p:spPr>
        <p:txBody>
          <a:bodyPr/>
          <a:p/>
        </p:txBody>
      </p:sp>
      <p:sp>
        <p:nvSpPr>
          <p:cNvPr id="25" name="" descr="{&quot;isTemplate&quot;:true,&quot;type&quot;:&quot;text&quot;}"/>
          <p:cNvSpPr txBox="1"/>
          <p:nvPr/>
        </p:nvSpPr>
        <p:spPr>
          <a:xfrm rot="0" flipH="0" flipV="0">
            <a:off x="2438400" y="2343150"/>
            <a:ext cx="7381875" cy="885825"/>
          </a:xfrm>
          <a:prstGeom prst="rect"/>
        </p:spPr>
        <p:txBody>
          <a:bodyPr wrap="none" lIns="0" tIns="0" rIns="0" bIns="0"/>
          <a:p>
            <a:pPr algn="ctr">
              <a:lnSpc>
                <a:spcPct val="142000"/>
              </a:lnSpc>
            </a:pPr>
            <a:r>
              <a:rPr lang="en-US" sz="2025" b="1">
                <a:solidFill>
                  <a:srgbClr val="0E3F8C"/>
                </a:solidFill>
                <a:latin typeface="Microsoft YaHei"/>
                <a:ea typeface="Microsoft YaHei"/>
              </a:rPr>
              <a:t>A use case is a set of scenarios whose end is a</a:t>
            </a:r>
            <a:endParaRPr/>
          </a:p>
          <a:p>
            <a:pPr algn="ctr">
              <a:lnSpc>
                <a:spcPct val="142000"/>
              </a:lnSpc>
            </a:pPr>
            <a:r>
              <a:rPr lang="en-US" sz="2025" b="1">
                <a:solidFill>
                  <a:srgbClr val="0E3F8C"/>
                </a:solidFill>
                <a:latin typeface="Microsoft YaHei"/>
                <a:ea typeface="Microsoft YaHei"/>
              </a:rPr>
              <a:t>user goal — something the actor walks away saying “done”.</a:t>
            </a:r>
            <a:endParaRPr/>
          </a:p>
        </p:txBody>
      </p:sp>
      <p:sp>
        <p:nvSpPr>
          <p:cNvPr id="26" name="" descr="{&quot;isTemplate&quot;:true,&quot;type&quot;:&quot;text&quot;}"/>
          <p:cNvSpPr txBox="1"/>
          <p:nvPr/>
        </p:nvSpPr>
        <p:spPr>
          <a:xfrm rot="0" flipH="0" flipV="0">
            <a:off x="1619250" y="3667125"/>
            <a:ext cx="8953500" cy="238125"/>
          </a:xfrm>
          <a:prstGeom prst="rect"/>
        </p:spPr>
        <p:txBody>
          <a:bodyPr wrap="none" lIns="0" tIns="0" rIns="0" bIns="0"/>
          <a:p>
            <a:pPr algn="ctr">
              <a:lnSpc>
                <a:spcPct val="150000"/>
              </a:lnSpc>
            </a:pPr>
            <a:r>
              <a:rPr lang="en-US" sz="1013">
                <a:solidFill>
                  <a:srgbClr val="8B97A8"/>
                </a:solidFill>
                <a:latin typeface="Microsoft YaHei"/>
                <a:ea typeface="Microsoft YaHei"/>
              </a:rPr>
              <a:t>Cockburn’s definition. Three words carry the weight: scenarios, end, goal.</a:t>
            </a:r>
            <a:endParaRPr/>
          </a:p>
        </p:txBody>
      </p:sp>
      <p:sp>
        <p:nvSpPr>
          <p:cNvPr id="27" name=""/>
          <p:cNvSpPr/>
          <p:nvPr/>
        </p:nvSpPr>
        <p:spPr>
          <a:xfrm rot="0" flipH="0" flipV="0">
            <a:off x="1619250" y="4114800"/>
            <a:ext cx="2857500" cy="1905000"/>
          </a:xfrm>
          <a:prstGeom prst="roundRect">
            <a:avLst>
              <a:gd name="adj" fmla="val 5000"/>
            </a:avLst>
          </a:prstGeom>
          <a:solidFill>
            <a:srgbClr val="FFFFFF"/>
          </a:solidFill>
          <a:ln w="12700">
            <a:solidFill>
              <a:srgbClr val="D6DCE5"/>
            </a:solidFill>
            <a:prstDash val="solid"/>
          </a:ln>
        </p:spPr>
        <p:txBody>
          <a:bodyPr/>
          <a:p/>
        </p:txBody>
      </p:sp>
      <p:pic>
        <p:nvPicPr>
          <p:cNvPr id="28" name=""/>
          <p:cNvPicPr>
            <a:picLocks noChangeAspect="1"/>
          </p:cNvPicPr>
          <p:nvPr/>
        </p:nvPicPr>
        <p:blipFill>
          <a:blip>
            <a:extLst>
              <a:ext uri="{96DAC541-7B7A-43D3-8B79-37D633B846F1}">
                <asvg:svgBlip r:embed="rId1"/>
              </a:ext>
            </a:extLst>
          </a:blip>
          <a:stretch>
            <a:fillRect/>
          </a:stretch>
        </p:blipFill>
        <p:spPr>
          <a:xfrm rot="0" flipH="0" flipV="0">
            <a:off x="1809750" y="4324350"/>
            <a:ext cx="209550" cy="209550"/>
          </a:xfrm>
          <a:prstGeom prst="rect">
            <a:avLst/>
          </a:prstGeom>
          <a:ln/>
        </p:spPr>
      </p:pic>
      <p:sp>
        <p:nvSpPr>
          <p:cNvPr id="29" name="" descr="{&quot;isTemplate&quot;:true,&quot;type&quot;:&quot;text&quot;}"/>
          <p:cNvSpPr txBox="1"/>
          <p:nvPr/>
        </p:nvSpPr>
        <p:spPr>
          <a:xfrm rot="0" flipH="0" flipV="0">
            <a:off x="1809750" y="4629150"/>
            <a:ext cx="2476500" cy="200025"/>
          </a:xfrm>
          <a:prstGeom prst="rect"/>
        </p:spPr>
        <p:txBody>
          <a:bodyPr wrap="none" lIns="0" tIns="0" rIns="0" bIns="0"/>
          <a:p>
            <a:pPr>
              <a:lnSpc>
                <a:spcPct val="100000"/>
              </a:lnSpc>
            </a:pPr>
            <a:r>
              <a:rPr lang="en-US" sz="1275" b="1">
                <a:solidFill>
                  <a:srgbClr val="0E3F8C"/>
                </a:solidFill>
                <a:latin typeface="Microsoft YaHei"/>
                <a:ea typeface="Microsoft YaHei"/>
              </a:rPr>
              <a:t>It ends</a:t>
            </a:r>
            <a:endParaRPr/>
          </a:p>
        </p:txBody>
      </p:sp>
      <p:sp>
        <p:nvSpPr>
          <p:cNvPr id="30" name="" descr="{&quot;isTemplate&quot;:true,&quot;type&quot;:&quot;text&quot;}"/>
          <p:cNvSpPr txBox="1"/>
          <p:nvPr/>
        </p:nvSpPr>
        <p:spPr>
          <a:xfrm rot="0" flipH="0" flipV="0">
            <a:off x="1809750" y="4886325"/>
            <a:ext cx="2476500" cy="923925"/>
          </a:xfrm>
          <a:prstGeom prst="rect"/>
        </p:spPr>
        <p:txBody>
          <a:bodyPr wrap="square" lIns="0" tIns="0" rIns="0" bIns="0">
            <a:normAutofit/>
          </a:bodyPr>
          <a:p>
            <a:pPr>
              <a:lnSpc>
                <a:spcPct val="155000"/>
              </a:lnSpc>
            </a:pPr>
            <a:r>
              <a:rPr lang="en-US" sz="975">
                <a:solidFill>
                  <a:srgbClr val="4A5568"/>
                </a:solidFill>
                <a:latin typeface="Microsoft YaHei"/>
                <a:ea typeface="Microsoft YaHei"/>
              </a:rPr>
              <a:t>There is a state of the world where the actor stops and says “that is it”. If your use case never ends, you have modelled a process, not a goal.</a:t>
            </a:r>
            <a:endParaRPr/>
          </a:p>
        </p:txBody>
      </p:sp>
      <p:sp>
        <p:nvSpPr>
          <p:cNvPr id="31" name=""/>
          <p:cNvSpPr/>
          <p:nvPr/>
        </p:nvSpPr>
        <p:spPr>
          <a:xfrm rot="0" flipH="0" flipV="0">
            <a:off x="4667250" y="4114800"/>
            <a:ext cx="2857500" cy="1905000"/>
          </a:xfrm>
          <a:prstGeom prst="roundRect">
            <a:avLst>
              <a:gd name="adj" fmla="val 5000"/>
            </a:avLst>
          </a:prstGeom>
          <a:solidFill>
            <a:srgbClr val="FFFFFF"/>
          </a:solidFill>
          <a:ln w="12700">
            <a:solidFill>
              <a:srgbClr val="D6DCE5"/>
            </a:solidFill>
            <a:prstDash val="solid"/>
          </a:ln>
        </p:spPr>
        <p:txBody>
          <a:bodyPr/>
          <a:p/>
        </p:txBody>
      </p:sp>
      <p:pic>
        <p:nvPicPr>
          <p:cNvPr id="32" name=""/>
          <p:cNvPicPr>
            <a:picLocks noChangeAspect="1"/>
          </p:cNvPicPr>
          <p:nvPr/>
        </p:nvPicPr>
        <p:blipFill>
          <a:blip>
            <a:extLst>
              <a:ext uri="{96DAC541-7B7A-43D3-8B79-37D633B846F1}">
                <asvg:svgBlip r:embed="rId2"/>
              </a:ext>
            </a:extLst>
          </a:blip>
          <a:stretch>
            <a:fillRect/>
          </a:stretch>
        </p:blipFill>
        <p:spPr>
          <a:xfrm rot="0" flipH="0" flipV="0">
            <a:off x="4857750" y="4324350"/>
            <a:ext cx="209550" cy="209550"/>
          </a:xfrm>
          <a:prstGeom prst="rect">
            <a:avLst/>
          </a:prstGeom>
          <a:ln/>
        </p:spPr>
      </p:pic>
      <p:sp>
        <p:nvSpPr>
          <p:cNvPr id="33" name="" descr="{&quot;isTemplate&quot;:true,&quot;type&quot;:&quot;text&quot;}"/>
          <p:cNvSpPr txBox="1"/>
          <p:nvPr/>
        </p:nvSpPr>
        <p:spPr>
          <a:xfrm rot="0" flipH="0" flipV="0">
            <a:off x="4857750" y="4629150"/>
            <a:ext cx="2476500" cy="200025"/>
          </a:xfrm>
          <a:prstGeom prst="rect"/>
        </p:spPr>
        <p:txBody>
          <a:bodyPr wrap="none" lIns="0" tIns="0" rIns="0" bIns="0"/>
          <a:p>
            <a:pPr>
              <a:lnSpc>
                <a:spcPct val="100000"/>
              </a:lnSpc>
            </a:pPr>
            <a:r>
              <a:rPr lang="en-US" sz="1275" b="1">
                <a:solidFill>
                  <a:srgbClr val="0E3F8C"/>
                </a:solidFill>
                <a:latin typeface="Microsoft YaHei"/>
                <a:ea typeface="Microsoft YaHei"/>
              </a:rPr>
              <a:t>It belongs to one actor</a:t>
            </a:r>
            <a:endParaRPr/>
          </a:p>
        </p:txBody>
      </p:sp>
      <p:sp>
        <p:nvSpPr>
          <p:cNvPr id="34" name="" descr="{&quot;isTemplate&quot;:true,&quot;type&quot;:&quot;text&quot;}"/>
          <p:cNvSpPr txBox="1"/>
          <p:nvPr/>
        </p:nvSpPr>
        <p:spPr>
          <a:xfrm rot="0" flipH="0" flipV="0">
            <a:off x="4857750" y="4886325"/>
            <a:ext cx="2476500" cy="695325"/>
          </a:xfrm>
          <a:prstGeom prst="rect"/>
        </p:spPr>
        <p:txBody>
          <a:bodyPr wrap="square" lIns="0" tIns="0" rIns="0" bIns="0">
            <a:normAutofit/>
          </a:bodyPr>
          <a:p>
            <a:pPr>
              <a:lnSpc>
                <a:spcPct val="155000"/>
              </a:lnSpc>
            </a:pPr>
            <a:r>
              <a:rPr lang="en-US" sz="975">
                <a:solidFill>
                  <a:srgbClr val="4A5568"/>
                </a:solidFill>
                <a:latin typeface="Microsoft YaHei"/>
                <a:ea typeface="Microsoft YaHei"/>
              </a:rPr>
              <a:t>Exactly one primary actor owns the goal. Other actors may help, but only one of them is the reason the use case exists.</a:t>
            </a:r>
            <a:endParaRPr/>
          </a:p>
        </p:txBody>
      </p:sp>
      <p:sp>
        <p:nvSpPr>
          <p:cNvPr id="35" name=""/>
          <p:cNvSpPr/>
          <p:nvPr/>
        </p:nvSpPr>
        <p:spPr>
          <a:xfrm rot="0" flipH="0" flipV="0">
            <a:off x="7715250" y="4114800"/>
            <a:ext cx="2857500" cy="1905000"/>
          </a:xfrm>
          <a:prstGeom prst="roundRect">
            <a:avLst>
              <a:gd name="adj" fmla="val 5000"/>
            </a:avLst>
          </a:prstGeom>
          <a:solidFill>
            <a:srgbClr val="FFFFFF"/>
          </a:solidFill>
          <a:ln w="12700">
            <a:solidFill>
              <a:srgbClr val="D6DCE5"/>
            </a:solidFill>
            <a:prstDash val="solid"/>
          </a:ln>
        </p:spPr>
        <p:txBody>
          <a:bodyPr/>
          <a:p/>
        </p:txBody>
      </p:sp>
      <p:pic>
        <p:nvPicPr>
          <p:cNvPr id="36" name=""/>
          <p:cNvPicPr>
            <a:picLocks noChangeAspect="1"/>
          </p:cNvPicPr>
          <p:nvPr/>
        </p:nvPicPr>
        <p:blipFill>
          <a:blip>
            <a:extLst>
              <a:ext uri="{96DAC541-7B7A-43D3-8B79-37D633B846F1}">
                <asvg:svgBlip r:embed="rId3"/>
              </a:ext>
            </a:extLst>
          </a:blip>
          <a:stretch>
            <a:fillRect/>
          </a:stretch>
        </p:blipFill>
        <p:spPr>
          <a:xfrm rot="0" flipH="0" flipV="0">
            <a:off x="7905750" y="4324350"/>
            <a:ext cx="209550" cy="209550"/>
          </a:xfrm>
          <a:prstGeom prst="rect">
            <a:avLst/>
          </a:prstGeom>
          <a:ln/>
        </p:spPr>
      </p:pic>
      <p:sp>
        <p:nvSpPr>
          <p:cNvPr id="37" name="" descr="{&quot;isTemplate&quot;:true,&quot;type&quot;:&quot;text&quot;}"/>
          <p:cNvSpPr txBox="1"/>
          <p:nvPr/>
        </p:nvSpPr>
        <p:spPr>
          <a:xfrm rot="0" flipH="0" flipV="0">
            <a:off x="7905750" y="4629150"/>
            <a:ext cx="2476500" cy="200025"/>
          </a:xfrm>
          <a:prstGeom prst="rect"/>
        </p:spPr>
        <p:txBody>
          <a:bodyPr wrap="none" lIns="0" tIns="0" rIns="0" bIns="0"/>
          <a:p>
            <a:pPr>
              <a:lnSpc>
                <a:spcPct val="100000"/>
              </a:lnSpc>
            </a:pPr>
            <a:r>
              <a:rPr lang="en-US" sz="1275" b="1">
                <a:solidFill>
                  <a:srgbClr val="0E3F8C"/>
                </a:solidFill>
                <a:latin typeface="Microsoft YaHei"/>
                <a:ea typeface="Microsoft YaHei"/>
              </a:rPr>
              <a:t>It can fail, and still be one</a:t>
            </a:r>
            <a:endParaRPr/>
          </a:p>
        </p:txBody>
      </p:sp>
      <p:sp>
        <p:nvSpPr>
          <p:cNvPr id="38" name="" descr="{&quot;isTemplate&quot;:true,&quot;type&quot;:&quot;text&quot;}"/>
          <p:cNvSpPr txBox="1"/>
          <p:nvPr/>
        </p:nvSpPr>
        <p:spPr>
          <a:xfrm rot="0" flipH="0" flipV="0">
            <a:off x="7905750" y="4886325"/>
            <a:ext cx="2476500" cy="923925"/>
          </a:xfrm>
          <a:prstGeom prst="rect"/>
        </p:spPr>
        <p:txBody>
          <a:bodyPr wrap="square" lIns="0" tIns="0" rIns="0" bIns="0">
            <a:normAutofit/>
          </a:bodyPr>
          <a:p>
            <a:pPr>
              <a:lnSpc>
                <a:spcPct val="155000"/>
              </a:lnSpc>
            </a:pPr>
            <a:r>
              <a:rPr lang="en-US" sz="975">
                <a:solidFill>
                  <a:srgbClr val="4A5568"/>
                </a:solidFill>
                <a:latin typeface="Microsoft YaHei"/>
                <a:ea typeface="Microsoft YaHei"/>
              </a:rPr>
              <a:t>“Pay for order” stays one use case whether the card clears or is declined. Success and failure are scenarios inside it — not separate use cases.</a:t>
            </a:r>
            <a:endParaRPr/>
          </a:p>
        </p:txBody>
      </p:sp>
      <p:sp>
        <p:nvSpPr>
          <p:cNvPr id="39" name=""/>
          <p:cNvSpPr/>
          <p:nvPr/>
        </p:nvSpPr>
        <p:spPr>
          <a:xfrm rot="0" flipH="0" flipV="0">
            <a:off x="0" y="6419850"/>
            <a:ext cx="12192000" cy="438150"/>
          </a:xfrm>
          <a:prstGeom prst="rect">
            <a:avLst/>
          </a:prstGeom>
          <a:solidFill>
            <a:srgbClr val="0E3F8C"/>
          </a:solidFill>
          <a:ln/>
        </p:spPr>
        <p:txBody>
          <a:bodyPr/>
          <a:p/>
        </p:txBody>
      </p:sp>
      <p:sp>
        <p:nvSpPr>
          <p:cNvPr id="40" name="" descr="{&quot;isTemplate&quot;:true,&quot;type&quot;:&quot;text&quot;}"/>
          <p:cNvSpPr txBox="1"/>
          <p:nvPr/>
        </p:nvSpPr>
        <p:spPr>
          <a:xfrm rot="0" flipH="0" flipV="0">
            <a:off x="2657475" y="6543675"/>
            <a:ext cx="6886575" cy="190500"/>
          </a:xfrm>
          <a:prstGeom prst="rect"/>
        </p:spPr>
        <p:txBody>
          <a:bodyPr wrap="none" lIns="0" tIns="0" rIns="0" bIns="0"/>
          <a:p>
            <a:pPr>
              <a:lnSpc>
                <a:spcPct val="100000"/>
              </a:lnSpc>
            </a:pPr>
            <a:r>
              <a:rPr lang="en-US" sz="1200" b="1">
                <a:solidFill>
                  <a:srgbClr val="FFFFFF"/>
                </a:solidFill>
                <a:latin typeface="Microsoft YaHei"/>
                <a:ea typeface="Microsoft YaHei"/>
              </a:rPr>
              <a:t>Ask “what does the actor get out of this?” — if the answer is “nothing yet”, it is not a use case.</a:t>
            </a:r>
            <a:endParaRPr/>
          </a:p>
        </p:txBody>
      </p:sp>
    </p:spTree>
  </p:cSld>
</p:sld>
</file>

<file path=ppt/slides/slide11.xml><?xml version="1.0" encoding="utf-8"?>
<p:sld xmlns:asvg="http://schemas.microsoft.com/office/drawing/2016/SVG/main" xmlns:a="http://schemas.openxmlformats.org/drawingml/2006/main" xmlns:r="http://schemas.openxmlformats.org/officeDocument/2006/relationships" xmlns:p="http://schemas.openxmlformats.org/presentationml/2006/main" xmlns:mc="http://schemas.openxmlformats.org/markup-compatibility/2006" mc:Ignorable="asvg">
  <p:cSld>
    <p:spTree>
      <p:nvGrpSpPr>
        <p:cNvPr id="41" name="" descr="&lt;Slide style={{ background: '#FFFFFF', padding: 0 }}&gt;&#10;  &lt;Box style={{ height: 72, background: '#1E4FA8', padding: '0 40px', flexDirection: 'row', alignItems: 'center', justifyContent: 'space-between' }}&gt;&#10;    &lt;Text style={{ fontSize: 15, color: '#B9CDF0', letterSpacing: 1 }}&gt;ISAD · INFORMATION SYSTEMS ANALYSIS &amp;amp; DESIGN&lt;/Text&gt;&#10;    &lt;Text style={{ fontSize: 15, color: '#B9CDF0' }}&gt;W04 · ACTORS &amp;amp; GOALS&lt;/Text&gt;&#10;  &lt;/Box&gt;&#10;  &lt;Box style={{ padding: '14px 40px 0 40px', flexDirection: 'row', alignItems: 'center', justifyContent: 'space-between' }}&gt;&#10;    &lt;Text style={{ fontSize: 29, fontWeight: 'bold', color: '#0E3F8C' }}&gt;The CRUD Trap&lt;/Text&gt;&#10;    &lt;Text style={{ fontSize: 14, color: '#1E4FA8', fontWeight: 'bold' }}&gt;11 / 38&lt;/Text&gt;&#10;  &lt;/Box&gt;&#10;  &lt;Box style={{ flex: 1, padding: '12px 40px 0 40px', flexDirection: 'row', gap: 22 }}&gt;&#10;    &lt;Box style={{ flex: 1, flexDirection: 'column' }}&gt;&#10;      &lt;Box style={{ flexDirection: 'row', alignItems: 'center', gap: 9, marginBottom: 10 }}&gt;&#10;        &lt;FAIcon name='times-circle' style={{ fill: '#D9534F', width: 20, height: 20 }} /&gt;&#10;        &lt;Text style={{ fontSize: 17, fontWeight: 'bold', color: '#D9534F' }}&gt;Data-centred — four “use cases”&lt;/Text&gt;&#10;      &lt;/Box&gt;&#10;      {[&#10;        ['Manage Order', 'Create / Read / Update / Delete, all in one'],&#10;        ['Maintain Menu', 'Who wants this? Nobody gets up for it'],&#10;        ['Maintain Customer', 'No goal. No end. Just a table'],&#10;        ['Administer System', 'A screen name, not a user goal'],&#10;      ].map((r) =&gt; (&#10;        &lt;Box key={r[0]} style={{ padding: '14px 16px', background: '#FDF3F3', borderRadius: 9, borderLeft: '3px solid #D9534F', marginBottom: 9 }}&gt;&#10;          &lt;Text style={{ fontSize: 15, fontWeight: 'bold', color: '#1A2230' }}&gt;{r[0]}&lt;/Text&gt;&#10;          &lt;Text style={{ fontSize: 12.5, color: '#4A5568', lineHeight: 1.5, marginTop: 3 }}&gt;{r[1]}&lt;/Text&gt;&#10;        &lt;/Box&gt;&#10;      ))}&#10;    &lt;/Box&gt;&#10;    &lt;Box style={{ width: 34, justifyContent: 'center', alignItems: 'center' }}&gt;&#10;      &lt;FAIcon name='long-arrow-alt-right' style={{ fill: '#3D7BD9', width: 26, height: 26 }} /&gt;&#10;    &lt;/Box&gt;&#10;    &lt;Box style={{ flex: 1, flexDirection: 'column' }}&gt;&#10;      &lt;Box style={{ flexDirection: 'row', alignItems: 'center', gap: 9, marginBottom: 10 }}&gt;&#10;        &lt;FAIcon name='check-circle' style={{ fill: '#1E4FA8', width: 20, height: 20 }} /&gt;&#10;        &lt;Text style={{ fontSize: 17, fontWeight: 'bold', color: '#1E4FA8' }}&gt;Goal-centred — what people want&lt;/Text&gt;&#10;      &lt;/Box&gt;&#10;      {[&#10;        ['Place Order', 'Student · ends when the order is accepted'],&#10;        ['Cancel Order', 'Student · ends when the refund is issued'],&#10;        ['Manage Today’s Menu', 'Restaurant Manager · ends when the menu is live'],&#10;        ['Dispatch Courier', 'Dispatcher · ends when a rider is assigned'],&#10;      ].map((r) =&gt; (&#10;        &lt;Box key={r[0]} style={{ padding: '14px 16px', background: '#F0F5FC', borderRadius: 9, borderLeft: '3px solid #1E4FA8', marginBottom: 9 }}&gt;&#10;          &lt;Text style={{ fontSize: 15, fontWeight: 'bold', color: '#1A2230' }}&gt;{r[0]}&lt;/Text&gt;&#10;          &lt;Text style={{ fontSize: 12.5, color: '#4A5568', lineHeight: 1.5, marginTop: 3 }}&gt;{r[1]}&lt;/Text&gt;&#10;        &lt;/Box&gt;&#10;      ))}&#10;    &lt;/Box&gt;&#10;  &lt;/Box&gt;&#10;  &lt;Box style={{ height: 46, background: '#0E3F8C', padding: '0 40px', flexDirection: 'row', alignItems: 'center', justifyContent: 'center' }}&gt;&#10;    &lt;Text style={{ fontSize: 16, color: '#FFFFFF', fontWeight: '600' }}&gt;“Manage X” is a database table with a verb glued on. Ask who wakes up wanting it.&lt;/Text&gt;&#10;  &lt;/Box&gt;&#10;&lt;/Slide&gt;"/>
        <p:cNvGrpSpPr/>
        <p:nvPr/>
      </p:nvGrpSpPr>
      <p:grpSpPr>
        <a:xfrm>
          <a:off x="0" y="0"/>
          <a:ext cx="0" cy="0"/>
          <a:chOff x="0" y="0"/>
          <a:chExt cx="0" cy="0"/>
        </a:xfrm>
      </p:grpSpPr>
      <p:sp>
        <p:nvSpPr>
          <p:cNvPr id="42" name=""/>
          <p:cNvSpPr/>
          <p:nvPr/>
        </p:nvSpPr>
        <p:spPr>
          <a:xfrm rot="0" flipH="0" flipV="0">
            <a:off x="0" y="0"/>
            <a:ext cx="12192000" cy="6858000"/>
          </a:xfrm>
          <a:prstGeom prst="rect">
            <a:avLst/>
          </a:prstGeom>
          <a:solidFill>
            <a:srgbClr val="FFFFFF"/>
          </a:solidFill>
          <a:ln/>
        </p:spPr>
        <p:txBody>
          <a:bodyPr/>
          <a:p/>
        </p:txBody>
      </p:sp>
      <p:sp>
        <p:nvSpPr>
          <p:cNvPr id="43" name=""/>
          <p:cNvSpPr/>
          <p:nvPr/>
        </p:nvSpPr>
        <p:spPr>
          <a:xfrm rot="0" flipH="0" flipV="0">
            <a:off x="0" y="0"/>
            <a:ext cx="12192000" cy="685800"/>
          </a:xfrm>
          <a:prstGeom prst="rect">
            <a:avLst/>
          </a:prstGeom>
          <a:solidFill>
            <a:srgbClr val="1E4FA8"/>
          </a:solidFill>
          <a:ln/>
        </p:spPr>
        <p:txBody>
          <a:bodyPr/>
          <a:p/>
        </p:txBody>
      </p:sp>
      <p:sp>
        <p:nvSpPr>
          <p:cNvPr id="44" name="" descr="{&quot;isTemplate&quot;:true,&quot;type&quot;:&quot;text&quot;}"/>
          <p:cNvSpPr txBox="1"/>
          <p:nvPr/>
        </p:nvSpPr>
        <p:spPr>
          <a:xfrm rot="0" flipH="0" flipV="0">
            <a:off x="381000" y="257175"/>
            <a:ext cx="4067175" cy="171450"/>
          </a:xfrm>
          <a:prstGeom prst="rect"/>
        </p:spPr>
        <p:txBody>
          <a:bodyPr wrap="none" lIns="0" tIns="0" rIns="0" bIns="0"/>
          <a:p>
            <a:pPr>
              <a:lnSpc>
                <a:spcPct val="100000"/>
              </a:lnSpc>
            </a:pPr>
            <a:r>
              <a:rPr lang="en-US" sz="1125" spc="75">
                <a:solidFill>
                  <a:srgbClr val="B9CDF0"/>
                </a:solidFill>
                <a:latin typeface="Microsoft YaHei"/>
                <a:ea typeface="Microsoft YaHei"/>
              </a:rPr>
              <a:t>ISAD · INFORMATION SYSTEMS ANALYSIS &amp; DESIGN</a:t>
            </a:r>
            <a:endParaRPr/>
          </a:p>
        </p:txBody>
      </p:sp>
      <p:sp>
        <p:nvSpPr>
          <p:cNvPr id="45" name="" descr="{&quot;isTemplate&quot;:true,&quot;type&quot;:&quot;text&quot;}"/>
          <p:cNvSpPr txBox="1"/>
          <p:nvPr/>
        </p:nvSpPr>
        <p:spPr>
          <a:xfrm rot="0" flipH="0" flipV="0">
            <a:off x="10125075" y="257175"/>
            <a:ext cx="1685925" cy="171450"/>
          </a:xfrm>
          <a:prstGeom prst="rect"/>
        </p:spPr>
        <p:txBody>
          <a:bodyPr wrap="none" lIns="0" tIns="0" rIns="0" bIns="0"/>
          <a:p>
            <a:pPr>
              <a:lnSpc>
                <a:spcPct val="100000"/>
              </a:lnSpc>
            </a:pPr>
            <a:r>
              <a:rPr lang="en-US" sz="1125">
                <a:solidFill>
                  <a:srgbClr val="B9CDF0"/>
                </a:solidFill>
                <a:latin typeface="Microsoft YaHei"/>
                <a:ea typeface="Microsoft YaHei"/>
              </a:rPr>
              <a:t>W04 · ACTORS &amp; GOALS</a:t>
            </a:r>
            <a:endParaRPr/>
          </a:p>
        </p:txBody>
      </p:sp>
      <p:sp>
        <p:nvSpPr>
          <p:cNvPr id="46" name="" descr="{&quot;isTemplate&quot;:true,&quot;type&quot;:&quot;text&quot;}"/>
          <p:cNvSpPr txBox="1"/>
          <p:nvPr/>
        </p:nvSpPr>
        <p:spPr>
          <a:xfrm rot="0" flipH="0" flipV="0">
            <a:off x="381000" y="819150"/>
            <a:ext cx="2028825" cy="333375"/>
          </a:xfrm>
          <a:prstGeom prst="rect"/>
        </p:spPr>
        <p:txBody>
          <a:bodyPr wrap="none" lIns="0" tIns="0" rIns="0" bIns="0"/>
          <a:p>
            <a:pPr>
              <a:lnSpc>
                <a:spcPct val="100000"/>
              </a:lnSpc>
            </a:pPr>
            <a:r>
              <a:rPr lang="en-US" sz="2175" b="1">
                <a:solidFill>
                  <a:srgbClr val="0E3F8C"/>
                </a:solidFill>
                <a:latin typeface="Microsoft YaHei"/>
                <a:ea typeface="Microsoft YaHei"/>
              </a:rPr>
              <a:t>The CRUD Trap</a:t>
            </a:r>
            <a:endParaRPr/>
          </a:p>
        </p:txBody>
      </p:sp>
      <p:sp>
        <p:nvSpPr>
          <p:cNvPr id="47" name="" descr="{&quot;isTemplate&quot;:true,&quot;type&quot;:&quot;text&quot;}"/>
          <p:cNvSpPr txBox="1"/>
          <p:nvPr/>
        </p:nvSpPr>
        <p:spPr>
          <a:xfrm rot="0" flipH="0" flipV="0">
            <a:off x="11401425" y="904875"/>
            <a:ext cx="409575" cy="161925"/>
          </a:xfrm>
          <a:prstGeom prst="rect"/>
        </p:spPr>
        <p:txBody>
          <a:bodyPr wrap="none" lIns="0" tIns="0" rIns="0" bIns="0"/>
          <a:p>
            <a:pPr>
              <a:lnSpc>
                <a:spcPct val="100000"/>
              </a:lnSpc>
            </a:pPr>
            <a:r>
              <a:rPr lang="en-US" sz="1050" b="1">
                <a:solidFill>
                  <a:srgbClr val="1E4FA8"/>
                </a:solidFill>
                <a:latin typeface="Microsoft YaHei"/>
                <a:ea typeface="Microsoft YaHei"/>
              </a:rPr>
              <a:t>11 / 38</a:t>
            </a:r>
            <a:endParaRPr/>
          </a:p>
        </p:txBody>
      </p:sp>
      <p:pic>
        <p:nvPicPr>
          <p:cNvPr id="48" name=""/>
          <p:cNvPicPr>
            <a:picLocks noChangeAspect="1"/>
          </p:cNvPicPr>
          <p:nvPr/>
        </p:nvPicPr>
        <p:blipFill>
          <a:blip>
            <a:extLst>
              <a:ext uri="{96DAC541-7B7A-43D3-8B79-37D633B846F1}">
                <asvg:svgBlip r:embed="rId1"/>
              </a:ext>
            </a:extLst>
          </a:blip>
          <a:stretch>
            <a:fillRect/>
          </a:stretch>
        </p:blipFill>
        <p:spPr>
          <a:xfrm rot="0" flipH="0" flipV="0">
            <a:off x="381000" y="1276350"/>
            <a:ext cx="190500" cy="190500"/>
          </a:xfrm>
          <a:prstGeom prst="rect">
            <a:avLst/>
          </a:prstGeom>
          <a:ln/>
        </p:spPr>
      </p:pic>
      <p:sp>
        <p:nvSpPr>
          <p:cNvPr id="49" name="" descr="{&quot;isTemplate&quot;:true,&quot;type&quot;:&quot;text&quot;}"/>
          <p:cNvSpPr txBox="1"/>
          <p:nvPr/>
        </p:nvSpPr>
        <p:spPr>
          <a:xfrm rot="0" flipH="0" flipV="0">
            <a:off x="657225" y="1266825"/>
            <a:ext cx="2543175" cy="200025"/>
          </a:xfrm>
          <a:prstGeom prst="rect"/>
        </p:spPr>
        <p:txBody>
          <a:bodyPr wrap="none" lIns="0" tIns="0" rIns="0" bIns="0"/>
          <a:p>
            <a:pPr>
              <a:lnSpc>
                <a:spcPct val="100000"/>
              </a:lnSpc>
            </a:pPr>
            <a:r>
              <a:rPr lang="en-US" sz="1275" b="1">
                <a:solidFill>
                  <a:srgbClr val="D9534F"/>
                </a:solidFill>
                <a:latin typeface="Microsoft YaHei"/>
                <a:ea typeface="Microsoft YaHei"/>
              </a:rPr>
              <a:t>Data-centred — four “use cases”</a:t>
            </a:r>
            <a:endParaRPr/>
          </a:p>
        </p:txBody>
      </p:sp>
      <p:sp>
        <p:nvSpPr>
          <p:cNvPr id="50" name=""/>
          <p:cNvSpPr/>
          <p:nvPr/>
        </p:nvSpPr>
        <p:spPr>
          <a:xfrm rot="0" flipH="0" flipV="0">
            <a:off x="409575" y="1562100"/>
            <a:ext cx="5343525" cy="685800"/>
          </a:xfrm>
          <a:prstGeom prst="roundRect">
            <a:avLst>
              <a:gd name="adj" fmla="val 12500"/>
            </a:avLst>
          </a:prstGeom>
          <a:solidFill>
            <a:srgbClr val="FDF3F3"/>
          </a:solidFill>
          <a:ln/>
        </p:spPr>
        <p:txBody>
          <a:bodyPr/>
          <a:p/>
        </p:txBody>
      </p:sp>
      <p:sp>
        <p:nvSpPr>
          <p:cNvPr id="51" name=""/>
          <p:cNvSpPr/>
          <p:nvPr/>
        </p:nvSpPr>
        <p:spPr>
          <a:xfrm rot="0" flipH="0" flipV="0">
            <a:off x="409575" y="1562100"/>
            <a:ext cx="5343525" cy="685800"/>
          </a:xfrm>
          <a:custGeom>
            <a:pathLst>
              <a:path w="561" h="72">
                <a:moveTo>
                  <a:pt x="8" y="0"/>
                </a:moveTo>
                <a:cubicBezTo>
                  <a:pt x="5" y="0"/>
                  <a:pt x="3" y="3"/>
                  <a:pt x="3" y="6"/>
                </a:cubicBezTo>
                <a:lnTo>
                  <a:pt x="3" y="66"/>
                </a:lnTo>
                <a:cubicBezTo>
                  <a:pt x="3" y="69"/>
                  <a:pt x="5" y="71"/>
                  <a:pt x="8" y="72"/>
                </a:cubicBezTo>
                <a:cubicBezTo>
                  <a:pt x="3" y="71"/>
                  <a:pt x="0" y="67"/>
                  <a:pt x="0" y="63"/>
                </a:cubicBezTo>
                <a:lnTo>
                  <a:pt x="0" y="9"/>
                </a:lnTo>
                <a:cubicBezTo>
                  <a:pt x="0" y="4"/>
                  <a:pt x="4" y="0"/>
                  <a:pt x="9" y="0"/>
                </a:cubicBezTo>
                <a:close/>
              </a:path>
            </a:pathLst>
          </a:custGeom>
          <a:solidFill>
            <a:srgbClr val="D9534F"/>
          </a:solidFill>
          <a:ln/>
        </p:spPr>
        <p:txBody>
          <a:bodyPr/>
          <a:p/>
        </p:txBody>
      </p:sp>
      <p:sp>
        <p:nvSpPr>
          <p:cNvPr id="52" name="" descr="{&quot;isTemplate&quot;:true,&quot;type&quot;:&quot;text&quot;}"/>
          <p:cNvSpPr txBox="1"/>
          <p:nvPr/>
        </p:nvSpPr>
        <p:spPr>
          <a:xfrm rot="0" flipH="0" flipV="0">
            <a:off x="561975" y="1695450"/>
            <a:ext cx="5010150" cy="171450"/>
          </a:xfrm>
          <a:prstGeom prst="rect"/>
        </p:spPr>
        <p:txBody>
          <a:bodyPr wrap="none" lIns="0" tIns="0" rIns="0" bIns="0"/>
          <a:p>
            <a:pPr>
              <a:lnSpc>
                <a:spcPct val="100000"/>
              </a:lnSpc>
            </a:pPr>
            <a:r>
              <a:rPr lang="en-US" sz="1125" b="1">
                <a:solidFill>
                  <a:srgbClr val="1A2230"/>
                </a:solidFill>
                <a:latin typeface="Microsoft YaHei"/>
                <a:ea typeface="Microsoft YaHei"/>
              </a:rPr>
              <a:t>Manage Order</a:t>
            </a:r>
            <a:endParaRPr/>
          </a:p>
        </p:txBody>
      </p:sp>
      <p:sp>
        <p:nvSpPr>
          <p:cNvPr id="53" name="" descr="{&quot;isTemplate&quot;:true,&quot;type&quot;:&quot;text&quot;}"/>
          <p:cNvSpPr txBox="1"/>
          <p:nvPr/>
        </p:nvSpPr>
        <p:spPr>
          <a:xfrm rot="0" flipH="0" flipV="0">
            <a:off x="561975" y="1895475"/>
            <a:ext cx="5010150" cy="219075"/>
          </a:xfrm>
          <a:prstGeom prst="rect"/>
        </p:spPr>
        <p:txBody>
          <a:bodyPr wrap="none" lIns="0" tIns="0" rIns="0" bIns="0"/>
          <a:p>
            <a:pPr>
              <a:lnSpc>
                <a:spcPct val="150000"/>
              </a:lnSpc>
            </a:pPr>
            <a:r>
              <a:rPr lang="en-US" sz="938">
                <a:solidFill>
                  <a:srgbClr val="4A5568"/>
                </a:solidFill>
                <a:latin typeface="Microsoft YaHei"/>
                <a:ea typeface="Microsoft YaHei"/>
              </a:rPr>
              <a:t>Create / Read / Update / Delete, all in one</a:t>
            </a:r>
            <a:endParaRPr/>
          </a:p>
        </p:txBody>
      </p:sp>
      <p:sp>
        <p:nvSpPr>
          <p:cNvPr id="54" name=""/>
          <p:cNvSpPr/>
          <p:nvPr/>
        </p:nvSpPr>
        <p:spPr>
          <a:xfrm rot="0" flipH="0" flipV="0">
            <a:off x="409575" y="2333625"/>
            <a:ext cx="5343525" cy="685800"/>
          </a:xfrm>
          <a:prstGeom prst="roundRect">
            <a:avLst>
              <a:gd name="adj" fmla="val 12500"/>
            </a:avLst>
          </a:prstGeom>
          <a:solidFill>
            <a:srgbClr val="FDF3F3"/>
          </a:solidFill>
          <a:ln/>
        </p:spPr>
        <p:txBody>
          <a:bodyPr/>
          <a:p/>
        </p:txBody>
      </p:sp>
      <p:sp>
        <p:nvSpPr>
          <p:cNvPr id="55" name=""/>
          <p:cNvSpPr/>
          <p:nvPr/>
        </p:nvSpPr>
        <p:spPr>
          <a:xfrm rot="0" flipH="0" flipV="0">
            <a:off x="409575" y="2333625"/>
            <a:ext cx="5343525" cy="685800"/>
          </a:xfrm>
          <a:custGeom>
            <a:pathLst>
              <a:path w="561" h="72">
                <a:moveTo>
                  <a:pt x="8" y="0"/>
                </a:moveTo>
                <a:cubicBezTo>
                  <a:pt x="5" y="0"/>
                  <a:pt x="3" y="3"/>
                  <a:pt x="3" y="6"/>
                </a:cubicBezTo>
                <a:lnTo>
                  <a:pt x="3" y="66"/>
                </a:lnTo>
                <a:cubicBezTo>
                  <a:pt x="3" y="69"/>
                  <a:pt x="5" y="71"/>
                  <a:pt x="8" y="72"/>
                </a:cubicBezTo>
                <a:cubicBezTo>
                  <a:pt x="3" y="71"/>
                  <a:pt x="0" y="67"/>
                  <a:pt x="0" y="63"/>
                </a:cubicBezTo>
                <a:lnTo>
                  <a:pt x="0" y="9"/>
                </a:lnTo>
                <a:cubicBezTo>
                  <a:pt x="0" y="4"/>
                  <a:pt x="4" y="0"/>
                  <a:pt x="9" y="0"/>
                </a:cubicBezTo>
                <a:close/>
              </a:path>
            </a:pathLst>
          </a:custGeom>
          <a:solidFill>
            <a:srgbClr val="D9534F"/>
          </a:solidFill>
          <a:ln/>
        </p:spPr>
        <p:txBody>
          <a:bodyPr/>
          <a:p/>
        </p:txBody>
      </p:sp>
      <p:sp>
        <p:nvSpPr>
          <p:cNvPr id="56" name="" descr="{&quot;isTemplate&quot;:true,&quot;type&quot;:&quot;text&quot;}"/>
          <p:cNvSpPr txBox="1"/>
          <p:nvPr/>
        </p:nvSpPr>
        <p:spPr>
          <a:xfrm rot="0" flipH="0" flipV="0">
            <a:off x="561975" y="2466975"/>
            <a:ext cx="5010150" cy="171450"/>
          </a:xfrm>
          <a:prstGeom prst="rect"/>
        </p:spPr>
        <p:txBody>
          <a:bodyPr wrap="none" lIns="0" tIns="0" rIns="0" bIns="0"/>
          <a:p>
            <a:pPr>
              <a:lnSpc>
                <a:spcPct val="100000"/>
              </a:lnSpc>
            </a:pPr>
            <a:r>
              <a:rPr lang="en-US" sz="1125" b="1">
                <a:solidFill>
                  <a:srgbClr val="1A2230"/>
                </a:solidFill>
                <a:latin typeface="Microsoft YaHei"/>
                <a:ea typeface="Microsoft YaHei"/>
              </a:rPr>
              <a:t>Maintain Menu</a:t>
            </a:r>
            <a:endParaRPr/>
          </a:p>
        </p:txBody>
      </p:sp>
      <p:sp>
        <p:nvSpPr>
          <p:cNvPr id="57" name="" descr="{&quot;isTemplate&quot;:true,&quot;type&quot;:&quot;text&quot;}"/>
          <p:cNvSpPr txBox="1"/>
          <p:nvPr/>
        </p:nvSpPr>
        <p:spPr>
          <a:xfrm rot="0" flipH="0" flipV="0">
            <a:off x="561975" y="2667000"/>
            <a:ext cx="5010150" cy="219075"/>
          </a:xfrm>
          <a:prstGeom prst="rect"/>
        </p:spPr>
        <p:txBody>
          <a:bodyPr wrap="none" lIns="0" tIns="0" rIns="0" bIns="0"/>
          <a:p>
            <a:pPr>
              <a:lnSpc>
                <a:spcPct val="150000"/>
              </a:lnSpc>
            </a:pPr>
            <a:r>
              <a:rPr lang="en-US" sz="938">
                <a:solidFill>
                  <a:srgbClr val="4A5568"/>
                </a:solidFill>
                <a:latin typeface="Microsoft YaHei"/>
                <a:ea typeface="Microsoft YaHei"/>
              </a:rPr>
              <a:t>Who wants this? Nobody gets up for it</a:t>
            </a:r>
            <a:endParaRPr/>
          </a:p>
        </p:txBody>
      </p:sp>
      <p:sp>
        <p:nvSpPr>
          <p:cNvPr id="58" name=""/>
          <p:cNvSpPr/>
          <p:nvPr/>
        </p:nvSpPr>
        <p:spPr>
          <a:xfrm rot="0" flipH="0" flipV="0">
            <a:off x="409575" y="3105150"/>
            <a:ext cx="5343525" cy="685800"/>
          </a:xfrm>
          <a:prstGeom prst="roundRect">
            <a:avLst>
              <a:gd name="adj" fmla="val 12500"/>
            </a:avLst>
          </a:prstGeom>
          <a:solidFill>
            <a:srgbClr val="FDF3F3"/>
          </a:solidFill>
          <a:ln/>
        </p:spPr>
        <p:txBody>
          <a:bodyPr/>
          <a:p/>
        </p:txBody>
      </p:sp>
      <p:sp>
        <p:nvSpPr>
          <p:cNvPr id="59" name=""/>
          <p:cNvSpPr/>
          <p:nvPr/>
        </p:nvSpPr>
        <p:spPr>
          <a:xfrm rot="0" flipH="0" flipV="0">
            <a:off x="409575" y="3105150"/>
            <a:ext cx="5343525" cy="685800"/>
          </a:xfrm>
          <a:custGeom>
            <a:pathLst>
              <a:path w="561" h="72">
                <a:moveTo>
                  <a:pt x="8" y="0"/>
                </a:moveTo>
                <a:cubicBezTo>
                  <a:pt x="5" y="0"/>
                  <a:pt x="3" y="3"/>
                  <a:pt x="3" y="6"/>
                </a:cubicBezTo>
                <a:lnTo>
                  <a:pt x="3" y="66"/>
                </a:lnTo>
                <a:cubicBezTo>
                  <a:pt x="3" y="69"/>
                  <a:pt x="5" y="71"/>
                  <a:pt x="8" y="72"/>
                </a:cubicBezTo>
                <a:cubicBezTo>
                  <a:pt x="3" y="71"/>
                  <a:pt x="0" y="67"/>
                  <a:pt x="0" y="63"/>
                </a:cubicBezTo>
                <a:lnTo>
                  <a:pt x="0" y="9"/>
                </a:lnTo>
                <a:cubicBezTo>
                  <a:pt x="0" y="4"/>
                  <a:pt x="4" y="0"/>
                  <a:pt x="9" y="0"/>
                </a:cubicBezTo>
                <a:close/>
              </a:path>
            </a:pathLst>
          </a:custGeom>
          <a:solidFill>
            <a:srgbClr val="D9534F"/>
          </a:solidFill>
          <a:ln/>
        </p:spPr>
        <p:txBody>
          <a:bodyPr/>
          <a:p/>
        </p:txBody>
      </p:sp>
      <p:sp>
        <p:nvSpPr>
          <p:cNvPr id="60" name="" descr="{&quot;isTemplate&quot;:true,&quot;type&quot;:&quot;text&quot;}"/>
          <p:cNvSpPr txBox="1"/>
          <p:nvPr/>
        </p:nvSpPr>
        <p:spPr>
          <a:xfrm rot="0" flipH="0" flipV="0">
            <a:off x="561975" y="3238500"/>
            <a:ext cx="5010150" cy="171450"/>
          </a:xfrm>
          <a:prstGeom prst="rect"/>
        </p:spPr>
        <p:txBody>
          <a:bodyPr wrap="none" lIns="0" tIns="0" rIns="0" bIns="0"/>
          <a:p>
            <a:pPr>
              <a:lnSpc>
                <a:spcPct val="100000"/>
              </a:lnSpc>
            </a:pPr>
            <a:r>
              <a:rPr lang="en-US" sz="1125" b="1">
                <a:solidFill>
                  <a:srgbClr val="1A2230"/>
                </a:solidFill>
                <a:latin typeface="Microsoft YaHei"/>
                <a:ea typeface="Microsoft YaHei"/>
              </a:rPr>
              <a:t>Maintain Customer</a:t>
            </a:r>
            <a:endParaRPr/>
          </a:p>
        </p:txBody>
      </p:sp>
      <p:sp>
        <p:nvSpPr>
          <p:cNvPr id="61" name="" descr="{&quot;isTemplate&quot;:true,&quot;type&quot;:&quot;text&quot;}"/>
          <p:cNvSpPr txBox="1"/>
          <p:nvPr/>
        </p:nvSpPr>
        <p:spPr>
          <a:xfrm rot="0" flipH="0" flipV="0">
            <a:off x="561975" y="3438525"/>
            <a:ext cx="5010150" cy="219075"/>
          </a:xfrm>
          <a:prstGeom prst="rect"/>
        </p:spPr>
        <p:txBody>
          <a:bodyPr wrap="none" lIns="0" tIns="0" rIns="0" bIns="0"/>
          <a:p>
            <a:pPr>
              <a:lnSpc>
                <a:spcPct val="150000"/>
              </a:lnSpc>
            </a:pPr>
            <a:r>
              <a:rPr lang="en-US" sz="938">
                <a:solidFill>
                  <a:srgbClr val="4A5568"/>
                </a:solidFill>
                <a:latin typeface="Microsoft YaHei"/>
                <a:ea typeface="Microsoft YaHei"/>
              </a:rPr>
              <a:t>No goal. No end. Just a table</a:t>
            </a:r>
            <a:endParaRPr/>
          </a:p>
        </p:txBody>
      </p:sp>
      <p:sp>
        <p:nvSpPr>
          <p:cNvPr id="62" name=""/>
          <p:cNvSpPr/>
          <p:nvPr/>
        </p:nvSpPr>
        <p:spPr>
          <a:xfrm rot="0" flipH="0" flipV="0">
            <a:off x="409575" y="3876675"/>
            <a:ext cx="5343525" cy="685800"/>
          </a:xfrm>
          <a:prstGeom prst="roundRect">
            <a:avLst>
              <a:gd name="adj" fmla="val 12500"/>
            </a:avLst>
          </a:prstGeom>
          <a:solidFill>
            <a:srgbClr val="FDF3F3"/>
          </a:solidFill>
          <a:ln/>
        </p:spPr>
        <p:txBody>
          <a:bodyPr/>
          <a:p/>
        </p:txBody>
      </p:sp>
      <p:sp>
        <p:nvSpPr>
          <p:cNvPr id="63" name=""/>
          <p:cNvSpPr/>
          <p:nvPr/>
        </p:nvSpPr>
        <p:spPr>
          <a:xfrm rot="0" flipH="0" flipV="0">
            <a:off x="409575" y="3876675"/>
            <a:ext cx="5343525" cy="685800"/>
          </a:xfrm>
          <a:custGeom>
            <a:pathLst>
              <a:path w="561" h="72">
                <a:moveTo>
                  <a:pt x="8" y="0"/>
                </a:moveTo>
                <a:cubicBezTo>
                  <a:pt x="5" y="0"/>
                  <a:pt x="3" y="3"/>
                  <a:pt x="3" y="6"/>
                </a:cubicBezTo>
                <a:lnTo>
                  <a:pt x="3" y="66"/>
                </a:lnTo>
                <a:cubicBezTo>
                  <a:pt x="3" y="69"/>
                  <a:pt x="5" y="71"/>
                  <a:pt x="8" y="72"/>
                </a:cubicBezTo>
                <a:cubicBezTo>
                  <a:pt x="3" y="71"/>
                  <a:pt x="0" y="67"/>
                  <a:pt x="0" y="63"/>
                </a:cubicBezTo>
                <a:lnTo>
                  <a:pt x="0" y="9"/>
                </a:lnTo>
                <a:cubicBezTo>
                  <a:pt x="0" y="4"/>
                  <a:pt x="4" y="0"/>
                  <a:pt x="9" y="0"/>
                </a:cubicBezTo>
                <a:close/>
              </a:path>
            </a:pathLst>
          </a:custGeom>
          <a:solidFill>
            <a:srgbClr val="D9534F"/>
          </a:solidFill>
          <a:ln/>
        </p:spPr>
        <p:txBody>
          <a:bodyPr/>
          <a:p/>
        </p:txBody>
      </p:sp>
      <p:sp>
        <p:nvSpPr>
          <p:cNvPr id="64" name="" descr="{&quot;isTemplate&quot;:true,&quot;type&quot;:&quot;text&quot;}"/>
          <p:cNvSpPr txBox="1"/>
          <p:nvPr/>
        </p:nvSpPr>
        <p:spPr>
          <a:xfrm rot="0" flipH="0" flipV="0">
            <a:off x="561975" y="4010025"/>
            <a:ext cx="5010150" cy="171450"/>
          </a:xfrm>
          <a:prstGeom prst="rect"/>
        </p:spPr>
        <p:txBody>
          <a:bodyPr wrap="none" lIns="0" tIns="0" rIns="0" bIns="0"/>
          <a:p>
            <a:pPr>
              <a:lnSpc>
                <a:spcPct val="100000"/>
              </a:lnSpc>
            </a:pPr>
            <a:r>
              <a:rPr lang="en-US" sz="1125" b="1">
                <a:solidFill>
                  <a:srgbClr val="1A2230"/>
                </a:solidFill>
                <a:latin typeface="Microsoft YaHei"/>
                <a:ea typeface="Microsoft YaHei"/>
              </a:rPr>
              <a:t>Administer System</a:t>
            </a:r>
            <a:endParaRPr/>
          </a:p>
        </p:txBody>
      </p:sp>
      <p:sp>
        <p:nvSpPr>
          <p:cNvPr id="65" name="" descr="{&quot;isTemplate&quot;:true,&quot;type&quot;:&quot;text&quot;}"/>
          <p:cNvSpPr txBox="1"/>
          <p:nvPr/>
        </p:nvSpPr>
        <p:spPr>
          <a:xfrm rot="0" flipH="0" flipV="0">
            <a:off x="561975" y="4210050"/>
            <a:ext cx="5010150" cy="219075"/>
          </a:xfrm>
          <a:prstGeom prst="rect"/>
        </p:spPr>
        <p:txBody>
          <a:bodyPr wrap="none" lIns="0" tIns="0" rIns="0" bIns="0"/>
          <a:p>
            <a:pPr>
              <a:lnSpc>
                <a:spcPct val="150000"/>
              </a:lnSpc>
            </a:pPr>
            <a:r>
              <a:rPr lang="en-US" sz="938">
                <a:solidFill>
                  <a:srgbClr val="4A5568"/>
                </a:solidFill>
                <a:latin typeface="Microsoft YaHei"/>
                <a:ea typeface="Microsoft YaHei"/>
              </a:rPr>
              <a:t>A screen name, not a user goal</a:t>
            </a:r>
            <a:endParaRPr/>
          </a:p>
        </p:txBody>
      </p:sp>
      <p:pic>
        <p:nvPicPr>
          <p:cNvPr id="66" name=""/>
          <p:cNvPicPr>
            <a:picLocks noChangeAspect="1"/>
          </p:cNvPicPr>
          <p:nvPr/>
        </p:nvPicPr>
        <p:blipFill>
          <a:blip>
            <a:extLst>
              <a:ext uri="{96DAC541-7B7A-43D3-8B79-37D633B846F1}">
                <asvg:svgBlip r:embed="rId2"/>
              </a:ext>
            </a:extLst>
          </a:blip>
          <a:stretch>
            <a:fillRect/>
          </a:stretch>
        </p:blipFill>
        <p:spPr>
          <a:xfrm rot="0" flipH="0" flipV="0">
            <a:off x="5972175" y="3724275"/>
            <a:ext cx="247650" cy="247650"/>
          </a:xfrm>
          <a:prstGeom prst="rect">
            <a:avLst/>
          </a:prstGeom>
          <a:ln/>
        </p:spPr>
      </p:pic>
      <p:pic>
        <p:nvPicPr>
          <p:cNvPr id="67" name=""/>
          <p:cNvPicPr>
            <a:picLocks noChangeAspect="1"/>
          </p:cNvPicPr>
          <p:nvPr/>
        </p:nvPicPr>
        <p:blipFill>
          <a:blip>
            <a:extLst>
              <a:ext uri="{96DAC541-7B7A-43D3-8B79-37D633B846F1}">
                <asvg:svgBlip r:embed="rId3"/>
              </a:ext>
            </a:extLst>
          </a:blip>
          <a:stretch>
            <a:fillRect/>
          </a:stretch>
        </p:blipFill>
        <p:spPr>
          <a:xfrm rot="0" flipH="0" flipV="0">
            <a:off x="6467475" y="1276350"/>
            <a:ext cx="190500" cy="190500"/>
          </a:xfrm>
          <a:prstGeom prst="rect">
            <a:avLst/>
          </a:prstGeom>
          <a:ln/>
        </p:spPr>
      </p:pic>
      <p:sp>
        <p:nvSpPr>
          <p:cNvPr id="68" name="" descr="{&quot;isTemplate&quot;:true,&quot;type&quot;:&quot;text&quot;}"/>
          <p:cNvSpPr txBox="1"/>
          <p:nvPr/>
        </p:nvSpPr>
        <p:spPr>
          <a:xfrm rot="0" flipH="0" flipV="0">
            <a:off x="6743700" y="1266825"/>
            <a:ext cx="2600325" cy="200025"/>
          </a:xfrm>
          <a:prstGeom prst="rect"/>
        </p:spPr>
        <p:txBody>
          <a:bodyPr wrap="none" lIns="0" tIns="0" rIns="0" bIns="0"/>
          <a:p>
            <a:pPr>
              <a:lnSpc>
                <a:spcPct val="100000"/>
              </a:lnSpc>
            </a:pPr>
            <a:r>
              <a:rPr lang="en-US" sz="1275" b="1">
                <a:solidFill>
                  <a:srgbClr val="1E4FA8"/>
                </a:solidFill>
                <a:latin typeface="Microsoft YaHei"/>
                <a:ea typeface="Microsoft YaHei"/>
              </a:rPr>
              <a:t>Goal-centred — what people want</a:t>
            </a:r>
            <a:endParaRPr/>
          </a:p>
        </p:txBody>
      </p:sp>
      <p:sp>
        <p:nvSpPr>
          <p:cNvPr id="69" name=""/>
          <p:cNvSpPr/>
          <p:nvPr/>
        </p:nvSpPr>
        <p:spPr>
          <a:xfrm rot="0" flipH="0" flipV="0">
            <a:off x="6496050" y="1562100"/>
            <a:ext cx="5343525" cy="685800"/>
          </a:xfrm>
          <a:prstGeom prst="roundRect">
            <a:avLst>
              <a:gd name="adj" fmla="val 12500"/>
            </a:avLst>
          </a:prstGeom>
          <a:solidFill>
            <a:srgbClr val="F0F5FC"/>
          </a:solidFill>
          <a:ln/>
        </p:spPr>
        <p:txBody>
          <a:bodyPr/>
          <a:p/>
        </p:txBody>
      </p:sp>
      <p:sp>
        <p:nvSpPr>
          <p:cNvPr id="70" name=""/>
          <p:cNvSpPr/>
          <p:nvPr/>
        </p:nvSpPr>
        <p:spPr>
          <a:xfrm rot="0" flipH="0" flipV="0">
            <a:off x="6496050" y="1562100"/>
            <a:ext cx="5343525" cy="685800"/>
          </a:xfrm>
          <a:custGeom>
            <a:pathLst>
              <a:path w="561" h="72">
                <a:moveTo>
                  <a:pt x="8" y="0"/>
                </a:moveTo>
                <a:cubicBezTo>
                  <a:pt x="5" y="0"/>
                  <a:pt x="3" y="3"/>
                  <a:pt x="3" y="6"/>
                </a:cubicBezTo>
                <a:lnTo>
                  <a:pt x="3" y="66"/>
                </a:lnTo>
                <a:cubicBezTo>
                  <a:pt x="3" y="69"/>
                  <a:pt x="5" y="71"/>
                  <a:pt x="8" y="72"/>
                </a:cubicBezTo>
                <a:cubicBezTo>
                  <a:pt x="3" y="71"/>
                  <a:pt x="0" y="67"/>
                  <a:pt x="0" y="63"/>
                </a:cubicBezTo>
                <a:lnTo>
                  <a:pt x="0" y="9"/>
                </a:lnTo>
                <a:cubicBezTo>
                  <a:pt x="0" y="4"/>
                  <a:pt x="4" y="0"/>
                  <a:pt x="9" y="0"/>
                </a:cubicBezTo>
                <a:close/>
              </a:path>
            </a:pathLst>
          </a:custGeom>
          <a:solidFill>
            <a:srgbClr val="1E4FA8"/>
          </a:solidFill>
          <a:ln/>
        </p:spPr>
        <p:txBody>
          <a:bodyPr/>
          <a:p/>
        </p:txBody>
      </p:sp>
      <p:sp>
        <p:nvSpPr>
          <p:cNvPr id="71" name="" descr="{&quot;isTemplate&quot;:true,&quot;type&quot;:&quot;text&quot;}"/>
          <p:cNvSpPr txBox="1"/>
          <p:nvPr/>
        </p:nvSpPr>
        <p:spPr>
          <a:xfrm rot="0" flipH="0" flipV="0">
            <a:off x="6648450" y="1695450"/>
            <a:ext cx="5010150" cy="171450"/>
          </a:xfrm>
          <a:prstGeom prst="rect"/>
        </p:spPr>
        <p:txBody>
          <a:bodyPr wrap="none" lIns="0" tIns="0" rIns="0" bIns="0"/>
          <a:p>
            <a:pPr>
              <a:lnSpc>
                <a:spcPct val="100000"/>
              </a:lnSpc>
            </a:pPr>
            <a:r>
              <a:rPr lang="en-US" sz="1125" b="1">
                <a:solidFill>
                  <a:srgbClr val="1A2230"/>
                </a:solidFill>
                <a:latin typeface="Microsoft YaHei"/>
                <a:ea typeface="Microsoft YaHei"/>
              </a:rPr>
              <a:t>Place Order</a:t>
            </a:r>
            <a:endParaRPr/>
          </a:p>
        </p:txBody>
      </p:sp>
      <p:sp>
        <p:nvSpPr>
          <p:cNvPr id="72" name="" descr="{&quot;isTemplate&quot;:true,&quot;type&quot;:&quot;text&quot;}"/>
          <p:cNvSpPr txBox="1"/>
          <p:nvPr/>
        </p:nvSpPr>
        <p:spPr>
          <a:xfrm rot="0" flipH="0" flipV="0">
            <a:off x="6648450" y="1895475"/>
            <a:ext cx="5010150" cy="219075"/>
          </a:xfrm>
          <a:prstGeom prst="rect"/>
        </p:spPr>
        <p:txBody>
          <a:bodyPr wrap="none" lIns="0" tIns="0" rIns="0" bIns="0"/>
          <a:p>
            <a:pPr>
              <a:lnSpc>
                <a:spcPct val="150000"/>
              </a:lnSpc>
            </a:pPr>
            <a:r>
              <a:rPr lang="en-US" sz="938">
                <a:solidFill>
                  <a:srgbClr val="4A5568"/>
                </a:solidFill>
                <a:latin typeface="Microsoft YaHei"/>
                <a:ea typeface="Microsoft YaHei"/>
              </a:rPr>
              <a:t>Student · ends when the order is accepted</a:t>
            </a:r>
            <a:endParaRPr/>
          </a:p>
        </p:txBody>
      </p:sp>
      <p:sp>
        <p:nvSpPr>
          <p:cNvPr id="73" name=""/>
          <p:cNvSpPr/>
          <p:nvPr/>
        </p:nvSpPr>
        <p:spPr>
          <a:xfrm rot="0" flipH="0" flipV="0">
            <a:off x="6496050" y="2333625"/>
            <a:ext cx="5343525" cy="685800"/>
          </a:xfrm>
          <a:prstGeom prst="roundRect">
            <a:avLst>
              <a:gd name="adj" fmla="val 12500"/>
            </a:avLst>
          </a:prstGeom>
          <a:solidFill>
            <a:srgbClr val="F0F5FC"/>
          </a:solidFill>
          <a:ln/>
        </p:spPr>
        <p:txBody>
          <a:bodyPr/>
          <a:p/>
        </p:txBody>
      </p:sp>
      <p:sp>
        <p:nvSpPr>
          <p:cNvPr id="74" name=""/>
          <p:cNvSpPr/>
          <p:nvPr/>
        </p:nvSpPr>
        <p:spPr>
          <a:xfrm rot="0" flipH="0" flipV="0">
            <a:off x="6496050" y="2333625"/>
            <a:ext cx="5343525" cy="685800"/>
          </a:xfrm>
          <a:custGeom>
            <a:pathLst>
              <a:path w="561" h="72">
                <a:moveTo>
                  <a:pt x="8" y="0"/>
                </a:moveTo>
                <a:cubicBezTo>
                  <a:pt x="5" y="0"/>
                  <a:pt x="3" y="3"/>
                  <a:pt x="3" y="6"/>
                </a:cubicBezTo>
                <a:lnTo>
                  <a:pt x="3" y="66"/>
                </a:lnTo>
                <a:cubicBezTo>
                  <a:pt x="3" y="69"/>
                  <a:pt x="5" y="71"/>
                  <a:pt x="8" y="72"/>
                </a:cubicBezTo>
                <a:cubicBezTo>
                  <a:pt x="3" y="71"/>
                  <a:pt x="0" y="67"/>
                  <a:pt x="0" y="63"/>
                </a:cubicBezTo>
                <a:lnTo>
                  <a:pt x="0" y="9"/>
                </a:lnTo>
                <a:cubicBezTo>
                  <a:pt x="0" y="4"/>
                  <a:pt x="4" y="0"/>
                  <a:pt x="9" y="0"/>
                </a:cubicBezTo>
                <a:close/>
              </a:path>
            </a:pathLst>
          </a:custGeom>
          <a:solidFill>
            <a:srgbClr val="1E4FA8"/>
          </a:solidFill>
          <a:ln/>
        </p:spPr>
        <p:txBody>
          <a:bodyPr/>
          <a:p/>
        </p:txBody>
      </p:sp>
      <p:sp>
        <p:nvSpPr>
          <p:cNvPr id="75" name="" descr="{&quot;isTemplate&quot;:true,&quot;type&quot;:&quot;text&quot;}"/>
          <p:cNvSpPr txBox="1"/>
          <p:nvPr/>
        </p:nvSpPr>
        <p:spPr>
          <a:xfrm rot="0" flipH="0" flipV="0">
            <a:off x="6648450" y="2466975"/>
            <a:ext cx="5010150" cy="171450"/>
          </a:xfrm>
          <a:prstGeom prst="rect"/>
        </p:spPr>
        <p:txBody>
          <a:bodyPr wrap="none" lIns="0" tIns="0" rIns="0" bIns="0"/>
          <a:p>
            <a:pPr>
              <a:lnSpc>
                <a:spcPct val="100000"/>
              </a:lnSpc>
            </a:pPr>
            <a:r>
              <a:rPr lang="en-US" sz="1125" b="1">
                <a:solidFill>
                  <a:srgbClr val="1A2230"/>
                </a:solidFill>
                <a:latin typeface="Microsoft YaHei"/>
                <a:ea typeface="Microsoft YaHei"/>
              </a:rPr>
              <a:t>Cancel Order</a:t>
            </a:r>
            <a:endParaRPr/>
          </a:p>
        </p:txBody>
      </p:sp>
      <p:sp>
        <p:nvSpPr>
          <p:cNvPr id="76" name="" descr="{&quot;isTemplate&quot;:true,&quot;type&quot;:&quot;text&quot;}"/>
          <p:cNvSpPr txBox="1"/>
          <p:nvPr/>
        </p:nvSpPr>
        <p:spPr>
          <a:xfrm rot="0" flipH="0" flipV="0">
            <a:off x="6648450" y="2667000"/>
            <a:ext cx="5010150" cy="219075"/>
          </a:xfrm>
          <a:prstGeom prst="rect"/>
        </p:spPr>
        <p:txBody>
          <a:bodyPr wrap="none" lIns="0" tIns="0" rIns="0" bIns="0"/>
          <a:p>
            <a:pPr>
              <a:lnSpc>
                <a:spcPct val="150000"/>
              </a:lnSpc>
            </a:pPr>
            <a:r>
              <a:rPr lang="en-US" sz="938">
                <a:solidFill>
                  <a:srgbClr val="4A5568"/>
                </a:solidFill>
                <a:latin typeface="Microsoft YaHei"/>
                <a:ea typeface="Microsoft YaHei"/>
              </a:rPr>
              <a:t>Student · ends when the refund is issued</a:t>
            </a:r>
            <a:endParaRPr/>
          </a:p>
        </p:txBody>
      </p:sp>
      <p:sp>
        <p:nvSpPr>
          <p:cNvPr id="77" name=""/>
          <p:cNvSpPr/>
          <p:nvPr/>
        </p:nvSpPr>
        <p:spPr>
          <a:xfrm rot="0" flipH="0" flipV="0">
            <a:off x="6496050" y="3105150"/>
            <a:ext cx="5343525" cy="685800"/>
          </a:xfrm>
          <a:prstGeom prst="roundRect">
            <a:avLst>
              <a:gd name="adj" fmla="val 12500"/>
            </a:avLst>
          </a:prstGeom>
          <a:solidFill>
            <a:srgbClr val="F0F5FC"/>
          </a:solidFill>
          <a:ln/>
        </p:spPr>
        <p:txBody>
          <a:bodyPr/>
          <a:p/>
        </p:txBody>
      </p:sp>
      <p:sp>
        <p:nvSpPr>
          <p:cNvPr id="78" name=""/>
          <p:cNvSpPr/>
          <p:nvPr/>
        </p:nvSpPr>
        <p:spPr>
          <a:xfrm rot="0" flipH="0" flipV="0">
            <a:off x="6496050" y="3105150"/>
            <a:ext cx="5343525" cy="685800"/>
          </a:xfrm>
          <a:custGeom>
            <a:pathLst>
              <a:path w="561" h="72">
                <a:moveTo>
                  <a:pt x="8" y="0"/>
                </a:moveTo>
                <a:cubicBezTo>
                  <a:pt x="5" y="0"/>
                  <a:pt x="3" y="3"/>
                  <a:pt x="3" y="6"/>
                </a:cubicBezTo>
                <a:lnTo>
                  <a:pt x="3" y="66"/>
                </a:lnTo>
                <a:cubicBezTo>
                  <a:pt x="3" y="69"/>
                  <a:pt x="5" y="71"/>
                  <a:pt x="8" y="72"/>
                </a:cubicBezTo>
                <a:cubicBezTo>
                  <a:pt x="3" y="71"/>
                  <a:pt x="0" y="67"/>
                  <a:pt x="0" y="63"/>
                </a:cubicBezTo>
                <a:lnTo>
                  <a:pt x="0" y="9"/>
                </a:lnTo>
                <a:cubicBezTo>
                  <a:pt x="0" y="4"/>
                  <a:pt x="4" y="0"/>
                  <a:pt x="9" y="0"/>
                </a:cubicBezTo>
                <a:close/>
              </a:path>
            </a:pathLst>
          </a:custGeom>
          <a:solidFill>
            <a:srgbClr val="1E4FA8"/>
          </a:solidFill>
          <a:ln/>
        </p:spPr>
        <p:txBody>
          <a:bodyPr/>
          <a:p/>
        </p:txBody>
      </p:sp>
      <p:sp>
        <p:nvSpPr>
          <p:cNvPr id="79" name="" descr="{&quot;isTemplate&quot;:true,&quot;type&quot;:&quot;text&quot;}"/>
          <p:cNvSpPr txBox="1"/>
          <p:nvPr/>
        </p:nvSpPr>
        <p:spPr>
          <a:xfrm rot="0" flipH="0" flipV="0">
            <a:off x="6648450" y="3238500"/>
            <a:ext cx="5010150" cy="171450"/>
          </a:xfrm>
          <a:prstGeom prst="rect"/>
        </p:spPr>
        <p:txBody>
          <a:bodyPr wrap="none" lIns="0" tIns="0" rIns="0" bIns="0"/>
          <a:p>
            <a:pPr>
              <a:lnSpc>
                <a:spcPct val="100000"/>
              </a:lnSpc>
            </a:pPr>
            <a:r>
              <a:rPr lang="en-US" sz="1125" b="1">
                <a:solidFill>
                  <a:srgbClr val="1A2230"/>
                </a:solidFill>
                <a:latin typeface="Microsoft YaHei"/>
                <a:ea typeface="Microsoft YaHei"/>
              </a:rPr>
              <a:t>Manage Today’s Menu</a:t>
            </a:r>
            <a:endParaRPr/>
          </a:p>
        </p:txBody>
      </p:sp>
      <p:sp>
        <p:nvSpPr>
          <p:cNvPr id="80" name="" descr="{&quot;isTemplate&quot;:true,&quot;type&quot;:&quot;text&quot;}"/>
          <p:cNvSpPr txBox="1"/>
          <p:nvPr/>
        </p:nvSpPr>
        <p:spPr>
          <a:xfrm rot="0" flipH="0" flipV="0">
            <a:off x="6648450" y="3438525"/>
            <a:ext cx="5010150" cy="219075"/>
          </a:xfrm>
          <a:prstGeom prst="rect"/>
        </p:spPr>
        <p:txBody>
          <a:bodyPr wrap="none" lIns="0" tIns="0" rIns="0" bIns="0"/>
          <a:p>
            <a:pPr>
              <a:lnSpc>
                <a:spcPct val="150000"/>
              </a:lnSpc>
            </a:pPr>
            <a:r>
              <a:rPr lang="en-US" sz="938">
                <a:solidFill>
                  <a:srgbClr val="4A5568"/>
                </a:solidFill>
                <a:latin typeface="Microsoft YaHei"/>
                <a:ea typeface="Microsoft YaHei"/>
              </a:rPr>
              <a:t>Restaurant Manager · ends when the menu is live</a:t>
            </a:r>
            <a:endParaRPr/>
          </a:p>
        </p:txBody>
      </p:sp>
      <p:sp>
        <p:nvSpPr>
          <p:cNvPr id="81" name=""/>
          <p:cNvSpPr/>
          <p:nvPr/>
        </p:nvSpPr>
        <p:spPr>
          <a:xfrm rot="0" flipH="0" flipV="0">
            <a:off x="6496050" y="3876675"/>
            <a:ext cx="5343525" cy="685800"/>
          </a:xfrm>
          <a:prstGeom prst="roundRect">
            <a:avLst>
              <a:gd name="adj" fmla="val 12500"/>
            </a:avLst>
          </a:prstGeom>
          <a:solidFill>
            <a:srgbClr val="F0F5FC"/>
          </a:solidFill>
          <a:ln/>
        </p:spPr>
        <p:txBody>
          <a:bodyPr/>
          <a:p/>
        </p:txBody>
      </p:sp>
      <p:sp>
        <p:nvSpPr>
          <p:cNvPr id="82" name=""/>
          <p:cNvSpPr/>
          <p:nvPr/>
        </p:nvSpPr>
        <p:spPr>
          <a:xfrm rot="0" flipH="0" flipV="0">
            <a:off x="6496050" y="3876675"/>
            <a:ext cx="5343525" cy="685800"/>
          </a:xfrm>
          <a:custGeom>
            <a:pathLst>
              <a:path w="561" h="72">
                <a:moveTo>
                  <a:pt x="8" y="0"/>
                </a:moveTo>
                <a:cubicBezTo>
                  <a:pt x="5" y="0"/>
                  <a:pt x="3" y="3"/>
                  <a:pt x="3" y="6"/>
                </a:cubicBezTo>
                <a:lnTo>
                  <a:pt x="3" y="66"/>
                </a:lnTo>
                <a:cubicBezTo>
                  <a:pt x="3" y="69"/>
                  <a:pt x="5" y="71"/>
                  <a:pt x="8" y="72"/>
                </a:cubicBezTo>
                <a:cubicBezTo>
                  <a:pt x="3" y="71"/>
                  <a:pt x="0" y="67"/>
                  <a:pt x="0" y="63"/>
                </a:cubicBezTo>
                <a:lnTo>
                  <a:pt x="0" y="9"/>
                </a:lnTo>
                <a:cubicBezTo>
                  <a:pt x="0" y="4"/>
                  <a:pt x="4" y="0"/>
                  <a:pt x="9" y="0"/>
                </a:cubicBezTo>
                <a:close/>
              </a:path>
            </a:pathLst>
          </a:custGeom>
          <a:solidFill>
            <a:srgbClr val="1E4FA8"/>
          </a:solidFill>
          <a:ln/>
        </p:spPr>
        <p:txBody>
          <a:bodyPr/>
          <a:p/>
        </p:txBody>
      </p:sp>
      <p:sp>
        <p:nvSpPr>
          <p:cNvPr id="83" name="" descr="{&quot;isTemplate&quot;:true,&quot;type&quot;:&quot;text&quot;}"/>
          <p:cNvSpPr txBox="1"/>
          <p:nvPr/>
        </p:nvSpPr>
        <p:spPr>
          <a:xfrm rot="0" flipH="0" flipV="0">
            <a:off x="6648450" y="4010025"/>
            <a:ext cx="5010150" cy="171450"/>
          </a:xfrm>
          <a:prstGeom prst="rect"/>
        </p:spPr>
        <p:txBody>
          <a:bodyPr wrap="none" lIns="0" tIns="0" rIns="0" bIns="0"/>
          <a:p>
            <a:pPr>
              <a:lnSpc>
                <a:spcPct val="100000"/>
              </a:lnSpc>
            </a:pPr>
            <a:r>
              <a:rPr lang="en-US" sz="1125" b="1">
                <a:solidFill>
                  <a:srgbClr val="1A2230"/>
                </a:solidFill>
                <a:latin typeface="Microsoft YaHei"/>
                <a:ea typeface="Microsoft YaHei"/>
              </a:rPr>
              <a:t>Dispatch Courier</a:t>
            </a:r>
            <a:endParaRPr/>
          </a:p>
        </p:txBody>
      </p:sp>
      <p:sp>
        <p:nvSpPr>
          <p:cNvPr id="84" name="" descr="{&quot;isTemplate&quot;:true,&quot;type&quot;:&quot;text&quot;}"/>
          <p:cNvSpPr txBox="1"/>
          <p:nvPr/>
        </p:nvSpPr>
        <p:spPr>
          <a:xfrm rot="0" flipH="0" flipV="0">
            <a:off x="6648450" y="4210050"/>
            <a:ext cx="5010150" cy="219075"/>
          </a:xfrm>
          <a:prstGeom prst="rect"/>
        </p:spPr>
        <p:txBody>
          <a:bodyPr wrap="none" lIns="0" tIns="0" rIns="0" bIns="0"/>
          <a:p>
            <a:pPr>
              <a:lnSpc>
                <a:spcPct val="150000"/>
              </a:lnSpc>
            </a:pPr>
            <a:r>
              <a:rPr lang="en-US" sz="938">
                <a:solidFill>
                  <a:srgbClr val="4A5568"/>
                </a:solidFill>
                <a:latin typeface="Microsoft YaHei"/>
                <a:ea typeface="Microsoft YaHei"/>
              </a:rPr>
              <a:t>Dispatcher · ends when a rider is assigned</a:t>
            </a:r>
            <a:endParaRPr/>
          </a:p>
        </p:txBody>
      </p:sp>
      <p:sp>
        <p:nvSpPr>
          <p:cNvPr id="85" name=""/>
          <p:cNvSpPr/>
          <p:nvPr/>
        </p:nvSpPr>
        <p:spPr>
          <a:xfrm rot="0" flipH="0" flipV="0">
            <a:off x="0" y="6419850"/>
            <a:ext cx="12192000" cy="438150"/>
          </a:xfrm>
          <a:prstGeom prst="rect">
            <a:avLst/>
          </a:prstGeom>
          <a:solidFill>
            <a:srgbClr val="0E3F8C"/>
          </a:solidFill>
          <a:ln/>
        </p:spPr>
        <p:txBody>
          <a:bodyPr/>
          <a:p/>
        </p:txBody>
      </p:sp>
      <p:sp>
        <p:nvSpPr>
          <p:cNvPr id="86" name="" descr="{&quot;isTemplate&quot;:true,&quot;type&quot;:&quot;text&quot;}"/>
          <p:cNvSpPr txBox="1"/>
          <p:nvPr/>
        </p:nvSpPr>
        <p:spPr>
          <a:xfrm rot="0" flipH="0" flipV="0">
            <a:off x="3086100" y="6543675"/>
            <a:ext cx="6019800" cy="190500"/>
          </a:xfrm>
          <a:prstGeom prst="rect"/>
        </p:spPr>
        <p:txBody>
          <a:bodyPr wrap="none" lIns="0" tIns="0" rIns="0" bIns="0"/>
          <a:p>
            <a:pPr>
              <a:lnSpc>
                <a:spcPct val="100000"/>
              </a:lnSpc>
            </a:pPr>
            <a:r>
              <a:rPr lang="en-US" sz="1200" b="1">
                <a:solidFill>
                  <a:srgbClr val="FFFFFF"/>
                </a:solidFill>
                <a:latin typeface="Microsoft YaHei"/>
                <a:ea typeface="Microsoft YaHei"/>
              </a:rPr>
              <a:t>“Manage X” is a database table with a verb glued on. Ask who wakes up wanting it.</a:t>
            </a:r>
            <a:endParaRPr/>
          </a:p>
        </p:txBody>
      </p:sp>
    </p:spTree>
  </p:cSld>
</p:sld>
</file>

<file path=ppt/slides/slide12.xml><?xml version="1.0" encoding="utf-8"?>
<p:sld xmlns:asvg="http://schemas.microsoft.com/office/drawing/2016/SVG/main" xmlns:a="http://schemas.openxmlformats.org/drawingml/2006/main" xmlns:r="http://schemas.openxmlformats.org/officeDocument/2006/relationships" xmlns:p="http://schemas.openxmlformats.org/presentationml/2006/main" xmlns:mc="http://schemas.openxmlformats.org/markup-compatibility/2006" mc:Ignorable="asvg">
  <p:cSld>
    <p:spTree>
      <p:nvGrpSpPr>
        <p:cNvPr id="87" name="" descr="&lt;Slide style={{ background: '#FFFFFF', padding: 0 }}&gt;&#10;  &lt;Box style={{ height: 72, background: '#1E4FA8', padding: '0 40px', flexDirection: 'row', alignItems: 'center', justifyContent: 'space-between' }}&gt;&#10;    &lt;Text style={{ fontSize: 15, color: '#B9CDF0', letterSpacing: 1 }}&gt;ISAD · INFORMATION SYSTEMS ANALYSIS &amp;amp; DESIGN&lt;/Text&gt;&#10;    &lt;Text style={{ fontSize: 15, color: '#B9CDF0' }}&gt;W04 · ACTORS &amp;amp; GOALS&lt;/Text&gt;&#10;  &lt;/Box&gt;&#10;  &lt;Box style={{ padding: '12px 40px 0 40px', flexDirection: 'row', alignItems: 'center', justifyContent: 'space-between' }}&gt;&#10;    &lt;Text style={{ fontSize: 29, fontWeight: 'bold', color: '#0E3F8C' }}&gt;Actor Generalization&lt;/Text&gt;&#10;    &lt;Text style={{ fontSize: 14, color: '#1E4FA8', fontWeight: 'bold' }}&gt;12 / 38&lt;/Text&gt;&#10;  &lt;/Box&gt;&#10;  &lt;Box style={{ flex: 1, padding: '8px 40px 0 40px', flexDirection: 'row', gap: 26 }}&gt;&#10;    &lt;Box style={{ width: 560, justifyContent: 'center', alignItems: 'center' }}&gt;&#10;      &lt;svg width={560} height={356} viewBox='0 0 560 356'&gt;&#10;        &lt;text x='6' y='16' fill='#8B97A8' fontSize='12'&gt;The child inherits every use case of the parent&lt;/text&gt;&#10;&#10;        &lt;g transform='translate(18,40)'&gt;&#10;          &lt;circle cx='0' cy='0' r='9' fill='none' stroke='#1E4FA8' strokeWidth='2' /&gt;&#10;          &lt;line x1='0' y1='9' x2='0' y2='30' stroke='#1E4FA8' strokeWidth='2' /&gt;&#10;          &lt;line x1='0' y1='17' x2='-12' y2='28' stroke='#1E4FA8' strokeWidth='2' /&gt;&#10;          &lt;line x1='0' y1='17' x2='12' y2='28' stroke='#1E4FA8' strokeWidth='2' /&gt;&#10;          &lt;line x1='0' y1='30' x2='-11' y2='46' stroke='#1E4FA8' strokeWidth='2' /&gt;&#10;          &lt;line x1='0' y1='30' x2='11' y2='46' stroke='#1E4FA8' strokeWidth='2' /&gt;&#10;          &lt;text x='0' y='62' textAnchor='middle' fill='#0E3F8C' fontSize='13' fontWeight='bold'&gt;User&lt;/text&gt;&#10;          &lt;text x='0' y='78' textAnchor='middle' fill='#8B97A8' fontSize='10.5'&gt;parent actor&lt;/text&gt;&#10;        &lt;/g&gt;&#10;&#10;        &lt;path d='M 90 105 L 90 140 L 26 140 L 26 168' fill='none' stroke='#1E4FA8' strokeWidth='1.6' /&gt;&#10;        &lt;path d='M 90 105 L 90 140 L 154 140 L 154 168' fill='none' stroke='#1E4FA8' strokeWidth='1.6' /&gt;&#10;        &lt;polygon points='90,168 82,150 98,150' fill='#FFFFFF' stroke='#1E4FA8' strokeWidth='1.6' /&gt;&#10;        &lt;text x='104' y='132' fill='#4A5568' fontSize='10.5'&gt;generalization&lt;/text&gt;&#10;        &lt;text x='104' y='148' fill='#8B97A8' fontSize='10'&gt;hollow triangle&lt;/text&gt;&#10;&#10;        &lt;g transform='translate(10,170)'&gt;&#10;          &lt;circle cx='16' cy='12' r='9' fill='none' stroke='#3D7BD9' strokeWidth='2' /&gt;&#10;          &lt;line x1='16' y1='21' x2='16' y2='40' stroke='#3D7BD9' strokeWidth='2' /&gt;&#10;          &lt;line x1='16' y1='28' x2='5' y2='38' stroke='#3D7BD9' strokeWidth='2' /&gt;&#10;          &lt;line x1='16' y1='28' x2='27' y2='38' stroke='#3D7BD9' strokeWidth='2' /&gt;&#10;          &lt;line x1='16' y1='40' x2='6' y2='54' stroke='#3D7BD9' strokeWidth='2' /&gt;&#10;          &lt;line x1='16' y1='40' x2='26' y2='54' stroke='#3D7BD9' strokeWidth='2' /&gt;&#10;          &lt;text x='16' y='70' textAnchor='middle' fill='#0E3F8C' fontSize='12.5' fontWeight='bold'&gt;Student&lt;/text&gt;&#10;        &lt;/g&gt;&#10;&#10;        &lt;g transform='translate(140,170)'&gt;&#10;          &lt;circle cx='18' cy='12' r='9' fill='none' stroke='#3D7BD9' strokeWidth='2' /&gt;&#10;          &lt;line x1='18' y1='21' x2='18' y2='40' stroke='#3D7BD9' strokeWidth='2' /&gt;&#10;          &lt;line x1='18' y1='28' x2='7' y2='38' stroke='#3D7BD9' strokeWidth='2' /&gt;&#10;          &lt;line x1='18' y1='28' x2='29' y2='38' stroke='#3D7BD9' strokeWidth='2' /&gt;&#10;          &lt;line x1='18' y1='40' x2='8' y2='54' stroke='#3D7BD9' strokeWidth='2' /&gt;&#10;          &lt;line x1='18' y1='40' x2='28' y2='54' stroke='#3D7BD9' strokeWidth='2' /&gt;&#10;          &lt;text x='18' y='70' textAnchor='middle' fill='#0E3F8C' fontSize='12.5' fontWeight='bold'&gt;Staff&lt;/text&gt;&#10;        &lt;/g&gt;&#10;&#10;        &lt;rect x='250' y='30' width='300' height='300' rx='8' fill='#F7F9FC' stroke='#1E4FA8' strokeWidth='2' /&gt;&#10;        &lt;text x='400' y='54' textAnchor='middle' fill='#0E3F8C' fontSize='13.5' fontWeight='bold'&gt;CampusBites&lt;/text&gt;&#10;        &lt;text x='400' y='70' textAnchor='middle' fill='#8B97A8' fontSize='10'&gt;system boundary&lt;/text&gt;&#10;&#10;        &lt;ellipse cx='400' cy='112' rx='112' ry='27' fill='#FFFFFF' stroke='#1E4FA8' strokeWidth='1.6' /&gt;&#10;        &lt;text x='400' y='117' textAnchor='middle' fill='#1A2230' fontSize='12.5'&gt;Browse Menu&lt;/text&gt;&#10;&#10;        &lt;ellipse cx='400' cy='164' rx='112' ry='27' fill='#FFFFFF' stroke='#1E4FA8' strokeWidth='1.6' /&gt;&#10;        &lt;text x='400' y='169' textAnchor='middle' fill='#1A2230' fontSize='12.5'&gt;Place Order&lt;/text&gt;&#10;&#10;        &lt;ellipse cx='400' cy='216' rx='112' ry='27' fill='#FFFFFF' stroke='#1E4FA8' strokeWidth='1.6' /&gt;&#10;        &lt;text x='400' y='221' textAnchor='middle' fill='#1A2230' fontSize='12.5'&gt;Track Order&lt;/text&gt;&#10;&#10;        &lt;ellipse cx='400' cy='268' rx='112' ry='27' fill='#FFFFFF' stroke='#3D7BD9' strokeWidth='1.6' strokeDasharray='5 3' /&gt;&#10;        &lt;text x='400' y='273' textAnchor='middle' fill='#3D7BD9' fontSize='12.5'&gt;Order Staff Meal&lt;/text&gt;&#10;        &lt;text x='400' y='294' textAnchor='middle' fill='#8B97A8' fontSize='9.5'&gt;inherited by all; written once&lt;/text&gt;&#10;&#10;        &lt;line x1='28' y1='112' x2='288' y2='112' stroke='#1E4FA8' strokeWidth='1.4' /&gt;&#10;        &lt;line x1='158' y1='164' x2='288' y2='164' stroke='#1E4FA8' strokeWidth='1.4' /&gt;&#10;        &lt;line x1='28' y1='216' x2='288' y2='216' stroke='#1E4FA8' strokeWidth='1.4' /&gt;&#10;        &lt;line x1='158' y1='268' x2='288' y2='268' stroke='#3D7BD9' strokeWidth='1.4' /&gt;&#10;      &lt;/svg&gt;&#10;    &lt;/Box&gt;&#10;    &lt;Box style={{ flex: 1, flexDirection: 'column', justifyContent: 'center', gap: 14 }}&gt;&#10;      &lt;Box style={{ padding: '16px 18px', background: '#F0F5FC', borderRadius: 9, borderLeft: '4px solid #1E4FA8' }}&gt;&#10;        &lt;Text style={{ fontSize: 16, fontWeight: 'bold', color: '#0E3F8C' }}&gt;What the arrow says&lt;/Text&gt;&#10;        &lt;Text style={{ fontSize: 13, color: '#4A5568', lineHeight: 1.6, marginTop: 5 }}&gt;&#10;          A hollow triangle points from the child to the parent. Read it as “Student is a kind of User”. Every use case attached to User is automatically available to Student and Staff.&#10;        &lt;/Text&gt;&#10;      &lt;/Box&gt;&#10;      &lt;Box style={{ padding: '16px 18px', background: '#F7F9FC', borderRadius: 9, borderLeft: '4px solid #3D7BD9' }}&gt;&#10;        &lt;Text style={{ fontSize: 16, fontWeight: 'bold', color: '#0E3F8C' }}&gt;Use it when…&lt;/Text&gt;&#10;        &lt;Text style={{ fontSize: 13, color: '#4A5568', lineHeight: 1.6, marginTop: 5 }}&gt;&#10;          Two actors share most of their goals, and one of them has one or two extra. You then write the shared use cases once, against the parent.&#10;        &lt;/Text&gt;&#10;      &lt;/Box&gt;&#10;      &lt;Box style={{ padding: '16px 18px', background: '#FDF3F3', borderRadius: 9, borderLeft: '4px solid #D9534F' }}&gt;&#10;        &lt;Text style={{ fontSize: 16, fontWeight: 'bold', color: '#D9534F' }}&gt;Do not use it when…&lt;/Text&gt;&#10;        &lt;Text style={{ fontSize: 13, color: '#4A5568', lineHeight: 1.6, marginTop: 5 }}&gt;&#10;          The two roles share almost nothing. A hollow triangle that earns you one line of saving is one more thing the reader must decode — draw two actors instead.&#10;        &lt;/Text&gt;&#10;      &lt;/Box&gt;&#10;      &lt;Box style={{ padding: '12px 16px', background: '#FFFFFF', borderRadius: 8, border: '1px dashed #D6DCE5' }}&gt;&#10;        &lt;Text style={{ fontSize: 12.5, color: '#8B97A8', lineHeight: 1.55 }}&gt;&#10;          Rule of thumb: if you have to explain why the triangle is there, take it out.&#10;        &lt;/Text&gt;&#10;      &lt;/Box&gt;&#10;    &lt;/Box&gt;&#10;  &lt;/Box&gt;&#10;  &lt;Box style={{ height: 34, padding: '0 40px', flexDirection: 'row', alignItems: 'center', justifyContent: 'space-between' }}&gt;&#10;    &lt;Text style={{ fontSize: 13, color: '#8B97A8' }}&gt;ISAD · Fall 2026 · Generalization is a saving, not a decoration&lt;/Text&gt;&#10;    &lt;Text style={{ fontSize: 14, color: '#1E4FA8', fontWeight: 'bold' }}&gt;12 / 38&lt;/Text&gt;&#10;  &lt;/Box&gt;&#10;&lt;/Slide&gt;"/>
        <p:cNvGrpSpPr/>
        <p:nvPr/>
      </p:nvGrpSpPr>
      <p:grpSpPr>
        <a:xfrm>
          <a:off x="0" y="0"/>
          <a:ext cx="0" cy="0"/>
          <a:chOff x="0" y="0"/>
          <a:chExt cx="0" cy="0"/>
        </a:xfrm>
      </p:grpSpPr>
      <p:sp>
        <p:nvSpPr>
          <p:cNvPr id="88" name=""/>
          <p:cNvSpPr/>
          <p:nvPr/>
        </p:nvSpPr>
        <p:spPr>
          <a:xfrm rot="0" flipH="0" flipV="0">
            <a:off x="0" y="0"/>
            <a:ext cx="12192000" cy="6858000"/>
          </a:xfrm>
          <a:prstGeom prst="rect">
            <a:avLst/>
          </a:prstGeom>
          <a:solidFill>
            <a:srgbClr val="FFFFFF"/>
          </a:solidFill>
          <a:ln/>
        </p:spPr>
        <p:txBody>
          <a:bodyPr/>
          <a:p/>
        </p:txBody>
      </p:sp>
      <p:sp>
        <p:nvSpPr>
          <p:cNvPr id="89" name=""/>
          <p:cNvSpPr/>
          <p:nvPr/>
        </p:nvSpPr>
        <p:spPr>
          <a:xfrm rot="0" flipH="0" flipV="0">
            <a:off x="0" y="0"/>
            <a:ext cx="12192000" cy="685800"/>
          </a:xfrm>
          <a:prstGeom prst="rect">
            <a:avLst/>
          </a:prstGeom>
          <a:solidFill>
            <a:srgbClr val="1E4FA8"/>
          </a:solidFill>
          <a:ln/>
        </p:spPr>
        <p:txBody>
          <a:bodyPr/>
          <a:p/>
        </p:txBody>
      </p:sp>
      <p:sp>
        <p:nvSpPr>
          <p:cNvPr id="90" name="" descr="{&quot;isTemplate&quot;:true,&quot;type&quot;:&quot;text&quot;}"/>
          <p:cNvSpPr txBox="1"/>
          <p:nvPr/>
        </p:nvSpPr>
        <p:spPr>
          <a:xfrm rot="0" flipH="0" flipV="0">
            <a:off x="381000" y="257175"/>
            <a:ext cx="4067175" cy="171450"/>
          </a:xfrm>
          <a:prstGeom prst="rect"/>
        </p:spPr>
        <p:txBody>
          <a:bodyPr wrap="none" lIns="0" tIns="0" rIns="0" bIns="0"/>
          <a:p>
            <a:pPr>
              <a:lnSpc>
                <a:spcPct val="100000"/>
              </a:lnSpc>
            </a:pPr>
            <a:r>
              <a:rPr lang="en-US" sz="1125" spc="75">
                <a:solidFill>
                  <a:srgbClr val="B9CDF0"/>
                </a:solidFill>
                <a:latin typeface="Microsoft YaHei"/>
                <a:ea typeface="Microsoft YaHei"/>
              </a:rPr>
              <a:t>ISAD · INFORMATION SYSTEMS ANALYSIS &amp; DESIGN</a:t>
            </a:r>
            <a:endParaRPr/>
          </a:p>
        </p:txBody>
      </p:sp>
      <p:sp>
        <p:nvSpPr>
          <p:cNvPr id="91" name="" descr="{&quot;isTemplate&quot;:true,&quot;type&quot;:&quot;text&quot;}"/>
          <p:cNvSpPr txBox="1"/>
          <p:nvPr/>
        </p:nvSpPr>
        <p:spPr>
          <a:xfrm rot="0" flipH="0" flipV="0">
            <a:off x="10125075" y="257175"/>
            <a:ext cx="1685925" cy="171450"/>
          </a:xfrm>
          <a:prstGeom prst="rect"/>
        </p:spPr>
        <p:txBody>
          <a:bodyPr wrap="none" lIns="0" tIns="0" rIns="0" bIns="0"/>
          <a:p>
            <a:pPr>
              <a:lnSpc>
                <a:spcPct val="100000"/>
              </a:lnSpc>
            </a:pPr>
            <a:r>
              <a:rPr lang="en-US" sz="1125">
                <a:solidFill>
                  <a:srgbClr val="B9CDF0"/>
                </a:solidFill>
                <a:latin typeface="Microsoft YaHei"/>
                <a:ea typeface="Microsoft YaHei"/>
              </a:rPr>
              <a:t>W04 · ACTORS &amp; GOALS</a:t>
            </a:r>
            <a:endParaRPr/>
          </a:p>
        </p:txBody>
      </p:sp>
      <p:sp>
        <p:nvSpPr>
          <p:cNvPr id="92" name="" descr="{&quot;isTemplate&quot;:true,&quot;type&quot;:&quot;text&quot;}"/>
          <p:cNvSpPr txBox="1"/>
          <p:nvPr/>
        </p:nvSpPr>
        <p:spPr>
          <a:xfrm rot="0" flipH="0" flipV="0">
            <a:off x="381000" y="800100"/>
            <a:ext cx="2705100" cy="333375"/>
          </a:xfrm>
          <a:prstGeom prst="rect"/>
        </p:spPr>
        <p:txBody>
          <a:bodyPr wrap="none" lIns="0" tIns="0" rIns="0" bIns="0"/>
          <a:p>
            <a:pPr>
              <a:lnSpc>
                <a:spcPct val="100000"/>
              </a:lnSpc>
            </a:pPr>
            <a:r>
              <a:rPr lang="en-US" sz="2175" b="1">
                <a:solidFill>
                  <a:srgbClr val="0E3F8C"/>
                </a:solidFill>
                <a:latin typeface="Microsoft YaHei"/>
                <a:ea typeface="Microsoft YaHei"/>
              </a:rPr>
              <a:t>Actor Generalization</a:t>
            </a:r>
            <a:endParaRPr/>
          </a:p>
        </p:txBody>
      </p:sp>
      <p:sp>
        <p:nvSpPr>
          <p:cNvPr id="93" name="" descr="{&quot;isTemplate&quot;:true,&quot;type&quot;:&quot;text&quot;}"/>
          <p:cNvSpPr txBox="1"/>
          <p:nvPr/>
        </p:nvSpPr>
        <p:spPr>
          <a:xfrm rot="0" flipH="0" flipV="0">
            <a:off x="11401425" y="885825"/>
            <a:ext cx="409575" cy="161925"/>
          </a:xfrm>
          <a:prstGeom prst="rect"/>
        </p:spPr>
        <p:txBody>
          <a:bodyPr wrap="none" lIns="0" tIns="0" rIns="0" bIns="0"/>
          <a:p>
            <a:pPr>
              <a:lnSpc>
                <a:spcPct val="100000"/>
              </a:lnSpc>
            </a:pPr>
            <a:r>
              <a:rPr lang="en-US" sz="1050" b="1">
                <a:solidFill>
                  <a:srgbClr val="1E4FA8"/>
                </a:solidFill>
                <a:latin typeface="Microsoft YaHei"/>
                <a:ea typeface="Microsoft YaHei"/>
              </a:rPr>
              <a:t>12 / 38</a:t>
            </a:r>
            <a:endParaRPr/>
          </a:p>
        </p:txBody>
      </p:sp>
      <p:pic>
        <p:nvPicPr>
          <p:cNvPr id="94" name=""/>
          <p:cNvPicPr>
            <a:picLocks noChangeAspect="1"/>
          </p:cNvPicPr>
          <p:nvPr/>
        </p:nvPicPr>
        <p:blipFill>
          <a:blip>
            <a:extLst>
              <a:ext uri="{96DAC541-7B7A-43D3-8B79-37D633B846F1}">
                <asvg:svgBlip r:embed="rId1"/>
              </a:ext>
            </a:extLst>
          </a:blip>
          <a:stretch>
            <a:fillRect/>
          </a:stretch>
        </p:blipFill>
        <p:spPr>
          <a:xfrm rot="0" flipH="0" flipV="0">
            <a:off x="381000" y="2181225"/>
            <a:ext cx="5334000" cy="3390900"/>
          </a:xfrm>
          <a:prstGeom prst="rect">
            <a:avLst/>
          </a:prstGeom>
          <a:ln/>
        </p:spPr>
      </p:pic>
      <p:sp>
        <p:nvSpPr>
          <p:cNvPr id="95" name=""/>
          <p:cNvSpPr/>
          <p:nvPr/>
        </p:nvSpPr>
        <p:spPr>
          <a:xfrm rot="0" flipH="0" flipV="0">
            <a:off x="6000750" y="1914525"/>
            <a:ext cx="5848350" cy="1019175"/>
          </a:xfrm>
          <a:prstGeom prst="roundRect">
            <a:avLst>
              <a:gd name="adj" fmla="val 8411"/>
            </a:avLst>
          </a:prstGeom>
          <a:solidFill>
            <a:srgbClr val="F0F5FC"/>
          </a:solidFill>
          <a:ln/>
        </p:spPr>
        <p:txBody>
          <a:bodyPr/>
          <a:p/>
        </p:txBody>
      </p:sp>
      <p:sp>
        <p:nvSpPr>
          <p:cNvPr id="96" name=""/>
          <p:cNvSpPr/>
          <p:nvPr/>
        </p:nvSpPr>
        <p:spPr>
          <a:xfrm rot="0" flipH="0" flipV="0">
            <a:off x="6000750" y="1914525"/>
            <a:ext cx="5848350" cy="1019175"/>
          </a:xfrm>
          <a:custGeom>
            <a:pathLst>
              <a:path w="614" h="107">
                <a:moveTo>
                  <a:pt x="9" y="0"/>
                </a:moveTo>
                <a:cubicBezTo>
                  <a:pt x="6" y="0"/>
                  <a:pt x="4" y="2"/>
                  <a:pt x="4" y="5"/>
                </a:cubicBezTo>
                <a:lnTo>
                  <a:pt x="4" y="102"/>
                </a:lnTo>
                <a:cubicBezTo>
                  <a:pt x="4" y="104"/>
                  <a:pt x="6" y="106"/>
                  <a:pt x="8" y="107"/>
                </a:cubicBezTo>
                <a:cubicBezTo>
                  <a:pt x="4" y="107"/>
                  <a:pt x="0" y="103"/>
                  <a:pt x="0" y="98"/>
                </a:cubicBezTo>
                <a:lnTo>
                  <a:pt x="0" y="9"/>
                </a:lnTo>
                <a:cubicBezTo>
                  <a:pt x="0" y="4"/>
                  <a:pt x="4" y="0"/>
                  <a:pt x="9" y="0"/>
                </a:cubicBezTo>
                <a:close/>
              </a:path>
            </a:pathLst>
          </a:custGeom>
          <a:solidFill>
            <a:srgbClr val="1E4FA8"/>
          </a:solidFill>
          <a:ln/>
        </p:spPr>
        <p:txBody>
          <a:bodyPr/>
          <a:p/>
        </p:txBody>
      </p:sp>
      <p:sp>
        <p:nvSpPr>
          <p:cNvPr id="97" name="" descr="{&quot;isTemplate&quot;:true,&quot;type&quot;:&quot;text&quot;}"/>
          <p:cNvSpPr txBox="1"/>
          <p:nvPr/>
        </p:nvSpPr>
        <p:spPr>
          <a:xfrm rot="0" flipH="0" flipV="0">
            <a:off x="6172200" y="2066925"/>
            <a:ext cx="5467350" cy="190500"/>
          </a:xfrm>
          <a:prstGeom prst="rect"/>
        </p:spPr>
        <p:txBody>
          <a:bodyPr wrap="none" lIns="0" tIns="0" rIns="0" bIns="0"/>
          <a:p>
            <a:pPr>
              <a:lnSpc>
                <a:spcPct val="100000"/>
              </a:lnSpc>
            </a:pPr>
            <a:r>
              <a:rPr lang="en-US" sz="1200" b="1">
                <a:solidFill>
                  <a:srgbClr val="0E3F8C"/>
                </a:solidFill>
                <a:latin typeface="Microsoft YaHei"/>
                <a:ea typeface="Microsoft YaHei"/>
              </a:rPr>
              <a:t>What the arrow says</a:t>
            </a:r>
            <a:endParaRPr/>
          </a:p>
        </p:txBody>
      </p:sp>
      <p:sp>
        <p:nvSpPr>
          <p:cNvPr id="98" name="" descr="{&quot;isTemplate&quot;:true,&quot;type&quot;:&quot;text&quot;}"/>
          <p:cNvSpPr txBox="1"/>
          <p:nvPr/>
        </p:nvSpPr>
        <p:spPr>
          <a:xfrm rot="0" flipH="0" flipV="0">
            <a:off x="6172200" y="2305050"/>
            <a:ext cx="5467350" cy="476250"/>
          </a:xfrm>
          <a:prstGeom prst="rect"/>
        </p:spPr>
        <p:txBody>
          <a:bodyPr wrap="square" lIns="0" tIns="0" rIns="0" bIns="0">
            <a:normAutofit/>
          </a:bodyPr>
          <a:p>
            <a:pPr>
              <a:lnSpc>
                <a:spcPct val="160000"/>
              </a:lnSpc>
            </a:pPr>
            <a:r>
              <a:rPr lang="en-US" sz="975">
                <a:solidFill>
                  <a:srgbClr val="4A5568"/>
                </a:solidFill>
                <a:latin typeface="Microsoft YaHei"/>
                <a:ea typeface="Microsoft YaHei"/>
              </a:rPr>
              <a:t>A hollow triangle points from the child to the parent. Read it as “Student is a kind of User”. Every use case attached to User is automatically available to Student and Staff.</a:t>
            </a:r>
            <a:endParaRPr/>
          </a:p>
        </p:txBody>
      </p:sp>
      <p:sp>
        <p:nvSpPr>
          <p:cNvPr id="99" name=""/>
          <p:cNvSpPr/>
          <p:nvPr/>
        </p:nvSpPr>
        <p:spPr>
          <a:xfrm rot="0" flipH="0" flipV="0">
            <a:off x="6000750" y="3067050"/>
            <a:ext cx="5848350" cy="1019175"/>
          </a:xfrm>
          <a:prstGeom prst="roundRect">
            <a:avLst>
              <a:gd name="adj" fmla="val 8411"/>
            </a:avLst>
          </a:prstGeom>
          <a:solidFill>
            <a:srgbClr val="F7F9FC"/>
          </a:solidFill>
          <a:ln/>
        </p:spPr>
        <p:txBody>
          <a:bodyPr/>
          <a:p/>
        </p:txBody>
      </p:sp>
      <p:sp>
        <p:nvSpPr>
          <p:cNvPr id="100" name=""/>
          <p:cNvSpPr/>
          <p:nvPr/>
        </p:nvSpPr>
        <p:spPr>
          <a:xfrm rot="0" flipH="0" flipV="0">
            <a:off x="6000750" y="3067050"/>
            <a:ext cx="5848350" cy="1019175"/>
          </a:xfrm>
          <a:custGeom>
            <a:pathLst>
              <a:path w="614" h="107">
                <a:moveTo>
                  <a:pt x="9" y="0"/>
                </a:moveTo>
                <a:cubicBezTo>
                  <a:pt x="6" y="0"/>
                  <a:pt x="4" y="2"/>
                  <a:pt x="4" y="5"/>
                </a:cubicBezTo>
                <a:lnTo>
                  <a:pt x="4" y="102"/>
                </a:lnTo>
                <a:cubicBezTo>
                  <a:pt x="4" y="104"/>
                  <a:pt x="6" y="106"/>
                  <a:pt x="8" y="107"/>
                </a:cubicBezTo>
                <a:cubicBezTo>
                  <a:pt x="4" y="107"/>
                  <a:pt x="0" y="103"/>
                  <a:pt x="0" y="98"/>
                </a:cubicBezTo>
                <a:lnTo>
                  <a:pt x="0" y="9"/>
                </a:lnTo>
                <a:cubicBezTo>
                  <a:pt x="0" y="4"/>
                  <a:pt x="4" y="0"/>
                  <a:pt x="9" y="0"/>
                </a:cubicBezTo>
                <a:close/>
              </a:path>
            </a:pathLst>
          </a:custGeom>
          <a:solidFill>
            <a:srgbClr val="3D7BD9"/>
          </a:solidFill>
          <a:ln/>
        </p:spPr>
        <p:txBody>
          <a:bodyPr/>
          <a:p/>
        </p:txBody>
      </p:sp>
      <p:sp>
        <p:nvSpPr>
          <p:cNvPr id="101" name="" descr="{&quot;isTemplate&quot;:true,&quot;type&quot;:&quot;text&quot;}"/>
          <p:cNvSpPr txBox="1"/>
          <p:nvPr/>
        </p:nvSpPr>
        <p:spPr>
          <a:xfrm rot="0" flipH="0" flipV="0">
            <a:off x="6172200" y="3219450"/>
            <a:ext cx="5467350" cy="190500"/>
          </a:xfrm>
          <a:prstGeom prst="rect"/>
        </p:spPr>
        <p:txBody>
          <a:bodyPr wrap="none" lIns="0" tIns="0" rIns="0" bIns="0"/>
          <a:p>
            <a:pPr>
              <a:lnSpc>
                <a:spcPct val="100000"/>
              </a:lnSpc>
            </a:pPr>
            <a:r>
              <a:rPr lang="en-US" sz="1200" b="1">
                <a:solidFill>
                  <a:srgbClr val="0E3F8C"/>
                </a:solidFill>
                <a:latin typeface="Microsoft YaHei"/>
                <a:ea typeface="Microsoft YaHei"/>
              </a:rPr>
              <a:t>Use it when…</a:t>
            </a:r>
            <a:endParaRPr/>
          </a:p>
        </p:txBody>
      </p:sp>
      <p:sp>
        <p:nvSpPr>
          <p:cNvPr id="102" name="" descr="{&quot;isTemplate&quot;:true,&quot;type&quot;:&quot;text&quot;}"/>
          <p:cNvSpPr txBox="1"/>
          <p:nvPr/>
        </p:nvSpPr>
        <p:spPr>
          <a:xfrm rot="0" flipH="0" flipV="0">
            <a:off x="6172200" y="3457575"/>
            <a:ext cx="5467350" cy="476250"/>
          </a:xfrm>
          <a:prstGeom prst="rect"/>
        </p:spPr>
        <p:txBody>
          <a:bodyPr wrap="square" lIns="0" tIns="0" rIns="0" bIns="0">
            <a:normAutofit/>
          </a:bodyPr>
          <a:p>
            <a:pPr>
              <a:lnSpc>
                <a:spcPct val="160000"/>
              </a:lnSpc>
            </a:pPr>
            <a:r>
              <a:rPr lang="en-US" sz="975">
                <a:solidFill>
                  <a:srgbClr val="4A5568"/>
                </a:solidFill>
                <a:latin typeface="Microsoft YaHei"/>
                <a:ea typeface="Microsoft YaHei"/>
              </a:rPr>
              <a:t>Two actors share most of their goals, and one of them has one or two extra. You then write the shared use cases once, against the parent.</a:t>
            </a:r>
            <a:endParaRPr/>
          </a:p>
        </p:txBody>
      </p:sp>
      <p:sp>
        <p:nvSpPr>
          <p:cNvPr id="103" name=""/>
          <p:cNvSpPr/>
          <p:nvPr/>
        </p:nvSpPr>
        <p:spPr>
          <a:xfrm rot="0" flipH="0" flipV="0">
            <a:off x="6000750" y="4219575"/>
            <a:ext cx="5848350" cy="1019175"/>
          </a:xfrm>
          <a:prstGeom prst="roundRect">
            <a:avLst>
              <a:gd name="adj" fmla="val 8411"/>
            </a:avLst>
          </a:prstGeom>
          <a:solidFill>
            <a:srgbClr val="FDF3F3"/>
          </a:solidFill>
          <a:ln/>
        </p:spPr>
        <p:txBody>
          <a:bodyPr/>
          <a:p/>
        </p:txBody>
      </p:sp>
      <p:sp>
        <p:nvSpPr>
          <p:cNvPr id="104" name=""/>
          <p:cNvSpPr/>
          <p:nvPr/>
        </p:nvSpPr>
        <p:spPr>
          <a:xfrm rot="0" flipH="0" flipV="0">
            <a:off x="6000750" y="4219575"/>
            <a:ext cx="5848350" cy="1019175"/>
          </a:xfrm>
          <a:custGeom>
            <a:pathLst>
              <a:path w="614" h="107">
                <a:moveTo>
                  <a:pt x="9" y="0"/>
                </a:moveTo>
                <a:cubicBezTo>
                  <a:pt x="6" y="0"/>
                  <a:pt x="4" y="2"/>
                  <a:pt x="4" y="5"/>
                </a:cubicBezTo>
                <a:lnTo>
                  <a:pt x="4" y="102"/>
                </a:lnTo>
                <a:cubicBezTo>
                  <a:pt x="4" y="104"/>
                  <a:pt x="6" y="106"/>
                  <a:pt x="8" y="107"/>
                </a:cubicBezTo>
                <a:cubicBezTo>
                  <a:pt x="4" y="107"/>
                  <a:pt x="0" y="103"/>
                  <a:pt x="0" y="98"/>
                </a:cubicBezTo>
                <a:lnTo>
                  <a:pt x="0" y="9"/>
                </a:lnTo>
                <a:cubicBezTo>
                  <a:pt x="0" y="4"/>
                  <a:pt x="4" y="0"/>
                  <a:pt x="9" y="0"/>
                </a:cubicBezTo>
                <a:close/>
              </a:path>
            </a:pathLst>
          </a:custGeom>
          <a:solidFill>
            <a:srgbClr val="D9534F"/>
          </a:solidFill>
          <a:ln/>
        </p:spPr>
        <p:txBody>
          <a:bodyPr/>
          <a:p/>
        </p:txBody>
      </p:sp>
      <p:sp>
        <p:nvSpPr>
          <p:cNvPr id="105" name="" descr="{&quot;isTemplate&quot;:true,&quot;type&quot;:&quot;text&quot;}"/>
          <p:cNvSpPr txBox="1"/>
          <p:nvPr/>
        </p:nvSpPr>
        <p:spPr>
          <a:xfrm rot="0" flipH="0" flipV="0">
            <a:off x="6172200" y="4371975"/>
            <a:ext cx="5467350" cy="190500"/>
          </a:xfrm>
          <a:prstGeom prst="rect"/>
        </p:spPr>
        <p:txBody>
          <a:bodyPr wrap="none" lIns="0" tIns="0" rIns="0" bIns="0"/>
          <a:p>
            <a:pPr>
              <a:lnSpc>
                <a:spcPct val="100000"/>
              </a:lnSpc>
            </a:pPr>
            <a:r>
              <a:rPr lang="en-US" sz="1200" b="1">
                <a:solidFill>
                  <a:srgbClr val="D9534F"/>
                </a:solidFill>
                <a:latin typeface="Microsoft YaHei"/>
                <a:ea typeface="Microsoft YaHei"/>
              </a:rPr>
              <a:t>Do not use it when…</a:t>
            </a:r>
            <a:endParaRPr/>
          </a:p>
        </p:txBody>
      </p:sp>
      <p:sp>
        <p:nvSpPr>
          <p:cNvPr id="106" name="" descr="{&quot;isTemplate&quot;:true,&quot;type&quot;:&quot;text&quot;}"/>
          <p:cNvSpPr txBox="1"/>
          <p:nvPr/>
        </p:nvSpPr>
        <p:spPr>
          <a:xfrm rot="0" flipH="0" flipV="0">
            <a:off x="6172200" y="4610100"/>
            <a:ext cx="5467350" cy="476250"/>
          </a:xfrm>
          <a:prstGeom prst="rect"/>
        </p:spPr>
        <p:txBody>
          <a:bodyPr wrap="square" lIns="0" tIns="0" rIns="0" bIns="0">
            <a:normAutofit/>
          </a:bodyPr>
          <a:p>
            <a:pPr>
              <a:lnSpc>
                <a:spcPct val="160000"/>
              </a:lnSpc>
            </a:pPr>
            <a:r>
              <a:rPr lang="en-US" sz="975">
                <a:solidFill>
                  <a:srgbClr val="4A5568"/>
                </a:solidFill>
                <a:latin typeface="Microsoft YaHei"/>
                <a:ea typeface="Microsoft YaHei"/>
              </a:rPr>
              <a:t>The two roles share almost nothing. A hollow triangle that earns you one line of saving is one more thing the reader must decode — draw two actors instead.</a:t>
            </a:r>
            <a:endParaRPr/>
          </a:p>
        </p:txBody>
      </p:sp>
      <p:sp>
        <p:nvSpPr>
          <p:cNvPr id="107" name=""/>
          <p:cNvSpPr/>
          <p:nvPr/>
        </p:nvSpPr>
        <p:spPr>
          <a:xfrm rot="0" flipH="0" flipV="0">
            <a:off x="5962650" y="5372100"/>
            <a:ext cx="5848350" cy="457200"/>
          </a:xfrm>
          <a:prstGeom prst="roundRect">
            <a:avLst>
              <a:gd name="adj" fmla="val 16667"/>
            </a:avLst>
          </a:prstGeom>
          <a:solidFill>
            <a:srgbClr val="FFFFFF"/>
          </a:solidFill>
          <a:ln w="12700">
            <a:solidFill>
              <a:srgbClr val="D6DCE5"/>
            </a:solidFill>
            <a:prstDash val="dash"/>
          </a:ln>
        </p:spPr>
        <p:txBody>
          <a:bodyPr/>
          <a:p/>
        </p:txBody>
      </p:sp>
      <p:sp>
        <p:nvSpPr>
          <p:cNvPr id="108" name="" descr="{&quot;isTemplate&quot;:true,&quot;type&quot;:&quot;text&quot;}"/>
          <p:cNvSpPr txBox="1"/>
          <p:nvPr/>
        </p:nvSpPr>
        <p:spPr>
          <a:xfrm rot="0" flipH="0" flipV="0">
            <a:off x="6115050" y="5486400"/>
            <a:ext cx="5543550" cy="228600"/>
          </a:xfrm>
          <a:prstGeom prst="rect"/>
        </p:spPr>
        <p:txBody>
          <a:bodyPr wrap="none" lIns="0" tIns="0" rIns="0" bIns="0"/>
          <a:p>
            <a:pPr>
              <a:lnSpc>
                <a:spcPct val="155000"/>
              </a:lnSpc>
            </a:pPr>
            <a:r>
              <a:rPr lang="en-US" sz="938">
                <a:solidFill>
                  <a:srgbClr val="8B97A8"/>
                </a:solidFill>
                <a:latin typeface="Microsoft YaHei"/>
                <a:ea typeface="Microsoft YaHei"/>
              </a:rPr>
              <a:t>Rule of thumb: if you have to explain why the triangle is there, take it out.</a:t>
            </a:r>
            <a:endParaRPr/>
          </a:p>
        </p:txBody>
      </p:sp>
      <p:sp>
        <p:nvSpPr>
          <p:cNvPr id="109" name="" descr="{&quot;isTemplate&quot;:true,&quot;type&quot;:&quot;text&quot;}"/>
          <p:cNvSpPr txBox="1"/>
          <p:nvPr/>
        </p:nvSpPr>
        <p:spPr>
          <a:xfrm rot="0" flipH="0" flipV="0">
            <a:off x="381000" y="6619875"/>
            <a:ext cx="3400425" cy="152400"/>
          </a:xfrm>
          <a:prstGeom prst="rect"/>
        </p:spPr>
        <p:txBody>
          <a:bodyPr wrap="none" lIns="0" tIns="0" rIns="0" bIns="0"/>
          <a:p>
            <a:pPr>
              <a:lnSpc>
                <a:spcPct val="100000"/>
              </a:lnSpc>
            </a:pPr>
            <a:r>
              <a:rPr lang="en-US" sz="975">
                <a:solidFill>
                  <a:srgbClr val="8B97A8"/>
                </a:solidFill>
                <a:latin typeface="Microsoft YaHei"/>
                <a:ea typeface="Microsoft YaHei"/>
              </a:rPr>
              <a:t>ISAD · Fall 2026 · Generalization is a saving, not a decoration</a:t>
            </a:r>
            <a:endParaRPr/>
          </a:p>
        </p:txBody>
      </p:sp>
      <p:sp>
        <p:nvSpPr>
          <p:cNvPr id="110" name="" descr="{&quot;isTemplate&quot;:true,&quot;type&quot;:&quot;text&quot;}"/>
          <p:cNvSpPr txBox="1"/>
          <p:nvPr/>
        </p:nvSpPr>
        <p:spPr>
          <a:xfrm rot="0" flipH="0" flipV="0">
            <a:off x="11401425" y="6619875"/>
            <a:ext cx="409575" cy="161925"/>
          </a:xfrm>
          <a:prstGeom prst="rect"/>
        </p:spPr>
        <p:txBody>
          <a:bodyPr wrap="none" lIns="0" tIns="0" rIns="0" bIns="0"/>
          <a:p>
            <a:pPr>
              <a:lnSpc>
                <a:spcPct val="100000"/>
              </a:lnSpc>
            </a:pPr>
            <a:r>
              <a:rPr lang="en-US" sz="1050" b="1">
                <a:solidFill>
                  <a:srgbClr val="1E4FA8"/>
                </a:solidFill>
                <a:latin typeface="Microsoft YaHei"/>
                <a:ea typeface="Microsoft YaHei"/>
              </a:rPr>
              <a:t>12 / 38</a:t>
            </a:r>
            <a:endParaRPr/>
          </a:p>
        </p:txBody>
      </p:sp>
    </p:spTree>
  </p:cSld>
</p:sld>
</file>

<file path=ppt/slides/slide13.xml><?xml version="1.0" encoding="utf-8"?>
<p:sld xmlns:asvg="http://schemas.microsoft.com/office/drawing/2016/SVG/main" xmlns:a="http://schemas.openxmlformats.org/drawingml/2006/main" xmlns:r="http://schemas.openxmlformats.org/officeDocument/2006/relationships" xmlns:p="http://schemas.openxmlformats.org/presentationml/2006/main" xmlns:mc="http://schemas.openxmlformats.org/markup-compatibility/2006" mc:Ignorable="asvg">
  <p:cSld>
    <p:spTree>
      <p:nvGrpSpPr>
        <p:cNvPr id="111" name="" descr="&lt;Slide style={{ background: '#FFFFFF', padding: 0 }}&gt;&#10;  &lt;Box style={{ height: 72, background: '#1E4FA8', padding: '0 40px', flexDirection: 'row', alignItems: 'center', justifyContent: 'space-between' }}&gt;&#10;    &lt;Text style={{ fontSize: 15, color: '#B9CDF0', letterSpacing: 1 }}&gt;ISAD · INFORMATION SYSTEMS ANALYSIS &amp;amp; DESIGN&lt;/Text&gt;&#10;    &lt;Text style={{ fontSize: 15, color: '#B9CDF0' }}&gt;W04 · ACTORS &amp;amp; GOALS&lt;/Text&gt;&#10;  &lt;/Box&gt;&#10;  &lt;Box style={{ padding: '14px 40px 0 40px', flexDirection: 'row', alignItems: 'center', justifyContent: 'space-between' }}&gt;&#10;    &lt;Text style={{ fontSize: 29, fontWeight: 'bold', color: '#0E3F8C' }}&gt;Naming a Use Case&lt;/Text&gt;&#10;    &lt;Text style={{ fontSize: 14, color: '#1E4FA8', fontWeight: 'bold' }}&gt;13 / 38&lt;/Text&gt;&#10;  &lt;/Box&gt;&#10;  &lt;Box style={{ flex: 1, padding: '12px 40px 0 40px', flexDirection: 'row', gap: 24 }}&gt;&#10;    &lt;Box style={{ width: 310, flexDirection: 'column', gap: 12, justifyContent: 'center' }}&gt;&#10;      &lt;Box style={{ padding: '18px 18px', background: '#F0F5FC', borderRadius: 10, borderTop: '4px solid #1E4FA8' }}&gt;&#10;        &lt;Text style={{ fontSize: 17, fontWeight: 'bold', color: '#0E3F8C' }}&gt;Verb + object&lt;/Text&gt;&#10;        &lt;Text style={{ fontSize: 13, color: '#4A5568', lineHeight: 1.6, marginTop: 6 }}&gt;&#10;          Two or three words. An active verb, then the thing the actor cares about.&#10;        &lt;/Text&gt;&#10;      &lt;/Box&gt;&#10;      &lt;Box style={{ padding: '18px 18px', background: '#F7F9FC', borderRadius: 10, borderTop: '4px solid #3D7BD9' }}&gt;&#10;        &lt;Text style={{ fontSize: 17, fontWeight: 'bold', color: '#0E3F8C' }}&gt;Business words&lt;/Text&gt;&#10;        &lt;Text style={{ fontSize: 13, color: '#4A5568', lineHeight: 1.6, marginTop: 6 }}&gt;&#10;          Say “Place Order”, not “Insert Row”. A manager must be able to read the diagram without a developer next to them.&#10;        &lt;/Text&gt;&#10;      &lt;/Box&gt;&#10;      &lt;Box style={{ padding: '18px 18px', background: '#FDF3F3', borderRadius: 10, borderTop: '4px solid #D9534F' }}&gt;&#10;        &lt;Text style={{ fontSize: 17, fontWeight: 'bold', color: '#D9534F' }}&gt;Never a step&lt;/Text&gt;&#10;        &lt;Text style={{ fontSize: 13, color: '#4A5568', lineHeight: 1.6, marginTop: 6 }}&gt;&#10;          If the name is something the actor does on the way, it belongs inside a use case, not on the diagram.&#10;        &lt;/Text&gt;&#10;      &lt;/Box&gt;&#10;    &lt;/Box&gt;&#10;    &lt;Box style={{ flex: 1, flexDirection: 'column', justifyContent: 'center', gap: 10 }}&gt;&#10;      {[&#10;        ['Order Processing', 'Place Order', 'A noun phrase describes a topic, not a goal'],&#10;        ['Validate Credit Card', 'Pay for Order', 'A single step. The actor wants the order paid, not a check'],&#10;        ['Order Management System', 'Manage Today’s Menu', 'You named the software, or the table — not the goal'],&#10;        ['User Logs In and Then Browses', 'Browse Menu', 'Two goals glued together. Split them; log in is an include'],&#10;      ].map((r) =&gt; (&#10;        &lt;Box key={r[0]} style={{ flexDirection: 'row', alignItems: 'stretch', gap: 12 }}&gt;&#10;          &lt;Box style={{ flex: 1, padding: '13px 15px', background: '#FDF3F3', borderRadius: 8, borderLeft: '3px solid #D9534F', justifyContent: 'center' }}&gt;&#10;            &lt;Text style={{ fontSize: 11, color: '#8B97A8', marginBottom: 2 }}&gt;WEAK&lt;/Text&gt;&#10;            &lt;Text style={{ fontSize: 15, color: '#1A2230', fontWeight: '600' }}&gt;{r[0]}&lt;/Text&gt;&#10;          &lt;/Box&gt;&#10;          &lt;Box style={{ width: 30, justifyContent: 'center', alignItems: 'center' }}&gt;&#10;            &lt;FAIcon name='long-arrow-alt-right' style={{ fill: '#1E4FA8', width: 20, height: 20 }} /&gt;&#10;          &lt;/Box&gt;&#10;          &lt;Box style={{ flex: 1, padding: '13px 15px', background: '#F0F5FC', borderRadius: 8, borderLeft: '3px solid #1E4FA8', justifyContent: 'center' }}&gt;&#10;            &lt;Text style={{ fontSize: 11, color: '#8B97A8', marginBottom: 2 }}&gt;BETTER&lt;/Text&gt;&#10;            &lt;Text style={{ fontSize: 15, color: '#0E3F8C', fontWeight: 'bold' }}&gt;{r[1]}&lt;/Text&gt;&#10;          &lt;/Box&gt;&#10;          &lt;Box style={{ width: 300, padding: '13px 15px', background: '#FFFFFF', borderRadius: 8, border: '1px solid #D6DCE5', justifyContent: 'center' }}&gt;&#10;            &lt;Text style={{ fontSize: 12, color: '#4A5568', lineHeight: 1.5 }}&gt;{r[2]}&lt;/Text&gt;&#10;          &lt;/Box&gt;&#10;        &lt;/Box&gt;&#10;      ))}&#10;    &lt;/Box&gt;&#10;  &lt;/Box&gt;&#10;  &lt;Box style={{ height: 46, background: '#0E3F8C', padding: '0 40px', flexDirection: 'row', alignItems: 'center', justifyContent: 'center' }}&gt;&#10;    &lt;Text style={{ fontSize: 16, color: '#FFFFFF', fontWeight: '600' }}&gt;Read your names aloud to the actor. If it sounds like a screen label, try again.&lt;/Text&gt;&#10;  &lt;/Box&gt;&#10;&lt;/Slide&gt;"/>
        <p:cNvGrpSpPr/>
        <p:nvPr/>
      </p:nvGrpSpPr>
      <p:grpSpPr>
        <a:xfrm>
          <a:off x="0" y="0"/>
          <a:ext cx="0" cy="0"/>
          <a:chOff x="0" y="0"/>
          <a:chExt cx="0" cy="0"/>
        </a:xfrm>
      </p:grpSpPr>
      <p:sp>
        <p:nvSpPr>
          <p:cNvPr id="112" name=""/>
          <p:cNvSpPr/>
          <p:nvPr/>
        </p:nvSpPr>
        <p:spPr>
          <a:xfrm rot="0" flipH="0" flipV="0">
            <a:off x="0" y="0"/>
            <a:ext cx="12192000" cy="6858000"/>
          </a:xfrm>
          <a:prstGeom prst="rect">
            <a:avLst/>
          </a:prstGeom>
          <a:solidFill>
            <a:srgbClr val="FFFFFF"/>
          </a:solidFill>
          <a:ln/>
        </p:spPr>
        <p:txBody>
          <a:bodyPr/>
          <a:p/>
        </p:txBody>
      </p:sp>
      <p:sp>
        <p:nvSpPr>
          <p:cNvPr id="113" name=""/>
          <p:cNvSpPr/>
          <p:nvPr/>
        </p:nvSpPr>
        <p:spPr>
          <a:xfrm rot="0" flipH="0" flipV="0">
            <a:off x="0" y="0"/>
            <a:ext cx="12192000" cy="685800"/>
          </a:xfrm>
          <a:prstGeom prst="rect">
            <a:avLst/>
          </a:prstGeom>
          <a:solidFill>
            <a:srgbClr val="1E4FA8"/>
          </a:solidFill>
          <a:ln/>
        </p:spPr>
        <p:txBody>
          <a:bodyPr/>
          <a:p/>
        </p:txBody>
      </p:sp>
      <p:sp>
        <p:nvSpPr>
          <p:cNvPr id="114" name="" descr="{&quot;isTemplate&quot;:true,&quot;type&quot;:&quot;text&quot;}"/>
          <p:cNvSpPr txBox="1"/>
          <p:nvPr/>
        </p:nvSpPr>
        <p:spPr>
          <a:xfrm rot="0" flipH="0" flipV="0">
            <a:off x="381000" y="257175"/>
            <a:ext cx="4067175" cy="171450"/>
          </a:xfrm>
          <a:prstGeom prst="rect"/>
        </p:spPr>
        <p:txBody>
          <a:bodyPr wrap="none" lIns="0" tIns="0" rIns="0" bIns="0"/>
          <a:p>
            <a:pPr>
              <a:lnSpc>
                <a:spcPct val="100000"/>
              </a:lnSpc>
            </a:pPr>
            <a:r>
              <a:rPr lang="en-US" sz="1125" spc="75">
                <a:solidFill>
                  <a:srgbClr val="B9CDF0"/>
                </a:solidFill>
                <a:latin typeface="Microsoft YaHei"/>
                <a:ea typeface="Microsoft YaHei"/>
              </a:rPr>
              <a:t>ISAD · INFORMATION SYSTEMS ANALYSIS &amp; DESIGN</a:t>
            </a:r>
            <a:endParaRPr/>
          </a:p>
        </p:txBody>
      </p:sp>
      <p:sp>
        <p:nvSpPr>
          <p:cNvPr id="115" name="" descr="{&quot;isTemplate&quot;:true,&quot;type&quot;:&quot;text&quot;}"/>
          <p:cNvSpPr txBox="1"/>
          <p:nvPr/>
        </p:nvSpPr>
        <p:spPr>
          <a:xfrm rot="0" flipH="0" flipV="0">
            <a:off x="10125075" y="257175"/>
            <a:ext cx="1685925" cy="171450"/>
          </a:xfrm>
          <a:prstGeom prst="rect"/>
        </p:spPr>
        <p:txBody>
          <a:bodyPr wrap="none" lIns="0" tIns="0" rIns="0" bIns="0"/>
          <a:p>
            <a:pPr>
              <a:lnSpc>
                <a:spcPct val="100000"/>
              </a:lnSpc>
            </a:pPr>
            <a:r>
              <a:rPr lang="en-US" sz="1125">
                <a:solidFill>
                  <a:srgbClr val="B9CDF0"/>
                </a:solidFill>
                <a:latin typeface="Microsoft YaHei"/>
                <a:ea typeface="Microsoft YaHei"/>
              </a:rPr>
              <a:t>W04 · ACTORS &amp; GOALS</a:t>
            </a:r>
            <a:endParaRPr/>
          </a:p>
        </p:txBody>
      </p:sp>
      <p:sp>
        <p:nvSpPr>
          <p:cNvPr id="116" name="" descr="{&quot;isTemplate&quot;:true,&quot;type&quot;:&quot;text&quot;}"/>
          <p:cNvSpPr txBox="1"/>
          <p:nvPr/>
        </p:nvSpPr>
        <p:spPr>
          <a:xfrm rot="0" flipH="0" flipV="0">
            <a:off x="381000" y="819150"/>
            <a:ext cx="2571750" cy="333375"/>
          </a:xfrm>
          <a:prstGeom prst="rect"/>
        </p:spPr>
        <p:txBody>
          <a:bodyPr wrap="none" lIns="0" tIns="0" rIns="0" bIns="0"/>
          <a:p>
            <a:pPr>
              <a:lnSpc>
                <a:spcPct val="100000"/>
              </a:lnSpc>
            </a:pPr>
            <a:r>
              <a:rPr lang="en-US" sz="2175" b="1">
                <a:solidFill>
                  <a:srgbClr val="0E3F8C"/>
                </a:solidFill>
                <a:latin typeface="Microsoft YaHei"/>
                <a:ea typeface="Microsoft YaHei"/>
              </a:rPr>
              <a:t>Naming a Use Case</a:t>
            </a:r>
            <a:endParaRPr/>
          </a:p>
        </p:txBody>
      </p:sp>
      <p:sp>
        <p:nvSpPr>
          <p:cNvPr id="117" name="" descr="{&quot;isTemplate&quot;:true,&quot;type&quot;:&quot;text&quot;}"/>
          <p:cNvSpPr txBox="1"/>
          <p:nvPr/>
        </p:nvSpPr>
        <p:spPr>
          <a:xfrm rot="0" flipH="0" flipV="0">
            <a:off x="11401425" y="904875"/>
            <a:ext cx="409575" cy="161925"/>
          </a:xfrm>
          <a:prstGeom prst="rect"/>
        </p:spPr>
        <p:txBody>
          <a:bodyPr wrap="none" lIns="0" tIns="0" rIns="0" bIns="0"/>
          <a:p>
            <a:pPr>
              <a:lnSpc>
                <a:spcPct val="100000"/>
              </a:lnSpc>
            </a:pPr>
            <a:r>
              <a:rPr lang="en-US" sz="1050" b="1">
                <a:solidFill>
                  <a:srgbClr val="1E4FA8"/>
                </a:solidFill>
                <a:latin typeface="Microsoft YaHei"/>
                <a:ea typeface="Microsoft YaHei"/>
              </a:rPr>
              <a:t>13 / 38</a:t>
            </a:r>
            <a:endParaRPr/>
          </a:p>
        </p:txBody>
      </p:sp>
      <p:sp>
        <p:nvSpPr>
          <p:cNvPr id="118" name=""/>
          <p:cNvSpPr/>
          <p:nvPr/>
        </p:nvSpPr>
        <p:spPr>
          <a:xfrm rot="0" flipH="0" flipV="0">
            <a:off x="381000" y="1857375"/>
            <a:ext cx="2952750" cy="1114425"/>
          </a:xfrm>
          <a:prstGeom prst="roundRect">
            <a:avLst>
              <a:gd name="adj" fmla="val 8547"/>
            </a:avLst>
          </a:prstGeom>
          <a:solidFill>
            <a:srgbClr val="F0F5FC"/>
          </a:solidFill>
          <a:ln/>
        </p:spPr>
        <p:txBody>
          <a:bodyPr/>
          <a:p/>
        </p:txBody>
      </p:sp>
      <p:sp>
        <p:nvSpPr>
          <p:cNvPr id="119" name=""/>
          <p:cNvSpPr/>
          <p:nvPr/>
        </p:nvSpPr>
        <p:spPr>
          <a:xfrm rot="0" flipH="0" flipV="0">
            <a:off x="381000" y="1857375"/>
            <a:ext cx="2952750" cy="1114425"/>
          </a:xfrm>
          <a:custGeom>
            <a:pathLst>
              <a:path w="310" h="117">
                <a:moveTo>
                  <a:pt x="300" y="0"/>
                </a:moveTo>
                <a:cubicBezTo>
                  <a:pt x="305" y="0"/>
                  <a:pt x="309" y="4"/>
                  <a:pt x="310" y="8"/>
                </a:cubicBezTo>
                <a:cubicBezTo>
                  <a:pt x="309" y="6"/>
                  <a:pt x="307" y="4"/>
                  <a:pt x="304" y="4"/>
                </a:cubicBezTo>
                <a:lnTo>
                  <a:pt x="6" y="4"/>
                </a:lnTo>
                <a:cubicBezTo>
                  <a:pt x="3" y="4"/>
                  <a:pt x="1" y="6"/>
                  <a:pt x="0" y="9"/>
                </a:cubicBezTo>
                <a:cubicBezTo>
                  <a:pt x="1" y="4"/>
                  <a:pt x="5" y="0"/>
                  <a:pt x="10" y="0"/>
                </a:cubicBezTo>
                <a:lnTo>
                  <a:pt x="300" y="0"/>
                </a:lnTo>
                <a:close/>
              </a:path>
            </a:pathLst>
          </a:custGeom>
          <a:solidFill>
            <a:srgbClr val="1E4FA8"/>
          </a:solidFill>
          <a:ln/>
        </p:spPr>
        <p:txBody>
          <a:bodyPr/>
          <a:p/>
        </p:txBody>
      </p:sp>
      <p:sp>
        <p:nvSpPr>
          <p:cNvPr id="120" name="" descr="{&quot;isTemplate&quot;:true,&quot;type&quot;:&quot;text&quot;}"/>
          <p:cNvSpPr txBox="1"/>
          <p:nvPr/>
        </p:nvSpPr>
        <p:spPr>
          <a:xfrm rot="0" flipH="0" flipV="0">
            <a:off x="552450" y="2028825"/>
            <a:ext cx="2609850" cy="200025"/>
          </a:xfrm>
          <a:prstGeom prst="rect"/>
        </p:spPr>
        <p:txBody>
          <a:bodyPr wrap="none" lIns="0" tIns="0" rIns="0" bIns="0"/>
          <a:p>
            <a:pPr>
              <a:lnSpc>
                <a:spcPct val="100000"/>
              </a:lnSpc>
            </a:pPr>
            <a:r>
              <a:rPr lang="en-US" sz="1275" b="1">
                <a:solidFill>
                  <a:srgbClr val="0E3F8C"/>
                </a:solidFill>
                <a:latin typeface="Microsoft YaHei"/>
                <a:ea typeface="Microsoft YaHei"/>
              </a:rPr>
              <a:t>Verb + object</a:t>
            </a:r>
            <a:endParaRPr/>
          </a:p>
        </p:txBody>
      </p:sp>
      <p:sp>
        <p:nvSpPr>
          <p:cNvPr id="121" name="" descr="{&quot;isTemplate&quot;:true,&quot;type&quot;:&quot;text&quot;}"/>
          <p:cNvSpPr txBox="1"/>
          <p:nvPr/>
        </p:nvSpPr>
        <p:spPr>
          <a:xfrm rot="0" flipH="0" flipV="0">
            <a:off x="552450" y="2286000"/>
            <a:ext cx="2609850" cy="476250"/>
          </a:xfrm>
          <a:prstGeom prst="rect"/>
        </p:spPr>
        <p:txBody>
          <a:bodyPr wrap="square" lIns="0" tIns="0" rIns="0" bIns="0">
            <a:normAutofit/>
          </a:bodyPr>
          <a:p>
            <a:pPr>
              <a:lnSpc>
                <a:spcPct val="160000"/>
              </a:lnSpc>
            </a:pPr>
            <a:r>
              <a:rPr lang="en-US" sz="975">
                <a:solidFill>
                  <a:srgbClr val="4A5568"/>
                </a:solidFill>
                <a:latin typeface="Microsoft YaHei"/>
                <a:ea typeface="Microsoft YaHei"/>
              </a:rPr>
              <a:t>Two or three words. An active verb, then the thing the actor cares about.</a:t>
            </a:r>
            <a:endParaRPr/>
          </a:p>
        </p:txBody>
      </p:sp>
      <p:sp>
        <p:nvSpPr>
          <p:cNvPr id="122" name=""/>
          <p:cNvSpPr/>
          <p:nvPr/>
        </p:nvSpPr>
        <p:spPr>
          <a:xfrm rot="0" flipH="0" flipV="0">
            <a:off x="381000" y="3086100"/>
            <a:ext cx="2952750" cy="1352550"/>
          </a:xfrm>
          <a:prstGeom prst="roundRect">
            <a:avLst>
              <a:gd name="adj" fmla="val 7042"/>
            </a:avLst>
          </a:prstGeom>
          <a:solidFill>
            <a:srgbClr val="F7F9FC"/>
          </a:solidFill>
          <a:ln/>
        </p:spPr>
        <p:txBody>
          <a:bodyPr/>
          <a:p/>
        </p:txBody>
      </p:sp>
      <p:sp>
        <p:nvSpPr>
          <p:cNvPr id="123" name=""/>
          <p:cNvSpPr/>
          <p:nvPr/>
        </p:nvSpPr>
        <p:spPr>
          <a:xfrm rot="0" flipH="0" flipV="0">
            <a:off x="381000" y="3086100"/>
            <a:ext cx="2952750" cy="1352550"/>
          </a:xfrm>
          <a:custGeom>
            <a:pathLst>
              <a:path w="310" h="142">
                <a:moveTo>
                  <a:pt x="300" y="0"/>
                </a:moveTo>
                <a:cubicBezTo>
                  <a:pt x="305" y="0"/>
                  <a:pt x="309" y="4"/>
                  <a:pt x="310" y="8"/>
                </a:cubicBezTo>
                <a:cubicBezTo>
                  <a:pt x="309" y="6"/>
                  <a:pt x="307" y="4"/>
                  <a:pt x="304" y="4"/>
                </a:cubicBezTo>
                <a:lnTo>
                  <a:pt x="6" y="4"/>
                </a:lnTo>
                <a:cubicBezTo>
                  <a:pt x="3" y="4"/>
                  <a:pt x="1" y="6"/>
                  <a:pt x="0" y="9"/>
                </a:cubicBezTo>
                <a:cubicBezTo>
                  <a:pt x="1" y="4"/>
                  <a:pt x="5" y="0"/>
                  <a:pt x="10" y="0"/>
                </a:cubicBezTo>
                <a:lnTo>
                  <a:pt x="300" y="0"/>
                </a:lnTo>
                <a:close/>
              </a:path>
            </a:pathLst>
          </a:custGeom>
          <a:solidFill>
            <a:srgbClr val="3D7BD9"/>
          </a:solidFill>
          <a:ln/>
        </p:spPr>
        <p:txBody>
          <a:bodyPr/>
          <a:p/>
        </p:txBody>
      </p:sp>
      <p:sp>
        <p:nvSpPr>
          <p:cNvPr id="124" name="" descr="{&quot;isTemplate&quot;:true,&quot;type&quot;:&quot;text&quot;}"/>
          <p:cNvSpPr txBox="1"/>
          <p:nvPr/>
        </p:nvSpPr>
        <p:spPr>
          <a:xfrm rot="0" flipH="0" flipV="0">
            <a:off x="552450" y="3257550"/>
            <a:ext cx="2609850" cy="200025"/>
          </a:xfrm>
          <a:prstGeom prst="rect"/>
        </p:spPr>
        <p:txBody>
          <a:bodyPr wrap="none" lIns="0" tIns="0" rIns="0" bIns="0"/>
          <a:p>
            <a:pPr>
              <a:lnSpc>
                <a:spcPct val="100000"/>
              </a:lnSpc>
            </a:pPr>
            <a:r>
              <a:rPr lang="en-US" sz="1275" b="1">
                <a:solidFill>
                  <a:srgbClr val="0E3F8C"/>
                </a:solidFill>
                <a:latin typeface="Microsoft YaHei"/>
                <a:ea typeface="Microsoft YaHei"/>
              </a:rPr>
              <a:t>Business words</a:t>
            </a:r>
            <a:endParaRPr/>
          </a:p>
        </p:txBody>
      </p:sp>
      <p:sp>
        <p:nvSpPr>
          <p:cNvPr id="125" name="" descr="{&quot;isTemplate&quot;:true,&quot;type&quot;:&quot;text&quot;}"/>
          <p:cNvSpPr txBox="1"/>
          <p:nvPr/>
        </p:nvSpPr>
        <p:spPr>
          <a:xfrm rot="0" flipH="0" flipV="0">
            <a:off x="552450" y="3514725"/>
            <a:ext cx="2609850" cy="714375"/>
          </a:xfrm>
          <a:prstGeom prst="rect"/>
        </p:spPr>
        <p:txBody>
          <a:bodyPr wrap="square" lIns="0" tIns="0" rIns="0" bIns="0">
            <a:normAutofit/>
          </a:bodyPr>
          <a:p>
            <a:pPr>
              <a:lnSpc>
                <a:spcPct val="160000"/>
              </a:lnSpc>
            </a:pPr>
            <a:r>
              <a:rPr lang="en-US" sz="975">
                <a:solidFill>
                  <a:srgbClr val="4A5568"/>
                </a:solidFill>
                <a:latin typeface="Microsoft YaHei"/>
                <a:ea typeface="Microsoft YaHei"/>
              </a:rPr>
              <a:t>Say “Place Order”, not “Insert Row”. A manager must be able to read the diagram without a developer next to them.</a:t>
            </a:r>
            <a:endParaRPr/>
          </a:p>
        </p:txBody>
      </p:sp>
      <p:sp>
        <p:nvSpPr>
          <p:cNvPr id="126" name=""/>
          <p:cNvSpPr/>
          <p:nvPr/>
        </p:nvSpPr>
        <p:spPr>
          <a:xfrm rot="0" flipH="0" flipV="0">
            <a:off x="381000" y="4552950"/>
            <a:ext cx="2952750" cy="1352550"/>
          </a:xfrm>
          <a:prstGeom prst="roundRect">
            <a:avLst>
              <a:gd name="adj" fmla="val 7042"/>
            </a:avLst>
          </a:prstGeom>
          <a:solidFill>
            <a:srgbClr val="FDF3F3"/>
          </a:solidFill>
          <a:ln/>
        </p:spPr>
        <p:txBody>
          <a:bodyPr/>
          <a:p/>
        </p:txBody>
      </p:sp>
      <p:sp>
        <p:nvSpPr>
          <p:cNvPr id="127" name=""/>
          <p:cNvSpPr/>
          <p:nvPr/>
        </p:nvSpPr>
        <p:spPr>
          <a:xfrm rot="0" flipH="0" flipV="0">
            <a:off x="381000" y="4552950"/>
            <a:ext cx="2952750" cy="1352550"/>
          </a:xfrm>
          <a:custGeom>
            <a:pathLst>
              <a:path w="310" h="142">
                <a:moveTo>
                  <a:pt x="300" y="0"/>
                </a:moveTo>
                <a:cubicBezTo>
                  <a:pt x="305" y="0"/>
                  <a:pt x="309" y="4"/>
                  <a:pt x="310" y="8"/>
                </a:cubicBezTo>
                <a:cubicBezTo>
                  <a:pt x="309" y="6"/>
                  <a:pt x="307" y="4"/>
                  <a:pt x="304" y="4"/>
                </a:cubicBezTo>
                <a:lnTo>
                  <a:pt x="6" y="4"/>
                </a:lnTo>
                <a:cubicBezTo>
                  <a:pt x="3" y="4"/>
                  <a:pt x="1" y="6"/>
                  <a:pt x="0" y="9"/>
                </a:cubicBezTo>
                <a:cubicBezTo>
                  <a:pt x="1" y="4"/>
                  <a:pt x="5" y="0"/>
                  <a:pt x="10" y="0"/>
                </a:cubicBezTo>
                <a:lnTo>
                  <a:pt x="300" y="0"/>
                </a:lnTo>
                <a:close/>
              </a:path>
            </a:pathLst>
          </a:custGeom>
          <a:solidFill>
            <a:srgbClr val="D9534F"/>
          </a:solidFill>
          <a:ln/>
        </p:spPr>
        <p:txBody>
          <a:bodyPr/>
          <a:p/>
        </p:txBody>
      </p:sp>
      <p:sp>
        <p:nvSpPr>
          <p:cNvPr id="128" name="" descr="{&quot;isTemplate&quot;:true,&quot;type&quot;:&quot;text&quot;}"/>
          <p:cNvSpPr txBox="1"/>
          <p:nvPr/>
        </p:nvSpPr>
        <p:spPr>
          <a:xfrm rot="0" flipH="0" flipV="0">
            <a:off x="552450" y="4724400"/>
            <a:ext cx="2609850" cy="200025"/>
          </a:xfrm>
          <a:prstGeom prst="rect"/>
        </p:spPr>
        <p:txBody>
          <a:bodyPr wrap="none" lIns="0" tIns="0" rIns="0" bIns="0"/>
          <a:p>
            <a:pPr>
              <a:lnSpc>
                <a:spcPct val="100000"/>
              </a:lnSpc>
            </a:pPr>
            <a:r>
              <a:rPr lang="en-US" sz="1275" b="1">
                <a:solidFill>
                  <a:srgbClr val="D9534F"/>
                </a:solidFill>
                <a:latin typeface="Microsoft YaHei"/>
                <a:ea typeface="Microsoft YaHei"/>
              </a:rPr>
              <a:t>Never a step</a:t>
            </a:r>
            <a:endParaRPr/>
          </a:p>
        </p:txBody>
      </p:sp>
      <p:sp>
        <p:nvSpPr>
          <p:cNvPr id="129" name="" descr="{&quot;isTemplate&quot;:true,&quot;type&quot;:&quot;text&quot;}"/>
          <p:cNvSpPr txBox="1"/>
          <p:nvPr/>
        </p:nvSpPr>
        <p:spPr>
          <a:xfrm rot="0" flipH="0" flipV="0">
            <a:off x="552450" y="4981575"/>
            <a:ext cx="2609850" cy="714375"/>
          </a:xfrm>
          <a:prstGeom prst="rect"/>
        </p:spPr>
        <p:txBody>
          <a:bodyPr wrap="square" lIns="0" tIns="0" rIns="0" bIns="0">
            <a:normAutofit/>
          </a:bodyPr>
          <a:p>
            <a:pPr>
              <a:lnSpc>
                <a:spcPct val="160000"/>
              </a:lnSpc>
            </a:pPr>
            <a:r>
              <a:rPr lang="en-US" sz="975">
                <a:solidFill>
                  <a:srgbClr val="4A5568"/>
                </a:solidFill>
                <a:latin typeface="Microsoft YaHei"/>
                <a:ea typeface="Microsoft YaHei"/>
              </a:rPr>
              <a:t>If the name is something the actor does on the way, it belongs inside a use case, not on the diagram.</a:t>
            </a:r>
            <a:endParaRPr/>
          </a:p>
        </p:txBody>
      </p:sp>
      <p:sp>
        <p:nvSpPr>
          <p:cNvPr id="130" name=""/>
          <p:cNvSpPr/>
          <p:nvPr/>
        </p:nvSpPr>
        <p:spPr>
          <a:xfrm rot="0" flipH="0" flipV="0">
            <a:off x="3590925" y="2381250"/>
            <a:ext cx="2381250" cy="571500"/>
          </a:xfrm>
          <a:prstGeom prst="roundRect">
            <a:avLst>
              <a:gd name="adj" fmla="val 13333"/>
            </a:avLst>
          </a:prstGeom>
          <a:solidFill>
            <a:srgbClr val="FDF3F3"/>
          </a:solidFill>
          <a:ln/>
        </p:spPr>
        <p:txBody>
          <a:bodyPr/>
          <a:p/>
        </p:txBody>
      </p:sp>
      <p:sp>
        <p:nvSpPr>
          <p:cNvPr id="131" name=""/>
          <p:cNvSpPr/>
          <p:nvPr/>
        </p:nvSpPr>
        <p:spPr>
          <a:xfrm rot="0" flipH="0" flipV="0">
            <a:off x="3590925" y="2381250"/>
            <a:ext cx="2381250" cy="571500"/>
          </a:xfrm>
          <a:custGeom>
            <a:pathLst>
              <a:path w="250" h="60">
                <a:moveTo>
                  <a:pt x="8" y="0"/>
                </a:moveTo>
                <a:cubicBezTo>
                  <a:pt x="5" y="0"/>
                  <a:pt x="3" y="2"/>
                  <a:pt x="3" y="5"/>
                </a:cubicBezTo>
                <a:lnTo>
                  <a:pt x="3" y="55"/>
                </a:lnTo>
                <a:cubicBezTo>
                  <a:pt x="3" y="57"/>
                  <a:pt x="5" y="59"/>
                  <a:pt x="7" y="60"/>
                </a:cubicBezTo>
                <a:cubicBezTo>
                  <a:pt x="3" y="59"/>
                  <a:pt x="0" y="56"/>
                  <a:pt x="0" y="52"/>
                </a:cubicBezTo>
                <a:lnTo>
                  <a:pt x="0" y="8"/>
                </a:lnTo>
                <a:cubicBezTo>
                  <a:pt x="0" y="4"/>
                  <a:pt x="3" y="0"/>
                  <a:pt x="8" y="0"/>
                </a:cubicBezTo>
                <a:close/>
              </a:path>
            </a:pathLst>
          </a:custGeom>
          <a:solidFill>
            <a:srgbClr val="D9534F"/>
          </a:solidFill>
          <a:ln/>
        </p:spPr>
        <p:txBody>
          <a:bodyPr/>
          <a:p/>
        </p:txBody>
      </p:sp>
      <p:sp>
        <p:nvSpPr>
          <p:cNvPr id="132" name="" descr="{&quot;isTemplate&quot;:true,&quot;type&quot;:&quot;text&quot;}"/>
          <p:cNvSpPr txBox="1"/>
          <p:nvPr/>
        </p:nvSpPr>
        <p:spPr>
          <a:xfrm rot="0" flipH="0" flipV="0">
            <a:off x="3733800" y="2505075"/>
            <a:ext cx="2066925" cy="133350"/>
          </a:xfrm>
          <a:prstGeom prst="rect"/>
        </p:spPr>
        <p:txBody>
          <a:bodyPr wrap="none" lIns="0" tIns="0" rIns="0" bIns="0"/>
          <a:p>
            <a:pPr>
              <a:lnSpc>
                <a:spcPct val="100000"/>
              </a:lnSpc>
            </a:pPr>
            <a:r>
              <a:rPr lang="en-US" sz="825">
                <a:solidFill>
                  <a:srgbClr val="8B97A8"/>
                </a:solidFill>
                <a:latin typeface="Microsoft YaHei"/>
                <a:ea typeface="Microsoft YaHei"/>
              </a:rPr>
              <a:t>WEAK</a:t>
            </a:r>
            <a:endParaRPr/>
          </a:p>
        </p:txBody>
      </p:sp>
      <p:sp>
        <p:nvSpPr>
          <p:cNvPr id="133" name="" descr="{&quot;isTemplate&quot;:true,&quot;type&quot;:&quot;text&quot;}"/>
          <p:cNvSpPr txBox="1"/>
          <p:nvPr/>
        </p:nvSpPr>
        <p:spPr>
          <a:xfrm rot="0" flipH="0" flipV="0">
            <a:off x="3733800" y="2657475"/>
            <a:ext cx="2066925" cy="171450"/>
          </a:xfrm>
          <a:prstGeom prst="rect"/>
        </p:spPr>
        <p:txBody>
          <a:bodyPr wrap="none" lIns="0" tIns="0" rIns="0" bIns="0"/>
          <a:p>
            <a:pPr>
              <a:lnSpc>
                <a:spcPct val="100000"/>
              </a:lnSpc>
            </a:pPr>
            <a:r>
              <a:rPr lang="en-US" sz="1125" b="1">
                <a:solidFill>
                  <a:srgbClr val="1A2230"/>
                </a:solidFill>
                <a:latin typeface="Microsoft YaHei"/>
                <a:ea typeface="Microsoft YaHei"/>
              </a:rPr>
              <a:t>Order Processing</a:t>
            </a:r>
            <a:endParaRPr/>
          </a:p>
        </p:txBody>
      </p:sp>
      <p:pic>
        <p:nvPicPr>
          <p:cNvPr id="134" name=""/>
          <p:cNvPicPr>
            <a:picLocks noChangeAspect="1"/>
          </p:cNvPicPr>
          <p:nvPr/>
        </p:nvPicPr>
        <p:blipFill>
          <a:blip>
            <a:extLst>
              <a:ext uri="{96DAC541-7B7A-43D3-8B79-37D633B846F1}">
                <asvg:svgBlip r:embed="rId1"/>
              </a:ext>
            </a:extLst>
          </a:blip>
          <a:stretch>
            <a:fillRect/>
          </a:stretch>
        </p:blipFill>
        <p:spPr>
          <a:xfrm rot="0" flipH="0" flipV="0">
            <a:off x="6105525" y="2571750"/>
            <a:ext cx="190500" cy="190500"/>
          </a:xfrm>
          <a:prstGeom prst="rect">
            <a:avLst/>
          </a:prstGeom>
          <a:ln/>
        </p:spPr>
      </p:pic>
      <p:sp>
        <p:nvSpPr>
          <p:cNvPr id="135" name=""/>
          <p:cNvSpPr/>
          <p:nvPr/>
        </p:nvSpPr>
        <p:spPr>
          <a:xfrm rot="0" flipH="0" flipV="0">
            <a:off x="6486525" y="2381250"/>
            <a:ext cx="2381250" cy="571500"/>
          </a:xfrm>
          <a:prstGeom prst="roundRect">
            <a:avLst>
              <a:gd name="adj" fmla="val 13333"/>
            </a:avLst>
          </a:prstGeom>
          <a:solidFill>
            <a:srgbClr val="F0F5FC"/>
          </a:solidFill>
          <a:ln/>
        </p:spPr>
        <p:txBody>
          <a:bodyPr/>
          <a:p/>
        </p:txBody>
      </p:sp>
      <p:sp>
        <p:nvSpPr>
          <p:cNvPr id="136" name=""/>
          <p:cNvSpPr/>
          <p:nvPr/>
        </p:nvSpPr>
        <p:spPr>
          <a:xfrm rot="0" flipH="0" flipV="0">
            <a:off x="6486525" y="2381250"/>
            <a:ext cx="2381250" cy="571500"/>
          </a:xfrm>
          <a:custGeom>
            <a:pathLst>
              <a:path w="250" h="60">
                <a:moveTo>
                  <a:pt x="8" y="0"/>
                </a:moveTo>
                <a:cubicBezTo>
                  <a:pt x="5" y="0"/>
                  <a:pt x="3" y="2"/>
                  <a:pt x="3" y="5"/>
                </a:cubicBezTo>
                <a:lnTo>
                  <a:pt x="3" y="55"/>
                </a:lnTo>
                <a:cubicBezTo>
                  <a:pt x="3" y="57"/>
                  <a:pt x="5" y="59"/>
                  <a:pt x="7" y="60"/>
                </a:cubicBezTo>
                <a:cubicBezTo>
                  <a:pt x="3" y="59"/>
                  <a:pt x="0" y="56"/>
                  <a:pt x="0" y="52"/>
                </a:cubicBezTo>
                <a:lnTo>
                  <a:pt x="0" y="8"/>
                </a:lnTo>
                <a:cubicBezTo>
                  <a:pt x="0" y="4"/>
                  <a:pt x="3" y="0"/>
                  <a:pt x="8" y="0"/>
                </a:cubicBezTo>
                <a:close/>
              </a:path>
            </a:pathLst>
          </a:custGeom>
          <a:solidFill>
            <a:srgbClr val="1E4FA8"/>
          </a:solidFill>
          <a:ln/>
        </p:spPr>
        <p:txBody>
          <a:bodyPr/>
          <a:p/>
        </p:txBody>
      </p:sp>
      <p:sp>
        <p:nvSpPr>
          <p:cNvPr id="137" name="" descr="{&quot;isTemplate&quot;:true,&quot;type&quot;:&quot;text&quot;}"/>
          <p:cNvSpPr txBox="1"/>
          <p:nvPr/>
        </p:nvSpPr>
        <p:spPr>
          <a:xfrm rot="0" flipH="0" flipV="0">
            <a:off x="6629400" y="2505075"/>
            <a:ext cx="2066925" cy="133350"/>
          </a:xfrm>
          <a:prstGeom prst="rect"/>
        </p:spPr>
        <p:txBody>
          <a:bodyPr wrap="none" lIns="0" tIns="0" rIns="0" bIns="0"/>
          <a:p>
            <a:pPr>
              <a:lnSpc>
                <a:spcPct val="100000"/>
              </a:lnSpc>
            </a:pPr>
            <a:r>
              <a:rPr lang="en-US" sz="825">
                <a:solidFill>
                  <a:srgbClr val="8B97A8"/>
                </a:solidFill>
                <a:latin typeface="Microsoft YaHei"/>
                <a:ea typeface="Microsoft YaHei"/>
              </a:rPr>
              <a:t>BETTER</a:t>
            </a:r>
            <a:endParaRPr/>
          </a:p>
        </p:txBody>
      </p:sp>
      <p:sp>
        <p:nvSpPr>
          <p:cNvPr id="138" name="" descr="{&quot;isTemplate&quot;:true,&quot;type&quot;:&quot;text&quot;}"/>
          <p:cNvSpPr txBox="1"/>
          <p:nvPr/>
        </p:nvSpPr>
        <p:spPr>
          <a:xfrm rot="0" flipH="0" flipV="0">
            <a:off x="6629400" y="2657475"/>
            <a:ext cx="2066925" cy="171450"/>
          </a:xfrm>
          <a:prstGeom prst="rect"/>
        </p:spPr>
        <p:txBody>
          <a:bodyPr wrap="none" lIns="0" tIns="0" rIns="0" bIns="0"/>
          <a:p>
            <a:pPr>
              <a:lnSpc>
                <a:spcPct val="100000"/>
              </a:lnSpc>
            </a:pPr>
            <a:r>
              <a:rPr lang="en-US" sz="1125" b="1">
                <a:solidFill>
                  <a:srgbClr val="0E3F8C"/>
                </a:solidFill>
                <a:latin typeface="Microsoft YaHei"/>
                <a:ea typeface="Microsoft YaHei"/>
              </a:rPr>
              <a:t>Place Order</a:t>
            </a:r>
            <a:endParaRPr/>
          </a:p>
        </p:txBody>
      </p:sp>
      <p:sp>
        <p:nvSpPr>
          <p:cNvPr id="139" name=""/>
          <p:cNvSpPr/>
          <p:nvPr/>
        </p:nvSpPr>
        <p:spPr>
          <a:xfrm rot="0" flipH="0" flipV="0">
            <a:off x="8953500" y="2381250"/>
            <a:ext cx="2857500" cy="571500"/>
          </a:xfrm>
          <a:prstGeom prst="roundRect">
            <a:avLst>
              <a:gd name="adj" fmla="val 13333"/>
            </a:avLst>
          </a:prstGeom>
          <a:solidFill>
            <a:srgbClr val="FFFFFF"/>
          </a:solidFill>
          <a:ln w="12700">
            <a:solidFill>
              <a:srgbClr val="D6DCE5"/>
            </a:solidFill>
            <a:prstDash val="solid"/>
          </a:ln>
        </p:spPr>
        <p:txBody>
          <a:bodyPr/>
          <a:p/>
        </p:txBody>
      </p:sp>
      <p:sp>
        <p:nvSpPr>
          <p:cNvPr id="140" name="" descr="{&quot;isTemplate&quot;:true,&quot;type&quot;:&quot;text&quot;}"/>
          <p:cNvSpPr txBox="1"/>
          <p:nvPr/>
        </p:nvSpPr>
        <p:spPr>
          <a:xfrm rot="0" flipH="0" flipV="0">
            <a:off x="9096375" y="2562225"/>
            <a:ext cx="2571750" cy="209550"/>
          </a:xfrm>
          <a:prstGeom prst="rect"/>
        </p:spPr>
        <p:txBody>
          <a:bodyPr wrap="none" lIns="0" tIns="0" rIns="0" bIns="0"/>
          <a:p>
            <a:pPr>
              <a:lnSpc>
                <a:spcPct val="150000"/>
              </a:lnSpc>
            </a:pPr>
            <a:r>
              <a:rPr lang="en-US" sz="900">
                <a:solidFill>
                  <a:srgbClr val="4A5568"/>
                </a:solidFill>
                <a:latin typeface="Microsoft YaHei"/>
                <a:ea typeface="Microsoft YaHei"/>
              </a:rPr>
              <a:t>A noun phrase describes a topic, not a goal</a:t>
            </a:r>
            <a:endParaRPr/>
          </a:p>
        </p:txBody>
      </p:sp>
      <p:sp>
        <p:nvSpPr>
          <p:cNvPr id="141" name=""/>
          <p:cNvSpPr/>
          <p:nvPr/>
        </p:nvSpPr>
        <p:spPr>
          <a:xfrm rot="0" flipH="0" flipV="0">
            <a:off x="3590925" y="3048000"/>
            <a:ext cx="2381250" cy="666750"/>
          </a:xfrm>
          <a:prstGeom prst="roundRect">
            <a:avLst>
              <a:gd name="adj" fmla="val 11429"/>
            </a:avLst>
          </a:prstGeom>
          <a:solidFill>
            <a:srgbClr val="FDF3F3"/>
          </a:solidFill>
          <a:ln/>
        </p:spPr>
        <p:txBody>
          <a:bodyPr/>
          <a:p/>
        </p:txBody>
      </p:sp>
      <p:sp>
        <p:nvSpPr>
          <p:cNvPr id="142" name=""/>
          <p:cNvSpPr/>
          <p:nvPr/>
        </p:nvSpPr>
        <p:spPr>
          <a:xfrm rot="0" flipH="0" flipV="0">
            <a:off x="3590925" y="3048000"/>
            <a:ext cx="2381250" cy="666750"/>
          </a:xfrm>
          <a:custGeom>
            <a:pathLst>
              <a:path w="250" h="70">
                <a:moveTo>
                  <a:pt x="8" y="0"/>
                </a:moveTo>
                <a:cubicBezTo>
                  <a:pt x="5" y="0"/>
                  <a:pt x="3" y="2"/>
                  <a:pt x="3" y="5"/>
                </a:cubicBezTo>
                <a:lnTo>
                  <a:pt x="3" y="65"/>
                </a:lnTo>
                <a:cubicBezTo>
                  <a:pt x="3" y="67"/>
                  <a:pt x="5" y="69"/>
                  <a:pt x="7" y="70"/>
                </a:cubicBezTo>
                <a:cubicBezTo>
                  <a:pt x="3" y="69"/>
                  <a:pt x="0" y="66"/>
                  <a:pt x="0" y="62"/>
                </a:cubicBezTo>
                <a:lnTo>
                  <a:pt x="0" y="8"/>
                </a:lnTo>
                <a:cubicBezTo>
                  <a:pt x="0" y="4"/>
                  <a:pt x="3" y="0"/>
                  <a:pt x="8" y="0"/>
                </a:cubicBezTo>
                <a:close/>
              </a:path>
            </a:pathLst>
          </a:custGeom>
          <a:solidFill>
            <a:srgbClr val="D9534F"/>
          </a:solidFill>
          <a:ln/>
        </p:spPr>
        <p:txBody>
          <a:bodyPr/>
          <a:p/>
        </p:txBody>
      </p:sp>
      <p:sp>
        <p:nvSpPr>
          <p:cNvPr id="143" name="" descr="{&quot;isTemplate&quot;:true,&quot;type&quot;:&quot;text&quot;}"/>
          <p:cNvSpPr txBox="1"/>
          <p:nvPr/>
        </p:nvSpPr>
        <p:spPr>
          <a:xfrm rot="0" flipH="0" flipV="0">
            <a:off x="3733800" y="3219450"/>
            <a:ext cx="2066925" cy="133350"/>
          </a:xfrm>
          <a:prstGeom prst="rect"/>
        </p:spPr>
        <p:txBody>
          <a:bodyPr wrap="none" lIns="0" tIns="0" rIns="0" bIns="0"/>
          <a:p>
            <a:pPr>
              <a:lnSpc>
                <a:spcPct val="100000"/>
              </a:lnSpc>
            </a:pPr>
            <a:r>
              <a:rPr lang="en-US" sz="825">
                <a:solidFill>
                  <a:srgbClr val="8B97A8"/>
                </a:solidFill>
                <a:latin typeface="Microsoft YaHei"/>
                <a:ea typeface="Microsoft YaHei"/>
              </a:rPr>
              <a:t>WEAK</a:t>
            </a:r>
            <a:endParaRPr/>
          </a:p>
        </p:txBody>
      </p:sp>
      <p:sp>
        <p:nvSpPr>
          <p:cNvPr id="144" name="" descr="{&quot;isTemplate&quot;:true,&quot;type&quot;:&quot;text&quot;}"/>
          <p:cNvSpPr txBox="1"/>
          <p:nvPr/>
        </p:nvSpPr>
        <p:spPr>
          <a:xfrm rot="0" flipH="0" flipV="0">
            <a:off x="3733800" y="3371850"/>
            <a:ext cx="2066925" cy="171450"/>
          </a:xfrm>
          <a:prstGeom prst="rect"/>
        </p:spPr>
        <p:txBody>
          <a:bodyPr wrap="none" lIns="0" tIns="0" rIns="0" bIns="0"/>
          <a:p>
            <a:pPr>
              <a:lnSpc>
                <a:spcPct val="100000"/>
              </a:lnSpc>
            </a:pPr>
            <a:r>
              <a:rPr lang="en-US" sz="1125" b="1">
                <a:solidFill>
                  <a:srgbClr val="1A2230"/>
                </a:solidFill>
                <a:latin typeface="Microsoft YaHei"/>
                <a:ea typeface="Microsoft YaHei"/>
              </a:rPr>
              <a:t>Validate Credit Card</a:t>
            </a:r>
            <a:endParaRPr/>
          </a:p>
        </p:txBody>
      </p:sp>
      <p:pic>
        <p:nvPicPr>
          <p:cNvPr id="145" name=""/>
          <p:cNvPicPr>
            <a:picLocks noChangeAspect="1"/>
          </p:cNvPicPr>
          <p:nvPr/>
        </p:nvPicPr>
        <p:blipFill>
          <a:blip>
            <a:extLst>
              <a:ext uri="{96DAC541-7B7A-43D3-8B79-37D633B846F1}">
                <asvg:svgBlip r:embed="rId1"/>
              </a:ext>
            </a:extLst>
          </a:blip>
          <a:stretch>
            <a:fillRect/>
          </a:stretch>
        </p:blipFill>
        <p:spPr>
          <a:xfrm rot="0" flipH="0" flipV="0">
            <a:off x="6105525" y="3286125"/>
            <a:ext cx="190500" cy="190500"/>
          </a:xfrm>
          <a:prstGeom prst="rect">
            <a:avLst/>
          </a:prstGeom>
          <a:ln/>
        </p:spPr>
      </p:pic>
      <p:sp>
        <p:nvSpPr>
          <p:cNvPr id="146" name=""/>
          <p:cNvSpPr/>
          <p:nvPr/>
        </p:nvSpPr>
        <p:spPr>
          <a:xfrm rot="0" flipH="0" flipV="0">
            <a:off x="6486525" y="3048000"/>
            <a:ext cx="2381250" cy="666750"/>
          </a:xfrm>
          <a:prstGeom prst="roundRect">
            <a:avLst>
              <a:gd name="adj" fmla="val 11429"/>
            </a:avLst>
          </a:prstGeom>
          <a:solidFill>
            <a:srgbClr val="F0F5FC"/>
          </a:solidFill>
          <a:ln/>
        </p:spPr>
        <p:txBody>
          <a:bodyPr/>
          <a:p/>
        </p:txBody>
      </p:sp>
      <p:sp>
        <p:nvSpPr>
          <p:cNvPr id="147" name=""/>
          <p:cNvSpPr/>
          <p:nvPr/>
        </p:nvSpPr>
        <p:spPr>
          <a:xfrm rot="0" flipH="0" flipV="0">
            <a:off x="6486525" y="3048000"/>
            <a:ext cx="2381250" cy="666750"/>
          </a:xfrm>
          <a:custGeom>
            <a:pathLst>
              <a:path w="250" h="70">
                <a:moveTo>
                  <a:pt x="8" y="0"/>
                </a:moveTo>
                <a:cubicBezTo>
                  <a:pt x="5" y="0"/>
                  <a:pt x="3" y="2"/>
                  <a:pt x="3" y="5"/>
                </a:cubicBezTo>
                <a:lnTo>
                  <a:pt x="3" y="65"/>
                </a:lnTo>
                <a:cubicBezTo>
                  <a:pt x="3" y="67"/>
                  <a:pt x="5" y="69"/>
                  <a:pt x="7" y="70"/>
                </a:cubicBezTo>
                <a:cubicBezTo>
                  <a:pt x="3" y="69"/>
                  <a:pt x="0" y="66"/>
                  <a:pt x="0" y="62"/>
                </a:cubicBezTo>
                <a:lnTo>
                  <a:pt x="0" y="8"/>
                </a:lnTo>
                <a:cubicBezTo>
                  <a:pt x="0" y="4"/>
                  <a:pt x="3" y="0"/>
                  <a:pt x="8" y="0"/>
                </a:cubicBezTo>
                <a:close/>
              </a:path>
            </a:pathLst>
          </a:custGeom>
          <a:solidFill>
            <a:srgbClr val="1E4FA8"/>
          </a:solidFill>
          <a:ln/>
        </p:spPr>
        <p:txBody>
          <a:bodyPr/>
          <a:p/>
        </p:txBody>
      </p:sp>
      <p:sp>
        <p:nvSpPr>
          <p:cNvPr id="148" name="" descr="{&quot;isTemplate&quot;:true,&quot;type&quot;:&quot;text&quot;}"/>
          <p:cNvSpPr txBox="1"/>
          <p:nvPr/>
        </p:nvSpPr>
        <p:spPr>
          <a:xfrm rot="0" flipH="0" flipV="0">
            <a:off x="6629400" y="3219450"/>
            <a:ext cx="2066925" cy="133350"/>
          </a:xfrm>
          <a:prstGeom prst="rect"/>
        </p:spPr>
        <p:txBody>
          <a:bodyPr wrap="none" lIns="0" tIns="0" rIns="0" bIns="0"/>
          <a:p>
            <a:pPr>
              <a:lnSpc>
                <a:spcPct val="100000"/>
              </a:lnSpc>
            </a:pPr>
            <a:r>
              <a:rPr lang="en-US" sz="825">
                <a:solidFill>
                  <a:srgbClr val="8B97A8"/>
                </a:solidFill>
                <a:latin typeface="Microsoft YaHei"/>
                <a:ea typeface="Microsoft YaHei"/>
              </a:rPr>
              <a:t>BETTER</a:t>
            </a:r>
            <a:endParaRPr/>
          </a:p>
        </p:txBody>
      </p:sp>
      <p:sp>
        <p:nvSpPr>
          <p:cNvPr id="149" name="" descr="{&quot;isTemplate&quot;:true,&quot;type&quot;:&quot;text&quot;}"/>
          <p:cNvSpPr txBox="1"/>
          <p:nvPr/>
        </p:nvSpPr>
        <p:spPr>
          <a:xfrm rot="0" flipH="0" flipV="0">
            <a:off x="6629400" y="3371850"/>
            <a:ext cx="2066925" cy="171450"/>
          </a:xfrm>
          <a:prstGeom prst="rect"/>
        </p:spPr>
        <p:txBody>
          <a:bodyPr wrap="none" lIns="0" tIns="0" rIns="0" bIns="0"/>
          <a:p>
            <a:pPr>
              <a:lnSpc>
                <a:spcPct val="100000"/>
              </a:lnSpc>
            </a:pPr>
            <a:r>
              <a:rPr lang="en-US" sz="1125" b="1">
                <a:solidFill>
                  <a:srgbClr val="0E3F8C"/>
                </a:solidFill>
                <a:latin typeface="Microsoft YaHei"/>
                <a:ea typeface="Microsoft YaHei"/>
              </a:rPr>
              <a:t>Pay for Order</a:t>
            </a:r>
            <a:endParaRPr/>
          </a:p>
        </p:txBody>
      </p:sp>
      <p:sp>
        <p:nvSpPr>
          <p:cNvPr id="150" name=""/>
          <p:cNvSpPr/>
          <p:nvPr/>
        </p:nvSpPr>
        <p:spPr>
          <a:xfrm rot="0" flipH="0" flipV="0">
            <a:off x="8953500" y="3048000"/>
            <a:ext cx="2857500" cy="666750"/>
          </a:xfrm>
          <a:prstGeom prst="roundRect">
            <a:avLst>
              <a:gd name="adj" fmla="val 11429"/>
            </a:avLst>
          </a:prstGeom>
          <a:solidFill>
            <a:srgbClr val="FFFFFF"/>
          </a:solidFill>
          <a:ln w="12700">
            <a:solidFill>
              <a:srgbClr val="D6DCE5"/>
            </a:solidFill>
            <a:prstDash val="solid"/>
          </a:ln>
        </p:spPr>
        <p:txBody>
          <a:bodyPr/>
          <a:p/>
        </p:txBody>
      </p:sp>
      <p:sp>
        <p:nvSpPr>
          <p:cNvPr id="151" name="" descr="{&quot;isTemplate&quot;:true,&quot;type&quot;:&quot;text&quot;}"/>
          <p:cNvSpPr txBox="1"/>
          <p:nvPr/>
        </p:nvSpPr>
        <p:spPr>
          <a:xfrm rot="0" flipH="0" flipV="0">
            <a:off x="9096375" y="3171825"/>
            <a:ext cx="2571750" cy="419100"/>
          </a:xfrm>
          <a:prstGeom prst="rect"/>
        </p:spPr>
        <p:txBody>
          <a:bodyPr wrap="square" lIns="0" tIns="0" rIns="0" bIns="0">
            <a:normAutofit/>
          </a:bodyPr>
          <a:p>
            <a:pPr>
              <a:lnSpc>
                <a:spcPct val="150000"/>
              </a:lnSpc>
            </a:pPr>
            <a:r>
              <a:rPr lang="en-US" sz="900">
                <a:solidFill>
                  <a:srgbClr val="4A5568"/>
                </a:solidFill>
                <a:latin typeface="Microsoft YaHei"/>
                <a:ea typeface="Microsoft YaHei"/>
              </a:rPr>
              <a:t>A single step. The actor wants the order paid, not a check</a:t>
            </a:r>
            <a:endParaRPr/>
          </a:p>
        </p:txBody>
      </p:sp>
      <p:sp>
        <p:nvSpPr>
          <p:cNvPr id="152" name=""/>
          <p:cNvSpPr/>
          <p:nvPr/>
        </p:nvSpPr>
        <p:spPr>
          <a:xfrm rot="0" flipH="0" flipV="0">
            <a:off x="3590925" y="3810000"/>
            <a:ext cx="2381250" cy="666750"/>
          </a:xfrm>
          <a:prstGeom prst="roundRect">
            <a:avLst>
              <a:gd name="adj" fmla="val 11429"/>
            </a:avLst>
          </a:prstGeom>
          <a:solidFill>
            <a:srgbClr val="FDF3F3"/>
          </a:solidFill>
          <a:ln/>
        </p:spPr>
        <p:txBody>
          <a:bodyPr/>
          <a:p/>
        </p:txBody>
      </p:sp>
      <p:sp>
        <p:nvSpPr>
          <p:cNvPr id="153" name=""/>
          <p:cNvSpPr/>
          <p:nvPr/>
        </p:nvSpPr>
        <p:spPr>
          <a:xfrm rot="0" flipH="0" flipV="0">
            <a:off x="3590925" y="3810000"/>
            <a:ext cx="2381250" cy="666750"/>
          </a:xfrm>
          <a:custGeom>
            <a:pathLst>
              <a:path w="250" h="70">
                <a:moveTo>
                  <a:pt x="8" y="0"/>
                </a:moveTo>
                <a:cubicBezTo>
                  <a:pt x="5" y="0"/>
                  <a:pt x="3" y="2"/>
                  <a:pt x="3" y="5"/>
                </a:cubicBezTo>
                <a:lnTo>
                  <a:pt x="3" y="65"/>
                </a:lnTo>
                <a:cubicBezTo>
                  <a:pt x="3" y="67"/>
                  <a:pt x="5" y="69"/>
                  <a:pt x="7" y="70"/>
                </a:cubicBezTo>
                <a:cubicBezTo>
                  <a:pt x="3" y="69"/>
                  <a:pt x="0" y="66"/>
                  <a:pt x="0" y="62"/>
                </a:cubicBezTo>
                <a:lnTo>
                  <a:pt x="0" y="8"/>
                </a:lnTo>
                <a:cubicBezTo>
                  <a:pt x="0" y="4"/>
                  <a:pt x="3" y="0"/>
                  <a:pt x="8" y="0"/>
                </a:cubicBezTo>
                <a:close/>
              </a:path>
            </a:pathLst>
          </a:custGeom>
          <a:solidFill>
            <a:srgbClr val="D9534F"/>
          </a:solidFill>
          <a:ln/>
        </p:spPr>
        <p:txBody>
          <a:bodyPr/>
          <a:p/>
        </p:txBody>
      </p:sp>
      <p:sp>
        <p:nvSpPr>
          <p:cNvPr id="154" name="" descr="{&quot;isTemplate&quot;:true,&quot;type&quot;:&quot;text&quot;}"/>
          <p:cNvSpPr txBox="1"/>
          <p:nvPr/>
        </p:nvSpPr>
        <p:spPr>
          <a:xfrm rot="0" flipH="0" flipV="0">
            <a:off x="3733800" y="3981450"/>
            <a:ext cx="2066925" cy="133350"/>
          </a:xfrm>
          <a:prstGeom prst="rect"/>
        </p:spPr>
        <p:txBody>
          <a:bodyPr wrap="none" lIns="0" tIns="0" rIns="0" bIns="0"/>
          <a:p>
            <a:pPr>
              <a:lnSpc>
                <a:spcPct val="100000"/>
              </a:lnSpc>
            </a:pPr>
            <a:r>
              <a:rPr lang="en-US" sz="825">
                <a:solidFill>
                  <a:srgbClr val="8B97A8"/>
                </a:solidFill>
                <a:latin typeface="Microsoft YaHei"/>
                <a:ea typeface="Microsoft YaHei"/>
              </a:rPr>
              <a:t>WEAK</a:t>
            </a:r>
            <a:endParaRPr/>
          </a:p>
        </p:txBody>
      </p:sp>
      <p:sp>
        <p:nvSpPr>
          <p:cNvPr id="155" name="" descr="{&quot;isTemplate&quot;:true,&quot;type&quot;:&quot;text&quot;}"/>
          <p:cNvSpPr txBox="1"/>
          <p:nvPr/>
        </p:nvSpPr>
        <p:spPr>
          <a:xfrm rot="0" flipH="0" flipV="0">
            <a:off x="3733800" y="4133850"/>
            <a:ext cx="2066925" cy="171450"/>
          </a:xfrm>
          <a:prstGeom prst="rect"/>
        </p:spPr>
        <p:txBody>
          <a:bodyPr wrap="none" lIns="0" tIns="0" rIns="0" bIns="0"/>
          <a:p>
            <a:pPr>
              <a:lnSpc>
                <a:spcPct val="100000"/>
              </a:lnSpc>
            </a:pPr>
            <a:r>
              <a:rPr lang="en-US" sz="1125" b="1">
                <a:solidFill>
                  <a:srgbClr val="1A2230"/>
                </a:solidFill>
                <a:latin typeface="Microsoft YaHei"/>
                <a:ea typeface="Microsoft YaHei"/>
              </a:rPr>
              <a:t>Order Management System</a:t>
            </a:r>
            <a:endParaRPr/>
          </a:p>
        </p:txBody>
      </p:sp>
      <p:pic>
        <p:nvPicPr>
          <p:cNvPr id="156" name=""/>
          <p:cNvPicPr>
            <a:picLocks noChangeAspect="1"/>
          </p:cNvPicPr>
          <p:nvPr/>
        </p:nvPicPr>
        <p:blipFill>
          <a:blip>
            <a:extLst>
              <a:ext uri="{96DAC541-7B7A-43D3-8B79-37D633B846F1}">
                <asvg:svgBlip r:embed="rId1"/>
              </a:ext>
            </a:extLst>
          </a:blip>
          <a:stretch>
            <a:fillRect/>
          </a:stretch>
        </p:blipFill>
        <p:spPr>
          <a:xfrm rot="0" flipH="0" flipV="0">
            <a:off x="6105525" y="4048125"/>
            <a:ext cx="190500" cy="190500"/>
          </a:xfrm>
          <a:prstGeom prst="rect">
            <a:avLst/>
          </a:prstGeom>
          <a:ln/>
        </p:spPr>
      </p:pic>
      <p:sp>
        <p:nvSpPr>
          <p:cNvPr id="157" name=""/>
          <p:cNvSpPr/>
          <p:nvPr/>
        </p:nvSpPr>
        <p:spPr>
          <a:xfrm rot="0" flipH="0" flipV="0">
            <a:off x="6486525" y="3810000"/>
            <a:ext cx="2381250" cy="666750"/>
          </a:xfrm>
          <a:prstGeom prst="roundRect">
            <a:avLst>
              <a:gd name="adj" fmla="val 11429"/>
            </a:avLst>
          </a:prstGeom>
          <a:solidFill>
            <a:srgbClr val="F0F5FC"/>
          </a:solidFill>
          <a:ln/>
        </p:spPr>
        <p:txBody>
          <a:bodyPr/>
          <a:p/>
        </p:txBody>
      </p:sp>
      <p:sp>
        <p:nvSpPr>
          <p:cNvPr id="158" name=""/>
          <p:cNvSpPr/>
          <p:nvPr/>
        </p:nvSpPr>
        <p:spPr>
          <a:xfrm rot="0" flipH="0" flipV="0">
            <a:off x="6486525" y="3810000"/>
            <a:ext cx="2381250" cy="666750"/>
          </a:xfrm>
          <a:custGeom>
            <a:pathLst>
              <a:path w="250" h="70">
                <a:moveTo>
                  <a:pt x="8" y="0"/>
                </a:moveTo>
                <a:cubicBezTo>
                  <a:pt x="5" y="0"/>
                  <a:pt x="3" y="2"/>
                  <a:pt x="3" y="5"/>
                </a:cubicBezTo>
                <a:lnTo>
                  <a:pt x="3" y="65"/>
                </a:lnTo>
                <a:cubicBezTo>
                  <a:pt x="3" y="67"/>
                  <a:pt x="5" y="69"/>
                  <a:pt x="7" y="70"/>
                </a:cubicBezTo>
                <a:cubicBezTo>
                  <a:pt x="3" y="69"/>
                  <a:pt x="0" y="66"/>
                  <a:pt x="0" y="62"/>
                </a:cubicBezTo>
                <a:lnTo>
                  <a:pt x="0" y="8"/>
                </a:lnTo>
                <a:cubicBezTo>
                  <a:pt x="0" y="4"/>
                  <a:pt x="3" y="0"/>
                  <a:pt x="8" y="0"/>
                </a:cubicBezTo>
                <a:close/>
              </a:path>
            </a:pathLst>
          </a:custGeom>
          <a:solidFill>
            <a:srgbClr val="1E4FA8"/>
          </a:solidFill>
          <a:ln/>
        </p:spPr>
        <p:txBody>
          <a:bodyPr/>
          <a:p/>
        </p:txBody>
      </p:sp>
      <p:sp>
        <p:nvSpPr>
          <p:cNvPr id="159" name="" descr="{&quot;isTemplate&quot;:true,&quot;type&quot;:&quot;text&quot;}"/>
          <p:cNvSpPr txBox="1"/>
          <p:nvPr/>
        </p:nvSpPr>
        <p:spPr>
          <a:xfrm rot="0" flipH="0" flipV="0">
            <a:off x="6629400" y="3981450"/>
            <a:ext cx="2066925" cy="133350"/>
          </a:xfrm>
          <a:prstGeom prst="rect"/>
        </p:spPr>
        <p:txBody>
          <a:bodyPr wrap="none" lIns="0" tIns="0" rIns="0" bIns="0"/>
          <a:p>
            <a:pPr>
              <a:lnSpc>
                <a:spcPct val="100000"/>
              </a:lnSpc>
            </a:pPr>
            <a:r>
              <a:rPr lang="en-US" sz="825">
                <a:solidFill>
                  <a:srgbClr val="8B97A8"/>
                </a:solidFill>
                <a:latin typeface="Microsoft YaHei"/>
                <a:ea typeface="Microsoft YaHei"/>
              </a:rPr>
              <a:t>BETTER</a:t>
            </a:r>
            <a:endParaRPr/>
          </a:p>
        </p:txBody>
      </p:sp>
      <p:sp>
        <p:nvSpPr>
          <p:cNvPr id="160" name="" descr="{&quot;isTemplate&quot;:true,&quot;type&quot;:&quot;text&quot;}"/>
          <p:cNvSpPr txBox="1"/>
          <p:nvPr/>
        </p:nvSpPr>
        <p:spPr>
          <a:xfrm rot="0" flipH="0" flipV="0">
            <a:off x="6629400" y="4133850"/>
            <a:ext cx="2066925" cy="171450"/>
          </a:xfrm>
          <a:prstGeom prst="rect"/>
        </p:spPr>
        <p:txBody>
          <a:bodyPr wrap="none" lIns="0" tIns="0" rIns="0" bIns="0"/>
          <a:p>
            <a:pPr>
              <a:lnSpc>
                <a:spcPct val="100000"/>
              </a:lnSpc>
            </a:pPr>
            <a:r>
              <a:rPr lang="en-US" sz="1125" b="1">
                <a:solidFill>
                  <a:srgbClr val="0E3F8C"/>
                </a:solidFill>
                <a:latin typeface="Microsoft YaHei"/>
                <a:ea typeface="Microsoft YaHei"/>
              </a:rPr>
              <a:t>Manage Today’s Menu</a:t>
            </a:r>
            <a:endParaRPr/>
          </a:p>
        </p:txBody>
      </p:sp>
      <p:sp>
        <p:nvSpPr>
          <p:cNvPr id="161" name=""/>
          <p:cNvSpPr/>
          <p:nvPr/>
        </p:nvSpPr>
        <p:spPr>
          <a:xfrm rot="0" flipH="0" flipV="0">
            <a:off x="8953500" y="3810000"/>
            <a:ext cx="2857500" cy="666750"/>
          </a:xfrm>
          <a:prstGeom prst="roundRect">
            <a:avLst>
              <a:gd name="adj" fmla="val 11429"/>
            </a:avLst>
          </a:prstGeom>
          <a:solidFill>
            <a:srgbClr val="FFFFFF"/>
          </a:solidFill>
          <a:ln w="12700">
            <a:solidFill>
              <a:srgbClr val="D6DCE5"/>
            </a:solidFill>
            <a:prstDash val="solid"/>
          </a:ln>
        </p:spPr>
        <p:txBody>
          <a:bodyPr/>
          <a:p/>
        </p:txBody>
      </p:sp>
      <p:sp>
        <p:nvSpPr>
          <p:cNvPr id="162" name="" descr="{&quot;isTemplate&quot;:true,&quot;type&quot;:&quot;text&quot;}"/>
          <p:cNvSpPr txBox="1"/>
          <p:nvPr/>
        </p:nvSpPr>
        <p:spPr>
          <a:xfrm rot="0" flipH="0" flipV="0">
            <a:off x="9096375" y="3933825"/>
            <a:ext cx="2571750" cy="419100"/>
          </a:xfrm>
          <a:prstGeom prst="rect"/>
        </p:spPr>
        <p:txBody>
          <a:bodyPr wrap="square" lIns="0" tIns="0" rIns="0" bIns="0">
            <a:normAutofit/>
          </a:bodyPr>
          <a:p>
            <a:pPr>
              <a:lnSpc>
                <a:spcPct val="150000"/>
              </a:lnSpc>
            </a:pPr>
            <a:r>
              <a:rPr lang="en-US" sz="900">
                <a:solidFill>
                  <a:srgbClr val="4A5568"/>
                </a:solidFill>
                <a:latin typeface="Microsoft YaHei"/>
                <a:ea typeface="Microsoft YaHei"/>
              </a:rPr>
              <a:t>You named the software, or the table — not the goal</a:t>
            </a:r>
            <a:endParaRPr/>
          </a:p>
        </p:txBody>
      </p:sp>
      <p:sp>
        <p:nvSpPr>
          <p:cNvPr id="163" name=""/>
          <p:cNvSpPr/>
          <p:nvPr/>
        </p:nvSpPr>
        <p:spPr>
          <a:xfrm rot="0" flipH="0" flipV="0">
            <a:off x="3590925" y="4572000"/>
            <a:ext cx="2381250" cy="742950"/>
          </a:xfrm>
          <a:prstGeom prst="roundRect">
            <a:avLst>
              <a:gd name="adj" fmla="val 10256"/>
            </a:avLst>
          </a:prstGeom>
          <a:solidFill>
            <a:srgbClr val="FDF3F3"/>
          </a:solidFill>
          <a:ln/>
        </p:spPr>
        <p:txBody>
          <a:bodyPr/>
          <a:p/>
        </p:txBody>
      </p:sp>
      <p:sp>
        <p:nvSpPr>
          <p:cNvPr id="164" name=""/>
          <p:cNvSpPr/>
          <p:nvPr/>
        </p:nvSpPr>
        <p:spPr>
          <a:xfrm rot="0" flipH="0" flipV="0">
            <a:off x="3590925" y="4572000"/>
            <a:ext cx="2381250" cy="742950"/>
          </a:xfrm>
          <a:custGeom>
            <a:pathLst>
              <a:path w="250" h="78">
                <a:moveTo>
                  <a:pt x="8" y="0"/>
                </a:moveTo>
                <a:cubicBezTo>
                  <a:pt x="5" y="0"/>
                  <a:pt x="3" y="2"/>
                  <a:pt x="3" y="5"/>
                </a:cubicBezTo>
                <a:lnTo>
                  <a:pt x="3" y="73"/>
                </a:lnTo>
                <a:cubicBezTo>
                  <a:pt x="3" y="75"/>
                  <a:pt x="5" y="77"/>
                  <a:pt x="7" y="78"/>
                </a:cubicBezTo>
                <a:cubicBezTo>
                  <a:pt x="3" y="77"/>
                  <a:pt x="0" y="74"/>
                  <a:pt x="0" y="70"/>
                </a:cubicBezTo>
                <a:lnTo>
                  <a:pt x="0" y="8"/>
                </a:lnTo>
                <a:cubicBezTo>
                  <a:pt x="0" y="4"/>
                  <a:pt x="3" y="0"/>
                  <a:pt x="8" y="0"/>
                </a:cubicBezTo>
                <a:close/>
              </a:path>
            </a:pathLst>
          </a:custGeom>
          <a:solidFill>
            <a:srgbClr val="D9534F"/>
          </a:solidFill>
          <a:ln/>
        </p:spPr>
        <p:txBody>
          <a:bodyPr/>
          <a:p/>
        </p:txBody>
      </p:sp>
      <p:sp>
        <p:nvSpPr>
          <p:cNvPr id="165" name="" descr="{&quot;isTemplate&quot;:true,&quot;type&quot;:&quot;text&quot;}"/>
          <p:cNvSpPr txBox="1"/>
          <p:nvPr/>
        </p:nvSpPr>
        <p:spPr>
          <a:xfrm rot="0" flipH="0" flipV="0">
            <a:off x="3733800" y="4695825"/>
            <a:ext cx="2066925" cy="133350"/>
          </a:xfrm>
          <a:prstGeom prst="rect"/>
        </p:spPr>
        <p:txBody>
          <a:bodyPr wrap="none" lIns="0" tIns="0" rIns="0" bIns="0"/>
          <a:p>
            <a:pPr>
              <a:lnSpc>
                <a:spcPct val="100000"/>
              </a:lnSpc>
            </a:pPr>
            <a:r>
              <a:rPr lang="en-US" sz="825">
                <a:solidFill>
                  <a:srgbClr val="8B97A8"/>
                </a:solidFill>
                <a:latin typeface="Microsoft YaHei"/>
                <a:ea typeface="Microsoft YaHei"/>
              </a:rPr>
              <a:t>WEAK</a:t>
            </a:r>
            <a:endParaRPr/>
          </a:p>
        </p:txBody>
      </p:sp>
      <p:sp>
        <p:nvSpPr>
          <p:cNvPr id="166" name="" descr="{&quot;isTemplate&quot;:true,&quot;type&quot;:&quot;text&quot;}"/>
          <p:cNvSpPr txBox="1"/>
          <p:nvPr/>
        </p:nvSpPr>
        <p:spPr>
          <a:xfrm rot="0" flipH="0" flipV="0">
            <a:off x="3733800" y="4848225"/>
            <a:ext cx="2066925" cy="342900"/>
          </a:xfrm>
          <a:prstGeom prst="rect"/>
        </p:spPr>
        <p:txBody>
          <a:bodyPr wrap="square" lIns="0" tIns="0" rIns="0" bIns="0">
            <a:normAutofit/>
          </a:bodyPr>
          <a:p>
            <a:pPr>
              <a:lnSpc>
                <a:spcPct val="100000"/>
              </a:lnSpc>
            </a:pPr>
            <a:r>
              <a:rPr lang="en-US" sz="1125" b="1">
                <a:solidFill>
                  <a:srgbClr val="1A2230"/>
                </a:solidFill>
                <a:latin typeface="Microsoft YaHei"/>
                <a:ea typeface="Microsoft YaHei"/>
              </a:rPr>
              <a:t>User Logs In and Then Browses</a:t>
            </a:r>
            <a:endParaRPr/>
          </a:p>
        </p:txBody>
      </p:sp>
      <p:pic>
        <p:nvPicPr>
          <p:cNvPr id="167" name=""/>
          <p:cNvPicPr>
            <a:picLocks noChangeAspect="1"/>
          </p:cNvPicPr>
          <p:nvPr/>
        </p:nvPicPr>
        <p:blipFill>
          <a:blip>
            <a:extLst>
              <a:ext uri="{96DAC541-7B7A-43D3-8B79-37D633B846F1}">
                <asvg:svgBlip r:embed="rId1"/>
              </a:ext>
            </a:extLst>
          </a:blip>
          <a:stretch>
            <a:fillRect/>
          </a:stretch>
        </p:blipFill>
        <p:spPr>
          <a:xfrm rot="0" flipH="0" flipV="0">
            <a:off x="6105525" y="4848225"/>
            <a:ext cx="190500" cy="190500"/>
          </a:xfrm>
          <a:prstGeom prst="rect">
            <a:avLst/>
          </a:prstGeom>
          <a:ln/>
        </p:spPr>
      </p:pic>
      <p:sp>
        <p:nvSpPr>
          <p:cNvPr id="168" name=""/>
          <p:cNvSpPr/>
          <p:nvPr/>
        </p:nvSpPr>
        <p:spPr>
          <a:xfrm rot="0" flipH="0" flipV="0">
            <a:off x="6486525" y="4572000"/>
            <a:ext cx="2381250" cy="742950"/>
          </a:xfrm>
          <a:prstGeom prst="roundRect">
            <a:avLst>
              <a:gd name="adj" fmla="val 10256"/>
            </a:avLst>
          </a:prstGeom>
          <a:solidFill>
            <a:srgbClr val="F0F5FC"/>
          </a:solidFill>
          <a:ln/>
        </p:spPr>
        <p:txBody>
          <a:bodyPr/>
          <a:p/>
        </p:txBody>
      </p:sp>
      <p:sp>
        <p:nvSpPr>
          <p:cNvPr id="169" name=""/>
          <p:cNvSpPr/>
          <p:nvPr/>
        </p:nvSpPr>
        <p:spPr>
          <a:xfrm rot="0" flipH="0" flipV="0">
            <a:off x="6486525" y="4572000"/>
            <a:ext cx="2381250" cy="742950"/>
          </a:xfrm>
          <a:custGeom>
            <a:pathLst>
              <a:path w="250" h="78">
                <a:moveTo>
                  <a:pt x="8" y="0"/>
                </a:moveTo>
                <a:cubicBezTo>
                  <a:pt x="5" y="0"/>
                  <a:pt x="3" y="2"/>
                  <a:pt x="3" y="5"/>
                </a:cubicBezTo>
                <a:lnTo>
                  <a:pt x="3" y="73"/>
                </a:lnTo>
                <a:cubicBezTo>
                  <a:pt x="3" y="75"/>
                  <a:pt x="5" y="77"/>
                  <a:pt x="7" y="78"/>
                </a:cubicBezTo>
                <a:cubicBezTo>
                  <a:pt x="3" y="77"/>
                  <a:pt x="0" y="74"/>
                  <a:pt x="0" y="70"/>
                </a:cubicBezTo>
                <a:lnTo>
                  <a:pt x="0" y="8"/>
                </a:lnTo>
                <a:cubicBezTo>
                  <a:pt x="0" y="4"/>
                  <a:pt x="3" y="0"/>
                  <a:pt x="8" y="0"/>
                </a:cubicBezTo>
                <a:close/>
              </a:path>
            </a:pathLst>
          </a:custGeom>
          <a:solidFill>
            <a:srgbClr val="1E4FA8"/>
          </a:solidFill>
          <a:ln/>
        </p:spPr>
        <p:txBody>
          <a:bodyPr/>
          <a:p/>
        </p:txBody>
      </p:sp>
      <p:sp>
        <p:nvSpPr>
          <p:cNvPr id="170" name="" descr="{&quot;isTemplate&quot;:true,&quot;type&quot;:&quot;text&quot;}"/>
          <p:cNvSpPr txBox="1"/>
          <p:nvPr/>
        </p:nvSpPr>
        <p:spPr>
          <a:xfrm rot="0" flipH="0" flipV="0">
            <a:off x="6629400" y="4781550"/>
            <a:ext cx="2066925" cy="133350"/>
          </a:xfrm>
          <a:prstGeom prst="rect"/>
        </p:spPr>
        <p:txBody>
          <a:bodyPr wrap="none" lIns="0" tIns="0" rIns="0" bIns="0"/>
          <a:p>
            <a:pPr>
              <a:lnSpc>
                <a:spcPct val="100000"/>
              </a:lnSpc>
            </a:pPr>
            <a:r>
              <a:rPr lang="en-US" sz="825">
                <a:solidFill>
                  <a:srgbClr val="8B97A8"/>
                </a:solidFill>
                <a:latin typeface="Microsoft YaHei"/>
                <a:ea typeface="Microsoft YaHei"/>
              </a:rPr>
              <a:t>BETTER</a:t>
            </a:r>
            <a:endParaRPr/>
          </a:p>
        </p:txBody>
      </p:sp>
      <p:sp>
        <p:nvSpPr>
          <p:cNvPr id="171" name="" descr="{&quot;isTemplate&quot;:true,&quot;type&quot;:&quot;text&quot;}"/>
          <p:cNvSpPr txBox="1"/>
          <p:nvPr/>
        </p:nvSpPr>
        <p:spPr>
          <a:xfrm rot="0" flipH="0" flipV="0">
            <a:off x="6629400" y="4933950"/>
            <a:ext cx="2066925" cy="171450"/>
          </a:xfrm>
          <a:prstGeom prst="rect"/>
        </p:spPr>
        <p:txBody>
          <a:bodyPr wrap="none" lIns="0" tIns="0" rIns="0" bIns="0"/>
          <a:p>
            <a:pPr>
              <a:lnSpc>
                <a:spcPct val="100000"/>
              </a:lnSpc>
            </a:pPr>
            <a:r>
              <a:rPr lang="en-US" sz="1125" b="1">
                <a:solidFill>
                  <a:srgbClr val="0E3F8C"/>
                </a:solidFill>
                <a:latin typeface="Microsoft YaHei"/>
                <a:ea typeface="Microsoft YaHei"/>
              </a:rPr>
              <a:t>Browse Menu</a:t>
            </a:r>
            <a:endParaRPr/>
          </a:p>
        </p:txBody>
      </p:sp>
      <p:sp>
        <p:nvSpPr>
          <p:cNvPr id="172" name=""/>
          <p:cNvSpPr/>
          <p:nvPr/>
        </p:nvSpPr>
        <p:spPr>
          <a:xfrm rot="0" flipH="0" flipV="0">
            <a:off x="8953500" y="4572000"/>
            <a:ext cx="2857500" cy="742950"/>
          </a:xfrm>
          <a:prstGeom prst="roundRect">
            <a:avLst>
              <a:gd name="adj" fmla="val 10256"/>
            </a:avLst>
          </a:prstGeom>
          <a:solidFill>
            <a:srgbClr val="FFFFFF"/>
          </a:solidFill>
          <a:ln w="12700">
            <a:solidFill>
              <a:srgbClr val="D6DCE5"/>
            </a:solidFill>
            <a:prstDash val="solid"/>
          </a:ln>
        </p:spPr>
        <p:txBody>
          <a:bodyPr/>
          <a:p/>
        </p:txBody>
      </p:sp>
      <p:sp>
        <p:nvSpPr>
          <p:cNvPr id="173" name="" descr="{&quot;isTemplate&quot;:true,&quot;type&quot;:&quot;text&quot;}"/>
          <p:cNvSpPr txBox="1"/>
          <p:nvPr/>
        </p:nvSpPr>
        <p:spPr>
          <a:xfrm rot="0" flipH="0" flipV="0">
            <a:off x="9096375" y="4733925"/>
            <a:ext cx="2571750" cy="419100"/>
          </a:xfrm>
          <a:prstGeom prst="rect"/>
        </p:spPr>
        <p:txBody>
          <a:bodyPr wrap="square" lIns="0" tIns="0" rIns="0" bIns="0">
            <a:normAutofit/>
          </a:bodyPr>
          <a:p>
            <a:pPr>
              <a:lnSpc>
                <a:spcPct val="150000"/>
              </a:lnSpc>
            </a:pPr>
            <a:r>
              <a:rPr lang="en-US" sz="900">
                <a:solidFill>
                  <a:srgbClr val="4A5568"/>
                </a:solidFill>
                <a:latin typeface="Microsoft YaHei"/>
                <a:ea typeface="Microsoft YaHei"/>
              </a:rPr>
              <a:t>Two goals glued together. Split them; log in is an include</a:t>
            </a:r>
            <a:endParaRPr/>
          </a:p>
        </p:txBody>
      </p:sp>
      <p:sp>
        <p:nvSpPr>
          <p:cNvPr id="174" name=""/>
          <p:cNvSpPr/>
          <p:nvPr/>
        </p:nvSpPr>
        <p:spPr>
          <a:xfrm rot="0" flipH="0" flipV="0">
            <a:off x="0" y="6419850"/>
            <a:ext cx="12192000" cy="438150"/>
          </a:xfrm>
          <a:prstGeom prst="rect">
            <a:avLst/>
          </a:prstGeom>
          <a:solidFill>
            <a:srgbClr val="0E3F8C"/>
          </a:solidFill>
          <a:ln/>
        </p:spPr>
        <p:txBody>
          <a:bodyPr/>
          <a:p/>
        </p:txBody>
      </p:sp>
      <p:sp>
        <p:nvSpPr>
          <p:cNvPr id="175" name="" descr="{&quot;isTemplate&quot;:true,&quot;type&quot;:&quot;text&quot;}"/>
          <p:cNvSpPr txBox="1"/>
          <p:nvPr/>
        </p:nvSpPr>
        <p:spPr>
          <a:xfrm rot="0" flipH="0" flipV="0">
            <a:off x="3305175" y="6543675"/>
            <a:ext cx="5591175" cy="190500"/>
          </a:xfrm>
          <a:prstGeom prst="rect"/>
        </p:spPr>
        <p:txBody>
          <a:bodyPr wrap="none" lIns="0" tIns="0" rIns="0" bIns="0"/>
          <a:p>
            <a:pPr>
              <a:lnSpc>
                <a:spcPct val="100000"/>
              </a:lnSpc>
            </a:pPr>
            <a:r>
              <a:rPr lang="en-US" sz="1200" b="1">
                <a:solidFill>
                  <a:srgbClr val="FFFFFF"/>
                </a:solidFill>
                <a:latin typeface="Microsoft YaHei"/>
                <a:ea typeface="Microsoft YaHei"/>
              </a:rPr>
              <a:t>Read your names aloud to the actor. If it sounds like a screen label, try again.</a:t>
            </a:r>
            <a:endParaRPr/>
          </a:p>
        </p:txBody>
      </p:sp>
    </p:spTree>
  </p:cSld>
</p:sld>
</file>

<file path=ppt/slides/slide14.xml><?xml version="1.0" encoding="utf-8"?>
<p:sld xmlns:a="http://schemas.openxmlformats.org/drawingml/2006/main" xmlns:p="http://schemas.openxmlformats.org/presentationml/2006/main">
  <p:cSld>
    <p:spTree>
      <p:nvGrpSpPr>
        <p:cNvPr id="176" name="" descr="&lt;Slide style={{ background: '#0E3F8C', padding: 0 }}&gt;&#10;  &lt;Box style={{ flexDirection: 'row', height: '100%', position: 'relative' }}&gt;&#10;    &lt;Box style={{ position: 'absolute', top: 0, left: 0, right: 0, height: 8, background: '#1E4FA8' }} /&gt;&#10;    &lt;Box style={{ width: 300, justifyContent: 'center', alignItems: 'center', borderRight: '1px solid #2B5793' }}&gt;&#10;      &lt;Text style={{ fontSize: 220, fontWeight: 'bold', color: '#3D7BD9', fontFamily: 'Georgia, serif', lineHeight: 1 }}&gt;03&lt;/Text&gt;&#10;    &lt;/Box&gt;&#10;    &lt;Box style={{ flex: 1, padding: '70px 64px', flexDirection: 'column', justifyContent: 'center' }}&gt;&#10;      &lt;Text style={{ fontSize: 15, color: '#7FA2D6', letterSpacing: 2, marginBottom: 18 }}&gt;PART 1 · LECTURE&lt;/Text&gt;&#10;      &lt;Text style={{ fontSize: 46, fontWeight: 'bold', color: '#FFFFFF', lineHeight: 1.18 }}&gt;The Use Case&lt;br /&gt;Diagram&lt;/Text&gt;&#10;      &lt;Box style={{ width: 64, height: 4, background: '#FFC107', marginTop: 26, marginBottom: 26 }} /&gt;&#10;      &lt;Box style={{ flexDirection: 'column', gap: 12 }}&gt;&#10;        {[&#10;          'Six symbols, and how to read each one aloud',&#10;          'The boundary decides what is yours to build',&#10;          'Three mistakes almost everyone makes first',&#10;        ].map((t) =&gt; (&#10;          &lt;Box key={t} style={{ flexDirection: 'row', alignItems: 'center', gap: 12 }}&gt;&#10;            &lt;Box style={{ width: 8, height: 8, borderRadius: 4, background: '#3D7BD9' }} /&gt;&#10;            &lt;Text style={{ fontSize: 20, color: '#C5D4EA' }}&gt;{t}&lt;/Text&gt;&#10;          &lt;/Box&gt;&#10;        ))}&#10;      &lt;/Box&gt;&#10;    &lt;/Box&gt;&#10;  &lt;/Box&gt;&#10;&lt;/Slide&gt;"/>
        <p:cNvGrpSpPr/>
        <p:nvPr/>
      </p:nvGrpSpPr>
      <p:grpSpPr>
        <a:xfrm>
          <a:off x="0" y="0"/>
          <a:ext cx="0" cy="0"/>
          <a:chOff x="0" y="0"/>
          <a:chExt cx="0" cy="0"/>
        </a:xfrm>
      </p:grpSpPr>
      <p:sp>
        <p:nvSpPr>
          <p:cNvPr id="177" name=""/>
          <p:cNvSpPr/>
          <p:nvPr/>
        </p:nvSpPr>
        <p:spPr>
          <a:xfrm rot="0" flipH="0" flipV="0">
            <a:off x="0" y="0"/>
            <a:ext cx="12192000" cy="6858000"/>
          </a:xfrm>
          <a:prstGeom prst="rect">
            <a:avLst/>
          </a:prstGeom>
          <a:solidFill>
            <a:srgbClr val="0E3F8C"/>
          </a:solidFill>
          <a:ln/>
        </p:spPr>
        <p:txBody>
          <a:bodyPr/>
          <a:p/>
        </p:txBody>
      </p:sp>
      <p:sp>
        <p:nvSpPr>
          <p:cNvPr id="178" name=""/>
          <p:cNvSpPr/>
          <p:nvPr/>
        </p:nvSpPr>
        <p:spPr>
          <a:xfrm rot="0" flipH="0" flipV="0">
            <a:off x="0" y="0"/>
            <a:ext cx="2857500" cy="6858000"/>
          </a:xfrm>
          <a:custGeom>
            <a:pathLst>
              <a:path w="300" h="720">
                <a:moveTo>
                  <a:pt x="299" y="0"/>
                </a:moveTo>
                <a:lnTo>
                  <a:pt x="300" y="0"/>
                </a:lnTo>
                <a:lnTo>
                  <a:pt x="300" y="720"/>
                </a:lnTo>
                <a:lnTo>
                  <a:pt x="299" y="720"/>
                </a:lnTo>
                <a:close/>
              </a:path>
            </a:pathLst>
          </a:custGeom>
          <a:solidFill>
            <a:srgbClr val="2B5793"/>
          </a:solidFill>
          <a:ln/>
        </p:spPr>
        <p:txBody>
          <a:bodyPr/>
          <a:p/>
        </p:txBody>
      </p:sp>
      <p:sp>
        <p:nvSpPr>
          <p:cNvPr id="179" name="" descr="{&quot;isTemplate&quot;:true,&quot;type&quot;:&quot;text&quot;}"/>
          <p:cNvSpPr txBox="1"/>
          <p:nvPr/>
        </p:nvSpPr>
        <p:spPr>
          <a:xfrm rot="0" flipH="0" flipV="0">
            <a:off x="38100" y="2171700"/>
            <a:ext cx="2781300" cy="2514600"/>
          </a:xfrm>
          <a:prstGeom prst="rect"/>
        </p:spPr>
        <p:txBody>
          <a:bodyPr wrap="none" lIns="0" tIns="0" rIns="0" bIns="0"/>
          <a:p>
            <a:pPr>
              <a:lnSpc>
                <a:spcPct val="100000"/>
              </a:lnSpc>
            </a:pPr>
            <a:r>
              <a:rPr lang="en-US" sz="16500" b="1">
                <a:solidFill>
                  <a:srgbClr val="3D7BD9"/>
                </a:solidFill>
                <a:latin typeface="Georgia"/>
                <a:ea typeface="Georgia"/>
              </a:rPr>
              <a:t>03</a:t>
            </a:r>
            <a:endParaRPr/>
          </a:p>
        </p:txBody>
      </p:sp>
      <p:sp>
        <p:nvSpPr>
          <p:cNvPr id="180" name="" descr="{&quot;isTemplate&quot;:true,&quot;type&quot;:&quot;text&quot;}"/>
          <p:cNvSpPr txBox="1"/>
          <p:nvPr/>
        </p:nvSpPr>
        <p:spPr>
          <a:xfrm rot="0" flipH="0" flipV="0">
            <a:off x="3467100" y="1914525"/>
            <a:ext cx="8115300" cy="171450"/>
          </a:xfrm>
          <a:prstGeom prst="rect"/>
        </p:spPr>
        <p:txBody>
          <a:bodyPr wrap="none" lIns="0" tIns="0" rIns="0" bIns="0"/>
          <a:p>
            <a:pPr>
              <a:lnSpc>
                <a:spcPct val="100000"/>
              </a:lnSpc>
            </a:pPr>
            <a:r>
              <a:rPr lang="en-US" sz="1125" spc="150">
                <a:solidFill>
                  <a:srgbClr val="7FA2D6"/>
                </a:solidFill>
                <a:latin typeface="Microsoft YaHei"/>
                <a:ea typeface="Microsoft YaHei"/>
              </a:rPr>
              <a:t>PART 1 · LECTURE</a:t>
            </a:r>
            <a:endParaRPr/>
          </a:p>
        </p:txBody>
      </p:sp>
      <p:sp>
        <p:nvSpPr>
          <p:cNvPr id="181" name="" descr="{&quot;isTemplate&quot;:true,&quot;type&quot;:&quot;text&quot;}"/>
          <p:cNvSpPr txBox="1"/>
          <p:nvPr/>
        </p:nvSpPr>
        <p:spPr>
          <a:xfrm rot="0" flipH="0" flipV="0">
            <a:off x="3467100" y="2257425"/>
            <a:ext cx="8115300" cy="1247775"/>
          </a:xfrm>
          <a:prstGeom prst="rect"/>
        </p:spPr>
        <p:txBody>
          <a:bodyPr wrap="none" lIns="0" tIns="0" rIns="0" bIns="0"/>
          <a:p>
            <a:pPr>
              <a:lnSpc>
                <a:spcPct val="118000"/>
              </a:lnSpc>
            </a:pPr>
            <a:r>
              <a:rPr lang="en-US" sz="3450" b="1">
                <a:solidFill>
                  <a:srgbClr val="FFFFFF"/>
                </a:solidFill>
                <a:latin typeface="Microsoft YaHei"/>
                <a:ea typeface="Microsoft YaHei"/>
              </a:rPr>
              <a:t>The Use Case</a:t>
            </a:r>
            <a:endParaRPr/>
          </a:p>
          <a:p>
            <a:pPr>
              <a:lnSpc>
                <a:spcPct val="118000"/>
              </a:lnSpc>
            </a:pPr>
            <a:r>
              <a:rPr lang="en-US" sz="3450" b="1">
                <a:solidFill>
                  <a:srgbClr val="FFFFFF"/>
                </a:solidFill>
                <a:latin typeface="Microsoft YaHei"/>
                <a:ea typeface="Microsoft YaHei"/>
              </a:rPr>
              <a:t>Diagram</a:t>
            </a:r>
            <a:endParaRPr/>
          </a:p>
        </p:txBody>
      </p:sp>
      <p:sp>
        <p:nvSpPr>
          <p:cNvPr id="182" name=""/>
          <p:cNvSpPr/>
          <p:nvPr/>
        </p:nvSpPr>
        <p:spPr>
          <a:xfrm rot="0" flipH="0" flipV="0">
            <a:off x="3467100" y="3752850"/>
            <a:ext cx="609600" cy="38100"/>
          </a:xfrm>
          <a:prstGeom prst="rect">
            <a:avLst/>
          </a:prstGeom>
          <a:solidFill>
            <a:srgbClr val="FFC107"/>
          </a:solidFill>
          <a:ln/>
        </p:spPr>
        <p:txBody>
          <a:bodyPr/>
          <a:p/>
        </p:txBody>
      </p:sp>
      <p:sp>
        <p:nvSpPr>
          <p:cNvPr id="183" name=""/>
          <p:cNvSpPr/>
          <p:nvPr/>
        </p:nvSpPr>
        <p:spPr>
          <a:xfrm rot="0" flipH="0" flipV="0">
            <a:off x="3467100" y="4114800"/>
            <a:ext cx="76200" cy="76200"/>
          </a:xfrm>
          <a:prstGeom prst="roundRect">
            <a:avLst>
              <a:gd name="adj" fmla="val 50000"/>
            </a:avLst>
          </a:prstGeom>
          <a:solidFill>
            <a:srgbClr val="3D7BD9"/>
          </a:solidFill>
          <a:ln/>
        </p:spPr>
        <p:txBody>
          <a:bodyPr/>
          <a:p/>
        </p:txBody>
      </p:sp>
      <p:sp>
        <p:nvSpPr>
          <p:cNvPr id="184" name="" descr="{&quot;isTemplate&quot;:true,&quot;type&quot;:&quot;text&quot;}"/>
          <p:cNvSpPr txBox="1"/>
          <p:nvPr/>
        </p:nvSpPr>
        <p:spPr>
          <a:xfrm rot="0" flipH="0" flipV="0">
            <a:off x="3657600" y="4038600"/>
            <a:ext cx="3848100" cy="228600"/>
          </a:xfrm>
          <a:prstGeom prst="rect"/>
        </p:spPr>
        <p:txBody>
          <a:bodyPr wrap="none" lIns="0" tIns="0" rIns="0" bIns="0"/>
          <a:p>
            <a:pPr>
              <a:lnSpc>
                <a:spcPct val="100000"/>
              </a:lnSpc>
            </a:pPr>
            <a:r>
              <a:rPr lang="en-US" sz="1500">
                <a:solidFill>
                  <a:srgbClr val="C5D4EA"/>
                </a:solidFill>
                <a:latin typeface="Microsoft YaHei"/>
                <a:ea typeface="Microsoft YaHei"/>
              </a:rPr>
              <a:t>Six symbols, and how to read each one aloud</a:t>
            </a:r>
            <a:endParaRPr/>
          </a:p>
        </p:txBody>
      </p:sp>
      <p:sp>
        <p:nvSpPr>
          <p:cNvPr id="185" name=""/>
          <p:cNvSpPr/>
          <p:nvPr/>
        </p:nvSpPr>
        <p:spPr>
          <a:xfrm rot="0" flipH="0" flipV="0">
            <a:off x="3467100" y="4457700"/>
            <a:ext cx="76200" cy="76200"/>
          </a:xfrm>
          <a:prstGeom prst="roundRect">
            <a:avLst>
              <a:gd name="adj" fmla="val 50000"/>
            </a:avLst>
          </a:prstGeom>
          <a:solidFill>
            <a:srgbClr val="3D7BD9"/>
          </a:solidFill>
          <a:ln/>
        </p:spPr>
        <p:txBody>
          <a:bodyPr/>
          <a:p/>
        </p:txBody>
      </p:sp>
      <p:sp>
        <p:nvSpPr>
          <p:cNvPr id="186" name="" descr="{&quot;isTemplate&quot;:true,&quot;type&quot;:&quot;text&quot;}"/>
          <p:cNvSpPr txBox="1"/>
          <p:nvPr/>
        </p:nvSpPr>
        <p:spPr>
          <a:xfrm rot="0" flipH="0" flipV="0">
            <a:off x="3657600" y="4381500"/>
            <a:ext cx="3724275" cy="228600"/>
          </a:xfrm>
          <a:prstGeom prst="rect"/>
        </p:spPr>
        <p:txBody>
          <a:bodyPr wrap="none" lIns="0" tIns="0" rIns="0" bIns="0"/>
          <a:p>
            <a:pPr>
              <a:lnSpc>
                <a:spcPct val="100000"/>
              </a:lnSpc>
            </a:pPr>
            <a:r>
              <a:rPr lang="en-US" sz="1500">
                <a:solidFill>
                  <a:srgbClr val="C5D4EA"/>
                </a:solidFill>
                <a:latin typeface="Microsoft YaHei"/>
                <a:ea typeface="Microsoft YaHei"/>
              </a:rPr>
              <a:t>The boundary decides what is yours to build</a:t>
            </a:r>
            <a:endParaRPr/>
          </a:p>
        </p:txBody>
      </p:sp>
      <p:sp>
        <p:nvSpPr>
          <p:cNvPr id="187" name=""/>
          <p:cNvSpPr/>
          <p:nvPr/>
        </p:nvSpPr>
        <p:spPr>
          <a:xfrm rot="0" flipH="0" flipV="0">
            <a:off x="3467100" y="4800600"/>
            <a:ext cx="76200" cy="76200"/>
          </a:xfrm>
          <a:prstGeom prst="roundRect">
            <a:avLst>
              <a:gd name="adj" fmla="val 50000"/>
            </a:avLst>
          </a:prstGeom>
          <a:solidFill>
            <a:srgbClr val="3D7BD9"/>
          </a:solidFill>
          <a:ln/>
        </p:spPr>
        <p:txBody>
          <a:bodyPr/>
          <a:p/>
        </p:txBody>
      </p:sp>
      <p:sp>
        <p:nvSpPr>
          <p:cNvPr id="188" name="" descr="{&quot;isTemplate&quot;:true,&quot;type&quot;:&quot;text&quot;}"/>
          <p:cNvSpPr txBox="1"/>
          <p:nvPr/>
        </p:nvSpPr>
        <p:spPr>
          <a:xfrm rot="0" flipH="0" flipV="0">
            <a:off x="3657600" y="4724400"/>
            <a:ext cx="3733800" cy="228600"/>
          </a:xfrm>
          <a:prstGeom prst="rect"/>
        </p:spPr>
        <p:txBody>
          <a:bodyPr wrap="none" lIns="0" tIns="0" rIns="0" bIns="0"/>
          <a:p>
            <a:pPr>
              <a:lnSpc>
                <a:spcPct val="100000"/>
              </a:lnSpc>
            </a:pPr>
            <a:r>
              <a:rPr lang="en-US" sz="1500">
                <a:solidFill>
                  <a:srgbClr val="C5D4EA"/>
                </a:solidFill>
                <a:latin typeface="Microsoft YaHei"/>
                <a:ea typeface="Microsoft YaHei"/>
              </a:rPr>
              <a:t>Three mistakes almost everyone makes first</a:t>
            </a:r>
            <a:endParaRPr/>
          </a:p>
        </p:txBody>
      </p:sp>
      <p:sp>
        <p:nvSpPr>
          <p:cNvPr id="189" name=""/>
          <p:cNvSpPr/>
          <p:nvPr/>
        </p:nvSpPr>
        <p:spPr>
          <a:xfrm rot="0" flipH="0" flipV="0">
            <a:off x="0" y="0"/>
            <a:ext cx="12192000" cy="76200"/>
          </a:xfrm>
          <a:prstGeom prst="rect">
            <a:avLst/>
          </a:prstGeom>
          <a:solidFill>
            <a:srgbClr val="1E4FA8"/>
          </a:solidFill>
          <a:ln/>
        </p:spPr>
        <p:txBody>
          <a:bodyPr/>
          <a:p/>
        </p:txBody>
      </p:sp>
    </p:spTree>
  </p:cSld>
</p:sld>
</file>

<file path=ppt/slides/slide15.xml><?xml version="1.0" encoding="utf-8"?>
<p:sld xmlns:asvg="http://schemas.microsoft.com/office/drawing/2016/SVG/main" xmlns:a="http://schemas.openxmlformats.org/drawingml/2006/main" xmlns:r="http://schemas.openxmlformats.org/officeDocument/2006/relationships" xmlns:p="http://schemas.openxmlformats.org/presentationml/2006/main" xmlns:mc="http://schemas.openxmlformats.org/markup-compatibility/2006" mc:Ignorable="asvg">
  <p:cSld>
    <p:spTree>
      <p:nvGrpSpPr>
        <p:cNvPr id="190" name="" descr="&lt;Slide style={{ background: '#FFFFFF', padding: 0 }}&gt;&#10;  &lt;Box style={{ height: 72, background: '#1E4FA8', padding: '0 40px', flexDirection: 'row', alignItems: 'center', justifyContent: 'space-between' }}&gt;&#10;    &lt;Text style={{ fontSize: 15, color: '#B9CDF0', letterSpacing: 1 }}&gt;ISAD · INFORMATION SYSTEMS ANALYSIS &amp;amp; DESIGN&lt;/Text&gt;&#10;    &lt;Text style={{ fontSize: 15, color: '#B9CDF0' }}&gt;W04 · THE USE CASE DIAGRAM&lt;/Text&gt;&#10;  &lt;/Box&gt;&#10;  &lt;Box style={{ padding: '12px 40px 0 40px', flexDirection: 'row', alignItems: 'center', justifyContent: 'space-between' }}&gt;&#10;    &lt;Text style={{ fontSize: 30, fontWeight: 'bold', color: '#0E3F8C' }}&gt;Anatomy of a Use Case Diagram&lt;/Text&gt;&#10;    &lt;Text style={{ fontSize: 14, color: '#1E4FA8', fontWeight: 'bold' }}&gt;15 / 38&lt;/Text&gt;&#10;  &lt;/Box&gt;&#10;  &lt;Box style={{ flex: 1, padding: '2px 40px 0 40px', justifyContent: 'center', alignItems: 'center' }}&gt;&#10;    &lt;svg width={1180} height={386} viewBox='0 0 1180 386'&gt;&#10;      &lt;text x='10' y='16' fill='#8B97A8' fontSize='13'&gt;Six symbols. If you can read all six aloud, you can read — and draw — any use case diagram.&lt;/text&gt;&#10;&#10;      &lt;g transform='translate(14,34)'&gt;&#10;        &lt;rect x='0' y='0' width='636' height='348' rx='8' fill='#F7F9FC' stroke='#1E4FA8' strokeWidth='2' /&gt;&#10;        &lt;text x='14' y='24' fill='#0E3F8C' fontSize='13.5' fontWeight='bold'&gt;the diagram&lt;/text&gt;&#10;&#10;        &lt;rect x='132' y='44' width='410' height='278' rx='6' fill='#FFFFFF' stroke='#1E4FA8' strokeWidth='1.6' /&gt;&#10;        &lt;text x='337' y='64' textAnchor='middle' fill='#1E4FA8' fontSize='13' fontWeight='bold'&gt;CampusBites&lt;/text&gt;&#10;&#10;        &lt;ellipse cx='337' cy='112' rx='132' ry='28' fill='#FFFFFF' stroke='#1E4FA8' strokeWidth='1.6' /&gt;&#10;        &lt;text x='337' y='117' textAnchor='middle' fill='#1A2230' fontSize='13'&gt;Place Order&lt;/text&gt;&#10;&#10;        &lt;ellipse cx='337' cy='182' rx='132' ry='28' fill='#FFFFFF' stroke='#1E4FA8' strokeWidth='1.6' /&gt;&#10;        &lt;text x='337' y='187' textAnchor='middle' fill='#1A2230' fontSize='13'&gt;Authenticate&lt;/text&gt;&#10;&#10;        &lt;ellipse cx='337' cy='252' rx='132' ry='28' fill='#FFFFFF' stroke='#3D7BD9' strokeWidth='1.6' /&gt;&#10;        &lt;text x='337' y='257' textAnchor='middle' fill='#1A2230' fontSize='13'&gt;Apply Coupon&lt;/text&gt;&#10;&#10;        &lt;g transform='translate(40,96)'&gt;&#10;          &lt;circle cx='16' cy='16' r='10' fill='none' stroke='#0E3F8C' strokeWidth='2' /&gt;&#10;          &lt;line x1='16' y1='26' x2='16' y2='52' stroke='#0E3F8C' strokeWidth='2' /&gt;&#10;          &lt;line x1='16' y1='34' x2='2' y2='48' stroke='#0E3F8C' strokeWidth='2' /&gt;&#10;          &lt;line x1='16' y1='34' x2='30' y2='48' stroke='#0E3F8C' strokeWidth='2' /&gt;&#10;          &lt;line x1='16' y1='52' x2='4' y2='70' stroke='#0E3F8C' strokeWidth='2' /&gt;&#10;          &lt;line x1='16' y1='52' x2='28' y2='70' stroke='#0E3F8C' strokeWidth='2' /&gt;&#10;          &lt;text x='16' y='88' textAnchor='middle' fill='#0E3F8C' fontSize='12.5' fontWeight='bold'&gt;Customer&lt;/text&gt;&#10;        &lt;/g&gt;&#10;&#10;        &lt;g transform='translate(556,182)'&gt;&#10;          &lt;circle cx='16' cy='16' r='10' fill='none' stroke='#8B97A8' strokeWidth='2' /&gt;&#10;          &lt;line x1='16' y1='26' x2='16' y2='52' stroke='#8B97A8' strokeWidth='2' /&gt;&#10;          &lt;line x1='16' y1='34' x2='2' y2='48' stroke='#8B97A8' strokeWidth='2' /&gt;&#10;          &lt;line x1='16' y1='34' x2='30' y2='48' stroke='#8B97A8' strokeWidth='2' /&gt;&#10;          &lt;line x1='16' y1='52' x2='4' y2='70' stroke='#8B97A8' strokeWidth='2' /&gt;&#10;          &lt;line x1='16' y1='52' x2='28' y2='70' stroke='#8B97A8' strokeWidth='2' /&gt;&#10;          &lt;text x='16' y='88' textAnchor='middle' fill='#8B97A8' fontSize='12.5' fontWeight='bold'&gt;Payment&lt;/text&gt;&#10;          &lt;text x='16' y='104' textAnchor='middle' fill='#8B97A8' fontSize='12.5' fontWeight='bold'&gt;Provider&lt;/text&gt;&#10;          &lt;text x='16' y='120' textAnchor='middle' fill='#4A5568' fontSize='10'&gt;outside the box&lt;/text&gt;&#10;        &lt;/g&gt;&#10;&#10;        &lt;line x1='56' y1='140' x2='212' y2='120' stroke='#1E4FA8' strokeWidth='1.6' /&gt;&#10;        &lt;line x1='270' y1='132' x2='542' y2='190' stroke='#8B97A8' strokeWidth='1.4' /&gt;&#10;&#10;        &lt;line x1='290' y1='134' x2='256' y2='158' stroke='#1E4FA8' strokeWidth='1.5' strokeDasharray='6 4' /&gt;&#10;        &lt;polygon points='252,161 264,158 256,148' fill='#1E4FA8' /&gt;&#10;        &lt;text x='196' y='148' fill='#1E4FA8' fontSize='11' fontWeight='bold'&gt;«include»&lt;/text&gt;&#10;&#10;        &lt;line x1='290' y1='232' x2='320' y2='166' stroke='#3D7BD9' strokeWidth='1.5' strokeDasharray='6 4' /&gt;&#10;        &lt;polygon points='322,162 310,168 320,176' fill='#3D7BD9' /&gt;&#10;        &lt;text x='240' y='220' fill='#3D7BD9' fontSize='11' fontWeight='bold'&gt;«extend»&lt;/text&gt;&#10;      &lt;/g&gt;&#10;&#10;      &lt;g transform='translate(672,34)'&gt;&#10;        &lt;text x='0' y='12' fill='#8B97A8' fontSize='12.5'&gt;read them in this order&lt;/text&gt;&#10;&#10;        &lt;g transform='translate(0,30)'&gt;&#10;          &lt;rect x='0' y='0' width='486' height='50' rx='6' fill='#F0F5FC' stroke='#1E4FA8' strokeWidth='1' /&gt;&#10;          &lt;circle cx='24' cy='25' r='15' fill='#1E4FA8' /&gt;&#10;          &lt;text x='24' y='31' textAnchor='middle' fill='#FFFFFF' fontSize='13' fontWeight='bold'&gt;1&lt;/text&gt;&#10;          &lt;text x='50' y='21' fill='#0E3F8C' fontSize='13.5' fontWeight='bold'&gt;System boundary — the box&lt;/text&gt;&#10;          &lt;text x='50' y='39' fill='#4A5568' fontSize='11.5'&gt;What you are building. Everything else is outside and belongs to someone else.&lt;/text&gt;&#10;        &lt;/g&gt;&#10;&#10;        &lt;g transform='translate(0,86)'&gt;&#10;          &lt;rect x='0' y='0' width='486' height='50' rx='6' fill='#FFFFFF' stroke='#D6DCE5' strokeWidth='1' /&gt;&#10;          &lt;circle cx='24' cy='25' r='15' fill='#3D7BD9' /&gt;&#10;          &lt;text x='24' y='31' textAnchor='middle' fill='#FFFFFF' fontSize='13' fontWeight='bold'&gt;2&lt;/text&gt;&#10;          &lt;text x='50' y='21' fill='#0E3F8C' fontSize='13.5' fontWeight='bold'&gt;Use case — the ellipse&lt;/text&gt;&#10;          &lt;text x='50' y='39' fill='#4A5568' fontSize='11.5'&gt;One user goal. Named verb plus object. An ellipse, never a box.&lt;/text&gt;&#10;        &lt;/g&gt;&#10;&#10;        &lt;g transform='translate(0,142)'&gt;&#10;          &lt;rect x='0' y='0' width='486' height='50' rx='6' fill='#FFFFFF' stroke='#D6DCE5' strokeWidth='1' /&gt;&#10;          &lt;circle cx='24' cy='25' r='15' fill='#3D7BD9' /&gt;&#10;          &lt;text x='24' y='31' textAnchor='middle' fill='#FFFFFF' fontSize='13' fontWeight='bold'&gt;3&lt;/text&gt;&#10;          &lt;text x='50' y='21' fill='#0E3F8C' fontSize='13.5' fontWeight='bold'&gt;Actor — the stick figure&lt;/text&gt;&#10;          &lt;text x='50' y='39' fill='#4A5568' fontSize='11.5'&gt;A role outside the box. Primary actors stand on the left; supporting actors on the right.&lt;/text&gt;&#10;        &lt;/g&gt;&#10;&#10;        &lt;g transform='translate(0,198)'&gt;&#10;          &lt;rect x='0' y='0' width='486' height='50' rx='6' fill='#FFFFFF' stroke='#D6DCE5' strokeWidth='1' /&gt;&#10;          &lt;circle cx='24' cy='25' r='15' fill='#3D7BD9' /&gt;&#10;          &lt;text x='24' y='31' textAnchor='middle' fill='#FFFFFF' fontSize='13' fontWeight='bold'&gt;4&lt;/text&gt;&#10;          &lt;text x='50' y='21' fill='#0E3F8C' fontSize='13.5' fontWeight='bold'&gt;Association — the solid line&lt;/text&gt;&#10;          &lt;text x='50' y='39' fill='#4A5568' fontSize='11.5'&gt;An actor talks to a use case. No arrowhead: information flows both ways.&lt;/text&gt;&#10;        &lt;/g&gt;&#10;&#10;        &lt;g transform='translate(0,254)'&gt;&#10;          &lt;rect x='0' y='0' width='486' height='50' rx='6' fill='#F0F5FC' stroke='#1E4FA8' strokeWidth='1' /&gt;&#10;          &lt;circle cx='24' cy='25' r='15' fill='#1E4FA8' /&gt;&#10;          &lt;text x='24' y='31' textAnchor='middle' fill='#FFFFFF' fontSize='13' fontWeight='bold'&gt;5&lt;/text&gt;&#10;          &lt;text x='50' y='21' fill='#0E3F8C' fontSize='13.5' fontWeight='bold'&gt;«include» — dashed, always happens&lt;/text&gt;&#10;          &lt;text x='50' y='39' fill='#4A5568' fontSize='11.5'&gt;Arrow from the base use case to the one it always pulls in.&lt;/text&gt;&#10;        &lt;/g&gt;&#10;&#10;        &lt;g transform='translate(0,310)'&gt;&#10;          &lt;rect x='0' y='0' width='486' height='50' rx='6' fill='#FFFFFF' stroke='#3D7BD9' strokeWidth='1' /&gt;&#10;          &lt;circle cx='24' cy='25' r='15' fill='#3D7BD9' /&gt;&#10;          &lt;text x='24' y='31' textAnchor='middle' fill='#FFFFFF' fontSize='13' fontWeight='bold'&gt;6&lt;/text&gt;&#10;          &lt;text x='50' y='21' fill='#0E3F8C' fontSize='13.5' fontWeight='bold'&gt;«extend» — dashed, may happen&lt;/text&gt;&#10;          &lt;text x='50' y='39' fill='#4A5568' fontSize='11.5'&gt;Arrow from the extra use case back to the base. Watch the direction.&lt;/text&gt;&#10;        &lt;/g&gt;&#10;      &lt;/g&gt;&#10;    &lt;/svg&gt;&#10;  &lt;/Box&gt;&#10;  &lt;Box style={{ height: 34, padding: '0 40px', flexDirection: 'row', alignItems: 'center', justifyContent: 'space-between' }}&gt;&#10;    &lt;Text style={{ fontSize: 13, color: '#8B97A8' }}&gt;ISAD · Fall 2026 · The diagram is a table of contents — the value is in the text you write for each ellipse (Week 05)&lt;/Text&gt;&#10;    &lt;Text style={{ fontSize: 14, color: '#1E4FA8', fontWeight: 'bold' }}&gt;15 / 38&lt;/Text&gt;&#10;  &lt;/Box&gt;&#10;&lt;/Slide&gt;"/>
        <p:cNvGrpSpPr/>
        <p:nvPr/>
      </p:nvGrpSpPr>
      <p:grpSpPr>
        <a:xfrm>
          <a:off x="0" y="0"/>
          <a:ext cx="0" cy="0"/>
          <a:chOff x="0" y="0"/>
          <a:chExt cx="0" cy="0"/>
        </a:xfrm>
      </p:grpSpPr>
      <p:sp>
        <p:nvSpPr>
          <p:cNvPr id="191" name=""/>
          <p:cNvSpPr/>
          <p:nvPr/>
        </p:nvSpPr>
        <p:spPr>
          <a:xfrm rot="0" flipH="0" flipV="0">
            <a:off x="0" y="0"/>
            <a:ext cx="12192000" cy="6858000"/>
          </a:xfrm>
          <a:prstGeom prst="rect">
            <a:avLst/>
          </a:prstGeom>
          <a:solidFill>
            <a:srgbClr val="FFFFFF"/>
          </a:solidFill>
          <a:ln/>
        </p:spPr>
        <p:txBody>
          <a:bodyPr/>
          <a:p/>
        </p:txBody>
      </p:sp>
      <p:sp>
        <p:nvSpPr>
          <p:cNvPr id="192" name=""/>
          <p:cNvSpPr/>
          <p:nvPr/>
        </p:nvSpPr>
        <p:spPr>
          <a:xfrm rot="0" flipH="0" flipV="0">
            <a:off x="0" y="0"/>
            <a:ext cx="12192000" cy="685800"/>
          </a:xfrm>
          <a:prstGeom prst="rect">
            <a:avLst/>
          </a:prstGeom>
          <a:solidFill>
            <a:srgbClr val="1E4FA8"/>
          </a:solidFill>
          <a:ln/>
        </p:spPr>
        <p:txBody>
          <a:bodyPr/>
          <a:p/>
        </p:txBody>
      </p:sp>
      <p:sp>
        <p:nvSpPr>
          <p:cNvPr id="193" name="" descr="{&quot;isTemplate&quot;:true,&quot;type&quot;:&quot;text&quot;}"/>
          <p:cNvSpPr txBox="1"/>
          <p:nvPr/>
        </p:nvSpPr>
        <p:spPr>
          <a:xfrm rot="0" flipH="0" flipV="0">
            <a:off x="381000" y="257175"/>
            <a:ext cx="4067175" cy="171450"/>
          </a:xfrm>
          <a:prstGeom prst="rect"/>
        </p:spPr>
        <p:txBody>
          <a:bodyPr wrap="none" lIns="0" tIns="0" rIns="0" bIns="0"/>
          <a:p>
            <a:pPr>
              <a:lnSpc>
                <a:spcPct val="100000"/>
              </a:lnSpc>
            </a:pPr>
            <a:r>
              <a:rPr lang="en-US" sz="1125" spc="75">
                <a:solidFill>
                  <a:srgbClr val="B9CDF0"/>
                </a:solidFill>
                <a:latin typeface="Microsoft YaHei"/>
                <a:ea typeface="Microsoft YaHei"/>
              </a:rPr>
              <a:t>ISAD · INFORMATION SYSTEMS ANALYSIS &amp; DESIGN</a:t>
            </a:r>
            <a:endParaRPr/>
          </a:p>
        </p:txBody>
      </p:sp>
      <p:sp>
        <p:nvSpPr>
          <p:cNvPr id="194" name="" descr="{&quot;isTemplate&quot;:true,&quot;type&quot;:&quot;text&quot;}"/>
          <p:cNvSpPr txBox="1"/>
          <p:nvPr/>
        </p:nvSpPr>
        <p:spPr>
          <a:xfrm rot="0" flipH="0" flipV="0">
            <a:off x="9629775" y="257175"/>
            <a:ext cx="2181225" cy="171450"/>
          </a:xfrm>
          <a:prstGeom prst="rect"/>
        </p:spPr>
        <p:txBody>
          <a:bodyPr wrap="none" lIns="0" tIns="0" rIns="0" bIns="0"/>
          <a:p>
            <a:pPr>
              <a:lnSpc>
                <a:spcPct val="100000"/>
              </a:lnSpc>
            </a:pPr>
            <a:r>
              <a:rPr lang="en-US" sz="1125">
                <a:solidFill>
                  <a:srgbClr val="B9CDF0"/>
                </a:solidFill>
                <a:latin typeface="Microsoft YaHei"/>
                <a:ea typeface="Microsoft YaHei"/>
              </a:rPr>
              <a:t>W04 · THE USE CASE DIAGRAM</a:t>
            </a:r>
            <a:endParaRPr/>
          </a:p>
        </p:txBody>
      </p:sp>
      <p:sp>
        <p:nvSpPr>
          <p:cNvPr id="195" name="" descr="{&quot;isTemplate&quot;:true,&quot;type&quot;:&quot;text&quot;}"/>
          <p:cNvSpPr txBox="1"/>
          <p:nvPr/>
        </p:nvSpPr>
        <p:spPr>
          <a:xfrm rot="0" flipH="0" flipV="0">
            <a:off x="381000" y="800100"/>
            <a:ext cx="4400550" cy="342900"/>
          </a:xfrm>
          <a:prstGeom prst="rect"/>
        </p:spPr>
        <p:txBody>
          <a:bodyPr wrap="none" lIns="0" tIns="0" rIns="0" bIns="0"/>
          <a:p>
            <a:pPr>
              <a:lnSpc>
                <a:spcPct val="100000"/>
              </a:lnSpc>
            </a:pPr>
            <a:r>
              <a:rPr lang="en-US" sz="2250" b="1">
                <a:solidFill>
                  <a:srgbClr val="0E3F8C"/>
                </a:solidFill>
                <a:latin typeface="Microsoft YaHei"/>
                <a:ea typeface="Microsoft YaHei"/>
              </a:rPr>
              <a:t>Anatomy of a Use Case Diagram</a:t>
            </a:r>
            <a:endParaRPr/>
          </a:p>
        </p:txBody>
      </p:sp>
      <p:sp>
        <p:nvSpPr>
          <p:cNvPr id="196" name="" descr="{&quot;isTemplate&quot;:true,&quot;type&quot;:&quot;text&quot;}"/>
          <p:cNvSpPr txBox="1"/>
          <p:nvPr/>
        </p:nvSpPr>
        <p:spPr>
          <a:xfrm rot="0" flipH="0" flipV="0">
            <a:off x="11401425" y="895350"/>
            <a:ext cx="409575" cy="161925"/>
          </a:xfrm>
          <a:prstGeom prst="rect"/>
        </p:spPr>
        <p:txBody>
          <a:bodyPr wrap="none" lIns="0" tIns="0" rIns="0" bIns="0"/>
          <a:p>
            <a:pPr>
              <a:lnSpc>
                <a:spcPct val="100000"/>
              </a:lnSpc>
            </a:pPr>
            <a:r>
              <a:rPr lang="en-US" sz="1050" b="1">
                <a:solidFill>
                  <a:srgbClr val="1E4FA8"/>
                </a:solidFill>
                <a:latin typeface="Microsoft YaHei"/>
                <a:ea typeface="Microsoft YaHei"/>
              </a:rPr>
              <a:t>15 / 38</a:t>
            </a:r>
            <a:endParaRPr/>
          </a:p>
        </p:txBody>
      </p:sp>
      <p:pic>
        <p:nvPicPr>
          <p:cNvPr id="197" name=""/>
          <p:cNvPicPr>
            <a:picLocks noChangeAspect="1"/>
          </p:cNvPicPr>
          <p:nvPr/>
        </p:nvPicPr>
        <p:blipFill>
          <a:blip>
            <a:extLst>
              <a:ext uri="{96DAC541-7B7A-43D3-8B79-37D633B846F1}">
                <asvg:svgBlip r:embed="rId1"/>
              </a:ext>
            </a:extLst>
          </a:blip>
          <a:stretch>
            <a:fillRect/>
          </a:stretch>
        </p:blipFill>
        <p:spPr>
          <a:xfrm rot="0" flipH="0" flipV="0">
            <a:off x="476250" y="2009775"/>
            <a:ext cx="11239500" cy="3676650"/>
          </a:xfrm>
          <a:prstGeom prst="rect">
            <a:avLst/>
          </a:prstGeom>
          <a:ln/>
        </p:spPr>
      </p:pic>
      <p:sp>
        <p:nvSpPr>
          <p:cNvPr id="198" name="" descr="{&quot;isTemplate&quot;:true,&quot;type&quot;:&quot;text&quot;}"/>
          <p:cNvSpPr txBox="1"/>
          <p:nvPr/>
        </p:nvSpPr>
        <p:spPr>
          <a:xfrm rot="0" flipH="0" flipV="0">
            <a:off x="381000" y="6619875"/>
            <a:ext cx="6276975" cy="152400"/>
          </a:xfrm>
          <a:prstGeom prst="rect"/>
        </p:spPr>
        <p:txBody>
          <a:bodyPr wrap="none" lIns="0" tIns="0" rIns="0" bIns="0"/>
          <a:p>
            <a:pPr>
              <a:lnSpc>
                <a:spcPct val="100000"/>
              </a:lnSpc>
            </a:pPr>
            <a:r>
              <a:rPr lang="en-US" sz="975">
                <a:solidFill>
                  <a:srgbClr val="8B97A8"/>
                </a:solidFill>
                <a:latin typeface="Microsoft YaHei"/>
                <a:ea typeface="Microsoft YaHei"/>
              </a:rPr>
              <a:t>ISAD · Fall 2026 · The diagram is a table of contents — the value is in the text you write for each ellipse (Week 05)</a:t>
            </a:r>
            <a:endParaRPr/>
          </a:p>
        </p:txBody>
      </p:sp>
      <p:sp>
        <p:nvSpPr>
          <p:cNvPr id="199" name="" descr="{&quot;isTemplate&quot;:true,&quot;type&quot;:&quot;text&quot;}"/>
          <p:cNvSpPr txBox="1"/>
          <p:nvPr/>
        </p:nvSpPr>
        <p:spPr>
          <a:xfrm rot="0" flipH="0" flipV="0">
            <a:off x="11401425" y="6619875"/>
            <a:ext cx="409575" cy="161925"/>
          </a:xfrm>
          <a:prstGeom prst="rect"/>
        </p:spPr>
        <p:txBody>
          <a:bodyPr wrap="none" lIns="0" tIns="0" rIns="0" bIns="0"/>
          <a:p>
            <a:pPr>
              <a:lnSpc>
                <a:spcPct val="100000"/>
              </a:lnSpc>
            </a:pPr>
            <a:r>
              <a:rPr lang="en-US" sz="1050" b="1">
                <a:solidFill>
                  <a:srgbClr val="1E4FA8"/>
                </a:solidFill>
                <a:latin typeface="Microsoft YaHei"/>
                <a:ea typeface="Microsoft YaHei"/>
              </a:rPr>
              <a:t>15 / 38</a:t>
            </a:r>
            <a:endParaRPr/>
          </a:p>
        </p:txBody>
      </p:sp>
    </p:spTree>
  </p:cSld>
</p:sld>
</file>

<file path=ppt/slides/slide16.xml><?xml version="1.0" encoding="utf-8"?>
<p:sld xmlns:asvg="http://schemas.microsoft.com/office/drawing/2016/SVG/main" xmlns:a="http://schemas.openxmlformats.org/drawingml/2006/main" xmlns:r="http://schemas.openxmlformats.org/officeDocument/2006/relationships" xmlns:p="http://schemas.openxmlformats.org/presentationml/2006/main" xmlns:mc="http://schemas.openxmlformats.org/markup-compatibility/2006" mc:Ignorable="asvg">
  <p:cSld>
    <p:spTree>
      <p:nvGrpSpPr>
        <p:cNvPr id="200" name="" descr="&lt;Slide style={{ background: '#FFFFFF', padding: 0 }}&gt;&#10;  &lt;Box style={{ height: 72, background: '#1E4FA8', padding: '0 40px', flexDirection: 'row', alignItems: 'center', justifyContent: 'space-between' }}&gt;&#10;    &lt;Text style={{ fontSize: 15, color: '#B9CDF0', letterSpacing: 1 }}&gt;ISAD · INFORMATION SYSTEMS ANALYSIS &amp;amp; DESIGN&lt;/Text&gt;&#10;    &lt;Text style={{ fontSize: 15, color: '#B9CDF0' }}&gt;W04 · THE USE CASE DIAGRAM&lt;/Text&gt;&#10;  &lt;/Box&gt;&#10;  &lt;Box style={{ padding: '12px 40px 0 40px', flexDirection: 'row', alignItems: 'center', justifyContent: 'space-between' }}&gt;&#10;    &lt;Text style={{ fontSize: 29, fontWeight: 'bold', color: '#0E3F8C' }}&gt;The System Boundary&lt;/Text&gt;&#10;    &lt;Text style={{ fontSize: 14, color: '#1E4FA8', fontWeight: 'bold' }}&gt;16 / 38&lt;/Text&gt;&#10;  &lt;/Box&gt;&#10;  &lt;Box style={{ flex: 1, padding: '8px 40px 0 40px', flexDirection: 'row', gap: 26 }}&gt;&#10;    &lt;Box style={{ width: 600, justifyContent: 'center', alignItems: 'center' }}&gt;&#10;      &lt;svg width={600} height={358} viewBox='0 0 600 358'&gt;&#10;        &lt;text x='6' y='16' fill='#8B97A8' fontSize='12'&gt;The box is a promise: inside is what you build, outside is what you call&lt;/text&gt;&#10;&#10;        &lt;rect x='150' y='36' width='290' height='286' rx='6' fill='#FFFFFF' stroke='#1E4FA8' strokeWidth='2' /&gt;&#10;        &lt;text x='295' y='58' textAnchor='middle' fill='#0E3F8C' fontSize='13.5' fontWeight='bold'&gt;CampusBites&lt;/text&gt;&#10;&#10;        &lt;ellipse cx='295' cy='98' rx='110' ry='24' fill='#F0F5FC' stroke='#1E4FA8' strokeWidth='1.5' /&gt;&#10;        &lt;text x='295' y='103' textAnchor='middle' fill='#1A2230' fontSize='12'&gt;Place Order&lt;/text&gt;&#10;&#10;        &lt;ellipse cx='295' cy='158' rx='110' ry='24' fill='#F0F5FC' stroke='#1E4FA8' strokeWidth='1.5' /&gt;&#10;        &lt;text x='295' y='163' textAnchor='middle' fill='#1A2230' fontSize='12'&gt;Pay for Order&lt;/text&gt;&#10;&#10;        &lt;ellipse cx='295' cy='218' rx='110' ry='24' fill='#F0F5FC' stroke='#1E4FA8' strokeWidth='1.5' /&gt;&#10;        &lt;text x='295' y='223' textAnchor='middle' fill='#1A2230' fontSize='12'&gt;Send Notification&lt;/text&gt;&#10;&#10;        &lt;ellipse cx='295' cy='278' rx='110' ry='24' fill='#F0F5FC' stroke='#1E4FA8' strokeWidth='1.5' /&gt;&#10;        &lt;text x='295' y='283' textAnchor='middle' fill='#1A2230' fontSize='12'&gt;Track Order&lt;/text&gt;&#10;&#10;        &lt;g transform='translate(24,86)'&gt;&#10;          &lt;circle cx='16' cy='16' r='9' fill='none' stroke='#0E3F8C' strokeWidth='2' /&gt;&#10;          &lt;line x1='16' y1='25' x2='16' y2='48' stroke='#0E3F8C' strokeWidth='2' /&gt;&#10;          &lt;line x1='16' y1='33' x2='4' y2='45' stroke='#0E3F8C' strokeWidth='2' /&gt;&#10;          &lt;line x1='16' y1='33' x2='28' y2='45' stroke='#0E3F8C' strokeWidth='2' /&gt;&#10;          &lt;line x1='16' y1='48' x2='5' y2='64' stroke='#0E3F8C' strokeWidth='2' /&gt;&#10;          &lt;line x1='16' y1='48' x2='27' y2='64' stroke='#0E3F8C' strokeWidth='2' /&gt;&#10;          &lt;text x='16' y='80' textAnchor='middle' fill='#0E3F8C' fontSize='12' fontWeight='bold'&gt;Student&lt;/text&gt;&#10;        &lt;/g&gt;&#10;&#10;        &lt;g transform='translate(24,200)'&gt;&#10;          &lt;circle cx='16' cy='16' r='9' fill='none' stroke='#0E3F8C' strokeWidth='2' /&gt;&#10;          &lt;line x1='16' y1='25' x2='16' y2='48' stroke='#0E3F8C' strokeWidth='2' /&gt;&#10;          &lt;line x1='16' y1='33' x2='4' y2='45' stroke='#0E3F8C' strokeWidth='2' /&gt;&#10;          &lt;line x1='16' y1='33' x2='28' y2='45' stroke='#0E3F8C' strokeWidth='2' /&gt;&#10;          &lt;line x1='16' y1='48' x2='5' y2='64' stroke='#0E3F8C' strokeWidth='2' /&gt;&#10;          &lt;line x1='16' y1='48' x2='27' y2='64' stroke='#0E3F8C' strokeWidth='2' /&gt;&#10;          &lt;text x='16' y='80' textAnchor='middle' fill='#0E3F8C' fontSize='12' fontWeight='bold'&gt;Manager&lt;/text&gt;&#10;        &lt;/g&gt;&#10;&#10;        &lt;line x1='56' y1='152' x2='186' y2='104' stroke='#1E4FA8' strokeWidth='1.4' /&gt;&#10;        &lt;line x1='186' y1='218' x2='56' y2='256' stroke='#1E4FA8' strokeWidth='1.4' /&gt;&#10;&#10;        &lt;g transform='translate(462,86)'&gt;&#10;          &lt;rect x='0' y='0' width='120' height='46' rx='4' fill='#F7F9FC' stroke='#8B97A8' strokeWidth='1.6' /&gt;&#10;          &lt;text x='60' y='21' textAnchor='middle' fill='#4A5568' fontSize='11.5' fontWeight='bold'&gt;Payment&lt;/text&gt;&#10;          &lt;text x='60' y='37' textAnchor='middle' fill='#4A5568' fontSize='11.5' fontWeight='bold'&gt;Centre&lt;/text&gt;&#10;        &lt;/g&gt;&#10;        &lt;g transform='translate(462,186)'&gt;&#10;          &lt;rect x='0' y='0' width='120' height='46' rx='4' fill='#F7F9FC' stroke='#8B97A8' strokeWidth='1.6' /&gt;&#10;          &lt;text x='60' y='21' textAnchor='middle' fill='#4A5568' fontSize='11.5' fontWeight='bold'&gt;SMS&lt;/text&gt;&#10;          &lt;text x='60' y='37' textAnchor='middle' fill='#4A5568' fontSize='11.5' fontWeight='bold'&gt;Gateway&lt;/text&gt;&#10;        &lt;/g&gt;&#10;        &lt;g transform='translate(462,286)'&gt;&#10;          &lt;rect x='0' y='0' width='120' height='46' rx='4' fill='#F7F9FC' stroke='#8B97A8' strokeWidth='1.6' /&gt;&#10;          &lt;text x='60' y='21' textAnchor='middle' fill='#4A5568' fontSize='11.5' fontWeight='bold'&gt;Campus Card&lt;/text&gt;&#10;          &lt;text x='60' y='37' textAnchor='middle' fill='#4A5568' fontSize='11.5' fontWeight='bold'&gt;System&lt;/text&gt;&#10;        &lt;/g&gt;&#10;&#10;        &lt;line x1='440' y1='158' x2='490' y2='120' stroke='#8B97A8' strokeWidth='1.4' strokeDasharray='6 4' /&gt;&#10;        &lt;line x1='440' y1='218' x2='490' y2='206' stroke='#8B97A8' strokeWidth='1.4' strokeDasharray='6 4' /&gt;&#10;        &lt;line x1='440' y1='158' x2='490' y2='300' stroke='#8B97A8' strokeWidth='1.4' strokeDasharray='6 4' /&gt;&#10;&#10;        &lt;text x='150' y='340' fill='#1E4FA8' fontSize='11.5' fontWeight='bold'&gt;INSIDE — ours to design, ours to test&lt;/text&gt;&#10;        &lt;text x='462' y='340' fill='#8B97A8' fontSize='11.5' fontWeight='bold'&gt;OUTSIDE&lt;/text&gt;&#10;      &lt;/svg&gt;&#10;    &lt;/Box&gt;&#10;    &lt;Box style={{ flex: 1, flexDirection: 'column', justifyContent: 'center', gap: 13 }}&gt;&#10;      &lt;Box style={{ padding: '15px 17px', background: '#F0F5FC', borderRadius: 9, borderLeft: '4px solid #1E4FA8' }}&gt;&#10;        &lt;Text style={{ fontSize: 16, fontWeight: 'bold', color: '#0E3F8C' }}&gt;The box draws the contract&lt;/Text&gt;&#10;        &lt;Text style={{ fontSize: 13, color: '#4A5568', lineHeight: 1.6, marginTop: 5 }}&gt;&#10;          Everything inside the rectangle is a use case you will design, build and test. Everything outside is a thing you call, obey, or wait for.&#10;        &lt;/Text&gt;&#10;      &lt;/Box&gt;&#10;      &lt;Box style={{ padding: '15px 17px', background: '#FFFFFF', borderRadius: 9, border: '1px solid #D6DCE5' }}&gt;&#10;        &lt;Text style={{ fontSize: 16, fontWeight: 'bold', color: '#0E3F8C' }}&gt;“Send Notification” stays inside&lt;/Text&gt;&#10;        &lt;Text style={{ fontSize: 13, color: '#4A5568', lineHeight: 1.6, marginTop: 5 }}&gt;&#10;          The goal is ours even though the SMS is not. The gateway is the actor that serves us — it never becomes a use case of its own.&#10;        &lt;/Text&gt;&#10;      &lt;/Box&gt;&#10;      &lt;Box style={{ padding: '15px 17px', background: '#FDF3F3', borderRadius: 9, borderLeft: '4px solid #D9534F' }}&gt;&#10;        &lt;Text style={{ fontSize: 16, fontWeight: 'bold', color: '#D9534F' }}&gt;The usual mistake&lt;/Text&gt;&#10;        &lt;Text style={{ fontSize: 13, color: '#4A5568', lineHeight: 1.6, marginTop: 5 }}&gt;&#10;          Drawing “Process Payment” as a use case when it is really a call to the payment centre. If you cannot change how it behaves, it is not your use case.&#10;        &lt;/Text&gt;&#10;      &lt;/Box&gt;&#10;      &lt;Box style={{ padding: '12px 16px', background: '#F7F9FC', borderRadius: 8, border: '1px dashed #D6DCE5' }}&gt;&#10;        &lt;Text style={{ fontSize: 12.5, color: '#8B97A8', lineHeight: 1.55 }}&gt;&#10;          Test for the line: could we rewrite this thing from scratch if we wanted to? Yes → inside. No → outside, and it becomes an actor.&#10;        &lt;/Text&gt;&#10;      &lt;/Box&gt;&#10;    &lt;/Box&gt;&#10;  &lt;/Box&gt;&#10;  &lt;Box style={{ height: 34, padding: '0 40px', flexDirection: 'row', alignItems: 'center', justifyContent: 'space-between' }}&gt;&#10;    &lt;Text style={{ fontSize: 13, color: '#8B97A8' }}&gt;ISAD · Fall 2026 · The boundary is the first design decision you make, and the hardest to move later&lt;/Text&gt;&#10;    &lt;Text style={{ fontSize: 14, color: '#1E4FA8', fontWeight: 'bold' }}&gt;16 / 38&lt;/Text&gt;&#10;  &lt;/Box&gt;&#10;&lt;/Slide&gt;"/>
        <p:cNvGrpSpPr/>
        <p:nvPr/>
      </p:nvGrpSpPr>
      <p:grpSpPr>
        <a:xfrm>
          <a:off x="0" y="0"/>
          <a:ext cx="0" cy="0"/>
          <a:chOff x="0" y="0"/>
          <a:chExt cx="0" cy="0"/>
        </a:xfrm>
      </p:grpSpPr>
      <p:sp>
        <p:nvSpPr>
          <p:cNvPr id="201" name=""/>
          <p:cNvSpPr/>
          <p:nvPr/>
        </p:nvSpPr>
        <p:spPr>
          <a:xfrm rot="0" flipH="0" flipV="0">
            <a:off x="0" y="0"/>
            <a:ext cx="12192000" cy="6858000"/>
          </a:xfrm>
          <a:prstGeom prst="rect">
            <a:avLst/>
          </a:prstGeom>
          <a:solidFill>
            <a:srgbClr val="FFFFFF"/>
          </a:solidFill>
          <a:ln/>
        </p:spPr>
        <p:txBody>
          <a:bodyPr/>
          <a:p/>
        </p:txBody>
      </p:sp>
      <p:sp>
        <p:nvSpPr>
          <p:cNvPr id="202" name=""/>
          <p:cNvSpPr/>
          <p:nvPr/>
        </p:nvSpPr>
        <p:spPr>
          <a:xfrm rot="0" flipH="0" flipV="0">
            <a:off x="0" y="0"/>
            <a:ext cx="12192000" cy="685800"/>
          </a:xfrm>
          <a:prstGeom prst="rect">
            <a:avLst/>
          </a:prstGeom>
          <a:solidFill>
            <a:srgbClr val="1E4FA8"/>
          </a:solidFill>
          <a:ln/>
        </p:spPr>
        <p:txBody>
          <a:bodyPr/>
          <a:p/>
        </p:txBody>
      </p:sp>
      <p:sp>
        <p:nvSpPr>
          <p:cNvPr id="203" name="" descr="{&quot;isTemplate&quot;:true,&quot;type&quot;:&quot;text&quot;}"/>
          <p:cNvSpPr txBox="1"/>
          <p:nvPr/>
        </p:nvSpPr>
        <p:spPr>
          <a:xfrm rot="0" flipH="0" flipV="0">
            <a:off x="381000" y="257175"/>
            <a:ext cx="4067175" cy="171450"/>
          </a:xfrm>
          <a:prstGeom prst="rect"/>
        </p:spPr>
        <p:txBody>
          <a:bodyPr wrap="none" lIns="0" tIns="0" rIns="0" bIns="0"/>
          <a:p>
            <a:pPr>
              <a:lnSpc>
                <a:spcPct val="100000"/>
              </a:lnSpc>
            </a:pPr>
            <a:r>
              <a:rPr lang="en-US" sz="1125" spc="75">
                <a:solidFill>
                  <a:srgbClr val="B9CDF0"/>
                </a:solidFill>
                <a:latin typeface="Microsoft YaHei"/>
                <a:ea typeface="Microsoft YaHei"/>
              </a:rPr>
              <a:t>ISAD · INFORMATION SYSTEMS ANALYSIS &amp; DESIGN</a:t>
            </a:r>
            <a:endParaRPr/>
          </a:p>
        </p:txBody>
      </p:sp>
      <p:sp>
        <p:nvSpPr>
          <p:cNvPr id="204" name="" descr="{&quot;isTemplate&quot;:true,&quot;type&quot;:&quot;text&quot;}"/>
          <p:cNvSpPr txBox="1"/>
          <p:nvPr/>
        </p:nvSpPr>
        <p:spPr>
          <a:xfrm rot="0" flipH="0" flipV="0">
            <a:off x="9629775" y="257175"/>
            <a:ext cx="2181225" cy="171450"/>
          </a:xfrm>
          <a:prstGeom prst="rect"/>
        </p:spPr>
        <p:txBody>
          <a:bodyPr wrap="none" lIns="0" tIns="0" rIns="0" bIns="0"/>
          <a:p>
            <a:pPr>
              <a:lnSpc>
                <a:spcPct val="100000"/>
              </a:lnSpc>
            </a:pPr>
            <a:r>
              <a:rPr lang="en-US" sz="1125">
                <a:solidFill>
                  <a:srgbClr val="B9CDF0"/>
                </a:solidFill>
                <a:latin typeface="Microsoft YaHei"/>
                <a:ea typeface="Microsoft YaHei"/>
              </a:rPr>
              <a:t>W04 · THE USE CASE DIAGRAM</a:t>
            </a:r>
            <a:endParaRPr/>
          </a:p>
        </p:txBody>
      </p:sp>
      <p:sp>
        <p:nvSpPr>
          <p:cNvPr id="205" name="" descr="{&quot;isTemplate&quot;:true,&quot;type&quot;:&quot;text&quot;}"/>
          <p:cNvSpPr txBox="1"/>
          <p:nvPr/>
        </p:nvSpPr>
        <p:spPr>
          <a:xfrm rot="0" flipH="0" flipV="0">
            <a:off x="381000" y="800100"/>
            <a:ext cx="2924175" cy="333375"/>
          </a:xfrm>
          <a:prstGeom prst="rect"/>
        </p:spPr>
        <p:txBody>
          <a:bodyPr wrap="none" lIns="0" tIns="0" rIns="0" bIns="0"/>
          <a:p>
            <a:pPr>
              <a:lnSpc>
                <a:spcPct val="100000"/>
              </a:lnSpc>
            </a:pPr>
            <a:r>
              <a:rPr lang="en-US" sz="2175" b="1">
                <a:solidFill>
                  <a:srgbClr val="0E3F8C"/>
                </a:solidFill>
                <a:latin typeface="Microsoft YaHei"/>
                <a:ea typeface="Microsoft YaHei"/>
              </a:rPr>
              <a:t>The System Boundary</a:t>
            </a:r>
            <a:endParaRPr/>
          </a:p>
        </p:txBody>
      </p:sp>
      <p:sp>
        <p:nvSpPr>
          <p:cNvPr id="206" name="" descr="{&quot;isTemplate&quot;:true,&quot;type&quot;:&quot;text&quot;}"/>
          <p:cNvSpPr txBox="1"/>
          <p:nvPr/>
        </p:nvSpPr>
        <p:spPr>
          <a:xfrm rot="0" flipH="0" flipV="0">
            <a:off x="11401425" y="885825"/>
            <a:ext cx="409575" cy="161925"/>
          </a:xfrm>
          <a:prstGeom prst="rect"/>
        </p:spPr>
        <p:txBody>
          <a:bodyPr wrap="none" lIns="0" tIns="0" rIns="0" bIns="0"/>
          <a:p>
            <a:pPr>
              <a:lnSpc>
                <a:spcPct val="100000"/>
              </a:lnSpc>
            </a:pPr>
            <a:r>
              <a:rPr lang="en-US" sz="1050" b="1">
                <a:solidFill>
                  <a:srgbClr val="1E4FA8"/>
                </a:solidFill>
                <a:latin typeface="Microsoft YaHei"/>
                <a:ea typeface="Microsoft YaHei"/>
              </a:rPr>
              <a:t>16 / 38</a:t>
            </a:r>
            <a:endParaRPr/>
          </a:p>
        </p:txBody>
      </p:sp>
      <p:pic>
        <p:nvPicPr>
          <p:cNvPr id="207" name=""/>
          <p:cNvPicPr>
            <a:picLocks noChangeAspect="1"/>
          </p:cNvPicPr>
          <p:nvPr/>
        </p:nvPicPr>
        <p:blipFill>
          <a:blip>
            <a:extLst>
              <a:ext uri="{96DAC541-7B7A-43D3-8B79-37D633B846F1}">
                <asvg:svgBlip r:embed="rId1"/>
              </a:ext>
            </a:extLst>
          </a:blip>
          <a:stretch>
            <a:fillRect/>
          </a:stretch>
        </p:blipFill>
        <p:spPr>
          <a:xfrm rot="0" flipH="0" flipV="0">
            <a:off x="381000" y="2171700"/>
            <a:ext cx="5715000" cy="3409950"/>
          </a:xfrm>
          <a:prstGeom prst="rect">
            <a:avLst/>
          </a:prstGeom>
          <a:ln/>
        </p:spPr>
      </p:pic>
      <p:sp>
        <p:nvSpPr>
          <p:cNvPr id="208" name=""/>
          <p:cNvSpPr/>
          <p:nvPr/>
        </p:nvSpPr>
        <p:spPr>
          <a:xfrm rot="0" flipH="0" flipV="0">
            <a:off x="6381750" y="1847850"/>
            <a:ext cx="5467350" cy="1000125"/>
          </a:xfrm>
          <a:prstGeom prst="roundRect">
            <a:avLst>
              <a:gd name="adj" fmla="val 8571"/>
            </a:avLst>
          </a:prstGeom>
          <a:solidFill>
            <a:srgbClr val="F0F5FC"/>
          </a:solidFill>
          <a:ln/>
        </p:spPr>
        <p:txBody>
          <a:bodyPr/>
          <a:p/>
        </p:txBody>
      </p:sp>
      <p:sp>
        <p:nvSpPr>
          <p:cNvPr id="209" name=""/>
          <p:cNvSpPr/>
          <p:nvPr/>
        </p:nvSpPr>
        <p:spPr>
          <a:xfrm rot="0" flipH="0" flipV="0">
            <a:off x="6381750" y="1847850"/>
            <a:ext cx="5467350" cy="1000125"/>
          </a:xfrm>
          <a:custGeom>
            <a:pathLst>
              <a:path w="574" h="105">
                <a:moveTo>
                  <a:pt x="9" y="0"/>
                </a:moveTo>
                <a:cubicBezTo>
                  <a:pt x="6" y="0"/>
                  <a:pt x="4" y="2"/>
                  <a:pt x="4" y="5"/>
                </a:cubicBezTo>
                <a:lnTo>
                  <a:pt x="4" y="100"/>
                </a:lnTo>
                <a:cubicBezTo>
                  <a:pt x="4" y="102"/>
                  <a:pt x="6" y="104"/>
                  <a:pt x="8" y="105"/>
                </a:cubicBezTo>
                <a:cubicBezTo>
                  <a:pt x="4" y="105"/>
                  <a:pt x="0" y="101"/>
                  <a:pt x="0" y="96"/>
                </a:cubicBezTo>
                <a:lnTo>
                  <a:pt x="0" y="9"/>
                </a:lnTo>
                <a:cubicBezTo>
                  <a:pt x="0" y="4"/>
                  <a:pt x="4" y="0"/>
                  <a:pt x="9" y="0"/>
                </a:cubicBezTo>
                <a:close/>
              </a:path>
            </a:pathLst>
          </a:custGeom>
          <a:solidFill>
            <a:srgbClr val="1E4FA8"/>
          </a:solidFill>
          <a:ln/>
        </p:spPr>
        <p:txBody>
          <a:bodyPr/>
          <a:p/>
        </p:txBody>
      </p:sp>
      <p:sp>
        <p:nvSpPr>
          <p:cNvPr id="210" name="" descr="{&quot;isTemplate&quot;:true,&quot;type&quot;:&quot;text&quot;}"/>
          <p:cNvSpPr txBox="1"/>
          <p:nvPr/>
        </p:nvSpPr>
        <p:spPr>
          <a:xfrm rot="0" flipH="0" flipV="0">
            <a:off x="6543675" y="1990725"/>
            <a:ext cx="5105400" cy="190500"/>
          </a:xfrm>
          <a:prstGeom prst="rect"/>
        </p:spPr>
        <p:txBody>
          <a:bodyPr wrap="none" lIns="0" tIns="0" rIns="0" bIns="0"/>
          <a:p>
            <a:pPr>
              <a:lnSpc>
                <a:spcPct val="100000"/>
              </a:lnSpc>
            </a:pPr>
            <a:r>
              <a:rPr lang="en-US" sz="1200" b="1">
                <a:solidFill>
                  <a:srgbClr val="0E3F8C"/>
                </a:solidFill>
                <a:latin typeface="Microsoft YaHei"/>
                <a:ea typeface="Microsoft YaHei"/>
              </a:rPr>
              <a:t>The box draws the contract</a:t>
            </a:r>
            <a:endParaRPr/>
          </a:p>
        </p:txBody>
      </p:sp>
      <p:sp>
        <p:nvSpPr>
          <p:cNvPr id="211" name="" descr="{&quot;isTemplate&quot;:true,&quot;type&quot;:&quot;text&quot;}"/>
          <p:cNvSpPr txBox="1"/>
          <p:nvPr/>
        </p:nvSpPr>
        <p:spPr>
          <a:xfrm rot="0" flipH="0" flipV="0">
            <a:off x="6543675" y="2228850"/>
            <a:ext cx="5105400" cy="476250"/>
          </a:xfrm>
          <a:prstGeom prst="rect"/>
        </p:spPr>
        <p:txBody>
          <a:bodyPr wrap="square" lIns="0" tIns="0" rIns="0" bIns="0">
            <a:normAutofit/>
          </a:bodyPr>
          <a:p>
            <a:pPr>
              <a:lnSpc>
                <a:spcPct val="160000"/>
              </a:lnSpc>
            </a:pPr>
            <a:r>
              <a:rPr lang="en-US" sz="975">
                <a:solidFill>
                  <a:srgbClr val="4A5568"/>
                </a:solidFill>
                <a:latin typeface="Microsoft YaHei"/>
                <a:ea typeface="Microsoft YaHei"/>
              </a:rPr>
              <a:t>Everything inside the rectangle is a use case you will design, build and test. Everything outside is a thing you call, obey, or wait for.</a:t>
            </a:r>
            <a:endParaRPr/>
          </a:p>
        </p:txBody>
      </p:sp>
      <p:sp>
        <p:nvSpPr>
          <p:cNvPr id="212" name=""/>
          <p:cNvSpPr/>
          <p:nvPr/>
        </p:nvSpPr>
        <p:spPr>
          <a:xfrm rot="0" flipH="0" flipV="0">
            <a:off x="6343650" y="2971800"/>
            <a:ext cx="5467350" cy="1000125"/>
          </a:xfrm>
          <a:prstGeom prst="roundRect">
            <a:avLst>
              <a:gd name="adj" fmla="val 8571"/>
            </a:avLst>
          </a:prstGeom>
          <a:solidFill>
            <a:srgbClr val="FFFFFF"/>
          </a:solidFill>
          <a:ln w="12700">
            <a:solidFill>
              <a:srgbClr val="D6DCE5"/>
            </a:solidFill>
            <a:prstDash val="solid"/>
          </a:ln>
        </p:spPr>
        <p:txBody>
          <a:bodyPr/>
          <a:p/>
        </p:txBody>
      </p:sp>
      <p:sp>
        <p:nvSpPr>
          <p:cNvPr id="213" name="" descr="{&quot;isTemplate&quot;:true,&quot;type&quot;:&quot;text&quot;}"/>
          <p:cNvSpPr txBox="1"/>
          <p:nvPr/>
        </p:nvSpPr>
        <p:spPr>
          <a:xfrm rot="0" flipH="0" flipV="0">
            <a:off x="6505575" y="3114675"/>
            <a:ext cx="5143500" cy="190500"/>
          </a:xfrm>
          <a:prstGeom prst="rect"/>
        </p:spPr>
        <p:txBody>
          <a:bodyPr wrap="none" lIns="0" tIns="0" rIns="0" bIns="0"/>
          <a:p>
            <a:pPr>
              <a:lnSpc>
                <a:spcPct val="100000"/>
              </a:lnSpc>
            </a:pPr>
            <a:r>
              <a:rPr lang="en-US" sz="1200" b="1">
                <a:solidFill>
                  <a:srgbClr val="0E3F8C"/>
                </a:solidFill>
                <a:latin typeface="Microsoft YaHei"/>
                <a:ea typeface="Microsoft YaHei"/>
              </a:rPr>
              <a:t>“Send Notification” stays inside</a:t>
            </a:r>
            <a:endParaRPr/>
          </a:p>
        </p:txBody>
      </p:sp>
      <p:sp>
        <p:nvSpPr>
          <p:cNvPr id="214" name="" descr="{&quot;isTemplate&quot;:true,&quot;type&quot;:&quot;text&quot;}"/>
          <p:cNvSpPr txBox="1"/>
          <p:nvPr/>
        </p:nvSpPr>
        <p:spPr>
          <a:xfrm rot="0" flipH="0" flipV="0">
            <a:off x="6505575" y="3352800"/>
            <a:ext cx="5143500" cy="476250"/>
          </a:xfrm>
          <a:prstGeom prst="rect"/>
        </p:spPr>
        <p:txBody>
          <a:bodyPr wrap="square" lIns="0" tIns="0" rIns="0" bIns="0">
            <a:normAutofit/>
          </a:bodyPr>
          <a:p>
            <a:pPr>
              <a:lnSpc>
                <a:spcPct val="160000"/>
              </a:lnSpc>
            </a:pPr>
            <a:r>
              <a:rPr lang="en-US" sz="975">
                <a:solidFill>
                  <a:srgbClr val="4A5568"/>
                </a:solidFill>
                <a:latin typeface="Microsoft YaHei"/>
                <a:ea typeface="Microsoft YaHei"/>
              </a:rPr>
              <a:t>The goal is ours even though the SMS is not. The gateway is the actor that serves us — it never becomes a use case of its own.</a:t>
            </a:r>
            <a:endParaRPr/>
          </a:p>
        </p:txBody>
      </p:sp>
      <p:sp>
        <p:nvSpPr>
          <p:cNvPr id="215" name=""/>
          <p:cNvSpPr/>
          <p:nvPr/>
        </p:nvSpPr>
        <p:spPr>
          <a:xfrm rot="0" flipH="0" flipV="0">
            <a:off x="6381750" y="4095750"/>
            <a:ext cx="5467350" cy="1000125"/>
          </a:xfrm>
          <a:prstGeom prst="roundRect">
            <a:avLst>
              <a:gd name="adj" fmla="val 8571"/>
            </a:avLst>
          </a:prstGeom>
          <a:solidFill>
            <a:srgbClr val="FDF3F3"/>
          </a:solidFill>
          <a:ln/>
        </p:spPr>
        <p:txBody>
          <a:bodyPr/>
          <a:p/>
        </p:txBody>
      </p:sp>
      <p:sp>
        <p:nvSpPr>
          <p:cNvPr id="216" name=""/>
          <p:cNvSpPr/>
          <p:nvPr/>
        </p:nvSpPr>
        <p:spPr>
          <a:xfrm rot="0" flipH="0" flipV="0">
            <a:off x="6381750" y="4095750"/>
            <a:ext cx="5467350" cy="1000125"/>
          </a:xfrm>
          <a:custGeom>
            <a:pathLst>
              <a:path w="574" h="105">
                <a:moveTo>
                  <a:pt x="9" y="0"/>
                </a:moveTo>
                <a:cubicBezTo>
                  <a:pt x="6" y="0"/>
                  <a:pt x="4" y="2"/>
                  <a:pt x="4" y="5"/>
                </a:cubicBezTo>
                <a:lnTo>
                  <a:pt x="4" y="100"/>
                </a:lnTo>
                <a:cubicBezTo>
                  <a:pt x="4" y="102"/>
                  <a:pt x="6" y="104"/>
                  <a:pt x="8" y="105"/>
                </a:cubicBezTo>
                <a:cubicBezTo>
                  <a:pt x="4" y="105"/>
                  <a:pt x="0" y="101"/>
                  <a:pt x="0" y="96"/>
                </a:cubicBezTo>
                <a:lnTo>
                  <a:pt x="0" y="9"/>
                </a:lnTo>
                <a:cubicBezTo>
                  <a:pt x="0" y="4"/>
                  <a:pt x="4" y="0"/>
                  <a:pt x="9" y="0"/>
                </a:cubicBezTo>
                <a:close/>
              </a:path>
            </a:pathLst>
          </a:custGeom>
          <a:solidFill>
            <a:srgbClr val="D9534F"/>
          </a:solidFill>
          <a:ln/>
        </p:spPr>
        <p:txBody>
          <a:bodyPr/>
          <a:p/>
        </p:txBody>
      </p:sp>
      <p:sp>
        <p:nvSpPr>
          <p:cNvPr id="217" name="" descr="{&quot;isTemplate&quot;:true,&quot;type&quot;:&quot;text&quot;}"/>
          <p:cNvSpPr txBox="1"/>
          <p:nvPr/>
        </p:nvSpPr>
        <p:spPr>
          <a:xfrm rot="0" flipH="0" flipV="0">
            <a:off x="6543675" y="4238625"/>
            <a:ext cx="5105400" cy="190500"/>
          </a:xfrm>
          <a:prstGeom prst="rect"/>
        </p:spPr>
        <p:txBody>
          <a:bodyPr wrap="none" lIns="0" tIns="0" rIns="0" bIns="0"/>
          <a:p>
            <a:pPr>
              <a:lnSpc>
                <a:spcPct val="100000"/>
              </a:lnSpc>
            </a:pPr>
            <a:r>
              <a:rPr lang="en-US" sz="1200" b="1">
                <a:solidFill>
                  <a:srgbClr val="D9534F"/>
                </a:solidFill>
                <a:latin typeface="Microsoft YaHei"/>
                <a:ea typeface="Microsoft YaHei"/>
              </a:rPr>
              <a:t>The usual mistake</a:t>
            </a:r>
            <a:endParaRPr/>
          </a:p>
        </p:txBody>
      </p:sp>
      <p:sp>
        <p:nvSpPr>
          <p:cNvPr id="218" name="" descr="{&quot;isTemplate&quot;:true,&quot;type&quot;:&quot;text&quot;}"/>
          <p:cNvSpPr txBox="1"/>
          <p:nvPr/>
        </p:nvSpPr>
        <p:spPr>
          <a:xfrm rot="0" flipH="0" flipV="0">
            <a:off x="6543675" y="4476750"/>
            <a:ext cx="5105400" cy="476250"/>
          </a:xfrm>
          <a:prstGeom prst="rect"/>
        </p:spPr>
        <p:txBody>
          <a:bodyPr wrap="square" lIns="0" tIns="0" rIns="0" bIns="0">
            <a:normAutofit/>
          </a:bodyPr>
          <a:p>
            <a:pPr>
              <a:lnSpc>
                <a:spcPct val="160000"/>
              </a:lnSpc>
            </a:pPr>
            <a:r>
              <a:rPr lang="en-US" sz="975">
                <a:solidFill>
                  <a:srgbClr val="4A5568"/>
                </a:solidFill>
                <a:latin typeface="Microsoft YaHei"/>
                <a:ea typeface="Microsoft YaHei"/>
              </a:rPr>
              <a:t>Drawing “Process Payment” as a use case when it is really a call to the payment centre. If you cannot change how it behaves, it is not your use case.</a:t>
            </a:r>
            <a:endParaRPr/>
          </a:p>
        </p:txBody>
      </p:sp>
      <p:sp>
        <p:nvSpPr>
          <p:cNvPr id="219" name=""/>
          <p:cNvSpPr/>
          <p:nvPr/>
        </p:nvSpPr>
        <p:spPr>
          <a:xfrm rot="0" flipH="0" flipV="0">
            <a:off x="6343650" y="5219700"/>
            <a:ext cx="5467350" cy="676275"/>
          </a:xfrm>
          <a:prstGeom prst="roundRect">
            <a:avLst>
              <a:gd name="adj" fmla="val 11268"/>
            </a:avLst>
          </a:prstGeom>
          <a:solidFill>
            <a:srgbClr val="F7F9FC"/>
          </a:solidFill>
          <a:ln w="12700">
            <a:solidFill>
              <a:srgbClr val="D6DCE5"/>
            </a:solidFill>
            <a:prstDash val="dash"/>
          </a:ln>
        </p:spPr>
        <p:txBody>
          <a:bodyPr/>
          <a:p/>
        </p:txBody>
      </p:sp>
      <p:sp>
        <p:nvSpPr>
          <p:cNvPr id="220" name="" descr="{&quot;isTemplate&quot;:true,&quot;type&quot;:&quot;text&quot;}"/>
          <p:cNvSpPr txBox="1"/>
          <p:nvPr/>
        </p:nvSpPr>
        <p:spPr>
          <a:xfrm rot="0" flipH="0" flipV="0">
            <a:off x="6496050" y="5334000"/>
            <a:ext cx="5162550" cy="447675"/>
          </a:xfrm>
          <a:prstGeom prst="rect"/>
        </p:spPr>
        <p:txBody>
          <a:bodyPr wrap="square" lIns="0" tIns="0" rIns="0" bIns="0">
            <a:normAutofit/>
          </a:bodyPr>
          <a:p>
            <a:pPr>
              <a:lnSpc>
                <a:spcPct val="155000"/>
              </a:lnSpc>
            </a:pPr>
            <a:r>
              <a:rPr lang="en-US" sz="938">
                <a:solidFill>
                  <a:srgbClr val="8B97A8"/>
                </a:solidFill>
                <a:latin typeface="Microsoft YaHei"/>
                <a:ea typeface="Microsoft YaHei"/>
              </a:rPr>
              <a:t>Test for the line: could we rewrite this thing from scratch if we wanted to? Yes → inside. No → outside, and it becomes an actor.</a:t>
            </a:r>
            <a:endParaRPr/>
          </a:p>
        </p:txBody>
      </p:sp>
      <p:sp>
        <p:nvSpPr>
          <p:cNvPr id="221" name="" descr="{&quot;isTemplate&quot;:true,&quot;type&quot;:&quot;text&quot;}"/>
          <p:cNvSpPr txBox="1"/>
          <p:nvPr/>
        </p:nvSpPr>
        <p:spPr>
          <a:xfrm rot="0" flipH="0" flipV="0">
            <a:off x="381000" y="6619875"/>
            <a:ext cx="5486400" cy="152400"/>
          </a:xfrm>
          <a:prstGeom prst="rect"/>
        </p:spPr>
        <p:txBody>
          <a:bodyPr wrap="none" lIns="0" tIns="0" rIns="0" bIns="0"/>
          <a:p>
            <a:pPr>
              <a:lnSpc>
                <a:spcPct val="100000"/>
              </a:lnSpc>
            </a:pPr>
            <a:r>
              <a:rPr lang="en-US" sz="975">
                <a:solidFill>
                  <a:srgbClr val="8B97A8"/>
                </a:solidFill>
                <a:latin typeface="Microsoft YaHei"/>
                <a:ea typeface="Microsoft YaHei"/>
              </a:rPr>
              <a:t>ISAD · Fall 2026 · The boundary is the first design decision you make, and the hardest to move later</a:t>
            </a:r>
            <a:endParaRPr/>
          </a:p>
        </p:txBody>
      </p:sp>
      <p:sp>
        <p:nvSpPr>
          <p:cNvPr id="222" name="" descr="{&quot;isTemplate&quot;:true,&quot;type&quot;:&quot;text&quot;}"/>
          <p:cNvSpPr txBox="1"/>
          <p:nvPr/>
        </p:nvSpPr>
        <p:spPr>
          <a:xfrm rot="0" flipH="0" flipV="0">
            <a:off x="11401425" y="6619875"/>
            <a:ext cx="409575" cy="161925"/>
          </a:xfrm>
          <a:prstGeom prst="rect"/>
        </p:spPr>
        <p:txBody>
          <a:bodyPr wrap="none" lIns="0" tIns="0" rIns="0" bIns="0"/>
          <a:p>
            <a:pPr>
              <a:lnSpc>
                <a:spcPct val="100000"/>
              </a:lnSpc>
            </a:pPr>
            <a:r>
              <a:rPr lang="en-US" sz="1050" b="1">
                <a:solidFill>
                  <a:srgbClr val="1E4FA8"/>
                </a:solidFill>
                <a:latin typeface="Microsoft YaHei"/>
                <a:ea typeface="Microsoft YaHei"/>
              </a:rPr>
              <a:t>16 / 38</a:t>
            </a:r>
            <a:endParaRPr/>
          </a:p>
        </p:txBody>
      </p:sp>
    </p:spTree>
  </p:cSld>
</p:sld>
</file>

<file path=ppt/slides/slide17.xml><?xml version="1.0" encoding="utf-8"?>
<p:sld xmlns:a16="http://schemas.microsoft.com/office/drawing/2014/main" xmlns:a="http://schemas.openxmlformats.org/drawingml/2006/main" xmlns:p="http://schemas.openxmlformats.org/presentationml/2006/main" xmlns:mc="http://schemas.openxmlformats.org/markup-compatibility/2006" mc:Ignorable="a16">
  <p:cSld>
    <p:spTree>
      <p:nvGrpSpPr>
        <p:cNvPr id="223" name="" descr="&lt;Slide style={{ background: '#FFFFFF', padding: 0 }}&gt;&#10;  &lt;Box style={{ height: 72, background: '#1E4FA8', padding: '0 40px', flexDirection: 'row', alignItems: 'center', justifyContent: 'space-between' }}&gt;&#10;    &lt;Text style={{ fontSize: 15, color: '#B9CDF0', letterSpacing: 1 }}&gt;ISAD · INFORMATION SYSTEMS ANALYSIS &amp;amp; DESIGN&lt;/Text&gt;&#10;    &lt;Text style={{ fontSize: 15, color: '#B9CDF0' }}&gt;W04 · THE USE CASE DIAGRAM&lt;/Text&gt;&#10;  &lt;/Box&gt;&#10;  &lt;Box style={{ padding: '14px 40px 0 40px', flexDirection: 'row', alignItems: 'center', justifyContent: 'space-between' }}&gt;&#10;    &lt;Text style={{ fontSize: 29, fontWeight: 'bold', color: '#0E3F8C' }}&gt;The Six Elements — Quick Reference&lt;/Text&gt;&#10;    &lt;Text style={{ fontSize: 14, color: '#1E4FA8', fontWeight: 'bold' }}&gt;17 / 38&lt;/Text&gt;&#10;  &lt;/Box&gt;&#10;  &lt;Box style={{ flex: 1, padding: '10px 40px 6px 40px' }}&gt;&#10;    &lt;Table&#10;      style={{ width: '100%', height: '100%' }}&#10;      defaultTextStyle={{ fontSize: 13.5, textAlign: 'left', color: '#1A2230' }}&#10;      defaultCellStyle={{&#10;        border: {&#10;          left: { width: 1, color: '#E5E7EB' },&#10;          right: { width: 1, color: '#E5E7EB' },&#10;          top: { width: 1, color: '#E5E7EB' },&#10;          bottom: { width: 1, color: '#E5E7EB' },&#10;        },&#10;      }}&#10;      cells={[&#10;        [&#10;          { text: 'Element', textStyle: { bold: true, color: '#FFFFFF' }, cellStyle: { background: { color: '#0E3F8C' } } },&#10;          { text: 'How you draw it', textStyle: { bold: true, color: '#FFFFFF' }, cellStyle: { background: { color: '#0E3F8C' } } },&#10;          { text: 'How you read it aloud', textStyle: { bold: true, color: '#FFFFFF' }, cellStyle: { background: { color: '#1E4FA8' } } },&#10;          { text: 'Mistake to avoid', textStyle: { bold: true, color: '#FFFFFF' }, cellStyle: { background: { color: '#D9534F' } } },&#10;        ],&#10;        [&#10;          { text: 'System boundary', textStyle: { bold: true, color: '#0E3F8C' }, cellStyle: { background: { color: '#F7F9FC' } } },&#10;          { text: 'A rectangle with the system name at the top', textStyle: { color: '#4A5568' }, cellStyle: { background: { color: '#F7F9FC' } } },&#10;          { text: '“Everything in this box is ours.”', textStyle: { color: '#4A5568' }, cellStyle: { background: { color: '#F7F9FC' } } },&#10;          { text: 'Leaving it out — then nobody knows what is in scope', textStyle: { color: '#4A5568' }, cellStyle: { background: { color: '#F7F9FC' } } },&#10;        ],&#10;        [&#10;          { text: 'Use case', textStyle: { bold: true, color: '#0E3F8C' } },&#10;          { text: 'An ellipse, named verb plus object', textStyle: { color: '#4A5568' } },&#10;          { text: '“Place Order — a goal that ends.”', textStyle: { color: '#4A5568' } },&#10;          { text: 'Drawing a rectangle, or naming it with a noun', textStyle: { color: '#4A5568' } },&#10;        ],&#10;        [&#10;          { text: 'Actor', textStyle: { bold: true, color: '#0E3F8C' }, cellStyle: { background: { color: '#F7F9FC' } } },&#10;          { text: 'A stick figure, or a box labelled with the system', textStyle: { color: '#4A5568' }, cellStyle: { background: { color: '#F7F9FC' } } },&#10;          { text: '“The Student wants this.”', textStyle: { color: '#4A5568' }, cellStyle: { background: { color: '#F7F9FC' } } },&#10;          { text: 'Naming a department, a person, or your own database', textStyle: { color: '#4A5568' }, cellStyle: { background: { color: '#F7F9FC' } } },&#10;        ],&#10;        [&#10;          { text: 'Association', textStyle: { bold: true, color: '#0E3F8C' } },&#10;          { text: 'A solid line, no arrowhead', textStyle: { color: '#4A5568' } },&#10;          { text: '“The actor talks to this use case.”', textStyle: { color: '#4A5568' } },&#10;          { text: 'Adding arrowheads — it is a conversation, not a flow', textStyle: { color: '#4A5568' } },&#10;        ],&#10;        [&#10;          { text: '&lt;&lt;include&gt;&gt;', textStyle: { bold: true, color: '#0E3F8C' }, cellStyle: { background: { color: '#F7F9FC' } } },&#10;          { text: 'A dashed arrow, base pointing to the included', textStyle: { color: '#4A5568' }, cellStyle: { background: { color: '#F7F9FC' } } },&#10;          { text: '“Place Order always authenticates first.”', textStyle: { color: '#4A5568' }, cellStyle: { background: { color: '#F7F9FC' } } },&#10;          { text: 'Using it for something that only sometimes happens', textStyle: { color: '#4A5568' }, cellStyle: { background: { color: '#F7F9FC' } } },&#10;        ],&#10;        [&#10;          { text: '&lt;&lt;extend&gt;&gt;', textStyle: { bold: true, color: '#0E3F8C' } },&#10;          { text: 'A dashed arrow, extra pointing back to the base', textStyle: { color: '#4A5568' } },&#10;          { text: '“Apply Coupon sometimes adds itself in.”', textStyle: { color: '#4A5568' } },&#10;          { text: 'Drawing the arrow the wrong way round', textStyle: { color: '#4A5568' } },&#10;        ],&#10;      ]}&#10;    /&gt;&#10;  &lt;/Box&gt;&#10;  &lt;Box style={{ height: 46, background: '#0E3F8C', padding: '0 40px', flexDirection: 'row', alignItems: 'center', justifyContent: 'center' }}&gt;&#10;    &lt;Text style={{ fontSize: 16, color: '#FFFFFF', fontWeight: '600' }}&gt;Six symbols is the whole notation. If your diagram needs a seventh, something is wrong with the model.&lt;/Text&gt;&#10;  &lt;/Box&gt;&#10;&lt;/Slide&gt;"/>
        <p:cNvGrpSpPr/>
        <p:nvPr/>
      </p:nvGrpSpPr>
      <p:grpSpPr>
        <a:xfrm>
          <a:off x="0" y="0"/>
          <a:ext cx="0" cy="0"/>
          <a:chOff x="0" y="0"/>
          <a:chExt cx="0" cy="0"/>
        </a:xfrm>
      </p:grpSpPr>
      <p:sp>
        <p:nvSpPr>
          <p:cNvPr id="224" name=""/>
          <p:cNvSpPr/>
          <p:nvPr/>
        </p:nvSpPr>
        <p:spPr>
          <a:xfrm rot="0" flipH="0" flipV="0">
            <a:off x="0" y="0"/>
            <a:ext cx="12192000" cy="6858000"/>
          </a:xfrm>
          <a:prstGeom prst="rect">
            <a:avLst/>
          </a:prstGeom>
          <a:solidFill>
            <a:srgbClr val="FFFFFF"/>
          </a:solidFill>
          <a:ln/>
        </p:spPr>
        <p:txBody>
          <a:bodyPr/>
          <a:p/>
        </p:txBody>
      </p:sp>
      <p:sp>
        <p:nvSpPr>
          <p:cNvPr id="225" name=""/>
          <p:cNvSpPr/>
          <p:nvPr/>
        </p:nvSpPr>
        <p:spPr>
          <a:xfrm rot="0" flipH="0" flipV="0">
            <a:off x="0" y="0"/>
            <a:ext cx="12192000" cy="685800"/>
          </a:xfrm>
          <a:prstGeom prst="rect">
            <a:avLst/>
          </a:prstGeom>
          <a:solidFill>
            <a:srgbClr val="1E4FA8"/>
          </a:solidFill>
          <a:ln/>
        </p:spPr>
        <p:txBody>
          <a:bodyPr/>
          <a:p/>
        </p:txBody>
      </p:sp>
      <p:sp>
        <p:nvSpPr>
          <p:cNvPr id="226" name="" descr="{&quot;isTemplate&quot;:true,&quot;type&quot;:&quot;text&quot;}"/>
          <p:cNvSpPr txBox="1"/>
          <p:nvPr/>
        </p:nvSpPr>
        <p:spPr>
          <a:xfrm rot="0" flipH="0" flipV="0">
            <a:off x="381000" y="257175"/>
            <a:ext cx="4067175" cy="171450"/>
          </a:xfrm>
          <a:prstGeom prst="rect"/>
        </p:spPr>
        <p:txBody>
          <a:bodyPr wrap="none" lIns="0" tIns="0" rIns="0" bIns="0"/>
          <a:p>
            <a:pPr>
              <a:lnSpc>
                <a:spcPct val="100000"/>
              </a:lnSpc>
            </a:pPr>
            <a:r>
              <a:rPr lang="en-US" sz="1125" spc="75">
                <a:solidFill>
                  <a:srgbClr val="B9CDF0"/>
                </a:solidFill>
                <a:latin typeface="Microsoft YaHei"/>
                <a:ea typeface="Microsoft YaHei"/>
              </a:rPr>
              <a:t>ISAD · INFORMATION SYSTEMS ANALYSIS &amp; DESIGN</a:t>
            </a:r>
            <a:endParaRPr/>
          </a:p>
        </p:txBody>
      </p:sp>
      <p:sp>
        <p:nvSpPr>
          <p:cNvPr id="227" name="" descr="{&quot;isTemplate&quot;:true,&quot;type&quot;:&quot;text&quot;}"/>
          <p:cNvSpPr txBox="1"/>
          <p:nvPr/>
        </p:nvSpPr>
        <p:spPr>
          <a:xfrm rot="0" flipH="0" flipV="0">
            <a:off x="9629775" y="257175"/>
            <a:ext cx="2181225" cy="171450"/>
          </a:xfrm>
          <a:prstGeom prst="rect"/>
        </p:spPr>
        <p:txBody>
          <a:bodyPr wrap="none" lIns="0" tIns="0" rIns="0" bIns="0"/>
          <a:p>
            <a:pPr>
              <a:lnSpc>
                <a:spcPct val="100000"/>
              </a:lnSpc>
            </a:pPr>
            <a:r>
              <a:rPr lang="en-US" sz="1125">
                <a:solidFill>
                  <a:srgbClr val="B9CDF0"/>
                </a:solidFill>
                <a:latin typeface="Microsoft YaHei"/>
                <a:ea typeface="Microsoft YaHei"/>
              </a:rPr>
              <a:t>W04 · THE USE CASE DIAGRAM</a:t>
            </a:r>
            <a:endParaRPr/>
          </a:p>
        </p:txBody>
      </p:sp>
      <p:sp>
        <p:nvSpPr>
          <p:cNvPr id="228" name="" descr="{&quot;isTemplate&quot;:true,&quot;type&quot;:&quot;text&quot;}"/>
          <p:cNvSpPr txBox="1"/>
          <p:nvPr/>
        </p:nvSpPr>
        <p:spPr>
          <a:xfrm rot="0" flipH="0" flipV="0">
            <a:off x="381000" y="819150"/>
            <a:ext cx="4905375" cy="333375"/>
          </a:xfrm>
          <a:prstGeom prst="rect"/>
        </p:spPr>
        <p:txBody>
          <a:bodyPr wrap="none" lIns="0" tIns="0" rIns="0" bIns="0"/>
          <a:p>
            <a:pPr>
              <a:lnSpc>
                <a:spcPct val="100000"/>
              </a:lnSpc>
            </a:pPr>
            <a:r>
              <a:rPr lang="en-US" sz="2175" b="1">
                <a:solidFill>
                  <a:srgbClr val="0E3F8C"/>
                </a:solidFill>
                <a:latin typeface="Microsoft YaHei"/>
                <a:ea typeface="Microsoft YaHei"/>
              </a:rPr>
              <a:t>The Six Elements — Quick Reference</a:t>
            </a:r>
            <a:endParaRPr/>
          </a:p>
        </p:txBody>
      </p:sp>
      <p:sp>
        <p:nvSpPr>
          <p:cNvPr id="229" name="" descr="{&quot;isTemplate&quot;:true,&quot;type&quot;:&quot;text&quot;}"/>
          <p:cNvSpPr txBox="1"/>
          <p:nvPr/>
        </p:nvSpPr>
        <p:spPr>
          <a:xfrm rot="0" flipH="0" flipV="0">
            <a:off x="11401425" y="904875"/>
            <a:ext cx="409575" cy="161925"/>
          </a:xfrm>
          <a:prstGeom prst="rect"/>
        </p:spPr>
        <p:txBody>
          <a:bodyPr wrap="none" lIns="0" tIns="0" rIns="0" bIns="0"/>
          <a:p>
            <a:pPr>
              <a:lnSpc>
                <a:spcPct val="100000"/>
              </a:lnSpc>
            </a:pPr>
            <a:r>
              <a:rPr lang="en-US" sz="1050" b="1">
                <a:solidFill>
                  <a:srgbClr val="1E4FA8"/>
                </a:solidFill>
                <a:latin typeface="Microsoft YaHei"/>
                <a:ea typeface="Microsoft YaHei"/>
              </a:rPr>
              <a:t>17 / 38</a:t>
            </a:r>
            <a:endParaRPr/>
          </a:p>
        </p:txBody>
      </p:sp>
      <p:graphicFrame>
        <p:nvGraphicFramePr>
          <p:cNvPr id="230" name=""/>
          <p:cNvGraphicFramePr/>
          <p:nvPr/>
        </p:nvGraphicFramePr>
        <p:xfrm rot="0" flipH="0" flipV="0">
          <a:off x="381000" y="1247775"/>
          <a:ext cx="11430000" cy="5114925"/>
        </p:xfrm>
        <a:graphic>
          <a:graphicData uri="http://schemas.openxmlformats.org/drawingml/2006/table">
            <a:tbl>
              <a:tblGrid>
                <a:gridCol w="1395444">
                  <a:extLst>
                    <a:ext uri="{9D8B030D-6E8A-4147-A177-3AD203B41FA5}">
                      <a16:colId val="1"/>
                    </a:ext>
                  </a:extLst>
                </a:gridCol>
                <a:gridCol w="3337325">
                  <a:extLst>
                    <a:ext uri="{9D8B030D-6E8A-4147-A177-3AD203B41FA5}">
                      <a16:colId val="2"/>
                    </a:ext>
                  </a:extLst>
                </a:gridCol>
                <a:gridCol w="2885725">
                  <a:extLst>
                    <a:ext uri="{9D8B030D-6E8A-4147-A177-3AD203B41FA5}">
                      <a16:colId val="3"/>
                    </a:ext>
                  </a:extLst>
                </a:gridCol>
                <a:gridCol w="3811505">
                  <a:extLst>
                    <a:ext uri="{9D8B030D-6E8A-4147-A177-3AD203B41FA5}">
                      <a16:colId val="4"/>
                    </a:ext>
                  </a:extLst>
                </a:gridCol>
              </a:tblGrid>
              <a:tr h="730704">
                <a:tc>
                  <a:txBody>
                    <a:bodyPr wrap="square" lIns="0" tIns="0" rIns="0" bIns="0" anchor="ctr">
                      <a:normAutofit/>
                    </a:bodyPr>
                    <a:p>
                      <a:pPr marL="114300" marR="114300" algn="l">
                        <a:lnSpc>
                          <a:spcPct val="120000"/>
                        </a:lnSpc>
                      </a:pPr>
                      <a:r>
                        <a:rPr sz="1013" b="1">
                          <a:solidFill>
                            <a:srgbClr val="FFFFFF"/>
                          </a:solidFill>
                          <a:latin typeface="Microsoft YaHei"/>
                          <a:ea typeface="Microsoft YaHei"/>
                        </a:rPr>
                        <a:t>Element</a:t>
                      </a:r>
                      <a:endParaRPr/>
                    </a:p>
                  </a:txBody>
                  <a:tcPr marL="45720" marR="45720" marT="45720" marB="45720" anchor="ctr">
                    <a:lnL>
                      <a:noFill/>
                    </a:lnL>
                    <a:lnR>
                      <a:noFill/>
                    </a:lnR>
                    <a:lnT>
                      <a:noFill/>
                    </a:lnT>
                    <a:lnB>
                      <a:noFill/>
                    </a:lnB>
                    <a:solidFill>
                      <a:srgbClr val="0E3F8C"/>
                    </a:solidFill>
                  </a:tcPr>
                </a:tc>
                <a:tc>
                  <a:txBody>
                    <a:bodyPr wrap="square" lIns="0" tIns="0" rIns="0" bIns="0" anchor="ctr">
                      <a:normAutofit/>
                    </a:bodyPr>
                    <a:p>
                      <a:pPr marL="114300" marR="114300" algn="l">
                        <a:lnSpc>
                          <a:spcPct val="120000"/>
                        </a:lnSpc>
                      </a:pPr>
                      <a:r>
                        <a:rPr sz="1013" b="1">
                          <a:solidFill>
                            <a:srgbClr val="FFFFFF"/>
                          </a:solidFill>
                          <a:latin typeface="Microsoft YaHei"/>
                          <a:ea typeface="Microsoft YaHei"/>
                        </a:rPr>
                        <a:t>How you draw it</a:t>
                      </a:r>
                      <a:endParaRPr/>
                    </a:p>
                  </a:txBody>
                  <a:tcPr marL="45720" marR="45720" marT="45720" marB="45720" anchor="ctr">
                    <a:lnL>
                      <a:noFill/>
                    </a:lnL>
                    <a:lnR>
                      <a:noFill/>
                    </a:lnR>
                    <a:lnT>
                      <a:noFill/>
                    </a:lnT>
                    <a:lnB>
                      <a:noFill/>
                    </a:lnB>
                    <a:solidFill>
                      <a:srgbClr val="0E3F8C"/>
                    </a:solidFill>
                  </a:tcPr>
                </a:tc>
                <a:tc>
                  <a:txBody>
                    <a:bodyPr wrap="square" lIns="0" tIns="0" rIns="0" bIns="0" anchor="ctr">
                      <a:normAutofit/>
                    </a:bodyPr>
                    <a:p>
                      <a:pPr marL="114300" marR="114300" algn="l">
                        <a:lnSpc>
                          <a:spcPct val="120000"/>
                        </a:lnSpc>
                      </a:pPr>
                      <a:r>
                        <a:rPr sz="1013" b="1">
                          <a:solidFill>
                            <a:srgbClr val="FFFFFF"/>
                          </a:solidFill>
                          <a:latin typeface="Microsoft YaHei"/>
                          <a:ea typeface="Microsoft YaHei"/>
                        </a:rPr>
                        <a:t>How you read it aloud</a:t>
                      </a:r>
                      <a:endParaRPr/>
                    </a:p>
                  </a:txBody>
                  <a:tcPr marL="45720" marR="45720" marT="45720" marB="45720" anchor="ctr">
                    <a:lnL>
                      <a:noFill/>
                    </a:lnL>
                    <a:lnR>
                      <a:noFill/>
                    </a:lnR>
                    <a:lnT>
                      <a:noFill/>
                    </a:lnT>
                    <a:lnB>
                      <a:noFill/>
                    </a:lnB>
                    <a:solidFill>
                      <a:srgbClr val="1E4FA8"/>
                    </a:solidFill>
                  </a:tcPr>
                </a:tc>
                <a:tc>
                  <a:txBody>
                    <a:bodyPr wrap="square" lIns="0" tIns="0" rIns="0" bIns="0" anchor="ctr">
                      <a:normAutofit/>
                    </a:bodyPr>
                    <a:p>
                      <a:pPr marL="114300" marR="114300" algn="l">
                        <a:lnSpc>
                          <a:spcPct val="120000"/>
                        </a:lnSpc>
                      </a:pPr>
                      <a:r>
                        <a:rPr sz="1013" b="1">
                          <a:solidFill>
                            <a:srgbClr val="FFFFFF"/>
                          </a:solidFill>
                          <a:latin typeface="Microsoft YaHei"/>
                          <a:ea typeface="Microsoft YaHei"/>
                        </a:rPr>
                        <a:t>Mistake to avoid</a:t>
                      </a:r>
                      <a:endParaRPr/>
                    </a:p>
                  </a:txBody>
                  <a:tcPr marL="45720" marR="45720" marT="45720" marB="45720" anchor="ctr">
                    <a:lnL>
                      <a:noFill/>
                    </a:lnL>
                    <a:lnR>
                      <a:noFill/>
                    </a:lnR>
                    <a:lnT>
                      <a:noFill/>
                    </a:lnT>
                    <a:lnB>
                      <a:noFill/>
                    </a:lnB>
                    <a:solidFill>
                      <a:srgbClr val="D9534F"/>
                    </a:solidFill>
                  </a:tcPr>
                </a:tc>
                <a:extLst>
                  <a:ext uri="{0D108BD9-81ED-4DB2-BD59-A6C34878D82A}">
                    <a16:rowId val="1"/>
                  </a:ext>
                </a:extLst>
              </a:tr>
              <a:tr h="730704">
                <a:tc>
                  <a:txBody>
                    <a:bodyPr wrap="square" lIns="0" tIns="0" rIns="0" bIns="0" anchor="ctr">
                      <a:normAutofit/>
                    </a:bodyPr>
                    <a:p>
                      <a:pPr marL="114300" marR="114300" algn="l">
                        <a:lnSpc>
                          <a:spcPct val="120000"/>
                        </a:lnSpc>
                      </a:pPr>
                      <a:r>
                        <a:rPr sz="1013" b="1">
                          <a:solidFill>
                            <a:srgbClr val="0E3F8C"/>
                          </a:solidFill>
                          <a:latin typeface="Microsoft YaHei"/>
                          <a:ea typeface="Microsoft YaHei"/>
                        </a:rPr>
                        <a:t>System boundary</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A rectangle with the system name at the top</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“Everything in this box is ours.”</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Leaving it out — then nobody knows what is in scope</a:t>
                      </a:r>
                      <a:endParaRPr/>
                    </a:p>
                  </a:txBody>
                  <a:tcPr marL="45720" marR="45720" marT="45720" marB="45720" anchor="ctr">
                    <a:lnL>
                      <a:noFill/>
                    </a:lnL>
                    <a:lnR>
                      <a:noFill/>
                    </a:lnR>
                    <a:lnT>
                      <a:noFill/>
                    </a:lnT>
                    <a:lnB>
                      <a:noFill/>
                    </a:lnB>
                    <a:solidFill>
                      <a:srgbClr val="F7F9FC"/>
                    </a:solidFill>
                  </a:tcPr>
                </a:tc>
                <a:extLst>
                  <a:ext uri="{0D108BD9-81ED-4DB2-BD59-A6C34878D82A}">
                    <a16:rowId val="2"/>
                  </a:ext>
                </a:extLst>
              </a:tr>
              <a:tr h="730704">
                <a:tc>
                  <a:txBody>
                    <a:bodyPr wrap="square" lIns="0" tIns="0" rIns="0" bIns="0" anchor="ctr">
                      <a:normAutofit/>
                    </a:bodyPr>
                    <a:p>
                      <a:pPr marL="114300" marR="114300" algn="l">
                        <a:lnSpc>
                          <a:spcPct val="120000"/>
                        </a:lnSpc>
                      </a:pPr>
                      <a:r>
                        <a:rPr sz="1013" b="1">
                          <a:solidFill>
                            <a:srgbClr val="0E3F8C"/>
                          </a:solidFill>
                          <a:latin typeface="Microsoft YaHei"/>
                          <a:ea typeface="Microsoft YaHei"/>
                        </a:rPr>
                        <a:t>Use case</a:t>
                      </a:r>
                      <a:endParaRPr/>
                    </a:p>
                  </a:txBody>
                  <a:tcPr marL="45720" marR="45720" marT="45720" marB="45720" anchor="ctr">
                    <a:lnL>
                      <a:noFill/>
                    </a:lnL>
                    <a:lnR>
                      <a:noFill/>
                    </a:lnR>
                    <a:lnT>
                      <a:noFill/>
                    </a:lnT>
                    <a:lnB>
                      <a:noFill/>
                    </a:lnB>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An ellipse, named verb plus object</a:t>
                      </a:r>
                      <a:endParaRPr/>
                    </a:p>
                  </a:txBody>
                  <a:tcPr marL="45720" marR="45720" marT="45720" marB="45720" anchor="ctr">
                    <a:lnL>
                      <a:noFill/>
                    </a:lnL>
                    <a:lnR>
                      <a:noFill/>
                    </a:lnR>
                    <a:lnT>
                      <a:noFill/>
                    </a:lnT>
                    <a:lnB>
                      <a:noFill/>
                    </a:lnB>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“Place Order — a goal that ends.”</a:t>
                      </a:r>
                      <a:endParaRPr/>
                    </a:p>
                  </a:txBody>
                  <a:tcPr marL="45720" marR="45720" marT="45720" marB="45720" anchor="ctr">
                    <a:lnL>
                      <a:noFill/>
                    </a:lnL>
                    <a:lnR>
                      <a:noFill/>
                    </a:lnR>
                    <a:lnT>
                      <a:noFill/>
                    </a:lnT>
                    <a:lnB>
                      <a:noFill/>
                    </a:lnB>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Drawing a rectangle, or naming it with a noun</a:t>
                      </a:r>
                      <a:endParaRPr/>
                    </a:p>
                  </a:txBody>
                  <a:tcPr marL="45720" marR="45720" marT="45720" marB="45720" anchor="ctr">
                    <a:lnL>
                      <a:noFill/>
                    </a:lnL>
                    <a:lnR>
                      <a:noFill/>
                    </a:lnR>
                    <a:lnT>
                      <a:noFill/>
                    </a:lnT>
                    <a:lnB>
                      <a:noFill/>
                    </a:lnB>
                  </a:tcPr>
                </a:tc>
                <a:extLst>
                  <a:ext uri="{0D108BD9-81ED-4DB2-BD59-A6C34878D82A}">
                    <a16:rowId val="3"/>
                  </a:ext>
                </a:extLst>
              </a:tr>
              <a:tr h="730704">
                <a:tc>
                  <a:txBody>
                    <a:bodyPr wrap="square" lIns="0" tIns="0" rIns="0" bIns="0" anchor="ctr">
                      <a:normAutofit/>
                    </a:bodyPr>
                    <a:p>
                      <a:pPr marL="114300" marR="114300" algn="l">
                        <a:lnSpc>
                          <a:spcPct val="120000"/>
                        </a:lnSpc>
                      </a:pPr>
                      <a:r>
                        <a:rPr sz="1013" b="1">
                          <a:solidFill>
                            <a:srgbClr val="0E3F8C"/>
                          </a:solidFill>
                          <a:latin typeface="Microsoft YaHei"/>
                          <a:ea typeface="Microsoft YaHei"/>
                        </a:rPr>
                        <a:t>Actor</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A stick figure, or a box labelled with the system</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“The Student wants this.”</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Naming a department, a person, or your own database</a:t>
                      </a:r>
                      <a:endParaRPr/>
                    </a:p>
                  </a:txBody>
                  <a:tcPr marL="45720" marR="45720" marT="45720" marB="45720" anchor="ctr">
                    <a:lnL>
                      <a:noFill/>
                    </a:lnL>
                    <a:lnR>
                      <a:noFill/>
                    </a:lnR>
                    <a:lnT>
                      <a:noFill/>
                    </a:lnT>
                    <a:lnB>
                      <a:noFill/>
                    </a:lnB>
                    <a:solidFill>
                      <a:srgbClr val="F7F9FC"/>
                    </a:solidFill>
                  </a:tcPr>
                </a:tc>
                <a:extLst>
                  <a:ext uri="{0D108BD9-81ED-4DB2-BD59-A6C34878D82A}">
                    <a16:rowId val="4"/>
                  </a:ext>
                </a:extLst>
              </a:tr>
              <a:tr h="730704">
                <a:tc>
                  <a:txBody>
                    <a:bodyPr wrap="square" lIns="0" tIns="0" rIns="0" bIns="0" anchor="ctr">
                      <a:normAutofit/>
                    </a:bodyPr>
                    <a:p>
                      <a:pPr marL="114300" marR="114300" algn="l">
                        <a:lnSpc>
                          <a:spcPct val="120000"/>
                        </a:lnSpc>
                      </a:pPr>
                      <a:r>
                        <a:rPr sz="1013" b="1">
                          <a:solidFill>
                            <a:srgbClr val="0E3F8C"/>
                          </a:solidFill>
                          <a:latin typeface="Microsoft YaHei"/>
                          <a:ea typeface="Microsoft YaHei"/>
                        </a:rPr>
                        <a:t>Association</a:t>
                      </a:r>
                      <a:endParaRPr/>
                    </a:p>
                  </a:txBody>
                  <a:tcPr marL="45720" marR="45720" marT="45720" marB="45720" anchor="ctr">
                    <a:lnL>
                      <a:noFill/>
                    </a:lnL>
                    <a:lnR>
                      <a:noFill/>
                    </a:lnR>
                    <a:lnT>
                      <a:noFill/>
                    </a:lnT>
                    <a:lnB>
                      <a:noFill/>
                    </a:lnB>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A solid line, no arrowhead</a:t>
                      </a:r>
                      <a:endParaRPr/>
                    </a:p>
                  </a:txBody>
                  <a:tcPr marL="45720" marR="45720" marT="45720" marB="45720" anchor="ctr">
                    <a:lnL>
                      <a:noFill/>
                    </a:lnL>
                    <a:lnR>
                      <a:noFill/>
                    </a:lnR>
                    <a:lnT>
                      <a:noFill/>
                    </a:lnT>
                    <a:lnB>
                      <a:noFill/>
                    </a:lnB>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“The actor talks to this use case.”</a:t>
                      </a:r>
                      <a:endParaRPr/>
                    </a:p>
                  </a:txBody>
                  <a:tcPr marL="45720" marR="45720" marT="45720" marB="45720" anchor="ctr">
                    <a:lnL>
                      <a:noFill/>
                    </a:lnL>
                    <a:lnR>
                      <a:noFill/>
                    </a:lnR>
                    <a:lnT>
                      <a:noFill/>
                    </a:lnT>
                    <a:lnB>
                      <a:noFill/>
                    </a:lnB>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Adding arrowheads — it is a conversation, not a flow</a:t>
                      </a:r>
                      <a:endParaRPr/>
                    </a:p>
                  </a:txBody>
                  <a:tcPr marL="45720" marR="45720" marT="45720" marB="45720" anchor="ctr">
                    <a:lnL>
                      <a:noFill/>
                    </a:lnL>
                    <a:lnR>
                      <a:noFill/>
                    </a:lnR>
                    <a:lnT>
                      <a:noFill/>
                    </a:lnT>
                    <a:lnB>
                      <a:noFill/>
                    </a:lnB>
                  </a:tcPr>
                </a:tc>
                <a:extLst>
                  <a:ext uri="{0D108BD9-81ED-4DB2-BD59-A6C34878D82A}">
                    <a16:rowId val="5"/>
                  </a:ext>
                </a:extLst>
              </a:tr>
              <a:tr h="730704">
                <a:tc>
                  <a:txBody>
                    <a:bodyPr wrap="square" lIns="0" tIns="0" rIns="0" bIns="0" anchor="ctr">
                      <a:normAutofit/>
                    </a:bodyPr>
                    <a:p>
                      <a:pPr marL="114300" marR="114300" algn="l">
                        <a:lnSpc>
                          <a:spcPct val="120000"/>
                        </a:lnSpc>
                      </a:pPr>
                      <a:r>
                        <a:rPr sz="1013" b="1">
                          <a:solidFill>
                            <a:srgbClr val="0E3F8C"/>
                          </a:solidFill>
                          <a:latin typeface="Microsoft YaHei"/>
                          <a:ea typeface="Microsoft YaHei"/>
                        </a:rPr>
                        <a:t>&lt;&lt;include&gt;&gt;</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A dashed arrow, base pointing to the included</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“Place Order always authenticates first.”</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Using it for something that only sometimes happens</a:t>
                      </a:r>
                      <a:endParaRPr/>
                    </a:p>
                  </a:txBody>
                  <a:tcPr marL="45720" marR="45720" marT="45720" marB="45720" anchor="ctr">
                    <a:lnL>
                      <a:noFill/>
                    </a:lnL>
                    <a:lnR>
                      <a:noFill/>
                    </a:lnR>
                    <a:lnT>
                      <a:noFill/>
                    </a:lnT>
                    <a:lnB>
                      <a:noFill/>
                    </a:lnB>
                    <a:solidFill>
                      <a:srgbClr val="F7F9FC"/>
                    </a:solidFill>
                  </a:tcPr>
                </a:tc>
                <a:extLst>
                  <a:ext uri="{0D108BD9-81ED-4DB2-BD59-A6C34878D82A}">
                    <a16:rowId val="6"/>
                  </a:ext>
                </a:extLst>
              </a:tr>
              <a:tr h="730704">
                <a:tc>
                  <a:txBody>
                    <a:bodyPr wrap="square" lIns="0" tIns="0" rIns="0" bIns="0" anchor="ctr">
                      <a:normAutofit/>
                    </a:bodyPr>
                    <a:p>
                      <a:pPr marL="114300" marR="114300" algn="l">
                        <a:lnSpc>
                          <a:spcPct val="120000"/>
                        </a:lnSpc>
                      </a:pPr>
                      <a:r>
                        <a:rPr sz="1013" b="1">
                          <a:solidFill>
                            <a:srgbClr val="0E3F8C"/>
                          </a:solidFill>
                          <a:latin typeface="Microsoft YaHei"/>
                          <a:ea typeface="Microsoft YaHei"/>
                        </a:rPr>
                        <a:t>&lt;&lt;extend&gt;&gt;</a:t>
                      </a:r>
                      <a:endParaRPr/>
                    </a:p>
                  </a:txBody>
                  <a:tcPr marL="45720" marR="45720" marT="45720" marB="45720" anchor="ctr">
                    <a:lnL>
                      <a:noFill/>
                    </a:lnL>
                    <a:lnR>
                      <a:noFill/>
                    </a:lnR>
                    <a:lnT>
                      <a:noFill/>
                    </a:lnT>
                    <a:lnB>
                      <a:noFill/>
                    </a:lnB>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A dashed arrow, extra pointing back to the base</a:t>
                      </a:r>
                      <a:endParaRPr/>
                    </a:p>
                  </a:txBody>
                  <a:tcPr marL="45720" marR="45720" marT="45720" marB="45720" anchor="ctr">
                    <a:lnL>
                      <a:noFill/>
                    </a:lnL>
                    <a:lnR>
                      <a:noFill/>
                    </a:lnR>
                    <a:lnT>
                      <a:noFill/>
                    </a:lnT>
                    <a:lnB>
                      <a:noFill/>
                    </a:lnB>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“Apply Coupon sometimes adds itself in.”</a:t>
                      </a:r>
                      <a:endParaRPr/>
                    </a:p>
                  </a:txBody>
                  <a:tcPr marL="45720" marR="45720" marT="45720" marB="45720" anchor="ctr">
                    <a:lnL>
                      <a:noFill/>
                    </a:lnL>
                    <a:lnR>
                      <a:noFill/>
                    </a:lnR>
                    <a:lnT>
                      <a:noFill/>
                    </a:lnT>
                    <a:lnB>
                      <a:noFill/>
                    </a:lnB>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Drawing the arrow the wrong way round</a:t>
                      </a:r>
                      <a:endParaRPr/>
                    </a:p>
                  </a:txBody>
                  <a:tcPr marL="45720" marR="45720" marT="45720" marB="45720" anchor="ctr">
                    <a:lnL>
                      <a:noFill/>
                    </a:lnL>
                    <a:lnR>
                      <a:noFill/>
                    </a:lnR>
                    <a:lnT>
                      <a:noFill/>
                    </a:lnT>
                    <a:lnB>
                      <a:noFill/>
                    </a:lnB>
                  </a:tcPr>
                </a:tc>
                <a:extLst>
                  <a:ext uri="{0D108BD9-81ED-4DB2-BD59-A6C34878D82A}">
                    <a16:rowId val="7"/>
                  </a:ext>
                </a:extLst>
              </a:tr>
            </a:tbl>
          </a:graphicData>
        </a:graphic>
      </p:graphicFrame>
      <p:sp>
        <p:nvSpPr>
          <p:cNvPr id="231" name=""/>
          <p:cNvSpPr/>
          <p:nvPr/>
        </p:nvSpPr>
        <p:spPr>
          <a:xfrm rot="0" flipH="0" flipV="0">
            <a:off x="0" y="6419850"/>
            <a:ext cx="12192000" cy="438150"/>
          </a:xfrm>
          <a:prstGeom prst="rect">
            <a:avLst/>
          </a:prstGeom>
          <a:solidFill>
            <a:srgbClr val="0E3F8C"/>
          </a:solidFill>
          <a:ln/>
        </p:spPr>
        <p:txBody>
          <a:bodyPr/>
          <a:p/>
        </p:txBody>
      </p:sp>
      <p:sp>
        <p:nvSpPr>
          <p:cNvPr id="232" name="" descr="{&quot;isTemplate&quot;:true,&quot;type&quot;:&quot;text&quot;}"/>
          <p:cNvSpPr txBox="1"/>
          <p:nvPr/>
        </p:nvSpPr>
        <p:spPr>
          <a:xfrm rot="0" flipH="0" flipV="0">
            <a:off x="2324100" y="6543675"/>
            <a:ext cx="7543800" cy="190500"/>
          </a:xfrm>
          <a:prstGeom prst="rect"/>
        </p:spPr>
        <p:txBody>
          <a:bodyPr wrap="none" lIns="0" tIns="0" rIns="0" bIns="0"/>
          <a:p>
            <a:pPr>
              <a:lnSpc>
                <a:spcPct val="100000"/>
              </a:lnSpc>
            </a:pPr>
            <a:r>
              <a:rPr lang="en-US" sz="1200" b="1">
                <a:solidFill>
                  <a:srgbClr val="FFFFFF"/>
                </a:solidFill>
                <a:latin typeface="Microsoft YaHei"/>
                <a:ea typeface="Microsoft YaHei"/>
              </a:rPr>
              <a:t>Six symbols is the whole notation. If your diagram needs a seventh, something is wrong with the model.</a:t>
            </a:r>
            <a:endParaRPr/>
          </a:p>
        </p:txBody>
      </p:sp>
    </p:spTree>
  </p:cSld>
</p:sld>
</file>

<file path=ppt/slides/slide18.xml><?xml version="1.0" encoding="utf-8"?>
<p:sld xmlns:asvg="http://schemas.microsoft.com/office/drawing/2016/SVG/main" xmlns:a="http://schemas.openxmlformats.org/drawingml/2006/main" xmlns:r="http://schemas.openxmlformats.org/officeDocument/2006/relationships" xmlns:p="http://schemas.openxmlformats.org/presentationml/2006/main" xmlns:mc="http://schemas.openxmlformats.org/markup-compatibility/2006" mc:Ignorable="asvg">
  <p:cSld>
    <p:spTree>
      <p:nvGrpSpPr>
        <p:cNvPr id="233" name="" descr="&lt;Slide style={{ background: '#FFFFFF', padding: 0 }}&gt;&#10;  &lt;Box style={{ height: 72, background: '#1E4FA8', padding: '0 40px', flexDirection: 'row', alignItems: 'center', justifyContent: 'space-between' }}&gt;&#10;    &lt;Text style={{ fontSize: 15, color: '#B9CDF0', letterSpacing: 1 }}&gt;ISAD · INFORMATION SYSTEMS ANALYSIS &amp;amp; DESIGN&lt;/Text&gt;&#10;    &lt;Text style={{ fontSize: 15, color: '#B9CDF0' }}&gt;W04 · THE USE CASE DIAGRAM&lt;/Text&gt;&#10;  &lt;/Box&gt;&#10;  &lt;Box style={{ padding: '12px 40px 0 40px', flexDirection: 'row', alignItems: 'center', justifyContent: 'space-between' }}&gt;&#10;    &lt;Text style={{ fontSize: 29, fontWeight: 'bold', color: '#0E3F8C' }}&gt;A Worked Diagram — Place Order&lt;/Text&gt;&#10;    &lt;Text style={{ fontSize: 14, color: '#1E4FA8', fontWeight: 'bold' }}&gt;18 / 38&lt;/Text&gt;&#10;  &lt;/Box&gt;&#10;  &lt;Box style={{ flex: 1, padding: '8px 40px 0 40px', flexDirection: 'row', gap: 26 }}&gt;&#10;    &lt;Box style={{ width: 600, justifyContent: 'center', alignItems: 'center' }}&gt;&#10;      &lt;svg width={600} height={356} viewBox='0 0 600 356'&gt;&#10;        &lt;text x='6' y='16' fill='#8B97A8' fontSize='12'&gt;One goal, two actors, one include — read it before you copy it&lt;/text&gt;&#10;&#10;        &lt;rect x='168' y='36' width='300' height='280' rx='6' fill='#FFFFFF' stroke='#1E4FA8' strokeWidth='2' /&gt;&#10;        &lt;text x='318' y='58' textAnchor='middle' fill='#0E3F8C' fontSize='13.5' fontWeight='bold'&gt;CampusBites&lt;/text&gt;&#10;&#10;        &lt;ellipse cx='318' cy='108' rx='122' ry='26' fill='#F0F5FC' stroke='#1E4FA8' strokeWidth='1.8' /&gt;&#10;        &lt;text x='318' y='113' textAnchor='middle' fill='#1A2230' fontSize='13' fontWeight='bold'&gt;Place Order&lt;/text&gt;&#10;&#10;        &lt;ellipse cx='318' cy='190' rx='122' ry='26' fill='#FFFFFF' stroke='#1E4FA8' strokeWidth='1.5' /&gt;&#10;        &lt;text x='318' y='195' textAnchor='middle' fill='#1A2230' fontSize='13'&gt;Authenticate&lt;/text&gt;&#10;&#10;        &lt;ellipse cx='318' cy='262' rx='122' ry='26' fill='#FFFFFF' stroke='#1E4FA8' strokeWidth='1.5' /&gt;&#10;        &lt;text x='318' y='267' textAnchor='middle' fill='#1A2230' fontSize='13'&gt;Pay for Order&lt;/text&gt;&#10;&#10;        &lt;g transform='translate(24,84)'&gt;&#10;          &lt;circle cx='16' cy='16' r='9' fill='none' stroke='#0E3F8C' strokeWidth='2' /&gt;&#10;          &lt;line x1='16' y1='25' x2='16' y2='48' stroke='#0E3F8C' strokeWidth='2' /&gt;&#10;          &lt;line x1='16' y1='33' x2='4' y2='45' stroke='#0E3F8C' strokeWidth='2' /&gt;&#10;          &lt;line x1='16' y1='33' x2='28' y2='45' stroke='#0E3F8C' strokeWidth='2' /&gt;&#10;          &lt;line x1='16' y1='48' x2='5' y2='64' stroke='#0E3F8C' strokeWidth='2' /&gt;&#10;          &lt;line x1='16' y1='48' x2='27' y2='64' stroke='#0E3F8C' strokeWidth='2' /&gt;&#10;          &lt;text x='16' y='80' textAnchor='middle' fill='#0E3F8C' fontSize='12' fontWeight='bold'&gt;Student&lt;/text&gt;&#10;          &lt;text x='16' y='95' textAnchor='middle' fill='#8B97A8' fontSize='10'&gt;primary&lt;/text&gt;&#10;        &lt;/g&gt;&#10;&#10;        &lt;g transform='translate(492,222)'&gt;&#10;          &lt;rect x='0' y='0' width='100' height='42' rx='4' fill='#F7F9FC' stroke='#8B97A8' strokeWidth='1.6' /&gt;&#10;          &lt;text x='50' y='19' textAnchor='middle' fill='#4A5568' fontSize='11' fontWeight='bold'&gt;Payment&lt;/text&gt;&#10;          &lt;text x='50' y='34' textAnchor='middle' fill='#4A5568' fontSize='11' fontWeight='bold'&gt;Provider&lt;/text&gt;&#10;          &lt;text x='50' y='56' textAnchor='middle' fill='#8B97A8' fontSize='10'&gt;secondary&lt;/text&gt;&#10;        &lt;/g&gt;&#10;&#10;        &lt;line x1='52' y1='148' x2='200' y2='114' stroke='#1E4FA8' strokeWidth='1.6' /&gt;&#10;        &lt;line x1='52' y1='158' x2='200' y2='186' stroke='#1E4FA8' strokeWidth='1.4' /&gt;&#10;&#10;        &lt;line x1='440' y1='258' x2='494' y2='246' stroke='#8B97A8' strokeWidth='1.4' /&gt;&#10;&#10;        &lt;line x1='262' y1='126' x2='220' y2='168' stroke='#1E4FA8' strokeWidth='1.5' strokeDasharray='6 4' /&gt;&#10;        &lt;polygon points='216,171 230,168 221,158' fill='#1E4FA8' /&gt;&#10;        &lt;text x='150' y='158' fill='#1E4FA8' fontSize='10.5' fontWeight='bold'&gt;«include»&lt;/text&gt;&#10;&#10;        &lt;text x='318' y='336' textAnchor='middle' fill='#8B97A8' fontSize='11'&gt;Note: two actors touch one use case, and the dashed arrow never points at an actor.&lt;/text&gt;&#10;      &lt;/svg&gt;&#10;    &lt;/Box&gt;&#10;    &lt;Box style={{ flex: 1, flexDirection: 'column', justifyContent: 'center', gap: 12 }}&gt;&#10;      &lt;Box style={{ padding: '14px 17px', background: '#F0F5FC', borderRadius: 9, borderLeft: '4px solid #1E4FA8' }}&gt;&#10;        &lt;Text style={{ fontSize: 15.5, fontWeight: 'bold', color: '#0E3F8C' }}&gt;Why Authenticate is an include&lt;/Text&gt;&#10;        &lt;Text style={{ fontSize: 12.8, color: '#4A5568', lineHeight: 1.6, marginTop: 5 }}&gt;&#10;          Every order needs it, every time. Nobody asks for it on its own — that is the signature of an include, not a use case anyone wants.&#10;        &lt;/Text&gt;&#10;      &lt;/Box&gt;&#10;      &lt;Box style={{ padding: '14px 17px', background: '#FFFFFF', borderRadius: 9, border: '1px solid #D6DCE5' }}&gt;&#10;        &lt;Text style={{ fontSize: 15.5, fontWeight: 'bold', color: '#0E3F8C' }}&gt;Why Pay for Order is a use case&lt;/Text&gt;&#10;        &lt;Text style={{ fontSize: 12.8, color: '#4A5568', lineHeight: 1.6, marginTop: 5 }}&gt;&#10;          A student can pay a later order without placing a new one. It is a goal somebody has, so it earns its own ellipse.&#10;        &lt;/Text&gt;&#10;      &lt;/Box&gt;&#10;      &lt;Box style={{ padding: '14px 17px', background: '#FFFFFF', borderRadius: 9, border: '1px solid #D6DCE5' }}&gt;&#10;        &lt;Text style={{ fontSize: 15.5, fontWeight: 'bold', color: '#0E3F8C' }}&gt;Why the provider is an actor&lt;/Text&gt;&#10;        &lt;Text style={{ fontSize: 12.8, color: '#4A5568', lineHeight: 1.6, marginTop: 5 }}&gt;&#10;          We do not own the card network, so we cannot change how it behaves. It sits outside the box and serves us.&#10;        &lt;/Text&gt;&#10;      &lt;/Box&gt;&#10;      &lt;Box style={{ padding: '12px 16px', background: '#FDF3F3', borderRadius: 8, borderLeft: '3px solid #D9534F' }}&gt;&#10;        &lt;Text style={{ fontSize: 12.5, color: '#4A5568', lineHeight: 1.55 }}&gt;&#10;          &lt;Text style={{ fontWeight: 'bold', color: '#D9534F' }}&gt;Check the arrows. &lt;/Text&gt;&#10;          The dashed arrow leaves Place Order and arrives at Authenticate. If yours points the other way, you have described the opposite relationship.&#10;        &lt;/Text&gt;&#10;      &lt;/Box&gt;&#10;    &lt;/Box&gt;&#10;  &lt;/Box&gt;&#10;  &lt;Box style={{ height: 34, padding: '0 40px', flexDirection: 'row', alignItems: 'center', justifyContent: 'space-between' }}&gt;&#10;    &lt;Text style={{ fontSize: 13, color: '#8B97A8' }}&gt;ISAD · Fall 2026 · Read every dashed arrow out loud — the direction is where most first diagrams go wrong&lt;/Text&gt;&#10;    &lt;Text style={{ fontSize: 14, color: '#1E4FA8', fontWeight: 'bold' }}&gt;18 / 38&lt;/Text&gt;&#10;  &lt;/Box&gt;&#10;&lt;/Slide&gt;"/>
        <p:cNvGrpSpPr/>
        <p:nvPr/>
      </p:nvGrpSpPr>
      <p:grpSpPr>
        <a:xfrm>
          <a:off x="0" y="0"/>
          <a:ext cx="0" cy="0"/>
          <a:chOff x="0" y="0"/>
          <a:chExt cx="0" cy="0"/>
        </a:xfrm>
      </p:grpSpPr>
      <p:sp>
        <p:nvSpPr>
          <p:cNvPr id="234" name=""/>
          <p:cNvSpPr/>
          <p:nvPr/>
        </p:nvSpPr>
        <p:spPr>
          <a:xfrm rot="0" flipH="0" flipV="0">
            <a:off x="0" y="0"/>
            <a:ext cx="12192000" cy="6858000"/>
          </a:xfrm>
          <a:prstGeom prst="rect">
            <a:avLst/>
          </a:prstGeom>
          <a:solidFill>
            <a:srgbClr val="FFFFFF"/>
          </a:solidFill>
          <a:ln/>
        </p:spPr>
        <p:txBody>
          <a:bodyPr/>
          <a:p/>
        </p:txBody>
      </p:sp>
      <p:sp>
        <p:nvSpPr>
          <p:cNvPr id="235" name=""/>
          <p:cNvSpPr/>
          <p:nvPr/>
        </p:nvSpPr>
        <p:spPr>
          <a:xfrm rot="0" flipH="0" flipV="0">
            <a:off x="0" y="0"/>
            <a:ext cx="12192000" cy="685800"/>
          </a:xfrm>
          <a:prstGeom prst="rect">
            <a:avLst/>
          </a:prstGeom>
          <a:solidFill>
            <a:srgbClr val="1E4FA8"/>
          </a:solidFill>
          <a:ln/>
        </p:spPr>
        <p:txBody>
          <a:bodyPr/>
          <a:p/>
        </p:txBody>
      </p:sp>
      <p:sp>
        <p:nvSpPr>
          <p:cNvPr id="236" name="" descr="{&quot;isTemplate&quot;:true,&quot;type&quot;:&quot;text&quot;}"/>
          <p:cNvSpPr txBox="1"/>
          <p:nvPr/>
        </p:nvSpPr>
        <p:spPr>
          <a:xfrm rot="0" flipH="0" flipV="0">
            <a:off x="381000" y="257175"/>
            <a:ext cx="4067175" cy="171450"/>
          </a:xfrm>
          <a:prstGeom prst="rect"/>
        </p:spPr>
        <p:txBody>
          <a:bodyPr wrap="none" lIns="0" tIns="0" rIns="0" bIns="0"/>
          <a:p>
            <a:pPr>
              <a:lnSpc>
                <a:spcPct val="100000"/>
              </a:lnSpc>
            </a:pPr>
            <a:r>
              <a:rPr lang="en-US" sz="1125" spc="75">
                <a:solidFill>
                  <a:srgbClr val="B9CDF0"/>
                </a:solidFill>
                <a:latin typeface="Microsoft YaHei"/>
                <a:ea typeface="Microsoft YaHei"/>
              </a:rPr>
              <a:t>ISAD · INFORMATION SYSTEMS ANALYSIS &amp; DESIGN</a:t>
            </a:r>
            <a:endParaRPr/>
          </a:p>
        </p:txBody>
      </p:sp>
      <p:sp>
        <p:nvSpPr>
          <p:cNvPr id="237" name="" descr="{&quot;isTemplate&quot;:true,&quot;type&quot;:&quot;text&quot;}"/>
          <p:cNvSpPr txBox="1"/>
          <p:nvPr/>
        </p:nvSpPr>
        <p:spPr>
          <a:xfrm rot="0" flipH="0" flipV="0">
            <a:off x="9629775" y="257175"/>
            <a:ext cx="2181225" cy="171450"/>
          </a:xfrm>
          <a:prstGeom prst="rect"/>
        </p:spPr>
        <p:txBody>
          <a:bodyPr wrap="none" lIns="0" tIns="0" rIns="0" bIns="0"/>
          <a:p>
            <a:pPr>
              <a:lnSpc>
                <a:spcPct val="100000"/>
              </a:lnSpc>
            </a:pPr>
            <a:r>
              <a:rPr lang="en-US" sz="1125">
                <a:solidFill>
                  <a:srgbClr val="B9CDF0"/>
                </a:solidFill>
                <a:latin typeface="Microsoft YaHei"/>
                <a:ea typeface="Microsoft YaHei"/>
              </a:rPr>
              <a:t>W04 · THE USE CASE DIAGRAM</a:t>
            </a:r>
            <a:endParaRPr/>
          </a:p>
        </p:txBody>
      </p:sp>
      <p:sp>
        <p:nvSpPr>
          <p:cNvPr id="238" name="" descr="{&quot;isTemplate&quot;:true,&quot;type&quot;:&quot;text&quot;}"/>
          <p:cNvSpPr txBox="1"/>
          <p:nvPr/>
        </p:nvSpPr>
        <p:spPr>
          <a:xfrm rot="0" flipH="0" flipV="0">
            <a:off x="381000" y="800100"/>
            <a:ext cx="4448175" cy="333375"/>
          </a:xfrm>
          <a:prstGeom prst="rect"/>
        </p:spPr>
        <p:txBody>
          <a:bodyPr wrap="none" lIns="0" tIns="0" rIns="0" bIns="0"/>
          <a:p>
            <a:pPr>
              <a:lnSpc>
                <a:spcPct val="100000"/>
              </a:lnSpc>
            </a:pPr>
            <a:r>
              <a:rPr lang="en-US" sz="2175" b="1">
                <a:solidFill>
                  <a:srgbClr val="0E3F8C"/>
                </a:solidFill>
                <a:latin typeface="Microsoft YaHei"/>
                <a:ea typeface="Microsoft YaHei"/>
              </a:rPr>
              <a:t>A Worked Diagram — Place Order</a:t>
            </a:r>
            <a:endParaRPr/>
          </a:p>
        </p:txBody>
      </p:sp>
      <p:sp>
        <p:nvSpPr>
          <p:cNvPr id="239" name="" descr="{&quot;isTemplate&quot;:true,&quot;type&quot;:&quot;text&quot;}"/>
          <p:cNvSpPr txBox="1"/>
          <p:nvPr/>
        </p:nvSpPr>
        <p:spPr>
          <a:xfrm rot="0" flipH="0" flipV="0">
            <a:off x="11401425" y="885825"/>
            <a:ext cx="409575" cy="161925"/>
          </a:xfrm>
          <a:prstGeom prst="rect"/>
        </p:spPr>
        <p:txBody>
          <a:bodyPr wrap="none" lIns="0" tIns="0" rIns="0" bIns="0"/>
          <a:p>
            <a:pPr>
              <a:lnSpc>
                <a:spcPct val="100000"/>
              </a:lnSpc>
            </a:pPr>
            <a:r>
              <a:rPr lang="en-US" sz="1050" b="1">
                <a:solidFill>
                  <a:srgbClr val="1E4FA8"/>
                </a:solidFill>
                <a:latin typeface="Microsoft YaHei"/>
                <a:ea typeface="Microsoft YaHei"/>
              </a:rPr>
              <a:t>18 / 38</a:t>
            </a:r>
            <a:endParaRPr/>
          </a:p>
        </p:txBody>
      </p:sp>
      <p:pic>
        <p:nvPicPr>
          <p:cNvPr id="240" name=""/>
          <p:cNvPicPr>
            <a:picLocks noChangeAspect="1"/>
          </p:cNvPicPr>
          <p:nvPr/>
        </p:nvPicPr>
        <p:blipFill>
          <a:blip>
            <a:extLst>
              <a:ext uri="{96DAC541-7B7A-43D3-8B79-37D633B846F1}">
                <asvg:svgBlip r:embed="rId1"/>
              </a:ext>
            </a:extLst>
          </a:blip>
          <a:stretch>
            <a:fillRect/>
          </a:stretch>
        </p:blipFill>
        <p:spPr>
          <a:xfrm rot="0" flipH="0" flipV="0">
            <a:off x="381000" y="2181225"/>
            <a:ext cx="5715000" cy="3390900"/>
          </a:xfrm>
          <a:prstGeom prst="rect">
            <a:avLst/>
          </a:prstGeom>
          <a:ln/>
        </p:spPr>
      </p:pic>
      <p:sp>
        <p:nvSpPr>
          <p:cNvPr id="241" name=""/>
          <p:cNvSpPr/>
          <p:nvPr/>
        </p:nvSpPr>
        <p:spPr>
          <a:xfrm rot="0" flipH="0" flipV="0">
            <a:off x="6381750" y="1905000"/>
            <a:ext cx="5467350" cy="971550"/>
          </a:xfrm>
          <a:prstGeom prst="roundRect">
            <a:avLst>
              <a:gd name="adj" fmla="val 8824"/>
            </a:avLst>
          </a:prstGeom>
          <a:solidFill>
            <a:srgbClr val="F0F5FC"/>
          </a:solidFill>
          <a:ln/>
        </p:spPr>
        <p:txBody>
          <a:bodyPr/>
          <a:p/>
        </p:txBody>
      </p:sp>
      <p:sp>
        <p:nvSpPr>
          <p:cNvPr id="242" name=""/>
          <p:cNvSpPr/>
          <p:nvPr/>
        </p:nvSpPr>
        <p:spPr>
          <a:xfrm rot="0" flipH="0" flipV="0">
            <a:off x="6381750" y="1905000"/>
            <a:ext cx="5467350" cy="971550"/>
          </a:xfrm>
          <a:custGeom>
            <a:pathLst>
              <a:path w="574" h="102">
                <a:moveTo>
                  <a:pt x="9" y="0"/>
                </a:moveTo>
                <a:cubicBezTo>
                  <a:pt x="6" y="0"/>
                  <a:pt x="4" y="2"/>
                  <a:pt x="4" y="5"/>
                </a:cubicBezTo>
                <a:lnTo>
                  <a:pt x="4" y="97"/>
                </a:lnTo>
                <a:cubicBezTo>
                  <a:pt x="4" y="99"/>
                  <a:pt x="6" y="101"/>
                  <a:pt x="8" y="102"/>
                </a:cubicBezTo>
                <a:cubicBezTo>
                  <a:pt x="4" y="102"/>
                  <a:pt x="0" y="98"/>
                  <a:pt x="0" y="93"/>
                </a:cubicBezTo>
                <a:lnTo>
                  <a:pt x="0" y="9"/>
                </a:lnTo>
                <a:cubicBezTo>
                  <a:pt x="0" y="4"/>
                  <a:pt x="4" y="0"/>
                  <a:pt x="9" y="0"/>
                </a:cubicBezTo>
                <a:close/>
              </a:path>
            </a:pathLst>
          </a:custGeom>
          <a:solidFill>
            <a:srgbClr val="1E4FA8"/>
          </a:solidFill>
          <a:ln/>
        </p:spPr>
        <p:txBody>
          <a:bodyPr/>
          <a:p/>
        </p:txBody>
      </p:sp>
      <p:sp>
        <p:nvSpPr>
          <p:cNvPr id="243" name="" descr="{&quot;isTemplate&quot;:true,&quot;type&quot;:&quot;text&quot;}"/>
          <p:cNvSpPr txBox="1"/>
          <p:nvPr/>
        </p:nvSpPr>
        <p:spPr>
          <a:xfrm rot="0" flipH="0" flipV="0">
            <a:off x="6543675" y="2038350"/>
            <a:ext cx="5105400" cy="180975"/>
          </a:xfrm>
          <a:prstGeom prst="rect"/>
        </p:spPr>
        <p:txBody>
          <a:bodyPr wrap="none" lIns="0" tIns="0" rIns="0" bIns="0"/>
          <a:p>
            <a:pPr>
              <a:lnSpc>
                <a:spcPct val="100000"/>
              </a:lnSpc>
            </a:pPr>
            <a:r>
              <a:rPr lang="en-US" sz="1163" b="1">
                <a:solidFill>
                  <a:srgbClr val="0E3F8C"/>
                </a:solidFill>
                <a:latin typeface="Microsoft YaHei"/>
                <a:ea typeface="Microsoft YaHei"/>
              </a:rPr>
              <a:t>Why Authenticate is an include</a:t>
            </a:r>
            <a:endParaRPr/>
          </a:p>
        </p:txBody>
      </p:sp>
      <p:sp>
        <p:nvSpPr>
          <p:cNvPr id="244" name="" descr="{&quot;isTemplate&quot;:true,&quot;type&quot;:&quot;text&quot;}"/>
          <p:cNvSpPr txBox="1"/>
          <p:nvPr/>
        </p:nvSpPr>
        <p:spPr>
          <a:xfrm rot="0" flipH="0" flipV="0">
            <a:off x="6543675" y="2266950"/>
            <a:ext cx="5105400" cy="476250"/>
          </a:xfrm>
          <a:prstGeom prst="rect"/>
        </p:spPr>
        <p:txBody>
          <a:bodyPr wrap="square" lIns="0" tIns="0" rIns="0" bIns="0">
            <a:normAutofit/>
          </a:bodyPr>
          <a:p>
            <a:pPr>
              <a:lnSpc>
                <a:spcPct val="160000"/>
              </a:lnSpc>
            </a:pPr>
            <a:r>
              <a:rPr lang="en-US" sz="960">
                <a:solidFill>
                  <a:srgbClr val="4A5568"/>
                </a:solidFill>
                <a:latin typeface="Microsoft YaHei"/>
                <a:ea typeface="Microsoft YaHei"/>
              </a:rPr>
              <a:t>Every order needs it, every time. Nobody asks for it on its own — that is the signature of an include, not a use case anyone wants.</a:t>
            </a:r>
            <a:endParaRPr/>
          </a:p>
        </p:txBody>
      </p:sp>
      <p:sp>
        <p:nvSpPr>
          <p:cNvPr id="245" name=""/>
          <p:cNvSpPr/>
          <p:nvPr/>
        </p:nvSpPr>
        <p:spPr>
          <a:xfrm rot="0" flipH="0" flipV="0">
            <a:off x="6343650" y="2990850"/>
            <a:ext cx="5467350" cy="971550"/>
          </a:xfrm>
          <a:prstGeom prst="roundRect">
            <a:avLst>
              <a:gd name="adj" fmla="val 8824"/>
            </a:avLst>
          </a:prstGeom>
          <a:solidFill>
            <a:srgbClr val="FFFFFF"/>
          </a:solidFill>
          <a:ln w="12700">
            <a:solidFill>
              <a:srgbClr val="D6DCE5"/>
            </a:solidFill>
            <a:prstDash val="solid"/>
          </a:ln>
        </p:spPr>
        <p:txBody>
          <a:bodyPr/>
          <a:p/>
        </p:txBody>
      </p:sp>
      <p:sp>
        <p:nvSpPr>
          <p:cNvPr id="246" name="" descr="{&quot;isTemplate&quot;:true,&quot;type&quot;:&quot;text&quot;}"/>
          <p:cNvSpPr txBox="1"/>
          <p:nvPr/>
        </p:nvSpPr>
        <p:spPr>
          <a:xfrm rot="0" flipH="0" flipV="0">
            <a:off x="6505575" y="3124200"/>
            <a:ext cx="5143500" cy="180975"/>
          </a:xfrm>
          <a:prstGeom prst="rect"/>
        </p:spPr>
        <p:txBody>
          <a:bodyPr wrap="none" lIns="0" tIns="0" rIns="0" bIns="0"/>
          <a:p>
            <a:pPr>
              <a:lnSpc>
                <a:spcPct val="100000"/>
              </a:lnSpc>
            </a:pPr>
            <a:r>
              <a:rPr lang="en-US" sz="1163" b="1">
                <a:solidFill>
                  <a:srgbClr val="0E3F8C"/>
                </a:solidFill>
                <a:latin typeface="Microsoft YaHei"/>
                <a:ea typeface="Microsoft YaHei"/>
              </a:rPr>
              <a:t>Why Pay for Order is a use case</a:t>
            </a:r>
            <a:endParaRPr/>
          </a:p>
        </p:txBody>
      </p:sp>
      <p:sp>
        <p:nvSpPr>
          <p:cNvPr id="247" name="" descr="{&quot;isTemplate&quot;:true,&quot;type&quot;:&quot;text&quot;}"/>
          <p:cNvSpPr txBox="1"/>
          <p:nvPr/>
        </p:nvSpPr>
        <p:spPr>
          <a:xfrm rot="0" flipH="0" flipV="0">
            <a:off x="6505575" y="3352800"/>
            <a:ext cx="5143500" cy="476250"/>
          </a:xfrm>
          <a:prstGeom prst="rect"/>
        </p:spPr>
        <p:txBody>
          <a:bodyPr wrap="square" lIns="0" tIns="0" rIns="0" bIns="0">
            <a:normAutofit/>
          </a:bodyPr>
          <a:p>
            <a:pPr>
              <a:lnSpc>
                <a:spcPct val="160000"/>
              </a:lnSpc>
            </a:pPr>
            <a:r>
              <a:rPr lang="en-US" sz="960">
                <a:solidFill>
                  <a:srgbClr val="4A5568"/>
                </a:solidFill>
                <a:latin typeface="Microsoft YaHei"/>
                <a:ea typeface="Microsoft YaHei"/>
              </a:rPr>
              <a:t>A student can pay a later order without placing a new one. It is a goal somebody has, so it earns its own ellipse.</a:t>
            </a:r>
            <a:endParaRPr/>
          </a:p>
        </p:txBody>
      </p:sp>
      <p:sp>
        <p:nvSpPr>
          <p:cNvPr id="248" name=""/>
          <p:cNvSpPr/>
          <p:nvPr/>
        </p:nvSpPr>
        <p:spPr>
          <a:xfrm rot="0" flipH="0" flipV="0">
            <a:off x="6343650" y="4076700"/>
            <a:ext cx="5467350" cy="971550"/>
          </a:xfrm>
          <a:prstGeom prst="roundRect">
            <a:avLst>
              <a:gd name="adj" fmla="val 8824"/>
            </a:avLst>
          </a:prstGeom>
          <a:solidFill>
            <a:srgbClr val="FFFFFF"/>
          </a:solidFill>
          <a:ln w="12700">
            <a:solidFill>
              <a:srgbClr val="D6DCE5"/>
            </a:solidFill>
            <a:prstDash val="solid"/>
          </a:ln>
        </p:spPr>
        <p:txBody>
          <a:bodyPr/>
          <a:p/>
        </p:txBody>
      </p:sp>
      <p:sp>
        <p:nvSpPr>
          <p:cNvPr id="249" name="" descr="{&quot;isTemplate&quot;:true,&quot;type&quot;:&quot;text&quot;}"/>
          <p:cNvSpPr txBox="1"/>
          <p:nvPr/>
        </p:nvSpPr>
        <p:spPr>
          <a:xfrm rot="0" flipH="0" flipV="0">
            <a:off x="6505575" y="4210050"/>
            <a:ext cx="5143500" cy="180975"/>
          </a:xfrm>
          <a:prstGeom prst="rect"/>
        </p:spPr>
        <p:txBody>
          <a:bodyPr wrap="none" lIns="0" tIns="0" rIns="0" bIns="0"/>
          <a:p>
            <a:pPr>
              <a:lnSpc>
                <a:spcPct val="100000"/>
              </a:lnSpc>
            </a:pPr>
            <a:r>
              <a:rPr lang="en-US" sz="1163" b="1">
                <a:solidFill>
                  <a:srgbClr val="0E3F8C"/>
                </a:solidFill>
                <a:latin typeface="Microsoft YaHei"/>
                <a:ea typeface="Microsoft YaHei"/>
              </a:rPr>
              <a:t>Why the provider is an actor</a:t>
            </a:r>
            <a:endParaRPr/>
          </a:p>
        </p:txBody>
      </p:sp>
      <p:sp>
        <p:nvSpPr>
          <p:cNvPr id="250" name="" descr="{&quot;isTemplate&quot;:true,&quot;type&quot;:&quot;text&quot;}"/>
          <p:cNvSpPr txBox="1"/>
          <p:nvPr/>
        </p:nvSpPr>
        <p:spPr>
          <a:xfrm rot="0" flipH="0" flipV="0">
            <a:off x="6505575" y="4438650"/>
            <a:ext cx="5143500" cy="476250"/>
          </a:xfrm>
          <a:prstGeom prst="rect"/>
        </p:spPr>
        <p:txBody>
          <a:bodyPr wrap="square" lIns="0" tIns="0" rIns="0" bIns="0">
            <a:normAutofit/>
          </a:bodyPr>
          <a:p>
            <a:pPr>
              <a:lnSpc>
                <a:spcPct val="160000"/>
              </a:lnSpc>
            </a:pPr>
            <a:r>
              <a:rPr lang="en-US" sz="960">
                <a:solidFill>
                  <a:srgbClr val="4A5568"/>
                </a:solidFill>
                <a:latin typeface="Microsoft YaHei"/>
                <a:ea typeface="Microsoft YaHei"/>
              </a:rPr>
              <a:t>We do not own the card network, so we cannot change how it behaves. It sits outside the box and serves us.</a:t>
            </a:r>
            <a:endParaRPr/>
          </a:p>
        </p:txBody>
      </p:sp>
      <p:sp>
        <p:nvSpPr>
          <p:cNvPr id="251" name=""/>
          <p:cNvSpPr/>
          <p:nvPr/>
        </p:nvSpPr>
        <p:spPr>
          <a:xfrm rot="0" flipH="0" flipV="0">
            <a:off x="6372225" y="5162550"/>
            <a:ext cx="5467350" cy="676275"/>
          </a:xfrm>
          <a:prstGeom prst="roundRect">
            <a:avLst>
              <a:gd name="adj" fmla="val 11268"/>
            </a:avLst>
          </a:prstGeom>
          <a:solidFill>
            <a:srgbClr val="FDF3F3"/>
          </a:solidFill>
          <a:ln/>
        </p:spPr>
        <p:txBody>
          <a:bodyPr/>
          <a:p/>
        </p:txBody>
      </p:sp>
      <p:sp>
        <p:nvSpPr>
          <p:cNvPr id="252" name=""/>
          <p:cNvSpPr/>
          <p:nvPr/>
        </p:nvSpPr>
        <p:spPr>
          <a:xfrm rot="0" flipH="0" flipV="0">
            <a:off x="6372225" y="5162550"/>
            <a:ext cx="5467350" cy="676275"/>
          </a:xfrm>
          <a:custGeom>
            <a:pathLst>
              <a:path w="574" h="71">
                <a:moveTo>
                  <a:pt x="8" y="0"/>
                </a:moveTo>
                <a:cubicBezTo>
                  <a:pt x="5" y="0"/>
                  <a:pt x="3" y="2"/>
                  <a:pt x="3" y="5"/>
                </a:cubicBezTo>
                <a:lnTo>
                  <a:pt x="3" y="66"/>
                </a:lnTo>
                <a:cubicBezTo>
                  <a:pt x="3" y="68"/>
                  <a:pt x="5" y="70"/>
                  <a:pt x="7" y="71"/>
                </a:cubicBezTo>
                <a:cubicBezTo>
                  <a:pt x="3" y="70"/>
                  <a:pt x="0" y="67"/>
                  <a:pt x="0" y="63"/>
                </a:cubicBezTo>
                <a:lnTo>
                  <a:pt x="0" y="8"/>
                </a:lnTo>
                <a:cubicBezTo>
                  <a:pt x="0" y="4"/>
                  <a:pt x="3" y="0"/>
                  <a:pt x="8" y="0"/>
                </a:cubicBezTo>
                <a:close/>
              </a:path>
            </a:pathLst>
          </a:custGeom>
          <a:solidFill>
            <a:srgbClr val="D9534F"/>
          </a:solidFill>
          <a:ln/>
        </p:spPr>
        <p:txBody>
          <a:bodyPr/>
          <a:p/>
        </p:txBody>
      </p:sp>
      <p:sp>
        <p:nvSpPr>
          <p:cNvPr id="253" name="" descr="{&quot;isTemplate&quot;:true,&quot;type&quot;:&quot;text&quot;}"/>
          <p:cNvSpPr txBox="1"/>
          <p:nvPr/>
        </p:nvSpPr>
        <p:spPr>
          <a:xfrm rot="0" flipH="0" flipV="0">
            <a:off x="6524625" y="5276850"/>
            <a:ext cx="5133975" cy="447675"/>
          </a:xfrm>
          <a:prstGeom prst="rect"/>
        </p:spPr>
        <p:txBody>
          <a:bodyPr wrap="square" lIns="0" tIns="0" rIns="0" bIns="0">
            <a:normAutofit/>
          </a:bodyPr>
          <a:p>
            <a:pPr>
              <a:lnSpc>
                <a:spcPct val="155000"/>
              </a:lnSpc>
            </a:pPr>
            <a:r>
              <a:rPr lang="en-US" sz="938">
                <a:solidFill>
                  <a:srgbClr val="4A5568"/>
                </a:solidFill>
                <a:latin typeface="Microsoft YaHei"/>
                <a:ea typeface="Microsoft YaHei"/>
              </a:rPr>
              <a:t>Check the arrows. </a:t>
            </a:r>
            <a:r>
              <a:rPr lang="en-US" sz="938">
                <a:solidFill>
                  <a:srgbClr val="4A5568"/>
                </a:solidFill>
                <a:latin typeface="Microsoft YaHei"/>
                <a:ea typeface="Microsoft YaHei"/>
              </a:rPr>
              <a:t>The dashed arrow leaves Place Order and arrives at Authenticate. If yours points the other way, you have described the opposite relationship.</a:t>
            </a:r>
            <a:endParaRPr/>
          </a:p>
        </p:txBody>
      </p:sp>
      <p:sp>
        <p:nvSpPr>
          <p:cNvPr id="254" name="" descr="{&quot;isTemplate&quot;:true,&quot;type&quot;:&quot;text&quot;}"/>
          <p:cNvSpPr txBox="1"/>
          <p:nvPr/>
        </p:nvSpPr>
        <p:spPr>
          <a:xfrm rot="0" flipH="0" flipV="0">
            <a:off x="381000" y="6619875"/>
            <a:ext cx="5905500" cy="152400"/>
          </a:xfrm>
          <a:prstGeom prst="rect"/>
        </p:spPr>
        <p:txBody>
          <a:bodyPr wrap="none" lIns="0" tIns="0" rIns="0" bIns="0"/>
          <a:p>
            <a:pPr>
              <a:lnSpc>
                <a:spcPct val="100000"/>
              </a:lnSpc>
            </a:pPr>
            <a:r>
              <a:rPr lang="en-US" sz="975">
                <a:solidFill>
                  <a:srgbClr val="8B97A8"/>
                </a:solidFill>
                <a:latin typeface="Microsoft YaHei"/>
                <a:ea typeface="Microsoft YaHei"/>
              </a:rPr>
              <a:t>ISAD · Fall 2026 · Read every dashed arrow out loud — the direction is where most first diagrams go wrong</a:t>
            </a:r>
            <a:endParaRPr/>
          </a:p>
        </p:txBody>
      </p:sp>
      <p:sp>
        <p:nvSpPr>
          <p:cNvPr id="255" name="" descr="{&quot;isTemplate&quot;:true,&quot;type&quot;:&quot;text&quot;}"/>
          <p:cNvSpPr txBox="1"/>
          <p:nvPr/>
        </p:nvSpPr>
        <p:spPr>
          <a:xfrm rot="0" flipH="0" flipV="0">
            <a:off x="11401425" y="6619875"/>
            <a:ext cx="409575" cy="161925"/>
          </a:xfrm>
          <a:prstGeom prst="rect"/>
        </p:spPr>
        <p:txBody>
          <a:bodyPr wrap="none" lIns="0" tIns="0" rIns="0" bIns="0"/>
          <a:p>
            <a:pPr>
              <a:lnSpc>
                <a:spcPct val="100000"/>
              </a:lnSpc>
            </a:pPr>
            <a:r>
              <a:rPr lang="en-US" sz="1050" b="1">
                <a:solidFill>
                  <a:srgbClr val="1E4FA8"/>
                </a:solidFill>
                <a:latin typeface="Microsoft YaHei"/>
                <a:ea typeface="Microsoft YaHei"/>
              </a:rPr>
              <a:t>18 / 38</a:t>
            </a:r>
            <a:endParaRPr/>
          </a:p>
        </p:txBody>
      </p:sp>
    </p:spTree>
  </p:cSld>
</p:sld>
</file>

<file path=ppt/slides/slide19.xml><?xml version="1.0" encoding="utf-8"?>
<p:sld xmlns:asvg="http://schemas.microsoft.com/office/drawing/2016/SVG/main" xmlns:a="http://schemas.openxmlformats.org/drawingml/2006/main" xmlns:r="http://schemas.openxmlformats.org/officeDocument/2006/relationships" xmlns:p="http://schemas.openxmlformats.org/presentationml/2006/main" xmlns:mc="http://schemas.openxmlformats.org/markup-compatibility/2006" mc:Ignorable="asvg">
  <p:cSld>
    <p:spTree>
      <p:nvGrpSpPr>
        <p:cNvPr id="256" name="" descr="&lt;Slide style={{ background: '#FFFFFF', padding: 0 }}&gt;&#10;  &lt;Box style={{ height: 72, background: '#1E4FA8', padding: '0 40px', flexDirection: 'row', alignItems: 'center', justifyContent: 'space-between' }}&gt;&#10;    &lt;Text style={{ fontSize: 15, color: '#B9CDF0', letterSpacing: 1 }}&gt;ISAD · INFORMATION SYSTEMS ANALYSIS &amp;amp; DESIGN&lt;/Text&gt;&#10;    &lt;Text style={{ fontSize: 15, color: '#B9CDF0' }}&gt;W04 · THE USE CASE DIAGRAM&lt;/Text&gt;&#10;  &lt;/Box&gt;&#10;  &lt;Box style={{ padding: '14px 40px 0 40px', flexDirection: 'row', alignItems: 'center', justifyContent: 'space-between' }}&gt;&#10;    &lt;Text style={{ fontSize: 29, fontWeight: 'bold', color: '#0E3F8C' }}&gt;Three Mistakes Everyone Makes&lt;/Text&gt;&#10;    &lt;Text style={{ fontSize: 14, color: '#1E4FA8', fontWeight: 'bold' }}&gt;19 / 38&lt;/Text&gt;&#10;  &lt;/Box&gt;&#10;  &lt;Box style={{ flex: 1, padding: '14px 60px 0 60px', flexDirection: 'column', justifyContent: 'center', alignItems: 'center' }}&gt;&#10;    &lt;Box style={{ width: 960, padding: '20px 30px', background: '#F0F5FC', borderRadius: 10, borderLeft: '6px solid #D9534F', marginBottom: 20 }}&gt;&#10;      &lt;Text style={{ fontSize: 23, color: '#0E3F8C', fontWeight: 'bold', lineHeight: 1.4, textAlign: 'center' }}&gt;&#10;        All three come from the same habit: describing what the system does&#10;        &lt;br /&gt;&#10;        instead of what the actor gets.&#10;      &lt;/Text&gt;&#10;    &lt;/Box&gt;&#10;    &lt;Box style={{ width: 960, flexDirection: 'row', gap: 18 }}&gt;&#10;      &lt;Box style={{ flex: 1, padding: '20px 18px', background: '#FFFFFF', borderRadius: 10, border: '1px solid #D6DCE5' }}&gt;&#10;        &lt;Box style={{ flexDirection: 'row', alignItems: 'center', gap: 8, marginBottom: 8 }}&gt;&#10;          &lt;FAIcon name='sitemap' style={{ fill: '#D9534F', width: 20, height: 20 }} /&gt;&#10;          &lt;Text style={{ fontSize: 16, fontWeight: 'bold', color: '#D9534F' }}&gt;01 · Functional decomposition&lt;/Text&gt;&#10;        &lt;/Box&gt;&#10;        &lt;Box style={{ padding: '10px 12px', background: '#FDF3F3', borderRadius: 6, marginBottom: 8 }}&gt;&#10;          &lt;Text style={{ fontSize: 12.5, color: '#4A5568', lineHeight: 1.5 }}&gt;Enter Address → Choose Restaurant → Add Item → Confirm → Pay&lt;/Text&gt;&#10;        &lt;/Box&gt;&#10;        &lt;Text style={{ fontSize: 12.5, color: '#4A5568', lineHeight: 1.6 }}&gt;&#10;          Five “use cases” that are really five steps of one. The student has exactly one goal: get lunch. Everything else is a line inside the scenario — Week 05.&#10;        &lt;/Text&gt;&#10;      &lt;/Box&gt;&#10;      &lt;Box style={{ flex: 1, padding: '20px 18px', background: '#FFFFFF', borderRadius: 10, border: '1px solid #D6DCE5' }}&gt;&#10;        &lt;Box style={{ flexDirection: 'row', alignItems: 'center', gap: 8, marginBottom: 8 }}&gt;&#10;          &lt;FAIcon name='cubes' style={{ fill: '#D9534F', width: 20, height: 20 }} /&gt;&#10;          &lt;Text style={{ fontSize: 16, fontWeight: 'bold', color: '#D9534F' }}&gt;02 · CRUD as use cases&lt;/Text&gt;&#10;        &lt;/Box&gt;&#10;        &lt;Box style={{ padding: '10px 12px', background: '#FDF3F3', borderRadius: 6, marginBottom: 8 }}&gt;&#10;          &lt;Text style={{ fontSize: 12.5, color: '#4A5568', lineHeight: 1.5 }}&gt;Create Order · Read Order · Update Order · Delete Order&lt;/Text&gt;&#10;        &lt;/Box&gt;&#10;        &lt;Text style={{ fontSize: 12.5, color: '#4A5568', lineHeight: 1.6 }}&gt;&#10;          You have modelled a table. Ask who wakes up wanting this: nobody wants to “update an order”. They want to change the address, or cancel it.&#10;        &lt;/Text&gt;&#10;      &lt;/Box&gt;&#10;      &lt;Box style={{ flex: 1, padding: '20px 18px', background: '#FFFFFF', borderRadius: 10, border: '1px solid #D6DCE5' }}&gt;&#10;        &lt;Box style={{ flexDirection: 'row', alignItems: 'center', gap: 8, marginBottom: 8 }}&gt;&#10;          &lt;FAIcon name='plug' style={{ fill: '#D9534F', width: 20, height: 20 }} /&gt;&#10;          &lt;Text style={{ fontSize: 16, fontWeight: 'bold', color: '#D9534F' }}&gt;03 · External systems inside&lt;/Text&gt;&#10;        &lt;/Box&gt;&#10;        &lt;Box style={{ padding: '10px 12px', background: '#FDF3F3', borderRadius: 6, marginBottom: 8 }}&gt;&#10;          &lt;Text style={{ fontSize: 12.5, color: '#4A5568', lineHeight: 1.5 }}&gt;Process Payment · Send SMS · Charge Campus Card&lt;/Text&gt;&#10;        &lt;/Box&gt;&#10;        &lt;Text style={{ fontSize: 12.5, color: '#4A5568', lineHeight: 1.6 }}&gt;&#10;          If you cannot change how it behaves, it is not your use case. Those three are actors outside the box that serve you.&#10;        &lt;/Text&gt;&#10;      &lt;/Box&gt;&#10;    &lt;/Box&gt;&#10;  &lt;/Box&gt;&#10;  &lt;Box style={{ height: 46, background: '#0E3F8C', padding: '0 40px', flexDirection: 'row', alignItems: 'center', justifyContent: 'center' }}&gt;&#10;    &lt;Text style={{ fontSize: 16, color: '#FFFFFF', fontWeight: '600' }}&gt;Count your ellipses. Six to twelve is a healthy diagram; forty means you have modelled the menu, not the goals.&lt;/Text&gt;&#10;  &lt;/Box&gt;&#10;&lt;/Slide&gt;"/>
        <p:cNvGrpSpPr/>
        <p:nvPr/>
      </p:nvGrpSpPr>
      <p:grpSpPr>
        <a:xfrm>
          <a:off x="0" y="0"/>
          <a:ext cx="0" cy="0"/>
          <a:chOff x="0" y="0"/>
          <a:chExt cx="0" cy="0"/>
        </a:xfrm>
      </p:grpSpPr>
      <p:sp>
        <p:nvSpPr>
          <p:cNvPr id="257" name=""/>
          <p:cNvSpPr/>
          <p:nvPr/>
        </p:nvSpPr>
        <p:spPr>
          <a:xfrm rot="0" flipH="0" flipV="0">
            <a:off x="0" y="0"/>
            <a:ext cx="12192000" cy="6858000"/>
          </a:xfrm>
          <a:prstGeom prst="rect">
            <a:avLst/>
          </a:prstGeom>
          <a:solidFill>
            <a:srgbClr val="FFFFFF"/>
          </a:solidFill>
          <a:ln/>
        </p:spPr>
        <p:txBody>
          <a:bodyPr/>
          <a:p/>
        </p:txBody>
      </p:sp>
      <p:sp>
        <p:nvSpPr>
          <p:cNvPr id="258" name=""/>
          <p:cNvSpPr/>
          <p:nvPr/>
        </p:nvSpPr>
        <p:spPr>
          <a:xfrm rot="0" flipH="0" flipV="0">
            <a:off x="0" y="0"/>
            <a:ext cx="12192000" cy="685800"/>
          </a:xfrm>
          <a:prstGeom prst="rect">
            <a:avLst/>
          </a:prstGeom>
          <a:solidFill>
            <a:srgbClr val="1E4FA8"/>
          </a:solidFill>
          <a:ln/>
        </p:spPr>
        <p:txBody>
          <a:bodyPr/>
          <a:p/>
        </p:txBody>
      </p:sp>
      <p:sp>
        <p:nvSpPr>
          <p:cNvPr id="259" name="" descr="{&quot;isTemplate&quot;:true,&quot;type&quot;:&quot;text&quot;}"/>
          <p:cNvSpPr txBox="1"/>
          <p:nvPr/>
        </p:nvSpPr>
        <p:spPr>
          <a:xfrm rot="0" flipH="0" flipV="0">
            <a:off x="381000" y="257175"/>
            <a:ext cx="4067175" cy="171450"/>
          </a:xfrm>
          <a:prstGeom prst="rect"/>
        </p:spPr>
        <p:txBody>
          <a:bodyPr wrap="none" lIns="0" tIns="0" rIns="0" bIns="0"/>
          <a:p>
            <a:pPr>
              <a:lnSpc>
                <a:spcPct val="100000"/>
              </a:lnSpc>
            </a:pPr>
            <a:r>
              <a:rPr lang="en-US" sz="1125" spc="75">
                <a:solidFill>
                  <a:srgbClr val="B9CDF0"/>
                </a:solidFill>
                <a:latin typeface="Microsoft YaHei"/>
                <a:ea typeface="Microsoft YaHei"/>
              </a:rPr>
              <a:t>ISAD · INFORMATION SYSTEMS ANALYSIS &amp; DESIGN</a:t>
            </a:r>
            <a:endParaRPr/>
          </a:p>
        </p:txBody>
      </p:sp>
      <p:sp>
        <p:nvSpPr>
          <p:cNvPr id="260" name="" descr="{&quot;isTemplate&quot;:true,&quot;type&quot;:&quot;text&quot;}"/>
          <p:cNvSpPr txBox="1"/>
          <p:nvPr/>
        </p:nvSpPr>
        <p:spPr>
          <a:xfrm rot="0" flipH="0" flipV="0">
            <a:off x="9629775" y="257175"/>
            <a:ext cx="2181225" cy="171450"/>
          </a:xfrm>
          <a:prstGeom prst="rect"/>
        </p:spPr>
        <p:txBody>
          <a:bodyPr wrap="none" lIns="0" tIns="0" rIns="0" bIns="0"/>
          <a:p>
            <a:pPr>
              <a:lnSpc>
                <a:spcPct val="100000"/>
              </a:lnSpc>
            </a:pPr>
            <a:r>
              <a:rPr lang="en-US" sz="1125">
                <a:solidFill>
                  <a:srgbClr val="B9CDF0"/>
                </a:solidFill>
                <a:latin typeface="Microsoft YaHei"/>
                <a:ea typeface="Microsoft YaHei"/>
              </a:rPr>
              <a:t>W04 · THE USE CASE DIAGRAM</a:t>
            </a:r>
            <a:endParaRPr/>
          </a:p>
        </p:txBody>
      </p:sp>
      <p:sp>
        <p:nvSpPr>
          <p:cNvPr id="261" name="" descr="{&quot;isTemplate&quot;:true,&quot;type&quot;:&quot;text&quot;}"/>
          <p:cNvSpPr txBox="1"/>
          <p:nvPr/>
        </p:nvSpPr>
        <p:spPr>
          <a:xfrm rot="0" flipH="0" flipV="0">
            <a:off x="381000" y="819150"/>
            <a:ext cx="4238625" cy="333375"/>
          </a:xfrm>
          <a:prstGeom prst="rect"/>
        </p:spPr>
        <p:txBody>
          <a:bodyPr wrap="none" lIns="0" tIns="0" rIns="0" bIns="0"/>
          <a:p>
            <a:pPr>
              <a:lnSpc>
                <a:spcPct val="100000"/>
              </a:lnSpc>
            </a:pPr>
            <a:r>
              <a:rPr lang="en-US" sz="2175" b="1">
                <a:solidFill>
                  <a:srgbClr val="0E3F8C"/>
                </a:solidFill>
                <a:latin typeface="Microsoft YaHei"/>
                <a:ea typeface="Microsoft YaHei"/>
              </a:rPr>
              <a:t>Three Mistakes Everyone Makes</a:t>
            </a:r>
            <a:endParaRPr/>
          </a:p>
        </p:txBody>
      </p:sp>
      <p:sp>
        <p:nvSpPr>
          <p:cNvPr id="262" name="" descr="{&quot;isTemplate&quot;:true,&quot;type&quot;:&quot;text&quot;}"/>
          <p:cNvSpPr txBox="1"/>
          <p:nvPr/>
        </p:nvSpPr>
        <p:spPr>
          <a:xfrm rot="0" flipH="0" flipV="0">
            <a:off x="11401425" y="904875"/>
            <a:ext cx="409575" cy="161925"/>
          </a:xfrm>
          <a:prstGeom prst="rect"/>
        </p:spPr>
        <p:txBody>
          <a:bodyPr wrap="none" lIns="0" tIns="0" rIns="0" bIns="0"/>
          <a:p>
            <a:pPr>
              <a:lnSpc>
                <a:spcPct val="100000"/>
              </a:lnSpc>
            </a:pPr>
            <a:r>
              <a:rPr lang="en-US" sz="1050" b="1">
                <a:solidFill>
                  <a:srgbClr val="1E4FA8"/>
                </a:solidFill>
                <a:latin typeface="Microsoft YaHei"/>
                <a:ea typeface="Microsoft YaHei"/>
              </a:rPr>
              <a:t>19 / 38</a:t>
            </a:r>
            <a:endParaRPr/>
          </a:p>
        </p:txBody>
      </p:sp>
      <p:sp>
        <p:nvSpPr>
          <p:cNvPr id="263" name=""/>
          <p:cNvSpPr/>
          <p:nvPr/>
        </p:nvSpPr>
        <p:spPr>
          <a:xfrm rot="0" flipH="0" flipV="0">
            <a:off x="1581150" y="2066925"/>
            <a:ext cx="9086850" cy="1123950"/>
          </a:xfrm>
          <a:prstGeom prst="roundRect">
            <a:avLst>
              <a:gd name="adj" fmla="val 8475"/>
            </a:avLst>
          </a:prstGeom>
          <a:solidFill>
            <a:srgbClr val="F0F5FC"/>
          </a:solidFill>
          <a:ln/>
        </p:spPr>
        <p:txBody>
          <a:bodyPr/>
          <a:p/>
        </p:txBody>
      </p:sp>
      <p:sp>
        <p:nvSpPr>
          <p:cNvPr id="264" name=""/>
          <p:cNvSpPr/>
          <p:nvPr/>
        </p:nvSpPr>
        <p:spPr>
          <a:xfrm rot="0" flipH="0" flipV="0">
            <a:off x="1581150" y="2066925"/>
            <a:ext cx="9086850" cy="1123950"/>
          </a:xfrm>
          <a:custGeom>
            <a:pathLst>
              <a:path w="954" h="118">
                <a:moveTo>
                  <a:pt x="10" y="0"/>
                </a:moveTo>
                <a:cubicBezTo>
                  <a:pt x="8" y="0"/>
                  <a:pt x="6" y="2"/>
                  <a:pt x="6" y="4"/>
                </a:cubicBezTo>
                <a:lnTo>
                  <a:pt x="6" y="114"/>
                </a:lnTo>
                <a:cubicBezTo>
                  <a:pt x="6" y="116"/>
                  <a:pt x="8" y="118"/>
                  <a:pt x="10" y="118"/>
                </a:cubicBezTo>
                <a:cubicBezTo>
                  <a:pt x="4" y="118"/>
                  <a:pt x="0" y="113"/>
                  <a:pt x="0" y="108"/>
                </a:cubicBezTo>
                <a:lnTo>
                  <a:pt x="0" y="10"/>
                </a:lnTo>
                <a:cubicBezTo>
                  <a:pt x="0" y="5"/>
                  <a:pt x="4" y="0"/>
                  <a:pt x="10" y="0"/>
                </a:cubicBezTo>
                <a:close/>
              </a:path>
            </a:pathLst>
          </a:custGeom>
          <a:solidFill>
            <a:srgbClr val="D9534F"/>
          </a:solidFill>
          <a:ln/>
        </p:spPr>
        <p:txBody>
          <a:bodyPr/>
          <a:p/>
        </p:txBody>
      </p:sp>
      <p:sp>
        <p:nvSpPr>
          <p:cNvPr id="265" name="" descr="{&quot;isTemplate&quot;:true,&quot;type&quot;:&quot;text&quot;}"/>
          <p:cNvSpPr txBox="1"/>
          <p:nvPr/>
        </p:nvSpPr>
        <p:spPr>
          <a:xfrm rot="0" flipH="0" flipV="0">
            <a:off x="1866900" y="2257425"/>
            <a:ext cx="8515350" cy="742950"/>
          </a:xfrm>
          <a:prstGeom prst="rect"/>
        </p:spPr>
        <p:txBody>
          <a:bodyPr wrap="none" lIns="0" tIns="0" rIns="0" bIns="0"/>
          <a:p>
            <a:pPr algn="ctr">
              <a:lnSpc>
                <a:spcPct val="140000"/>
              </a:lnSpc>
            </a:pPr>
            <a:r>
              <a:rPr lang="en-US" sz="1725" b="1">
                <a:solidFill>
                  <a:srgbClr val="0E3F8C"/>
                </a:solidFill>
                <a:latin typeface="Microsoft YaHei"/>
                <a:ea typeface="Microsoft YaHei"/>
              </a:rPr>
              <a:t>All three come from the same habit: describing what the system does</a:t>
            </a:r>
            <a:endParaRPr/>
          </a:p>
          <a:p>
            <a:pPr algn="ctr">
              <a:lnSpc>
                <a:spcPct val="140000"/>
              </a:lnSpc>
            </a:pPr>
            <a:r>
              <a:rPr lang="en-US" sz="1725" b="1">
                <a:solidFill>
                  <a:srgbClr val="0E3F8C"/>
                </a:solidFill>
                <a:latin typeface="Microsoft YaHei"/>
                <a:ea typeface="Microsoft YaHei"/>
              </a:rPr>
              <a:t>instead of what the actor gets.</a:t>
            </a:r>
            <a:endParaRPr/>
          </a:p>
        </p:txBody>
      </p:sp>
      <p:sp>
        <p:nvSpPr>
          <p:cNvPr id="266" name=""/>
          <p:cNvSpPr/>
          <p:nvPr/>
        </p:nvSpPr>
        <p:spPr>
          <a:xfrm rot="0" flipH="0" flipV="0">
            <a:off x="1524000" y="3381375"/>
            <a:ext cx="2933700" cy="2257425"/>
          </a:xfrm>
          <a:prstGeom prst="roundRect">
            <a:avLst>
              <a:gd name="adj" fmla="val 4219"/>
            </a:avLst>
          </a:prstGeom>
          <a:solidFill>
            <a:srgbClr val="FFFFFF"/>
          </a:solidFill>
          <a:ln w="12700">
            <a:solidFill>
              <a:srgbClr val="D6DCE5"/>
            </a:solidFill>
            <a:prstDash val="solid"/>
          </a:ln>
        </p:spPr>
        <p:txBody>
          <a:bodyPr/>
          <a:p/>
        </p:txBody>
      </p:sp>
      <p:pic>
        <p:nvPicPr>
          <p:cNvPr id="267" name=""/>
          <p:cNvPicPr>
            <a:picLocks noChangeAspect="1"/>
          </p:cNvPicPr>
          <p:nvPr/>
        </p:nvPicPr>
        <p:blipFill>
          <a:blip>
            <a:extLst>
              <a:ext uri="{96DAC541-7B7A-43D3-8B79-37D633B846F1}">
                <asvg:svgBlip r:embed="rId1"/>
              </a:ext>
            </a:extLst>
          </a:blip>
          <a:stretch>
            <a:fillRect/>
          </a:stretch>
        </p:blipFill>
        <p:spPr>
          <a:xfrm rot="0" flipH="0" flipV="0">
            <a:off x="1695450" y="3571875"/>
            <a:ext cx="190500" cy="190500"/>
          </a:xfrm>
          <a:prstGeom prst="rect">
            <a:avLst/>
          </a:prstGeom>
          <a:ln/>
        </p:spPr>
      </p:pic>
      <p:sp>
        <p:nvSpPr>
          <p:cNvPr id="268" name="" descr="{&quot;isTemplate&quot;:true,&quot;type&quot;:&quot;text&quot;}"/>
          <p:cNvSpPr txBox="1"/>
          <p:nvPr/>
        </p:nvSpPr>
        <p:spPr>
          <a:xfrm rot="0" flipH="0" flipV="0">
            <a:off x="1962150" y="3571875"/>
            <a:ext cx="2209800" cy="190500"/>
          </a:xfrm>
          <a:prstGeom prst="rect"/>
        </p:spPr>
        <p:txBody>
          <a:bodyPr wrap="none" lIns="0" tIns="0" rIns="0" bIns="0"/>
          <a:p>
            <a:pPr>
              <a:lnSpc>
                <a:spcPct val="100000"/>
              </a:lnSpc>
            </a:pPr>
            <a:r>
              <a:rPr lang="en-US" sz="1200" b="1">
                <a:solidFill>
                  <a:srgbClr val="D9534F"/>
                </a:solidFill>
                <a:latin typeface="Microsoft YaHei"/>
                <a:ea typeface="Microsoft YaHei"/>
              </a:rPr>
              <a:t>01 · Functional decomposition</a:t>
            </a:r>
            <a:endParaRPr/>
          </a:p>
        </p:txBody>
      </p:sp>
      <p:sp>
        <p:nvSpPr>
          <p:cNvPr id="269" name=""/>
          <p:cNvSpPr/>
          <p:nvPr/>
        </p:nvSpPr>
        <p:spPr>
          <a:xfrm rot="0" flipH="0" flipV="0">
            <a:off x="1695450" y="3838575"/>
            <a:ext cx="2590800" cy="619125"/>
          </a:xfrm>
          <a:prstGeom prst="roundRect">
            <a:avLst>
              <a:gd name="adj" fmla="val 9231"/>
            </a:avLst>
          </a:prstGeom>
          <a:solidFill>
            <a:srgbClr val="FDF3F3"/>
          </a:solidFill>
          <a:ln/>
        </p:spPr>
        <p:txBody>
          <a:bodyPr/>
          <a:p/>
        </p:txBody>
      </p:sp>
      <p:sp>
        <p:nvSpPr>
          <p:cNvPr id="270" name="" descr="{&quot;isTemplate&quot;:true,&quot;type&quot;:&quot;text&quot;}"/>
          <p:cNvSpPr txBox="1"/>
          <p:nvPr/>
        </p:nvSpPr>
        <p:spPr>
          <a:xfrm rot="0" flipH="0" flipV="0">
            <a:off x="1809750" y="3933825"/>
            <a:ext cx="2362200" cy="428625"/>
          </a:xfrm>
          <a:prstGeom prst="rect"/>
        </p:spPr>
        <p:txBody>
          <a:bodyPr wrap="square" lIns="0" tIns="0" rIns="0" bIns="0">
            <a:normAutofit/>
          </a:bodyPr>
          <a:p>
            <a:pPr>
              <a:lnSpc>
                <a:spcPct val="150000"/>
              </a:lnSpc>
            </a:pPr>
            <a:r>
              <a:rPr lang="en-US" sz="938">
                <a:solidFill>
                  <a:srgbClr val="4A5568"/>
                </a:solidFill>
                <a:latin typeface="Microsoft YaHei"/>
                <a:ea typeface="Microsoft YaHei"/>
              </a:rPr>
              <a:t>Enter Address → Choose Restaurant → Add Item → Confirm → Pay</a:t>
            </a:r>
            <a:endParaRPr/>
          </a:p>
        </p:txBody>
      </p:sp>
      <p:sp>
        <p:nvSpPr>
          <p:cNvPr id="271" name="" descr="{&quot;isTemplate&quot;:true,&quot;type&quot;:&quot;text&quot;}"/>
          <p:cNvSpPr txBox="1"/>
          <p:nvPr/>
        </p:nvSpPr>
        <p:spPr>
          <a:xfrm rot="0" flipH="0" flipV="0">
            <a:off x="1695450" y="4533900"/>
            <a:ext cx="2590800" cy="914400"/>
          </a:xfrm>
          <a:prstGeom prst="rect"/>
        </p:spPr>
        <p:txBody>
          <a:bodyPr wrap="square" lIns="0" tIns="0" rIns="0" bIns="0">
            <a:normAutofit/>
          </a:bodyPr>
          <a:p>
            <a:pPr>
              <a:lnSpc>
                <a:spcPct val="160000"/>
              </a:lnSpc>
            </a:pPr>
            <a:r>
              <a:rPr lang="en-US" sz="938">
                <a:solidFill>
                  <a:srgbClr val="4A5568"/>
                </a:solidFill>
                <a:latin typeface="Microsoft YaHei"/>
                <a:ea typeface="Microsoft YaHei"/>
              </a:rPr>
              <a:t>Five “use cases” that are really five steps of one. The student has exactly one goal: get lunch. Everything else is a line inside the scenario — Week 05.</a:t>
            </a:r>
            <a:endParaRPr/>
          </a:p>
        </p:txBody>
      </p:sp>
      <p:sp>
        <p:nvSpPr>
          <p:cNvPr id="272" name=""/>
          <p:cNvSpPr/>
          <p:nvPr/>
        </p:nvSpPr>
        <p:spPr>
          <a:xfrm rot="0" flipH="0" flipV="0">
            <a:off x="4629150" y="3381375"/>
            <a:ext cx="2933700" cy="2257425"/>
          </a:xfrm>
          <a:prstGeom prst="roundRect">
            <a:avLst>
              <a:gd name="adj" fmla="val 4219"/>
            </a:avLst>
          </a:prstGeom>
          <a:solidFill>
            <a:srgbClr val="FFFFFF"/>
          </a:solidFill>
          <a:ln w="12700">
            <a:solidFill>
              <a:srgbClr val="D6DCE5"/>
            </a:solidFill>
            <a:prstDash val="solid"/>
          </a:ln>
        </p:spPr>
        <p:txBody>
          <a:bodyPr/>
          <a:p/>
        </p:txBody>
      </p:sp>
      <p:pic>
        <p:nvPicPr>
          <p:cNvPr id="273" name=""/>
          <p:cNvPicPr>
            <a:picLocks noChangeAspect="1"/>
          </p:cNvPicPr>
          <p:nvPr/>
        </p:nvPicPr>
        <p:blipFill>
          <a:blip>
            <a:extLst>
              <a:ext uri="{96DAC541-7B7A-43D3-8B79-37D633B846F1}">
                <asvg:svgBlip r:embed="rId2"/>
              </a:ext>
            </a:extLst>
          </a:blip>
          <a:stretch>
            <a:fillRect/>
          </a:stretch>
        </p:blipFill>
        <p:spPr>
          <a:xfrm rot="0" flipH="0" flipV="0">
            <a:off x="4800600" y="3571875"/>
            <a:ext cx="190500" cy="190500"/>
          </a:xfrm>
          <a:prstGeom prst="rect">
            <a:avLst/>
          </a:prstGeom>
          <a:ln/>
        </p:spPr>
      </p:pic>
      <p:sp>
        <p:nvSpPr>
          <p:cNvPr id="274" name="" descr="{&quot;isTemplate&quot;:true,&quot;type&quot;:&quot;text&quot;}"/>
          <p:cNvSpPr txBox="1"/>
          <p:nvPr/>
        </p:nvSpPr>
        <p:spPr>
          <a:xfrm rot="0" flipH="0" flipV="0">
            <a:off x="5067300" y="3571875"/>
            <a:ext cx="1733550" cy="190500"/>
          </a:xfrm>
          <a:prstGeom prst="rect"/>
        </p:spPr>
        <p:txBody>
          <a:bodyPr wrap="none" lIns="0" tIns="0" rIns="0" bIns="0"/>
          <a:p>
            <a:pPr>
              <a:lnSpc>
                <a:spcPct val="100000"/>
              </a:lnSpc>
            </a:pPr>
            <a:r>
              <a:rPr lang="en-US" sz="1200" b="1">
                <a:solidFill>
                  <a:srgbClr val="D9534F"/>
                </a:solidFill>
                <a:latin typeface="Microsoft YaHei"/>
                <a:ea typeface="Microsoft YaHei"/>
              </a:rPr>
              <a:t>02 · CRUD as use cases</a:t>
            </a:r>
            <a:endParaRPr/>
          </a:p>
        </p:txBody>
      </p:sp>
      <p:sp>
        <p:nvSpPr>
          <p:cNvPr id="275" name=""/>
          <p:cNvSpPr/>
          <p:nvPr/>
        </p:nvSpPr>
        <p:spPr>
          <a:xfrm rot="0" flipH="0" flipV="0">
            <a:off x="4800600" y="3838575"/>
            <a:ext cx="2590800" cy="619125"/>
          </a:xfrm>
          <a:prstGeom prst="roundRect">
            <a:avLst>
              <a:gd name="adj" fmla="val 9231"/>
            </a:avLst>
          </a:prstGeom>
          <a:solidFill>
            <a:srgbClr val="FDF3F3"/>
          </a:solidFill>
          <a:ln/>
        </p:spPr>
        <p:txBody>
          <a:bodyPr/>
          <a:p/>
        </p:txBody>
      </p:sp>
      <p:sp>
        <p:nvSpPr>
          <p:cNvPr id="276" name="" descr="{&quot;isTemplate&quot;:true,&quot;type&quot;:&quot;text&quot;}"/>
          <p:cNvSpPr txBox="1"/>
          <p:nvPr/>
        </p:nvSpPr>
        <p:spPr>
          <a:xfrm rot="0" flipH="0" flipV="0">
            <a:off x="4914900" y="3933825"/>
            <a:ext cx="2362200" cy="428625"/>
          </a:xfrm>
          <a:prstGeom prst="rect"/>
        </p:spPr>
        <p:txBody>
          <a:bodyPr wrap="square" lIns="0" tIns="0" rIns="0" bIns="0">
            <a:normAutofit/>
          </a:bodyPr>
          <a:p>
            <a:pPr>
              <a:lnSpc>
                <a:spcPct val="150000"/>
              </a:lnSpc>
            </a:pPr>
            <a:r>
              <a:rPr lang="en-US" sz="938">
                <a:solidFill>
                  <a:srgbClr val="4A5568"/>
                </a:solidFill>
                <a:latin typeface="Microsoft YaHei"/>
                <a:ea typeface="Microsoft YaHei"/>
              </a:rPr>
              <a:t>Create Order · Read Order · Update Order · Delete Order</a:t>
            </a:r>
            <a:endParaRPr/>
          </a:p>
        </p:txBody>
      </p:sp>
      <p:sp>
        <p:nvSpPr>
          <p:cNvPr id="277" name="" descr="{&quot;isTemplate&quot;:true,&quot;type&quot;:&quot;text&quot;}"/>
          <p:cNvSpPr txBox="1"/>
          <p:nvPr/>
        </p:nvSpPr>
        <p:spPr>
          <a:xfrm rot="0" flipH="0" flipV="0">
            <a:off x="4800600" y="4533900"/>
            <a:ext cx="2590800" cy="685800"/>
          </a:xfrm>
          <a:prstGeom prst="rect"/>
        </p:spPr>
        <p:txBody>
          <a:bodyPr wrap="square" lIns="0" tIns="0" rIns="0" bIns="0">
            <a:normAutofit/>
          </a:bodyPr>
          <a:p>
            <a:pPr>
              <a:lnSpc>
                <a:spcPct val="160000"/>
              </a:lnSpc>
            </a:pPr>
            <a:r>
              <a:rPr lang="en-US" sz="938">
                <a:solidFill>
                  <a:srgbClr val="4A5568"/>
                </a:solidFill>
                <a:latin typeface="Microsoft YaHei"/>
                <a:ea typeface="Microsoft YaHei"/>
              </a:rPr>
              <a:t>You have modelled a table. Ask who wakes up wanting this: nobody wants to “update an order”. They want to change the address, or cancel it.</a:t>
            </a:r>
            <a:endParaRPr/>
          </a:p>
        </p:txBody>
      </p:sp>
      <p:sp>
        <p:nvSpPr>
          <p:cNvPr id="278" name=""/>
          <p:cNvSpPr/>
          <p:nvPr/>
        </p:nvSpPr>
        <p:spPr>
          <a:xfrm rot="0" flipH="0" flipV="0">
            <a:off x="7734300" y="3381375"/>
            <a:ext cx="2933700" cy="2257425"/>
          </a:xfrm>
          <a:prstGeom prst="roundRect">
            <a:avLst>
              <a:gd name="adj" fmla="val 4219"/>
            </a:avLst>
          </a:prstGeom>
          <a:solidFill>
            <a:srgbClr val="FFFFFF"/>
          </a:solidFill>
          <a:ln w="12700">
            <a:solidFill>
              <a:srgbClr val="D6DCE5"/>
            </a:solidFill>
            <a:prstDash val="solid"/>
          </a:ln>
        </p:spPr>
        <p:txBody>
          <a:bodyPr/>
          <a:p/>
        </p:txBody>
      </p:sp>
      <p:pic>
        <p:nvPicPr>
          <p:cNvPr id="279" name=""/>
          <p:cNvPicPr>
            <a:picLocks noChangeAspect="1"/>
          </p:cNvPicPr>
          <p:nvPr/>
        </p:nvPicPr>
        <p:blipFill>
          <a:blip>
            <a:extLst>
              <a:ext uri="{96DAC541-7B7A-43D3-8B79-37D633B846F1}">
                <asvg:svgBlip r:embed="rId3"/>
              </a:ext>
            </a:extLst>
          </a:blip>
          <a:stretch>
            <a:fillRect/>
          </a:stretch>
        </p:blipFill>
        <p:spPr>
          <a:xfrm rot="0" flipH="0" flipV="0">
            <a:off x="7905750" y="3571875"/>
            <a:ext cx="190500" cy="190500"/>
          </a:xfrm>
          <a:prstGeom prst="rect">
            <a:avLst/>
          </a:prstGeom>
          <a:ln/>
        </p:spPr>
      </p:pic>
      <p:sp>
        <p:nvSpPr>
          <p:cNvPr id="280" name="" descr="{&quot;isTemplate&quot;:true,&quot;type&quot;:&quot;text&quot;}"/>
          <p:cNvSpPr txBox="1"/>
          <p:nvPr/>
        </p:nvSpPr>
        <p:spPr>
          <a:xfrm rot="0" flipH="0" flipV="0">
            <a:off x="8172450" y="3571875"/>
            <a:ext cx="2047875" cy="190500"/>
          </a:xfrm>
          <a:prstGeom prst="rect"/>
        </p:spPr>
        <p:txBody>
          <a:bodyPr wrap="none" lIns="0" tIns="0" rIns="0" bIns="0"/>
          <a:p>
            <a:pPr>
              <a:lnSpc>
                <a:spcPct val="100000"/>
              </a:lnSpc>
            </a:pPr>
            <a:r>
              <a:rPr lang="en-US" sz="1200" b="1">
                <a:solidFill>
                  <a:srgbClr val="D9534F"/>
                </a:solidFill>
                <a:latin typeface="Microsoft YaHei"/>
                <a:ea typeface="Microsoft YaHei"/>
              </a:rPr>
              <a:t>03 · External systems inside</a:t>
            </a:r>
            <a:endParaRPr/>
          </a:p>
        </p:txBody>
      </p:sp>
      <p:sp>
        <p:nvSpPr>
          <p:cNvPr id="281" name=""/>
          <p:cNvSpPr/>
          <p:nvPr/>
        </p:nvSpPr>
        <p:spPr>
          <a:xfrm rot="0" flipH="0" flipV="0">
            <a:off x="7905750" y="3838575"/>
            <a:ext cx="2590800" cy="619125"/>
          </a:xfrm>
          <a:prstGeom prst="roundRect">
            <a:avLst>
              <a:gd name="adj" fmla="val 9231"/>
            </a:avLst>
          </a:prstGeom>
          <a:solidFill>
            <a:srgbClr val="FDF3F3"/>
          </a:solidFill>
          <a:ln/>
        </p:spPr>
        <p:txBody>
          <a:bodyPr/>
          <a:p/>
        </p:txBody>
      </p:sp>
      <p:sp>
        <p:nvSpPr>
          <p:cNvPr id="282" name="" descr="{&quot;isTemplate&quot;:true,&quot;type&quot;:&quot;text&quot;}"/>
          <p:cNvSpPr txBox="1"/>
          <p:nvPr/>
        </p:nvSpPr>
        <p:spPr>
          <a:xfrm rot="0" flipH="0" flipV="0">
            <a:off x="8020050" y="3933825"/>
            <a:ext cx="2362200" cy="428625"/>
          </a:xfrm>
          <a:prstGeom prst="rect"/>
        </p:spPr>
        <p:txBody>
          <a:bodyPr wrap="square" lIns="0" tIns="0" rIns="0" bIns="0">
            <a:normAutofit/>
          </a:bodyPr>
          <a:p>
            <a:pPr>
              <a:lnSpc>
                <a:spcPct val="150000"/>
              </a:lnSpc>
            </a:pPr>
            <a:r>
              <a:rPr lang="en-US" sz="938">
                <a:solidFill>
                  <a:srgbClr val="4A5568"/>
                </a:solidFill>
                <a:latin typeface="Microsoft YaHei"/>
                <a:ea typeface="Microsoft YaHei"/>
              </a:rPr>
              <a:t>Process Payment · Send SMS · Charge Campus Card</a:t>
            </a:r>
            <a:endParaRPr/>
          </a:p>
        </p:txBody>
      </p:sp>
      <p:sp>
        <p:nvSpPr>
          <p:cNvPr id="283" name="" descr="{&quot;isTemplate&quot;:true,&quot;type&quot;:&quot;text&quot;}"/>
          <p:cNvSpPr txBox="1"/>
          <p:nvPr/>
        </p:nvSpPr>
        <p:spPr>
          <a:xfrm rot="0" flipH="0" flipV="0">
            <a:off x="7905750" y="4533900"/>
            <a:ext cx="2590800" cy="685800"/>
          </a:xfrm>
          <a:prstGeom prst="rect"/>
        </p:spPr>
        <p:txBody>
          <a:bodyPr wrap="square" lIns="0" tIns="0" rIns="0" bIns="0">
            <a:normAutofit/>
          </a:bodyPr>
          <a:p>
            <a:pPr>
              <a:lnSpc>
                <a:spcPct val="160000"/>
              </a:lnSpc>
            </a:pPr>
            <a:r>
              <a:rPr lang="en-US" sz="938">
                <a:solidFill>
                  <a:srgbClr val="4A5568"/>
                </a:solidFill>
                <a:latin typeface="Microsoft YaHei"/>
                <a:ea typeface="Microsoft YaHei"/>
              </a:rPr>
              <a:t>If you cannot change how it behaves, it is not your use case. Those three are actors outside the box that serve you.</a:t>
            </a:r>
            <a:endParaRPr/>
          </a:p>
        </p:txBody>
      </p:sp>
      <p:sp>
        <p:nvSpPr>
          <p:cNvPr id="284" name=""/>
          <p:cNvSpPr/>
          <p:nvPr/>
        </p:nvSpPr>
        <p:spPr>
          <a:xfrm rot="0" flipH="0" flipV="0">
            <a:off x="0" y="6419850"/>
            <a:ext cx="12192000" cy="438150"/>
          </a:xfrm>
          <a:prstGeom prst="rect">
            <a:avLst/>
          </a:prstGeom>
          <a:solidFill>
            <a:srgbClr val="0E3F8C"/>
          </a:solidFill>
          <a:ln/>
        </p:spPr>
        <p:txBody>
          <a:bodyPr/>
          <a:p/>
        </p:txBody>
      </p:sp>
      <p:sp>
        <p:nvSpPr>
          <p:cNvPr id="285" name="" descr="{&quot;isTemplate&quot;:true,&quot;type&quot;:&quot;text&quot;}"/>
          <p:cNvSpPr txBox="1"/>
          <p:nvPr/>
        </p:nvSpPr>
        <p:spPr>
          <a:xfrm rot="0" flipH="0" flipV="0">
            <a:off x="2047875" y="6543675"/>
            <a:ext cx="8096250" cy="190500"/>
          </a:xfrm>
          <a:prstGeom prst="rect"/>
        </p:spPr>
        <p:txBody>
          <a:bodyPr wrap="none" lIns="0" tIns="0" rIns="0" bIns="0"/>
          <a:p>
            <a:pPr>
              <a:lnSpc>
                <a:spcPct val="100000"/>
              </a:lnSpc>
            </a:pPr>
            <a:r>
              <a:rPr lang="en-US" sz="1200" b="1">
                <a:solidFill>
                  <a:srgbClr val="FFFFFF"/>
                </a:solidFill>
                <a:latin typeface="Microsoft YaHei"/>
                <a:ea typeface="Microsoft YaHei"/>
              </a:rPr>
              <a:t>Count your ellipses. Six to twelve is a healthy diagram; forty means you have modelled the menu, not the goals.</a:t>
            </a:r>
            <a:endParaRPr/>
          </a:p>
        </p:txBody>
      </p:sp>
    </p:spTree>
  </p:cSld>
</p:sld>
</file>

<file path=ppt/slides/slide20.xml><?xml version="1.0" encoding="utf-8"?>
<p:sld xmlns:a="http://schemas.openxmlformats.org/drawingml/2006/main" xmlns:p="http://schemas.openxmlformats.org/presentationml/2006/main">
  <p:cSld>
    <p:spTree>
      <p:nvGrpSpPr>
        <p:cNvPr id="323" name="" descr="&lt;Slide style={{ background: '#0E3F8C', padding: 0 }}&gt;&#10;  &lt;Box style={{ flexDirection: 'row', height: '100%', position: 'relative' }}&gt;&#10;    &lt;Box style={{ position: 'absolute', top: 0, left: 0, right: 0, height: 8, background: '#1E4FA8' }} /&gt;&#10;    &lt;Box style={{ width: 300, justifyContent: 'center', alignItems: 'center', borderRight: '1px solid #2B5793' }}&gt;&#10;      &lt;Text style={{ fontSize: 220, fontWeight: 'bold', color: '#3D7BD9', fontFamily: 'Georgia, serif', lineHeight: 1 }}&gt;04&lt;/Text&gt;&#10;    &lt;/Box&gt;&#10;    &lt;Box style={{ flex: 1, padding: '70px 64px', flexDirection: 'column', justifyContent: 'center' }}&gt;&#10;      &lt;Text style={{ fontSize: 15, color: '#7FA2D6', letterSpacing: 2, marginBottom: 18 }}&gt;PART 1 · LECTURE&lt;/Text&gt;&#10;      &lt;Text style={{ fontSize: 46, fontWeight: 'bold', color: '#FFFFFF', lineHeight: 1.18 }}&gt;Include&lt;br /&gt;vs. Extend&lt;/Text&gt;&#10;      &lt;Box style={{ width: 64, height: 4, background: '#FFC107', marginTop: 26, marginBottom: 26 }} /&gt;&#10;      &lt;Box style={{ flexDirection: 'column', gap: 12 }}&gt;&#10;        {[&#10;          'include: always happens, the base cannot finish without it',&#10;          'extend: may happen, the base is complete either way',&#10;          'The arrow direction is the part everybody gets wrong',&#10;        ].map((t) =&gt; (&#10;          &lt;Box key={t} style={{ flexDirection: 'row', alignItems: 'center', gap: 12 }}&gt;&#10;            &lt;Box style={{ width: 8, height: 8, borderRadius: 4, background: '#3D7BD9' }} /&gt;&#10;            &lt;Text style={{ fontSize: 20, color: '#C5D4EA' }}&gt;{t}&lt;/Text&gt;&#10;          &lt;/Box&gt;&#10;        ))}&#10;      &lt;/Box&gt;&#10;    &lt;/Box&gt;&#10;  &lt;/Box&gt;&#10;&lt;/Slide&gt;"/>
        <p:cNvGrpSpPr/>
        <p:nvPr/>
      </p:nvGrpSpPr>
      <p:grpSpPr>
        <a:xfrm>
          <a:off x="0" y="0"/>
          <a:ext cx="0" cy="0"/>
          <a:chOff x="0" y="0"/>
          <a:chExt cx="0" cy="0"/>
        </a:xfrm>
      </p:grpSpPr>
      <p:sp>
        <p:nvSpPr>
          <p:cNvPr id="324" name=""/>
          <p:cNvSpPr/>
          <p:nvPr/>
        </p:nvSpPr>
        <p:spPr>
          <a:xfrm rot="0" flipH="0" flipV="0">
            <a:off x="0" y="0"/>
            <a:ext cx="12192000" cy="6858000"/>
          </a:xfrm>
          <a:prstGeom prst="rect">
            <a:avLst/>
          </a:prstGeom>
          <a:solidFill>
            <a:srgbClr val="0E3F8C"/>
          </a:solidFill>
          <a:ln/>
        </p:spPr>
        <p:txBody>
          <a:bodyPr/>
          <a:p/>
        </p:txBody>
      </p:sp>
      <p:sp>
        <p:nvSpPr>
          <p:cNvPr id="325" name=""/>
          <p:cNvSpPr/>
          <p:nvPr/>
        </p:nvSpPr>
        <p:spPr>
          <a:xfrm rot="0" flipH="0" flipV="0">
            <a:off x="0" y="0"/>
            <a:ext cx="2857500" cy="6858000"/>
          </a:xfrm>
          <a:custGeom>
            <a:pathLst>
              <a:path w="300" h="720">
                <a:moveTo>
                  <a:pt x="299" y="0"/>
                </a:moveTo>
                <a:lnTo>
                  <a:pt x="300" y="0"/>
                </a:lnTo>
                <a:lnTo>
                  <a:pt x="300" y="720"/>
                </a:lnTo>
                <a:lnTo>
                  <a:pt x="299" y="720"/>
                </a:lnTo>
                <a:close/>
              </a:path>
            </a:pathLst>
          </a:custGeom>
          <a:solidFill>
            <a:srgbClr val="2B5793"/>
          </a:solidFill>
          <a:ln/>
        </p:spPr>
        <p:txBody>
          <a:bodyPr/>
          <a:p/>
        </p:txBody>
      </p:sp>
      <p:sp>
        <p:nvSpPr>
          <p:cNvPr id="326" name="" descr="{&quot;isTemplate&quot;:true,&quot;type&quot;:&quot;text&quot;}"/>
          <p:cNvSpPr txBox="1"/>
          <p:nvPr/>
        </p:nvSpPr>
        <p:spPr>
          <a:xfrm rot="0" flipH="0" flipV="0">
            <a:off x="9525" y="2171700"/>
            <a:ext cx="2838450" cy="2514600"/>
          </a:xfrm>
          <a:prstGeom prst="rect"/>
        </p:spPr>
        <p:txBody>
          <a:bodyPr wrap="none" lIns="0" tIns="0" rIns="0" bIns="0"/>
          <a:p>
            <a:pPr>
              <a:lnSpc>
                <a:spcPct val="100000"/>
              </a:lnSpc>
            </a:pPr>
            <a:r>
              <a:rPr lang="en-US" sz="16500" b="1">
                <a:solidFill>
                  <a:srgbClr val="3D7BD9"/>
                </a:solidFill>
                <a:latin typeface="Georgia"/>
                <a:ea typeface="Georgia"/>
              </a:rPr>
              <a:t>04</a:t>
            </a:r>
            <a:endParaRPr/>
          </a:p>
        </p:txBody>
      </p:sp>
      <p:sp>
        <p:nvSpPr>
          <p:cNvPr id="327" name="" descr="{&quot;isTemplate&quot;:true,&quot;type&quot;:&quot;text&quot;}"/>
          <p:cNvSpPr txBox="1"/>
          <p:nvPr/>
        </p:nvSpPr>
        <p:spPr>
          <a:xfrm rot="0" flipH="0" flipV="0">
            <a:off x="3467100" y="1914525"/>
            <a:ext cx="8115300" cy="171450"/>
          </a:xfrm>
          <a:prstGeom prst="rect"/>
        </p:spPr>
        <p:txBody>
          <a:bodyPr wrap="none" lIns="0" tIns="0" rIns="0" bIns="0"/>
          <a:p>
            <a:pPr>
              <a:lnSpc>
                <a:spcPct val="100000"/>
              </a:lnSpc>
            </a:pPr>
            <a:r>
              <a:rPr lang="en-US" sz="1125" spc="150">
                <a:solidFill>
                  <a:srgbClr val="7FA2D6"/>
                </a:solidFill>
                <a:latin typeface="Microsoft YaHei"/>
                <a:ea typeface="Microsoft YaHei"/>
              </a:rPr>
              <a:t>PART 1 · LECTURE</a:t>
            </a:r>
            <a:endParaRPr/>
          </a:p>
        </p:txBody>
      </p:sp>
      <p:sp>
        <p:nvSpPr>
          <p:cNvPr id="328" name="" descr="{&quot;isTemplate&quot;:true,&quot;type&quot;:&quot;text&quot;}"/>
          <p:cNvSpPr txBox="1"/>
          <p:nvPr/>
        </p:nvSpPr>
        <p:spPr>
          <a:xfrm rot="0" flipH="0" flipV="0">
            <a:off x="3467100" y="2257425"/>
            <a:ext cx="8115300" cy="1247775"/>
          </a:xfrm>
          <a:prstGeom prst="rect"/>
        </p:spPr>
        <p:txBody>
          <a:bodyPr wrap="none" lIns="0" tIns="0" rIns="0" bIns="0"/>
          <a:p>
            <a:pPr>
              <a:lnSpc>
                <a:spcPct val="118000"/>
              </a:lnSpc>
            </a:pPr>
            <a:r>
              <a:rPr lang="en-US" sz="3450" b="1">
                <a:solidFill>
                  <a:srgbClr val="FFFFFF"/>
                </a:solidFill>
                <a:latin typeface="Microsoft YaHei"/>
                <a:ea typeface="Microsoft YaHei"/>
              </a:rPr>
              <a:t>Include</a:t>
            </a:r>
            <a:endParaRPr/>
          </a:p>
          <a:p>
            <a:pPr>
              <a:lnSpc>
                <a:spcPct val="118000"/>
              </a:lnSpc>
            </a:pPr>
            <a:r>
              <a:rPr lang="en-US" sz="3450" b="1">
                <a:solidFill>
                  <a:srgbClr val="FFFFFF"/>
                </a:solidFill>
                <a:latin typeface="Microsoft YaHei"/>
                <a:ea typeface="Microsoft YaHei"/>
              </a:rPr>
              <a:t>vs. Extend</a:t>
            </a:r>
            <a:endParaRPr/>
          </a:p>
        </p:txBody>
      </p:sp>
      <p:sp>
        <p:nvSpPr>
          <p:cNvPr id="329" name=""/>
          <p:cNvSpPr/>
          <p:nvPr/>
        </p:nvSpPr>
        <p:spPr>
          <a:xfrm rot="0" flipH="0" flipV="0">
            <a:off x="3467100" y="3752850"/>
            <a:ext cx="609600" cy="38100"/>
          </a:xfrm>
          <a:prstGeom prst="rect">
            <a:avLst/>
          </a:prstGeom>
          <a:solidFill>
            <a:srgbClr val="FFC107"/>
          </a:solidFill>
          <a:ln/>
        </p:spPr>
        <p:txBody>
          <a:bodyPr/>
          <a:p/>
        </p:txBody>
      </p:sp>
      <p:sp>
        <p:nvSpPr>
          <p:cNvPr id="330" name=""/>
          <p:cNvSpPr/>
          <p:nvPr/>
        </p:nvSpPr>
        <p:spPr>
          <a:xfrm rot="0" flipH="0" flipV="0">
            <a:off x="3467100" y="4114800"/>
            <a:ext cx="76200" cy="76200"/>
          </a:xfrm>
          <a:prstGeom prst="roundRect">
            <a:avLst>
              <a:gd name="adj" fmla="val 50000"/>
            </a:avLst>
          </a:prstGeom>
          <a:solidFill>
            <a:srgbClr val="3D7BD9"/>
          </a:solidFill>
          <a:ln/>
        </p:spPr>
        <p:txBody>
          <a:bodyPr/>
          <a:p/>
        </p:txBody>
      </p:sp>
      <p:sp>
        <p:nvSpPr>
          <p:cNvPr id="331" name="" descr="{&quot;isTemplate&quot;:true,&quot;type&quot;:&quot;text&quot;}"/>
          <p:cNvSpPr txBox="1"/>
          <p:nvPr/>
        </p:nvSpPr>
        <p:spPr>
          <a:xfrm rot="0" flipH="0" flipV="0">
            <a:off x="3657600" y="4038600"/>
            <a:ext cx="4848225" cy="228600"/>
          </a:xfrm>
          <a:prstGeom prst="rect"/>
        </p:spPr>
        <p:txBody>
          <a:bodyPr wrap="none" lIns="0" tIns="0" rIns="0" bIns="0"/>
          <a:p>
            <a:pPr>
              <a:lnSpc>
                <a:spcPct val="100000"/>
              </a:lnSpc>
            </a:pPr>
            <a:r>
              <a:rPr lang="en-US" sz="1500">
                <a:solidFill>
                  <a:srgbClr val="C5D4EA"/>
                </a:solidFill>
                <a:latin typeface="Microsoft YaHei"/>
                <a:ea typeface="Microsoft YaHei"/>
              </a:rPr>
              <a:t>include: always happens, the base cannot finish without it</a:t>
            </a:r>
            <a:endParaRPr/>
          </a:p>
        </p:txBody>
      </p:sp>
      <p:sp>
        <p:nvSpPr>
          <p:cNvPr id="332" name=""/>
          <p:cNvSpPr/>
          <p:nvPr/>
        </p:nvSpPr>
        <p:spPr>
          <a:xfrm rot="0" flipH="0" flipV="0">
            <a:off x="3467100" y="4457700"/>
            <a:ext cx="76200" cy="76200"/>
          </a:xfrm>
          <a:prstGeom prst="roundRect">
            <a:avLst>
              <a:gd name="adj" fmla="val 50000"/>
            </a:avLst>
          </a:prstGeom>
          <a:solidFill>
            <a:srgbClr val="3D7BD9"/>
          </a:solidFill>
          <a:ln/>
        </p:spPr>
        <p:txBody>
          <a:bodyPr/>
          <a:p/>
        </p:txBody>
      </p:sp>
      <p:sp>
        <p:nvSpPr>
          <p:cNvPr id="333" name="" descr="{&quot;isTemplate&quot;:true,&quot;type&quot;:&quot;text&quot;}"/>
          <p:cNvSpPr txBox="1"/>
          <p:nvPr/>
        </p:nvSpPr>
        <p:spPr>
          <a:xfrm rot="0" flipH="0" flipV="0">
            <a:off x="3657600" y="4381500"/>
            <a:ext cx="4505325" cy="228600"/>
          </a:xfrm>
          <a:prstGeom prst="rect"/>
        </p:spPr>
        <p:txBody>
          <a:bodyPr wrap="none" lIns="0" tIns="0" rIns="0" bIns="0"/>
          <a:p>
            <a:pPr>
              <a:lnSpc>
                <a:spcPct val="100000"/>
              </a:lnSpc>
            </a:pPr>
            <a:r>
              <a:rPr lang="en-US" sz="1500">
                <a:solidFill>
                  <a:srgbClr val="C5D4EA"/>
                </a:solidFill>
                <a:latin typeface="Microsoft YaHei"/>
                <a:ea typeface="Microsoft YaHei"/>
              </a:rPr>
              <a:t>extend: may happen, the base is complete either way</a:t>
            </a:r>
            <a:endParaRPr/>
          </a:p>
        </p:txBody>
      </p:sp>
      <p:sp>
        <p:nvSpPr>
          <p:cNvPr id="334" name=""/>
          <p:cNvSpPr/>
          <p:nvPr/>
        </p:nvSpPr>
        <p:spPr>
          <a:xfrm rot="0" flipH="0" flipV="0">
            <a:off x="3467100" y="4800600"/>
            <a:ext cx="76200" cy="76200"/>
          </a:xfrm>
          <a:prstGeom prst="roundRect">
            <a:avLst>
              <a:gd name="adj" fmla="val 50000"/>
            </a:avLst>
          </a:prstGeom>
          <a:solidFill>
            <a:srgbClr val="3D7BD9"/>
          </a:solidFill>
          <a:ln/>
        </p:spPr>
        <p:txBody>
          <a:bodyPr/>
          <a:p/>
        </p:txBody>
      </p:sp>
      <p:sp>
        <p:nvSpPr>
          <p:cNvPr id="335" name="" descr="{&quot;isTemplate&quot;:true,&quot;type&quot;:&quot;text&quot;}"/>
          <p:cNvSpPr txBox="1"/>
          <p:nvPr/>
        </p:nvSpPr>
        <p:spPr>
          <a:xfrm rot="0" flipH="0" flipV="0">
            <a:off x="3657600" y="4724400"/>
            <a:ext cx="4438650" cy="228600"/>
          </a:xfrm>
          <a:prstGeom prst="rect"/>
        </p:spPr>
        <p:txBody>
          <a:bodyPr wrap="none" lIns="0" tIns="0" rIns="0" bIns="0"/>
          <a:p>
            <a:pPr>
              <a:lnSpc>
                <a:spcPct val="100000"/>
              </a:lnSpc>
            </a:pPr>
            <a:r>
              <a:rPr lang="en-US" sz="1500">
                <a:solidFill>
                  <a:srgbClr val="C5D4EA"/>
                </a:solidFill>
                <a:latin typeface="Microsoft YaHei"/>
                <a:ea typeface="Microsoft YaHei"/>
              </a:rPr>
              <a:t>The arrow direction is the part everybody gets wrong</a:t>
            </a:r>
            <a:endParaRPr/>
          </a:p>
        </p:txBody>
      </p:sp>
      <p:sp>
        <p:nvSpPr>
          <p:cNvPr id="336" name=""/>
          <p:cNvSpPr/>
          <p:nvPr/>
        </p:nvSpPr>
        <p:spPr>
          <a:xfrm rot="0" flipH="0" flipV="0">
            <a:off x="0" y="0"/>
            <a:ext cx="12192000" cy="76200"/>
          </a:xfrm>
          <a:prstGeom prst="rect">
            <a:avLst/>
          </a:prstGeom>
          <a:solidFill>
            <a:srgbClr val="1E4FA8"/>
          </a:solidFill>
          <a:ln/>
        </p:spPr>
        <p:txBody>
          <a:bodyPr/>
          <a:p/>
        </p:txBody>
      </p:sp>
    </p:spTree>
  </p:cSld>
</p:sld>
</file>

<file path=ppt/slides/slide21.xml><?xml version="1.0" encoding="utf-8"?>
<p:sld xmlns:asvg="http://schemas.microsoft.com/office/drawing/2016/SVG/main" xmlns:a="http://schemas.openxmlformats.org/drawingml/2006/main" xmlns:r="http://schemas.openxmlformats.org/officeDocument/2006/relationships" xmlns:p="http://schemas.openxmlformats.org/presentationml/2006/main" xmlns:mc="http://schemas.openxmlformats.org/markup-compatibility/2006" mc:Ignorable="asvg">
  <p:cSld>
    <p:spTree>
      <p:nvGrpSpPr>
        <p:cNvPr id="337" name="" descr="&lt;Slide style={{ background: '#FFFFFF', padding: 0 }}&gt;&#10;  &lt;Box style={{ height: 72, background: '#1E4FA8', padding: '0 40px', flexDirection: 'row', alignItems: 'center', justifyContent: 'space-between' }}&gt;&#10;    &lt;Text style={{ fontSize: 15, color: '#B9CDF0', letterSpacing: 1 }}&gt;ISAD · INFORMATION SYSTEMS ANALYSIS &amp;amp; DESIGN&lt;/Text&gt;&#10;    &lt;Text style={{ fontSize: 15, color: '#B9CDF0' }}&gt;W04 · INCLUDE &amp;amp; EXTEND&lt;/Text&gt;&#10;  &lt;/Box&gt;&#10;  &lt;Box style={{ padding: '12px 40px 0 40px', flexDirection: 'row', alignItems: 'center', justifyContent: 'space-between' }}&gt;&#10;    &lt;Text style={{ fontSize: 29, fontWeight: 'bold', color: '#0E3F8C' }}&gt;&amp;lt;&amp;lt;include&amp;gt;&amp;gt; — Always Happens&lt;/Text&gt;&#10;    &lt;Text style={{ fontSize: 14, color: '#1E4FA8', fontWeight: 'bold' }}&gt;21 / 38&lt;/Text&gt;&#10;  &lt;/Box&gt;&#10;  &lt;Box style={{ flex: 1, padding: '8px 40px 0 40px', flexDirection: 'row', gap: 26 }}&gt;&#10;    &lt;Box style={{ width: 590, justifyContent: 'center', alignItems: 'center' }}&gt;&#10;      &lt;svg width={590} height={352} viewBox='0 0 590 352'&gt;&#10;        &lt;text x='6' y='16' fill='#8B97A8' fontSize='12'&gt;The base use case reaches out and pulls the other one in — every single time&lt;/text&gt;&#10;&#10;        &lt;rect x='150' y='40' width='320' height='250' rx='6' fill='#FFFFFF' stroke='#1E4FA8' strokeWidth='2' /&gt;&#10;        &lt;text x='310' y='62' textAnchor='middle' fill='#0E3F8C' fontSize='13' fontWeight='bold'&gt;CampusBites&lt;/text&gt;&#10;&#10;        &lt;ellipse cx='310' cy='112' rx='126' ry='27' fill='#F0F5FC' stroke='#1E4FA8' strokeWidth='1.8' /&gt;&#10;        &lt;text x='310' y='117' textAnchor='middle' fill='#1A2230' fontSize='13' fontWeight='bold'&gt;Place Order&lt;/text&gt;&#10;&#10;        &lt;ellipse cx='310' cy='214' rx='126' ry='27' fill='#FFFFFF' stroke='#1E4FA8' strokeWidth='1.5' /&gt;&#10;        &lt;text x='310' y='219' textAnchor='middle' fill='#1A2230' fontSize='13'&gt;Authenticate&lt;/text&gt;&#10;&#10;        &lt;g transform='translate(24,86)'&gt;&#10;          &lt;circle cx='16' cy='16' r='9' fill='none' stroke='#0E3F8C' strokeWidth='2' /&gt;&#10;          &lt;line x1='16' y1='25' x2='16' y2='48' stroke='#0E3F8C' strokeWidth='2' /&gt;&#10;          &lt;line x1='16' y1='33' x2='4' y2='45' stroke='#0E3F8C' strokeWidth='2' /&gt;&#10;          &lt;line x1='16' y1='33' x2='28' y2='45' stroke='#0E3F8C' strokeWidth='2' /&gt;&#10;          &lt;line x1='16' y1='48' x2='5' y2='64' stroke='#0E3F8C' strokeWidth='2' /&gt;&#10;          &lt;line x1='16' y1='48' x2='27' y2='64' stroke='#0E3F8C' strokeWidth='2' /&gt;&#10;          &lt;text x='16' y='80' textAnchor='middle' fill='#0E3F8C' fontSize='12' fontWeight='bold'&gt;Student&lt;/text&gt;&#10;        &lt;/g&gt;&#10;&#10;        &lt;line x1='52' y1='152' x2='188' y2='120' stroke='#1E4FA8' strokeWidth='1.6' /&gt;&#10;&#10;        &lt;line x1='256' y1='130' x2='214' y2='188' stroke='#1E4FA8' strokeWidth='2' strokeDasharray='7 4' /&gt;&#10;        &lt;polygon points='210,192 224,187 213,178' fill='#1E4FA8' /&gt;&#10;        &lt;text x='132' y='170' fill='#1E4FA8' fontSize='11.5' fontWeight='bold'&gt;«include»&lt;/text&gt;&#10;        &lt;text x='132' y='186' fill='#8B97A8' fontSize='10'&gt;arrow leaves the base&lt;/text&gt;&#10;&#10;        &lt;rect x='150' y='304' width='320' height='38' rx='6' fill='#F0F5FC' stroke='#1E4FA8' strokeWidth='1' /&gt;&#10;        &lt;text x='310' y='328' textAnchor='middle' fill='#0E3F8C' fontSize='12.5' fontWeight='bold'&gt;No authentication, no order — the base is incomplete without it&lt;/text&gt;&#10;      &lt;/svg&gt;&#10;    &lt;/Box&gt;&#10;    &lt;Box style={{ flex: 1, flexDirection: 'column', justifyContent: 'center', gap: 12 }}&gt;&#10;      &lt;Box style={{ padding: '15px 17px', background: '#F0F5FC', borderRadius: 9, borderLeft: '4px solid #1E4FA8' }}&gt;&#10;        &lt;Text style={{ fontSize: 16, fontWeight: 'bold', color: '#0E3F8C' }}&gt;The test&lt;/Text&gt;&#10;        &lt;Text style={{ fontSize: 13, color: '#4A5568', lineHeight: 1.6, marginTop: 5 }}&gt;&#10;          Delete the included use case from your head. Can the base still reach its goal? If the answer is no, it is an include.&#10;        &lt;/Text&gt;&#10;      &lt;/Box&gt;&#10;      &lt;Box style={{ padding: '15px 17px', background: '#FFFFFF', borderRadius: 9, border: '1px solid #D6DCE5' }}&gt;&#10;        &lt;Text style={{ fontSize: 16, fontWeight: 'bold', color: '#0E3F8C' }}&gt;It is about reuse, not options&lt;/Text&gt;&#10;        &lt;Text style={{ fontSize: 13, color: '#4A5568', lineHeight: 1.6, marginTop: 5 }}&gt;&#10;          You draw it once because three use cases all need it, and you refuse to write “authenticate the user” three times. That is the whole reason.&#10;        &lt;/Text&gt;&#10;      &lt;/Box&gt;&#10;      &lt;Box style={{ padding: '15px 17px', background: '#FDF3F3', borderRadius: 9, borderLeft: '4px solid #D9534F' }}&gt;&#10;        &lt;Text style={{ fontSize: 16, fontWeight: 'bold', color: '#D9534F' }}&gt;Common misuse&lt;/Text&gt;&#10;        &lt;Text style={{ fontSize: 13, color: '#4A5568', lineHeight: 1.6, marginTop: 5 }}&gt;&#10;          Using include to break one use case into steps. Steps belong in the scenario text next week, not in ellipses.&#10;        &lt;/Text&gt;&#10;      &lt;/Box&gt;&#10;      &lt;Box style={{ padding: '12px 16px', background: '#F7F9FC', borderRadius: 8, border: '1px dashed #D6DCE5' }}&gt;&#10;        &lt;Text style={{ fontSize: 12.5, color: '#8B97A8', lineHeight: 1.55 }}&gt;&#10;          Memory hook: &lt;Text style={{ fontWeight: 'bold', color: '#0E3F8C' }}&gt;in&lt;/Text&gt;clude = &lt;Text style={{ fontWeight: 'bold', color: '#0E3F8C' }}&gt;in&lt;/Text&gt;evitable.&#10;        &lt;/Text&gt;&#10;      &lt;/Box&gt;&#10;    &lt;/Box&gt;&#10;  &lt;/Box&gt;&#10;  &lt;Box style={{ height: 34, padding: '0 40px', flexDirection: 'row', alignItems: 'center', justifyContent: 'space-between' }}&gt;&#10;    &lt;Text style={{ fontSize: 13, color: '#8B97A8' }}&gt;ISAD · Fall 2026 · The base owns the arrow: it points at what it needs&lt;/Text&gt;&#10;    &lt;Text style={{ fontSize: 14, color: '#1E4FA8', fontWeight: 'bold' }}&gt;21 / 38&lt;/Text&gt;&#10;  &lt;/Box&gt;&#10;&lt;/Slide&gt;"/>
        <p:cNvGrpSpPr/>
        <p:nvPr/>
      </p:nvGrpSpPr>
      <p:grpSpPr>
        <a:xfrm>
          <a:off x="0" y="0"/>
          <a:ext cx="0" cy="0"/>
          <a:chOff x="0" y="0"/>
          <a:chExt cx="0" cy="0"/>
        </a:xfrm>
      </p:grpSpPr>
      <p:sp>
        <p:nvSpPr>
          <p:cNvPr id="338" name=""/>
          <p:cNvSpPr/>
          <p:nvPr/>
        </p:nvSpPr>
        <p:spPr>
          <a:xfrm rot="0" flipH="0" flipV="0">
            <a:off x="0" y="0"/>
            <a:ext cx="12192000" cy="6858000"/>
          </a:xfrm>
          <a:prstGeom prst="rect">
            <a:avLst/>
          </a:prstGeom>
          <a:solidFill>
            <a:srgbClr val="FFFFFF"/>
          </a:solidFill>
          <a:ln/>
        </p:spPr>
        <p:txBody>
          <a:bodyPr/>
          <a:p/>
        </p:txBody>
      </p:sp>
      <p:sp>
        <p:nvSpPr>
          <p:cNvPr id="339" name=""/>
          <p:cNvSpPr/>
          <p:nvPr/>
        </p:nvSpPr>
        <p:spPr>
          <a:xfrm rot="0" flipH="0" flipV="0">
            <a:off x="0" y="0"/>
            <a:ext cx="12192000" cy="685800"/>
          </a:xfrm>
          <a:prstGeom prst="rect">
            <a:avLst/>
          </a:prstGeom>
          <a:solidFill>
            <a:srgbClr val="1E4FA8"/>
          </a:solidFill>
          <a:ln/>
        </p:spPr>
        <p:txBody>
          <a:bodyPr/>
          <a:p/>
        </p:txBody>
      </p:sp>
      <p:sp>
        <p:nvSpPr>
          <p:cNvPr id="340" name="" descr="{&quot;isTemplate&quot;:true,&quot;type&quot;:&quot;text&quot;}"/>
          <p:cNvSpPr txBox="1"/>
          <p:nvPr/>
        </p:nvSpPr>
        <p:spPr>
          <a:xfrm rot="0" flipH="0" flipV="0">
            <a:off x="381000" y="257175"/>
            <a:ext cx="4067175" cy="171450"/>
          </a:xfrm>
          <a:prstGeom prst="rect"/>
        </p:spPr>
        <p:txBody>
          <a:bodyPr wrap="none" lIns="0" tIns="0" rIns="0" bIns="0"/>
          <a:p>
            <a:pPr>
              <a:lnSpc>
                <a:spcPct val="100000"/>
              </a:lnSpc>
            </a:pPr>
            <a:r>
              <a:rPr lang="en-US" sz="1125" spc="75">
                <a:solidFill>
                  <a:srgbClr val="B9CDF0"/>
                </a:solidFill>
                <a:latin typeface="Microsoft YaHei"/>
                <a:ea typeface="Microsoft YaHei"/>
              </a:rPr>
              <a:t>ISAD · INFORMATION SYSTEMS ANALYSIS &amp; DESIGN</a:t>
            </a:r>
            <a:endParaRPr/>
          </a:p>
        </p:txBody>
      </p:sp>
      <p:sp>
        <p:nvSpPr>
          <p:cNvPr id="341" name="" descr="{&quot;isTemplate&quot;:true,&quot;type&quot;:&quot;text&quot;}"/>
          <p:cNvSpPr txBox="1"/>
          <p:nvPr/>
        </p:nvSpPr>
        <p:spPr>
          <a:xfrm rot="0" flipH="0" flipV="0">
            <a:off x="10001250" y="257175"/>
            <a:ext cx="1809750" cy="171450"/>
          </a:xfrm>
          <a:prstGeom prst="rect"/>
        </p:spPr>
        <p:txBody>
          <a:bodyPr wrap="none" lIns="0" tIns="0" rIns="0" bIns="0"/>
          <a:p>
            <a:pPr>
              <a:lnSpc>
                <a:spcPct val="100000"/>
              </a:lnSpc>
            </a:pPr>
            <a:r>
              <a:rPr lang="en-US" sz="1125">
                <a:solidFill>
                  <a:srgbClr val="B9CDF0"/>
                </a:solidFill>
                <a:latin typeface="Microsoft YaHei"/>
                <a:ea typeface="Microsoft YaHei"/>
              </a:rPr>
              <a:t>W04 · INCLUDE &amp; EXTEND</a:t>
            </a:r>
            <a:endParaRPr/>
          </a:p>
        </p:txBody>
      </p:sp>
      <p:sp>
        <p:nvSpPr>
          <p:cNvPr id="342" name="" descr="{&quot;isTemplate&quot;:true,&quot;type&quot;:&quot;text&quot;}"/>
          <p:cNvSpPr txBox="1"/>
          <p:nvPr/>
        </p:nvSpPr>
        <p:spPr>
          <a:xfrm rot="0" flipH="0" flipV="0">
            <a:off x="381000" y="800100"/>
            <a:ext cx="4238625" cy="333375"/>
          </a:xfrm>
          <a:prstGeom prst="rect"/>
        </p:spPr>
        <p:txBody>
          <a:bodyPr wrap="none" lIns="0" tIns="0" rIns="0" bIns="0"/>
          <a:p>
            <a:pPr>
              <a:lnSpc>
                <a:spcPct val="100000"/>
              </a:lnSpc>
            </a:pPr>
            <a:r>
              <a:rPr lang="en-US" sz="2175" b="1">
                <a:solidFill>
                  <a:srgbClr val="0E3F8C"/>
                </a:solidFill>
                <a:latin typeface="Microsoft YaHei"/>
                <a:ea typeface="Microsoft YaHei"/>
              </a:rPr>
              <a:t>&lt;&lt;include&gt;&gt; — Always Happens</a:t>
            </a:r>
            <a:endParaRPr/>
          </a:p>
        </p:txBody>
      </p:sp>
      <p:sp>
        <p:nvSpPr>
          <p:cNvPr id="343" name="" descr="{&quot;isTemplate&quot;:true,&quot;type&quot;:&quot;text&quot;}"/>
          <p:cNvSpPr txBox="1"/>
          <p:nvPr/>
        </p:nvSpPr>
        <p:spPr>
          <a:xfrm rot="0" flipH="0" flipV="0">
            <a:off x="11401425" y="885825"/>
            <a:ext cx="409575" cy="161925"/>
          </a:xfrm>
          <a:prstGeom prst="rect"/>
        </p:spPr>
        <p:txBody>
          <a:bodyPr wrap="none" lIns="0" tIns="0" rIns="0" bIns="0"/>
          <a:p>
            <a:pPr>
              <a:lnSpc>
                <a:spcPct val="100000"/>
              </a:lnSpc>
            </a:pPr>
            <a:r>
              <a:rPr lang="en-US" sz="1050" b="1">
                <a:solidFill>
                  <a:srgbClr val="1E4FA8"/>
                </a:solidFill>
                <a:latin typeface="Microsoft YaHei"/>
                <a:ea typeface="Microsoft YaHei"/>
              </a:rPr>
              <a:t>21 / 38</a:t>
            </a:r>
            <a:endParaRPr/>
          </a:p>
        </p:txBody>
      </p:sp>
      <p:pic>
        <p:nvPicPr>
          <p:cNvPr id="344" name=""/>
          <p:cNvPicPr>
            <a:picLocks noChangeAspect="1"/>
          </p:cNvPicPr>
          <p:nvPr/>
        </p:nvPicPr>
        <p:blipFill>
          <a:blip>
            <a:extLst>
              <a:ext uri="{96DAC541-7B7A-43D3-8B79-37D633B846F1}">
                <asvg:svgBlip r:embed="rId1"/>
              </a:ext>
            </a:extLst>
          </a:blip>
          <a:stretch>
            <a:fillRect/>
          </a:stretch>
        </p:blipFill>
        <p:spPr>
          <a:xfrm rot="0" flipH="0" flipV="0">
            <a:off x="381000" y="2200275"/>
            <a:ext cx="5619750" cy="3352800"/>
          </a:xfrm>
          <a:prstGeom prst="rect">
            <a:avLst/>
          </a:prstGeom>
          <a:ln/>
        </p:spPr>
      </p:pic>
      <p:sp>
        <p:nvSpPr>
          <p:cNvPr id="345" name=""/>
          <p:cNvSpPr/>
          <p:nvPr/>
        </p:nvSpPr>
        <p:spPr>
          <a:xfrm rot="0" flipH="0" flipV="0">
            <a:off x="6286500" y="1971675"/>
            <a:ext cx="5562600" cy="1000125"/>
          </a:xfrm>
          <a:prstGeom prst="roundRect">
            <a:avLst>
              <a:gd name="adj" fmla="val 8571"/>
            </a:avLst>
          </a:prstGeom>
          <a:solidFill>
            <a:srgbClr val="F0F5FC"/>
          </a:solidFill>
          <a:ln/>
        </p:spPr>
        <p:txBody>
          <a:bodyPr/>
          <a:p/>
        </p:txBody>
      </p:sp>
      <p:sp>
        <p:nvSpPr>
          <p:cNvPr id="346" name=""/>
          <p:cNvSpPr/>
          <p:nvPr/>
        </p:nvSpPr>
        <p:spPr>
          <a:xfrm rot="0" flipH="0" flipV="0">
            <a:off x="6286500" y="1971675"/>
            <a:ext cx="5562600" cy="1000125"/>
          </a:xfrm>
          <a:custGeom>
            <a:pathLst>
              <a:path w="584" h="105">
                <a:moveTo>
                  <a:pt x="9" y="0"/>
                </a:moveTo>
                <a:cubicBezTo>
                  <a:pt x="6" y="0"/>
                  <a:pt x="4" y="2"/>
                  <a:pt x="4" y="5"/>
                </a:cubicBezTo>
                <a:lnTo>
                  <a:pt x="4" y="100"/>
                </a:lnTo>
                <a:cubicBezTo>
                  <a:pt x="4" y="102"/>
                  <a:pt x="6" y="104"/>
                  <a:pt x="8" y="105"/>
                </a:cubicBezTo>
                <a:cubicBezTo>
                  <a:pt x="4" y="105"/>
                  <a:pt x="0" y="101"/>
                  <a:pt x="0" y="96"/>
                </a:cubicBezTo>
                <a:lnTo>
                  <a:pt x="0" y="9"/>
                </a:lnTo>
                <a:cubicBezTo>
                  <a:pt x="0" y="4"/>
                  <a:pt x="4" y="0"/>
                  <a:pt x="9" y="0"/>
                </a:cubicBezTo>
                <a:close/>
              </a:path>
            </a:pathLst>
          </a:custGeom>
          <a:solidFill>
            <a:srgbClr val="1E4FA8"/>
          </a:solidFill>
          <a:ln/>
        </p:spPr>
        <p:txBody>
          <a:bodyPr/>
          <a:p/>
        </p:txBody>
      </p:sp>
      <p:sp>
        <p:nvSpPr>
          <p:cNvPr id="347" name="" descr="{&quot;isTemplate&quot;:true,&quot;type&quot;:&quot;text&quot;}"/>
          <p:cNvSpPr txBox="1"/>
          <p:nvPr/>
        </p:nvSpPr>
        <p:spPr>
          <a:xfrm rot="0" flipH="0" flipV="0">
            <a:off x="6448425" y="2114550"/>
            <a:ext cx="5200650" cy="190500"/>
          </a:xfrm>
          <a:prstGeom prst="rect"/>
        </p:spPr>
        <p:txBody>
          <a:bodyPr wrap="none" lIns="0" tIns="0" rIns="0" bIns="0"/>
          <a:p>
            <a:pPr>
              <a:lnSpc>
                <a:spcPct val="100000"/>
              </a:lnSpc>
            </a:pPr>
            <a:r>
              <a:rPr lang="en-US" sz="1200" b="1">
                <a:solidFill>
                  <a:srgbClr val="0E3F8C"/>
                </a:solidFill>
                <a:latin typeface="Microsoft YaHei"/>
                <a:ea typeface="Microsoft YaHei"/>
              </a:rPr>
              <a:t>The test</a:t>
            </a:r>
            <a:endParaRPr/>
          </a:p>
        </p:txBody>
      </p:sp>
      <p:sp>
        <p:nvSpPr>
          <p:cNvPr id="348" name="" descr="{&quot;isTemplate&quot;:true,&quot;type&quot;:&quot;text&quot;}"/>
          <p:cNvSpPr txBox="1"/>
          <p:nvPr/>
        </p:nvSpPr>
        <p:spPr>
          <a:xfrm rot="0" flipH="0" flipV="0">
            <a:off x="6448425" y="2352675"/>
            <a:ext cx="5200650" cy="476250"/>
          </a:xfrm>
          <a:prstGeom prst="rect"/>
        </p:spPr>
        <p:txBody>
          <a:bodyPr wrap="square" lIns="0" tIns="0" rIns="0" bIns="0">
            <a:normAutofit/>
          </a:bodyPr>
          <a:p>
            <a:pPr>
              <a:lnSpc>
                <a:spcPct val="160000"/>
              </a:lnSpc>
            </a:pPr>
            <a:r>
              <a:rPr lang="en-US" sz="975">
                <a:solidFill>
                  <a:srgbClr val="4A5568"/>
                </a:solidFill>
                <a:latin typeface="Microsoft YaHei"/>
                <a:ea typeface="Microsoft YaHei"/>
              </a:rPr>
              <a:t>Delete the included use case from your head. Can the base still reach its goal? If the answer is no, it is an include.</a:t>
            </a:r>
            <a:endParaRPr/>
          </a:p>
        </p:txBody>
      </p:sp>
      <p:sp>
        <p:nvSpPr>
          <p:cNvPr id="349" name=""/>
          <p:cNvSpPr/>
          <p:nvPr/>
        </p:nvSpPr>
        <p:spPr>
          <a:xfrm rot="0" flipH="0" flipV="0">
            <a:off x="6248400" y="3086100"/>
            <a:ext cx="5562600" cy="1000125"/>
          </a:xfrm>
          <a:prstGeom prst="roundRect">
            <a:avLst>
              <a:gd name="adj" fmla="val 8571"/>
            </a:avLst>
          </a:prstGeom>
          <a:solidFill>
            <a:srgbClr val="FFFFFF"/>
          </a:solidFill>
          <a:ln w="12700">
            <a:solidFill>
              <a:srgbClr val="D6DCE5"/>
            </a:solidFill>
            <a:prstDash val="solid"/>
          </a:ln>
        </p:spPr>
        <p:txBody>
          <a:bodyPr/>
          <a:p/>
        </p:txBody>
      </p:sp>
      <p:sp>
        <p:nvSpPr>
          <p:cNvPr id="350" name="" descr="{&quot;isTemplate&quot;:true,&quot;type&quot;:&quot;text&quot;}"/>
          <p:cNvSpPr txBox="1"/>
          <p:nvPr/>
        </p:nvSpPr>
        <p:spPr>
          <a:xfrm rot="0" flipH="0" flipV="0">
            <a:off x="6410325" y="3228975"/>
            <a:ext cx="5238750" cy="190500"/>
          </a:xfrm>
          <a:prstGeom prst="rect"/>
        </p:spPr>
        <p:txBody>
          <a:bodyPr wrap="none" lIns="0" tIns="0" rIns="0" bIns="0"/>
          <a:p>
            <a:pPr>
              <a:lnSpc>
                <a:spcPct val="100000"/>
              </a:lnSpc>
            </a:pPr>
            <a:r>
              <a:rPr lang="en-US" sz="1200" b="1">
                <a:solidFill>
                  <a:srgbClr val="0E3F8C"/>
                </a:solidFill>
                <a:latin typeface="Microsoft YaHei"/>
                <a:ea typeface="Microsoft YaHei"/>
              </a:rPr>
              <a:t>It is about reuse, not options</a:t>
            </a:r>
            <a:endParaRPr/>
          </a:p>
        </p:txBody>
      </p:sp>
      <p:sp>
        <p:nvSpPr>
          <p:cNvPr id="351" name="" descr="{&quot;isTemplate&quot;:true,&quot;type&quot;:&quot;text&quot;}"/>
          <p:cNvSpPr txBox="1"/>
          <p:nvPr/>
        </p:nvSpPr>
        <p:spPr>
          <a:xfrm rot="0" flipH="0" flipV="0">
            <a:off x="6410325" y="3467100"/>
            <a:ext cx="5238750" cy="476250"/>
          </a:xfrm>
          <a:prstGeom prst="rect"/>
        </p:spPr>
        <p:txBody>
          <a:bodyPr wrap="square" lIns="0" tIns="0" rIns="0" bIns="0">
            <a:normAutofit/>
          </a:bodyPr>
          <a:p>
            <a:pPr>
              <a:lnSpc>
                <a:spcPct val="160000"/>
              </a:lnSpc>
            </a:pPr>
            <a:r>
              <a:rPr lang="en-US" sz="975">
                <a:solidFill>
                  <a:srgbClr val="4A5568"/>
                </a:solidFill>
                <a:latin typeface="Microsoft YaHei"/>
                <a:ea typeface="Microsoft YaHei"/>
              </a:rPr>
              <a:t>You draw it once because three use cases all need it, and you refuse to write “authenticate the user” three times. That is the whole reason.</a:t>
            </a:r>
            <a:endParaRPr/>
          </a:p>
        </p:txBody>
      </p:sp>
      <p:sp>
        <p:nvSpPr>
          <p:cNvPr id="352" name=""/>
          <p:cNvSpPr/>
          <p:nvPr/>
        </p:nvSpPr>
        <p:spPr>
          <a:xfrm rot="0" flipH="0" flipV="0">
            <a:off x="6286500" y="4200525"/>
            <a:ext cx="5562600" cy="1000125"/>
          </a:xfrm>
          <a:prstGeom prst="roundRect">
            <a:avLst>
              <a:gd name="adj" fmla="val 8571"/>
            </a:avLst>
          </a:prstGeom>
          <a:solidFill>
            <a:srgbClr val="FDF3F3"/>
          </a:solidFill>
          <a:ln/>
        </p:spPr>
        <p:txBody>
          <a:bodyPr/>
          <a:p/>
        </p:txBody>
      </p:sp>
      <p:sp>
        <p:nvSpPr>
          <p:cNvPr id="353" name=""/>
          <p:cNvSpPr/>
          <p:nvPr/>
        </p:nvSpPr>
        <p:spPr>
          <a:xfrm rot="0" flipH="0" flipV="0">
            <a:off x="6286500" y="4200525"/>
            <a:ext cx="5562600" cy="1000125"/>
          </a:xfrm>
          <a:custGeom>
            <a:pathLst>
              <a:path w="584" h="105">
                <a:moveTo>
                  <a:pt x="9" y="0"/>
                </a:moveTo>
                <a:cubicBezTo>
                  <a:pt x="6" y="0"/>
                  <a:pt x="4" y="2"/>
                  <a:pt x="4" y="5"/>
                </a:cubicBezTo>
                <a:lnTo>
                  <a:pt x="4" y="100"/>
                </a:lnTo>
                <a:cubicBezTo>
                  <a:pt x="4" y="102"/>
                  <a:pt x="6" y="104"/>
                  <a:pt x="8" y="105"/>
                </a:cubicBezTo>
                <a:cubicBezTo>
                  <a:pt x="4" y="105"/>
                  <a:pt x="0" y="101"/>
                  <a:pt x="0" y="96"/>
                </a:cubicBezTo>
                <a:lnTo>
                  <a:pt x="0" y="9"/>
                </a:lnTo>
                <a:cubicBezTo>
                  <a:pt x="0" y="4"/>
                  <a:pt x="4" y="0"/>
                  <a:pt x="9" y="0"/>
                </a:cubicBezTo>
                <a:close/>
              </a:path>
            </a:pathLst>
          </a:custGeom>
          <a:solidFill>
            <a:srgbClr val="D9534F"/>
          </a:solidFill>
          <a:ln/>
        </p:spPr>
        <p:txBody>
          <a:bodyPr/>
          <a:p/>
        </p:txBody>
      </p:sp>
      <p:sp>
        <p:nvSpPr>
          <p:cNvPr id="354" name="" descr="{&quot;isTemplate&quot;:true,&quot;type&quot;:&quot;text&quot;}"/>
          <p:cNvSpPr txBox="1"/>
          <p:nvPr/>
        </p:nvSpPr>
        <p:spPr>
          <a:xfrm rot="0" flipH="0" flipV="0">
            <a:off x="6448425" y="4343400"/>
            <a:ext cx="5200650" cy="190500"/>
          </a:xfrm>
          <a:prstGeom prst="rect"/>
        </p:spPr>
        <p:txBody>
          <a:bodyPr wrap="none" lIns="0" tIns="0" rIns="0" bIns="0"/>
          <a:p>
            <a:pPr>
              <a:lnSpc>
                <a:spcPct val="100000"/>
              </a:lnSpc>
            </a:pPr>
            <a:r>
              <a:rPr lang="en-US" sz="1200" b="1">
                <a:solidFill>
                  <a:srgbClr val="D9534F"/>
                </a:solidFill>
                <a:latin typeface="Microsoft YaHei"/>
                <a:ea typeface="Microsoft YaHei"/>
              </a:rPr>
              <a:t>Common misuse</a:t>
            </a:r>
            <a:endParaRPr/>
          </a:p>
        </p:txBody>
      </p:sp>
      <p:sp>
        <p:nvSpPr>
          <p:cNvPr id="355" name="" descr="{&quot;isTemplate&quot;:true,&quot;type&quot;:&quot;text&quot;}"/>
          <p:cNvSpPr txBox="1"/>
          <p:nvPr/>
        </p:nvSpPr>
        <p:spPr>
          <a:xfrm rot="0" flipH="0" flipV="0">
            <a:off x="6448425" y="4581525"/>
            <a:ext cx="5200650" cy="476250"/>
          </a:xfrm>
          <a:prstGeom prst="rect"/>
        </p:spPr>
        <p:txBody>
          <a:bodyPr wrap="square" lIns="0" tIns="0" rIns="0" bIns="0">
            <a:normAutofit/>
          </a:bodyPr>
          <a:p>
            <a:pPr>
              <a:lnSpc>
                <a:spcPct val="160000"/>
              </a:lnSpc>
            </a:pPr>
            <a:r>
              <a:rPr lang="en-US" sz="975">
                <a:solidFill>
                  <a:srgbClr val="4A5568"/>
                </a:solidFill>
                <a:latin typeface="Microsoft YaHei"/>
                <a:ea typeface="Microsoft YaHei"/>
              </a:rPr>
              <a:t>Using include to break one use case into steps. Steps belong in the scenario text next week, not in ellipses.</a:t>
            </a:r>
            <a:endParaRPr/>
          </a:p>
        </p:txBody>
      </p:sp>
      <p:sp>
        <p:nvSpPr>
          <p:cNvPr id="356" name=""/>
          <p:cNvSpPr/>
          <p:nvPr/>
        </p:nvSpPr>
        <p:spPr>
          <a:xfrm rot="0" flipH="0" flipV="0">
            <a:off x="6248400" y="5314950"/>
            <a:ext cx="5562600" cy="457200"/>
          </a:xfrm>
          <a:prstGeom prst="roundRect">
            <a:avLst>
              <a:gd name="adj" fmla="val 16667"/>
            </a:avLst>
          </a:prstGeom>
          <a:solidFill>
            <a:srgbClr val="F7F9FC"/>
          </a:solidFill>
          <a:ln w="12700">
            <a:solidFill>
              <a:srgbClr val="D6DCE5"/>
            </a:solidFill>
            <a:prstDash val="dash"/>
          </a:ln>
        </p:spPr>
        <p:txBody>
          <a:bodyPr/>
          <a:p/>
        </p:txBody>
      </p:sp>
      <p:sp>
        <p:nvSpPr>
          <p:cNvPr id="357" name="" descr="{&quot;isTemplate&quot;:true,&quot;type&quot;:&quot;text&quot;}"/>
          <p:cNvSpPr txBox="1"/>
          <p:nvPr/>
        </p:nvSpPr>
        <p:spPr>
          <a:xfrm rot="0" flipH="0" flipV="0">
            <a:off x="6400800" y="5429250"/>
            <a:ext cx="5257800" cy="228600"/>
          </a:xfrm>
          <a:prstGeom prst="rect"/>
        </p:spPr>
        <p:txBody>
          <a:bodyPr wrap="none" lIns="0" tIns="0" rIns="0" bIns="0"/>
          <a:p>
            <a:pPr>
              <a:lnSpc>
                <a:spcPct val="155000"/>
              </a:lnSpc>
            </a:pPr>
            <a:r>
              <a:rPr lang="en-US" sz="938">
                <a:solidFill>
                  <a:srgbClr val="8B97A8"/>
                </a:solidFill>
                <a:latin typeface="Microsoft YaHei"/>
                <a:ea typeface="Microsoft YaHei"/>
              </a:rPr>
              <a:t>Memory hook: </a:t>
            </a:r>
            <a:r>
              <a:rPr lang="en-US" sz="938">
                <a:solidFill>
                  <a:srgbClr val="8B97A8"/>
                </a:solidFill>
                <a:latin typeface="Microsoft YaHei"/>
                <a:ea typeface="Microsoft YaHei"/>
              </a:rPr>
              <a:t>in</a:t>
            </a:r>
            <a:r>
              <a:rPr lang="en-US" sz="938">
                <a:solidFill>
                  <a:srgbClr val="8B97A8"/>
                </a:solidFill>
                <a:latin typeface="Microsoft YaHei"/>
                <a:ea typeface="Microsoft YaHei"/>
              </a:rPr>
              <a:t>clude = </a:t>
            </a:r>
            <a:r>
              <a:rPr lang="en-US" sz="938">
                <a:solidFill>
                  <a:srgbClr val="8B97A8"/>
                </a:solidFill>
                <a:latin typeface="Microsoft YaHei"/>
                <a:ea typeface="Microsoft YaHei"/>
              </a:rPr>
              <a:t>in</a:t>
            </a:r>
            <a:r>
              <a:rPr lang="en-US" sz="938">
                <a:solidFill>
                  <a:srgbClr val="8B97A8"/>
                </a:solidFill>
                <a:latin typeface="Microsoft YaHei"/>
                <a:ea typeface="Microsoft YaHei"/>
              </a:rPr>
              <a:t>evitable.</a:t>
            </a:r>
            <a:endParaRPr/>
          </a:p>
        </p:txBody>
      </p:sp>
      <p:sp>
        <p:nvSpPr>
          <p:cNvPr id="358" name="" descr="{&quot;isTemplate&quot;:true,&quot;type&quot;:&quot;text&quot;}"/>
          <p:cNvSpPr txBox="1"/>
          <p:nvPr/>
        </p:nvSpPr>
        <p:spPr>
          <a:xfrm rot="0" flipH="0" flipV="0">
            <a:off x="381000" y="6619875"/>
            <a:ext cx="3810000" cy="152400"/>
          </a:xfrm>
          <a:prstGeom prst="rect"/>
        </p:spPr>
        <p:txBody>
          <a:bodyPr wrap="none" lIns="0" tIns="0" rIns="0" bIns="0"/>
          <a:p>
            <a:pPr>
              <a:lnSpc>
                <a:spcPct val="100000"/>
              </a:lnSpc>
            </a:pPr>
            <a:r>
              <a:rPr lang="en-US" sz="975">
                <a:solidFill>
                  <a:srgbClr val="8B97A8"/>
                </a:solidFill>
                <a:latin typeface="Microsoft YaHei"/>
                <a:ea typeface="Microsoft YaHei"/>
              </a:rPr>
              <a:t>ISAD · Fall 2026 · The base owns the arrow: it points at what it needs</a:t>
            </a:r>
            <a:endParaRPr/>
          </a:p>
        </p:txBody>
      </p:sp>
      <p:sp>
        <p:nvSpPr>
          <p:cNvPr id="359" name="" descr="{&quot;isTemplate&quot;:true,&quot;type&quot;:&quot;text&quot;}"/>
          <p:cNvSpPr txBox="1"/>
          <p:nvPr/>
        </p:nvSpPr>
        <p:spPr>
          <a:xfrm rot="0" flipH="0" flipV="0">
            <a:off x="11401425" y="6619875"/>
            <a:ext cx="409575" cy="161925"/>
          </a:xfrm>
          <a:prstGeom prst="rect"/>
        </p:spPr>
        <p:txBody>
          <a:bodyPr wrap="none" lIns="0" tIns="0" rIns="0" bIns="0"/>
          <a:p>
            <a:pPr>
              <a:lnSpc>
                <a:spcPct val="100000"/>
              </a:lnSpc>
            </a:pPr>
            <a:r>
              <a:rPr lang="en-US" sz="1050" b="1">
                <a:solidFill>
                  <a:srgbClr val="1E4FA8"/>
                </a:solidFill>
                <a:latin typeface="Microsoft YaHei"/>
                <a:ea typeface="Microsoft YaHei"/>
              </a:rPr>
              <a:t>21 / 38</a:t>
            </a:r>
            <a:endParaRPr/>
          </a:p>
        </p:txBody>
      </p:sp>
    </p:spTree>
  </p:cSld>
</p:sld>
</file>

<file path=ppt/slides/slide22.xml><?xml version="1.0" encoding="utf-8"?>
<p:sld xmlns:asvg="http://schemas.microsoft.com/office/drawing/2016/SVG/main" xmlns:a="http://schemas.openxmlformats.org/drawingml/2006/main" xmlns:r="http://schemas.openxmlformats.org/officeDocument/2006/relationships" xmlns:p="http://schemas.openxmlformats.org/presentationml/2006/main" xmlns:mc="http://schemas.openxmlformats.org/markup-compatibility/2006" mc:Ignorable="asvg">
  <p:cSld>
    <p:spTree>
      <p:nvGrpSpPr>
        <p:cNvPr id="360" name="" descr="&lt;Slide style={{ background: '#FFFFFF', padding: 0 }}&gt;&#10;  &lt;Box style={{ height: 72, background: '#1E4FA8', padding: '0 40px', flexDirection: 'row', alignItems: 'center', justifyContent: 'space-between' }}&gt;&#10;    &lt;Text style={{ fontSize: 15, color: '#B9CDF0', letterSpacing: 1 }}&gt;ISAD · INFORMATION SYSTEMS ANALYSIS &amp;amp; DESIGN&lt;/Text&gt;&#10;    &lt;Text style={{ fontSize: 15, color: '#B9CDF0' }}&gt;W04 · INCLUDE &amp;amp; EXTEND&lt;/Text&gt;&#10;  &lt;/Box&gt;&#10;  &lt;Box style={{ padding: '12px 40px 0 40px', flexDirection: 'row', alignItems: 'center', justifyContent: 'space-between' }}&gt;&#10;    &lt;Text style={{ fontSize: 29, fontWeight: 'bold', color: '#0E3F8C' }}&gt;&amp;lt;&amp;lt;extend&amp;gt;&amp;gt; — Conditionally Happens&lt;/Text&gt;&#10;    &lt;Text style={{ fontSize: 14, color: '#1E4FA8', fontWeight: 'bold' }}&gt;22 / 38&lt;/Text&gt;&#10;  &lt;/Box&gt;&#10;  &lt;Box style={{ flex: 1, padding: '8px 40px 0 40px', flexDirection: 'row', gap: 26 }}&gt;&#10;    &lt;Box style={{ width: 590, justifyContent: 'center', alignItems: 'center' }}&gt;&#10;      &lt;svg width={590} height={352} viewBox='0 0 590 352'&gt;&#10;        &lt;text x='6' y='16' fill='#8B97A8' fontSize='12'&gt;The extra use case points BACK at the base — this is the direction people reverse&lt;/text&gt;&#10;&#10;        &lt;rect x='150' y='40' width='320' height='250' rx='6' fill='#FFFFFF' stroke='#1E4FA8' strokeWidth='2' /&gt;&#10;        &lt;text x='310' y='62' textAnchor='middle' fill='#0E3F8C' fontSize='13' fontWeight='bold'&gt;CampusBites&lt;/text&gt;&#10;&#10;        &lt;ellipse cx='310' cy='112' rx='126' ry='27' fill='#F0F5FC' stroke='#1E4FA8' strokeWidth='1.8' /&gt;&#10;        &lt;text x='310' y='117' textAnchor='middle' fill='#1A2230' fontSize='13' fontWeight='bold'&gt;Place Order&lt;/text&gt;&#10;&#10;        &lt;ellipse cx='310' cy='214' rx='126' ry='27' fill='#FFFFFF' stroke='#3D7BD9' strokeWidth='1.6' /&gt;&#10;        &lt;text x='310' y='219' textAnchor='middle' fill='#1A2230' fontSize='13'&gt;Apply Coupon&lt;/text&gt;&#10;&#10;        &lt;g transform='translate(24,86)'&gt;&#10;          &lt;circle cx='16' cy='16' r='9' fill='none' stroke='#0E3F8C' strokeWidth='2' /&gt;&#10;          &lt;line x1='16' y1='25' x2='16' y2='48' stroke='#0E3F8C' strokeWidth='2' /&gt;&#10;          &lt;line x1='16' y1='33' x2='4' y2='45' stroke='#0E3F8C' strokeWidth='2' /&gt;&#10;          &lt;line x1='16' y1='33' x2='28' y2='45' stroke='#0E3F8C' strokeWidth='2' /&gt;&#10;          &lt;line x1='16' y1='48' x2='5' y2='64' stroke='#0E3F8C' strokeWidth='2' /&gt;&#10;          &lt;line x1='16' y1='48' x2='27' y2='64' stroke='#0E3F8C' strokeWidth='2' /&gt;&#10;          &lt;text x='16' y='80' textAnchor='middle' fill='#0E3F8C' fontSize='12' fontWeight='bold'&gt;Student&lt;/text&gt;&#10;        &lt;/g&gt;&#10;&#10;        &lt;line x1='52' y1='152' x2='188' y2='120' stroke='#1E4FA8' strokeWidth='1.6' /&gt;&#10;&#10;        &lt;line x1='256' y1='196' x2='216' y2='140' stroke='#3D7BD9' strokeWidth='2' strokeDasharray='7 4' /&gt;&#10;        &lt;polygon points='212,136 226,142 216,151' fill='#3D7BD9' /&gt;&#10;        &lt;text x='256' y='176' fill='#3D7BD9' fontSize='11.5' fontWeight='bold'&gt;«extend»&lt;/text&gt;&#10;        &lt;text x='256' y='192' fill='#8B97A8' fontSize='10'&gt;arrow points back to the base&lt;/text&gt;&#10;&#10;        &lt;rect x='150' y='304' width='320' height='38' rx='6' fill='#FFFFFF' stroke='#3D7BD9' strokeWidth='1' /&gt;&#10;        &lt;text x='310' y='322' textAnchor='middle' fill='#0E3F8C' fontSize='12' fontWeight='bold'&gt;Condition: the student holds a valid coupon&lt;/text&gt;&#10;        &lt;text x='310' y='336' textAnchor='middle' fill='#8B97A8' fontSize='11'&gt;The order is complete with or without it&lt;/text&gt;&#10;      &lt;/svg&gt;&#10;    &lt;/Box&gt;&#10;    &lt;Box style={{ flex: 1, flexDirection: 'column', justifyContent: 'center', gap: 12 }}&gt;&#10;      &lt;Box style={{ padding: '15px 17px', background: '#F0F5FC', borderRadius: 9, borderLeft: '4px solid #3D7BD9' }}&gt;&#10;        &lt;Text style={{ fontSize: 16, fontWeight: 'bold', color: '#0E3F8C' }}&gt;The test&lt;/Text&gt;&#10;        &lt;Text style={{ fontSize: 13, color: '#4A5568', lineHeight: 1.6, marginTop: 5 }}&gt;&#10;          Delete the extension. Does the base still deliver its goal? If yes — the base is complete, so the extra is an extend.&#10;        &lt;/Text&gt;&#10;      &lt;/Box&gt;&#10;      &lt;Box style={{ padding: '15px 17px', background: '#FFFFFF', borderRadius: 9, border: '1px solid #D6DCE5' }}&gt;&#10;        &lt;Text style={{ fontSize: 16, fontWeight: 'bold', color: '#0E3F8C' }}&gt;Name the condition&lt;/Text&gt;&#10;        &lt;Text style={{ fontSize: 13, color: '#4A5568', lineHeight: 1.6, marginTop: 5 }}&gt;&#10;          An extend without a stated condition is a guess. Write it on the diagram as a note: “only when the student holds a valid coupon”.&#10;        &lt;/Text&gt;&#10;      &lt;/Box&gt;&#10;      &lt;Box style={{ padding: '15px 17px', background: '#FDF3F3', borderRadius: 9, borderLeft: '4px solid #D9534F' }}&gt;&#10;        &lt;Text style={{ fontSize: 16, fontWeight: 'bold', color: '#D9534F' }}&gt;Common misuse&lt;/Text&gt;&#10;        &lt;Text style={{ fontSize: 13, color: '#4A5568', lineHeight: 1.6, marginTop: 5 }}&gt;&#10;          Using extend for the normal path. If it happens eight times out of ten, it is part of the base, not an extension of it.&#10;        &lt;/Text&gt;&#10;      &lt;/Box&gt;&#10;      &lt;Box style={{ padding: '12px 16px', background: '#F7F9FC', borderRadius: 8, border: '1px dashed #D6DCE5' }}&gt;&#10;        &lt;Text style={{ fontSize: 12.5, color: '#8B97A8', lineHeight: 1.55 }}&gt;&#10;          Memory hook: &lt;Text style={{ fontWeight: 'bold', color: '#0E3F8C' }}&gt;ex&lt;/Text&gt;tend = &lt;Text style={{ fontWeight: 'bold', color: '#0E3F8C' }}&gt;ex&lt;/Text&gt;ception, and the arrow comes back.&#10;        &lt;/Text&gt;&#10;      &lt;/Box&gt;&#10;    &lt;/Box&gt;&#10;  &lt;/Box&gt;&#10;  &lt;Box style={{ height: 34, padding: '0 40px', flexDirection: 'row', alignItems: 'center', justifyContent: 'space-between' }}&gt;&#10;    &lt;Text style={{ fontSize: 13, color: '#8B97A8' }}&gt;ISAD · Fall 2026 · Arrow from the extra to the base — the opposite of include&lt;/Text&gt;&#10;    &lt;Text style={{ fontSize: 14, color: '#1E4FA8', fontWeight: 'bold' }}&gt;22 / 38&lt;/Text&gt;&#10;  &lt;/Box&gt;&#10;&lt;/Slide&gt;"/>
        <p:cNvGrpSpPr/>
        <p:nvPr/>
      </p:nvGrpSpPr>
      <p:grpSpPr>
        <a:xfrm>
          <a:off x="0" y="0"/>
          <a:ext cx="0" cy="0"/>
          <a:chOff x="0" y="0"/>
          <a:chExt cx="0" cy="0"/>
        </a:xfrm>
      </p:grpSpPr>
      <p:sp>
        <p:nvSpPr>
          <p:cNvPr id="361" name=""/>
          <p:cNvSpPr/>
          <p:nvPr/>
        </p:nvSpPr>
        <p:spPr>
          <a:xfrm rot="0" flipH="0" flipV="0">
            <a:off x="0" y="0"/>
            <a:ext cx="12192000" cy="6858000"/>
          </a:xfrm>
          <a:prstGeom prst="rect">
            <a:avLst/>
          </a:prstGeom>
          <a:solidFill>
            <a:srgbClr val="FFFFFF"/>
          </a:solidFill>
          <a:ln/>
        </p:spPr>
        <p:txBody>
          <a:bodyPr/>
          <a:p/>
        </p:txBody>
      </p:sp>
      <p:sp>
        <p:nvSpPr>
          <p:cNvPr id="362" name=""/>
          <p:cNvSpPr/>
          <p:nvPr/>
        </p:nvSpPr>
        <p:spPr>
          <a:xfrm rot="0" flipH="0" flipV="0">
            <a:off x="0" y="0"/>
            <a:ext cx="12192000" cy="685800"/>
          </a:xfrm>
          <a:prstGeom prst="rect">
            <a:avLst/>
          </a:prstGeom>
          <a:solidFill>
            <a:srgbClr val="1E4FA8"/>
          </a:solidFill>
          <a:ln/>
        </p:spPr>
        <p:txBody>
          <a:bodyPr/>
          <a:p/>
        </p:txBody>
      </p:sp>
      <p:sp>
        <p:nvSpPr>
          <p:cNvPr id="363" name="" descr="{&quot;isTemplate&quot;:true,&quot;type&quot;:&quot;text&quot;}"/>
          <p:cNvSpPr txBox="1"/>
          <p:nvPr/>
        </p:nvSpPr>
        <p:spPr>
          <a:xfrm rot="0" flipH="0" flipV="0">
            <a:off x="381000" y="257175"/>
            <a:ext cx="4067175" cy="171450"/>
          </a:xfrm>
          <a:prstGeom prst="rect"/>
        </p:spPr>
        <p:txBody>
          <a:bodyPr wrap="none" lIns="0" tIns="0" rIns="0" bIns="0"/>
          <a:p>
            <a:pPr>
              <a:lnSpc>
                <a:spcPct val="100000"/>
              </a:lnSpc>
            </a:pPr>
            <a:r>
              <a:rPr lang="en-US" sz="1125" spc="75">
                <a:solidFill>
                  <a:srgbClr val="B9CDF0"/>
                </a:solidFill>
                <a:latin typeface="Microsoft YaHei"/>
                <a:ea typeface="Microsoft YaHei"/>
              </a:rPr>
              <a:t>ISAD · INFORMATION SYSTEMS ANALYSIS &amp; DESIGN</a:t>
            </a:r>
            <a:endParaRPr/>
          </a:p>
        </p:txBody>
      </p:sp>
      <p:sp>
        <p:nvSpPr>
          <p:cNvPr id="364" name="" descr="{&quot;isTemplate&quot;:true,&quot;type&quot;:&quot;text&quot;}"/>
          <p:cNvSpPr txBox="1"/>
          <p:nvPr/>
        </p:nvSpPr>
        <p:spPr>
          <a:xfrm rot="0" flipH="0" flipV="0">
            <a:off x="10001250" y="257175"/>
            <a:ext cx="1809750" cy="171450"/>
          </a:xfrm>
          <a:prstGeom prst="rect"/>
        </p:spPr>
        <p:txBody>
          <a:bodyPr wrap="none" lIns="0" tIns="0" rIns="0" bIns="0"/>
          <a:p>
            <a:pPr>
              <a:lnSpc>
                <a:spcPct val="100000"/>
              </a:lnSpc>
            </a:pPr>
            <a:r>
              <a:rPr lang="en-US" sz="1125">
                <a:solidFill>
                  <a:srgbClr val="B9CDF0"/>
                </a:solidFill>
                <a:latin typeface="Microsoft YaHei"/>
                <a:ea typeface="Microsoft YaHei"/>
              </a:rPr>
              <a:t>W04 · INCLUDE &amp; EXTEND</a:t>
            </a:r>
            <a:endParaRPr/>
          </a:p>
        </p:txBody>
      </p:sp>
      <p:sp>
        <p:nvSpPr>
          <p:cNvPr id="365" name="" descr="{&quot;isTemplate&quot;:true,&quot;type&quot;:&quot;text&quot;}"/>
          <p:cNvSpPr txBox="1"/>
          <p:nvPr/>
        </p:nvSpPr>
        <p:spPr>
          <a:xfrm rot="0" flipH="0" flipV="0">
            <a:off x="381000" y="800100"/>
            <a:ext cx="4962525" cy="333375"/>
          </a:xfrm>
          <a:prstGeom prst="rect"/>
        </p:spPr>
        <p:txBody>
          <a:bodyPr wrap="none" lIns="0" tIns="0" rIns="0" bIns="0"/>
          <a:p>
            <a:pPr>
              <a:lnSpc>
                <a:spcPct val="100000"/>
              </a:lnSpc>
            </a:pPr>
            <a:r>
              <a:rPr lang="en-US" sz="2175" b="1">
                <a:solidFill>
                  <a:srgbClr val="0E3F8C"/>
                </a:solidFill>
                <a:latin typeface="Microsoft YaHei"/>
                <a:ea typeface="Microsoft YaHei"/>
              </a:rPr>
              <a:t>&lt;&lt;extend&gt;&gt; — Conditionally Happens</a:t>
            </a:r>
            <a:endParaRPr/>
          </a:p>
        </p:txBody>
      </p:sp>
      <p:sp>
        <p:nvSpPr>
          <p:cNvPr id="366" name="" descr="{&quot;isTemplate&quot;:true,&quot;type&quot;:&quot;text&quot;}"/>
          <p:cNvSpPr txBox="1"/>
          <p:nvPr/>
        </p:nvSpPr>
        <p:spPr>
          <a:xfrm rot="0" flipH="0" flipV="0">
            <a:off x="11401425" y="885825"/>
            <a:ext cx="409575" cy="161925"/>
          </a:xfrm>
          <a:prstGeom prst="rect"/>
        </p:spPr>
        <p:txBody>
          <a:bodyPr wrap="none" lIns="0" tIns="0" rIns="0" bIns="0"/>
          <a:p>
            <a:pPr>
              <a:lnSpc>
                <a:spcPct val="100000"/>
              </a:lnSpc>
            </a:pPr>
            <a:r>
              <a:rPr lang="en-US" sz="1050" b="1">
                <a:solidFill>
                  <a:srgbClr val="1E4FA8"/>
                </a:solidFill>
                <a:latin typeface="Microsoft YaHei"/>
                <a:ea typeface="Microsoft YaHei"/>
              </a:rPr>
              <a:t>22 / 38</a:t>
            </a:r>
            <a:endParaRPr/>
          </a:p>
        </p:txBody>
      </p:sp>
      <p:pic>
        <p:nvPicPr>
          <p:cNvPr id="367" name=""/>
          <p:cNvPicPr>
            <a:picLocks noChangeAspect="1"/>
          </p:cNvPicPr>
          <p:nvPr/>
        </p:nvPicPr>
        <p:blipFill>
          <a:blip>
            <a:extLst>
              <a:ext uri="{96DAC541-7B7A-43D3-8B79-37D633B846F1}">
                <asvg:svgBlip r:embed="rId1"/>
              </a:ext>
            </a:extLst>
          </a:blip>
          <a:stretch>
            <a:fillRect/>
          </a:stretch>
        </p:blipFill>
        <p:spPr>
          <a:xfrm rot="0" flipH="0" flipV="0">
            <a:off x="381000" y="2200275"/>
            <a:ext cx="5619750" cy="3352800"/>
          </a:xfrm>
          <a:prstGeom prst="rect">
            <a:avLst/>
          </a:prstGeom>
          <a:ln/>
        </p:spPr>
      </p:pic>
      <p:sp>
        <p:nvSpPr>
          <p:cNvPr id="368" name=""/>
          <p:cNvSpPr/>
          <p:nvPr/>
        </p:nvSpPr>
        <p:spPr>
          <a:xfrm rot="0" flipH="0" flipV="0">
            <a:off x="6286500" y="1971675"/>
            <a:ext cx="5562600" cy="1000125"/>
          </a:xfrm>
          <a:prstGeom prst="roundRect">
            <a:avLst>
              <a:gd name="adj" fmla="val 8571"/>
            </a:avLst>
          </a:prstGeom>
          <a:solidFill>
            <a:srgbClr val="F0F5FC"/>
          </a:solidFill>
          <a:ln/>
        </p:spPr>
        <p:txBody>
          <a:bodyPr/>
          <a:p/>
        </p:txBody>
      </p:sp>
      <p:sp>
        <p:nvSpPr>
          <p:cNvPr id="369" name=""/>
          <p:cNvSpPr/>
          <p:nvPr/>
        </p:nvSpPr>
        <p:spPr>
          <a:xfrm rot="0" flipH="0" flipV="0">
            <a:off x="6286500" y="1971675"/>
            <a:ext cx="5562600" cy="1000125"/>
          </a:xfrm>
          <a:custGeom>
            <a:pathLst>
              <a:path w="584" h="105">
                <a:moveTo>
                  <a:pt x="9" y="0"/>
                </a:moveTo>
                <a:cubicBezTo>
                  <a:pt x="6" y="0"/>
                  <a:pt x="4" y="2"/>
                  <a:pt x="4" y="5"/>
                </a:cubicBezTo>
                <a:lnTo>
                  <a:pt x="4" y="100"/>
                </a:lnTo>
                <a:cubicBezTo>
                  <a:pt x="4" y="102"/>
                  <a:pt x="6" y="104"/>
                  <a:pt x="8" y="105"/>
                </a:cubicBezTo>
                <a:cubicBezTo>
                  <a:pt x="4" y="105"/>
                  <a:pt x="0" y="101"/>
                  <a:pt x="0" y="96"/>
                </a:cubicBezTo>
                <a:lnTo>
                  <a:pt x="0" y="9"/>
                </a:lnTo>
                <a:cubicBezTo>
                  <a:pt x="0" y="4"/>
                  <a:pt x="4" y="0"/>
                  <a:pt x="9" y="0"/>
                </a:cubicBezTo>
                <a:close/>
              </a:path>
            </a:pathLst>
          </a:custGeom>
          <a:solidFill>
            <a:srgbClr val="3D7BD9"/>
          </a:solidFill>
          <a:ln/>
        </p:spPr>
        <p:txBody>
          <a:bodyPr/>
          <a:p/>
        </p:txBody>
      </p:sp>
      <p:sp>
        <p:nvSpPr>
          <p:cNvPr id="370" name="" descr="{&quot;isTemplate&quot;:true,&quot;type&quot;:&quot;text&quot;}"/>
          <p:cNvSpPr txBox="1"/>
          <p:nvPr/>
        </p:nvSpPr>
        <p:spPr>
          <a:xfrm rot="0" flipH="0" flipV="0">
            <a:off x="6448425" y="2114550"/>
            <a:ext cx="5200650" cy="190500"/>
          </a:xfrm>
          <a:prstGeom prst="rect"/>
        </p:spPr>
        <p:txBody>
          <a:bodyPr wrap="none" lIns="0" tIns="0" rIns="0" bIns="0"/>
          <a:p>
            <a:pPr>
              <a:lnSpc>
                <a:spcPct val="100000"/>
              </a:lnSpc>
            </a:pPr>
            <a:r>
              <a:rPr lang="en-US" sz="1200" b="1">
                <a:solidFill>
                  <a:srgbClr val="0E3F8C"/>
                </a:solidFill>
                <a:latin typeface="Microsoft YaHei"/>
                <a:ea typeface="Microsoft YaHei"/>
              </a:rPr>
              <a:t>The test</a:t>
            </a:r>
            <a:endParaRPr/>
          </a:p>
        </p:txBody>
      </p:sp>
      <p:sp>
        <p:nvSpPr>
          <p:cNvPr id="371" name="" descr="{&quot;isTemplate&quot;:true,&quot;type&quot;:&quot;text&quot;}"/>
          <p:cNvSpPr txBox="1"/>
          <p:nvPr/>
        </p:nvSpPr>
        <p:spPr>
          <a:xfrm rot="0" flipH="0" flipV="0">
            <a:off x="6448425" y="2352675"/>
            <a:ext cx="5200650" cy="476250"/>
          </a:xfrm>
          <a:prstGeom prst="rect"/>
        </p:spPr>
        <p:txBody>
          <a:bodyPr wrap="square" lIns="0" tIns="0" rIns="0" bIns="0">
            <a:normAutofit/>
          </a:bodyPr>
          <a:p>
            <a:pPr>
              <a:lnSpc>
                <a:spcPct val="160000"/>
              </a:lnSpc>
            </a:pPr>
            <a:r>
              <a:rPr lang="en-US" sz="975">
                <a:solidFill>
                  <a:srgbClr val="4A5568"/>
                </a:solidFill>
                <a:latin typeface="Microsoft YaHei"/>
                <a:ea typeface="Microsoft YaHei"/>
              </a:rPr>
              <a:t>Delete the extension. Does the base still deliver its goal? If yes — the base is complete, so the extra is an extend.</a:t>
            </a:r>
            <a:endParaRPr/>
          </a:p>
        </p:txBody>
      </p:sp>
      <p:sp>
        <p:nvSpPr>
          <p:cNvPr id="372" name=""/>
          <p:cNvSpPr/>
          <p:nvPr/>
        </p:nvSpPr>
        <p:spPr>
          <a:xfrm rot="0" flipH="0" flipV="0">
            <a:off x="6248400" y="3086100"/>
            <a:ext cx="5562600" cy="1000125"/>
          </a:xfrm>
          <a:prstGeom prst="roundRect">
            <a:avLst>
              <a:gd name="adj" fmla="val 8571"/>
            </a:avLst>
          </a:prstGeom>
          <a:solidFill>
            <a:srgbClr val="FFFFFF"/>
          </a:solidFill>
          <a:ln w="12700">
            <a:solidFill>
              <a:srgbClr val="D6DCE5"/>
            </a:solidFill>
            <a:prstDash val="solid"/>
          </a:ln>
        </p:spPr>
        <p:txBody>
          <a:bodyPr/>
          <a:p/>
        </p:txBody>
      </p:sp>
      <p:sp>
        <p:nvSpPr>
          <p:cNvPr id="373" name="" descr="{&quot;isTemplate&quot;:true,&quot;type&quot;:&quot;text&quot;}"/>
          <p:cNvSpPr txBox="1"/>
          <p:nvPr/>
        </p:nvSpPr>
        <p:spPr>
          <a:xfrm rot="0" flipH="0" flipV="0">
            <a:off x="6410325" y="3228975"/>
            <a:ext cx="5238750" cy="190500"/>
          </a:xfrm>
          <a:prstGeom prst="rect"/>
        </p:spPr>
        <p:txBody>
          <a:bodyPr wrap="none" lIns="0" tIns="0" rIns="0" bIns="0"/>
          <a:p>
            <a:pPr>
              <a:lnSpc>
                <a:spcPct val="100000"/>
              </a:lnSpc>
            </a:pPr>
            <a:r>
              <a:rPr lang="en-US" sz="1200" b="1">
                <a:solidFill>
                  <a:srgbClr val="0E3F8C"/>
                </a:solidFill>
                <a:latin typeface="Microsoft YaHei"/>
                <a:ea typeface="Microsoft YaHei"/>
              </a:rPr>
              <a:t>Name the condition</a:t>
            </a:r>
            <a:endParaRPr/>
          </a:p>
        </p:txBody>
      </p:sp>
      <p:sp>
        <p:nvSpPr>
          <p:cNvPr id="374" name="" descr="{&quot;isTemplate&quot;:true,&quot;type&quot;:&quot;text&quot;}"/>
          <p:cNvSpPr txBox="1"/>
          <p:nvPr/>
        </p:nvSpPr>
        <p:spPr>
          <a:xfrm rot="0" flipH="0" flipV="0">
            <a:off x="6410325" y="3467100"/>
            <a:ext cx="5238750" cy="476250"/>
          </a:xfrm>
          <a:prstGeom prst="rect"/>
        </p:spPr>
        <p:txBody>
          <a:bodyPr wrap="square" lIns="0" tIns="0" rIns="0" bIns="0">
            <a:normAutofit/>
          </a:bodyPr>
          <a:p>
            <a:pPr>
              <a:lnSpc>
                <a:spcPct val="160000"/>
              </a:lnSpc>
            </a:pPr>
            <a:r>
              <a:rPr lang="en-US" sz="975">
                <a:solidFill>
                  <a:srgbClr val="4A5568"/>
                </a:solidFill>
                <a:latin typeface="Microsoft YaHei"/>
                <a:ea typeface="Microsoft YaHei"/>
              </a:rPr>
              <a:t>An extend without a stated condition is a guess. Write it on the diagram as a note: “only when the student holds a valid coupon”.</a:t>
            </a:r>
            <a:endParaRPr/>
          </a:p>
        </p:txBody>
      </p:sp>
      <p:sp>
        <p:nvSpPr>
          <p:cNvPr id="375" name=""/>
          <p:cNvSpPr/>
          <p:nvPr/>
        </p:nvSpPr>
        <p:spPr>
          <a:xfrm rot="0" flipH="0" flipV="0">
            <a:off x="6286500" y="4200525"/>
            <a:ext cx="5562600" cy="1000125"/>
          </a:xfrm>
          <a:prstGeom prst="roundRect">
            <a:avLst>
              <a:gd name="adj" fmla="val 8571"/>
            </a:avLst>
          </a:prstGeom>
          <a:solidFill>
            <a:srgbClr val="FDF3F3"/>
          </a:solidFill>
          <a:ln/>
        </p:spPr>
        <p:txBody>
          <a:bodyPr/>
          <a:p/>
        </p:txBody>
      </p:sp>
      <p:sp>
        <p:nvSpPr>
          <p:cNvPr id="376" name=""/>
          <p:cNvSpPr/>
          <p:nvPr/>
        </p:nvSpPr>
        <p:spPr>
          <a:xfrm rot="0" flipH="0" flipV="0">
            <a:off x="6286500" y="4200525"/>
            <a:ext cx="5562600" cy="1000125"/>
          </a:xfrm>
          <a:custGeom>
            <a:pathLst>
              <a:path w="584" h="105">
                <a:moveTo>
                  <a:pt x="9" y="0"/>
                </a:moveTo>
                <a:cubicBezTo>
                  <a:pt x="6" y="0"/>
                  <a:pt x="4" y="2"/>
                  <a:pt x="4" y="5"/>
                </a:cubicBezTo>
                <a:lnTo>
                  <a:pt x="4" y="100"/>
                </a:lnTo>
                <a:cubicBezTo>
                  <a:pt x="4" y="102"/>
                  <a:pt x="6" y="104"/>
                  <a:pt x="8" y="105"/>
                </a:cubicBezTo>
                <a:cubicBezTo>
                  <a:pt x="4" y="105"/>
                  <a:pt x="0" y="101"/>
                  <a:pt x="0" y="96"/>
                </a:cubicBezTo>
                <a:lnTo>
                  <a:pt x="0" y="9"/>
                </a:lnTo>
                <a:cubicBezTo>
                  <a:pt x="0" y="4"/>
                  <a:pt x="4" y="0"/>
                  <a:pt x="9" y="0"/>
                </a:cubicBezTo>
                <a:close/>
              </a:path>
            </a:pathLst>
          </a:custGeom>
          <a:solidFill>
            <a:srgbClr val="D9534F"/>
          </a:solidFill>
          <a:ln/>
        </p:spPr>
        <p:txBody>
          <a:bodyPr/>
          <a:p/>
        </p:txBody>
      </p:sp>
      <p:sp>
        <p:nvSpPr>
          <p:cNvPr id="377" name="" descr="{&quot;isTemplate&quot;:true,&quot;type&quot;:&quot;text&quot;}"/>
          <p:cNvSpPr txBox="1"/>
          <p:nvPr/>
        </p:nvSpPr>
        <p:spPr>
          <a:xfrm rot="0" flipH="0" flipV="0">
            <a:off x="6448425" y="4343400"/>
            <a:ext cx="5200650" cy="190500"/>
          </a:xfrm>
          <a:prstGeom prst="rect"/>
        </p:spPr>
        <p:txBody>
          <a:bodyPr wrap="none" lIns="0" tIns="0" rIns="0" bIns="0"/>
          <a:p>
            <a:pPr>
              <a:lnSpc>
                <a:spcPct val="100000"/>
              </a:lnSpc>
            </a:pPr>
            <a:r>
              <a:rPr lang="en-US" sz="1200" b="1">
                <a:solidFill>
                  <a:srgbClr val="D9534F"/>
                </a:solidFill>
                <a:latin typeface="Microsoft YaHei"/>
                <a:ea typeface="Microsoft YaHei"/>
              </a:rPr>
              <a:t>Common misuse</a:t>
            </a:r>
            <a:endParaRPr/>
          </a:p>
        </p:txBody>
      </p:sp>
      <p:sp>
        <p:nvSpPr>
          <p:cNvPr id="378" name="" descr="{&quot;isTemplate&quot;:true,&quot;type&quot;:&quot;text&quot;}"/>
          <p:cNvSpPr txBox="1"/>
          <p:nvPr/>
        </p:nvSpPr>
        <p:spPr>
          <a:xfrm rot="0" flipH="0" flipV="0">
            <a:off x="6448425" y="4581525"/>
            <a:ext cx="5200650" cy="476250"/>
          </a:xfrm>
          <a:prstGeom prst="rect"/>
        </p:spPr>
        <p:txBody>
          <a:bodyPr wrap="square" lIns="0" tIns="0" rIns="0" bIns="0">
            <a:normAutofit/>
          </a:bodyPr>
          <a:p>
            <a:pPr>
              <a:lnSpc>
                <a:spcPct val="160000"/>
              </a:lnSpc>
            </a:pPr>
            <a:r>
              <a:rPr lang="en-US" sz="975">
                <a:solidFill>
                  <a:srgbClr val="4A5568"/>
                </a:solidFill>
                <a:latin typeface="Microsoft YaHei"/>
                <a:ea typeface="Microsoft YaHei"/>
              </a:rPr>
              <a:t>Using extend for the normal path. If it happens eight times out of ten, it is part of the base, not an extension of it.</a:t>
            </a:r>
            <a:endParaRPr/>
          </a:p>
        </p:txBody>
      </p:sp>
      <p:sp>
        <p:nvSpPr>
          <p:cNvPr id="379" name=""/>
          <p:cNvSpPr/>
          <p:nvPr/>
        </p:nvSpPr>
        <p:spPr>
          <a:xfrm rot="0" flipH="0" flipV="0">
            <a:off x="6248400" y="5314950"/>
            <a:ext cx="5562600" cy="457200"/>
          </a:xfrm>
          <a:prstGeom prst="roundRect">
            <a:avLst>
              <a:gd name="adj" fmla="val 16667"/>
            </a:avLst>
          </a:prstGeom>
          <a:solidFill>
            <a:srgbClr val="F7F9FC"/>
          </a:solidFill>
          <a:ln w="12700">
            <a:solidFill>
              <a:srgbClr val="D6DCE5"/>
            </a:solidFill>
            <a:prstDash val="dash"/>
          </a:ln>
        </p:spPr>
        <p:txBody>
          <a:bodyPr/>
          <a:p/>
        </p:txBody>
      </p:sp>
      <p:sp>
        <p:nvSpPr>
          <p:cNvPr id="380" name="" descr="{&quot;isTemplate&quot;:true,&quot;type&quot;:&quot;text&quot;}"/>
          <p:cNvSpPr txBox="1"/>
          <p:nvPr/>
        </p:nvSpPr>
        <p:spPr>
          <a:xfrm rot="0" flipH="0" flipV="0">
            <a:off x="6400800" y="5429250"/>
            <a:ext cx="5257800" cy="228600"/>
          </a:xfrm>
          <a:prstGeom prst="rect"/>
        </p:spPr>
        <p:txBody>
          <a:bodyPr wrap="none" lIns="0" tIns="0" rIns="0" bIns="0"/>
          <a:p>
            <a:pPr>
              <a:lnSpc>
                <a:spcPct val="155000"/>
              </a:lnSpc>
            </a:pPr>
            <a:r>
              <a:rPr lang="en-US" sz="938">
                <a:solidFill>
                  <a:srgbClr val="8B97A8"/>
                </a:solidFill>
                <a:latin typeface="Microsoft YaHei"/>
                <a:ea typeface="Microsoft YaHei"/>
              </a:rPr>
              <a:t>Memory hook: </a:t>
            </a:r>
            <a:r>
              <a:rPr lang="en-US" sz="938">
                <a:solidFill>
                  <a:srgbClr val="8B97A8"/>
                </a:solidFill>
                <a:latin typeface="Microsoft YaHei"/>
                <a:ea typeface="Microsoft YaHei"/>
              </a:rPr>
              <a:t>ex</a:t>
            </a:r>
            <a:r>
              <a:rPr lang="en-US" sz="938">
                <a:solidFill>
                  <a:srgbClr val="8B97A8"/>
                </a:solidFill>
                <a:latin typeface="Microsoft YaHei"/>
                <a:ea typeface="Microsoft YaHei"/>
              </a:rPr>
              <a:t>tend = </a:t>
            </a:r>
            <a:r>
              <a:rPr lang="en-US" sz="938">
                <a:solidFill>
                  <a:srgbClr val="8B97A8"/>
                </a:solidFill>
                <a:latin typeface="Microsoft YaHei"/>
                <a:ea typeface="Microsoft YaHei"/>
              </a:rPr>
              <a:t>ex</a:t>
            </a:r>
            <a:r>
              <a:rPr lang="en-US" sz="938">
                <a:solidFill>
                  <a:srgbClr val="8B97A8"/>
                </a:solidFill>
                <a:latin typeface="Microsoft YaHei"/>
                <a:ea typeface="Microsoft YaHei"/>
              </a:rPr>
              <a:t>ception, and the arrow comes back.</a:t>
            </a:r>
            <a:endParaRPr/>
          </a:p>
        </p:txBody>
      </p:sp>
      <p:sp>
        <p:nvSpPr>
          <p:cNvPr id="381" name="" descr="{&quot;isTemplate&quot;:true,&quot;type&quot;:&quot;text&quot;}"/>
          <p:cNvSpPr txBox="1"/>
          <p:nvPr/>
        </p:nvSpPr>
        <p:spPr>
          <a:xfrm rot="0" flipH="0" flipV="0">
            <a:off x="381000" y="6619875"/>
            <a:ext cx="4219575" cy="152400"/>
          </a:xfrm>
          <a:prstGeom prst="rect"/>
        </p:spPr>
        <p:txBody>
          <a:bodyPr wrap="none" lIns="0" tIns="0" rIns="0" bIns="0"/>
          <a:p>
            <a:pPr>
              <a:lnSpc>
                <a:spcPct val="100000"/>
              </a:lnSpc>
            </a:pPr>
            <a:r>
              <a:rPr lang="en-US" sz="975">
                <a:solidFill>
                  <a:srgbClr val="8B97A8"/>
                </a:solidFill>
                <a:latin typeface="Microsoft YaHei"/>
                <a:ea typeface="Microsoft YaHei"/>
              </a:rPr>
              <a:t>ISAD · Fall 2026 · Arrow from the extra to the base — the opposite of include</a:t>
            </a:r>
            <a:endParaRPr/>
          </a:p>
        </p:txBody>
      </p:sp>
      <p:sp>
        <p:nvSpPr>
          <p:cNvPr id="382" name="" descr="{&quot;isTemplate&quot;:true,&quot;type&quot;:&quot;text&quot;}"/>
          <p:cNvSpPr txBox="1"/>
          <p:nvPr/>
        </p:nvSpPr>
        <p:spPr>
          <a:xfrm rot="0" flipH="0" flipV="0">
            <a:off x="11401425" y="6619875"/>
            <a:ext cx="409575" cy="161925"/>
          </a:xfrm>
          <a:prstGeom prst="rect"/>
        </p:spPr>
        <p:txBody>
          <a:bodyPr wrap="none" lIns="0" tIns="0" rIns="0" bIns="0"/>
          <a:p>
            <a:pPr>
              <a:lnSpc>
                <a:spcPct val="100000"/>
              </a:lnSpc>
            </a:pPr>
            <a:r>
              <a:rPr lang="en-US" sz="1050" b="1">
                <a:solidFill>
                  <a:srgbClr val="1E4FA8"/>
                </a:solidFill>
                <a:latin typeface="Microsoft YaHei"/>
                <a:ea typeface="Microsoft YaHei"/>
              </a:rPr>
              <a:t>22 / 38</a:t>
            </a:r>
            <a:endParaRPr/>
          </a:p>
        </p:txBody>
      </p:sp>
    </p:spTree>
  </p:cSld>
</p:sld>
</file>

<file path=ppt/slides/slide23.xml><?xml version="1.0" encoding="utf-8"?>
<p:sld xmlns:a16="http://schemas.microsoft.com/office/drawing/2014/main" xmlns:a="http://schemas.openxmlformats.org/drawingml/2006/main" xmlns:p="http://schemas.openxmlformats.org/presentationml/2006/main" xmlns:mc="http://schemas.openxmlformats.org/markup-compatibility/2006" mc:Ignorable="a16">
  <p:cSld>
    <p:spTree>
      <p:nvGrpSpPr>
        <p:cNvPr id="383" name="" descr="&lt;Slide style={{ background: '#FFFFFF', padding: 0 }}&gt;&#10;  &lt;Box style={{ height: 72, background: '#1E4FA8', padding: '0 40px', flexDirection: 'row', alignItems: 'center', justifyContent: 'space-between' }}&gt;&#10;    &lt;Text style={{ fontSize: 15, color: '#B9CDF0', letterSpacing: 1 }}&gt;ISAD · INFORMATION SYSTEMS ANALYSIS &amp;amp; DESIGN&lt;/Text&gt;&#10;    &lt;Text style={{ fontSize: 15, color: '#B9CDF0' }}&gt;W04 · INCLUDE &amp;amp; EXTEND&lt;/Text&gt;&#10;  &lt;/Box&gt;&#10;  &lt;Box style={{ padding: '14px 40px 0 40px', flexDirection: 'row', alignItems: 'center', justifyContent: 'space-between' }}&gt;&#10;    &lt;Text style={{ fontSize: 29, fontWeight: 'bold', color: '#0E3F8C' }}&gt;Include vs. Extend — The Decision Table&lt;/Text&gt;&#10;    &lt;Text style={{ fontSize: 14, color: '#1E4FA8', fontWeight: 'bold' }}&gt;23 / 38&lt;/Text&gt;&#10;  &lt;/Box&gt;&#10;  &lt;Box style={{ flex: 1, padding: '10px 40px 6px 40px' }}&gt;&#10;    &lt;Table&#10;      style={{ width: '100%', height: '100%' }}&#10;      defaultTextStyle={{ fontSize: 13.5, textAlign: 'left', color: '#1A2230' }}&#10;      defaultCellStyle={{&#10;        border: {&#10;          left: { width: 1, color: '#E5E7EB' },&#10;          right: { width: 1, color: '#E5E7EB' },&#10;          top: { width: 1, color: '#E5E7EB' },&#10;          bottom: { width: 1, color: '#E5E7EB' },&#10;        },&#10;      }}&#10;      cells={[&#10;        [&#10;          { text: 'Dimension', textStyle: { bold: true, color: '#FFFFFF' }, cellStyle: { background: { color: '#0E3F8C' } } },&#10;          { text: '&lt;&lt;include&gt;&gt;', textStyle: { bold: true, color: '#FFFFFF' }, cellStyle: { background: { color: '#1E4FA8' } } },&#10;          { text: '&lt;&lt;extend&gt;&gt;', textStyle: { bold: true, color: '#FFFFFF' }, cellStyle: { background: { color: '#3D7BD9' } } },&#10;        ],&#10;        [&#10;          { text: 'Does it always happen?', textStyle: { bold: true, color: '#0E3F8C' }, cellStyle: { background: { color: '#F7F9FC' } } },&#10;          { text: 'Yes. Every run of the base.', textStyle: { color: '#4A5568' }, cellStyle: { background: { color: '#F7F9FC' } } },&#10;          { text: 'No. Only when a condition holds.', textStyle: { color: '#4A5568' }, cellStyle: { background: { color: '#F7F9FC' } } },&#10;        ],&#10;        [&#10;          { text: 'Is the base complete without it?', textStyle: { bold: true, color: '#0E3F8C' } },&#10;          { text: 'No. Remove it and the goal is unreachable.', textStyle: { color: '#4A5568' } },&#10;          { text: 'Yes. The goal is met either way.', textStyle: { color: '#4A5568' } },&#10;        ],&#10;        [&#10;          { text: 'Who depends on whom?', textStyle: { bold: true, color: '#0E3F8C' }, cellStyle: { background: { color: '#F7F9FC' } } },&#10;          { text: 'The base needs the included behaviour.', textStyle: { color: '#4A5568' }, cellStyle: { background: { color: '#F7F9FC' } } },&#10;          { text: 'The extension needs the base to hook into.', textStyle: { color: '#4A5568' }, cellStyle: { background: { color: '#F7F9FC' } } },&#10;        ],&#10;        [&#10;          { text: 'Arrow direction', textStyle: { bold: true, color: '#0E3F8C' } },&#10;          { text: 'Base → included', textStyle: { color: '#4A5568' } },&#10;          { text: 'Extension → base', textStyle: { color: '#4A5568' } },&#10;        ],&#10;        [&#10;          { text: 'Can it stand alone?', textStyle: { bold: true, color: '#0E3F8C' }, cellStyle: { background: { color: '#F7F9FC' } } },&#10;          { text: 'Usually not — nobody asks for it on its own.', textStyle: { color: '#4A5568' }, cellStyle: { background: { color: '#F7F9FC' } } },&#10;          { text: 'Often yes — it may be a small goal of its own.', textStyle: { color: '#4A5568' }, cellStyle: { background: { color: '#F7F9FC' } } },&#10;        ],&#10;        [&#10;          { text: 'Why you draw it', textStyle: { bold: true, color: '#0E3F8C' } },&#10;          { text: 'To stop writing the same behaviour three times.', textStyle: { color: '#4A5568' } },&#10;          { text: 'To keep a rare case out of the main text.', textStyle: { color: '#4A5568' } },&#10;        ],&#10;        [&#10;          { text: 'CampusBites example', textStyle: { bold: true, color: '#0E3F8C' }, cellStyle: { background: { color: '#F7F9FC' } } },&#10;          { text: 'Place Order includes Authenticate', textStyle: { color: '#4A5568' }, cellStyle: { background: { color: '#F7F9FC' } } },&#10;          { text: 'Apply Coupon extends Place Order', textStyle: { color: '#4A5568' }, cellStyle: { background: { color: '#F7F9FC' } } },&#10;        ],&#10;      ]}&#10;    /&gt;&#10;  &lt;/Box&gt;&#10;  &lt;Box style={{ height: 46, background: '#0E3F8C', padding: '0 40px', flexDirection: 'row', alignItems: 'center', justifyContent: 'center' }}&gt;&#10;    &lt;Text style={{ fontSize: 16, color: '#FFFFFF', fontWeight: '600' }}&gt;Ask only one question: is the base still complete without it? No → include. Yes → extend.&lt;/Text&gt;&#10;  &lt;/Box&gt;&#10;&lt;/Slide&gt;"/>
        <p:cNvGrpSpPr/>
        <p:nvPr/>
      </p:nvGrpSpPr>
      <p:grpSpPr>
        <a:xfrm>
          <a:off x="0" y="0"/>
          <a:ext cx="0" cy="0"/>
          <a:chOff x="0" y="0"/>
          <a:chExt cx="0" cy="0"/>
        </a:xfrm>
      </p:grpSpPr>
      <p:sp>
        <p:nvSpPr>
          <p:cNvPr id="384" name=""/>
          <p:cNvSpPr/>
          <p:nvPr/>
        </p:nvSpPr>
        <p:spPr>
          <a:xfrm rot="0" flipH="0" flipV="0">
            <a:off x="0" y="0"/>
            <a:ext cx="12192000" cy="6858000"/>
          </a:xfrm>
          <a:prstGeom prst="rect">
            <a:avLst/>
          </a:prstGeom>
          <a:solidFill>
            <a:srgbClr val="FFFFFF"/>
          </a:solidFill>
          <a:ln/>
        </p:spPr>
        <p:txBody>
          <a:bodyPr/>
          <a:p/>
        </p:txBody>
      </p:sp>
      <p:sp>
        <p:nvSpPr>
          <p:cNvPr id="385" name=""/>
          <p:cNvSpPr/>
          <p:nvPr/>
        </p:nvSpPr>
        <p:spPr>
          <a:xfrm rot="0" flipH="0" flipV="0">
            <a:off x="0" y="0"/>
            <a:ext cx="12192000" cy="685800"/>
          </a:xfrm>
          <a:prstGeom prst="rect">
            <a:avLst/>
          </a:prstGeom>
          <a:solidFill>
            <a:srgbClr val="1E4FA8"/>
          </a:solidFill>
          <a:ln/>
        </p:spPr>
        <p:txBody>
          <a:bodyPr/>
          <a:p/>
        </p:txBody>
      </p:sp>
      <p:sp>
        <p:nvSpPr>
          <p:cNvPr id="386" name="" descr="{&quot;isTemplate&quot;:true,&quot;type&quot;:&quot;text&quot;}"/>
          <p:cNvSpPr txBox="1"/>
          <p:nvPr/>
        </p:nvSpPr>
        <p:spPr>
          <a:xfrm rot="0" flipH="0" flipV="0">
            <a:off x="381000" y="257175"/>
            <a:ext cx="4067175" cy="171450"/>
          </a:xfrm>
          <a:prstGeom prst="rect"/>
        </p:spPr>
        <p:txBody>
          <a:bodyPr wrap="none" lIns="0" tIns="0" rIns="0" bIns="0"/>
          <a:p>
            <a:pPr>
              <a:lnSpc>
                <a:spcPct val="100000"/>
              </a:lnSpc>
            </a:pPr>
            <a:r>
              <a:rPr lang="en-US" sz="1125" spc="75">
                <a:solidFill>
                  <a:srgbClr val="B9CDF0"/>
                </a:solidFill>
                <a:latin typeface="Microsoft YaHei"/>
                <a:ea typeface="Microsoft YaHei"/>
              </a:rPr>
              <a:t>ISAD · INFORMATION SYSTEMS ANALYSIS &amp; DESIGN</a:t>
            </a:r>
            <a:endParaRPr/>
          </a:p>
        </p:txBody>
      </p:sp>
      <p:sp>
        <p:nvSpPr>
          <p:cNvPr id="387" name="" descr="{&quot;isTemplate&quot;:true,&quot;type&quot;:&quot;text&quot;}"/>
          <p:cNvSpPr txBox="1"/>
          <p:nvPr/>
        </p:nvSpPr>
        <p:spPr>
          <a:xfrm rot="0" flipH="0" flipV="0">
            <a:off x="10001250" y="257175"/>
            <a:ext cx="1809750" cy="171450"/>
          </a:xfrm>
          <a:prstGeom prst="rect"/>
        </p:spPr>
        <p:txBody>
          <a:bodyPr wrap="none" lIns="0" tIns="0" rIns="0" bIns="0"/>
          <a:p>
            <a:pPr>
              <a:lnSpc>
                <a:spcPct val="100000"/>
              </a:lnSpc>
            </a:pPr>
            <a:r>
              <a:rPr lang="en-US" sz="1125">
                <a:solidFill>
                  <a:srgbClr val="B9CDF0"/>
                </a:solidFill>
                <a:latin typeface="Microsoft YaHei"/>
                <a:ea typeface="Microsoft YaHei"/>
              </a:rPr>
              <a:t>W04 · INCLUDE &amp; EXTEND</a:t>
            </a:r>
            <a:endParaRPr/>
          </a:p>
        </p:txBody>
      </p:sp>
      <p:sp>
        <p:nvSpPr>
          <p:cNvPr id="388" name="" descr="{&quot;isTemplate&quot;:true,&quot;type&quot;:&quot;text&quot;}"/>
          <p:cNvSpPr txBox="1"/>
          <p:nvPr/>
        </p:nvSpPr>
        <p:spPr>
          <a:xfrm rot="0" flipH="0" flipV="0">
            <a:off x="381000" y="819150"/>
            <a:ext cx="5353050" cy="333375"/>
          </a:xfrm>
          <a:prstGeom prst="rect"/>
        </p:spPr>
        <p:txBody>
          <a:bodyPr wrap="none" lIns="0" tIns="0" rIns="0" bIns="0"/>
          <a:p>
            <a:pPr>
              <a:lnSpc>
                <a:spcPct val="100000"/>
              </a:lnSpc>
            </a:pPr>
            <a:r>
              <a:rPr lang="en-US" sz="2175" b="1">
                <a:solidFill>
                  <a:srgbClr val="0E3F8C"/>
                </a:solidFill>
                <a:latin typeface="Microsoft YaHei"/>
                <a:ea typeface="Microsoft YaHei"/>
              </a:rPr>
              <a:t>Include vs. Extend — The Decision Table</a:t>
            </a:r>
            <a:endParaRPr/>
          </a:p>
        </p:txBody>
      </p:sp>
      <p:sp>
        <p:nvSpPr>
          <p:cNvPr id="389" name="" descr="{&quot;isTemplate&quot;:true,&quot;type&quot;:&quot;text&quot;}"/>
          <p:cNvSpPr txBox="1"/>
          <p:nvPr/>
        </p:nvSpPr>
        <p:spPr>
          <a:xfrm rot="0" flipH="0" flipV="0">
            <a:off x="11401425" y="904875"/>
            <a:ext cx="409575" cy="161925"/>
          </a:xfrm>
          <a:prstGeom prst="rect"/>
        </p:spPr>
        <p:txBody>
          <a:bodyPr wrap="none" lIns="0" tIns="0" rIns="0" bIns="0"/>
          <a:p>
            <a:pPr>
              <a:lnSpc>
                <a:spcPct val="100000"/>
              </a:lnSpc>
            </a:pPr>
            <a:r>
              <a:rPr lang="en-US" sz="1050" b="1">
                <a:solidFill>
                  <a:srgbClr val="1E4FA8"/>
                </a:solidFill>
                <a:latin typeface="Microsoft YaHei"/>
                <a:ea typeface="Microsoft YaHei"/>
              </a:rPr>
              <a:t>23 / 38</a:t>
            </a:r>
            <a:endParaRPr/>
          </a:p>
        </p:txBody>
      </p:sp>
      <p:graphicFrame>
        <p:nvGraphicFramePr>
          <p:cNvPr id="390" name=""/>
          <p:cNvGraphicFramePr/>
          <p:nvPr/>
        </p:nvGraphicFramePr>
        <p:xfrm rot="0" flipH="0" flipV="0">
          <a:off x="381000" y="1247775"/>
          <a:ext cx="11430000" cy="5114925"/>
        </p:xfrm>
        <a:graphic>
          <a:graphicData uri="http://schemas.openxmlformats.org/drawingml/2006/table">
            <a:tbl>
              <a:tblGrid>
                <a:gridCol w="3101768">
                  <a:extLst>
                    <a:ext uri="{9D8B030D-6E8A-4147-A177-3AD203B41FA5}">
                      <a16:colId val="1"/>
                    </a:ext>
                  </a:extLst>
                </a:gridCol>
                <a:gridCol w="4229158">
                  <a:extLst>
                    <a:ext uri="{9D8B030D-6E8A-4147-A177-3AD203B41FA5}">
                      <a16:colId val="2"/>
                    </a:ext>
                  </a:extLst>
                </a:gridCol>
                <a:gridCol w="4099074">
                  <a:extLst>
                    <a:ext uri="{9D8B030D-6E8A-4147-A177-3AD203B41FA5}">
                      <a16:colId val="3"/>
                    </a:ext>
                  </a:extLst>
                </a:gridCol>
              </a:tblGrid>
              <a:tr h="639366">
                <a:tc>
                  <a:txBody>
                    <a:bodyPr wrap="square" lIns="0" tIns="0" rIns="0" bIns="0" anchor="ctr">
                      <a:normAutofit/>
                    </a:bodyPr>
                    <a:p>
                      <a:pPr marL="114300" marR="114300" algn="l">
                        <a:lnSpc>
                          <a:spcPct val="120000"/>
                        </a:lnSpc>
                      </a:pPr>
                      <a:r>
                        <a:rPr sz="1013" b="1">
                          <a:solidFill>
                            <a:srgbClr val="FFFFFF"/>
                          </a:solidFill>
                          <a:latin typeface="Microsoft YaHei"/>
                          <a:ea typeface="Microsoft YaHei"/>
                        </a:rPr>
                        <a:t>Dimension</a:t>
                      </a:r>
                      <a:endParaRPr/>
                    </a:p>
                  </a:txBody>
                  <a:tcPr marL="45720" marR="45720" marT="45720" marB="45720" anchor="ctr">
                    <a:lnL>
                      <a:noFill/>
                    </a:lnL>
                    <a:lnR>
                      <a:noFill/>
                    </a:lnR>
                    <a:lnT>
                      <a:noFill/>
                    </a:lnT>
                    <a:lnB>
                      <a:noFill/>
                    </a:lnB>
                    <a:solidFill>
                      <a:srgbClr val="0E3F8C"/>
                    </a:solidFill>
                  </a:tcPr>
                </a:tc>
                <a:tc>
                  <a:txBody>
                    <a:bodyPr wrap="square" lIns="0" tIns="0" rIns="0" bIns="0" anchor="ctr">
                      <a:normAutofit/>
                    </a:bodyPr>
                    <a:p>
                      <a:pPr marL="114300" marR="114300" algn="l">
                        <a:lnSpc>
                          <a:spcPct val="120000"/>
                        </a:lnSpc>
                      </a:pPr>
                      <a:r>
                        <a:rPr sz="1013" b="1">
                          <a:solidFill>
                            <a:srgbClr val="FFFFFF"/>
                          </a:solidFill>
                          <a:latin typeface="Microsoft YaHei"/>
                          <a:ea typeface="Microsoft YaHei"/>
                        </a:rPr>
                        <a:t>&lt;&lt;include&gt;&gt;</a:t>
                      </a:r>
                      <a:endParaRPr/>
                    </a:p>
                  </a:txBody>
                  <a:tcPr marL="45720" marR="45720" marT="45720" marB="45720" anchor="ctr">
                    <a:lnL>
                      <a:noFill/>
                    </a:lnL>
                    <a:lnR>
                      <a:noFill/>
                    </a:lnR>
                    <a:lnT>
                      <a:noFill/>
                    </a:lnT>
                    <a:lnB>
                      <a:noFill/>
                    </a:lnB>
                    <a:solidFill>
                      <a:srgbClr val="1E4FA8"/>
                    </a:solidFill>
                  </a:tcPr>
                </a:tc>
                <a:tc>
                  <a:txBody>
                    <a:bodyPr wrap="square" lIns="0" tIns="0" rIns="0" bIns="0" anchor="ctr">
                      <a:normAutofit/>
                    </a:bodyPr>
                    <a:p>
                      <a:pPr marL="114300" marR="114300" algn="l">
                        <a:lnSpc>
                          <a:spcPct val="120000"/>
                        </a:lnSpc>
                      </a:pPr>
                      <a:r>
                        <a:rPr sz="1013" b="1">
                          <a:solidFill>
                            <a:srgbClr val="FFFFFF"/>
                          </a:solidFill>
                          <a:latin typeface="Microsoft YaHei"/>
                          <a:ea typeface="Microsoft YaHei"/>
                        </a:rPr>
                        <a:t>&lt;&lt;extend&gt;&gt;</a:t>
                      </a:r>
                      <a:endParaRPr/>
                    </a:p>
                  </a:txBody>
                  <a:tcPr marL="45720" marR="45720" marT="45720" marB="45720" anchor="ctr">
                    <a:lnL>
                      <a:noFill/>
                    </a:lnL>
                    <a:lnR>
                      <a:noFill/>
                    </a:lnR>
                    <a:lnT>
                      <a:noFill/>
                    </a:lnT>
                    <a:lnB>
                      <a:noFill/>
                    </a:lnB>
                    <a:solidFill>
                      <a:srgbClr val="3D7BD9"/>
                    </a:solidFill>
                  </a:tcPr>
                </a:tc>
                <a:extLst>
                  <a:ext uri="{0D108BD9-81ED-4DB2-BD59-A6C34878D82A}">
                    <a16:rowId val="1"/>
                  </a:ext>
                </a:extLst>
              </a:tr>
              <a:tr h="639366">
                <a:tc>
                  <a:txBody>
                    <a:bodyPr wrap="square" lIns="0" tIns="0" rIns="0" bIns="0" anchor="ctr">
                      <a:normAutofit/>
                    </a:bodyPr>
                    <a:p>
                      <a:pPr marL="114300" marR="114300" algn="l">
                        <a:lnSpc>
                          <a:spcPct val="120000"/>
                        </a:lnSpc>
                      </a:pPr>
                      <a:r>
                        <a:rPr sz="1013" b="1">
                          <a:solidFill>
                            <a:srgbClr val="0E3F8C"/>
                          </a:solidFill>
                          <a:latin typeface="Microsoft YaHei"/>
                          <a:ea typeface="Microsoft YaHei"/>
                        </a:rPr>
                        <a:t>Does it always happen?</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Yes. Every run of the base.</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No. Only when a condition holds.</a:t>
                      </a:r>
                      <a:endParaRPr/>
                    </a:p>
                  </a:txBody>
                  <a:tcPr marL="45720" marR="45720" marT="45720" marB="45720" anchor="ctr">
                    <a:lnL>
                      <a:noFill/>
                    </a:lnL>
                    <a:lnR>
                      <a:noFill/>
                    </a:lnR>
                    <a:lnT>
                      <a:noFill/>
                    </a:lnT>
                    <a:lnB>
                      <a:noFill/>
                    </a:lnB>
                    <a:solidFill>
                      <a:srgbClr val="F7F9FC"/>
                    </a:solidFill>
                  </a:tcPr>
                </a:tc>
                <a:extLst>
                  <a:ext uri="{0D108BD9-81ED-4DB2-BD59-A6C34878D82A}">
                    <a16:rowId val="2"/>
                  </a:ext>
                </a:extLst>
              </a:tr>
              <a:tr h="639366">
                <a:tc>
                  <a:txBody>
                    <a:bodyPr wrap="square" lIns="0" tIns="0" rIns="0" bIns="0" anchor="ctr">
                      <a:normAutofit/>
                    </a:bodyPr>
                    <a:p>
                      <a:pPr marL="114300" marR="114300" algn="l">
                        <a:lnSpc>
                          <a:spcPct val="120000"/>
                        </a:lnSpc>
                      </a:pPr>
                      <a:r>
                        <a:rPr sz="1013" b="1">
                          <a:solidFill>
                            <a:srgbClr val="0E3F8C"/>
                          </a:solidFill>
                          <a:latin typeface="Microsoft YaHei"/>
                          <a:ea typeface="Microsoft YaHei"/>
                        </a:rPr>
                        <a:t>Is the base complete without it?</a:t>
                      </a:r>
                      <a:endParaRPr/>
                    </a:p>
                  </a:txBody>
                  <a:tcPr marL="45720" marR="45720" marT="45720" marB="45720" anchor="ctr">
                    <a:lnL>
                      <a:noFill/>
                    </a:lnL>
                    <a:lnR>
                      <a:noFill/>
                    </a:lnR>
                    <a:lnT>
                      <a:noFill/>
                    </a:lnT>
                    <a:lnB>
                      <a:noFill/>
                    </a:lnB>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No. Remove it and the goal is unreachable.</a:t>
                      </a:r>
                      <a:endParaRPr/>
                    </a:p>
                  </a:txBody>
                  <a:tcPr marL="45720" marR="45720" marT="45720" marB="45720" anchor="ctr">
                    <a:lnL>
                      <a:noFill/>
                    </a:lnL>
                    <a:lnR>
                      <a:noFill/>
                    </a:lnR>
                    <a:lnT>
                      <a:noFill/>
                    </a:lnT>
                    <a:lnB>
                      <a:noFill/>
                    </a:lnB>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Yes. The goal is met either way.</a:t>
                      </a:r>
                      <a:endParaRPr/>
                    </a:p>
                  </a:txBody>
                  <a:tcPr marL="45720" marR="45720" marT="45720" marB="45720" anchor="ctr">
                    <a:lnL>
                      <a:noFill/>
                    </a:lnL>
                    <a:lnR>
                      <a:noFill/>
                    </a:lnR>
                    <a:lnT>
                      <a:noFill/>
                    </a:lnT>
                    <a:lnB>
                      <a:noFill/>
                    </a:lnB>
                  </a:tcPr>
                </a:tc>
                <a:extLst>
                  <a:ext uri="{0D108BD9-81ED-4DB2-BD59-A6C34878D82A}">
                    <a16:rowId val="3"/>
                  </a:ext>
                </a:extLst>
              </a:tr>
              <a:tr h="639366">
                <a:tc>
                  <a:txBody>
                    <a:bodyPr wrap="square" lIns="0" tIns="0" rIns="0" bIns="0" anchor="ctr">
                      <a:normAutofit/>
                    </a:bodyPr>
                    <a:p>
                      <a:pPr marL="114300" marR="114300" algn="l">
                        <a:lnSpc>
                          <a:spcPct val="120000"/>
                        </a:lnSpc>
                      </a:pPr>
                      <a:r>
                        <a:rPr sz="1013" b="1">
                          <a:solidFill>
                            <a:srgbClr val="0E3F8C"/>
                          </a:solidFill>
                          <a:latin typeface="Microsoft YaHei"/>
                          <a:ea typeface="Microsoft YaHei"/>
                        </a:rPr>
                        <a:t>Who depends on whom?</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The base needs the included behaviour.</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The extension needs the base to hook into.</a:t>
                      </a:r>
                      <a:endParaRPr/>
                    </a:p>
                  </a:txBody>
                  <a:tcPr marL="45720" marR="45720" marT="45720" marB="45720" anchor="ctr">
                    <a:lnL>
                      <a:noFill/>
                    </a:lnL>
                    <a:lnR>
                      <a:noFill/>
                    </a:lnR>
                    <a:lnT>
                      <a:noFill/>
                    </a:lnT>
                    <a:lnB>
                      <a:noFill/>
                    </a:lnB>
                    <a:solidFill>
                      <a:srgbClr val="F7F9FC"/>
                    </a:solidFill>
                  </a:tcPr>
                </a:tc>
                <a:extLst>
                  <a:ext uri="{0D108BD9-81ED-4DB2-BD59-A6C34878D82A}">
                    <a16:rowId val="4"/>
                  </a:ext>
                </a:extLst>
              </a:tr>
              <a:tr h="639366">
                <a:tc>
                  <a:txBody>
                    <a:bodyPr wrap="square" lIns="0" tIns="0" rIns="0" bIns="0" anchor="ctr">
                      <a:normAutofit/>
                    </a:bodyPr>
                    <a:p>
                      <a:pPr marL="114300" marR="114300" algn="l">
                        <a:lnSpc>
                          <a:spcPct val="120000"/>
                        </a:lnSpc>
                      </a:pPr>
                      <a:r>
                        <a:rPr sz="1013" b="1">
                          <a:solidFill>
                            <a:srgbClr val="0E3F8C"/>
                          </a:solidFill>
                          <a:latin typeface="Microsoft YaHei"/>
                          <a:ea typeface="Microsoft YaHei"/>
                        </a:rPr>
                        <a:t>Arrow direction</a:t>
                      </a:r>
                      <a:endParaRPr/>
                    </a:p>
                  </a:txBody>
                  <a:tcPr marL="45720" marR="45720" marT="45720" marB="45720" anchor="ctr">
                    <a:lnL>
                      <a:noFill/>
                    </a:lnL>
                    <a:lnR>
                      <a:noFill/>
                    </a:lnR>
                    <a:lnT>
                      <a:noFill/>
                    </a:lnT>
                    <a:lnB>
                      <a:noFill/>
                    </a:lnB>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Base → included</a:t>
                      </a:r>
                      <a:endParaRPr/>
                    </a:p>
                  </a:txBody>
                  <a:tcPr marL="45720" marR="45720" marT="45720" marB="45720" anchor="ctr">
                    <a:lnL>
                      <a:noFill/>
                    </a:lnL>
                    <a:lnR>
                      <a:noFill/>
                    </a:lnR>
                    <a:lnT>
                      <a:noFill/>
                    </a:lnT>
                    <a:lnB>
                      <a:noFill/>
                    </a:lnB>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Extension → base</a:t>
                      </a:r>
                      <a:endParaRPr/>
                    </a:p>
                  </a:txBody>
                  <a:tcPr marL="45720" marR="45720" marT="45720" marB="45720" anchor="ctr">
                    <a:lnL>
                      <a:noFill/>
                    </a:lnL>
                    <a:lnR>
                      <a:noFill/>
                    </a:lnR>
                    <a:lnT>
                      <a:noFill/>
                    </a:lnT>
                    <a:lnB>
                      <a:noFill/>
                    </a:lnB>
                  </a:tcPr>
                </a:tc>
                <a:extLst>
                  <a:ext uri="{0D108BD9-81ED-4DB2-BD59-A6C34878D82A}">
                    <a16:rowId val="5"/>
                  </a:ext>
                </a:extLst>
              </a:tr>
              <a:tr h="639366">
                <a:tc>
                  <a:txBody>
                    <a:bodyPr wrap="square" lIns="0" tIns="0" rIns="0" bIns="0" anchor="ctr">
                      <a:normAutofit/>
                    </a:bodyPr>
                    <a:p>
                      <a:pPr marL="114300" marR="114300" algn="l">
                        <a:lnSpc>
                          <a:spcPct val="120000"/>
                        </a:lnSpc>
                      </a:pPr>
                      <a:r>
                        <a:rPr sz="1013" b="1">
                          <a:solidFill>
                            <a:srgbClr val="0E3F8C"/>
                          </a:solidFill>
                          <a:latin typeface="Microsoft YaHei"/>
                          <a:ea typeface="Microsoft YaHei"/>
                        </a:rPr>
                        <a:t>Can it stand alone?</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Usually not — nobody asks for it on its own.</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Often yes — it may be a small goal of its own.</a:t>
                      </a:r>
                      <a:endParaRPr/>
                    </a:p>
                  </a:txBody>
                  <a:tcPr marL="45720" marR="45720" marT="45720" marB="45720" anchor="ctr">
                    <a:lnL>
                      <a:noFill/>
                    </a:lnL>
                    <a:lnR>
                      <a:noFill/>
                    </a:lnR>
                    <a:lnT>
                      <a:noFill/>
                    </a:lnT>
                    <a:lnB>
                      <a:noFill/>
                    </a:lnB>
                    <a:solidFill>
                      <a:srgbClr val="F7F9FC"/>
                    </a:solidFill>
                  </a:tcPr>
                </a:tc>
                <a:extLst>
                  <a:ext uri="{0D108BD9-81ED-4DB2-BD59-A6C34878D82A}">
                    <a16:rowId val="6"/>
                  </a:ext>
                </a:extLst>
              </a:tr>
              <a:tr h="639366">
                <a:tc>
                  <a:txBody>
                    <a:bodyPr wrap="square" lIns="0" tIns="0" rIns="0" bIns="0" anchor="ctr">
                      <a:normAutofit/>
                    </a:bodyPr>
                    <a:p>
                      <a:pPr marL="114300" marR="114300" algn="l">
                        <a:lnSpc>
                          <a:spcPct val="120000"/>
                        </a:lnSpc>
                      </a:pPr>
                      <a:r>
                        <a:rPr sz="1013" b="1">
                          <a:solidFill>
                            <a:srgbClr val="0E3F8C"/>
                          </a:solidFill>
                          <a:latin typeface="Microsoft YaHei"/>
                          <a:ea typeface="Microsoft YaHei"/>
                        </a:rPr>
                        <a:t>Why you draw it</a:t>
                      </a:r>
                      <a:endParaRPr/>
                    </a:p>
                  </a:txBody>
                  <a:tcPr marL="45720" marR="45720" marT="45720" marB="45720" anchor="ctr">
                    <a:lnL>
                      <a:noFill/>
                    </a:lnL>
                    <a:lnR>
                      <a:noFill/>
                    </a:lnR>
                    <a:lnT>
                      <a:noFill/>
                    </a:lnT>
                    <a:lnB>
                      <a:noFill/>
                    </a:lnB>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To stop writing the same behaviour three times.</a:t>
                      </a:r>
                      <a:endParaRPr/>
                    </a:p>
                  </a:txBody>
                  <a:tcPr marL="45720" marR="45720" marT="45720" marB="45720" anchor="ctr">
                    <a:lnL>
                      <a:noFill/>
                    </a:lnL>
                    <a:lnR>
                      <a:noFill/>
                    </a:lnR>
                    <a:lnT>
                      <a:noFill/>
                    </a:lnT>
                    <a:lnB>
                      <a:noFill/>
                    </a:lnB>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To keep a rare case out of the main text.</a:t>
                      </a:r>
                      <a:endParaRPr/>
                    </a:p>
                  </a:txBody>
                  <a:tcPr marL="45720" marR="45720" marT="45720" marB="45720" anchor="ctr">
                    <a:lnL>
                      <a:noFill/>
                    </a:lnL>
                    <a:lnR>
                      <a:noFill/>
                    </a:lnR>
                    <a:lnT>
                      <a:noFill/>
                    </a:lnT>
                    <a:lnB>
                      <a:noFill/>
                    </a:lnB>
                  </a:tcPr>
                </a:tc>
                <a:extLst>
                  <a:ext uri="{0D108BD9-81ED-4DB2-BD59-A6C34878D82A}">
                    <a16:rowId val="7"/>
                  </a:ext>
                </a:extLst>
              </a:tr>
              <a:tr h="639366">
                <a:tc>
                  <a:txBody>
                    <a:bodyPr wrap="square" lIns="0" tIns="0" rIns="0" bIns="0" anchor="ctr">
                      <a:normAutofit/>
                    </a:bodyPr>
                    <a:p>
                      <a:pPr marL="114300" marR="114300" algn="l">
                        <a:lnSpc>
                          <a:spcPct val="120000"/>
                        </a:lnSpc>
                      </a:pPr>
                      <a:r>
                        <a:rPr sz="1013" b="1">
                          <a:solidFill>
                            <a:srgbClr val="0E3F8C"/>
                          </a:solidFill>
                          <a:latin typeface="Microsoft YaHei"/>
                          <a:ea typeface="Microsoft YaHei"/>
                        </a:rPr>
                        <a:t>CampusBites example</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Place Order includes Authenticate</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Apply Coupon extends Place Order</a:t>
                      </a:r>
                      <a:endParaRPr/>
                    </a:p>
                  </a:txBody>
                  <a:tcPr marL="45720" marR="45720" marT="45720" marB="45720" anchor="ctr">
                    <a:lnL>
                      <a:noFill/>
                    </a:lnL>
                    <a:lnR>
                      <a:noFill/>
                    </a:lnR>
                    <a:lnT>
                      <a:noFill/>
                    </a:lnT>
                    <a:lnB>
                      <a:noFill/>
                    </a:lnB>
                    <a:solidFill>
                      <a:srgbClr val="F7F9FC"/>
                    </a:solidFill>
                  </a:tcPr>
                </a:tc>
                <a:extLst>
                  <a:ext uri="{0D108BD9-81ED-4DB2-BD59-A6C34878D82A}">
                    <a16:rowId val="8"/>
                  </a:ext>
                </a:extLst>
              </a:tr>
            </a:tbl>
          </a:graphicData>
        </a:graphic>
      </p:graphicFrame>
      <p:sp>
        <p:nvSpPr>
          <p:cNvPr id="391" name=""/>
          <p:cNvSpPr/>
          <p:nvPr/>
        </p:nvSpPr>
        <p:spPr>
          <a:xfrm rot="0" flipH="0" flipV="0">
            <a:off x="0" y="6419850"/>
            <a:ext cx="12192000" cy="438150"/>
          </a:xfrm>
          <a:prstGeom prst="rect">
            <a:avLst/>
          </a:prstGeom>
          <a:solidFill>
            <a:srgbClr val="0E3F8C"/>
          </a:solidFill>
          <a:ln/>
        </p:spPr>
        <p:txBody>
          <a:bodyPr/>
          <a:p/>
        </p:txBody>
      </p:sp>
      <p:sp>
        <p:nvSpPr>
          <p:cNvPr id="392" name="" descr="{&quot;isTemplate&quot;:true,&quot;type&quot;:&quot;text&quot;}"/>
          <p:cNvSpPr txBox="1"/>
          <p:nvPr/>
        </p:nvSpPr>
        <p:spPr>
          <a:xfrm rot="0" flipH="0" flipV="0">
            <a:off x="2857500" y="6543675"/>
            <a:ext cx="6477000" cy="190500"/>
          </a:xfrm>
          <a:prstGeom prst="rect"/>
        </p:spPr>
        <p:txBody>
          <a:bodyPr wrap="none" lIns="0" tIns="0" rIns="0" bIns="0"/>
          <a:p>
            <a:pPr>
              <a:lnSpc>
                <a:spcPct val="100000"/>
              </a:lnSpc>
            </a:pPr>
            <a:r>
              <a:rPr lang="en-US" sz="1200" b="1">
                <a:solidFill>
                  <a:srgbClr val="FFFFFF"/>
                </a:solidFill>
                <a:latin typeface="Microsoft YaHei"/>
                <a:ea typeface="Microsoft YaHei"/>
              </a:rPr>
              <a:t>Ask only one question: is the base still complete without it? No → include. Yes → extend.</a:t>
            </a:r>
            <a:endParaRPr/>
          </a:p>
        </p:txBody>
      </p:sp>
    </p:spTree>
  </p:cSld>
</p:sld>
</file>

<file path=ppt/slides/slide24.xml><?xml version="1.0" encoding="utf-8"?>
<p:sld xmlns:a="http://schemas.openxmlformats.org/drawingml/2006/main" xmlns:p="http://schemas.openxmlformats.org/presentationml/2006/main">
  <p:cSld>
    <p:spTree>
      <p:nvGrpSpPr>
        <p:cNvPr id="393" name="" descr="&lt;Slide style={{ background: '#0E3F8C', padding: 0 }}&gt;&#10;  &lt;Box style={{ flexDirection: 'row', height: '100%', position: 'relative' }}&gt;&#10;    &lt;Box style={{ position: 'absolute', top: 0, left: 0, right: 0, height: 8, background: '#1E4FA8' }} /&gt;&#10;    &lt;Box style={{ width: 300, justifyContent: 'center', alignItems: 'center', borderRight: '1px solid #2B5793' }}&gt;&#10;      &lt;Text style={{ fontSize: 220, fontWeight: 'bold', color: '#3D7BD9', fontFamily: 'Georgia, serif', lineHeight: 1 }}&gt;05&lt;/Text&gt;&#10;    &lt;/Box&gt;&#10;    &lt;Box style={{ flex: 1, padding: '70px 64px', flexDirection: 'column', justifyContent: 'center' }}&gt;&#10;      &lt;Text style={{ fontSize: 15, color: '#7FA2D6', letterSpacing: 2, marginBottom: 18 }}&gt;PART 1 · LECTURE&lt;/Text&gt;&#10;      &lt;Text style={{ fontSize: 46, fontWeight: 'bold', color: '#FFFFFF', lineHeight: 1.18 }}&gt;Finding&lt;br /&gt;Use Cases&lt;/Text&gt;&#10;      &lt;Box style={{ width: 64, height: 4, background: '#FFC107', marginTop: 26, marginBottom: 26 }} /&gt;&#10;      &lt;Box style={{ flexDirection: 'column', gap: 12 }}&gt;&#10;        {[&#10;          'Two heuristics: events, and the noun-verb scan',&#10;          'Six use cases fall out of the CampusBites pack',&#10;          'A name is not a use case — the text comes in Week 05',&#10;        ].map((t) =&gt; (&#10;          &lt;Box key={t} style={{ flexDirection: 'row', alignItems: 'center', gap: 12 }}&gt;&#10;            &lt;Box style={{ width: 8, height: 8, borderRadius: 4, background: '#3D7BD9' }} /&gt;&#10;            &lt;Text style={{ fontSize: 20, color: '#C5D4EA' }}&gt;{t}&lt;/Text&gt;&#10;          &lt;/Box&gt;&#10;        ))}&#10;      &lt;/Box&gt;&#10;    &lt;/Box&gt;&#10;  &lt;/Box&gt;&#10;&lt;/Slide&gt;"/>
        <p:cNvGrpSpPr/>
        <p:nvPr/>
      </p:nvGrpSpPr>
      <p:grpSpPr>
        <a:xfrm>
          <a:off x="0" y="0"/>
          <a:ext cx="0" cy="0"/>
          <a:chOff x="0" y="0"/>
          <a:chExt cx="0" cy="0"/>
        </a:xfrm>
      </p:grpSpPr>
      <p:sp>
        <p:nvSpPr>
          <p:cNvPr id="394" name=""/>
          <p:cNvSpPr/>
          <p:nvPr/>
        </p:nvSpPr>
        <p:spPr>
          <a:xfrm rot="0" flipH="0" flipV="0">
            <a:off x="0" y="0"/>
            <a:ext cx="12192000" cy="6858000"/>
          </a:xfrm>
          <a:prstGeom prst="rect">
            <a:avLst/>
          </a:prstGeom>
          <a:solidFill>
            <a:srgbClr val="0E3F8C"/>
          </a:solidFill>
          <a:ln/>
        </p:spPr>
        <p:txBody>
          <a:bodyPr/>
          <a:p/>
        </p:txBody>
      </p:sp>
      <p:sp>
        <p:nvSpPr>
          <p:cNvPr id="395" name=""/>
          <p:cNvSpPr/>
          <p:nvPr/>
        </p:nvSpPr>
        <p:spPr>
          <a:xfrm rot="0" flipH="0" flipV="0">
            <a:off x="0" y="0"/>
            <a:ext cx="2857500" cy="6858000"/>
          </a:xfrm>
          <a:custGeom>
            <a:pathLst>
              <a:path w="300" h="720">
                <a:moveTo>
                  <a:pt x="299" y="0"/>
                </a:moveTo>
                <a:lnTo>
                  <a:pt x="300" y="0"/>
                </a:lnTo>
                <a:lnTo>
                  <a:pt x="300" y="720"/>
                </a:lnTo>
                <a:lnTo>
                  <a:pt x="299" y="720"/>
                </a:lnTo>
                <a:close/>
              </a:path>
            </a:pathLst>
          </a:custGeom>
          <a:solidFill>
            <a:srgbClr val="2B5793"/>
          </a:solidFill>
          <a:ln/>
        </p:spPr>
        <p:txBody>
          <a:bodyPr/>
          <a:p/>
        </p:txBody>
      </p:sp>
      <p:sp>
        <p:nvSpPr>
          <p:cNvPr id="396" name="" descr="{&quot;isTemplate&quot;:true,&quot;type&quot;:&quot;text&quot;}"/>
          <p:cNvSpPr txBox="1"/>
          <p:nvPr/>
        </p:nvSpPr>
        <p:spPr>
          <a:xfrm rot="0" flipH="0" flipV="0">
            <a:off x="57150" y="2171700"/>
            <a:ext cx="2733675" cy="2514600"/>
          </a:xfrm>
          <a:prstGeom prst="rect"/>
        </p:spPr>
        <p:txBody>
          <a:bodyPr wrap="none" lIns="0" tIns="0" rIns="0" bIns="0"/>
          <a:p>
            <a:pPr>
              <a:lnSpc>
                <a:spcPct val="100000"/>
              </a:lnSpc>
            </a:pPr>
            <a:r>
              <a:rPr lang="en-US" sz="16500" b="1">
                <a:solidFill>
                  <a:srgbClr val="3D7BD9"/>
                </a:solidFill>
                <a:latin typeface="Georgia"/>
                <a:ea typeface="Georgia"/>
              </a:rPr>
              <a:t>05</a:t>
            </a:r>
            <a:endParaRPr/>
          </a:p>
        </p:txBody>
      </p:sp>
      <p:sp>
        <p:nvSpPr>
          <p:cNvPr id="397" name="" descr="{&quot;isTemplate&quot;:true,&quot;type&quot;:&quot;text&quot;}"/>
          <p:cNvSpPr txBox="1"/>
          <p:nvPr/>
        </p:nvSpPr>
        <p:spPr>
          <a:xfrm rot="0" flipH="0" flipV="0">
            <a:off x="3467100" y="1914525"/>
            <a:ext cx="8115300" cy="171450"/>
          </a:xfrm>
          <a:prstGeom prst="rect"/>
        </p:spPr>
        <p:txBody>
          <a:bodyPr wrap="none" lIns="0" tIns="0" rIns="0" bIns="0"/>
          <a:p>
            <a:pPr>
              <a:lnSpc>
                <a:spcPct val="100000"/>
              </a:lnSpc>
            </a:pPr>
            <a:r>
              <a:rPr lang="en-US" sz="1125" spc="150">
                <a:solidFill>
                  <a:srgbClr val="7FA2D6"/>
                </a:solidFill>
                <a:latin typeface="Microsoft YaHei"/>
                <a:ea typeface="Microsoft YaHei"/>
              </a:rPr>
              <a:t>PART 1 · LECTURE</a:t>
            </a:r>
            <a:endParaRPr/>
          </a:p>
        </p:txBody>
      </p:sp>
      <p:sp>
        <p:nvSpPr>
          <p:cNvPr id="398" name="" descr="{&quot;isTemplate&quot;:true,&quot;type&quot;:&quot;text&quot;}"/>
          <p:cNvSpPr txBox="1"/>
          <p:nvPr/>
        </p:nvSpPr>
        <p:spPr>
          <a:xfrm rot="0" flipH="0" flipV="0">
            <a:off x="3467100" y="2257425"/>
            <a:ext cx="8115300" cy="1247775"/>
          </a:xfrm>
          <a:prstGeom prst="rect"/>
        </p:spPr>
        <p:txBody>
          <a:bodyPr wrap="none" lIns="0" tIns="0" rIns="0" bIns="0"/>
          <a:p>
            <a:pPr>
              <a:lnSpc>
                <a:spcPct val="118000"/>
              </a:lnSpc>
            </a:pPr>
            <a:r>
              <a:rPr lang="en-US" sz="3450" b="1">
                <a:solidFill>
                  <a:srgbClr val="FFFFFF"/>
                </a:solidFill>
                <a:latin typeface="Microsoft YaHei"/>
                <a:ea typeface="Microsoft YaHei"/>
              </a:rPr>
              <a:t>Finding</a:t>
            </a:r>
            <a:endParaRPr/>
          </a:p>
          <a:p>
            <a:pPr>
              <a:lnSpc>
                <a:spcPct val="118000"/>
              </a:lnSpc>
            </a:pPr>
            <a:r>
              <a:rPr lang="en-US" sz="3450" b="1">
                <a:solidFill>
                  <a:srgbClr val="FFFFFF"/>
                </a:solidFill>
                <a:latin typeface="Microsoft YaHei"/>
                <a:ea typeface="Microsoft YaHei"/>
              </a:rPr>
              <a:t>Use Cases</a:t>
            </a:r>
            <a:endParaRPr/>
          </a:p>
        </p:txBody>
      </p:sp>
      <p:sp>
        <p:nvSpPr>
          <p:cNvPr id="399" name=""/>
          <p:cNvSpPr/>
          <p:nvPr/>
        </p:nvSpPr>
        <p:spPr>
          <a:xfrm rot="0" flipH="0" flipV="0">
            <a:off x="3467100" y="3752850"/>
            <a:ext cx="609600" cy="38100"/>
          </a:xfrm>
          <a:prstGeom prst="rect">
            <a:avLst/>
          </a:prstGeom>
          <a:solidFill>
            <a:srgbClr val="FFC107"/>
          </a:solidFill>
          <a:ln/>
        </p:spPr>
        <p:txBody>
          <a:bodyPr/>
          <a:p/>
        </p:txBody>
      </p:sp>
      <p:sp>
        <p:nvSpPr>
          <p:cNvPr id="400" name=""/>
          <p:cNvSpPr/>
          <p:nvPr/>
        </p:nvSpPr>
        <p:spPr>
          <a:xfrm rot="0" flipH="0" flipV="0">
            <a:off x="3467100" y="4114800"/>
            <a:ext cx="76200" cy="76200"/>
          </a:xfrm>
          <a:prstGeom prst="roundRect">
            <a:avLst>
              <a:gd name="adj" fmla="val 50000"/>
            </a:avLst>
          </a:prstGeom>
          <a:solidFill>
            <a:srgbClr val="3D7BD9"/>
          </a:solidFill>
          <a:ln/>
        </p:spPr>
        <p:txBody>
          <a:bodyPr/>
          <a:p/>
        </p:txBody>
      </p:sp>
      <p:sp>
        <p:nvSpPr>
          <p:cNvPr id="401" name="" descr="{&quot;isTemplate&quot;:true,&quot;type&quot;:&quot;text&quot;}"/>
          <p:cNvSpPr txBox="1"/>
          <p:nvPr/>
        </p:nvSpPr>
        <p:spPr>
          <a:xfrm rot="0" flipH="0" flipV="0">
            <a:off x="3657600" y="4038600"/>
            <a:ext cx="3990975" cy="228600"/>
          </a:xfrm>
          <a:prstGeom prst="rect"/>
        </p:spPr>
        <p:txBody>
          <a:bodyPr wrap="none" lIns="0" tIns="0" rIns="0" bIns="0"/>
          <a:p>
            <a:pPr>
              <a:lnSpc>
                <a:spcPct val="100000"/>
              </a:lnSpc>
            </a:pPr>
            <a:r>
              <a:rPr lang="en-US" sz="1500">
                <a:solidFill>
                  <a:srgbClr val="C5D4EA"/>
                </a:solidFill>
                <a:latin typeface="Microsoft YaHei"/>
                <a:ea typeface="Microsoft YaHei"/>
              </a:rPr>
              <a:t>Two heuristics: events, and the noun-verb scan</a:t>
            </a:r>
            <a:endParaRPr/>
          </a:p>
        </p:txBody>
      </p:sp>
      <p:sp>
        <p:nvSpPr>
          <p:cNvPr id="402" name=""/>
          <p:cNvSpPr/>
          <p:nvPr/>
        </p:nvSpPr>
        <p:spPr>
          <a:xfrm rot="0" flipH="0" flipV="0">
            <a:off x="3467100" y="4457700"/>
            <a:ext cx="76200" cy="76200"/>
          </a:xfrm>
          <a:prstGeom prst="roundRect">
            <a:avLst>
              <a:gd name="adj" fmla="val 50000"/>
            </a:avLst>
          </a:prstGeom>
          <a:solidFill>
            <a:srgbClr val="3D7BD9"/>
          </a:solidFill>
          <a:ln/>
        </p:spPr>
        <p:txBody>
          <a:bodyPr/>
          <a:p/>
        </p:txBody>
      </p:sp>
      <p:sp>
        <p:nvSpPr>
          <p:cNvPr id="403" name="" descr="{&quot;isTemplate&quot;:true,&quot;type&quot;:&quot;text&quot;}"/>
          <p:cNvSpPr txBox="1"/>
          <p:nvPr/>
        </p:nvSpPr>
        <p:spPr>
          <a:xfrm rot="0" flipH="0" flipV="0">
            <a:off x="3657600" y="4381500"/>
            <a:ext cx="3962400" cy="228600"/>
          </a:xfrm>
          <a:prstGeom prst="rect"/>
        </p:spPr>
        <p:txBody>
          <a:bodyPr wrap="none" lIns="0" tIns="0" rIns="0" bIns="0"/>
          <a:p>
            <a:pPr>
              <a:lnSpc>
                <a:spcPct val="100000"/>
              </a:lnSpc>
            </a:pPr>
            <a:r>
              <a:rPr lang="en-US" sz="1500">
                <a:solidFill>
                  <a:srgbClr val="C5D4EA"/>
                </a:solidFill>
                <a:latin typeface="Microsoft YaHei"/>
                <a:ea typeface="Microsoft YaHei"/>
              </a:rPr>
              <a:t>Six use cases fall out of the CampusBites pack</a:t>
            </a:r>
            <a:endParaRPr/>
          </a:p>
        </p:txBody>
      </p:sp>
      <p:sp>
        <p:nvSpPr>
          <p:cNvPr id="404" name=""/>
          <p:cNvSpPr/>
          <p:nvPr/>
        </p:nvSpPr>
        <p:spPr>
          <a:xfrm rot="0" flipH="0" flipV="0">
            <a:off x="3467100" y="4800600"/>
            <a:ext cx="76200" cy="76200"/>
          </a:xfrm>
          <a:prstGeom prst="roundRect">
            <a:avLst>
              <a:gd name="adj" fmla="val 50000"/>
            </a:avLst>
          </a:prstGeom>
          <a:solidFill>
            <a:srgbClr val="3D7BD9"/>
          </a:solidFill>
          <a:ln/>
        </p:spPr>
        <p:txBody>
          <a:bodyPr/>
          <a:p/>
        </p:txBody>
      </p:sp>
      <p:sp>
        <p:nvSpPr>
          <p:cNvPr id="405" name="" descr="{&quot;isTemplate&quot;:true,&quot;type&quot;:&quot;text&quot;}"/>
          <p:cNvSpPr txBox="1"/>
          <p:nvPr/>
        </p:nvSpPr>
        <p:spPr>
          <a:xfrm rot="0" flipH="0" flipV="0">
            <a:off x="3657600" y="4724400"/>
            <a:ext cx="4676775" cy="228600"/>
          </a:xfrm>
          <a:prstGeom prst="rect"/>
        </p:spPr>
        <p:txBody>
          <a:bodyPr wrap="none" lIns="0" tIns="0" rIns="0" bIns="0"/>
          <a:p>
            <a:pPr>
              <a:lnSpc>
                <a:spcPct val="100000"/>
              </a:lnSpc>
            </a:pPr>
            <a:r>
              <a:rPr lang="en-US" sz="1500">
                <a:solidFill>
                  <a:srgbClr val="C5D4EA"/>
                </a:solidFill>
                <a:latin typeface="Microsoft YaHei"/>
                <a:ea typeface="Microsoft YaHei"/>
              </a:rPr>
              <a:t>A name is not a use case — the text comes in Week 05</a:t>
            </a:r>
            <a:endParaRPr/>
          </a:p>
        </p:txBody>
      </p:sp>
      <p:sp>
        <p:nvSpPr>
          <p:cNvPr id="406" name=""/>
          <p:cNvSpPr/>
          <p:nvPr/>
        </p:nvSpPr>
        <p:spPr>
          <a:xfrm rot="0" flipH="0" flipV="0">
            <a:off x="0" y="0"/>
            <a:ext cx="12192000" cy="76200"/>
          </a:xfrm>
          <a:prstGeom prst="rect">
            <a:avLst/>
          </a:prstGeom>
          <a:solidFill>
            <a:srgbClr val="1E4FA8"/>
          </a:solidFill>
          <a:ln/>
        </p:spPr>
        <p:txBody>
          <a:bodyPr/>
          <a:p/>
        </p:txBody>
      </p:sp>
    </p:spTree>
  </p:cSld>
</p:sld>
</file>

<file path=ppt/slides/slide25.xml><?xml version="1.0" encoding="utf-8"?>
<p:sld xmlns:a="http://schemas.openxmlformats.org/drawingml/2006/main" xmlns:p="http://schemas.openxmlformats.org/presentationml/2006/main">
  <p:cSld>
    <p:spTree>
      <p:nvGrpSpPr>
        <p:cNvPr id="407" name="" descr="&lt;Slide style={{ background: '#FFFFFF', padding: 0 }}&gt;&#10;  &lt;Box style={{ height: 72, background: '#1E4FA8', padding: '0 40px', flexDirection: 'row', alignItems: 'center', justifyContent: 'space-between' }}&gt;&#10;    &lt;Text style={{ fontSize: 15, color: '#B9CDF0', letterSpacing: 1 }}&gt;ISAD · INFORMATION SYSTEMS ANALYSIS &amp;amp; DESIGN&lt;/Text&gt;&#10;    &lt;Text style={{ fontSize: 15, color: '#B9CDF0' }}&gt;W04 · FINDING USE CASES&lt;/Text&gt;&#10;  &lt;/Box&gt;&#10;  &lt;Box style={{ padding: '14px 40px 0 40px', flexDirection: 'row', alignItems: 'center', justifyContent: 'space-between' }}&gt;&#10;    &lt;Text style={{ fontSize: 29, fontWeight: 'bold', color: '#0E3F8C' }}&gt;Two Ways to Find Them&lt;/Text&gt;&#10;    &lt;Text style={{ fontSize: 14, color: '#1E4FA8', fontWeight: 'bold' }}&gt;25 / 38&lt;/Text&gt;&#10;  &lt;/Box&gt;&#10;  &lt;Box style={{ flex: 1, padding: '12px 40px 0 40px', flexDirection: 'row', gap: 22 }}&gt;&#10;    &lt;Box style={{ flex: 1, flexDirection: 'column' }}&gt;&#10;      &lt;Box style={{ padding: '16px 18px', background: '#F0F5FC', borderRadius: 10, borderTop: '4px solid #1E4FA8', marginBottom: 10 }}&gt;&#10;        &lt;Text style={{ fontSize: 18, fontWeight: 'bold', color: '#0E3F8C' }}&gt;01 · Event analysis&lt;/Text&gt;&#10;        &lt;Text style={{ fontSize: 13, color: '#4A5568', lineHeight: 1.6, marginTop: 6 }}&gt;&#10;          Start from what happens to the business, then ask what the system must do about it.&#10;        &lt;/Text&gt;&#10;      &lt;/Box&gt;&#10;      {[&#10;        ['Best when', 'The process is well understood and somebody can list the events'],&#10;        ['You get', 'A use case per business event — traceable back to the business'],&#10;        ['Blind spot', 'Misses quiet goals: browsing, searching, comparing'],&#10;        ['Effort', 'Needs a domain expert in the room for an hour'],&#10;      ].map((r) =&gt; (&#10;        &lt;Box key={r[0]} style={{ padding: '12px 15px', background: '#FFFFFF', borderRadius: 8, border: '1px solid #D6DCE5', marginBottom: 8 }}&gt;&#10;          &lt;Text style={{ fontSize: 11.5, color: '#8B97A8', marginBottom: 2 }}&gt;{r[0].toUpperCase()}&lt;/Text&gt;&#10;          &lt;Text style={{ fontSize: 13, color: '#4A5568', lineHeight: 1.5 }}&gt;{r[1]}&lt;/Text&gt;&#10;        &lt;/Box&gt;&#10;      ))}&#10;    &lt;/Box&gt;&#10;    &lt;Box style={{ width: 20 }} /&gt;&#10;    &lt;Box style={{ flex: 1, flexDirection: 'column' }}&gt;&#10;      &lt;Box style={{ padding: '16px 18px', background: '#F7F9FC', borderRadius: 10, borderTop: '4px solid #3D7BD9', marginBottom: 10 }}&gt;&#10;        &lt;Text style={{ fontSize: 18, fontWeight: 'bold', color: '#0E3F8C' }}&gt;02 · Noun–verb scanning&lt;/Text&gt;&#10;        &lt;Text style={{ fontSize: 13, color: '#4A5568', lineHeight: 1.6, marginTop: 6 }}&gt;&#10;          Read the narrative. Underline the nouns and the verbs, then sort what you underlined.&#10;        &lt;/Text&gt;&#10;      &lt;/Box&gt;&#10;      {[&#10;        ['Best when', 'You have a written brief and no expert available'],&#10;        ['You get', 'Candidate actors and use cases in one pass — plus candidate classes'],&#10;        ['Blind spot', 'Finds what the text says, not what the text forgot'],&#10;        ['Effort', 'Twenty minutes alone with a highlighter'],&#10;      ].map((r) =&gt; (&#10;        &lt;Box key={r[0]} style={{ padding: '12px 15px', background: '#FFFFFF', borderRadius: 8, border: '1px solid #D6DCE5', marginBottom: 8 }}&gt;&#10;          &lt;Text style={{ fontSize: 11.5, color: '#8B97A8', marginBottom: 2 }}&gt;{r[0].toUpperCase()}&lt;/Text&gt;&#10;          &lt;Text style={{ fontSize: 13, color: '#4A5568', lineHeight: 1.5 }}&gt;{r[1]}&lt;/Text&gt;&#10;        &lt;/Box&gt;&#10;      ))}&#10;    &lt;/Box&gt;&#10;  &lt;/Box&gt;&#10;  &lt;Box style={{ height: 46, background: '#0E3F8C', padding: '0 40px', flexDirection: 'row', alignItems: 'center', justifyContent: 'center' }}&gt;&#10;    &lt;Text style={{ fontSize: 16, color: '#FFFFFF', fontWeight: '600' }}&gt;Run both. Where they agree, you are confident; where they disagree, you have found a question to ask.&lt;/Text&gt;&#10;  &lt;/Box&gt;&#10;&lt;/Slide&gt;"/>
        <p:cNvGrpSpPr/>
        <p:nvPr/>
      </p:nvGrpSpPr>
      <p:grpSpPr>
        <a:xfrm>
          <a:off x="0" y="0"/>
          <a:ext cx="0" cy="0"/>
          <a:chOff x="0" y="0"/>
          <a:chExt cx="0" cy="0"/>
        </a:xfrm>
      </p:grpSpPr>
      <p:sp>
        <p:nvSpPr>
          <p:cNvPr id="408" name=""/>
          <p:cNvSpPr/>
          <p:nvPr/>
        </p:nvSpPr>
        <p:spPr>
          <a:xfrm rot="0" flipH="0" flipV="0">
            <a:off x="0" y="0"/>
            <a:ext cx="12192000" cy="6858000"/>
          </a:xfrm>
          <a:prstGeom prst="rect">
            <a:avLst/>
          </a:prstGeom>
          <a:solidFill>
            <a:srgbClr val="FFFFFF"/>
          </a:solidFill>
          <a:ln/>
        </p:spPr>
        <p:txBody>
          <a:bodyPr/>
          <a:p/>
        </p:txBody>
      </p:sp>
      <p:sp>
        <p:nvSpPr>
          <p:cNvPr id="409" name=""/>
          <p:cNvSpPr/>
          <p:nvPr/>
        </p:nvSpPr>
        <p:spPr>
          <a:xfrm rot="0" flipH="0" flipV="0">
            <a:off x="0" y="0"/>
            <a:ext cx="12192000" cy="685800"/>
          </a:xfrm>
          <a:prstGeom prst="rect">
            <a:avLst/>
          </a:prstGeom>
          <a:solidFill>
            <a:srgbClr val="1E4FA8"/>
          </a:solidFill>
          <a:ln/>
        </p:spPr>
        <p:txBody>
          <a:bodyPr/>
          <a:p/>
        </p:txBody>
      </p:sp>
      <p:sp>
        <p:nvSpPr>
          <p:cNvPr id="410" name="" descr="{&quot;isTemplate&quot;:true,&quot;type&quot;:&quot;text&quot;}"/>
          <p:cNvSpPr txBox="1"/>
          <p:nvPr/>
        </p:nvSpPr>
        <p:spPr>
          <a:xfrm rot="0" flipH="0" flipV="0">
            <a:off x="381000" y="257175"/>
            <a:ext cx="4067175" cy="171450"/>
          </a:xfrm>
          <a:prstGeom prst="rect"/>
        </p:spPr>
        <p:txBody>
          <a:bodyPr wrap="none" lIns="0" tIns="0" rIns="0" bIns="0"/>
          <a:p>
            <a:pPr>
              <a:lnSpc>
                <a:spcPct val="100000"/>
              </a:lnSpc>
            </a:pPr>
            <a:r>
              <a:rPr lang="en-US" sz="1125" spc="75">
                <a:solidFill>
                  <a:srgbClr val="B9CDF0"/>
                </a:solidFill>
                <a:latin typeface="Microsoft YaHei"/>
                <a:ea typeface="Microsoft YaHei"/>
              </a:rPr>
              <a:t>ISAD · INFORMATION SYSTEMS ANALYSIS &amp; DESIGN</a:t>
            </a:r>
            <a:endParaRPr/>
          </a:p>
        </p:txBody>
      </p:sp>
      <p:sp>
        <p:nvSpPr>
          <p:cNvPr id="411" name="" descr="{&quot;isTemplate&quot;:true,&quot;type&quot;:&quot;text&quot;}"/>
          <p:cNvSpPr txBox="1"/>
          <p:nvPr/>
        </p:nvSpPr>
        <p:spPr>
          <a:xfrm rot="0" flipH="0" flipV="0">
            <a:off x="9944100" y="257175"/>
            <a:ext cx="1866900" cy="171450"/>
          </a:xfrm>
          <a:prstGeom prst="rect"/>
        </p:spPr>
        <p:txBody>
          <a:bodyPr wrap="none" lIns="0" tIns="0" rIns="0" bIns="0"/>
          <a:p>
            <a:pPr>
              <a:lnSpc>
                <a:spcPct val="100000"/>
              </a:lnSpc>
            </a:pPr>
            <a:r>
              <a:rPr lang="en-US" sz="1125">
                <a:solidFill>
                  <a:srgbClr val="B9CDF0"/>
                </a:solidFill>
                <a:latin typeface="Microsoft YaHei"/>
                <a:ea typeface="Microsoft YaHei"/>
              </a:rPr>
              <a:t>W04 · FINDING USE CASES</a:t>
            </a:r>
            <a:endParaRPr/>
          </a:p>
        </p:txBody>
      </p:sp>
      <p:sp>
        <p:nvSpPr>
          <p:cNvPr id="412" name="" descr="{&quot;isTemplate&quot;:true,&quot;type&quot;:&quot;text&quot;}"/>
          <p:cNvSpPr txBox="1"/>
          <p:nvPr/>
        </p:nvSpPr>
        <p:spPr>
          <a:xfrm rot="0" flipH="0" flipV="0">
            <a:off x="381000" y="819150"/>
            <a:ext cx="3133725" cy="333375"/>
          </a:xfrm>
          <a:prstGeom prst="rect"/>
        </p:spPr>
        <p:txBody>
          <a:bodyPr wrap="none" lIns="0" tIns="0" rIns="0" bIns="0"/>
          <a:p>
            <a:pPr>
              <a:lnSpc>
                <a:spcPct val="100000"/>
              </a:lnSpc>
            </a:pPr>
            <a:r>
              <a:rPr lang="en-US" sz="2175" b="1">
                <a:solidFill>
                  <a:srgbClr val="0E3F8C"/>
                </a:solidFill>
                <a:latin typeface="Microsoft YaHei"/>
                <a:ea typeface="Microsoft YaHei"/>
              </a:rPr>
              <a:t>Two Ways to Find Them</a:t>
            </a:r>
            <a:endParaRPr/>
          </a:p>
        </p:txBody>
      </p:sp>
      <p:sp>
        <p:nvSpPr>
          <p:cNvPr id="413" name="" descr="{&quot;isTemplate&quot;:true,&quot;type&quot;:&quot;text&quot;}"/>
          <p:cNvSpPr txBox="1"/>
          <p:nvPr/>
        </p:nvSpPr>
        <p:spPr>
          <a:xfrm rot="0" flipH="0" flipV="0">
            <a:off x="11401425" y="904875"/>
            <a:ext cx="409575" cy="161925"/>
          </a:xfrm>
          <a:prstGeom prst="rect"/>
        </p:spPr>
        <p:txBody>
          <a:bodyPr wrap="none" lIns="0" tIns="0" rIns="0" bIns="0"/>
          <a:p>
            <a:pPr>
              <a:lnSpc>
                <a:spcPct val="100000"/>
              </a:lnSpc>
            </a:pPr>
            <a:r>
              <a:rPr lang="en-US" sz="1050" b="1">
                <a:solidFill>
                  <a:srgbClr val="1E4FA8"/>
                </a:solidFill>
                <a:latin typeface="Microsoft YaHei"/>
                <a:ea typeface="Microsoft YaHei"/>
              </a:rPr>
              <a:t>25 / 38</a:t>
            </a:r>
            <a:endParaRPr/>
          </a:p>
        </p:txBody>
      </p:sp>
      <p:sp>
        <p:nvSpPr>
          <p:cNvPr id="414" name=""/>
          <p:cNvSpPr/>
          <p:nvPr/>
        </p:nvSpPr>
        <p:spPr>
          <a:xfrm rot="0" flipH="0" flipV="0">
            <a:off x="381000" y="1304925"/>
            <a:ext cx="5410200" cy="847725"/>
          </a:xfrm>
          <a:prstGeom prst="roundRect">
            <a:avLst>
              <a:gd name="adj" fmla="val 11236"/>
            </a:avLst>
          </a:prstGeom>
          <a:solidFill>
            <a:srgbClr val="F0F5FC"/>
          </a:solidFill>
          <a:ln/>
        </p:spPr>
        <p:txBody>
          <a:bodyPr/>
          <a:p/>
        </p:txBody>
      </p:sp>
      <p:sp>
        <p:nvSpPr>
          <p:cNvPr id="415" name=""/>
          <p:cNvSpPr/>
          <p:nvPr/>
        </p:nvSpPr>
        <p:spPr>
          <a:xfrm rot="0" flipH="0" flipV="0">
            <a:off x="381000" y="1304925"/>
            <a:ext cx="5410200" cy="847725"/>
          </a:xfrm>
          <a:custGeom>
            <a:pathLst>
              <a:path w="568" h="89">
                <a:moveTo>
                  <a:pt x="558" y="0"/>
                </a:moveTo>
                <a:cubicBezTo>
                  <a:pt x="563" y="0"/>
                  <a:pt x="567" y="4"/>
                  <a:pt x="568" y="8"/>
                </a:cubicBezTo>
                <a:cubicBezTo>
                  <a:pt x="567" y="6"/>
                  <a:pt x="565" y="4"/>
                  <a:pt x="562" y="4"/>
                </a:cubicBezTo>
                <a:lnTo>
                  <a:pt x="6" y="4"/>
                </a:lnTo>
                <a:cubicBezTo>
                  <a:pt x="3" y="4"/>
                  <a:pt x="1" y="6"/>
                  <a:pt x="0" y="9"/>
                </a:cubicBezTo>
                <a:cubicBezTo>
                  <a:pt x="1" y="4"/>
                  <a:pt x="5" y="0"/>
                  <a:pt x="10" y="0"/>
                </a:cubicBezTo>
                <a:lnTo>
                  <a:pt x="558" y="0"/>
                </a:lnTo>
                <a:close/>
              </a:path>
            </a:pathLst>
          </a:custGeom>
          <a:solidFill>
            <a:srgbClr val="1E4FA8"/>
          </a:solidFill>
          <a:ln/>
        </p:spPr>
        <p:txBody>
          <a:bodyPr/>
          <a:p/>
        </p:txBody>
      </p:sp>
      <p:sp>
        <p:nvSpPr>
          <p:cNvPr id="416" name="" descr="{&quot;isTemplate&quot;:true,&quot;type&quot;:&quot;text&quot;}"/>
          <p:cNvSpPr txBox="1"/>
          <p:nvPr/>
        </p:nvSpPr>
        <p:spPr>
          <a:xfrm rot="0" flipH="0" flipV="0">
            <a:off x="552450" y="1457325"/>
            <a:ext cx="5067300" cy="209550"/>
          </a:xfrm>
          <a:prstGeom prst="rect"/>
        </p:spPr>
        <p:txBody>
          <a:bodyPr wrap="none" lIns="0" tIns="0" rIns="0" bIns="0"/>
          <a:p>
            <a:pPr>
              <a:lnSpc>
                <a:spcPct val="100000"/>
              </a:lnSpc>
            </a:pPr>
            <a:r>
              <a:rPr lang="en-US" sz="1350" b="1">
                <a:solidFill>
                  <a:srgbClr val="0E3F8C"/>
                </a:solidFill>
                <a:latin typeface="Microsoft YaHei"/>
                <a:ea typeface="Microsoft YaHei"/>
              </a:rPr>
              <a:t>01 · Event analysis</a:t>
            </a:r>
            <a:endParaRPr/>
          </a:p>
        </p:txBody>
      </p:sp>
      <p:sp>
        <p:nvSpPr>
          <p:cNvPr id="417" name="" descr="{&quot;isTemplate&quot;:true,&quot;type&quot;:&quot;text&quot;}"/>
          <p:cNvSpPr txBox="1"/>
          <p:nvPr/>
        </p:nvSpPr>
        <p:spPr>
          <a:xfrm rot="0" flipH="0" flipV="0">
            <a:off x="552450" y="1724025"/>
            <a:ext cx="5067300" cy="238125"/>
          </a:xfrm>
          <a:prstGeom prst="rect"/>
        </p:spPr>
        <p:txBody>
          <a:bodyPr wrap="none" lIns="0" tIns="0" rIns="0" bIns="0"/>
          <a:p>
            <a:pPr>
              <a:lnSpc>
                <a:spcPct val="160000"/>
              </a:lnSpc>
            </a:pPr>
            <a:r>
              <a:rPr lang="en-US" sz="975">
                <a:solidFill>
                  <a:srgbClr val="4A5568"/>
                </a:solidFill>
                <a:latin typeface="Microsoft YaHei"/>
                <a:ea typeface="Microsoft YaHei"/>
              </a:rPr>
              <a:t>Start from what happens to the business, then ask what the system must do about it.</a:t>
            </a:r>
            <a:endParaRPr/>
          </a:p>
        </p:txBody>
      </p:sp>
      <p:sp>
        <p:nvSpPr>
          <p:cNvPr id="418" name=""/>
          <p:cNvSpPr/>
          <p:nvPr/>
        </p:nvSpPr>
        <p:spPr>
          <a:xfrm rot="0" flipH="0" flipV="0">
            <a:off x="381000" y="2209800"/>
            <a:ext cx="5410200" cy="609600"/>
          </a:xfrm>
          <a:prstGeom prst="roundRect">
            <a:avLst>
              <a:gd name="adj" fmla="val 12500"/>
            </a:avLst>
          </a:prstGeom>
          <a:solidFill>
            <a:srgbClr val="FFFFFF"/>
          </a:solidFill>
          <a:ln w="12700">
            <a:solidFill>
              <a:srgbClr val="D6DCE5"/>
            </a:solidFill>
            <a:prstDash val="solid"/>
          </a:ln>
        </p:spPr>
        <p:txBody>
          <a:bodyPr/>
          <a:p/>
        </p:txBody>
      </p:sp>
      <p:sp>
        <p:nvSpPr>
          <p:cNvPr id="419" name="" descr="{&quot;isTemplate&quot;:true,&quot;type&quot;:&quot;text&quot;}"/>
          <p:cNvSpPr txBox="1"/>
          <p:nvPr/>
        </p:nvSpPr>
        <p:spPr>
          <a:xfrm rot="0" flipH="0" flipV="0">
            <a:off x="523875" y="2324100"/>
            <a:ext cx="5124450" cy="133350"/>
          </a:xfrm>
          <a:prstGeom prst="rect"/>
        </p:spPr>
        <p:txBody>
          <a:bodyPr wrap="none" lIns="0" tIns="0" rIns="0" bIns="0"/>
          <a:p>
            <a:pPr>
              <a:lnSpc>
                <a:spcPct val="100000"/>
              </a:lnSpc>
            </a:pPr>
            <a:r>
              <a:rPr lang="en-US" sz="863">
                <a:solidFill>
                  <a:srgbClr val="8B97A8"/>
                </a:solidFill>
                <a:latin typeface="Microsoft YaHei"/>
                <a:ea typeface="Microsoft YaHei"/>
              </a:rPr>
              <a:t>BEST WHEN</a:t>
            </a:r>
            <a:endParaRPr/>
          </a:p>
        </p:txBody>
      </p:sp>
      <p:sp>
        <p:nvSpPr>
          <p:cNvPr id="420" name="" descr="{&quot;isTemplate&quot;:true,&quot;type&quot;:&quot;text&quot;}"/>
          <p:cNvSpPr txBox="1"/>
          <p:nvPr/>
        </p:nvSpPr>
        <p:spPr>
          <a:xfrm rot="0" flipH="0" flipV="0">
            <a:off x="523875" y="2476500"/>
            <a:ext cx="5124450" cy="228600"/>
          </a:xfrm>
          <a:prstGeom prst="rect"/>
        </p:spPr>
        <p:txBody>
          <a:bodyPr wrap="none" lIns="0" tIns="0" rIns="0" bIns="0"/>
          <a:p>
            <a:pPr>
              <a:lnSpc>
                <a:spcPct val="150000"/>
              </a:lnSpc>
            </a:pPr>
            <a:r>
              <a:rPr lang="en-US" sz="975">
                <a:solidFill>
                  <a:srgbClr val="4A5568"/>
                </a:solidFill>
                <a:latin typeface="Microsoft YaHei"/>
                <a:ea typeface="Microsoft YaHei"/>
              </a:rPr>
              <a:t>The process is well understood and somebody can list the events</a:t>
            </a:r>
            <a:endParaRPr/>
          </a:p>
        </p:txBody>
      </p:sp>
      <p:sp>
        <p:nvSpPr>
          <p:cNvPr id="421" name=""/>
          <p:cNvSpPr/>
          <p:nvPr/>
        </p:nvSpPr>
        <p:spPr>
          <a:xfrm rot="0" flipH="0" flipV="0">
            <a:off x="381000" y="2895600"/>
            <a:ext cx="5410200" cy="609600"/>
          </a:xfrm>
          <a:prstGeom prst="roundRect">
            <a:avLst>
              <a:gd name="adj" fmla="val 12500"/>
            </a:avLst>
          </a:prstGeom>
          <a:solidFill>
            <a:srgbClr val="FFFFFF"/>
          </a:solidFill>
          <a:ln w="12700">
            <a:solidFill>
              <a:srgbClr val="D6DCE5"/>
            </a:solidFill>
            <a:prstDash val="solid"/>
          </a:ln>
        </p:spPr>
        <p:txBody>
          <a:bodyPr/>
          <a:p/>
        </p:txBody>
      </p:sp>
      <p:sp>
        <p:nvSpPr>
          <p:cNvPr id="422" name="" descr="{&quot;isTemplate&quot;:true,&quot;type&quot;:&quot;text&quot;}"/>
          <p:cNvSpPr txBox="1"/>
          <p:nvPr/>
        </p:nvSpPr>
        <p:spPr>
          <a:xfrm rot="0" flipH="0" flipV="0">
            <a:off x="523875" y="3009900"/>
            <a:ext cx="5124450" cy="133350"/>
          </a:xfrm>
          <a:prstGeom prst="rect"/>
        </p:spPr>
        <p:txBody>
          <a:bodyPr wrap="none" lIns="0" tIns="0" rIns="0" bIns="0"/>
          <a:p>
            <a:pPr>
              <a:lnSpc>
                <a:spcPct val="100000"/>
              </a:lnSpc>
            </a:pPr>
            <a:r>
              <a:rPr lang="en-US" sz="863">
                <a:solidFill>
                  <a:srgbClr val="8B97A8"/>
                </a:solidFill>
                <a:latin typeface="Microsoft YaHei"/>
                <a:ea typeface="Microsoft YaHei"/>
              </a:rPr>
              <a:t>YOU GET</a:t>
            </a:r>
            <a:endParaRPr/>
          </a:p>
        </p:txBody>
      </p:sp>
      <p:sp>
        <p:nvSpPr>
          <p:cNvPr id="423" name="" descr="{&quot;isTemplate&quot;:true,&quot;type&quot;:&quot;text&quot;}"/>
          <p:cNvSpPr txBox="1"/>
          <p:nvPr/>
        </p:nvSpPr>
        <p:spPr>
          <a:xfrm rot="0" flipH="0" flipV="0">
            <a:off x="523875" y="3162300"/>
            <a:ext cx="5124450" cy="228600"/>
          </a:xfrm>
          <a:prstGeom prst="rect"/>
        </p:spPr>
        <p:txBody>
          <a:bodyPr wrap="none" lIns="0" tIns="0" rIns="0" bIns="0"/>
          <a:p>
            <a:pPr>
              <a:lnSpc>
                <a:spcPct val="150000"/>
              </a:lnSpc>
            </a:pPr>
            <a:r>
              <a:rPr lang="en-US" sz="975">
                <a:solidFill>
                  <a:srgbClr val="4A5568"/>
                </a:solidFill>
                <a:latin typeface="Microsoft YaHei"/>
                <a:ea typeface="Microsoft YaHei"/>
              </a:rPr>
              <a:t>A use case per business event — traceable back to the business</a:t>
            </a:r>
            <a:endParaRPr/>
          </a:p>
        </p:txBody>
      </p:sp>
      <p:sp>
        <p:nvSpPr>
          <p:cNvPr id="424" name=""/>
          <p:cNvSpPr/>
          <p:nvPr/>
        </p:nvSpPr>
        <p:spPr>
          <a:xfrm rot="0" flipH="0" flipV="0">
            <a:off x="381000" y="3581400"/>
            <a:ext cx="5410200" cy="609600"/>
          </a:xfrm>
          <a:prstGeom prst="roundRect">
            <a:avLst>
              <a:gd name="adj" fmla="val 12500"/>
            </a:avLst>
          </a:prstGeom>
          <a:solidFill>
            <a:srgbClr val="FFFFFF"/>
          </a:solidFill>
          <a:ln w="12700">
            <a:solidFill>
              <a:srgbClr val="D6DCE5"/>
            </a:solidFill>
            <a:prstDash val="solid"/>
          </a:ln>
        </p:spPr>
        <p:txBody>
          <a:bodyPr/>
          <a:p/>
        </p:txBody>
      </p:sp>
      <p:sp>
        <p:nvSpPr>
          <p:cNvPr id="425" name="" descr="{&quot;isTemplate&quot;:true,&quot;type&quot;:&quot;text&quot;}"/>
          <p:cNvSpPr txBox="1"/>
          <p:nvPr/>
        </p:nvSpPr>
        <p:spPr>
          <a:xfrm rot="0" flipH="0" flipV="0">
            <a:off x="523875" y="3695700"/>
            <a:ext cx="5124450" cy="133350"/>
          </a:xfrm>
          <a:prstGeom prst="rect"/>
        </p:spPr>
        <p:txBody>
          <a:bodyPr wrap="none" lIns="0" tIns="0" rIns="0" bIns="0"/>
          <a:p>
            <a:pPr>
              <a:lnSpc>
                <a:spcPct val="100000"/>
              </a:lnSpc>
            </a:pPr>
            <a:r>
              <a:rPr lang="en-US" sz="863">
                <a:solidFill>
                  <a:srgbClr val="8B97A8"/>
                </a:solidFill>
                <a:latin typeface="Microsoft YaHei"/>
                <a:ea typeface="Microsoft YaHei"/>
              </a:rPr>
              <a:t>BLIND SPOT</a:t>
            </a:r>
            <a:endParaRPr/>
          </a:p>
        </p:txBody>
      </p:sp>
      <p:sp>
        <p:nvSpPr>
          <p:cNvPr id="426" name="" descr="{&quot;isTemplate&quot;:true,&quot;type&quot;:&quot;text&quot;}"/>
          <p:cNvSpPr txBox="1"/>
          <p:nvPr/>
        </p:nvSpPr>
        <p:spPr>
          <a:xfrm rot="0" flipH="0" flipV="0">
            <a:off x="523875" y="3848100"/>
            <a:ext cx="5124450" cy="228600"/>
          </a:xfrm>
          <a:prstGeom prst="rect"/>
        </p:spPr>
        <p:txBody>
          <a:bodyPr wrap="none" lIns="0" tIns="0" rIns="0" bIns="0"/>
          <a:p>
            <a:pPr>
              <a:lnSpc>
                <a:spcPct val="150000"/>
              </a:lnSpc>
            </a:pPr>
            <a:r>
              <a:rPr lang="en-US" sz="975">
                <a:solidFill>
                  <a:srgbClr val="4A5568"/>
                </a:solidFill>
                <a:latin typeface="Microsoft YaHei"/>
                <a:ea typeface="Microsoft YaHei"/>
              </a:rPr>
              <a:t>Misses quiet goals: browsing, searching, comparing</a:t>
            </a:r>
            <a:endParaRPr/>
          </a:p>
        </p:txBody>
      </p:sp>
      <p:sp>
        <p:nvSpPr>
          <p:cNvPr id="427" name=""/>
          <p:cNvSpPr/>
          <p:nvPr/>
        </p:nvSpPr>
        <p:spPr>
          <a:xfrm rot="0" flipH="0" flipV="0">
            <a:off x="381000" y="4267200"/>
            <a:ext cx="5410200" cy="609600"/>
          </a:xfrm>
          <a:prstGeom prst="roundRect">
            <a:avLst>
              <a:gd name="adj" fmla="val 12500"/>
            </a:avLst>
          </a:prstGeom>
          <a:solidFill>
            <a:srgbClr val="FFFFFF"/>
          </a:solidFill>
          <a:ln w="12700">
            <a:solidFill>
              <a:srgbClr val="D6DCE5"/>
            </a:solidFill>
            <a:prstDash val="solid"/>
          </a:ln>
        </p:spPr>
        <p:txBody>
          <a:bodyPr/>
          <a:p/>
        </p:txBody>
      </p:sp>
      <p:sp>
        <p:nvSpPr>
          <p:cNvPr id="428" name="" descr="{&quot;isTemplate&quot;:true,&quot;type&quot;:&quot;text&quot;}"/>
          <p:cNvSpPr txBox="1"/>
          <p:nvPr/>
        </p:nvSpPr>
        <p:spPr>
          <a:xfrm rot="0" flipH="0" flipV="0">
            <a:off x="523875" y="4381500"/>
            <a:ext cx="5124450" cy="133350"/>
          </a:xfrm>
          <a:prstGeom prst="rect"/>
        </p:spPr>
        <p:txBody>
          <a:bodyPr wrap="none" lIns="0" tIns="0" rIns="0" bIns="0"/>
          <a:p>
            <a:pPr>
              <a:lnSpc>
                <a:spcPct val="100000"/>
              </a:lnSpc>
            </a:pPr>
            <a:r>
              <a:rPr lang="en-US" sz="863">
                <a:solidFill>
                  <a:srgbClr val="8B97A8"/>
                </a:solidFill>
                <a:latin typeface="Microsoft YaHei"/>
                <a:ea typeface="Microsoft YaHei"/>
              </a:rPr>
              <a:t>EFFORT</a:t>
            </a:r>
            <a:endParaRPr/>
          </a:p>
        </p:txBody>
      </p:sp>
      <p:sp>
        <p:nvSpPr>
          <p:cNvPr id="429" name="" descr="{&quot;isTemplate&quot;:true,&quot;type&quot;:&quot;text&quot;}"/>
          <p:cNvSpPr txBox="1"/>
          <p:nvPr/>
        </p:nvSpPr>
        <p:spPr>
          <a:xfrm rot="0" flipH="0" flipV="0">
            <a:off x="523875" y="4533900"/>
            <a:ext cx="5124450" cy="228600"/>
          </a:xfrm>
          <a:prstGeom prst="rect"/>
        </p:spPr>
        <p:txBody>
          <a:bodyPr wrap="none" lIns="0" tIns="0" rIns="0" bIns="0"/>
          <a:p>
            <a:pPr>
              <a:lnSpc>
                <a:spcPct val="150000"/>
              </a:lnSpc>
            </a:pPr>
            <a:r>
              <a:rPr lang="en-US" sz="975">
                <a:solidFill>
                  <a:srgbClr val="4A5568"/>
                </a:solidFill>
                <a:latin typeface="Microsoft YaHei"/>
                <a:ea typeface="Microsoft YaHei"/>
              </a:rPr>
              <a:t>Needs a domain expert in the room for an hour</a:t>
            </a:r>
            <a:endParaRPr/>
          </a:p>
        </p:txBody>
      </p:sp>
      <p:sp>
        <p:nvSpPr>
          <p:cNvPr id="430" name=""/>
          <p:cNvSpPr/>
          <p:nvPr/>
        </p:nvSpPr>
        <p:spPr>
          <a:xfrm rot="0" flipH="0" flipV="0">
            <a:off x="6400800" y="1304925"/>
            <a:ext cx="5410200" cy="847725"/>
          </a:xfrm>
          <a:prstGeom prst="roundRect">
            <a:avLst>
              <a:gd name="adj" fmla="val 11236"/>
            </a:avLst>
          </a:prstGeom>
          <a:solidFill>
            <a:srgbClr val="F7F9FC"/>
          </a:solidFill>
          <a:ln/>
        </p:spPr>
        <p:txBody>
          <a:bodyPr/>
          <a:p/>
        </p:txBody>
      </p:sp>
      <p:sp>
        <p:nvSpPr>
          <p:cNvPr id="431" name=""/>
          <p:cNvSpPr/>
          <p:nvPr/>
        </p:nvSpPr>
        <p:spPr>
          <a:xfrm rot="0" flipH="0" flipV="0">
            <a:off x="6400800" y="1304925"/>
            <a:ext cx="5410200" cy="847725"/>
          </a:xfrm>
          <a:custGeom>
            <a:pathLst>
              <a:path w="568" h="89">
                <a:moveTo>
                  <a:pt x="558" y="0"/>
                </a:moveTo>
                <a:cubicBezTo>
                  <a:pt x="563" y="0"/>
                  <a:pt x="567" y="4"/>
                  <a:pt x="568" y="8"/>
                </a:cubicBezTo>
                <a:cubicBezTo>
                  <a:pt x="567" y="6"/>
                  <a:pt x="565" y="4"/>
                  <a:pt x="562" y="4"/>
                </a:cubicBezTo>
                <a:lnTo>
                  <a:pt x="6" y="4"/>
                </a:lnTo>
                <a:cubicBezTo>
                  <a:pt x="3" y="4"/>
                  <a:pt x="1" y="6"/>
                  <a:pt x="0" y="9"/>
                </a:cubicBezTo>
                <a:cubicBezTo>
                  <a:pt x="1" y="4"/>
                  <a:pt x="5" y="0"/>
                  <a:pt x="10" y="0"/>
                </a:cubicBezTo>
                <a:lnTo>
                  <a:pt x="558" y="0"/>
                </a:lnTo>
                <a:close/>
              </a:path>
            </a:pathLst>
          </a:custGeom>
          <a:solidFill>
            <a:srgbClr val="3D7BD9"/>
          </a:solidFill>
          <a:ln/>
        </p:spPr>
        <p:txBody>
          <a:bodyPr/>
          <a:p/>
        </p:txBody>
      </p:sp>
      <p:sp>
        <p:nvSpPr>
          <p:cNvPr id="432" name="" descr="{&quot;isTemplate&quot;:true,&quot;type&quot;:&quot;text&quot;}"/>
          <p:cNvSpPr txBox="1"/>
          <p:nvPr/>
        </p:nvSpPr>
        <p:spPr>
          <a:xfrm rot="0" flipH="0" flipV="0">
            <a:off x="6572250" y="1457325"/>
            <a:ext cx="5067300" cy="209550"/>
          </a:xfrm>
          <a:prstGeom prst="rect"/>
        </p:spPr>
        <p:txBody>
          <a:bodyPr wrap="none" lIns="0" tIns="0" rIns="0" bIns="0"/>
          <a:p>
            <a:pPr>
              <a:lnSpc>
                <a:spcPct val="100000"/>
              </a:lnSpc>
            </a:pPr>
            <a:r>
              <a:rPr lang="en-US" sz="1350" b="1">
                <a:solidFill>
                  <a:srgbClr val="0E3F8C"/>
                </a:solidFill>
                <a:latin typeface="Microsoft YaHei"/>
                <a:ea typeface="Microsoft YaHei"/>
              </a:rPr>
              <a:t>02 · Noun–verb scanning</a:t>
            </a:r>
            <a:endParaRPr/>
          </a:p>
        </p:txBody>
      </p:sp>
      <p:sp>
        <p:nvSpPr>
          <p:cNvPr id="433" name="" descr="{&quot;isTemplate&quot;:true,&quot;type&quot;:&quot;text&quot;}"/>
          <p:cNvSpPr txBox="1"/>
          <p:nvPr/>
        </p:nvSpPr>
        <p:spPr>
          <a:xfrm rot="0" flipH="0" flipV="0">
            <a:off x="6572250" y="1724025"/>
            <a:ext cx="5067300" cy="238125"/>
          </a:xfrm>
          <a:prstGeom prst="rect"/>
        </p:spPr>
        <p:txBody>
          <a:bodyPr wrap="none" lIns="0" tIns="0" rIns="0" bIns="0"/>
          <a:p>
            <a:pPr>
              <a:lnSpc>
                <a:spcPct val="160000"/>
              </a:lnSpc>
            </a:pPr>
            <a:r>
              <a:rPr lang="en-US" sz="975">
                <a:solidFill>
                  <a:srgbClr val="4A5568"/>
                </a:solidFill>
                <a:latin typeface="Microsoft YaHei"/>
                <a:ea typeface="Microsoft YaHei"/>
              </a:rPr>
              <a:t>Read the narrative. Underline the nouns and the verbs, then sort what you underlined.</a:t>
            </a:r>
            <a:endParaRPr/>
          </a:p>
        </p:txBody>
      </p:sp>
      <p:sp>
        <p:nvSpPr>
          <p:cNvPr id="434" name=""/>
          <p:cNvSpPr/>
          <p:nvPr/>
        </p:nvSpPr>
        <p:spPr>
          <a:xfrm rot="0" flipH="0" flipV="0">
            <a:off x="6400800" y="2209800"/>
            <a:ext cx="5410200" cy="609600"/>
          </a:xfrm>
          <a:prstGeom prst="roundRect">
            <a:avLst>
              <a:gd name="adj" fmla="val 12500"/>
            </a:avLst>
          </a:prstGeom>
          <a:solidFill>
            <a:srgbClr val="FFFFFF"/>
          </a:solidFill>
          <a:ln w="12700">
            <a:solidFill>
              <a:srgbClr val="D6DCE5"/>
            </a:solidFill>
            <a:prstDash val="solid"/>
          </a:ln>
        </p:spPr>
        <p:txBody>
          <a:bodyPr/>
          <a:p/>
        </p:txBody>
      </p:sp>
      <p:sp>
        <p:nvSpPr>
          <p:cNvPr id="435" name="" descr="{&quot;isTemplate&quot;:true,&quot;type&quot;:&quot;text&quot;}"/>
          <p:cNvSpPr txBox="1"/>
          <p:nvPr/>
        </p:nvSpPr>
        <p:spPr>
          <a:xfrm rot="0" flipH="0" flipV="0">
            <a:off x="6543675" y="2324100"/>
            <a:ext cx="5124450" cy="133350"/>
          </a:xfrm>
          <a:prstGeom prst="rect"/>
        </p:spPr>
        <p:txBody>
          <a:bodyPr wrap="none" lIns="0" tIns="0" rIns="0" bIns="0"/>
          <a:p>
            <a:pPr>
              <a:lnSpc>
                <a:spcPct val="100000"/>
              </a:lnSpc>
            </a:pPr>
            <a:r>
              <a:rPr lang="en-US" sz="863">
                <a:solidFill>
                  <a:srgbClr val="8B97A8"/>
                </a:solidFill>
                <a:latin typeface="Microsoft YaHei"/>
                <a:ea typeface="Microsoft YaHei"/>
              </a:rPr>
              <a:t>BEST WHEN</a:t>
            </a:r>
            <a:endParaRPr/>
          </a:p>
        </p:txBody>
      </p:sp>
      <p:sp>
        <p:nvSpPr>
          <p:cNvPr id="436" name="" descr="{&quot;isTemplate&quot;:true,&quot;type&quot;:&quot;text&quot;}"/>
          <p:cNvSpPr txBox="1"/>
          <p:nvPr/>
        </p:nvSpPr>
        <p:spPr>
          <a:xfrm rot="0" flipH="0" flipV="0">
            <a:off x="6543675" y="2476500"/>
            <a:ext cx="5124450" cy="228600"/>
          </a:xfrm>
          <a:prstGeom prst="rect"/>
        </p:spPr>
        <p:txBody>
          <a:bodyPr wrap="none" lIns="0" tIns="0" rIns="0" bIns="0"/>
          <a:p>
            <a:pPr>
              <a:lnSpc>
                <a:spcPct val="150000"/>
              </a:lnSpc>
            </a:pPr>
            <a:r>
              <a:rPr lang="en-US" sz="975">
                <a:solidFill>
                  <a:srgbClr val="4A5568"/>
                </a:solidFill>
                <a:latin typeface="Microsoft YaHei"/>
                <a:ea typeface="Microsoft YaHei"/>
              </a:rPr>
              <a:t>You have a written brief and no expert available</a:t>
            </a:r>
            <a:endParaRPr/>
          </a:p>
        </p:txBody>
      </p:sp>
      <p:sp>
        <p:nvSpPr>
          <p:cNvPr id="437" name=""/>
          <p:cNvSpPr/>
          <p:nvPr/>
        </p:nvSpPr>
        <p:spPr>
          <a:xfrm rot="0" flipH="0" flipV="0">
            <a:off x="6400800" y="2895600"/>
            <a:ext cx="5410200" cy="609600"/>
          </a:xfrm>
          <a:prstGeom prst="roundRect">
            <a:avLst>
              <a:gd name="adj" fmla="val 12500"/>
            </a:avLst>
          </a:prstGeom>
          <a:solidFill>
            <a:srgbClr val="FFFFFF"/>
          </a:solidFill>
          <a:ln w="12700">
            <a:solidFill>
              <a:srgbClr val="D6DCE5"/>
            </a:solidFill>
            <a:prstDash val="solid"/>
          </a:ln>
        </p:spPr>
        <p:txBody>
          <a:bodyPr/>
          <a:p/>
        </p:txBody>
      </p:sp>
      <p:sp>
        <p:nvSpPr>
          <p:cNvPr id="438" name="" descr="{&quot;isTemplate&quot;:true,&quot;type&quot;:&quot;text&quot;}"/>
          <p:cNvSpPr txBox="1"/>
          <p:nvPr/>
        </p:nvSpPr>
        <p:spPr>
          <a:xfrm rot="0" flipH="0" flipV="0">
            <a:off x="6543675" y="3009900"/>
            <a:ext cx="5124450" cy="133350"/>
          </a:xfrm>
          <a:prstGeom prst="rect"/>
        </p:spPr>
        <p:txBody>
          <a:bodyPr wrap="none" lIns="0" tIns="0" rIns="0" bIns="0"/>
          <a:p>
            <a:pPr>
              <a:lnSpc>
                <a:spcPct val="100000"/>
              </a:lnSpc>
            </a:pPr>
            <a:r>
              <a:rPr lang="en-US" sz="863">
                <a:solidFill>
                  <a:srgbClr val="8B97A8"/>
                </a:solidFill>
                <a:latin typeface="Microsoft YaHei"/>
                <a:ea typeface="Microsoft YaHei"/>
              </a:rPr>
              <a:t>YOU GET</a:t>
            </a:r>
            <a:endParaRPr/>
          </a:p>
        </p:txBody>
      </p:sp>
      <p:sp>
        <p:nvSpPr>
          <p:cNvPr id="439" name="" descr="{&quot;isTemplate&quot;:true,&quot;type&quot;:&quot;text&quot;}"/>
          <p:cNvSpPr txBox="1"/>
          <p:nvPr/>
        </p:nvSpPr>
        <p:spPr>
          <a:xfrm rot="0" flipH="0" flipV="0">
            <a:off x="6543675" y="3162300"/>
            <a:ext cx="5124450" cy="228600"/>
          </a:xfrm>
          <a:prstGeom prst="rect"/>
        </p:spPr>
        <p:txBody>
          <a:bodyPr wrap="none" lIns="0" tIns="0" rIns="0" bIns="0"/>
          <a:p>
            <a:pPr>
              <a:lnSpc>
                <a:spcPct val="150000"/>
              </a:lnSpc>
            </a:pPr>
            <a:r>
              <a:rPr lang="en-US" sz="975">
                <a:solidFill>
                  <a:srgbClr val="4A5568"/>
                </a:solidFill>
                <a:latin typeface="Microsoft YaHei"/>
                <a:ea typeface="Microsoft YaHei"/>
              </a:rPr>
              <a:t>Candidate actors and use cases in one pass — plus candidate classes</a:t>
            </a:r>
            <a:endParaRPr/>
          </a:p>
        </p:txBody>
      </p:sp>
      <p:sp>
        <p:nvSpPr>
          <p:cNvPr id="440" name=""/>
          <p:cNvSpPr/>
          <p:nvPr/>
        </p:nvSpPr>
        <p:spPr>
          <a:xfrm rot="0" flipH="0" flipV="0">
            <a:off x="6400800" y="3581400"/>
            <a:ext cx="5410200" cy="609600"/>
          </a:xfrm>
          <a:prstGeom prst="roundRect">
            <a:avLst>
              <a:gd name="adj" fmla="val 12500"/>
            </a:avLst>
          </a:prstGeom>
          <a:solidFill>
            <a:srgbClr val="FFFFFF"/>
          </a:solidFill>
          <a:ln w="12700">
            <a:solidFill>
              <a:srgbClr val="D6DCE5"/>
            </a:solidFill>
            <a:prstDash val="solid"/>
          </a:ln>
        </p:spPr>
        <p:txBody>
          <a:bodyPr/>
          <a:p/>
        </p:txBody>
      </p:sp>
      <p:sp>
        <p:nvSpPr>
          <p:cNvPr id="441" name="" descr="{&quot;isTemplate&quot;:true,&quot;type&quot;:&quot;text&quot;}"/>
          <p:cNvSpPr txBox="1"/>
          <p:nvPr/>
        </p:nvSpPr>
        <p:spPr>
          <a:xfrm rot="0" flipH="0" flipV="0">
            <a:off x="6543675" y="3695700"/>
            <a:ext cx="5124450" cy="133350"/>
          </a:xfrm>
          <a:prstGeom prst="rect"/>
        </p:spPr>
        <p:txBody>
          <a:bodyPr wrap="none" lIns="0" tIns="0" rIns="0" bIns="0"/>
          <a:p>
            <a:pPr>
              <a:lnSpc>
                <a:spcPct val="100000"/>
              </a:lnSpc>
            </a:pPr>
            <a:r>
              <a:rPr lang="en-US" sz="863">
                <a:solidFill>
                  <a:srgbClr val="8B97A8"/>
                </a:solidFill>
                <a:latin typeface="Microsoft YaHei"/>
                <a:ea typeface="Microsoft YaHei"/>
              </a:rPr>
              <a:t>BLIND SPOT</a:t>
            </a:r>
            <a:endParaRPr/>
          </a:p>
        </p:txBody>
      </p:sp>
      <p:sp>
        <p:nvSpPr>
          <p:cNvPr id="442" name="" descr="{&quot;isTemplate&quot;:true,&quot;type&quot;:&quot;text&quot;}"/>
          <p:cNvSpPr txBox="1"/>
          <p:nvPr/>
        </p:nvSpPr>
        <p:spPr>
          <a:xfrm rot="0" flipH="0" flipV="0">
            <a:off x="6543675" y="3848100"/>
            <a:ext cx="5124450" cy="228600"/>
          </a:xfrm>
          <a:prstGeom prst="rect"/>
        </p:spPr>
        <p:txBody>
          <a:bodyPr wrap="none" lIns="0" tIns="0" rIns="0" bIns="0"/>
          <a:p>
            <a:pPr>
              <a:lnSpc>
                <a:spcPct val="150000"/>
              </a:lnSpc>
            </a:pPr>
            <a:r>
              <a:rPr lang="en-US" sz="975">
                <a:solidFill>
                  <a:srgbClr val="4A5568"/>
                </a:solidFill>
                <a:latin typeface="Microsoft YaHei"/>
                <a:ea typeface="Microsoft YaHei"/>
              </a:rPr>
              <a:t>Finds what the text says, not what the text forgot</a:t>
            </a:r>
            <a:endParaRPr/>
          </a:p>
        </p:txBody>
      </p:sp>
      <p:sp>
        <p:nvSpPr>
          <p:cNvPr id="443" name=""/>
          <p:cNvSpPr/>
          <p:nvPr/>
        </p:nvSpPr>
        <p:spPr>
          <a:xfrm rot="0" flipH="0" flipV="0">
            <a:off x="6400800" y="4267200"/>
            <a:ext cx="5410200" cy="609600"/>
          </a:xfrm>
          <a:prstGeom prst="roundRect">
            <a:avLst>
              <a:gd name="adj" fmla="val 12500"/>
            </a:avLst>
          </a:prstGeom>
          <a:solidFill>
            <a:srgbClr val="FFFFFF"/>
          </a:solidFill>
          <a:ln w="12700">
            <a:solidFill>
              <a:srgbClr val="D6DCE5"/>
            </a:solidFill>
            <a:prstDash val="solid"/>
          </a:ln>
        </p:spPr>
        <p:txBody>
          <a:bodyPr/>
          <a:p/>
        </p:txBody>
      </p:sp>
      <p:sp>
        <p:nvSpPr>
          <p:cNvPr id="444" name="" descr="{&quot;isTemplate&quot;:true,&quot;type&quot;:&quot;text&quot;}"/>
          <p:cNvSpPr txBox="1"/>
          <p:nvPr/>
        </p:nvSpPr>
        <p:spPr>
          <a:xfrm rot="0" flipH="0" flipV="0">
            <a:off x="6543675" y="4381500"/>
            <a:ext cx="5124450" cy="133350"/>
          </a:xfrm>
          <a:prstGeom prst="rect"/>
        </p:spPr>
        <p:txBody>
          <a:bodyPr wrap="none" lIns="0" tIns="0" rIns="0" bIns="0"/>
          <a:p>
            <a:pPr>
              <a:lnSpc>
                <a:spcPct val="100000"/>
              </a:lnSpc>
            </a:pPr>
            <a:r>
              <a:rPr lang="en-US" sz="863">
                <a:solidFill>
                  <a:srgbClr val="8B97A8"/>
                </a:solidFill>
                <a:latin typeface="Microsoft YaHei"/>
                <a:ea typeface="Microsoft YaHei"/>
              </a:rPr>
              <a:t>EFFORT</a:t>
            </a:r>
            <a:endParaRPr/>
          </a:p>
        </p:txBody>
      </p:sp>
      <p:sp>
        <p:nvSpPr>
          <p:cNvPr id="445" name="" descr="{&quot;isTemplate&quot;:true,&quot;type&quot;:&quot;text&quot;}"/>
          <p:cNvSpPr txBox="1"/>
          <p:nvPr/>
        </p:nvSpPr>
        <p:spPr>
          <a:xfrm rot="0" flipH="0" flipV="0">
            <a:off x="6543675" y="4533900"/>
            <a:ext cx="5124450" cy="228600"/>
          </a:xfrm>
          <a:prstGeom prst="rect"/>
        </p:spPr>
        <p:txBody>
          <a:bodyPr wrap="none" lIns="0" tIns="0" rIns="0" bIns="0"/>
          <a:p>
            <a:pPr>
              <a:lnSpc>
                <a:spcPct val="150000"/>
              </a:lnSpc>
            </a:pPr>
            <a:r>
              <a:rPr lang="en-US" sz="975">
                <a:solidFill>
                  <a:srgbClr val="4A5568"/>
                </a:solidFill>
                <a:latin typeface="Microsoft YaHei"/>
                <a:ea typeface="Microsoft YaHei"/>
              </a:rPr>
              <a:t>Twenty minutes alone with a highlighter</a:t>
            </a:r>
            <a:endParaRPr/>
          </a:p>
        </p:txBody>
      </p:sp>
      <p:sp>
        <p:nvSpPr>
          <p:cNvPr id="446" name=""/>
          <p:cNvSpPr/>
          <p:nvPr/>
        </p:nvSpPr>
        <p:spPr>
          <a:xfrm rot="0" flipH="0" flipV="0">
            <a:off x="0" y="6419850"/>
            <a:ext cx="12192000" cy="438150"/>
          </a:xfrm>
          <a:prstGeom prst="rect">
            <a:avLst/>
          </a:prstGeom>
          <a:solidFill>
            <a:srgbClr val="0E3F8C"/>
          </a:solidFill>
          <a:ln/>
        </p:spPr>
        <p:txBody>
          <a:bodyPr/>
          <a:p/>
        </p:txBody>
      </p:sp>
      <p:sp>
        <p:nvSpPr>
          <p:cNvPr id="447" name="" descr="{&quot;isTemplate&quot;:true,&quot;type&quot;:&quot;text&quot;}"/>
          <p:cNvSpPr txBox="1"/>
          <p:nvPr/>
        </p:nvSpPr>
        <p:spPr>
          <a:xfrm rot="0" flipH="0" flipV="0">
            <a:off x="2352675" y="6543675"/>
            <a:ext cx="7486650" cy="190500"/>
          </a:xfrm>
          <a:prstGeom prst="rect"/>
        </p:spPr>
        <p:txBody>
          <a:bodyPr wrap="none" lIns="0" tIns="0" rIns="0" bIns="0"/>
          <a:p>
            <a:pPr>
              <a:lnSpc>
                <a:spcPct val="100000"/>
              </a:lnSpc>
            </a:pPr>
            <a:r>
              <a:rPr lang="en-US" sz="1200" b="1">
                <a:solidFill>
                  <a:srgbClr val="FFFFFF"/>
                </a:solidFill>
                <a:latin typeface="Microsoft YaHei"/>
                <a:ea typeface="Microsoft YaHei"/>
              </a:rPr>
              <a:t>Run both. Where they agree, you are confident; where they disagree, you have found a question to ask.</a:t>
            </a:r>
            <a:endParaRPr/>
          </a:p>
        </p:txBody>
      </p:sp>
    </p:spTree>
  </p:cSld>
</p:sld>
</file>

<file path=ppt/slides/slide26.xml><?xml version="1.0" encoding="utf-8"?>
<p:sld xmlns:a16="http://schemas.microsoft.com/office/drawing/2014/main" xmlns:a="http://schemas.openxmlformats.org/drawingml/2006/main" xmlns:p="http://schemas.openxmlformats.org/presentationml/2006/main" xmlns:mc="http://schemas.openxmlformats.org/markup-compatibility/2006" mc:Ignorable="a16">
  <p:cSld>
    <p:spTree>
      <p:nvGrpSpPr>
        <p:cNvPr id="448" name="" descr="&lt;Slide style={{ background: '#FFFFFF', padding: 0 }}&gt;&#10;  &lt;Box style={{ height: 72, background: '#1E4FA8', padding: '0 40px', flexDirection: 'row', alignItems: 'center', justifyContent: 'space-between' }}&gt;&#10;    &lt;Text style={{ fontSize: 15, color: '#B9CDF0', letterSpacing: 1 }}&gt;ISAD · INFORMATION SYSTEMS ANALYSIS &amp;amp; DESIGN&lt;/Text&gt;&#10;    &lt;Text style={{ fontSize: 15, color: '#B9CDF0' }}&gt;W04 · FINDING USE CASES&lt;/Text&gt;&#10;  &lt;/Box&gt;&#10;  &lt;Box style={{ padding: '14px 40px 0 40px', flexDirection: 'row', alignItems: 'center', justifyContent: 'space-between' }}&gt;&#10;    &lt;Text style={{ fontSize: 29, fontWeight: 'bold', color: '#0E3F8C' }}&gt;The Event Table&lt;/Text&gt;&#10;    &lt;Text style={{ fontSize: 14, color: '#1E4FA8', fontWeight: 'bold' }}&gt;26 / 38&lt;/Text&gt;&#10;  &lt;/Box&gt;&#10;  &lt;Box style={{ flex: 1, padding: '10px 40px 6px 40px' }}&gt;&#10;    &lt;Table&#10;      style={{ width: '100%', height: '100%' }}&#10;      defaultTextStyle={{ fontSize: 13.5, textAlign: 'left', color: '#1A2230' }}&#10;      defaultCellStyle={{&#10;        border: {&#10;          left: { width: 1, color: '#E5E7EB' },&#10;          right: { width: 1, color: '#E5E7EB' },&#10;          top: { width: 1, color: '#E5E7EB' },&#10;          bottom: { width: 1, color: '#E5E7EB' },&#10;        },&#10;      }}&#10;      cells={[&#10;        [&#10;          { text: 'External event', textStyle: { bold: true, color: '#FFFFFF' }, cellStyle: { background: { color: '#0E3F8C' } } },&#10;          { text: 'Who triggers it', textStyle: { bold: true, color: '#FFFFFF' }, cellStyle: { background: { color: '#0E3F8C' } } },&#10;          { text: 'What the system must do', textStyle: { bold: true, color: '#FFFFFF' }, cellStyle: { background: { color: '#1E4FA8' } } },&#10;          { text: 'Use case', textStyle: { bold: true, color: '#FFFFFF' }, cellStyle: { background: { color: '#1E4FA8' } } },&#10;        ],&#10;        [&#10;          { text: 'A student wants lunch', textStyle: { color: '#4A5568' }, cellStyle: { background: { color: '#F7F9FC' } } },&#10;          { text: 'Student', textStyle: { color: '#4A5568' }, cellStyle: { background: { color: '#F7F9FC' } } },&#10;          { text: 'Show the menu, take the selection, take the money', textStyle: { color: '#4A5568' }, cellStyle: { background: { color: '#F7F9FC' } } },&#10;          { text: 'Place Order', textStyle: { bold: true, color: '#0E3F8C' }, cellStyle: { background: { color: '#F7F9FC' } } },&#10;        ],&#10;        [&#10;          { text: 'A restaurant changes its menu', textStyle: { color: '#4A5568' } },&#10;          { text: 'Restaurant Manager', textStyle: { color: '#4A5568' } },&#10;          { text: 'Let the manager mark items sold out before service starts', textStyle: { color: '#4A5568' } },&#10;          { text: 'Manage Today’s Menu', textStyle: { bold: true, color: '#0E3F8C' } },&#10;        ],&#10;        [&#10;          { text: 'An order is ready for pickup', textStyle: { color: '#4A5568' }, cellStyle: { background: { color: '#F7F9FC' } } },&#10;          { text: 'Kitchen (system clock)', textStyle: { color: '#4A5568' }, cellStyle: { background: { color: '#F7F9FC' } } },&#10;          { text: 'Find an available courier and assign the delivery', textStyle: { color: '#4A5568' }, cellStyle: { background: { color: '#F7F9FC' } } },&#10;          { text: 'Dispatch Courier', textStyle: { bold: true, color: '#0E3F8C' }, cellStyle: { background: { color: '#F7F9FC' } } },&#10;        ],&#10;        [&#10;          { text: 'A student wants to know where lunch is', textStyle: { color: '#4A5568' } },&#10;          { text: 'Student', textStyle: { color: '#4A5568' } },&#10;          { text: 'Show the current status of a live order', textStyle: { color: '#4A5568' } },&#10;          { text: 'Track Order', textStyle: { bold: true, color: '#0E3F8C' } },&#10;        ],&#10;        [&#10;          { text: 'A delivery has arrived', textStyle: { color: '#4A5568' }, cellStyle: { background: { color: '#F7F9FC' } } },&#10;          { text: 'Courier', textStyle: { color: '#4A5568' }, cellStyle: { background: { color: '#F7F9FC' } } },&#10;          { text: 'Close the order, record the arrival time, open the rating', textStyle: { color: '#4A5568' }, cellStyle: { background: { color: '#F7F9FC' } } },&#10;          { text: 'Confirm Delivery', textStyle: { bold: true, color: '#0E3F8C' }, cellStyle: { background: { color: '#F7F9FC' } } },&#10;        ],&#10;        [&#10;          { text: 'A payment is declined', textStyle: { color: '#4A5568' } },&#10;          { text: 'Payment Provider', textStyle: { color: '#4A5568' } },&#10;          { text: 'Tell the student, hold the order for thirty minutes', textStyle: { color: '#4A5568' } },&#10;          { text: 'Pay for Order', textStyle: { bold: true, color: '#0E3F8C' } },&#10;        ],&#10;      ]}&#10;    /&gt;&#10;  &lt;/Box&gt;&#10;  &lt;Box style={{ height: 46, background: '#0E3F8C', padding: '0 40px', flexDirection: 'row', alignItems: 'center', justifyContent: 'center' }}&gt;&#10;    &lt;Text style={{ fontSize: 16, color: '#FFFFFF', fontWeight: '600' }}&gt;One row per event, one verb phrase per row — if two rows produce the same use case, merge them.&lt;/Text&gt;&#10;  &lt;/Box&gt;&#10;&lt;/Slide&gt;"/>
        <p:cNvGrpSpPr/>
        <p:nvPr/>
      </p:nvGrpSpPr>
      <p:grpSpPr>
        <a:xfrm>
          <a:off x="0" y="0"/>
          <a:ext cx="0" cy="0"/>
          <a:chOff x="0" y="0"/>
          <a:chExt cx="0" cy="0"/>
        </a:xfrm>
      </p:grpSpPr>
      <p:sp>
        <p:nvSpPr>
          <p:cNvPr id="449" name=""/>
          <p:cNvSpPr/>
          <p:nvPr/>
        </p:nvSpPr>
        <p:spPr>
          <a:xfrm rot="0" flipH="0" flipV="0">
            <a:off x="0" y="0"/>
            <a:ext cx="12192000" cy="6858000"/>
          </a:xfrm>
          <a:prstGeom prst="rect">
            <a:avLst/>
          </a:prstGeom>
          <a:solidFill>
            <a:srgbClr val="FFFFFF"/>
          </a:solidFill>
          <a:ln/>
        </p:spPr>
        <p:txBody>
          <a:bodyPr/>
          <a:p/>
        </p:txBody>
      </p:sp>
      <p:sp>
        <p:nvSpPr>
          <p:cNvPr id="450" name=""/>
          <p:cNvSpPr/>
          <p:nvPr/>
        </p:nvSpPr>
        <p:spPr>
          <a:xfrm rot="0" flipH="0" flipV="0">
            <a:off x="0" y="0"/>
            <a:ext cx="12192000" cy="685800"/>
          </a:xfrm>
          <a:prstGeom prst="rect">
            <a:avLst/>
          </a:prstGeom>
          <a:solidFill>
            <a:srgbClr val="1E4FA8"/>
          </a:solidFill>
          <a:ln/>
        </p:spPr>
        <p:txBody>
          <a:bodyPr/>
          <a:p/>
        </p:txBody>
      </p:sp>
      <p:sp>
        <p:nvSpPr>
          <p:cNvPr id="451" name="" descr="{&quot;isTemplate&quot;:true,&quot;type&quot;:&quot;text&quot;}"/>
          <p:cNvSpPr txBox="1"/>
          <p:nvPr/>
        </p:nvSpPr>
        <p:spPr>
          <a:xfrm rot="0" flipH="0" flipV="0">
            <a:off x="381000" y="257175"/>
            <a:ext cx="4067175" cy="171450"/>
          </a:xfrm>
          <a:prstGeom prst="rect"/>
        </p:spPr>
        <p:txBody>
          <a:bodyPr wrap="none" lIns="0" tIns="0" rIns="0" bIns="0"/>
          <a:p>
            <a:pPr>
              <a:lnSpc>
                <a:spcPct val="100000"/>
              </a:lnSpc>
            </a:pPr>
            <a:r>
              <a:rPr lang="en-US" sz="1125" spc="75">
                <a:solidFill>
                  <a:srgbClr val="B9CDF0"/>
                </a:solidFill>
                <a:latin typeface="Microsoft YaHei"/>
                <a:ea typeface="Microsoft YaHei"/>
              </a:rPr>
              <a:t>ISAD · INFORMATION SYSTEMS ANALYSIS &amp; DESIGN</a:t>
            </a:r>
            <a:endParaRPr/>
          </a:p>
        </p:txBody>
      </p:sp>
      <p:sp>
        <p:nvSpPr>
          <p:cNvPr id="452" name="" descr="{&quot;isTemplate&quot;:true,&quot;type&quot;:&quot;text&quot;}"/>
          <p:cNvSpPr txBox="1"/>
          <p:nvPr/>
        </p:nvSpPr>
        <p:spPr>
          <a:xfrm rot="0" flipH="0" flipV="0">
            <a:off x="9944100" y="257175"/>
            <a:ext cx="1866900" cy="171450"/>
          </a:xfrm>
          <a:prstGeom prst="rect"/>
        </p:spPr>
        <p:txBody>
          <a:bodyPr wrap="none" lIns="0" tIns="0" rIns="0" bIns="0"/>
          <a:p>
            <a:pPr>
              <a:lnSpc>
                <a:spcPct val="100000"/>
              </a:lnSpc>
            </a:pPr>
            <a:r>
              <a:rPr lang="en-US" sz="1125">
                <a:solidFill>
                  <a:srgbClr val="B9CDF0"/>
                </a:solidFill>
                <a:latin typeface="Microsoft YaHei"/>
                <a:ea typeface="Microsoft YaHei"/>
              </a:rPr>
              <a:t>W04 · FINDING USE CASES</a:t>
            </a:r>
            <a:endParaRPr/>
          </a:p>
        </p:txBody>
      </p:sp>
      <p:sp>
        <p:nvSpPr>
          <p:cNvPr id="453" name="" descr="{&quot;isTemplate&quot;:true,&quot;type&quot;:&quot;text&quot;}"/>
          <p:cNvSpPr txBox="1"/>
          <p:nvPr/>
        </p:nvSpPr>
        <p:spPr>
          <a:xfrm rot="0" flipH="0" flipV="0">
            <a:off x="381000" y="819150"/>
            <a:ext cx="2105025" cy="333375"/>
          </a:xfrm>
          <a:prstGeom prst="rect"/>
        </p:spPr>
        <p:txBody>
          <a:bodyPr wrap="none" lIns="0" tIns="0" rIns="0" bIns="0"/>
          <a:p>
            <a:pPr>
              <a:lnSpc>
                <a:spcPct val="100000"/>
              </a:lnSpc>
            </a:pPr>
            <a:r>
              <a:rPr lang="en-US" sz="2175" b="1">
                <a:solidFill>
                  <a:srgbClr val="0E3F8C"/>
                </a:solidFill>
                <a:latin typeface="Microsoft YaHei"/>
                <a:ea typeface="Microsoft YaHei"/>
              </a:rPr>
              <a:t>The Event Table</a:t>
            </a:r>
            <a:endParaRPr/>
          </a:p>
        </p:txBody>
      </p:sp>
      <p:sp>
        <p:nvSpPr>
          <p:cNvPr id="454" name="" descr="{&quot;isTemplate&quot;:true,&quot;type&quot;:&quot;text&quot;}"/>
          <p:cNvSpPr txBox="1"/>
          <p:nvPr/>
        </p:nvSpPr>
        <p:spPr>
          <a:xfrm rot="0" flipH="0" flipV="0">
            <a:off x="11401425" y="904875"/>
            <a:ext cx="409575" cy="161925"/>
          </a:xfrm>
          <a:prstGeom prst="rect"/>
        </p:spPr>
        <p:txBody>
          <a:bodyPr wrap="none" lIns="0" tIns="0" rIns="0" bIns="0"/>
          <a:p>
            <a:pPr>
              <a:lnSpc>
                <a:spcPct val="100000"/>
              </a:lnSpc>
            </a:pPr>
            <a:r>
              <a:rPr lang="en-US" sz="1050" b="1">
                <a:solidFill>
                  <a:srgbClr val="1E4FA8"/>
                </a:solidFill>
                <a:latin typeface="Microsoft YaHei"/>
                <a:ea typeface="Microsoft YaHei"/>
              </a:rPr>
              <a:t>26 / 38</a:t>
            </a:r>
            <a:endParaRPr/>
          </a:p>
        </p:txBody>
      </p:sp>
      <p:graphicFrame>
        <p:nvGraphicFramePr>
          <p:cNvPr id="455" name=""/>
          <p:cNvGraphicFramePr/>
          <p:nvPr/>
        </p:nvGraphicFramePr>
        <p:xfrm rot="0" flipH="0" flipV="0">
          <a:off x="381000" y="1247775"/>
          <a:ext cx="11430000" cy="5114925"/>
        </p:xfrm>
        <a:graphic>
          <a:graphicData uri="http://schemas.openxmlformats.org/drawingml/2006/table">
            <a:tbl>
              <a:tblGrid>
                <a:gridCol w="3133909">
                  <a:extLst>
                    <a:ext uri="{9D8B030D-6E8A-4147-A177-3AD203B41FA5}">
                      <a16:colId val="1"/>
                    </a:ext>
                  </a:extLst>
                </a:gridCol>
                <a:gridCol w="1850354">
                  <a:extLst>
                    <a:ext uri="{9D8B030D-6E8A-4147-A177-3AD203B41FA5}">
                      <a16:colId val="2"/>
                    </a:ext>
                  </a:extLst>
                </a:gridCol>
                <a:gridCol w="4506424">
                  <a:extLst>
                    <a:ext uri="{9D8B030D-6E8A-4147-A177-3AD203B41FA5}">
                      <a16:colId val="3"/>
                    </a:ext>
                  </a:extLst>
                </a:gridCol>
                <a:gridCol w="1939313">
                  <a:extLst>
                    <a:ext uri="{9D8B030D-6E8A-4147-A177-3AD203B41FA5}">
                      <a16:colId val="4"/>
                    </a:ext>
                  </a:extLst>
                </a:gridCol>
              </a:tblGrid>
              <a:tr h="730704">
                <a:tc>
                  <a:txBody>
                    <a:bodyPr wrap="square" lIns="0" tIns="0" rIns="0" bIns="0" anchor="ctr">
                      <a:normAutofit/>
                    </a:bodyPr>
                    <a:p>
                      <a:pPr marL="114300" marR="114300" algn="l">
                        <a:lnSpc>
                          <a:spcPct val="120000"/>
                        </a:lnSpc>
                      </a:pPr>
                      <a:r>
                        <a:rPr sz="1013" b="1">
                          <a:solidFill>
                            <a:srgbClr val="FFFFFF"/>
                          </a:solidFill>
                          <a:latin typeface="Microsoft YaHei"/>
                          <a:ea typeface="Microsoft YaHei"/>
                        </a:rPr>
                        <a:t>External event</a:t>
                      </a:r>
                      <a:endParaRPr/>
                    </a:p>
                  </a:txBody>
                  <a:tcPr marL="45720" marR="45720" marT="45720" marB="45720" anchor="ctr">
                    <a:lnL>
                      <a:noFill/>
                    </a:lnL>
                    <a:lnR>
                      <a:noFill/>
                    </a:lnR>
                    <a:lnT>
                      <a:noFill/>
                    </a:lnT>
                    <a:lnB>
                      <a:noFill/>
                    </a:lnB>
                    <a:solidFill>
                      <a:srgbClr val="0E3F8C"/>
                    </a:solidFill>
                  </a:tcPr>
                </a:tc>
                <a:tc>
                  <a:txBody>
                    <a:bodyPr wrap="square" lIns="0" tIns="0" rIns="0" bIns="0" anchor="ctr">
                      <a:normAutofit/>
                    </a:bodyPr>
                    <a:p>
                      <a:pPr marL="114300" marR="114300" algn="l">
                        <a:lnSpc>
                          <a:spcPct val="120000"/>
                        </a:lnSpc>
                      </a:pPr>
                      <a:r>
                        <a:rPr sz="1013" b="1">
                          <a:solidFill>
                            <a:srgbClr val="FFFFFF"/>
                          </a:solidFill>
                          <a:latin typeface="Microsoft YaHei"/>
                          <a:ea typeface="Microsoft YaHei"/>
                        </a:rPr>
                        <a:t>Who triggers it</a:t>
                      </a:r>
                      <a:endParaRPr/>
                    </a:p>
                  </a:txBody>
                  <a:tcPr marL="45720" marR="45720" marT="45720" marB="45720" anchor="ctr">
                    <a:lnL>
                      <a:noFill/>
                    </a:lnL>
                    <a:lnR>
                      <a:noFill/>
                    </a:lnR>
                    <a:lnT>
                      <a:noFill/>
                    </a:lnT>
                    <a:lnB>
                      <a:noFill/>
                    </a:lnB>
                    <a:solidFill>
                      <a:srgbClr val="0E3F8C"/>
                    </a:solidFill>
                  </a:tcPr>
                </a:tc>
                <a:tc>
                  <a:txBody>
                    <a:bodyPr wrap="square" lIns="0" tIns="0" rIns="0" bIns="0" anchor="ctr">
                      <a:normAutofit/>
                    </a:bodyPr>
                    <a:p>
                      <a:pPr marL="114300" marR="114300" algn="l">
                        <a:lnSpc>
                          <a:spcPct val="120000"/>
                        </a:lnSpc>
                      </a:pPr>
                      <a:r>
                        <a:rPr sz="1013" b="1">
                          <a:solidFill>
                            <a:srgbClr val="FFFFFF"/>
                          </a:solidFill>
                          <a:latin typeface="Microsoft YaHei"/>
                          <a:ea typeface="Microsoft YaHei"/>
                        </a:rPr>
                        <a:t>What the system must do</a:t>
                      </a:r>
                      <a:endParaRPr/>
                    </a:p>
                  </a:txBody>
                  <a:tcPr marL="45720" marR="45720" marT="45720" marB="45720" anchor="ctr">
                    <a:lnL>
                      <a:noFill/>
                    </a:lnL>
                    <a:lnR>
                      <a:noFill/>
                    </a:lnR>
                    <a:lnT>
                      <a:noFill/>
                    </a:lnT>
                    <a:lnB>
                      <a:noFill/>
                    </a:lnB>
                    <a:solidFill>
                      <a:srgbClr val="1E4FA8"/>
                    </a:solidFill>
                  </a:tcPr>
                </a:tc>
                <a:tc>
                  <a:txBody>
                    <a:bodyPr wrap="square" lIns="0" tIns="0" rIns="0" bIns="0" anchor="ctr">
                      <a:normAutofit/>
                    </a:bodyPr>
                    <a:p>
                      <a:pPr marL="114300" marR="114300" algn="l">
                        <a:lnSpc>
                          <a:spcPct val="120000"/>
                        </a:lnSpc>
                      </a:pPr>
                      <a:r>
                        <a:rPr sz="1013" b="1">
                          <a:solidFill>
                            <a:srgbClr val="FFFFFF"/>
                          </a:solidFill>
                          <a:latin typeface="Microsoft YaHei"/>
                          <a:ea typeface="Microsoft YaHei"/>
                        </a:rPr>
                        <a:t>Use case</a:t>
                      </a:r>
                      <a:endParaRPr/>
                    </a:p>
                  </a:txBody>
                  <a:tcPr marL="45720" marR="45720" marT="45720" marB="45720" anchor="ctr">
                    <a:lnL>
                      <a:noFill/>
                    </a:lnL>
                    <a:lnR>
                      <a:noFill/>
                    </a:lnR>
                    <a:lnT>
                      <a:noFill/>
                    </a:lnT>
                    <a:lnB>
                      <a:noFill/>
                    </a:lnB>
                    <a:solidFill>
                      <a:srgbClr val="1E4FA8"/>
                    </a:solidFill>
                  </a:tcPr>
                </a:tc>
                <a:extLst>
                  <a:ext uri="{0D108BD9-81ED-4DB2-BD59-A6C34878D82A}">
                    <a16:rowId val="1"/>
                  </a:ext>
                </a:extLst>
              </a:tr>
              <a:tr h="730704">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A student wants lunch</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Student</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Show the menu, take the selection, take the money</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1013" b="1">
                          <a:solidFill>
                            <a:srgbClr val="0E3F8C"/>
                          </a:solidFill>
                          <a:latin typeface="Microsoft YaHei"/>
                          <a:ea typeface="Microsoft YaHei"/>
                        </a:rPr>
                        <a:t>Place Order</a:t>
                      </a:r>
                      <a:endParaRPr/>
                    </a:p>
                  </a:txBody>
                  <a:tcPr marL="45720" marR="45720" marT="45720" marB="45720" anchor="ctr">
                    <a:lnL>
                      <a:noFill/>
                    </a:lnL>
                    <a:lnR>
                      <a:noFill/>
                    </a:lnR>
                    <a:lnT>
                      <a:noFill/>
                    </a:lnT>
                    <a:lnB>
                      <a:noFill/>
                    </a:lnB>
                    <a:solidFill>
                      <a:srgbClr val="F7F9FC"/>
                    </a:solidFill>
                  </a:tcPr>
                </a:tc>
                <a:extLst>
                  <a:ext uri="{0D108BD9-81ED-4DB2-BD59-A6C34878D82A}">
                    <a16:rowId val="2"/>
                  </a:ext>
                </a:extLst>
              </a:tr>
              <a:tr h="730704">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A restaurant changes its menu</a:t>
                      </a:r>
                      <a:endParaRPr/>
                    </a:p>
                  </a:txBody>
                  <a:tcPr marL="45720" marR="45720" marT="45720" marB="45720" anchor="ctr">
                    <a:lnL>
                      <a:noFill/>
                    </a:lnL>
                    <a:lnR>
                      <a:noFill/>
                    </a:lnR>
                    <a:lnT>
                      <a:noFill/>
                    </a:lnT>
                    <a:lnB>
                      <a:noFill/>
                    </a:lnB>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Restaurant Manager</a:t>
                      </a:r>
                      <a:endParaRPr/>
                    </a:p>
                  </a:txBody>
                  <a:tcPr marL="45720" marR="45720" marT="45720" marB="45720" anchor="ctr">
                    <a:lnL>
                      <a:noFill/>
                    </a:lnL>
                    <a:lnR>
                      <a:noFill/>
                    </a:lnR>
                    <a:lnT>
                      <a:noFill/>
                    </a:lnT>
                    <a:lnB>
                      <a:noFill/>
                    </a:lnB>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Let the manager mark items sold out before service starts</a:t>
                      </a:r>
                      <a:endParaRPr/>
                    </a:p>
                  </a:txBody>
                  <a:tcPr marL="45720" marR="45720" marT="45720" marB="45720" anchor="ctr">
                    <a:lnL>
                      <a:noFill/>
                    </a:lnL>
                    <a:lnR>
                      <a:noFill/>
                    </a:lnR>
                    <a:lnT>
                      <a:noFill/>
                    </a:lnT>
                    <a:lnB>
                      <a:noFill/>
                    </a:lnB>
                  </a:tcPr>
                </a:tc>
                <a:tc>
                  <a:txBody>
                    <a:bodyPr wrap="square" lIns="0" tIns="0" rIns="0" bIns="0" anchor="ctr">
                      <a:normAutofit/>
                    </a:bodyPr>
                    <a:p>
                      <a:pPr marL="114300" marR="114300" algn="l">
                        <a:lnSpc>
                          <a:spcPct val="120000"/>
                        </a:lnSpc>
                      </a:pPr>
                      <a:r>
                        <a:rPr sz="1013" b="1">
                          <a:solidFill>
                            <a:srgbClr val="0E3F8C"/>
                          </a:solidFill>
                          <a:latin typeface="Microsoft YaHei"/>
                          <a:ea typeface="Microsoft YaHei"/>
                        </a:rPr>
                        <a:t>Manage Today’s Menu</a:t>
                      </a:r>
                      <a:endParaRPr/>
                    </a:p>
                  </a:txBody>
                  <a:tcPr marL="45720" marR="45720" marT="45720" marB="45720" anchor="ctr">
                    <a:lnL>
                      <a:noFill/>
                    </a:lnL>
                    <a:lnR>
                      <a:noFill/>
                    </a:lnR>
                    <a:lnT>
                      <a:noFill/>
                    </a:lnT>
                    <a:lnB>
                      <a:noFill/>
                    </a:lnB>
                  </a:tcPr>
                </a:tc>
                <a:extLst>
                  <a:ext uri="{0D108BD9-81ED-4DB2-BD59-A6C34878D82A}">
                    <a16:rowId val="3"/>
                  </a:ext>
                </a:extLst>
              </a:tr>
              <a:tr h="730704">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An order is ready for pickup</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Kitchen (system clock)</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Find an available courier and assign the delivery</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1013" b="1">
                          <a:solidFill>
                            <a:srgbClr val="0E3F8C"/>
                          </a:solidFill>
                          <a:latin typeface="Microsoft YaHei"/>
                          <a:ea typeface="Microsoft YaHei"/>
                        </a:rPr>
                        <a:t>Dispatch Courier</a:t>
                      </a:r>
                      <a:endParaRPr/>
                    </a:p>
                  </a:txBody>
                  <a:tcPr marL="45720" marR="45720" marT="45720" marB="45720" anchor="ctr">
                    <a:lnL>
                      <a:noFill/>
                    </a:lnL>
                    <a:lnR>
                      <a:noFill/>
                    </a:lnR>
                    <a:lnT>
                      <a:noFill/>
                    </a:lnT>
                    <a:lnB>
                      <a:noFill/>
                    </a:lnB>
                    <a:solidFill>
                      <a:srgbClr val="F7F9FC"/>
                    </a:solidFill>
                  </a:tcPr>
                </a:tc>
                <a:extLst>
                  <a:ext uri="{0D108BD9-81ED-4DB2-BD59-A6C34878D82A}">
                    <a16:rowId val="4"/>
                  </a:ext>
                </a:extLst>
              </a:tr>
              <a:tr h="730704">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A student wants to know where lunch is</a:t>
                      </a:r>
                      <a:endParaRPr/>
                    </a:p>
                  </a:txBody>
                  <a:tcPr marL="45720" marR="45720" marT="45720" marB="45720" anchor="ctr">
                    <a:lnL>
                      <a:noFill/>
                    </a:lnL>
                    <a:lnR>
                      <a:noFill/>
                    </a:lnR>
                    <a:lnT>
                      <a:noFill/>
                    </a:lnT>
                    <a:lnB>
                      <a:noFill/>
                    </a:lnB>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Student</a:t>
                      </a:r>
                      <a:endParaRPr/>
                    </a:p>
                  </a:txBody>
                  <a:tcPr marL="45720" marR="45720" marT="45720" marB="45720" anchor="ctr">
                    <a:lnL>
                      <a:noFill/>
                    </a:lnL>
                    <a:lnR>
                      <a:noFill/>
                    </a:lnR>
                    <a:lnT>
                      <a:noFill/>
                    </a:lnT>
                    <a:lnB>
                      <a:noFill/>
                    </a:lnB>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Show the current status of a live order</a:t>
                      </a:r>
                      <a:endParaRPr/>
                    </a:p>
                  </a:txBody>
                  <a:tcPr marL="45720" marR="45720" marT="45720" marB="45720" anchor="ctr">
                    <a:lnL>
                      <a:noFill/>
                    </a:lnL>
                    <a:lnR>
                      <a:noFill/>
                    </a:lnR>
                    <a:lnT>
                      <a:noFill/>
                    </a:lnT>
                    <a:lnB>
                      <a:noFill/>
                    </a:lnB>
                  </a:tcPr>
                </a:tc>
                <a:tc>
                  <a:txBody>
                    <a:bodyPr wrap="square" lIns="0" tIns="0" rIns="0" bIns="0" anchor="ctr">
                      <a:normAutofit/>
                    </a:bodyPr>
                    <a:p>
                      <a:pPr marL="114300" marR="114300" algn="l">
                        <a:lnSpc>
                          <a:spcPct val="120000"/>
                        </a:lnSpc>
                      </a:pPr>
                      <a:r>
                        <a:rPr sz="1013" b="1">
                          <a:solidFill>
                            <a:srgbClr val="0E3F8C"/>
                          </a:solidFill>
                          <a:latin typeface="Microsoft YaHei"/>
                          <a:ea typeface="Microsoft YaHei"/>
                        </a:rPr>
                        <a:t>Track Order</a:t>
                      </a:r>
                      <a:endParaRPr/>
                    </a:p>
                  </a:txBody>
                  <a:tcPr marL="45720" marR="45720" marT="45720" marB="45720" anchor="ctr">
                    <a:lnL>
                      <a:noFill/>
                    </a:lnL>
                    <a:lnR>
                      <a:noFill/>
                    </a:lnR>
                    <a:lnT>
                      <a:noFill/>
                    </a:lnT>
                    <a:lnB>
                      <a:noFill/>
                    </a:lnB>
                  </a:tcPr>
                </a:tc>
                <a:extLst>
                  <a:ext uri="{0D108BD9-81ED-4DB2-BD59-A6C34878D82A}">
                    <a16:rowId val="5"/>
                  </a:ext>
                </a:extLst>
              </a:tr>
              <a:tr h="730704">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A delivery has arrived</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Courier</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Close the order, record the arrival time, open the rating</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1013" b="1">
                          <a:solidFill>
                            <a:srgbClr val="0E3F8C"/>
                          </a:solidFill>
                          <a:latin typeface="Microsoft YaHei"/>
                          <a:ea typeface="Microsoft YaHei"/>
                        </a:rPr>
                        <a:t>Confirm Delivery</a:t>
                      </a:r>
                      <a:endParaRPr/>
                    </a:p>
                  </a:txBody>
                  <a:tcPr marL="45720" marR="45720" marT="45720" marB="45720" anchor="ctr">
                    <a:lnL>
                      <a:noFill/>
                    </a:lnL>
                    <a:lnR>
                      <a:noFill/>
                    </a:lnR>
                    <a:lnT>
                      <a:noFill/>
                    </a:lnT>
                    <a:lnB>
                      <a:noFill/>
                    </a:lnB>
                    <a:solidFill>
                      <a:srgbClr val="F7F9FC"/>
                    </a:solidFill>
                  </a:tcPr>
                </a:tc>
                <a:extLst>
                  <a:ext uri="{0D108BD9-81ED-4DB2-BD59-A6C34878D82A}">
                    <a16:rowId val="6"/>
                  </a:ext>
                </a:extLst>
              </a:tr>
              <a:tr h="730704">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A payment is declined</a:t>
                      </a:r>
                      <a:endParaRPr/>
                    </a:p>
                  </a:txBody>
                  <a:tcPr marL="45720" marR="45720" marT="45720" marB="45720" anchor="ctr">
                    <a:lnL>
                      <a:noFill/>
                    </a:lnL>
                    <a:lnR>
                      <a:noFill/>
                    </a:lnR>
                    <a:lnT>
                      <a:noFill/>
                    </a:lnT>
                    <a:lnB>
                      <a:noFill/>
                    </a:lnB>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Payment Provider</a:t>
                      </a:r>
                      <a:endParaRPr/>
                    </a:p>
                  </a:txBody>
                  <a:tcPr marL="45720" marR="45720" marT="45720" marB="45720" anchor="ctr">
                    <a:lnL>
                      <a:noFill/>
                    </a:lnL>
                    <a:lnR>
                      <a:noFill/>
                    </a:lnR>
                    <a:lnT>
                      <a:noFill/>
                    </a:lnT>
                    <a:lnB>
                      <a:noFill/>
                    </a:lnB>
                  </a:tcPr>
                </a:tc>
                <a:tc>
                  <a:txBody>
                    <a:bodyPr wrap="square" lIns="0" tIns="0" rIns="0" bIns="0" anchor="ctr">
                      <a:normAutofit/>
                    </a:bodyPr>
                    <a:p>
                      <a:pPr marL="114300" marR="114300" algn="l">
                        <a:lnSpc>
                          <a:spcPct val="120000"/>
                        </a:lnSpc>
                      </a:pPr>
                      <a:r>
                        <a:rPr sz="1013">
                          <a:solidFill>
                            <a:srgbClr val="4A5568"/>
                          </a:solidFill>
                          <a:latin typeface="Microsoft YaHei"/>
                          <a:ea typeface="Microsoft YaHei"/>
                        </a:rPr>
                        <a:t>Tell the student, hold the order for thirty minutes</a:t>
                      </a:r>
                      <a:endParaRPr/>
                    </a:p>
                  </a:txBody>
                  <a:tcPr marL="45720" marR="45720" marT="45720" marB="45720" anchor="ctr">
                    <a:lnL>
                      <a:noFill/>
                    </a:lnL>
                    <a:lnR>
                      <a:noFill/>
                    </a:lnR>
                    <a:lnT>
                      <a:noFill/>
                    </a:lnT>
                    <a:lnB>
                      <a:noFill/>
                    </a:lnB>
                  </a:tcPr>
                </a:tc>
                <a:tc>
                  <a:txBody>
                    <a:bodyPr wrap="square" lIns="0" tIns="0" rIns="0" bIns="0" anchor="ctr">
                      <a:normAutofit/>
                    </a:bodyPr>
                    <a:p>
                      <a:pPr marL="114300" marR="114300" algn="l">
                        <a:lnSpc>
                          <a:spcPct val="120000"/>
                        </a:lnSpc>
                      </a:pPr>
                      <a:r>
                        <a:rPr sz="1013" b="1">
                          <a:solidFill>
                            <a:srgbClr val="0E3F8C"/>
                          </a:solidFill>
                          <a:latin typeface="Microsoft YaHei"/>
                          <a:ea typeface="Microsoft YaHei"/>
                        </a:rPr>
                        <a:t>Pay for Order</a:t>
                      </a:r>
                      <a:endParaRPr/>
                    </a:p>
                  </a:txBody>
                  <a:tcPr marL="45720" marR="45720" marT="45720" marB="45720" anchor="ctr">
                    <a:lnL>
                      <a:noFill/>
                    </a:lnL>
                    <a:lnR>
                      <a:noFill/>
                    </a:lnR>
                    <a:lnT>
                      <a:noFill/>
                    </a:lnT>
                    <a:lnB>
                      <a:noFill/>
                    </a:lnB>
                  </a:tcPr>
                </a:tc>
                <a:extLst>
                  <a:ext uri="{0D108BD9-81ED-4DB2-BD59-A6C34878D82A}">
                    <a16:rowId val="7"/>
                  </a:ext>
                </a:extLst>
              </a:tr>
            </a:tbl>
          </a:graphicData>
        </a:graphic>
      </p:graphicFrame>
      <p:sp>
        <p:nvSpPr>
          <p:cNvPr id="456" name=""/>
          <p:cNvSpPr/>
          <p:nvPr/>
        </p:nvSpPr>
        <p:spPr>
          <a:xfrm rot="0" flipH="0" flipV="0">
            <a:off x="0" y="6419850"/>
            <a:ext cx="12192000" cy="438150"/>
          </a:xfrm>
          <a:prstGeom prst="rect">
            <a:avLst/>
          </a:prstGeom>
          <a:solidFill>
            <a:srgbClr val="0E3F8C"/>
          </a:solidFill>
          <a:ln/>
        </p:spPr>
        <p:txBody>
          <a:bodyPr/>
          <a:p/>
        </p:txBody>
      </p:sp>
      <p:sp>
        <p:nvSpPr>
          <p:cNvPr id="457" name="" descr="{&quot;isTemplate&quot;:true,&quot;type&quot;:&quot;text&quot;}"/>
          <p:cNvSpPr txBox="1"/>
          <p:nvPr/>
        </p:nvSpPr>
        <p:spPr>
          <a:xfrm rot="0" flipH="0" flipV="0">
            <a:off x="2476500" y="6543675"/>
            <a:ext cx="7248525" cy="190500"/>
          </a:xfrm>
          <a:prstGeom prst="rect"/>
        </p:spPr>
        <p:txBody>
          <a:bodyPr wrap="none" lIns="0" tIns="0" rIns="0" bIns="0"/>
          <a:p>
            <a:pPr>
              <a:lnSpc>
                <a:spcPct val="100000"/>
              </a:lnSpc>
            </a:pPr>
            <a:r>
              <a:rPr lang="en-US" sz="1200" b="1">
                <a:solidFill>
                  <a:srgbClr val="FFFFFF"/>
                </a:solidFill>
                <a:latin typeface="Microsoft YaHei"/>
                <a:ea typeface="Microsoft YaHei"/>
              </a:rPr>
              <a:t>One row per event, one verb phrase per row — if two rows produce the same use case, merge them.</a:t>
            </a:r>
            <a:endParaRPr/>
          </a:p>
        </p:txBody>
      </p:sp>
    </p:spTree>
  </p:cSld>
</p:sld>
</file>

<file path=ppt/slides/slide27.xml><?xml version="1.0" encoding="utf-8"?>
<p:sld xmlns:asvg="http://schemas.microsoft.com/office/drawing/2016/SVG/main" xmlns:a="http://schemas.openxmlformats.org/drawingml/2006/main" xmlns:r="http://schemas.openxmlformats.org/officeDocument/2006/relationships" xmlns:p="http://schemas.openxmlformats.org/presentationml/2006/main" xmlns:mc="http://schemas.openxmlformats.org/markup-compatibility/2006" mc:Ignorable="asvg">
  <p:cSld>
    <p:spTree>
      <p:nvGrpSpPr>
        <p:cNvPr id="458" name="" descr="&lt;Slide style={{ background: '#FFFFFF', padding: 0 }}&gt;&#10;  &lt;Box style={{ height: 72, background: '#1E4FA8', padding: '0 40px', flexDirection: 'row', alignItems: 'center', justifyContent: 'space-between' }}&gt;&#10;    &lt;Text style={{ fontSize: 15, color: '#B9CDF0', letterSpacing: 1 }}&gt;ISAD · INFORMATION SYSTEMS ANALYSIS &amp;amp; DESIGN&lt;/Text&gt;&#10;    &lt;Text style={{ fontSize: 15, color: '#B9CDF0' }}&gt;W04 · FINDING USE CASES&lt;/Text&gt;&#10;  &lt;/Box&gt;&#10;  &lt;Box style={{ padding: '12px 40px 0 40px', flexDirection: 'row', alignItems: 'center', justifyContent: 'space-between' }}&gt;&#10;    &lt;Text style={{ fontSize: 30, fontWeight: 'bold', color: '#0E3F8C' }}&gt;Noun–Verb Scanning&lt;/Text&gt;&#10;    &lt;Text style={{ fontSize: 14, color: '#1E4FA8', fontWeight: 'bold' }}&gt;27 / 38&lt;/Text&gt;&#10;  &lt;/Box&gt;&#10;  &lt;Box style={{ flex: 1, padding: '4px 40px 0 40px', justifyContent: 'center', alignItems: 'center' }}&gt;&#10;    &lt;svg width={1180} height={382} viewBox='0 0 1180 382'&gt;&#10;      &lt;text x='10' y='16' fill='#8B97A8' fontSize='13'&gt;Underline the nouns in blue and the verbs in amber. Then sort what you underlined.&lt;/text&gt;&#10;&#10;      &lt;g transform='translate(10,30)'&gt;&#10;        &lt;rect x='0' y='0' width='1160' height='186' rx='8' fill='#F7F9FC' stroke='#D6DCE5' strokeWidth='1' /&gt;&#10;        &lt;text x='20' y='26' fill='#8B97A8' fontSize='11.5'&gt;THE NARRATIVE — CampusBites requirements pack, §2.1&lt;/text&gt;&#10;&#10;        &lt;text x='20' y='54' fill='#1A2230' fontSize='14'&gt;&#10;          A &lt;tspan fill='#1E4FA8' fontWeight='bold'&gt;student&lt;/tspan&gt; &lt;tspan fill='#B8860B' fontWeight='bold'&gt;browses&lt;/tspan&gt; the &lt;tspan fill='#1E4FA8' fontWeight='bold'&gt;menu&lt;/tspan&gt; of a &lt;tspan fill='#1E4FA8' fontWeight='bold'&gt;restaurant&lt;/tspan&gt;, &lt;tspan fill='#B8860B' fontWeight='bold'&gt;selects&lt;/tspan&gt; &lt;tspan fill='#1E4FA8' fontWeight='bold'&gt;items&lt;/tspan&gt;,&#10;        &lt;/text&gt;&#10;        &lt;text x='20' y='78' fill='#1A2230' fontSize='14'&gt;&#10;          and &lt;tspan fill='#B8860B' fontWeight='bold'&gt;places&lt;/tspan&gt; an &lt;tspan fill='#1E4FA8' fontWeight='bold'&gt;order&lt;/tspan&gt;. The system &lt;tspan fill='#B8860B' fontWeight='bold'&gt;authenticates&lt;/tspan&gt; the student,&#10;        &lt;/text&gt;&#10;        &lt;text x='20' y='102' fill='#1A2230' fontSize='14'&gt;&#10;          &lt;tspan fill='#B8860B' fontWeight='bold'&gt;calculates&lt;/tspan&gt; the total and &lt;tspan fill='#B8860B' fontWeight='bold'&gt;charges&lt;/tspan&gt; the &lt;tspan fill='#1E4FA8' fontWeight='bold'&gt;campus card&lt;/tspan&gt;.&#10;        &lt;/text&gt;&#10;        &lt;text x='20' y='126' fill='#1A2230' fontSize='14'&gt;&#10;          The restaurant &lt;tspan fill='#B8860B' fontWeight='bold'&gt;receives&lt;/tspan&gt; the order, &lt;tspan fill='#B8860B' fontWeight='bold'&gt;marks&lt;/tspan&gt; an item sold out,&#10;        &lt;/text&gt;&#10;        &lt;text x='20' y='150' fill='#1A2230' fontSize='14'&gt;&#10;          and &lt;tspan fill='#B8860B' fontWeight='bold'&gt;notifies&lt;/tspan&gt; a &lt;tspan fill='#1E4FA8' fontWeight='bold'&gt;courier&lt;/tspan&gt;. The courier &lt;tspan fill='#B8860B' fontWeight='bold'&gt;picks up&lt;/tspan&gt; and &lt;tspan fill='#B8860B' fontWeight='bold'&gt;delivers&lt;/tspan&gt;&#10;        &lt;/text&gt;&#10;        &lt;text x='20' y='174' fill='#1A2230' fontSize='14'&gt;&#10;          the order; the student &lt;tspan fill='#B8860B' fontWeight='bold'&gt;rates&lt;/tspan&gt; the restaurant afterwards.&#10;        &lt;/text&gt;&#10;&#10;        &lt;g transform='translate(872,196)'&gt;&#10;          &lt;rect x='0' y='0' width='130' height='22' rx='4' fill='#E8EFF8' stroke='#1E4FA8' strokeWidth='1' /&gt;&#10;          &lt;text x='65' y='15' textAnchor='middle' fill='#1E4FA8' fontSize='11' fontWeight='bold'&gt;NOUNS&lt;/text&gt;&#10;          &lt;rect x='142' y='0' width='130' height='22' rx='4' fill='#FFF6E0' stroke='#FFC107' strokeWidth='1' /&gt;&#10;          &lt;text x='207' y='15' textAnchor='middle' fill='#996F00' fontSize='11' fontWeight='bold'&gt;VERBS&lt;/text&gt;&#10;        &lt;/g&gt;&#10;      &lt;/g&gt;&#10;&#10;      &lt;g transform='translate(10,230)'&gt;&#10;        &lt;rect x='0' y='0' width='570' height='146' rx='8' fill='#F0F5FC' stroke='#1E4FA8' strokeWidth='1.5' /&gt;&#10;        &lt;text x='18' y='26' fill='#0E3F8C' fontSize='14' fontWeight='bold'&gt;Nouns → actors and candidate concepts&lt;/text&gt;&#10;        &lt;text x='18' y='45' fill='#8B97A8' fontSize='11.5'&gt;Keep for Week 06: the domain model is hiding in this column&lt;/text&gt;&#10;&#10;        &lt;g transform='translate(18,58)'&gt;&#10;          &lt;rect x='0' y='0' width='164' height='26' rx='4' fill='#FFFFFF' stroke='#D6DCE5' strokeWidth='1' /&gt;&#10;          &lt;text x='10' y='18' fill='#1A2230' fontSize='11.5' fontWeight='bold'&gt;Student&lt;/text&gt;&#10;          &lt;text x='96' y='18' fill='#1E4FA8' fontSize='11'&gt;actor&lt;/text&gt;&#10;        &lt;/g&gt;&#10;        &lt;g transform='translate(192,58)'&gt;&#10;          &lt;rect x='0' y='0' width='164' height='26' rx='4' fill='#FFFFFF' stroke='#D6DCE5' strokeWidth='1' /&gt;&#10;          &lt;text x='10' y='18' fill='#1A2230' fontSize='11.5' fontWeight='bold'&gt;Restaurant&lt;/text&gt;&#10;          &lt;text x='96' y='18' fill='#1E4FA8' fontSize='11'&gt;actor&lt;/text&gt;&#10;        &lt;/g&gt;&#10;        &lt;g transform='translate(366,58)'&gt;&#10;          &lt;rect x='0' y='0' width='164' height='26' rx='4' fill='#FFFFFF' stroke='#D6DCE5' strokeWidth='1' /&gt;&#10;          &lt;text x='10' y='18' fill='#1A2230' fontSize='11.5' fontWeight='bold'&gt;Courier&lt;/text&gt;&#10;          &lt;text x='96' y='18' fill='#1E4FA8' fontSize='11'&gt;actor&lt;/text&gt;&#10;        &lt;/g&gt;&#10;&#10;        &lt;g transform='translate(18,92)'&gt;&#10;          &lt;rect x='0' y='0' width='164' height='26' rx='4' fill='#FFFFFF' stroke='#D6DCE5' strokeWidth='1' /&gt;&#10;          &lt;text x='10' y='18' fill='#1A2230' fontSize='11.5'&gt;Menu&lt;/text&gt;&#10;          &lt;text x='96' y='18' fill='#8B97A8' fontSize='11'&gt;concept&lt;/text&gt;&#10;        &lt;/g&gt;&#10;        &lt;g transform='translate(192,92)'&gt;&#10;          &lt;rect x='0' y='0' width='164' height='26' rx='4' fill='#FFFFFF' stroke='#D6DCE5' strokeWidth='1' /&gt;&#10;          &lt;text x='10' y='18' fill='#1A2230' fontSize='11.5'&gt;Order&lt;/text&gt;&#10;          &lt;text x='96' y='18' fill='#8B97A8' fontSize='11'&gt;concept&lt;/text&gt;&#10;        &lt;/g&gt;&#10;        &lt;g transform='translate(366,92)'&gt;&#10;          &lt;rect x='0' y='0' width='164' height='26' rx='4' fill='#FFFFFF' stroke='#D6DCE5' strokeWidth='1' /&gt;&#10;          &lt;text x='10' y='18' fill='#1A2230' fontSize='11.5'&gt;Campus card&lt;/text&gt;&#10;          &lt;text x='96' y='18' fill='#8B97A8' fontSize='11'&gt;concept&lt;/text&gt;&#10;        &lt;/g&gt;&#10;&#10;        &lt;text x='18' y='136' fill='#8B97A8' fontSize='11'&gt;Some nouns turn out to be attributes — “total” is a number on Order, not a class.&lt;/text&gt;&#10;      &lt;/g&gt;&#10;&#10;      &lt;g transform='translate(600,230)'&gt;&#10;        &lt;rect x='0' y='0' width='570' height='146' rx='8' fill='#FFF6E0' stroke='#FFC107' strokeWidth='1.5' /&gt;&#10;        &lt;text x='18' y='26' fill='#996F00' fontSize='14' fontWeight='bold'&gt;Verbs → candidate use cases&lt;/text&gt;&#10;        &lt;text x='18' y='45' fill='#8B97A8' fontSize='11.5'&gt;Then filter: keep only the verbs that name a goal somebody has&lt;/text&gt;&#10;&#10;        &lt;g transform='translate(18,58)'&gt;&#10;          &lt;rect x='0' y='0' width='164' height='26' rx='4' fill='#FFFFFF' stroke='#D6DCE5' strokeWidth='1' /&gt;&#10;          &lt;text x='10' y='18' fill='#1A2230' fontSize='11.5' fontWeight='bold'&gt;Browse menu&lt;/text&gt;&#10;          &lt;text x='118' y='18' fill='#1E4FA8' fontSize='10.5'&gt;keep&lt;/text&gt;&#10;        &lt;/g&gt;&#10;        &lt;g transform='translate(192,58)'&gt;&#10;          &lt;rect x='0' y='0' width='164' height='26' rx='4' fill='#FFFFFF' stroke='#D6DCE5' strokeWidth='1' /&gt;&#10;          &lt;text x='10' y='18' fill='#1A2230' fontSize='11.5' fontWeight='bold'&gt;Place order&lt;/text&gt;&#10;          &lt;text x='118' y='18' fill='#1E4FA8' fontSize='10.5'&gt;keep&lt;/text&gt;&#10;        &lt;/g&gt;&#10;        &lt;g transform='translate(366,58)'&gt;&#10;          &lt;rect x='0' y='0' width='164' height='26' rx='4' fill='#FFFFFF' stroke='#D6DCE5' strokeWidth='1' /&gt;&#10;          &lt;text x='10' y='18' fill='#1A2230' fontSize='11.5' fontWeight='bold'&gt;Rate restaurant&lt;/text&gt;&#10;          &lt;text x='118' y='18' fill='#1E4FA8' fontSize='10.5'&gt;keep&lt;/text&gt;&#10;        &lt;/g&gt;&#10;&#10;        &lt;g transform='translate(18,92)'&gt;&#10;          &lt;rect x='0' y='0' width='164' height='26' rx='4' fill='#FDF3F3' stroke='#D9534F' strokeWidth='1' /&gt;&#10;          &lt;text x='10' y='18' fill='#4A5568' fontSize='11.5'&gt;Calculates&lt;/text&gt;&#10;          &lt;text x='118' y='18' fill='#D9534F' fontSize='10.5'&gt;step&lt;/text&gt;&#10;        &lt;/g&gt;&#10;        &lt;g transform='translate(192,92)'&gt;&#10;          &lt;rect x='0' y='0' width='164' height='26' rx='4' fill='#FDF3F3' stroke='#D9534F' strokeWidth='1' /&gt;&#10;          &lt;text x='10' y='18' fill='#4A5568' fontSize='11.5'&gt;Authenticates&lt;/text&gt;&#10;          &lt;text x='118' y='18' fill='#D9534F' fontSize='10.5'&gt;include&lt;/text&gt;&#10;        &lt;/g&gt;&#10;        &lt;g transform='translate(366,92)'&gt;&#10;          &lt;rect x='0' y='0' width='164' height='26' rx='4' fill='#FDF3F3' stroke='#D9534F' strokeWidth='1' /&gt;&#10;          &lt;text x='10' y='18' fill='#4A5568' fontSize='11.5'&gt;Notifies&lt;/text&gt;&#10;          &lt;text x='118' y='18' fill='#D9534F' fontSize='10.5'&gt;external&lt;/text&gt;&#10;        &lt;/g&gt;&#10;&#10;        &lt;text x='18' y='136' fill='#8B97A8' fontSize='11'&gt;Three verbs survive as use cases. The other three go to the scenario text — Week 05.&lt;/text&gt;&#10;      &lt;/g&gt;&#10;    &lt;/svg&gt;&#10;  &lt;/Box&gt;&#10;  &lt;Box style={{ height: 34, padding: '0 40px', flexDirection: 'row', alignItems: 'center', justifyContent: 'space-between' }}&gt;&#10;    &lt;Text style={{ fontSize: 13, color: '#8B97A8' }}&gt;ISAD · Fall 2026 · The scan gives you candidates, not answers — you still have to say “is this a goal?”&lt;/Text&gt;&#10;    &lt;Text style={{ fontSize: 14, color: '#1E4FA8', fontWeight: 'bold' }}&gt;27 / 38&lt;/Text&gt;&#10;  &lt;/Box&gt;&#10;&lt;/Slide&gt;"/>
        <p:cNvGrpSpPr/>
        <p:nvPr/>
      </p:nvGrpSpPr>
      <p:grpSpPr>
        <a:xfrm>
          <a:off x="0" y="0"/>
          <a:ext cx="0" cy="0"/>
          <a:chOff x="0" y="0"/>
          <a:chExt cx="0" cy="0"/>
        </a:xfrm>
      </p:grpSpPr>
      <p:sp>
        <p:nvSpPr>
          <p:cNvPr id="459" name=""/>
          <p:cNvSpPr/>
          <p:nvPr/>
        </p:nvSpPr>
        <p:spPr>
          <a:xfrm rot="0" flipH="0" flipV="0">
            <a:off x="0" y="0"/>
            <a:ext cx="12192000" cy="6858000"/>
          </a:xfrm>
          <a:prstGeom prst="rect">
            <a:avLst/>
          </a:prstGeom>
          <a:solidFill>
            <a:srgbClr val="FFFFFF"/>
          </a:solidFill>
          <a:ln/>
        </p:spPr>
        <p:txBody>
          <a:bodyPr/>
          <a:p/>
        </p:txBody>
      </p:sp>
      <p:sp>
        <p:nvSpPr>
          <p:cNvPr id="460" name=""/>
          <p:cNvSpPr/>
          <p:nvPr/>
        </p:nvSpPr>
        <p:spPr>
          <a:xfrm rot="0" flipH="0" flipV="0">
            <a:off x="0" y="0"/>
            <a:ext cx="12192000" cy="685800"/>
          </a:xfrm>
          <a:prstGeom prst="rect">
            <a:avLst/>
          </a:prstGeom>
          <a:solidFill>
            <a:srgbClr val="1E4FA8"/>
          </a:solidFill>
          <a:ln/>
        </p:spPr>
        <p:txBody>
          <a:bodyPr/>
          <a:p/>
        </p:txBody>
      </p:sp>
      <p:sp>
        <p:nvSpPr>
          <p:cNvPr id="461" name="" descr="{&quot;isTemplate&quot;:true,&quot;type&quot;:&quot;text&quot;}"/>
          <p:cNvSpPr txBox="1"/>
          <p:nvPr/>
        </p:nvSpPr>
        <p:spPr>
          <a:xfrm rot="0" flipH="0" flipV="0">
            <a:off x="381000" y="257175"/>
            <a:ext cx="4067175" cy="171450"/>
          </a:xfrm>
          <a:prstGeom prst="rect"/>
        </p:spPr>
        <p:txBody>
          <a:bodyPr wrap="none" lIns="0" tIns="0" rIns="0" bIns="0"/>
          <a:p>
            <a:pPr>
              <a:lnSpc>
                <a:spcPct val="100000"/>
              </a:lnSpc>
            </a:pPr>
            <a:r>
              <a:rPr lang="en-US" sz="1125" spc="75">
                <a:solidFill>
                  <a:srgbClr val="B9CDF0"/>
                </a:solidFill>
                <a:latin typeface="Microsoft YaHei"/>
                <a:ea typeface="Microsoft YaHei"/>
              </a:rPr>
              <a:t>ISAD · INFORMATION SYSTEMS ANALYSIS &amp; DESIGN</a:t>
            </a:r>
            <a:endParaRPr/>
          </a:p>
        </p:txBody>
      </p:sp>
      <p:sp>
        <p:nvSpPr>
          <p:cNvPr id="462" name="" descr="{&quot;isTemplate&quot;:true,&quot;type&quot;:&quot;text&quot;}"/>
          <p:cNvSpPr txBox="1"/>
          <p:nvPr/>
        </p:nvSpPr>
        <p:spPr>
          <a:xfrm rot="0" flipH="0" flipV="0">
            <a:off x="9944100" y="257175"/>
            <a:ext cx="1866900" cy="171450"/>
          </a:xfrm>
          <a:prstGeom prst="rect"/>
        </p:spPr>
        <p:txBody>
          <a:bodyPr wrap="none" lIns="0" tIns="0" rIns="0" bIns="0"/>
          <a:p>
            <a:pPr>
              <a:lnSpc>
                <a:spcPct val="100000"/>
              </a:lnSpc>
            </a:pPr>
            <a:r>
              <a:rPr lang="en-US" sz="1125">
                <a:solidFill>
                  <a:srgbClr val="B9CDF0"/>
                </a:solidFill>
                <a:latin typeface="Microsoft YaHei"/>
                <a:ea typeface="Microsoft YaHei"/>
              </a:rPr>
              <a:t>W04 · FINDING USE CASES</a:t>
            </a:r>
            <a:endParaRPr/>
          </a:p>
        </p:txBody>
      </p:sp>
      <p:sp>
        <p:nvSpPr>
          <p:cNvPr id="463" name="" descr="{&quot;isTemplate&quot;:true,&quot;type&quot;:&quot;text&quot;}"/>
          <p:cNvSpPr txBox="1"/>
          <p:nvPr/>
        </p:nvSpPr>
        <p:spPr>
          <a:xfrm rot="0" flipH="0" flipV="0">
            <a:off x="381000" y="800100"/>
            <a:ext cx="2876550" cy="342900"/>
          </a:xfrm>
          <a:prstGeom prst="rect"/>
        </p:spPr>
        <p:txBody>
          <a:bodyPr wrap="none" lIns="0" tIns="0" rIns="0" bIns="0"/>
          <a:p>
            <a:pPr>
              <a:lnSpc>
                <a:spcPct val="100000"/>
              </a:lnSpc>
            </a:pPr>
            <a:r>
              <a:rPr lang="en-US" sz="2250" b="1">
                <a:solidFill>
                  <a:srgbClr val="0E3F8C"/>
                </a:solidFill>
                <a:latin typeface="Microsoft YaHei"/>
                <a:ea typeface="Microsoft YaHei"/>
              </a:rPr>
              <a:t>Noun–Verb Scanning</a:t>
            </a:r>
            <a:endParaRPr/>
          </a:p>
        </p:txBody>
      </p:sp>
      <p:sp>
        <p:nvSpPr>
          <p:cNvPr id="464" name="" descr="{&quot;isTemplate&quot;:true,&quot;type&quot;:&quot;text&quot;}"/>
          <p:cNvSpPr txBox="1"/>
          <p:nvPr/>
        </p:nvSpPr>
        <p:spPr>
          <a:xfrm rot="0" flipH="0" flipV="0">
            <a:off x="11401425" y="895350"/>
            <a:ext cx="409575" cy="161925"/>
          </a:xfrm>
          <a:prstGeom prst="rect"/>
        </p:spPr>
        <p:txBody>
          <a:bodyPr wrap="none" lIns="0" tIns="0" rIns="0" bIns="0"/>
          <a:p>
            <a:pPr>
              <a:lnSpc>
                <a:spcPct val="100000"/>
              </a:lnSpc>
            </a:pPr>
            <a:r>
              <a:rPr lang="en-US" sz="1050" b="1">
                <a:solidFill>
                  <a:srgbClr val="1E4FA8"/>
                </a:solidFill>
                <a:latin typeface="Microsoft YaHei"/>
                <a:ea typeface="Microsoft YaHei"/>
              </a:rPr>
              <a:t>27 / 38</a:t>
            </a:r>
            <a:endParaRPr/>
          </a:p>
        </p:txBody>
      </p:sp>
      <p:pic>
        <p:nvPicPr>
          <p:cNvPr id="465" name=""/>
          <p:cNvPicPr>
            <a:picLocks noChangeAspect="1"/>
          </p:cNvPicPr>
          <p:nvPr/>
        </p:nvPicPr>
        <p:blipFill>
          <a:blip>
            <a:extLst>
              <a:ext uri="{96DAC541-7B7A-43D3-8B79-37D633B846F1}">
                <asvg:svgBlip r:embed="rId1"/>
              </a:ext>
            </a:extLst>
          </a:blip>
          <a:stretch>
            <a:fillRect/>
          </a:stretch>
        </p:blipFill>
        <p:spPr>
          <a:xfrm rot="0" flipH="0" flipV="0">
            <a:off x="476250" y="2038350"/>
            <a:ext cx="11239500" cy="3638550"/>
          </a:xfrm>
          <a:prstGeom prst="rect">
            <a:avLst/>
          </a:prstGeom>
          <a:ln/>
        </p:spPr>
      </p:pic>
      <p:sp>
        <p:nvSpPr>
          <p:cNvPr id="466" name="" descr="{&quot;isTemplate&quot;:true,&quot;type&quot;:&quot;text&quot;}"/>
          <p:cNvSpPr txBox="1"/>
          <p:nvPr/>
        </p:nvSpPr>
        <p:spPr>
          <a:xfrm rot="0" flipH="0" flipV="0">
            <a:off x="381000" y="6619875"/>
            <a:ext cx="5610225" cy="152400"/>
          </a:xfrm>
          <a:prstGeom prst="rect"/>
        </p:spPr>
        <p:txBody>
          <a:bodyPr wrap="none" lIns="0" tIns="0" rIns="0" bIns="0"/>
          <a:p>
            <a:pPr>
              <a:lnSpc>
                <a:spcPct val="100000"/>
              </a:lnSpc>
            </a:pPr>
            <a:r>
              <a:rPr lang="en-US" sz="975">
                <a:solidFill>
                  <a:srgbClr val="8B97A8"/>
                </a:solidFill>
                <a:latin typeface="Microsoft YaHei"/>
                <a:ea typeface="Microsoft YaHei"/>
              </a:rPr>
              <a:t>ISAD · Fall 2026 · The scan gives you candidates, not answers — you still have to say “is this a goal?”</a:t>
            </a:r>
            <a:endParaRPr/>
          </a:p>
        </p:txBody>
      </p:sp>
      <p:sp>
        <p:nvSpPr>
          <p:cNvPr id="467" name="" descr="{&quot;isTemplate&quot;:true,&quot;type&quot;:&quot;text&quot;}"/>
          <p:cNvSpPr txBox="1"/>
          <p:nvPr/>
        </p:nvSpPr>
        <p:spPr>
          <a:xfrm rot="0" flipH="0" flipV="0">
            <a:off x="11401425" y="6619875"/>
            <a:ext cx="409575" cy="161925"/>
          </a:xfrm>
          <a:prstGeom prst="rect"/>
        </p:spPr>
        <p:txBody>
          <a:bodyPr wrap="none" lIns="0" tIns="0" rIns="0" bIns="0"/>
          <a:p>
            <a:pPr>
              <a:lnSpc>
                <a:spcPct val="100000"/>
              </a:lnSpc>
            </a:pPr>
            <a:r>
              <a:rPr lang="en-US" sz="1050" b="1">
                <a:solidFill>
                  <a:srgbClr val="1E4FA8"/>
                </a:solidFill>
                <a:latin typeface="Microsoft YaHei"/>
                <a:ea typeface="Microsoft YaHei"/>
              </a:rPr>
              <a:t>27 / 38</a:t>
            </a:r>
            <a:endParaRPr/>
          </a:p>
        </p:txBody>
      </p:sp>
    </p:spTree>
  </p:cSld>
</p:sld>
</file>

<file path=ppt/slides/slide28.xml><?xml version="1.0" encoding="utf-8"?>
<p:sld xmlns:a="http://schemas.openxmlformats.org/drawingml/2006/main" xmlns:p="http://schemas.openxmlformats.org/presentationml/2006/main">
  <p:cSld>
    <p:spTree>
      <p:nvGrpSpPr>
        <p:cNvPr id="468" name="" descr="&lt;Slide style={{ background: '#FFFFFF', padding: 0 }}&gt;&#10;  &lt;Box style={{ height: 72, background: '#1E4FA8', padding: '0 40px', flexDirection: 'row', alignItems: 'center', justifyContent: 'space-between' }}&gt;&#10;    &lt;Text style={{ fontSize: 15, color: '#B9CDF0', letterSpacing: 1 }}&gt;ISAD · INFORMATION SYSTEMS ANALYSIS &amp;amp; DESIGN&lt;/Text&gt;&#10;    &lt;Text style={{ fontSize: 15, color: '#B9CDF0' }}&gt;W04 · FINDING USE CASES&lt;/Text&gt;&#10;  &lt;/Box&gt;&#10;  &lt;Box style={{ padding: '14px 40px 0 40px', flexDirection: 'row', alignItems: 'center', justifyContent: 'space-between' }}&gt;&#10;    &lt;Text style={{ fontSize: 29, fontWeight: 'bold', color: '#0E3F8C' }}&gt;Six Use Cases of CampusBites&lt;/Text&gt;&#10;    &lt;Text style={{ fontSize: 14, color: '#1E4FA8', fontWeight: 'bold' }}&gt;28 / 38&lt;/Text&gt;&#10;  &lt;/Box&gt;&#10;  &lt;Box style={{ flex: 1, padding: '14px 40px 0 40px', flexDirection: 'row', gap: 14 }}&gt;&#10;    {[&#10;      ['01', 'Place Order', 'Student', 'Ends when the order is accepted and paid for', '#1E4FA8'],&#10;      ['02', 'Pay for Order', 'Student', 'Ends when the provider confirms or declines', '#1E4FA8'],&#10;      ['03', 'Track Order', 'Student', 'Ends when the student sees the current status', '#1E4FA8'],&#10;      ['04', 'Manage Today’s Menu', 'Restaurant Manager', 'Ends when the kitchen sees the live menu', '#3D7BD9'],&#10;      ['05', 'Dispatch Courier', 'Dispatcher', 'Ends when a rider accepts the delivery', '#3D7BD9'],&#10;      ['06', 'Rate Restaurant', 'Student', 'Ends when the rating is stored and shown', '#3D7BD9'],&#10;    ].map((c) =&gt; (&#10;      &lt;Box key={c[0]} style={{ flex: 1, padding: '16px 14px', background: '#FFFFFF', borderRadius: 10, border: '1px solid #D6DCE5', borderTop: '4px solid #1E4FA8', flexDirection: 'column' }}&gt;&#10;        &lt;Text style={{ fontSize: 13, color: '#8B97A8', fontWeight: 'bold', letterSpacing: 1 }}&gt;{c[0]}&lt;/Text&gt;&#10;        &lt;Text style={{ fontSize: 15.5, fontWeight: 'bold', color: '#0E3F8C', marginTop: 6, lineHeight: 1.3 }}&gt;{c[1]}&lt;/Text&gt;&#10;        &lt;Box style={{ marginTop: 10, padding: '4px 8px', background: '#F0F5FC', borderRadius: 4, alignSelf: 'flex-start' }}&gt;&#10;          &lt;Text style={{ fontSize: 11.5, color: '#1E4FA8', fontWeight: 'bold' }}&gt;{c[2]}&lt;/Text&gt;&#10;        &lt;/Box&gt;&#10;        &lt;Text style={{ fontSize: 11.5, color: '#4A5568', lineHeight: 1.5, marginTop: 10 }}&gt;{c[3]}&lt;/Text&gt;&#10;      &lt;/Box&gt;&#10;    ))}&#10;  &lt;/Box&gt;&#10;  &lt;Box style={{ height: 46, background: '#0E3F8C', padding: '0 40px', flexDirection: 'row', alignItems: 'center', justifyContent: 'center' }}&gt;&#10;    &lt;Text style={{ fontSize: 16, color: '#FFFFFF', fontWeight: '600' }}&gt;Six is the right number for a first pass. If your M1 diagram has twenty, look for the CRUD trap.&lt;/Text&gt;&#10;  &lt;/Box&gt;&#10;&lt;/Slide&gt;"/>
        <p:cNvGrpSpPr/>
        <p:nvPr/>
      </p:nvGrpSpPr>
      <p:grpSpPr>
        <a:xfrm>
          <a:off x="0" y="0"/>
          <a:ext cx="0" cy="0"/>
          <a:chOff x="0" y="0"/>
          <a:chExt cx="0" cy="0"/>
        </a:xfrm>
      </p:grpSpPr>
      <p:sp>
        <p:nvSpPr>
          <p:cNvPr id="469" name=""/>
          <p:cNvSpPr/>
          <p:nvPr/>
        </p:nvSpPr>
        <p:spPr>
          <a:xfrm rot="0" flipH="0" flipV="0">
            <a:off x="0" y="0"/>
            <a:ext cx="12192000" cy="6858000"/>
          </a:xfrm>
          <a:prstGeom prst="rect">
            <a:avLst/>
          </a:prstGeom>
          <a:solidFill>
            <a:srgbClr val="FFFFFF"/>
          </a:solidFill>
          <a:ln/>
        </p:spPr>
        <p:txBody>
          <a:bodyPr/>
          <a:p/>
        </p:txBody>
      </p:sp>
      <p:sp>
        <p:nvSpPr>
          <p:cNvPr id="470" name=""/>
          <p:cNvSpPr/>
          <p:nvPr/>
        </p:nvSpPr>
        <p:spPr>
          <a:xfrm rot="0" flipH="0" flipV="0">
            <a:off x="0" y="0"/>
            <a:ext cx="12192000" cy="685800"/>
          </a:xfrm>
          <a:prstGeom prst="rect">
            <a:avLst/>
          </a:prstGeom>
          <a:solidFill>
            <a:srgbClr val="1E4FA8"/>
          </a:solidFill>
          <a:ln/>
        </p:spPr>
        <p:txBody>
          <a:bodyPr/>
          <a:p/>
        </p:txBody>
      </p:sp>
      <p:sp>
        <p:nvSpPr>
          <p:cNvPr id="471" name="" descr="{&quot;isTemplate&quot;:true,&quot;type&quot;:&quot;text&quot;}"/>
          <p:cNvSpPr txBox="1"/>
          <p:nvPr/>
        </p:nvSpPr>
        <p:spPr>
          <a:xfrm rot="0" flipH="0" flipV="0">
            <a:off x="381000" y="257175"/>
            <a:ext cx="4067175" cy="171450"/>
          </a:xfrm>
          <a:prstGeom prst="rect"/>
        </p:spPr>
        <p:txBody>
          <a:bodyPr wrap="none" lIns="0" tIns="0" rIns="0" bIns="0"/>
          <a:p>
            <a:pPr>
              <a:lnSpc>
                <a:spcPct val="100000"/>
              </a:lnSpc>
            </a:pPr>
            <a:r>
              <a:rPr lang="en-US" sz="1125" spc="75">
                <a:solidFill>
                  <a:srgbClr val="B9CDF0"/>
                </a:solidFill>
                <a:latin typeface="Microsoft YaHei"/>
                <a:ea typeface="Microsoft YaHei"/>
              </a:rPr>
              <a:t>ISAD · INFORMATION SYSTEMS ANALYSIS &amp; DESIGN</a:t>
            </a:r>
            <a:endParaRPr/>
          </a:p>
        </p:txBody>
      </p:sp>
      <p:sp>
        <p:nvSpPr>
          <p:cNvPr id="472" name="" descr="{&quot;isTemplate&quot;:true,&quot;type&quot;:&quot;text&quot;}"/>
          <p:cNvSpPr txBox="1"/>
          <p:nvPr/>
        </p:nvSpPr>
        <p:spPr>
          <a:xfrm rot="0" flipH="0" flipV="0">
            <a:off x="9944100" y="257175"/>
            <a:ext cx="1866900" cy="171450"/>
          </a:xfrm>
          <a:prstGeom prst="rect"/>
        </p:spPr>
        <p:txBody>
          <a:bodyPr wrap="none" lIns="0" tIns="0" rIns="0" bIns="0"/>
          <a:p>
            <a:pPr>
              <a:lnSpc>
                <a:spcPct val="100000"/>
              </a:lnSpc>
            </a:pPr>
            <a:r>
              <a:rPr lang="en-US" sz="1125">
                <a:solidFill>
                  <a:srgbClr val="B9CDF0"/>
                </a:solidFill>
                <a:latin typeface="Microsoft YaHei"/>
                <a:ea typeface="Microsoft YaHei"/>
              </a:rPr>
              <a:t>W04 · FINDING USE CASES</a:t>
            </a:r>
            <a:endParaRPr/>
          </a:p>
        </p:txBody>
      </p:sp>
      <p:sp>
        <p:nvSpPr>
          <p:cNvPr id="473" name="" descr="{&quot;isTemplate&quot;:true,&quot;type&quot;:&quot;text&quot;}"/>
          <p:cNvSpPr txBox="1"/>
          <p:nvPr/>
        </p:nvSpPr>
        <p:spPr>
          <a:xfrm rot="0" flipH="0" flipV="0">
            <a:off x="381000" y="819150"/>
            <a:ext cx="4076700" cy="333375"/>
          </a:xfrm>
          <a:prstGeom prst="rect"/>
        </p:spPr>
        <p:txBody>
          <a:bodyPr wrap="none" lIns="0" tIns="0" rIns="0" bIns="0"/>
          <a:p>
            <a:pPr>
              <a:lnSpc>
                <a:spcPct val="100000"/>
              </a:lnSpc>
            </a:pPr>
            <a:r>
              <a:rPr lang="en-US" sz="2175" b="1">
                <a:solidFill>
                  <a:srgbClr val="0E3F8C"/>
                </a:solidFill>
                <a:latin typeface="Microsoft YaHei"/>
                <a:ea typeface="Microsoft YaHei"/>
              </a:rPr>
              <a:t>Six Use Cases of CampusBites</a:t>
            </a:r>
            <a:endParaRPr/>
          </a:p>
        </p:txBody>
      </p:sp>
      <p:sp>
        <p:nvSpPr>
          <p:cNvPr id="474" name="" descr="{&quot;isTemplate&quot;:true,&quot;type&quot;:&quot;text&quot;}"/>
          <p:cNvSpPr txBox="1"/>
          <p:nvPr/>
        </p:nvSpPr>
        <p:spPr>
          <a:xfrm rot="0" flipH="0" flipV="0">
            <a:off x="11401425" y="904875"/>
            <a:ext cx="409575" cy="161925"/>
          </a:xfrm>
          <a:prstGeom prst="rect"/>
        </p:spPr>
        <p:txBody>
          <a:bodyPr wrap="none" lIns="0" tIns="0" rIns="0" bIns="0"/>
          <a:p>
            <a:pPr>
              <a:lnSpc>
                <a:spcPct val="100000"/>
              </a:lnSpc>
            </a:pPr>
            <a:r>
              <a:rPr lang="en-US" sz="1050" b="1">
                <a:solidFill>
                  <a:srgbClr val="1E4FA8"/>
                </a:solidFill>
                <a:latin typeface="Microsoft YaHei"/>
                <a:ea typeface="Microsoft YaHei"/>
              </a:rPr>
              <a:t>28 / 38</a:t>
            </a:r>
            <a:endParaRPr/>
          </a:p>
        </p:txBody>
      </p:sp>
      <p:sp>
        <p:nvSpPr>
          <p:cNvPr id="475" name=""/>
          <p:cNvSpPr/>
          <p:nvPr/>
        </p:nvSpPr>
        <p:spPr>
          <a:xfrm rot="0" flipH="0" flipV="0">
            <a:off x="381000" y="1323975"/>
            <a:ext cx="1790700" cy="5133975"/>
          </a:xfrm>
          <a:prstGeom prst="roundRect">
            <a:avLst>
              <a:gd name="adj" fmla="val 5319"/>
            </a:avLst>
          </a:prstGeom>
          <a:solidFill>
            <a:srgbClr val="FFFFFF"/>
          </a:solidFill>
          <a:ln/>
        </p:spPr>
        <p:txBody>
          <a:bodyPr/>
          <a:p/>
        </p:txBody>
      </p:sp>
      <p:sp>
        <p:nvSpPr>
          <p:cNvPr id="476" name=""/>
          <p:cNvSpPr/>
          <p:nvPr/>
        </p:nvSpPr>
        <p:spPr>
          <a:xfrm rot="0" flipH="0" flipV="0">
            <a:off x="381000" y="1323975"/>
            <a:ext cx="1790700" cy="5133975"/>
          </a:xfrm>
          <a:custGeom>
            <a:pathLst>
              <a:path w="188" h="539">
                <a:moveTo>
                  <a:pt x="178" y="0"/>
                </a:moveTo>
                <a:cubicBezTo>
                  <a:pt x="183" y="0"/>
                  <a:pt x="187" y="4"/>
                  <a:pt x="188" y="8"/>
                </a:cubicBezTo>
                <a:cubicBezTo>
                  <a:pt x="187" y="6"/>
                  <a:pt x="185" y="4"/>
                  <a:pt x="182" y="4"/>
                </a:cubicBezTo>
                <a:lnTo>
                  <a:pt x="6" y="4"/>
                </a:lnTo>
                <a:cubicBezTo>
                  <a:pt x="3" y="4"/>
                  <a:pt x="1" y="6"/>
                  <a:pt x="0" y="9"/>
                </a:cubicBezTo>
                <a:cubicBezTo>
                  <a:pt x="1" y="4"/>
                  <a:pt x="5" y="0"/>
                  <a:pt x="10" y="0"/>
                </a:cubicBezTo>
                <a:lnTo>
                  <a:pt x="178" y="0"/>
                </a:lnTo>
                <a:close/>
              </a:path>
            </a:pathLst>
          </a:custGeom>
          <a:solidFill>
            <a:srgbClr val="1E4FA8"/>
          </a:solidFill>
          <a:ln/>
        </p:spPr>
        <p:txBody>
          <a:bodyPr/>
          <a:p/>
        </p:txBody>
      </p:sp>
      <p:sp>
        <p:nvSpPr>
          <p:cNvPr id="477" name="" descr="{&quot;isTemplate&quot;:true,&quot;type&quot;:&quot;text&quot;}"/>
          <p:cNvSpPr txBox="1"/>
          <p:nvPr/>
        </p:nvSpPr>
        <p:spPr>
          <a:xfrm rot="0" flipH="0" flipV="0">
            <a:off x="514350" y="1476375"/>
            <a:ext cx="1524000" cy="152400"/>
          </a:xfrm>
          <a:prstGeom prst="rect"/>
        </p:spPr>
        <p:txBody>
          <a:bodyPr wrap="none" lIns="0" tIns="0" rIns="0" bIns="0"/>
          <a:p>
            <a:pPr>
              <a:lnSpc>
                <a:spcPct val="100000"/>
              </a:lnSpc>
            </a:pPr>
            <a:r>
              <a:rPr lang="en-US" sz="975" b="1" spc="75">
                <a:solidFill>
                  <a:srgbClr val="8B97A8"/>
                </a:solidFill>
                <a:latin typeface="Microsoft YaHei"/>
                <a:ea typeface="Microsoft YaHei"/>
              </a:rPr>
              <a:t>01</a:t>
            </a:r>
            <a:endParaRPr/>
          </a:p>
        </p:txBody>
      </p:sp>
      <p:sp>
        <p:nvSpPr>
          <p:cNvPr id="478" name="" descr="{&quot;isTemplate&quot;:true,&quot;type&quot;:&quot;text&quot;}"/>
          <p:cNvSpPr txBox="1"/>
          <p:nvPr/>
        </p:nvSpPr>
        <p:spPr>
          <a:xfrm rot="0" flipH="0" flipV="0">
            <a:off x="514350" y="1685925"/>
            <a:ext cx="1524000" cy="238125"/>
          </a:xfrm>
          <a:prstGeom prst="rect"/>
        </p:spPr>
        <p:txBody>
          <a:bodyPr wrap="none" lIns="0" tIns="0" rIns="0" bIns="0"/>
          <a:p>
            <a:pPr>
              <a:lnSpc>
                <a:spcPct val="130000"/>
              </a:lnSpc>
            </a:pPr>
            <a:r>
              <a:rPr lang="en-US" sz="1163" b="1">
                <a:solidFill>
                  <a:srgbClr val="0E3F8C"/>
                </a:solidFill>
                <a:latin typeface="Microsoft YaHei"/>
                <a:ea typeface="Microsoft YaHei"/>
              </a:rPr>
              <a:t>Place Order</a:t>
            </a:r>
            <a:endParaRPr/>
          </a:p>
        </p:txBody>
      </p:sp>
      <p:sp>
        <p:nvSpPr>
          <p:cNvPr id="479" name=""/>
          <p:cNvSpPr/>
          <p:nvPr/>
        </p:nvSpPr>
        <p:spPr>
          <a:xfrm rot="0" flipH="0" flipV="0">
            <a:off x="514350" y="2019300"/>
            <a:ext cx="561975" cy="209550"/>
          </a:xfrm>
          <a:prstGeom prst="roundRect">
            <a:avLst>
              <a:gd name="adj" fmla="val 18182"/>
            </a:avLst>
          </a:prstGeom>
          <a:solidFill>
            <a:srgbClr val="F0F5FC"/>
          </a:solidFill>
          <a:ln/>
        </p:spPr>
        <p:txBody>
          <a:bodyPr/>
          <a:p/>
        </p:txBody>
      </p:sp>
      <p:sp>
        <p:nvSpPr>
          <p:cNvPr id="480" name="" descr="{&quot;isTemplate&quot;:true,&quot;type&quot;:&quot;text&quot;}"/>
          <p:cNvSpPr txBox="1"/>
          <p:nvPr/>
        </p:nvSpPr>
        <p:spPr>
          <a:xfrm rot="0" flipH="0" flipV="0">
            <a:off x="590550" y="2057400"/>
            <a:ext cx="409575" cy="133350"/>
          </a:xfrm>
          <a:prstGeom prst="rect"/>
        </p:spPr>
        <p:txBody>
          <a:bodyPr wrap="none" lIns="0" tIns="0" rIns="0" bIns="0"/>
          <a:p>
            <a:pPr>
              <a:lnSpc>
                <a:spcPct val="100000"/>
              </a:lnSpc>
            </a:pPr>
            <a:r>
              <a:rPr lang="en-US" sz="863" b="1">
                <a:solidFill>
                  <a:srgbClr val="1E4FA8"/>
                </a:solidFill>
                <a:latin typeface="Microsoft YaHei"/>
                <a:ea typeface="Microsoft YaHei"/>
              </a:rPr>
              <a:t>Student</a:t>
            </a:r>
            <a:endParaRPr/>
          </a:p>
        </p:txBody>
      </p:sp>
      <p:sp>
        <p:nvSpPr>
          <p:cNvPr id="481" name="" descr="{&quot;isTemplate&quot;:true,&quot;type&quot;:&quot;text&quot;}"/>
          <p:cNvSpPr txBox="1"/>
          <p:nvPr/>
        </p:nvSpPr>
        <p:spPr>
          <a:xfrm rot="0" flipH="0" flipV="0">
            <a:off x="514350" y="2324100"/>
            <a:ext cx="1524000" cy="400050"/>
          </a:xfrm>
          <a:prstGeom prst="rect"/>
        </p:spPr>
        <p:txBody>
          <a:bodyPr wrap="square" lIns="0" tIns="0" rIns="0" bIns="0">
            <a:normAutofit/>
          </a:bodyPr>
          <a:p>
            <a:pPr>
              <a:lnSpc>
                <a:spcPct val="150000"/>
              </a:lnSpc>
            </a:pPr>
            <a:r>
              <a:rPr lang="en-US" sz="863">
                <a:solidFill>
                  <a:srgbClr val="4A5568"/>
                </a:solidFill>
                <a:latin typeface="Microsoft YaHei"/>
                <a:ea typeface="Microsoft YaHei"/>
              </a:rPr>
              <a:t>Ends when the order is accepted and paid for</a:t>
            </a:r>
            <a:endParaRPr/>
          </a:p>
        </p:txBody>
      </p:sp>
      <p:sp>
        <p:nvSpPr>
          <p:cNvPr id="482" name=""/>
          <p:cNvSpPr/>
          <p:nvPr/>
        </p:nvSpPr>
        <p:spPr>
          <a:xfrm rot="0" flipH="0" flipV="0">
            <a:off x="2305050" y="1323975"/>
            <a:ext cx="1800225" cy="5133975"/>
          </a:xfrm>
          <a:prstGeom prst="roundRect">
            <a:avLst>
              <a:gd name="adj" fmla="val 5291"/>
            </a:avLst>
          </a:prstGeom>
          <a:solidFill>
            <a:srgbClr val="FFFFFF"/>
          </a:solidFill>
          <a:ln/>
        </p:spPr>
        <p:txBody>
          <a:bodyPr/>
          <a:p/>
        </p:txBody>
      </p:sp>
      <p:sp>
        <p:nvSpPr>
          <p:cNvPr id="483" name=""/>
          <p:cNvSpPr/>
          <p:nvPr/>
        </p:nvSpPr>
        <p:spPr>
          <a:xfrm rot="0" flipH="0" flipV="0">
            <a:off x="2305050" y="1323975"/>
            <a:ext cx="1800225" cy="5133975"/>
          </a:xfrm>
          <a:custGeom>
            <a:pathLst>
              <a:path w="189" h="539">
                <a:moveTo>
                  <a:pt x="179" y="0"/>
                </a:moveTo>
                <a:cubicBezTo>
                  <a:pt x="184" y="0"/>
                  <a:pt x="188" y="4"/>
                  <a:pt x="189" y="8"/>
                </a:cubicBezTo>
                <a:cubicBezTo>
                  <a:pt x="188" y="6"/>
                  <a:pt x="186" y="4"/>
                  <a:pt x="183" y="4"/>
                </a:cubicBezTo>
                <a:lnTo>
                  <a:pt x="6" y="4"/>
                </a:lnTo>
                <a:cubicBezTo>
                  <a:pt x="3" y="4"/>
                  <a:pt x="1" y="6"/>
                  <a:pt x="0" y="9"/>
                </a:cubicBezTo>
                <a:cubicBezTo>
                  <a:pt x="1" y="4"/>
                  <a:pt x="5" y="0"/>
                  <a:pt x="10" y="0"/>
                </a:cubicBezTo>
                <a:lnTo>
                  <a:pt x="179" y="0"/>
                </a:lnTo>
                <a:close/>
              </a:path>
            </a:pathLst>
          </a:custGeom>
          <a:solidFill>
            <a:srgbClr val="1E4FA8"/>
          </a:solidFill>
          <a:ln/>
        </p:spPr>
        <p:txBody>
          <a:bodyPr/>
          <a:p/>
        </p:txBody>
      </p:sp>
      <p:sp>
        <p:nvSpPr>
          <p:cNvPr id="484" name="" descr="{&quot;isTemplate&quot;:true,&quot;type&quot;:&quot;text&quot;}"/>
          <p:cNvSpPr txBox="1"/>
          <p:nvPr/>
        </p:nvSpPr>
        <p:spPr>
          <a:xfrm rot="0" flipH="0" flipV="0">
            <a:off x="2438400" y="1476375"/>
            <a:ext cx="1533525" cy="152400"/>
          </a:xfrm>
          <a:prstGeom prst="rect"/>
        </p:spPr>
        <p:txBody>
          <a:bodyPr wrap="none" lIns="0" tIns="0" rIns="0" bIns="0"/>
          <a:p>
            <a:pPr>
              <a:lnSpc>
                <a:spcPct val="100000"/>
              </a:lnSpc>
            </a:pPr>
            <a:r>
              <a:rPr lang="en-US" sz="975" b="1" spc="75">
                <a:solidFill>
                  <a:srgbClr val="8B97A8"/>
                </a:solidFill>
                <a:latin typeface="Microsoft YaHei"/>
                <a:ea typeface="Microsoft YaHei"/>
              </a:rPr>
              <a:t>02</a:t>
            </a:r>
            <a:endParaRPr/>
          </a:p>
        </p:txBody>
      </p:sp>
      <p:sp>
        <p:nvSpPr>
          <p:cNvPr id="485" name="" descr="{&quot;isTemplate&quot;:true,&quot;type&quot;:&quot;text&quot;}"/>
          <p:cNvSpPr txBox="1"/>
          <p:nvPr/>
        </p:nvSpPr>
        <p:spPr>
          <a:xfrm rot="0" flipH="0" flipV="0">
            <a:off x="2438400" y="1685925"/>
            <a:ext cx="1533525" cy="238125"/>
          </a:xfrm>
          <a:prstGeom prst="rect"/>
        </p:spPr>
        <p:txBody>
          <a:bodyPr wrap="none" lIns="0" tIns="0" rIns="0" bIns="0"/>
          <a:p>
            <a:pPr>
              <a:lnSpc>
                <a:spcPct val="130000"/>
              </a:lnSpc>
            </a:pPr>
            <a:r>
              <a:rPr lang="en-US" sz="1163" b="1">
                <a:solidFill>
                  <a:srgbClr val="0E3F8C"/>
                </a:solidFill>
                <a:latin typeface="Microsoft YaHei"/>
                <a:ea typeface="Microsoft YaHei"/>
              </a:rPr>
              <a:t>Pay for Order</a:t>
            </a:r>
            <a:endParaRPr/>
          </a:p>
        </p:txBody>
      </p:sp>
      <p:sp>
        <p:nvSpPr>
          <p:cNvPr id="486" name=""/>
          <p:cNvSpPr/>
          <p:nvPr/>
        </p:nvSpPr>
        <p:spPr>
          <a:xfrm rot="0" flipH="0" flipV="0">
            <a:off x="2438400" y="2019300"/>
            <a:ext cx="561975" cy="209550"/>
          </a:xfrm>
          <a:prstGeom prst="roundRect">
            <a:avLst>
              <a:gd name="adj" fmla="val 18182"/>
            </a:avLst>
          </a:prstGeom>
          <a:solidFill>
            <a:srgbClr val="F0F5FC"/>
          </a:solidFill>
          <a:ln/>
        </p:spPr>
        <p:txBody>
          <a:bodyPr/>
          <a:p/>
        </p:txBody>
      </p:sp>
      <p:sp>
        <p:nvSpPr>
          <p:cNvPr id="487" name="" descr="{&quot;isTemplate&quot;:true,&quot;type&quot;:&quot;text&quot;}"/>
          <p:cNvSpPr txBox="1"/>
          <p:nvPr/>
        </p:nvSpPr>
        <p:spPr>
          <a:xfrm rot="0" flipH="0" flipV="0">
            <a:off x="2514600" y="2057400"/>
            <a:ext cx="409575" cy="133350"/>
          </a:xfrm>
          <a:prstGeom prst="rect"/>
        </p:spPr>
        <p:txBody>
          <a:bodyPr wrap="none" lIns="0" tIns="0" rIns="0" bIns="0"/>
          <a:p>
            <a:pPr>
              <a:lnSpc>
                <a:spcPct val="100000"/>
              </a:lnSpc>
            </a:pPr>
            <a:r>
              <a:rPr lang="en-US" sz="863" b="1">
                <a:solidFill>
                  <a:srgbClr val="1E4FA8"/>
                </a:solidFill>
                <a:latin typeface="Microsoft YaHei"/>
                <a:ea typeface="Microsoft YaHei"/>
              </a:rPr>
              <a:t>Student</a:t>
            </a:r>
            <a:endParaRPr/>
          </a:p>
        </p:txBody>
      </p:sp>
      <p:sp>
        <p:nvSpPr>
          <p:cNvPr id="488" name="" descr="{&quot;isTemplate&quot;:true,&quot;type&quot;:&quot;text&quot;}"/>
          <p:cNvSpPr txBox="1"/>
          <p:nvPr/>
        </p:nvSpPr>
        <p:spPr>
          <a:xfrm rot="0" flipH="0" flipV="0">
            <a:off x="2438400" y="2324100"/>
            <a:ext cx="1533525" cy="400050"/>
          </a:xfrm>
          <a:prstGeom prst="rect"/>
        </p:spPr>
        <p:txBody>
          <a:bodyPr wrap="square" lIns="0" tIns="0" rIns="0" bIns="0">
            <a:normAutofit/>
          </a:bodyPr>
          <a:p>
            <a:pPr>
              <a:lnSpc>
                <a:spcPct val="150000"/>
              </a:lnSpc>
            </a:pPr>
            <a:r>
              <a:rPr lang="en-US" sz="863">
                <a:solidFill>
                  <a:srgbClr val="4A5568"/>
                </a:solidFill>
                <a:latin typeface="Microsoft YaHei"/>
                <a:ea typeface="Microsoft YaHei"/>
              </a:rPr>
              <a:t>Ends when the provider confirms or declines</a:t>
            </a:r>
            <a:endParaRPr/>
          </a:p>
        </p:txBody>
      </p:sp>
      <p:sp>
        <p:nvSpPr>
          <p:cNvPr id="489" name=""/>
          <p:cNvSpPr/>
          <p:nvPr/>
        </p:nvSpPr>
        <p:spPr>
          <a:xfrm rot="0" flipH="0" flipV="0">
            <a:off x="4238625" y="1323975"/>
            <a:ext cx="1790700" cy="5133975"/>
          </a:xfrm>
          <a:prstGeom prst="roundRect">
            <a:avLst>
              <a:gd name="adj" fmla="val 5319"/>
            </a:avLst>
          </a:prstGeom>
          <a:solidFill>
            <a:srgbClr val="FFFFFF"/>
          </a:solidFill>
          <a:ln/>
        </p:spPr>
        <p:txBody>
          <a:bodyPr/>
          <a:p/>
        </p:txBody>
      </p:sp>
      <p:sp>
        <p:nvSpPr>
          <p:cNvPr id="490" name=""/>
          <p:cNvSpPr/>
          <p:nvPr/>
        </p:nvSpPr>
        <p:spPr>
          <a:xfrm rot="0" flipH="0" flipV="0">
            <a:off x="4238625" y="1323975"/>
            <a:ext cx="1790700" cy="5133975"/>
          </a:xfrm>
          <a:custGeom>
            <a:pathLst>
              <a:path w="188" h="539">
                <a:moveTo>
                  <a:pt x="178" y="0"/>
                </a:moveTo>
                <a:cubicBezTo>
                  <a:pt x="183" y="0"/>
                  <a:pt x="187" y="4"/>
                  <a:pt x="188" y="8"/>
                </a:cubicBezTo>
                <a:cubicBezTo>
                  <a:pt x="187" y="6"/>
                  <a:pt x="185" y="4"/>
                  <a:pt x="182" y="4"/>
                </a:cubicBezTo>
                <a:lnTo>
                  <a:pt x="6" y="4"/>
                </a:lnTo>
                <a:cubicBezTo>
                  <a:pt x="3" y="4"/>
                  <a:pt x="1" y="6"/>
                  <a:pt x="0" y="9"/>
                </a:cubicBezTo>
                <a:cubicBezTo>
                  <a:pt x="1" y="4"/>
                  <a:pt x="5" y="0"/>
                  <a:pt x="10" y="0"/>
                </a:cubicBezTo>
                <a:lnTo>
                  <a:pt x="178" y="0"/>
                </a:lnTo>
                <a:close/>
              </a:path>
            </a:pathLst>
          </a:custGeom>
          <a:solidFill>
            <a:srgbClr val="1E4FA8"/>
          </a:solidFill>
          <a:ln/>
        </p:spPr>
        <p:txBody>
          <a:bodyPr/>
          <a:p/>
        </p:txBody>
      </p:sp>
      <p:sp>
        <p:nvSpPr>
          <p:cNvPr id="491" name="" descr="{&quot;isTemplate&quot;:true,&quot;type&quot;:&quot;text&quot;}"/>
          <p:cNvSpPr txBox="1"/>
          <p:nvPr/>
        </p:nvSpPr>
        <p:spPr>
          <a:xfrm rot="0" flipH="0" flipV="0">
            <a:off x="4371975" y="1476375"/>
            <a:ext cx="1524000" cy="152400"/>
          </a:xfrm>
          <a:prstGeom prst="rect"/>
        </p:spPr>
        <p:txBody>
          <a:bodyPr wrap="none" lIns="0" tIns="0" rIns="0" bIns="0"/>
          <a:p>
            <a:pPr>
              <a:lnSpc>
                <a:spcPct val="100000"/>
              </a:lnSpc>
            </a:pPr>
            <a:r>
              <a:rPr lang="en-US" sz="975" b="1" spc="75">
                <a:solidFill>
                  <a:srgbClr val="8B97A8"/>
                </a:solidFill>
                <a:latin typeface="Microsoft YaHei"/>
                <a:ea typeface="Microsoft YaHei"/>
              </a:rPr>
              <a:t>03</a:t>
            </a:r>
            <a:endParaRPr/>
          </a:p>
        </p:txBody>
      </p:sp>
      <p:sp>
        <p:nvSpPr>
          <p:cNvPr id="492" name="" descr="{&quot;isTemplate&quot;:true,&quot;type&quot;:&quot;text&quot;}"/>
          <p:cNvSpPr txBox="1"/>
          <p:nvPr/>
        </p:nvSpPr>
        <p:spPr>
          <a:xfrm rot="0" flipH="0" flipV="0">
            <a:off x="4371975" y="1685925"/>
            <a:ext cx="1524000" cy="238125"/>
          </a:xfrm>
          <a:prstGeom prst="rect"/>
        </p:spPr>
        <p:txBody>
          <a:bodyPr wrap="none" lIns="0" tIns="0" rIns="0" bIns="0"/>
          <a:p>
            <a:pPr>
              <a:lnSpc>
                <a:spcPct val="130000"/>
              </a:lnSpc>
            </a:pPr>
            <a:r>
              <a:rPr lang="en-US" sz="1163" b="1">
                <a:solidFill>
                  <a:srgbClr val="0E3F8C"/>
                </a:solidFill>
                <a:latin typeface="Microsoft YaHei"/>
                <a:ea typeface="Microsoft YaHei"/>
              </a:rPr>
              <a:t>Track Order</a:t>
            </a:r>
            <a:endParaRPr/>
          </a:p>
        </p:txBody>
      </p:sp>
      <p:sp>
        <p:nvSpPr>
          <p:cNvPr id="493" name=""/>
          <p:cNvSpPr/>
          <p:nvPr/>
        </p:nvSpPr>
        <p:spPr>
          <a:xfrm rot="0" flipH="0" flipV="0">
            <a:off x="4371975" y="2019300"/>
            <a:ext cx="561975" cy="209550"/>
          </a:xfrm>
          <a:prstGeom prst="roundRect">
            <a:avLst>
              <a:gd name="adj" fmla="val 18182"/>
            </a:avLst>
          </a:prstGeom>
          <a:solidFill>
            <a:srgbClr val="F0F5FC"/>
          </a:solidFill>
          <a:ln/>
        </p:spPr>
        <p:txBody>
          <a:bodyPr/>
          <a:p/>
        </p:txBody>
      </p:sp>
      <p:sp>
        <p:nvSpPr>
          <p:cNvPr id="494" name="" descr="{&quot;isTemplate&quot;:true,&quot;type&quot;:&quot;text&quot;}"/>
          <p:cNvSpPr txBox="1"/>
          <p:nvPr/>
        </p:nvSpPr>
        <p:spPr>
          <a:xfrm rot="0" flipH="0" flipV="0">
            <a:off x="4448175" y="2057400"/>
            <a:ext cx="409575" cy="133350"/>
          </a:xfrm>
          <a:prstGeom prst="rect"/>
        </p:spPr>
        <p:txBody>
          <a:bodyPr wrap="none" lIns="0" tIns="0" rIns="0" bIns="0"/>
          <a:p>
            <a:pPr>
              <a:lnSpc>
                <a:spcPct val="100000"/>
              </a:lnSpc>
            </a:pPr>
            <a:r>
              <a:rPr lang="en-US" sz="863" b="1">
                <a:solidFill>
                  <a:srgbClr val="1E4FA8"/>
                </a:solidFill>
                <a:latin typeface="Microsoft YaHei"/>
                <a:ea typeface="Microsoft YaHei"/>
              </a:rPr>
              <a:t>Student</a:t>
            </a:r>
            <a:endParaRPr/>
          </a:p>
        </p:txBody>
      </p:sp>
      <p:sp>
        <p:nvSpPr>
          <p:cNvPr id="495" name="" descr="{&quot;isTemplate&quot;:true,&quot;type&quot;:&quot;text&quot;}"/>
          <p:cNvSpPr txBox="1"/>
          <p:nvPr/>
        </p:nvSpPr>
        <p:spPr>
          <a:xfrm rot="0" flipH="0" flipV="0">
            <a:off x="4371975" y="2324100"/>
            <a:ext cx="1524000" cy="400050"/>
          </a:xfrm>
          <a:prstGeom prst="rect"/>
        </p:spPr>
        <p:txBody>
          <a:bodyPr wrap="square" lIns="0" tIns="0" rIns="0" bIns="0">
            <a:normAutofit/>
          </a:bodyPr>
          <a:p>
            <a:pPr>
              <a:lnSpc>
                <a:spcPct val="150000"/>
              </a:lnSpc>
            </a:pPr>
            <a:r>
              <a:rPr lang="en-US" sz="863">
                <a:solidFill>
                  <a:srgbClr val="4A5568"/>
                </a:solidFill>
                <a:latin typeface="Microsoft YaHei"/>
                <a:ea typeface="Microsoft YaHei"/>
              </a:rPr>
              <a:t>Ends when the student sees the current status</a:t>
            </a:r>
            <a:endParaRPr/>
          </a:p>
        </p:txBody>
      </p:sp>
      <p:sp>
        <p:nvSpPr>
          <p:cNvPr id="496" name=""/>
          <p:cNvSpPr/>
          <p:nvPr/>
        </p:nvSpPr>
        <p:spPr>
          <a:xfrm rot="0" flipH="0" flipV="0">
            <a:off x="6162675" y="1323975"/>
            <a:ext cx="1790700" cy="5133975"/>
          </a:xfrm>
          <a:prstGeom prst="roundRect">
            <a:avLst>
              <a:gd name="adj" fmla="val 5319"/>
            </a:avLst>
          </a:prstGeom>
          <a:solidFill>
            <a:srgbClr val="FFFFFF"/>
          </a:solidFill>
          <a:ln/>
        </p:spPr>
        <p:txBody>
          <a:bodyPr/>
          <a:p/>
        </p:txBody>
      </p:sp>
      <p:sp>
        <p:nvSpPr>
          <p:cNvPr id="497" name=""/>
          <p:cNvSpPr/>
          <p:nvPr/>
        </p:nvSpPr>
        <p:spPr>
          <a:xfrm rot="0" flipH="0" flipV="0">
            <a:off x="6162675" y="1323975"/>
            <a:ext cx="1790700" cy="5133975"/>
          </a:xfrm>
          <a:custGeom>
            <a:pathLst>
              <a:path w="188" h="539">
                <a:moveTo>
                  <a:pt x="178" y="0"/>
                </a:moveTo>
                <a:cubicBezTo>
                  <a:pt x="183" y="0"/>
                  <a:pt x="187" y="4"/>
                  <a:pt x="188" y="8"/>
                </a:cubicBezTo>
                <a:cubicBezTo>
                  <a:pt x="187" y="6"/>
                  <a:pt x="185" y="4"/>
                  <a:pt x="182" y="4"/>
                </a:cubicBezTo>
                <a:lnTo>
                  <a:pt x="6" y="4"/>
                </a:lnTo>
                <a:cubicBezTo>
                  <a:pt x="3" y="4"/>
                  <a:pt x="1" y="6"/>
                  <a:pt x="0" y="9"/>
                </a:cubicBezTo>
                <a:cubicBezTo>
                  <a:pt x="1" y="4"/>
                  <a:pt x="5" y="0"/>
                  <a:pt x="10" y="0"/>
                </a:cubicBezTo>
                <a:lnTo>
                  <a:pt x="178" y="0"/>
                </a:lnTo>
                <a:close/>
              </a:path>
            </a:pathLst>
          </a:custGeom>
          <a:solidFill>
            <a:srgbClr val="1E4FA8"/>
          </a:solidFill>
          <a:ln/>
        </p:spPr>
        <p:txBody>
          <a:bodyPr/>
          <a:p/>
        </p:txBody>
      </p:sp>
      <p:sp>
        <p:nvSpPr>
          <p:cNvPr id="498" name="" descr="{&quot;isTemplate&quot;:true,&quot;type&quot;:&quot;text&quot;}"/>
          <p:cNvSpPr txBox="1"/>
          <p:nvPr/>
        </p:nvSpPr>
        <p:spPr>
          <a:xfrm rot="0" flipH="0" flipV="0">
            <a:off x="6296025" y="1476375"/>
            <a:ext cx="1524000" cy="152400"/>
          </a:xfrm>
          <a:prstGeom prst="rect"/>
        </p:spPr>
        <p:txBody>
          <a:bodyPr wrap="none" lIns="0" tIns="0" rIns="0" bIns="0"/>
          <a:p>
            <a:pPr>
              <a:lnSpc>
                <a:spcPct val="100000"/>
              </a:lnSpc>
            </a:pPr>
            <a:r>
              <a:rPr lang="en-US" sz="975" b="1" spc="75">
                <a:solidFill>
                  <a:srgbClr val="8B97A8"/>
                </a:solidFill>
                <a:latin typeface="Microsoft YaHei"/>
                <a:ea typeface="Microsoft YaHei"/>
              </a:rPr>
              <a:t>04</a:t>
            </a:r>
            <a:endParaRPr/>
          </a:p>
        </p:txBody>
      </p:sp>
      <p:sp>
        <p:nvSpPr>
          <p:cNvPr id="499" name="" descr="{&quot;isTemplate&quot;:true,&quot;type&quot;:&quot;text&quot;}"/>
          <p:cNvSpPr txBox="1"/>
          <p:nvPr/>
        </p:nvSpPr>
        <p:spPr>
          <a:xfrm rot="0" flipH="0" flipV="0">
            <a:off x="6296025" y="1685925"/>
            <a:ext cx="1524000" cy="466725"/>
          </a:xfrm>
          <a:prstGeom prst="rect"/>
        </p:spPr>
        <p:txBody>
          <a:bodyPr wrap="square" lIns="0" tIns="0" rIns="0" bIns="0">
            <a:normAutofit/>
          </a:bodyPr>
          <a:p>
            <a:pPr>
              <a:lnSpc>
                <a:spcPct val="130000"/>
              </a:lnSpc>
            </a:pPr>
            <a:r>
              <a:rPr lang="en-US" sz="1163" b="1">
                <a:solidFill>
                  <a:srgbClr val="0E3F8C"/>
                </a:solidFill>
                <a:latin typeface="Microsoft YaHei"/>
                <a:ea typeface="Microsoft YaHei"/>
              </a:rPr>
              <a:t>Manage Today’s Menu</a:t>
            </a:r>
            <a:endParaRPr/>
          </a:p>
        </p:txBody>
      </p:sp>
      <p:sp>
        <p:nvSpPr>
          <p:cNvPr id="500" name=""/>
          <p:cNvSpPr/>
          <p:nvPr/>
        </p:nvSpPr>
        <p:spPr>
          <a:xfrm rot="0" flipH="0" flipV="0">
            <a:off x="6296025" y="2247900"/>
            <a:ext cx="1209675" cy="209550"/>
          </a:xfrm>
          <a:prstGeom prst="roundRect">
            <a:avLst>
              <a:gd name="adj" fmla="val 18182"/>
            </a:avLst>
          </a:prstGeom>
          <a:solidFill>
            <a:srgbClr val="F0F5FC"/>
          </a:solidFill>
          <a:ln/>
        </p:spPr>
        <p:txBody>
          <a:bodyPr/>
          <a:p/>
        </p:txBody>
      </p:sp>
      <p:sp>
        <p:nvSpPr>
          <p:cNvPr id="501" name="" descr="{&quot;isTemplate&quot;:true,&quot;type&quot;:&quot;text&quot;}"/>
          <p:cNvSpPr txBox="1"/>
          <p:nvPr/>
        </p:nvSpPr>
        <p:spPr>
          <a:xfrm rot="0" flipH="0" flipV="0">
            <a:off x="6372225" y="2286000"/>
            <a:ext cx="1057275" cy="133350"/>
          </a:xfrm>
          <a:prstGeom prst="rect"/>
        </p:spPr>
        <p:txBody>
          <a:bodyPr wrap="none" lIns="0" tIns="0" rIns="0" bIns="0"/>
          <a:p>
            <a:pPr>
              <a:lnSpc>
                <a:spcPct val="100000"/>
              </a:lnSpc>
            </a:pPr>
            <a:r>
              <a:rPr lang="en-US" sz="863" b="1">
                <a:solidFill>
                  <a:srgbClr val="1E4FA8"/>
                </a:solidFill>
                <a:latin typeface="Microsoft YaHei"/>
                <a:ea typeface="Microsoft YaHei"/>
              </a:rPr>
              <a:t>Restaurant Manager</a:t>
            </a:r>
            <a:endParaRPr/>
          </a:p>
        </p:txBody>
      </p:sp>
      <p:sp>
        <p:nvSpPr>
          <p:cNvPr id="502" name="" descr="{&quot;isTemplate&quot;:true,&quot;type&quot;:&quot;text&quot;}"/>
          <p:cNvSpPr txBox="1"/>
          <p:nvPr/>
        </p:nvSpPr>
        <p:spPr>
          <a:xfrm rot="0" flipH="0" flipV="0">
            <a:off x="6296025" y="2552700"/>
            <a:ext cx="1524000" cy="400050"/>
          </a:xfrm>
          <a:prstGeom prst="rect"/>
        </p:spPr>
        <p:txBody>
          <a:bodyPr wrap="square" lIns="0" tIns="0" rIns="0" bIns="0">
            <a:normAutofit/>
          </a:bodyPr>
          <a:p>
            <a:pPr>
              <a:lnSpc>
                <a:spcPct val="150000"/>
              </a:lnSpc>
            </a:pPr>
            <a:r>
              <a:rPr lang="en-US" sz="863">
                <a:solidFill>
                  <a:srgbClr val="4A5568"/>
                </a:solidFill>
                <a:latin typeface="Microsoft YaHei"/>
                <a:ea typeface="Microsoft YaHei"/>
              </a:rPr>
              <a:t>Ends when the kitchen sees the live menu</a:t>
            </a:r>
            <a:endParaRPr/>
          </a:p>
        </p:txBody>
      </p:sp>
      <p:sp>
        <p:nvSpPr>
          <p:cNvPr id="503" name=""/>
          <p:cNvSpPr/>
          <p:nvPr/>
        </p:nvSpPr>
        <p:spPr>
          <a:xfrm rot="0" flipH="0" flipV="0">
            <a:off x="8086725" y="1323975"/>
            <a:ext cx="1800225" cy="5133975"/>
          </a:xfrm>
          <a:prstGeom prst="roundRect">
            <a:avLst>
              <a:gd name="adj" fmla="val 5291"/>
            </a:avLst>
          </a:prstGeom>
          <a:solidFill>
            <a:srgbClr val="FFFFFF"/>
          </a:solidFill>
          <a:ln/>
        </p:spPr>
        <p:txBody>
          <a:bodyPr/>
          <a:p/>
        </p:txBody>
      </p:sp>
      <p:sp>
        <p:nvSpPr>
          <p:cNvPr id="504" name=""/>
          <p:cNvSpPr/>
          <p:nvPr/>
        </p:nvSpPr>
        <p:spPr>
          <a:xfrm rot="0" flipH="0" flipV="0">
            <a:off x="8086725" y="1323975"/>
            <a:ext cx="1800225" cy="5133975"/>
          </a:xfrm>
          <a:custGeom>
            <a:pathLst>
              <a:path w="189" h="539">
                <a:moveTo>
                  <a:pt x="179" y="0"/>
                </a:moveTo>
                <a:cubicBezTo>
                  <a:pt x="184" y="0"/>
                  <a:pt x="188" y="4"/>
                  <a:pt x="189" y="8"/>
                </a:cubicBezTo>
                <a:cubicBezTo>
                  <a:pt x="188" y="6"/>
                  <a:pt x="186" y="4"/>
                  <a:pt x="183" y="4"/>
                </a:cubicBezTo>
                <a:lnTo>
                  <a:pt x="6" y="4"/>
                </a:lnTo>
                <a:cubicBezTo>
                  <a:pt x="3" y="4"/>
                  <a:pt x="1" y="6"/>
                  <a:pt x="0" y="9"/>
                </a:cubicBezTo>
                <a:cubicBezTo>
                  <a:pt x="1" y="4"/>
                  <a:pt x="5" y="0"/>
                  <a:pt x="10" y="0"/>
                </a:cubicBezTo>
                <a:lnTo>
                  <a:pt x="179" y="0"/>
                </a:lnTo>
                <a:close/>
              </a:path>
            </a:pathLst>
          </a:custGeom>
          <a:solidFill>
            <a:srgbClr val="1E4FA8"/>
          </a:solidFill>
          <a:ln/>
        </p:spPr>
        <p:txBody>
          <a:bodyPr/>
          <a:p/>
        </p:txBody>
      </p:sp>
      <p:sp>
        <p:nvSpPr>
          <p:cNvPr id="505" name="" descr="{&quot;isTemplate&quot;:true,&quot;type&quot;:&quot;text&quot;}"/>
          <p:cNvSpPr txBox="1"/>
          <p:nvPr/>
        </p:nvSpPr>
        <p:spPr>
          <a:xfrm rot="0" flipH="0" flipV="0">
            <a:off x="8220075" y="1476375"/>
            <a:ext cx="1533525" cy="152400"/>
          </a:xfrm>
          <a:prstGeom prst="rect"/>
        </p:spPr>
        <p:txBody>
          <a:bodyPr wrap="none" lIns="0" tIns="0" rIns="0" bIns="0"/>
          <a:p>
            <a:pPr>
              <a:lnSpc>
                <a:spcPct val="100000"/>
              </a:lnSpc>
            </a:pPr>
            <a:r>
              <a:rPr lang="en-US" sz="975" b="1" spc="75">
                <a:solidFill>
                  <a:srgbClr val="8B97A8"/>
                </a:solidFill>
                <a:latin typeface="Microsoft YaHei"/>
                <a:ea typeface="Microsoft YaHei"/>
              </a:rPr>
              <a:t>05</a:t>
            </a:r>
            <a:endParaRPr/>
          </a:p>
        </p:txBody>
      </p:sp>
      <p:sp>
        <p:nvSpPr>
          <p:cNvPr id="506" name="" descr="{&quot;isTemplate&quot;:true,&quot;type&quot;:&quot;text&quot;}"/>
          <p:cNvSpPr txBox="1"/>
          <p:nvPr/>
        </p:nvSpPr>
        <p:spPr>
          <a:xfrm rot="0" flipH="0" flipV="0">
            <a:off x="8220075" y="1685925"/>
            <a:ext cx="1533525" cy="238125"/>
          </a:xfrm>
          <a:prstGeom prst="rect"/>
        </p:spPr>
        <p:txBody>
          <a:bodyPr wrap="none" lIns="0" tIns="0" rIns="0" bIns="0"/>
          <a:p>
            <a:pPr>
              <a:lnSpc>
                <a:spcPct val="130000"/>
              </a:lnSpc>
            </a:pPr>
            <a:r>
              <a:rPr lang="en-US" sz="1163" b="1">
                <a:solidFill>
                  <a:srgbClr val="0E3F8C"/>
                </a:solidFill>
                <a:latin typeface="Microsoft YaHei"/>
                <a:ea typeface="Microsoft YaHei"/>
              </a:rPr>
              <a:t>Dispatch Courier</a:t>
            </a:r>
            <a:endParaRPr/>
          </a:p>
        </p:txBody>
      </p:sp>
      <p:sp>
        <p:nvSpPr>
          <p:cNvPr id="507" name=""/>
          <p:cNvSpPr/>
          <p:nvPr/>
        </p:nvSpPr>
        <p:spPr>
          <a:xfrm rot="0" flipH="0" flipV="0">
            <a:off x="8220075" y="2019300"/>
            <a:ext cx="723900" cy="209550"/>
          </a:xfrm>
          <a:prstGeom prst="roundRect">
            <a:avLst>
              <a:gd name="adj" fmla="val 18182"/>
            </a:avLst>
          </a:prstGeom>
          <a:solidFill>
            <a:srgbClr val="F0F5FC"/>
          </a:solidFill>
          <a:ln/>
        </p:spPr>
        <p:txBody>
          <a:bodyPr/>
          <a:p/>
        </p:txBody>
      </p:sp>
      <p:sp>
        <p:nvSpPr>
          <p:cNvPr id="508" name="" descr="{&quot;isTemplate&quot;:true,&quot;type&quot;:&quot;text&quot;}"/>
          <p:cNvSpPr txBox="1"/>
          <p:nvPr/>
        </p:nvSpPr>
        <p:spPr>
          <a:xfrm rot="0" flipH="0" flipV="0">
            <a:off x="8296275" y="2057400"/>
            <a:ext cx="571500" cy="133350"/>
          </a:xfrm>
          <a:prstGeom prst="rect"/>
        </p:spPr>
        <p:txBody>
          <a:bodyPr wrap="none" lIns="0" tIns="0" rIns="0" bIns="0"/>
          <a:p>
            <a:pPr>
              <a:lnSpc>
                <a:spcPct val="100000"/>
              </a:lnSpc>
            </a:pPr>
            <a:r>
              <a:rPr lang="en-US" sz="863" b="1">
                <a:solidFill>
                  <a:srgbClr val="1E4FA8"/>
                </a:solidFill>
                <a:latin typeface="Microsoft YaHei"/>
                <a:ea typeface="Microsoft YaHei"/>
              </a:rPr>
              <a:t>Dispatcher</a:t>
            </a:r>
            <a:endParaRPr/>
          </a:p>
        </p:txBody>
      </p:sp>
      <p:sp>
        <p:nvSpPr>
          <p:cNvPr id="509" name="" descr="{&quot;isTemplate&quot;:true,&quot;type&quot;:&quot;text&quot;}"/>
          <p:cNvSpPr txBox="1"/>
          <p:nvPr/>
        </p:nvSpPr>
        <p:spPr>
          <a:xfrm rot="0" flipH="0" flipV="0">
            <a:off x="8220075" y="2324100"/>
            <a:ext cx="1533525" cy="400050"/>
          </a:xfrm>
          <a:prstGeom prst="rect"/>
        </p:spPr>
        <p:txBody>
          <a:bodyPr wrap="square" lIns="0" tIns="0" rIns="0" bIns="0">
            <a:normAutofit/>
          </a:bodyPr>
          <a:p>
            <a:pPr>
              <a:lnSpc>
                <a:spcPct val="150000"/>
              </a:lnSpc>
            </a:pPr>
            <a:r>
              <a:rPr lang="en-US" sz="863">
                <a:solidFill>
                  <a:srgbClr val="4A5568"/>
                </a:solidFill>
                <a:latin typeface="Microsoft YaHei"/>
                <a:ea typeface="Microsoft YaHei"/>
              </a:rPr>
              <a:t>Ends when a rider accepts the delivery</a:t>
            </a:r>
            <a:endParaRPr/>
          </a:p>
        </p:txBody>
      </p:sp>
      <p:sp>
        <p:nvSpPr>
          <p:cNvPr id="510" name=""/>
          <p:cNvSpPr/>
          <p:nvPr/>
        </p:nvSpPr>
        <p:spPr>
          <a:xfrm rot="0" flipH="0" flipV="0">
            <a:off x="10020300" y="1323975"/>
            <a:ext cx="1790700" cy="5133975"/>
          </a:xfrm>
          <a:prstGeom prst="roundRect">
            <a:avLst>
              <a:gd name="adj" fmla="val 5319"/>
            </a:avLst>
          </a:prstGeom>
          <a:solidFill>
            <a:srgbClr val="FFFFFF"/>
          </a:solidFill>
          <a:ln/>
        </p:spPr>
        <p:txBody>
          <a:bodyPr/>
          <a:p/>
        </p:txBody>
      </p:sp>
      <p:sp>
        <p:nvSpPr>
          <p:cNvPr id="511" name=""/>
          <p:cNvSpPr/>
          <p:nvPr/>
        </p:nvSpPr>
        <p:spPr>
          <a:xfrm rot="0" flipH="0" flipV="0">
            <a:off x="10020300" y="1323975"/>
            <a:ext cx="1790700" cy="5133975"/>
          </a:xfrm>
          <a:custGeom>
            <a:pathLst>
              <a:path w="188" h="539">
                <a:moveTo>
                  <a:pt x="178" y="0"/>
                </a:moveTo>
                <a:cubicBezTo>
                  <a:pt x="183" y="0"/>
                  <a:pt x="187" y="4"/>
                  <a:pt x="188" y="8"/>
                </a:cubicBezTo>
                <a:cubicBezTo>
                  <a:pt x="187" y="6"/>
                  <a:pt x="185" y="4"/>
                  <a:pt x="182" y="4"/>
                </a:cubicBezTo>
                <a:lnTo>
                  <a:pt x="6" y="4"/>
                </a:lnTo>
                <a:cubicBezTo>
                  <a:pt x="3" y="4"/>
                  <a:pt x="1" y="6"/>
                  <a:pt x="0" y="9"/>
                </a:cubicBezTo>
                <a:cubicBezTo>
                  <a:pt x="1" y="4"/>
                  <a:pt x="5" y="0"/>
                  <a:pt x="10" y="0"/>
                </a:cubicBezTo>
                <a:lnTo>
                  <a:pt x="178" y="0"/>
                </a:lnTo>
                <a:close/>
              </a:path>
            </a:pathLst>
          </a:custGeom>
          <a:solidFill>
            <a:srgbClr val="1E4FA8"/>
          </a:solidFill>
          <a:ln/>
        </p:spPr>
        <p:txBody>
          <a:bodyPr/>
          <a:p/>
        </p:txBody>
      </p:sp>
      <p:sp>
        <p:nvSpPr>
          <p:cNvPr id="512" name="" descr="{&quot;isTemplate&quot;:true,&quot;type&quot;:&quot;text&quot;}"/>
          <p:cNvSpPr txBox="1"/>
          <p:nvPr/>
        </p:nvSpPr>
        <p:spPr>
          <a:xfrm rot="0" flipH="0" flipV="0">
            <a:off x="10153650" y="1476375"/>
            <a:ext cx="1524000" cy="152400"/>
          </a:xfrm>
          <a:prstGeom prst="rect"/>
        </p:spPr>
        <p:txBody>
          <a:bodyPr wrap="none" lIns="0" tIns="0" rIns="0" bIns="0"/>
          <a:p>
            <a:pPr>
              <a:lnSpc>
                <a:spcPct val="100000"/>
              </a:lnSpc>
            </a:pPr>
            <a:r>
              <a:rPr lang="en-US" sz="975" b="1" spc="75">
                <a:solidFill>
                  <a:srgbClr val="8B97A8"/>
                </a:solidFill>
                <a:latin typeface="Microsoft YaHei"/>
                <a:ea typeface="Microsoft YaHei"/>
              </a:rPr>
              <a:t>06</a:t>
            </a:r>
            <a:endParaRPr/>
          </a:p>
        </p:txBody>
      </p:sp>
      <p:sp>
        <p:nvSpPr>
          <p:cNvPr id="513" name="" descr="{&quot;isTemplate&quot;:true,&quot;type&quot;:&quot;text&quot;}"/>
          <p:cNvSpPr txBox="1"/>
          <p:nvPr/>
        </p:nvSpPr>
        <p:spPr>
          <a:xfrm rot="0" flipH="0" flipV="0">
            <a:off x="10153650" y="1685925"/>
            <a:ext cx="1524000" cy="238125"/>
          </a:xfrm>
          <a:prstGeom prst="rect"/>
        </p:spPr>
        <p:txBody>
          <a:bodyPr wrap="none" lIns="0" tIns="0" rIns="0" bIns="0"/>
          <a:p>
            <a:pPr>
              <a:lnSpc>
                <a:spcPct val="130000"/>
              </a:lnSpc>
            </a:pPr>
            <a:r>
              <a:rPr lang="en-US" sz="1163" b="1">
                <a:solidFill>
                  <a:srgbClr val="0E3F8C"/>
                </a:solidFill>
                <a:latin typeface="Microsoft YaHei"/>
                <a:ea typeface="Microsoft YaHei"/>
              </a:rPr>
              <a:t>Rate Restaurant</a:t>
            </a:r>
            <a:endParaRPr/>
          </a:p>
        </p:txBody>
      </p:sp>
      <p:sp>
        <p:nvSpPr>
          <p:cNvPr id="514" name=""/>
          <p:cNvSpPr/>
          <p:nvPr/>
        </p:nvSpPr>
        <p:spPr>
          <a:xfrm rot="0" flipH="0" flipV="0">
            <a:off x="10153650" y="2019300"/>
            <a:ext cx="561975" cy="209550"/>
          </a:xfrm>
          <a:prstGeom prst="roundRect">
            <a:avLst>
              <a:gd name="adj" fmla="val 18182"/>
            </a:avLst>
          </a:prstGeom>
          <a:solidFill>
            <a:srgbClr val="F0F5FC"/>
          </a:solidFill>
          <a:ln/>
        </p:spPr>
        <p:txBody>
          <a:bodyPr/>
          <a:p/>
        </p:txBody>
      </p:sp>
      <p:sp>
        <p:nvSpPr>
          <p:cNvPr id="515" name="" descr="{&quot;isTemplate&quot;:true,&quot;type&quot;:&quot;text&quot;}"/>
          <p:cNvSpPr txBox="1"/>
          <p:nvPr/>
        </p:nvSpPr>
        <p:spPr>
          <a:xfrm rot="0" flipH="0" flipV="0">
            <a:off x="10229850" y="2057400"/>
            <a:ext cx="409575" cy="133350"/>
          </a:xfrm>
          <a:prstGeom prst="rect"/>
        </p:spPr>
        <p:txBody>
          <a:bodyPr wrap="none" lIns="0" tIns="0" rIns="0" bIns="0"/>
          <a:p>
            <a:pPr>
              <a:lnSpc>
                <a:spcPct val="100000"/>
              </a:lnSpc>
            </a:pPr>
            <a:r>
              <a:rPr lang="en-US" sz="863" b="1">
                <a:solidFill>
                  <a:srgbClr val="1E4FA8"/>
                </a:solidFill>
                <a:latin typeface="Microsoft YaHei"/>
                <a:ea typeface="Microsoft YaHei"/>
              </a:rPr>
              <a:t>Student</a:t>
            </a:r>
            <a:endParaRPr/>
          </a:p>
        </p:txBody>
      </p:sp>
      <p:sp>
        <p:nvSpPr>
          <p:cNvPr id="516" name="" descr="{&quot;isTemplate&quot;:true,&quot;type&quot;:&quot;text&quot;}"/>
          <p:cNvSpPr txBox="1"/>
          <p:nvPr/>
        </p:nvSpPr>
        <p:spPr>
          <a:xfrm rot="0" flipH="0" flipV="0">
            <a:off x="10153650" y="2324100"/>
            <a:ext cx="1524000" cy="400050"/>
          </a:xfrm>
          <a:prstGeom prst="rect"/>
        </p:spPr>
        <p:txBody>
          <a:bodyPr wrap="square" lIns="0" tIns="0" rIns="0" bIns="0">
            <a:normAutofit/>
          </a:bodyPr>
          <a:p>
            <a:pPr>
              <a:lnSpc>
                <a:spcPct val="150000"/>
              </a:lnSpc>
            </a:pPr>
            <a:r>
              <a:rPr lang="en-US" sz="863">
                <a:solidFill>
                  <a:srgbClr val="4A5568"/>
                </a:solidFill>
                <a:latin typeface="Microsoft YaHei"/>
                <a:ea typeface="Microsoft YaHei"/>
              </a:rPr>
              <a:t>Ends when the rating is stored and shown</a:t>
            </a:r>
            <a:endParaRPr/>
          </a:p>
        </p:txBody>
      </p:sp>
      <p:sp>
        <p:nvSpPr>
          <p:cNvPr id="517" name=""/>
          <p:cNvSpPr/>
          <p:nvPr/>
        </p:nvSpPr>
        <p:spPr>
          <a:xfrm rot="0" flipH="0" flipV="0">
            <a:off x="0" y="6419850"/>
            <a:ext cx="12192000" cy="438150"/>
          </a:xfrm>
          <a:prstGeom prst="rect">
            <a:avLst/>
          </a:prstGeom>
          <a:solidFill>
            <a:srgbClr val="0E3F8C"/>
          </a:solidFill>
          <a:ln/>
        </p:spPr>
        <p:txBody>
          <a:bodyPr/>
          <a:p/>
        </p:txBody>
      </p:sp>
      <p:sp>
        <p:nvSpPr>
          <p:cNvPr id="518" name="" descr="{&quot;isTemplate&quot;:true,&quot;type&quot;:&quot;text&quot;}"/>
          <p:cNvSpPr txBox="1"/>
          <p:nvPr/>
        </p:nvSpPr>
        <p:spPr>
          <a:xfrm rot="0" flipH="0" flipV="0">
            <a:off x="2714625" y="6543675"/>
            <a:ext cx="6772275" cy="190500"/>
          </a:xfrm>
          <a:prstGeom prst="rect"/>
        </p:spPr>
        <p:txBody>
          <a:bodyPr wrap="none" lIns="0" tIns="0" rIns="0" bIns="0"/>
          <a:p>
            <a:pPr>
              <a:lnSpc>
                <a:spcPct val="100000"/>
              </a:lnSpc>
            </a:pPr>
            <a:r>
              <a:rPr lang="en-US" sz="1200" b="1">
                <a:solidFill>
                  <a:srgbClr val="FFFFFF"/>
                </a:solidFill>
                <a:latin typeface="Microsoft YaHei"/>
                <a:ea typeface="Microsoft YaHei"/>
              </a:rPr>
              <a:t>Six is the right number for a first pass. If your M1 diagram has twenty, look for the CRUD trap.</a:t>
            </a:r>
            <a:endParaRPr/>
          </a:p>
        </p:txBody>
      </p:sp>
    </p:spTree>
  </p:cSld>
</p:sld>
</file>

<file path=ppt/slides/slide29.xml><?xml version="1.0" encoding="utf-8"?>
<p:sld xmlns:asvg="http://schemas.microsoft.com/office/drawing/2016/SVG/main" xmlns:a="http://schemas.openxmlformats.org/drawingml/2006/main" xmlns:r="http://schemas.openxmlformats.org/officeDocument/2006/relationships" xmlns:p="http://schemas.openxmlformats.org/presentationml/2006/main" xmlns:mc="http://schemas.openxmlformats.org/markup-compatibility/2006" mc:Ignorable="asvg">
  <p:cSld>
    <p:spTree>
      <p:nvGrpSpPr>
        <p:cNvPr id="519" name="" descr="&lt;Slide style={{ background: '#FFFFFF', padding: 0 }}&gt;&#10;  &lt;Box style={{ height: 72, background: '#1E4FA8', padding: '0 40px', flexDirection: 'row', alignItems: 'center', justifyContent: 'space-between' }}&gt;&#10;    &lt;Text style={{ fontSize: 15, color: '#B9CDF0', letterSpacing: 1 }}&gt;ISAD · INFORMATION SYSTEMS ANALYSIS &amp;amp; DESIGN&lt;/Text&gt;&#10;    &lt;Text style={{ fontSize: 15, color: '#B9CDF0' }}&gt;W04 · FINDING USE CASES&lt;/Text&gt;&#10;  &lt;/Box&gt;&#10;  &lt;Box style={{ padding: '14px 40px 0 40px', flexDirection: 'row', alignItems: 'center', justifyContent: 'space-between' }}&gt;&#10;    &lt;Text style={{ fontSize: 29, fontWeight: 'bold', color: '#0E3F8C' }}&gt;What We Have Not Done Yet&lt;/Text&gt;&#10;    &lt;Text style={{ fontSize: 14, color: '#1E4FA8', fontWeight: 'bold' }}&gt;29 / 38&lt;/Text&gt;&#10;  &lt;/Box&gt;&#10;  &lt;Box style={{ flex: 1, padding: '16px 60px 0 60px', flexDirection: 'column', justifyContent: 'center', alignItems: 'center' }}&gt;&#10;    &lt;Box style={{ width: 960, padding: '20px 30px', background: '#FFF6E0', borderRadius: 10, borderLeft: '6px solid #FFC107', marginBottom: 20 }}&gt;&#10;      &lt;Text style={{ fontSize: 23, color: '#0E3F8C', fontWeight: 'bold', lineHeight: 1.4, textAlign: 'center' }}&gt;&#10;        A named ellipse is a promise to write something.&#10;        &lt;br /&gt;&#10;        The promise is kept next week.&#10;      &lt;/Text&gt;&#10;    &lt;/Box&gt;&#10;    &lt;Box style={{ width: 960, flexDirection: 'row', gap: 18 }}&gt;&#10;      &lt;Box style={{ flex: 1, padding: '20px 18px', background: '#FFFFFF', borderRadius: 10, border: '1px solid #D6DCE5' }}&gt;&#10;        &lt;Box style={{ flexDirection: 'row', alignItems: 'center', gap: 8, marginBottom: 8 }}&gt;&#10;          &lt;FAIcon name='info-circle' style={{ fill: '#1E4FA8', width: 20, height: 20 }} /&gt;&#10;          &lt;Text style={{ fontSize: 16, fontWeight: 'bold', color: '#0E3F8C' }}&gt;Not yet: the use case text&lt;/Text&gt;&#10;        &lt;/Box&gt;&#10;        &lt;Text style={{ fontSize: 12.8, color: '#4A5568', lineHeight: 1.65 }}&gt;&#10;          “Place Order” on a diagram tells you a goal exists. It does not tell you what happens when the card is declined, or what must be true before the student starts. That is the use case specification — &lt;Text style={{ fontWeight: 'bold', color: '#0E3F8C' }}&gt;Week 05&lt;/Text&gt;.&#10;        &lt;/Text&gt;&#10;      &lt;/Box&gt;&#10;      &lt;Box style={{ flex: 1, padding: '20px 18px', background: '#FFFFFF', borderRadius: 10, border: '1px solid #D6DCE5' }}&gt;&#10;        &lt;Box style={{ flexDirection: 'row', alignItems: 'center', gap: 8, marginBottom: 8 }}&gt;&#10;          &lt;FAIcon name='layer-group' style={{ fill: '#1E4FA8', width: 20, height: 20 }} /&gt;&#10;          &lt;Text style={{ fontSize: 16, fontWeight: 'bold', color: '#0E3F8C' }}&gt;Not yet: the domain model&lt;/Text&gt;&#10;        &lt;/Box&gt;&#10;        &lt;Text style={{ fontSize: 12.8, color: '#4A5568', lineHeight: 1.65 }}&gt;&#10;          Order, MenuItem and Courier are names on this page. Turning them into classes with attributes and associations is a different artefact — &lt;Text style={{ fontWeight: 'bold', color: '#0E3F8C' }}&gt;Week 06&lt;/Text&gt;. Resist the urge to draw boxes today.&#10;        &lt;/Text&gt;&#10;      &lt;/Box&gt;&#10;      &lt;Box style={{ flex: 1, padding: '20px 18px', background: '#F0F5FC', borderRadius: 10, border: '1px solid #1E4FA8' }}&gt;&#10;        &lt;Box style={{ flexDirection: 'row', alignItems: 'center', gap: 8, marginBottom: 8 }}&gt;&#10;          &lt;FAIcon name='handshake' style={{ fill: '#1E4FA8', width: 20, height: 20 }} /&gt;&#10;          &lt;Text style={{ fontSize: 16, fontWeight: 'bold', color: '#0E3F8C' }}&gt;Next week: you are the client&lt;/Text&gt;&#10;        &lt;/Box&gt;&#10;        &lt;Text style={{ fontSize: 12.8, color: '#4A5568', lineHeight: 1.65 }}&gt;&#10;          In Week 05 the instructor plays the client and reviews your pack with you. Bring a diagram you can defend, because the client will ask why “Manage Order” is on it.&#10;        &lt;/Text&gt;&#10;      &lt;/Box&gt;&#10;    &lt;/Box&gt;&#10;  &lt;/Box&gt;&#10;  &lt;Box style={{ height: 46, background: '#0E3F8C', padding: '0 40px', flexDirection: 'row', alignItems: 'center', justifyContent: 'center' }}&gt;&#10;    &lt;Text style={{ fontSize: 16, color: '#FFFFFF', fontWeight: '600' }}&gt;This week you find the goals. Next week you write them down so a stranger could build them.&lt;/Text&gt;&#10;  &lt;/Box&gt;&#10;&lt;/Slide&gt;"/>
        <p:cNvGrpSpPr/>
        <p:nvPr/>
      </p:nvGrpSpPr>
      <p:grpSpPr>
        <a:xfrm>
          <a:off x="0" y="0"/>
          <a:ext cx="0" cy="0"/>
          <a:chOff x="0" y="0"/>
          <a:chExt cx="0" cy="0"/>
        </a:xfrm>
      </p:grpSpPr>
      <p:sp>
        <p:nvSpPr>
          <p:cNvPr id="520" name=""/>
          <p:cNvSpPr/>
          <p:nvPr/>
        </p:nvSpPr>
        <p:spPr>
          <a:xfrm rot="0" flipH="0" flipV="0">
            <a:off x="0" y="0"/>
            <a:ext cx="12192000" cy="6858000"/>
          </a:xfrm>
          <a:prstGeom prst="rect">
            <a:avLst/>
          </a:prstGeom>
          <a:solidFill>
            <a:srgbClr val="FFFFFF"/>
          </a:solidFill>
          <a:ln/>
        </p:spPr>
        <p:txBody>
          <a:bodyPr/>
          <a:p/>
        </p:txBody>
      </p:sp>
      <p:sp>
        <p:nvSpPr>
          <p:cNvPr id="521" name=""/>
          <p:cNvSpPr/>
          <p:nvPr/>
        </p:nvSpPr>
        <p:spPr>
          <a:xfrm rot="0" flipH="0" flipV="0">
            <a:off x="0" y="0"/>
            <a:ext cx="12192000" cy="685800"/>
          </a:xfrm>
          <a:prstGeom prst="rect">
            <a:avLst/>
          </a:prstGeom>
          <a:solidFill>
            <a:srgbClr val="1E4FA8"/>
          </a:solidFill>
          <a:ln/>
        </p:spPr>
        <p:txBody>
          <a:bodyPr/>
          <a:p/>
        </p:txBody>
      </p:sp>
      <p:sp>
        <p:nvSpPr>
          <p:cNvPr id="522" name="" descr="{&quot;isTemplate&quot;:true,&quot;type&quot;:&quot;text&quot;}"/>
          <p:cNvSpPr txBox="1"/>
          <p:nvPr/>
        </p:nvSpPr>
        <p:spPr>
          <a:xfrm rot="0" flipH="0" flipV="0">
            <a:off x="381000" y="257175"/>
            <a:ext cx="4067175" cy="171450"/>
          </a:xfrm>
          <a:prstGeom prst="rect"/>
        </p:spPr>
        <p:txBody>
          <a:bodyPr wrap="none" lIns="0" tIns="0" rIns="0" bIns="0"/>
          <a:p>
            <a:pPr>
              <a:lnSpc>
                <a:spcPct val="100000"/>
              </a:lnSpc>
            </a:pPr>
            <a:r>
              <a:rPr lang="en-US" sz="1125" spc="75">
                <a:solidFill>
                  <a:srgbClr val="B9CDF0"/>
                </a:solidFill>
                <a:latin typeface="Microsoft YaHei"/>
                <a:ea typeface="Microsoft YaHei"/>
              </a:rPr>
              <a:t>ISAD · INFORMATION SYSTEMS ANALYSIS &amp; DESIGN</a:t>
            </a:r>
            <a:endParaRPr/>
          </a:p>
        </p:txBody>
      </p:sp>
      <p:sp>
        <p:nvSpPr>
          <p:cNvPr id="523" name="" descr="{&quot;isTemplate&quot;:true,&quot;type&quot;:&quot;text&quot;}"/>
          <p:cNvSpPr txBox="1"/>
          <p:nvPr/>
        </p:nvSpPr>
        <p:spPr>
          <a:xfrm rot="0" flipH="0" flipV="0">
            <a:off x="9944100" y="257175"/>
            <a:ext cx="1866900" cy="171450"/>
          </a:xfrm>
          <a:prstGeom prst="rect"/>
        </p:spPr>
        <p:txBody>
          <a:bodyPr wrap="none" lIns="0" tIns="0" rIns="0" bIns="0"/>
          <a:p>
            <a:pPr>
              <a:lnSpc>
                <a:spcPct val="100000"/>
              </a:lnSpc>
            </a:pPr>
            <a:r>
              <a:rPr lang="en-US" sz="1125">
                <a:solidFill>
                  <a:srgbClr val="B9CDF0"/>
                </a:solidFill>
                <a:latin typeface="Microsoft YaHei"/>
                <a:ea typeface="Microsoft YaHei"/>
              </a:rPr>
              <a:t>W04 · FINDING USE CASES</a:t>
            </a:r>
            <a:endParaRPr/>
          </a:p>
        </p:txBody>
      </p:sp>
      <p:sp>
        <p:nvSpPr>
          <p:cNvPr id="524" name="" descr="{&quot;isTemplate&quot;:true,&quot;type&quot;:&quot;text&quot;}"/>
          <p:cNvSpPr txBox="1"/>
          <p:nvPr/>
        </p:nvSpPr>
        <p:spPr>
          <a:xfrm rot="0" flipH="0" flipV="0">
            <a:off x="381000" y="819150"/>
            <a:ext cx="3695700" cy="333375"/>
          </a:xfrm>
          <a:prstGeom prst="rect"/>
        </p:spPr>
        <p:txBody>
          <a:bodyPr wrap="none" lIns="0" tIns="0" rIns="0" bIns="0"/>
          <a:p>
            <a:pPr>
              <a:lnSpc>
                <a:spcPct val="100000"/>
              </a:lnSpc>
            </a:pPr>
            <a:r>
              <a:rPr lang="en-US" sz="2175" b="1">
                <a:solidFill>
                  <a:srgbClr val="0E3F8C"/>
                </a:solidFill>
                <a:latin typeface="Microsoft YaHei"/>
                <a:ea typeface="Microsoft YaHei"/>
              </a:rPr>
              <a:t>What We Have Not Done Yet</a:t>
            </a:r>
            <a:endParaRPr/>
          </a:p>
        </p:txBody>
      </p:sp>
      <p:sp>
        <p:nvSpPr>
          <p:cNvPr id="525" name="" descr="{&quot;isTemplate&quot;:true,&quot;type&quot;:&quot;text&quot;}"/>
          <p:cNvSpPr txBox="1"/>
          <p:nvPr/>
        </p:nvSpPr>
        <p:spPr>
          <a:xfrm rot="0" flipH="0" flipV="0">
            <a:off x="11401425" y="904875"/>
            <a:ext cx="409575" cy="161925"/>
          </a:xfrm>
          <a:prstGeom prst="rect"/>
        </p:spPr>
        <p:txBody>
          <a:bodyPr wrap="none" lIns="0" tIns="0" rIns="0" bIns="0"/>
          <a:p>
            <a:pPr>
              <a:lnSpc>
                <a:spcPct val="100000"/>
              </a:lnSpc>
            </a:pPr>
            <a:r>
              <a:rPr lang="en-US" sz="1050" b="1">
                <a:solidFill>
                  <a:srgbClr val="1E4FA8"/>
                </a:solidFill>
                <a:latin typeface="Microsoft YaHei"/>
                <a:ea typeface="Microsoft YaHei"/>
              </a:rPr>
              <a:t>29 / 38</a:t>
            </a:r>
            <a:endParaRPr/>
          </a:p>
        </p:txBody>
      </p:sp>
      <p:sp>
        <p:nvSpPr>
          <p:cNvPr id="526" name=""/>
          <p:cNvSpPr/>
          <p:nvPr/>
        </p:nvSpPr>
        <p:spPr>
          <a:xfrm rot="0" flipH="0" flipV="0">
            <a:off x="1581150" y="2276475"/>
            <a:ext cx="9086850" cy="1123950"/>
          </a:xfrm>
          <a:prstGeom prst="roundRect">
            <a:avLst>
              <a:gd name="adj" fmla="val 8475"/>
            </a:avLst>
          </a:prstGeom>
          <a:solidFill>
            <a:srgbClr val="FFF6E0"/>
          </a:solidFill>
          <a:ln/>
        </p:spPr>
        <p:txBody>
          <a:bodyPr/>
          <a:p/>
        </p:txBody>
      </p:sp>
      <p:sp>
        <p:nvSpPr>
          <p:cNvPr id="527" name=""/>
          <p:cNvSpPr/>
          <p:nvPr/>
        </p:nvSpPr>
        <p:spPr>
          <a:xfrm rot="0" flipH="0" flipV="0">
            <a:off x="1581150" y="2276475"/>
            <a:ext cx="9086850" cy="1123950"/>
          </a:xfrm>
          <a:custGeom>
            <a:pathLst>
              <a:path w="954" h="118">
                <a:moveTo>
                  <a:pt x="10" y="0"/>
                </a:moveTo>
                <a:cubicBezTo>
                  <a:pt x="8" y="0"/>
                  <a:pt x="6" y="2"/>
                  <a:pt x="6" y="4"/>
                </a:cubicBezTo>
                <a:lnTo>
                  <a:pt x="6" y="114"/>
                </a:lnTo>
                <a:cubicBezTo>
                  <a:pt x="6" y="116"/>
                  <a:pt x="8" y="118"/>
                  <a:pt x="10" y="118"/>
                </a:cubicBezTo>
                <a:cubicBezTo>
                  <a:pt x="4" y="118"/>
                  <a:pt x="0" y="113"/>
                  <a:pt x="0" y="108"/>
                </a:cubicBezTo>
                <a:lnTo>
                  <a:pt x="0" y="10"/>
                </a:lnTo>
                <a:cubicBezTo>
                  <a:pt x="0" y="5"/>
                  <a:pt x="4" y="0"/>
                  <a:pt x="10" y="0"/>
                </a:cubicBezTo>
                <a:close/>
              </a:path>
            </a:pathLst>
          </a:custGeom>
          <a:solidFill>
            <a:srgbClr val="FFC107"/>
          </a:solidFill>
          <a:ln/>
        </p:spPr>
        <p:txBody>
          <a:bodyPr/>
          <a:p/>
        </p:txBody>
      </p:sp>
      <p:sp>
        <p:nvSpPr>
          <p:cNvPr id="528" name="" descr="{&quot;isTemplate&quot;:true,&quot;type&quot;:&quot;text&quot;}"/>
          <p:cNvSpPr txBox="1"/>
          <p:nvPr/>
        </p:nvSpPr>
        <p:spPr>
          <a:xfrm rot="0" flipH="0" flipV="0">
            <a:off x="1866900" y="2466975"/>
            <a:ext cx="8515350" cy="742950"/>
          </a:xfrm>
          <a:prstGeom prst="rect"/>
        </p:spPr>
        <p:txBody>
          <a:bodyPr wrap="none" lIns="0" tIns="0" rIns="0" bIns="0"/>
          <a:p>
            <a:pPr algn="ctr">
              <a:lnSpc>
                <a:spcPct val="140000"/>
              </a:lnSpc>
            </a:pPr>
            <a:r>
              <a:rPr lang="en-US" sz="1725" b="1">
                <a:solidFill>
                  <a:srgbClr val="0E3F8C"/>
                </a:solidFill>
                <a:latin typeface="Microsoft YaHei"/>
                <a:ea typeface="Microsoft YaHei"/>
              </a:rPr>
              <a:t>A named ellipse is a promise to write something.</a:t>
            </a:r>
            <a:endParaRPr/>
          </a:p>
          <a:p>
            <a:pPr algn="ctr">
              <a:lnSpc>
                <a:spcPct val="140000"/>
              </a:lnSpc>
            </a:pPr>
            <a:r>
              <a:rPr lang="en-US" sz="1725" b="1">
                <a:solidFill>
                  <a:srgbClr val="0E3F8C"/>
                </a:solidFill>
                <a:latin typeface="Microsoft YaHei"/>
                <a:ea typeface="Microsoft YaHei"/>
              </a:rPr>
              <a:t>The promise is kept next week.</a:t>
            </a:r>
            <a:endParaRPr/>
          </a:p>
        </p:txBody>
      </p:sp>
      <p:sp>
        <p:nvSpPr>
          <p:cNvPr id="529" name=""/>
          <p:cNvSpPr/>
          <p:nvPr/>
        </p:nvSpPr>
        <p:spPr>
          <a:xfrm rot="0" flipH="0" flipV="0">
            <a:off x="1524000" y="3590925"/>
            <a:ext cx="2933700" cy="1857375"/>
          </a:xfrm>
          <a:prstGeom prst="roundRect">
            <a:avLst>
              <a:gd name="adj" fmla="val 5128"/>
            </a:avLst>
          </a:prstGeom>
          <a:solidFill>
            <a:srgbClr val="FFFFFF"/>
          </a:solidFill>
          <a:ln w="12700">
            <a:solidFill>
              <a:srgbClr val="D6DCE5"/>
            </a:solidFill>
            <a:prstDash val="solid"/>
          </a:ln>
        </p:spPr>
        <p:txBody>
          <a:bodyPr/>
          <a:p/>
        </p:txBody>
      </p:sp>
      <p:pic>
        <p:nvPicPr>
          <p:cNvPr id="530" name=""/>
          <p:cNvPicPr>
            <a:picLocks noChangeAspect="1"/>
          </p:cNvPicPr>
          <p:nvPr/>
        </p:nvPicPr>
        <p:blipFill>
          <a:blip>
            <a:extLst>
              <a:ext uri="{96DAC541-7B7A-43D3-8B79-37D633B846F1}">
                <asvg:svgBlip r:embed="rId1"/>
              </a:ext>
            </a:extLst>
          </a:blip>
          <a:stretch>
            <a:fillRect/>
          </a:stretch>
        </p:blipFill>
        <p:spPr>
          <a:xfrm rot="0" flipH="0" flipV="0">
            <a:off x="1695450" y="3781425"/>
            <a:ext cx="190500" cy="190500"/>
          </a:xfrm>
          <a:prstGeom prst="rect">
            <a:avLst/>
          </a:prstGeom>
          <a:ln/>
        </p:spPr>
      </p:pic>
      <p:sp>
        <p:nvSpPr>
          <p:cNvPr id="531" name="" descr="{&quot;isTemplate&quot;:true,&quot;type&quot;:&quot;text&quot;}"/>
          <p:cNvSpPr txBox="1"/>
          <p:nvPr/>
        </p:nvSpPr>
        <p:spPr>
          <a:xfrm rot="0" flipH="0" flipV="0">
            <a:off x="1962150" y="3781425"/>
            <a:ext cx="1838325" cy="190500"/>
          </a:xfrm>
          <a:prstGeom prst="rect"/>
        </p:spPr>
        <p:txBody>
          <a:bodyPr wrap="none" lIns="0" tIns="0" rIns="0" bIns="0"/>
          <a:p>
            <a:pPr>
              <a:lnSpc>
                <a:spcPct val="100000"/>
              </a:lnSpc>
            </a:pPr>
            <a:r>
              <a:rPr lang="en-US" sz="1200" b="1">
                <a:solidFill>
                  <a:srgbClr val="0E3F8C"/>
                </a:solidFill>
                <a:latin typeface="Microsoft YaHei"/>
                <a:ea typeface="Microsoft YaHei"/>
              </a:rPr>
              <a:t>Not yet: the use case text</a:t>
            </a:r>
            <a:endParaRPr/>
          </a:p>
        </p:txBody>
      </p:sp>
      <p:sp>
        <p:nvSpPr>
          <p:cNvPr id="532" name="" descr="{&quot;isTemplate&quot;:true,&quot;type&quot;:&quot;text&quot;}"/>
          <p:cNvSpPr txBox="1"/>
          <p:nvPr/>
        </p:nvSpPr>
        <p:spPr>
          <a:xfrm rot="0" flipH="0" flipV="0">
            <a:off x="1695450" y="4048125"/>
            <a:ext cx="2590800" cy="1209675"/>
          </a:xfrm>
          <a:prstGeom prst="rect"/>
        </p:spPr>
        <p:txBody>
          <a:bodyPr wrap="square" lIns="0" tIns="0" rIns="0" bIns="0">
            <a:normAutofit/>
          </a:bodyPr>
          <a:p>
            <a:pPr>
              <a:lnSpc>
                <a:spcPct val="165000"/>
              </a:lnSpc>
            </a:pPr>
            <a:r>
              <a:rPr lang="en-US" sz="960">
                <a:solidFill>
                  <a:srgbClr val="4A5568"/>
                </a:solidFill>
                <a:latin typeface="Microsoft YaHei"/>
                <a:ea typeface="Microsoft YaHei"/>
              </a:rPr>
              <a:t>“Place Order” on a diagram tells you a goal exists. It does not tell you what happens when the card is declined, or what must be true before the student starts. That is the use case specification — </a:t>
            </a:r>
            <a:r>
              <a:rPr lang="en-US" sz="960">
                <a:solidFill>
                  <a:srgbClr val="4A5568"/>
                </a:solidFill>
                <a:latin typeface="Microsoft YaHei"/>
                <a:ea typeface="Microsoft YaHei"/>
              </a:rPr>
              <a:t>Week 05</a:t>
            </a:r>
            <a:r>
              <a:rPr lang="en-US" sz="960">
                <a:solidFill>
                  <a:srgbClr val="4A5568"/>
                </a:solidFill>
                <a:latin typeface="Microsoft YaHei"/>
                <a:ea typeface="Microsoft YaHei"/>
              </a:rPr>
              <a:t>.</a:t>
            </a:r>
            <a:endParaRPr/>
          </a:p>
        </p:txBody>
      </p:sp>
      <p:sp>
        <p:nvSpPr>
          <p:cNvPr id="533" name=""/>
          <p:cNvSpPr/>
          <p:nvPr/>
        </p:nvSpPr>
        <p:spPr>
          <a:xfrm rot="0" flipH="0" flipV="0">
            <a:off x="4629150" y="3590925"/>
            <a:ext cx="2933700" cy="1857375"/>
          </a:xfrm>
          <a:prstGeom prst="roundRect">
            <a:avLst>
              <a:gd name="adj" fmla="val 5128"/>
            </a:avLst>
          </a:prstGeom>
          <a:solidFill>
            <a:srgbClr val="FFFFFF"/>
          </a:solidFill>
          <a:ln w="12700">
            <a:solidFill>
              <a:srgbClr val="D6DCE5"/>
            </a:solidFill>
            <a:prstDash val="solid"/>
          </a:ln>
        </p:spPr>
        <p:txBody>
          <a:bodyPr/>
          <a:p/>
        </p:txBody>
      </p:sp>
      <p:pic>
        <p:nvPicPr>
          <p:cNvPr id="534" name=""/>
          <p:cNvPicPr>
            <a:picLocks noChangeAspect="1"/>
          </p:cNvPicPr>
          <p:nvPr/>
        </p:nvPicPr>
        <p:blipFill>
          <a:blip>
            <a:extLst>
              <a:ext uri="{96DAC541-7B7A-43D3-8B79-37D633B846F1}">
                <asvg:svgBlip r:embed="rId2"/>
              </a:ext>
            </a:extLst>
          </a:blip>
          <a:stretch>
            <a:fillRect/>
          </a:stretch>
        </p:blipFill>
        <p:spPr>
          <a:xfrm rot="0" flipH="0" flipV="0">
            <a:off x="4800600" y="3781425"/>
            <a:ext cx="190500" cy="190500"/>
          </a:xfrm>
          <a:prstGeom prst="rect">
            <a:avLst/>
          </a:prstGeom>
          <a:ln/>
        </p:spPr>
      </p:pic>
      <p:sp>
        <p:nvSpPr>
          <p:cNvPr id="535" name="" descr="{&quot;isTemplate&quot;:true,&quot;type&quot;:&quot;text&quot;}"/>
          <p:cNvSpPr txBox="1"/>
          <p:nvPr/>
        </p:nvSpPr>
        <p:spPr>
          <a:xfrm rot="0" flipH="0" flipV="0">
            <a:off x="5067300" y="3781425"/>
            <a:ext cx="1914525" cy="190500"/>
          </a:xfrm>
          <a:prstGeom prst="rect"/>
        </p:spPr>
        <p:txBody>
          <a:bodyPr wrap="none" lIns="0" tIns="0" rIns="0" bIns="0"/>
          <a:p>
            <a:pPr>
              <a:lnSpc>
                <a:spcPct val="100000"/>
              </a:lnSpc>
            </a:pPr>
            <a:r>
              <a:rPr lang="en-US" sz="1200" b="1">
                <a:solidFill>
                  <a:srgbClr val="0E3F8C"/>
                </a:solidFill>
                <a:latin typeface="Microsoft YaHei"/>
                <a:ea typeface="Microsoft YaHei"/>
              </a:rPr>
              <a:t>Not yet: the domain model</a:t>
            </a:r>
            <a:endParaRPr/>
          </a:p>
        </p:txBody>
      </p:sp>
      <p:sp>
        <p:nvSpPr>
          <p:cNvPr id="536" name="" descr="{&quot;isTemplate&quot;:true,&quot;type&quot;:&quot;text&quot;}"/>
          <p:cNvSpPr txBox="1"/>
          <p:nvPr/>
        </p:nvSpPr>
        <p:spPr>
          <a:xfrm rot="0" flipH="0" flipV="0">
            <a:off x="4800600" y="4048125"/>
            <a:ext cx="2590800" cy="971550"/>
          </a:xfrm>
          <a:prstGeom prst="rect"/>
        </p:spPr>
        <p:txBody>
          <a:bodyPr wrap="square" lIns="0" tIns="0" rIns="0" bIns="0">
            <a:normAutofit/>
          </a:bodyPr>
          <a:p>
            <a:pPr>
              <a:lnSpc>
                <a:spcPct val="165000"/>
              </a:lnSpc>
            </a:pPr>
            <a:r>
              <a:rPr lang="en-US" sz="960">
                <a:solidFill>
                  <a:srgbClr val="4A5568"/>
                </a:solidFill>
                <a:latin typeface="Microsoft YaHei"/>
                <a:ea typeface="Microsoft YaHei"/>
              </a:rPr>
              <a:t>Order, MenuItem and Courier are names on this page. Turning them into classes with attributes and associations is a different artefact — </a:t>
            </a:r>
            <a:r>
              <a:rPr lang="en-US" sz="960">
                <a:solidFill>
                  <a:srgbClr val="4A5568"/>
                </a:solidFill>
                <a:latin typeface="Microsoft YaHei"/>
                <a:ea typeface="Microsoft YaHei"/>
              </a:rPr>
              <a:t>Week 06</a:t>
            </a:r>
            <a:r>
              <a:rPr lang="en-US" sz="960">
                <a:solidFill>
                  <a:srgbClr val="4A5568"/>
                </a:solidFill>
                <a:latin typeface="Microsoft YaHei"/>
                <a:ea typeface="Microsoft YaHei"/>
              </a:rPr>
              <a:t>. Resist the urge to draw boxes today.</a:t>
            </a:r>
            <a:endParaRPr/>
          </a:p>
        </p:txBody>
      </p:sp>
      <p:sp>
        <p:nvSpPr>
          <p:cNvPr id="537" name=""/>
          <p:cNvSpPr/>
          <p:nvPr/>
        </p:nvSpPr>
        <p:spPr>
          <a:xfrm rot="0" flipH="0" flipV="0">
            <a:off x="7734300" y="3590925"/>
            <a:ext cx="2933700" cy="1857375"/>
          </a:xfrm>
          <a:prstGeom prst="roundRect">
            <a:avLst>
              <a:gd name="adj" fmla="val 5128"/>
            </a:avLst>
          </a:prstGeom>
          <a:solidFill>
            <a:srgbClr val="F0F5FC"/>
          </a:solidFill>
          <a:ln w="12700">
            <a:solidFill>
              <a:srgbClr val="1E4FA8"/>
            </a:solidFill>
            <a:prstDash val="solid"/>
          </a:ln>
        </p:spPr>
        <p:txBody>
          <a:bodyPr/>
          <a:p/>
        </p:txBody>
      </p:sp>
      <p:pic>
        <p:nvPicPr>
          <p:cNvPr id="538" name=""/>
          <p:cNvPicPr>
            <a:picLocks noChangeAspect="1"/>
          </p:cNvPicPr>
          <p:nvPr/>
        </p:nvPicPr>
        <p:blipFill>
          <a:blip>
            <a:extLst>
              <a:ext uri="{96DAC541-7B7A-43D3-8B79-37D633B846F1}">
                <asvg:svgBlip r:embed="rId3"/>
              </a:ext>
            </a:extLst>
          </a:blip>
          <a:stretch>
            <a:fillRect/>
          </a:stretch>
        </p:blipFill>
        <p:spPr>
          <a:xfrm rot="0" flipH="0" flipV="0">
            <a:off x="7905750" y="3781425"/>
            <a:ext cx="190500" cy="190500"/>
          </a:xfrm>
          <a:prstGeom prst="rect">
            <a:avLst/>
          </a:prstGeom>
          <a:ln/>
        </p:spPr>
      </p:pic>
      <p:sp>
        <p:nvSpPr>
          <p:cNvPr id="539" name="" descr="{&quot;isTemplate&quot;:true,&quot;type&quot;:&quot;text&quot;}"/>
          <p:cNvSpPr txBox="1"/>
          <p:nvPr/>
        </p:nvSpPr>
        <p:spPr>
          <a:xfrm rot="0" flipH="0" flipV="0">
            <a:off x="8172450" y="3781425"/>
            <a:ext cx="2095500" cy="190500"/>
          </a:xfrm>
          <a:prstGeom prst="rect"/>
        </p:spPr>
        <p:txBody>
          <a:bodyPr wrap="none" lIns="0" tIns="0" rIns="0" bIns="0"/>
          <a:p>
            <a:pPr>
              <a:lnSpc>
                <a:spcPct val="100000"/>
              </a:lnSpc>
            </a:pPr>
            <a:r>
              <a:rPr lang="en-US" sz="1200" b="1">
                <a:solidFill>
                  <a:srgbClr val="0E3F8C"/>
                </a:solidFill>
                <a:latin typeface="Microsoft YaHei"/>
                <a:ea typeface="Microsoft YaHei"/>
              </a:rPr>
              <a:t>Next week: you are the client</a:t>
            </a:r>
            <a:endParaRPr/>
          </a:p>
        </p:txBody>
      </p:sp>
      <p:sp>
        <p:nvSpPr>
          <p:cNvPr id="540" name="" descr="{&quot;isTemplate&quot;:true,&quot;type&quot;:&quot;text&quot;}"/>
          <p:cNvSpPr txBox="1"/>
          <p:nvPr/>
        </p:nvSpPr>
        <p:spPr>
          <a:xfrm rot="0" flipH="0" flipV="0">
            <a:off x="7905750" y="4048125"/>
            <a:ext cx="2590800" cy="971550"/>
          </a:xfrm>
          <a:prstGeom prst="rect"/>
        </p:spPr>
        <p:txBody>
          <a:bodyPr wrap="square" lIns="0" tIns="0" rIns="0" bIns="0">
            <a:normAutofit/>
          </a:bodyPr>
          <a:p>
            <a:pPr>
              <a:lnSpc>
                <a:spcPct val="165000"/>
              </a:lnSpc>
            </a:pPr>
            <a:r>
              <a:rPr lang="en-US" sz="960">
                <a:solidFill>
                  <a:srgbClr val="4A5568"/>
                </a:solidFill>
                <a:latin typeface="Microsoft YaHei"/>
                <a:ea typeface="Microsoft YaHei"/>
              </a:rPr>
              <a:t>In Week 05 the instructor plays the client and reviews your pack with you. Bring a diagram you can defend, because the client will ask why “Manage Order” is on it.</a:t>
            </a:r>
            <a:endParaRPr/>
          </a:p>
        </p:txBody>
      </p:sp>
      <p:sp>
        <p:nvSpPr>
          <p:cNvPr id="541" name=""/>
          <p:cNvSpPr/>
          <p:nvPr/>
        </p:nvSpPr>
        <p:spPr>
          <a:xfrm rot="0" flipH="0" flipV="0">
            <a:off x="0" y="6419850"/>
            <a:ext cx="12192000" cy="438150"/>
          </a:xfrm>
          <a:prstGeom prst="rect">
            <a:avLst/>
          </a:prstGeom>
          <a:solidFill>
            <a:srgbClr val="0E3F8C"/>
          </a:solidFill>
          <a:ln/>
        </p:spPr>
        <p:txBody>
          <a:bodyPr/>
          <a:p/>
        </p:txBody>
      </p:sp>
      <p:sp>
        <p:nvSpPr>
          <p:cNvPr id="542" name="" descr="{&quot;isTemplate&quot;:true,&quot;type&quot;:&quot;text&quot;}"/>
          <p:cNvSpPr txBox="1"/>
          <p:nvPr/>
        </p:nvSpPr>
        <p:spPr>
          <a:xfrm rot="0" flipH="0" flipV="0">
            <a:off x="2714625" y="6543675"/>
            <a:ext cx="6772275" cy="190500"/>
          </a:xfrm>
          <a:prstGeom prst="rect"/>
        </p:spPr>
        <p:txBody>
          <a:bodyPr wrap="none" lIns="0" tIns="0" rIns="0" bIns="0"/>
          <a:p>
            <a:pPr>
              <a:lnSpc>
                <a:spcPct val="100000"/>
              </a:lnSpc>
            </a:pPr>
            <a:r>
              <a:rPr lang="en-US" sz="1200" b="1">
                <a:solidFill>
                  <a:srgbClr val="FFFFFF"/>
                </a:solidFill>
                <a:latin typeface="Microsoft YaHei"/>
                <a:ea typeface="Microsoft YaHei"/>
              </a:rPr>
              <a:t>This week you find the goals. Next week you write them down so a stranger could build them.</a:t>
            </a:r>
            <a:endParaRPr/>
          </a:p>
        </p:txBody>
      </p:sp>
    </p:spTree>
  </p:cSld>
</p:sld>
</file>

<file path=ppt/slides/slide30.xml><?xml version="1.0" encoding="utf-8"?>
<p:sld xmlns:a="http://schemas.openxmlformats.org/drawingml/2006/main" xmlns:p="http://schemas.openxmlformats.org/presentationml/2006/main">
  <p:cSld>
    <p:spTree>
      <p:nvGrpSpPr>
        <p:cNvPr id="557" name="" descr="&lt;Slide style={{ background: '#0E3F8C', padding: 0 }}&gt;&#10;  &lt;Box style={{ flexDirection: 'row', height: '100%', position: 'relative' }}&gt;&#10;    &lt;Box style={{ position: 'absolute', top: 0, left: 0, right: 0, height: 8, background: '#1E4FA8' }} /&gt;&#10;    &lt;Box style={{ width: 300, justifyContent: 'center', alignItems: 'center', borderRight: '1px solid #2B5793' }}&gt;&#10;      &lt;Text style={{ fontSize: 220, fontWeight: 'bold', color: '#3D7BD9', fontFamily: 'Georgia, serif', lineHeight: 1 }}&gt;06&lt;/Text&gt;&#10;    &lt;/Box&gt;&#10;    &lt;Box style={{ flex: 1, padding: '70px 64px', flexDirection: 'column', justifyContent: 'center' }}&gt;&#10;      &lt;Text style={{ fontSize: 15, color: '#7FA2D6', letterSpacing: 2, marginBottom: 18 }}&gt;PART 2 · LAB&lt;/Text&gt;&#10;      &lt;Text style={{ fontSize: 44, fontWeight: 'bold', color: '#FFFFFF', lineHeight: 1.18 }}&gt;Exercise 4.1,&lt;br /&gt;4.2 &amp;amp; M1&lt;/Text&gt;&#10;      &lt;Box style={{ width: 64, height: 4, background: '#FFC107', marginTop: 26, marginBottom: 26 }} /&gt;&#10;      &lt;Box style={{ flexDirection: 'column', gap: 12 }}&gt;&#10;        {[&#10;          'Read the narrative, find the actors and the goals',&#10;          'Draw the diagram — one include, one extend',&#10;          'M1 opens today and closes on Sunday 4 October',&#10;        ].map((t) =&gt; (&#10;          &lt;Box key={t} style={{ flexDirection: 'row', alignItems: 'center', gap: 12 }}&gt;&#10;            &lt;Box style={{ width: 8, height: 8, borderRadius: 4, background: '#3D7BD9' }} /&gt;&#10;            &lt;Text style={{ fontSize: 20, color: '#C5D4EA' }}&gt;{t}&lt;/Text&gt;&#10;          &lt;/Box&gt;&#10;        ))}&#10;      &lt;/Box&gt;&#10;    &lt;/Box&gt;&#10;  &lt;/Box&gt;&#10;&lt;/Slide&gt;"/>
        <p:cNvGrpSpPr/>
        <p:nvPr/>
      </p:nvGrpSpPr>
      <p:grpSpPr>
        <a:xfrm>
          <a:off x="0" y="0"/>
          <a:ext cx="0" cy="0"/>
          <a:chOff x="0" y="0"/>
          <a:chExt cx="0" cy="0"/>
        </a:xfrm>
      </p:grpSpPr>
      <p:sp>
        <p:nvSpPr>
          <p:cNvPr id="558" name=""/>
          <p:cNvSpPr/>
          <p:nvPr/>
        </p:nvSpPr>
        <p:spPr>
          <a:xfrm rot="0" flipH="0" flipV="0">
            <a:off x="0" y="0"/>
            <a:ext cx="12192000" cy="6858000"/>
          </a:xfrm>
          <a:prstGeom prst="rect">
            <a:avLst/>
          </a:prstGeom>
          <a:solidFill>
            <a:srgbClr val="0E3F8C"/>
          </a:solidFill>
          <a:ln/>
        </p:spPr>
        <p:txBody>
          <a:bodyPr/>
          <a:p/>
        </p:txBody>
      </p:sp>
      <p:sp>
        <p:nvSpPr>
          <p:cNvPr id="559" name=""/>
          <p:cNvSpPr/>
          <p:nvPr/>
        </p:nvSpPr>
        <p:spPr>
          <a:xfrm rot="0" flipH="0" flipV="0">
            <a:off x="0" y="0"/>
            <a:ext cx="2857500" cy="6858000"/>
          </a:xfrm>
          <a:custGeom>
            <a:pathLst>
              <a:path w="300" h="720">
                <a:moveTo>
                  <a:pt x="299" y="0"/>
                </a:moveTo>
                <a:lnTo>
                  <a:pt x="300" y="0"/>
                </a:lnTo>
                <a:lnTo>
                  <a:pt x="300" y="720"/>
                </a:lnTo>
                <a:lnTo>
                  <a:pt x="299" y="720"/>
                </a:lnTo>
                <a:close/>
              </a:path>
            </a:pathLst>
          </a:custGeom>
          <a:solidFill>
            <a:srgbClr val="2B5793"/>
          </a:solidFill>
          <a:ln/>
        </p:spPr>
        <p:txBody>
          <a:bodyPr/>
          <a:p/>
        </p:txBody>
      </p:sp>
      <p:sp>
        <p:nvSpPr>
          <p:cNvPr id="560" name="" descr="{&quot;isTemplate&quot;:true,&quot;type&quot;:&quot;text&quot;}"/>
          <p:cNvSpPr txBox="1"/>
          <p:nvPr/>
        </p:nvSpPr>
        <p:spPr>
          <a:xfrm rot="0" flipH="0" flipV="0">
            <a:off x="9525" y="2171700"/>
            <a:ext cx="2828925" cy="2514600"/>
          </a:xfrm>
          <a:prstGeom prst="rect"/>
        </p:spPr>
        <p:txBody>
          <a:bodyPr wrap="none" lIns="0" tIns="0" rIns="0" bIns="0"/>
          <a:p>
            <a:pPr>
              <a:lnSpc>
                <a:spcPct val="100000"/>
              </a:lnSpc>
            </a:pPr>
            <a:r>
              <a:rPr lang="en-US" sz="16500" b="1">
                <a:solidFill>
                  <a:srgbClr val="3D7BD9"/>
                </a:solidFill>
                <a:latin typeface="Georgia"/>
                <a:ea typeface="Georgia"/>
              </a:rPr>
              <a:t>06</a:t>
            </a:r>
            <a:endParaRPr/>
          </a:p>
        </p:txBody>
      </p:sp>
      <p:sp>
        <p:nvSpPr>
          <p:cNvPr id="561" name="" descr="{&quot;isTemplate&quot;:true,&quot;type&quot;:&quot;text&quot;}"/>
          <p:cNvSpPr txBox="1"/>
          <p:nvPr/>
        </p:nvSpPr>
        <p:spPr>
          <a:xfrm rot="0" flipH="0" flipV="0">
            <a:off x="3467100" y="1943100"/>
            <a:ext cx="8115300" cy="171450"/>
          </a:xfrm>
          <a:prstGeom prst="rect"/>
        </p:spPr>
        <p:txBody>
          <a:bodyPr wrap="none" lIns="0" tIns="0" rIns="0" bIns="0"/>
          <a:p>
            <a:pPr>
              <a:lnSpc>
                <a:spcPct val="100000"/>
              </a:lnSpc>
            </a:pPr>
            <a:r>
              <a:rPr lang="en-US" sz="1125" spc="150">
                <a:solidFill>
                  <a:srgbClr val="7FA2D6"/>
                </a:solidFill>
                <a:latin typeface="Microsoft YaHei"/>
                <a:ea typeface="Microsoft YaHei"/>
              </a:rPr>
              <a:t>PART 2 · LAB</a:t>
            </a:r>
            <a:endParaRPr/>
          </a:p>
        </p:txBody>
      </p:sp>
      <p:sp>
        <p:nvSpPr>
          <p:cNvPr id="562" name="" descr="{&quot;isTemplate&quot;:true,&quot;type&quot;:&quot;text&quot;}"/>
          <p:cNvSpPr txBox="1"/>
          <p:nvPr/>
        </p:nvSpPr>
        <p:spPr>
          <a:xfrm rot="0" flipH="0" flipV="0">
            <a:off x="3467100" y="2286000"/>
            <a:ext cx="8115300" cy="1190625"/>
          </a:xfrm>
          <a:prstGeom prst="rect"/>
        </p:spPr>
        <p:txBody>
          <a:bodyPr wrap="none" lIns="0" tIns="0" rIns="0" bIns="0"/>
          <a:p>
            <a:pPr>
              <a:lnSpc>
                <a:spcPct val="118000"/>
              </a:lnSpc>
            </a:pPr>
            <a:r>
              <a:rPr lang="en-US" sz="3300" b="1">
                <a:solidFill>
                  <a:srgbClr val="FFFFFF"/>
                </a:solidFill>
                <a:latin typeface="Microsoft YaHei"/>
                <a:ea typeface="Microsoft YaHei"/>
              </a:rPr>
              <a:t>Exercise 4.1,</a:t>
            </a:r>
            <a:endParaRPr/>
          </a:p>
          <a:p>
            <a:pPr>
              <a:lnSpc>
                <a:spcPct val="118000"/>
              </a:lnSpc>
            </a:pPr>
            <a:r>
              <a:rPr lang="en-US" sz="3300" b="1">
                <a:solidFill>
                  <a:srgbClr val="FFFFFF"/>
                </a:solidFill>
                <a:latin typeface="Microsoft YaHei"/>
                <a:ea typeface="Microsoft YaHei"/>
              </a:rPr>
              <a:t>4.2 &amp; M1</a:t>
            </a:r>
            <a:endParaRPr/>
          </a:p>
        </p:txBody>
      </p:sp>
      <p:sp>
        <p:nvSpPr>
          <p:cNvPr id="563" name=""/>
          <p:cNvSpPr/>
          <p:nvPr/>
        </p:nvSpPr>
        <p:spPr>
          <a:xfrm rot="0" flipH="0" flipV="0">
            <a:off x="3467100" y="3724275"/>
            <a:ext cx="609600" cy="38100"/>
          </a:xfrm>
          <a:prstGeom prst="rect">
            <a:avLst/>
          </a:prstGeom>
          <a:solidFill>
            <a:srgbClr val="FFC107"/>
          </a:solidFill>
          <a:ln/>
        </p:spPr>
        <p:txBody>
          <a:bodyPr/>
          <a:p/>
        </p:txBody>
      </p:sp>
      <p:sp>
        <p:nvSpPr>
          <p:cNvPr id="564" name=""/>
          <p:cNvSpPr/>
          <p:nvPr/>
        </p:nvSpPr>
        <p:spPr>
          <a:xfrm rot="0" flipH="0" flipV="0">
            <a:off x="3467100" y="4086225"/>
            <a:ext cx="76200" cy="76200"/>
          </a:xfrm>
          <a:prstGeom prst="roundRect">
            <a:avLst>
              <a:gd name="adj" fmla="val 50000"/>
            </a:avLst>
          </a:prstGeom>
          <a:solidFill>
            <a:srgbClr val="3D7BD9"/>
          </a:solidFill>
          <a:ln/>
        </p:spPr>
        <p:txBody>
          <a:bodyPr/>
          <a:p/>
        </p:txBody>
      </p:sp>
      <p:sp>
        <p:nvSpPr>
          <p:cNvPr id="565" name="" descr="{&quot;isTemplate&quot;:true,&quot;type&quot;:&quot;text&quot;}"/>
          <p:cNvSpPr txBox="1"/>
          <p:nvPr/>
        </p:nvSpPr>
        <p:spPr>
          <a:xfrm rot="0" flipH="0" flipV="0">
            <a:off x="3657600" y="4010025"/>
            <a:ext cx="4067175" cy="228600"/>
          </a:xfrm>
          <a:prstGeom prst="rect"/>
        </p:spPr>
        <p:txBody>
          <a:bodyPr wrap="none" lIns="0" tIns="0" rIns="0" bIns="0"/>
          <a:p>
            <a:pPr>
              <a:lnSpc>
                <a:spcPct val="100000"/>
              </a:lnSpc>
            </a:pPr>
            <a:r>
              <a:rPr lang="en-US" sz="1500">
                <a:solidFill>
                  <a:srgbClr val="C5D4EA"/>
                </a:solidFill>
                <a:latin typeface="Microsoft YaHei"/>
                <a:ea typeface="Microsoft YaHei"/>
              </a:rPr>
              <a:t>Read the narrative, find the actors and the goals</a:t>
            </a:r>
            <a:endParaRPr/>
          </a:p>
        </p:txBody>
      </p:sp>
      <p:sp>
        <p:nvSpPr>
          <p:cNvPr id="566" name=""/>
          <p:cNvSpPr/>
          <p:nvPr/>
        </p:nvSpPr>
        <p:spPr>
          <a:xfrm rot="0" flipH="0" flipV="0">
            <a:off x="3467100" y="4429125"/>
            <a:ext cx="76200" cy="76200"/>
          </a:xfrm>
          <a:prstGeom prst="roundRect">
            <a:avLst>
              <a:gd name="adj" fmla="val 50000"/>
            </a:avLst>
          </a:prstGeom>
          <a:solidFill>
            <a:srgbClr val="3D7BD9"/>
          </a:solidFill>
          <a:ln/>
        </p:spPr>
        <p:txBody>
          <a:bodyPr/>
          <a:p/>
        </p:txBody>
      </p:sp>
      <p:sp>
        <p:nvSpPr>
          <p:cNvPr id="567" name="" descr="{&quot;isTemplate&quot;:true,&quot;type&quot;:&quot;text&quot;}"/>
          <p:cNvSpPr txBox="1"/>
          <p:nvPr/>
        </p:nvSpPr>
        <p:spPr>
          <a:xfrm rot="0" flipH="0" flipV="0">
            <a:off x="3657600" y="4352925"/>
            <a:ext cx="3829050" cy="228600"/>
          </a:xfrm>
          <a:prstGeom prst="rect"/>
        </p:spPr>
        <p:txBody>
          <a:bodyPr wrap="none" lIns="0" tIns="0" rIns="0" bIns="0"/>
          <a:p>
            <a:pPr>
              <a:lnSpc>
                <a:spcPct val="100000"/>
              </a:lnSpc>
            </a:pPr>
            <a:r>
              <a:rPr lang="en-US" sz="1500">
                <a:solidFill>
                  <a:srgbClr val="C5D4EA"/>
                </a:solidFill>
                <a:latin typeface="Microsoft YaHei"/>
                <a:ea typeface="Microsoft YaHei"/>
              </a:rPr>
              <a:t>Draw the diagram — one include, one extend</a:t>
            </a:r>
            <a:endParaRPr/>
          </a:p>
        </p:txBody>
      </p:sp>
      <p:sp>
        <p:nvSpPr>
          <p:cNvPr id="568" name=""/>
          <p:cNvSpPr/>
          <p:nvPr/>
        </p:nvSpPr>
        <p:spPr>
          <a:xfrm rot="0" flipH="0" flipV="0">
            <a:off x="3467100" y="4772025"/>
            <a:ext cx="76200" cy="76200"/>
          </a:xfrm>
          <a:prstGeom prst="roundRect">
            <a:avLst>
              <a:gd name="adj" fmla="val 50000"/>
            </a:avLst>
          </a:prstGeom>
          <a:solidFill>
            <a:srgbClr val="3D7BD9"/>
          </a:solidFill>
          <a:ln/>
        </p:spPr>
        <p:txBody>
          <a:bodyPr/>
          <a:p/>
        </p:txBody>
      </p:sp>
      <p:sp>
        <p:nvSpPr>
          <p:cNvPr id="569" name="" descr="{&quot;isTemplate&quot;:true,&quot;type&quot;:&quot;text&quot;}"/>
          <p:cNvSpPr txBox="1"/>
          <p:nvPr/>
        </p:nvSpPr>
        <p:spPr>
          <a:xfrm rot="0" flipH="0" flipV="0">
            <a:off x="3657600" y="4695825"/>
            <a:ext cx="4181475" cy="228600"/>
          </a:xfrm>
          <a:prstGeom prst="rect"/>
        </p:spPr>
        <p:txBody>
          <a:bodyPr wrap="none" lIns="0" tIns="0" rIns="0" bIns="0"/>
          <a:p>
            <a:pPr>
              <a:lnSpc>
                <a:spcPct val="100000"/>
              </a:lnSpc>
            </a:pPr>
            <a:r>
              <a:rPr lang="en-US" sz="1500">
                <a:solidFill>
                  <a:srgbClr val="C5D4EA"/>
                </a:solidFill>
                <a:latin typeface="Microsoft YaHei"/>
                <a:ea typeface="Microsoft YaHei"/>
              </a:rPr>
              <a:t>M1 opens today and closes on Sunday 4 October</a:t>
            </a:r>
            <a:endParaRPr/>
          </a:p>
        </p:txBody>
      </p:sp>
      <p:sp>
        <p:nvSpPr>
          <p:cNvPr id="570" name=""/>
          <p:cNvSpPr/>
          <p:nvPr/>
        </p:nvSpPr>
        <p:spPr>
          <a:xfrm rot="0" flipH="0" flipV="0">
            <a:off x="0" y="0"/>
            <a:ext cx="12192000" cy="76200"/>
          </a:xfrm>
          <a:prstGeom prst="rect">
            <a:avLst/>
          </a:prstGeom>
          <a:solidFill>
            <a:srgbClr val="1E4FA8"/>
          </a:solidFill>
          <a:ln/>
        </p:spPr>
        <p:txBody>
          <a:bodyPr/>
          <a:p/>
        </p:txBody>
      </p:sp>
    </p:spTree>
  </p:cSld>
</p:sld>
</file>

<file path=ppt/slides/slide31.xml><?xml version="1.0" encoding="utf-8"?>
<p:sld xmlns:a="http://schemas.openxmlformats.org/drawingml/2006/main" xmlns:p="http://schemas.openxmlformats.org/presentationml/2006/main">
  <p:cSld>
    <p:spTree>
      <p:nvGrpSpPr>
        <p:cNvPr id="571" name="" descr="&lt;Slide style={{ background: '#FFFFFF', padding: 0 }}&gt;&#10;  &lt;Box style={{ height: 72, background: '#1E4FA8', padding: '0 40px', flexDirection: 'row', alignItems: 'center', justifyContent: 'space-between' }}&gt;&#10;    &lt;Text style={{ fontSize: 15, color: '#B9CDF0', letterSpacing: 1 }}&gt;ISAD · INFORMATION SYSTEMS ANALYSIS &amp;amp; DESIGN&lt;/Text&gt;&#10;    &lt;Text style={{ fontSize: 15, color: '#B9CDF0' }}&gt;W04 · LAB · EXERCISE 4.1&lt;/Text&gt;&#10;  &lt;/Box&gt;&#10;  &lt;Box style={{ padding: '14px 40px 0 40px', flexDirection: 'row', alignItems: 'center', justifyContent: 'space-between' }}&gt;&#10;    &lt;Text style={{ fontSize: 29, fontWeight: 'bold', color: '#0E3F8C' }}&gt;Exercise 4.1 — The Narrative&lt;/Text&gt;&#10;    &lt;Text style={{ fontSize: 14, color: '#1E4FA8', fontWeight: 'bold' }}&gt;31 / 38&lt;/Text&gt;&#10;  &lt;/Box&gt;&#10;  &lt;Box style={{ flex: 1, padding: '10px 40px 0 40px', flexDirection: 'row', gap: 26 }}&gt;&#10;    &lt;Box style={{ flex: 5, justifyContent: 'center' }}&gt;&#10;      &lt;CodeBlock theme='one-dark-pro' code={`CampusBites — Requirements Pack, section 2.1 (extract)&#10;&#10;Students on the Dalian campus order lunch from the&#10;restaurants on campus. A student opens the app, browses&#10;today's menu of a restaurant, selects items, and places&#10;an order. The system authenticates the student against&#10;the campus card centre, calculates the total, and&#10;charges the campus card, a wallet, or cash on delivery.&#10;&#10;Restaurant staff keep the menu current. A manager marks&#10;an item sold out before service starts; the kitchen&#10;receives the order on a wall tablet. When an order is&#10;ready, a dispatcher assigns a courier. The courier picks&#10;up the order, delivers it to the student, and confirms&#10;the delivery in the app.&#10;&#10;After delivery the student may rate the restaurant and&#10;the courier. The platform administrator can suspend a&#10;restaurant that receives three ratings below two stars&#10;in one week. Every evening at 23:00 the system closes&#10;the day and emails a sales report to each restaurant.`} language='text' /&gt;&#10;    &lt;/Box&gt;&#10;    &lt;Box style={{ flex: 2, flexDirection: 'column', justifyContent: 'center', gap: 12 }}&gt;&#10;      &lt;Box style={{ padding: '15px 17px', background: '#F0F5FC', borderRadius: 9, borderLeft: '4px solid #1E4FA8' }}&gt;&#10;        &lt;Text style={{ fontSize: 15.5, fontWeight: 'bold', color: '#0E3F8C' }}&gt;This is real&lt;/Text&gt;&#10;        &lt;Text style={{ fontSize: 12.8, color: '#4A5568', lineHeight: 1.6, marginTop: 5 }}&gt;&#10;          This is the extract your team has in the pack. The full version has four more paragraphs; the lab works on this one.&#10;        &lt;/Text&gt;&#10;      &lt;/Box&gt;&#10;      &lt;Box style={{ padding: '15px 17px', background: '#FFF6E0', borderRadius: 9, borderLeft: '4px solid #FFC107' }}&gt;&#10;        &lt;Text style={{ fontSize: 15.5, fontWeight: 'bold', color: '#996F00' }}&gt;Read it twice&lt;/Text&gt;&#10;        &lt;Text style={{ fontSize: 12.8, color: '#4A5568', lineHeight: 1.6, marginTop: 5 }}&gt;&#10;          First time for the story. Second time with a pen, marking nouns and verbs as we did on page 27.&#10;        &lt;/Text&gt;&#10;      &lt;/Box&gt;&#10;      &lt;Box style={{ padding: '15px 17px', background: '#FFFFFF', borderRadius: 9, border: '1px dashed #D6DCE5' }}&gt;&#10;        &lt;Text style={{ fontSize: 12.8, color: '#8B97A8', lineHeight: 1.6 }}&gt;&#10;          Do not start drawing yet. A diagram drawn from a half-read paragraph has to be drawn twice.&#10;        &lt;/Text&gt;&#10;      &lt;/Box&gt;&#10;    &lt;/Box&gt;&#10;  &lt;/Box&gt;&#10;  &lt;Box style={{ height: 46, background: '#0E3F8C', padding: '0 40px', flexDirection: 'row', alignItems: 'center', justifyContent: 'center' }}&gt;&#10;    &lt;Text style={{ fontSize: 16, color: '#FFFFFF', fontWeight: '600' }}&gt;Fifteen minutes with the text. It is the cheapest fifteen minutes you will spend this week.&lt;/Text&gt;&#10;  &lt;/Box&gt;&#10;&lt;/Slide&gt;"/>
        <p:cNvGrpSpPr/>
        <p:nvPr/>
      </p:nvGrpSpPr>
      <p:grpSpPr>
        <a:xfrm>
          <a:off x="0" y="0"/>
          <a:ext cx="0" cy="0"/>
          <a:chOff x="0" y="0"/>
          <a:chExt cx="0" cy="0"/>
        </a:xfrm>
      </p:grpSpPr>
      <p:sp>
        <p:nvSpPr>
          <p:cNvPr id="572" name=""/>
          <p:cNvSpPr/>
          <p:nvPr/>
        </p:nvSpPr>
        <p:spPr>
          <a:xfrm rot="0" flipH="0" flipV="0">
            <a:off x="0" y="0"/>
            <a:ext cx="12192000" cy="6858000"/>
          </a:xfrm>
          <a:prstGeom prst="rect">
            <a:avLst/>
          </a:prstGeom>
          <a:solidFill>
            <a:srgbClr val="FFFFFF"/>
          </a:solidFill>
          <a:ln/>
        </p:spPr>
        <p:txBody>
          <a:bodyPr/>
          <a:p/>
        </p:txBody>
      </p:sp>
      <p:sp>
        <p:nvSpPr>
          <p:cNvPr id="573" name=""/>
          <p:cNvSpPr/>
          <p:nvPr/>
        </p:nvSpPr>
        <p:spPr>
          <a:xfrm rot="0" flipH="0" flipV="0">
            <a:off x="0" y="0"/>
            <a:ext cx="12192000" cy="685800"/>
          </a:xfrm>
          <a:prstGeom prst="rect">
            <a:avLst/>
          </a:prstGeom>
          <a:solidFill>
            <a:srgbClr val="1E4FA8"/>
          </a:solidFill>
          <a:ln/>
        </p:spPr>
        <p:txBody>
          <a:bodyPr/>
          <a:p/>
        </p:txBody>
      </p:sp>
      <p:sp>
        <p:nvSpPr>
          <p:cNvPr id="574" name="" descr="{&quot;isTemplate&quot;:true,&quot;type&quot;:&quot;text&quot;}"/>
          <p:cNvSpPr txBox="1"/>
          <p:nvPr/>
        </p:nvSpPr>
        <p:spPr>
          <a:xfrm rot="0" flipH="0" flipV="0">
            <a:off x="381000" y="257175"/>
            <a:ext cx="4067175" cy="171450"/>
          </a:xfrm>
          <a:prstGeom prst="rect"/>
        </p:spPr>
        <p:txBody>
          <a:bodyPr wrap="none" lIns="0" tIns="0" rIns="0" bIns="0"/>
          <a:p>
            <a:pPr>
              <a:lnSpc>
                <a:spcPct val="100000"/>
              </a:lnSpc>
            </a:pPr>
            <a:r>
              <a:rPr lang="en-US" sz="1125" spc="75">
                <a:solidFill>
                  <a:srgbClr val="B9CDF0"/>
                </a:solidFill>
                <a:latin typeface="Microsoft YaHei"/>
                <a:ea typeface="Microsoft YaHei"/>
              </a:rPr>
              <a:t>ISAD · INFORMATION SYSTEMS ANALYSIS &amp; DESIGN</a:t>
            </a:r>
            <a:endParaRPr/>
          </a:p>
        </p:txBody>
      </p:sp>
      <p:sp>
        <p:nvSpPr>
          <p:cNvPr id="575" name="" descr="{&quot;isTemplate&quot;:true,&quot;type&quot;:&quot;text&quot;}"/>
          <p:cNvSpPr txBox="1"/>
          <p:nvPr/>
        </p:nvSpPr>
        <p:spPr>
          <a:xfrm rot="0" flipH="0" flipV="0">
            <a:off x="10029825" y="257175"/>
            <a:ext cx="1781175" cy="171450"/>
          </a:xfrm>
          <a:prstGeom prst="rect"/>
        </p:spPr>
        <p:txBody>
          <a:bodyPr wrap="none" lIns="0" tIns="0" rIns="0" bIns="0"/>
          <a:p>
            <a:pPr>
              <a:lnSpc>
                <a:spcPct val="100000"/>
              </a:lnSpc>
            </a:pPr>
            <a:r>
              <a:rPr lang="en-US" sz="1125">
                <a:solidFill>
                  <a:srgbClr val="B9CDF0"/>
                </a:solidFill>
                <a:latin typeface="Microsoft YaHei"/>
                <a:ea typeface="Microsoft YaHei"/>
              </a:rPr>
              <a:t>W04 · LAB · EXERCISE 4.1</a:t>
            </a:r>
            <a:endParaRPr/>
          </a:p>
        </p:txBody>
      </p:sp>
      <p:sp>
        <p:nvSpPr>
          <p:cNvPr id="576" name="" descr="{&quot;isTemplate&quot;:true,&quot;type&quot;:&quot;text&quot;}"/>
          <p:cNvSpPr txBox="1"/>
          <p:nvPr/>
        </p:nvSpPr>
        <p:spPr>
          <a:xfrm rot="0" flipH="0" flipV="0">
            <a:off x="381000" y="819150"/>
            <a:ext cx="3800475" cy="333375"/>
          </a:xfrm>
          <a:prstGeom prst="rect"/>
        </p:spPr>
        <p:txBody>
          <a:bodyPr wrap="none" lIns="0" tIns="0" rIns="0" bIns="0"/>
          <a:p>
            <a:pPr>
              <a:lnSpc>
                <a:spcPct val="100000"/>
              </a:lnSpc>
            </a:pPr>
            <a:r>
              <a:rPr lang="en-US" sz="2175" b="1">
                <a:solidFill>
                  <a:srgbClr val="0E3F8C"/>
                </a:solidFill>
                <a:latin typeface="Microsoft YaHei"/>
                <a:ea typeface="Microsoft YaHei"/>
              </a:rPr>
              <a:t>Exercise 4.1 — The Narrative</a:t>
            </a:r>
            <a:endParaRPr/>
          </a:p>
        </p:txBody>
      </p:sp>
      <p:sp>
        <p:nvSpPr>
          <p:cNvPr id="577" name="" descr="{&quot;isTemplate&quot;:true,&quot;type&quot;:&quot;text&quot;}"/>
          <p:cNvSpPr txBox="1"/>
          <p:nvPr/>
        </p:nvSpPr>
        <p:spPr>
          <a:xfrm rot="0" flipH="0" flipV="0">
            <a:off x="11401425" y="904875"/>
            <a:ext cx="409575" cy="161925"/>
          </a:xfrm>
          <a:prstGeom prst="rect"/>
        </p:spPr>
        <p:txBody>
          <a:bodyPr wrap="none" lIns="0" tIns="0" rIns="0" bIns="0"/>
          <a:p>
            <a:pPr>
              <a:lnSpc>
                <a:spcPct val="100000"/>
              </a:lnSpc>
            </a:pPr>
            <a:r>
              <a:rPr lang="en-US" sz="1050" b="1">
                <a:solidFill>
                  <a:srgbClr val="1E4FA8"/>
                </a:solidFill>
                <a:latin typeface="Microsoft YaHei"/>
                <a:ea typeface="Microsoft YaHei"/>
              </a:rPr>
              <a:t>31 / 38</a:t>
            </a:r>
            <a:endParaRPr/>
          </a:p>
        </p:txBody>
      </p:sp>
      <p:sp>
        <p:nvSpPr>
          <p:cNvPr id="578" name=""/>
          <p:cNvSpPr/>
          <p:nvPr/>
        </p:nvSpPr>
        <p:spPr>
          <a:xfrm rot="0" flipH="0" flipV="0">
            <a:off x="8658225" y="2238375"/>
            <a:ext cx="3190875" cy="1219200"/>
          </a:xfrm>
          <a:prstGeom prst="roundRect">
            <a:avLst>
              <a:gd name="adj" fmla="val 7031"/>
            </a:avLst>
          </a:prstGeom>
          <a:solidFill>
            <a:srgbClr val="F0F5FC"/>
          </a:solidFill>
          <a:ln/>
        </p:spPr>
        <p:txBody>
          <a:bodyPr/>
          <a:p/>
        </p:txBody>
      </p:sp>
      <p:sp>
        <p:nvSpPr>
          <p:cNvPr id="579" name=""/>
          <p:cNvSpPr/>
          <p:nvPr/>
        </p:nvSpPr>
        <p:spPr>
          <a:xfrm rot="0" flipH="0" flipV="0">
            <a:off x="8658225" y="2238375"/>
            <a:ext cx="3190875" cy="1219200"/>
          </a:xfrm>
          <a:custGeom>
            <a:pathLst>
              <a:path w="335" h="128">
                <a:moveTo>
                  <a:pt x="9" y="0"/>
                </a:moveTo>
                <a:cubicBezTo>
                  <a:pt x="6" y="0"/>
                  <a:pt x="4" y="2"/>
                  <a:pt x="4" y="5"/>
                </a:cubicBezTo>
                <a:lnTo>
                  <a:pt x="4" y="123"/>
                </a:lnTo>
                <a:cubicBezTo>
                  <a:pt x="4" y="125"/>
                  <a:pt x="6" y="127"/>
                  <a:pt x="8" y="128"/>
                </a:cubicBezTo>
                <a:cubicBezTo>
                  <a:pt x="4" y="128"/>
                  <a:pt x="0" y="124"/>
                  <a:pt x="0" y="119"/>
                </a:cubicBezTo>
                <a:lnTo>
                  <a:pt x="0" y="9"/>
                </a:lnTo>
                <a:cubicBezTo>
                  <a:pt x="0" y="4"/>
                  <a:pt x="4" y="0"/>
                  <a:pt x="9" y="0"/>
                </a:cubicBezTo>
                <a:close/>
              </a:path>
            </a:pathLst>
          </a:custGeom>
          <a:solidFill>
            <a:srgbClr val="1E4FA8"/>
          </a:solidFill>
          <a:ln/>
        </p:spPr>
        <p:txBody>
          <a:bodyPr/>
          <a:p/>
        </p:txBody>
      </p:sp>
      <p:sp>
        <p:nvSpPr>
          <p:cNvPr id="580" name="" descr="{&quot;isTemplate&quot;:true,&quot;type&quot;:&quot;text&quot;}"/>
          <p:cNvSpPr txBox="1"/>
          <p:nvPr/>
        </p:nvSpPr>
        <p:spPr>
          <a:xfrm rot="0" flipH="0" flipV="0">
            <a:off x="8820150" y="2381250"/>
            <a:ext cx="2828925" cy="180975"/>
          </a:xfrm>
          <a:prstGeom prst="rect"/>
        </p:spPr>
        <p:txBody>
          <a:bodyPr wrap="none" lIns="0" tIns="0" rIns="0" bIns="0"/>
          <a:p>
            <a:pPr>
              <a:lnSpc>
                <a:spcPct val="100000"/>
              </a:lnSpc>
            </a:pPr>
            <a:r>
              <a:rPr lang="en-US" sz="1163" b="1">
                <a:solidFill>
                  <a:srgbClr val="0E3F8C"/>
                </a:solidFill>
                <a:latin typeface="Microsoft YaHei"/>
                <a:ea typeface="Microsoft YaHei"/>
              </a:rPr>
              <a:t>This is real</a:t>
            </a:r>
            <a:endParaRPr/>
          </a:p>
        </p:txBody>
      </p:sp>
      <p:sp>
        <p:nvSpPr>
          <p:cNvPr id="581" name="" descr="{&quot;isTemplate&quot;:true,&quot;type&quot;:&quot;text&quot;}"/>
          <p:cNvSpPr txBox="1"/>
          <p:nvPr/>
        </p:nvSpPr>
        <p:spPr>
          <a:xfrm rot="0" flipH="0" flipV="0">
            <a:off x="8820150" y="2609850"/>
            <a:ext cx="2828925" cy="704850"/>
          </a:xfrm>
          <a:prstGeom prst="rect"/>
        </p:spPr>
        <p:txBody>
          <a:bodyPr wrap="square" lIns="0" tIns="0" rIns="0" bIns="0">
            <a:normAutofit/>
          </a:bodyPr>
          <a:p>
            <a:pPr>
              <a:lnSpc>
                <a:spcPct val="160000"/>
              </a:lnSpc>
            </a:pPr>
            <a:r>
              <a:rPr lang="en-US" sz="960">
                <a:solidFill>
                  <a:srgbClr val="4A5568"/>
                </a:solidFill>
                <a:latin typeface="Microsoft YaHei"/>
                <a:ea typeface="Microsoft YaHei"/>
              </a:rPr>
              <a:t>This is the extract your team has in the pack. The full version has four more paragraphs; the lab works on this one.</a:t>
            </a:r>
            <a:endParaRPr/>
          </a:p>
        </p:txBody>
      </p:sp>
      <p:sp>
        <p:nvSpPr>
          <p:cNvPr id="582" name=""/>
          <p:cNvSpPr/>
          <p:nvPr/>
        </p:nvSpPr>
        <p:spPr>
          <a:xfrm rot="0" flipH="0" flipV="0">
            <a:off x="8658225" y="3571875"/>
            <a:ext cx="3190875" cy="990600"/>
          </a:xfrm>
          <a:prstGeom prst="roundRect">
            <a:avLst>
              <a:gd name="adj" fmla="val 8654"/>
            </a:avLst>
          </a:prstGeom>
          <a:solidFill>
            <a:srgbClr val="FFF6E0"/>
          </a:solidFill>
          <a:ln/>
        </p:spPr>
        <p:txBody>
          <a:bodyPr/>
          <a:p/>
        </p:txBody>
      </p:sp>
      <p:sp>
        <p:nvSpPr>
          <p:cNvPr id="583" name=""/>
          <p:cNvSpPr/>
          <p:nvPr/>
        </p:nvSpPr>
        <p:spPr>
          <a:xfrm rot="0" flipH="0" flipV="0">
            <a:off x="8658225" y="3571875"/>
            <a:ext cx="3190875" cy="990600"/>
          </a:xfrm>
          <a:custGeom>
            <a:pathLst>
              <a:path w="335" h="104">
                <a:moveTo>
                  <a:pt x="9" y="0"/>
                </a:moveTo>
                <a:cubicBezTo>
                  <a:pt x="6" y="0"/>
                  <a:pt x="4" y="2"/>
                  <a:pt x="4" y="5"/>
                </a:cubicBezTo>
                <a:lnTo>
                  <a:pt x="4" y="99"/>
                </a:lnTo>
                <a:cubicBezTo>
                  <a:pt x="4" y="101"/>
                  <a:pt x="6" y="103"/>
                  <a:pt x="8" y="104"/>
                </a:cubicBezTo>
                <a:cubicBezTo>
                  <a:pt x="4" y="104"/>
                  <a:pt x="0" y="100"/>
                  <a:pt x="0" y="95"/>
                </a:cubicBezTo>
                <a:lnTo>
                  <a:pt x="0" y="9"/>
                </a:lnTo>
                <a:cubicBezTo>
                  <a:pt x="0" y="4"/>
                  <a:pt x="4" y="0"/>
                  <a:pt x="9" y="0"/>
                </a:cubicBezTo>
                <a:close/>
              </a:path>
            </a:pathLst>
          </a:custGeom>
          <a:solidFill>
            <a:srgbClr val="FFC107"/>
          </a:solidFill>
          <a:ln/>
        </p:spPr>
        <p:txBody>
          <a:bodyPr/>
          <a:p/>
        </p:txBody>
      </p:sp>
      <p:sp>
        <p:nvSpPr>
          <p:cNvPr id="584" name="" descr="{&quot;isTemplate&quot;:true,&quot;type&quot;:&quot;text&quot;}"/>
          <p:cNvSpPr txBox="1"/>
          <p:nvPr/>
        </p:nvSpPr>
        <p:spPr>
          <a:xfrm rot="0" flipH="0" flipV="0">
            <a:off x="8820150" y="3714750"/>
            <a:ext cx="2828925" cy="180975"/>
          </a:xfrm>
          <a:prstGeom prst="rect"/>
        </p:spPr>
        <p:txBody>
          <a:bodyPr wrap="none" lIns="0" tIns="0" rIns="0" bIns="0"/>
          <a:p>
            <a:pPr>
              <a:lnSpc>
                <a:spcPct val="100000"/>
              </a:lnSpc>
            </a:pPr>
            <a:r>
              <a:rPr lang="en-US" sz="1163" b="1">
                <a:solidFill>
                  <a:srgbClr val="996F00"/>
                </a:solidFill>
                <a:latin typeface="Microsoft YaHei"/>
                <a:ea typeface="Microsoft YaHei"/>
              </a:rPr>
              <a:t>Read it twice</a:t>
            </a:r>
            <a:endParaRPr/>
          </a:p>
        </p:txBody>
      </p:sp>
      <p:sp>
        <p:nvSpPr>
          <p:cNvPr id="585" name="" descr="{&quot;isTemplate&quot;:true,&quot;type&quot;:&quot;text&quot;}"/>
          <p:cNvSpPr txBox="1"/>
          <p:nvPr/>
        </p:nvSpPr>
        <p:spPr>
          <a:xfrm rot="0" flipH="0" flipV="0">
            <a:off x="8820150" y="3943350"/>
            <a:ext cx="2828925" cy="476250"/>
          </a:xfrm>
          <a:prstGeom prst="rect"/>
        </p:spPr>
        <p:txBody>
          <a:bodyPr wrap="square" lIns="0" tIns="0" rIns="0" bIns="0">
            <a:normAutofit/>
          </a:bodyPr>
          <a:p>
            <a:pPr>
              <a:lnSpc>
                <a:spcPct val="160000"/>
              </a:lnSpc>
            </a:pPr>
            <a:r>
              <a:rPr lang="en-US" sz="960">
                <a:solidFill>
                  <a:srgbClr val="4A5568"/>
                </a:solidFill>
                <a:latin typeface="Microsoft YaHei"/>
                <a:ea typeface="Microsoft YaHei"/>
              </a:rPr>
              <a:t>First time for the story. Second time with a pen, marking nouns and verbs as we did on page 27.</a:t>
            </a:r>
            <a:endParaRPr/>
          </a:p>
        </p:txBody>
      </p:sp>
      <p:sp>
        <p:nvSpPr>
          <p:cNvPr id="586" name=""/>
          <p:cNvSpPr/>
          <p:nvPr/>
        </p:nvSpPr>
        <p:spPr>
          <a:xfrm rot="0" flipH="0" flipV="0">
            <a:off x="8620125" y="4676775"/>
            <a:ext cx="3190875" cy="762000"/>
          </a:xfrm>
          <a:prstGeom prst="roundRect">
            <a:avLst>
              <a:gd name="adj" fmla="val 11250"/>
            </a:avLst>
          </a:prstGeom>
          <a:solidFill>
            <a:srgbClr val="FFFFFF"/>
          </a:solidFill>
          <a:ln w="12700">
            <a:solidFill>
              <a:srgbClr val="D6DCE5"/>
            </a:solidFill>
            <a:prstDash val="dash"/>
          </a:ln>
        </p:spPr>
        <p:txBody>
          <a:bodyPr/>
          <a:p/>
        </p:txBody>
      </p:sp>
      <p:sp>
        <p:nvSpPr>
          <p:cNvPr id="587" name="" descr="{&quot;isTemplate&quot;:true,&quot;type&quot;:&quot;text&quot;}"/>
          <p:cNvSpPr txBox="1"/>
          <p:nvPr/>
        </p:nvSpPr>
        <p:spPr>
          <a:xfrm rot="0" flipH="0" flipV="0">
            <a:off x="8782050" y="4819650"/>
            <a:ext cx="2867025" cy="476250"/>
          </a:xfrm>
          <a:prstGeom prst="rect"/>
        </p:spPr>
        <p:txBody>
          <a:bodyPr wrap="square" lIns="0" tIns="0" rIns="0" bIns="0">
            <a:normAutofit/>
          </a:bodyPr>
          <a:p>
            <a:pPr>
              <a:lnSpc>
                <a:spcPct val="160000"/>
              </a:lnSpc>
            </a:pPr>
            <a:r>
              <a:rPr lang="en-US" sz="960">
                <a:solidFill>
                  <a:srgbClr val="8B97A8"/>
                </a:solidFill>
                <a:latin typeface="Microsoft YaHei"/>
                <a:ea typeface="Microsoft YaHei"/>
              </a:rPr>
              <a:t>Do not start drawing yet. A diagram drawn from a half-read paragraph has to be drawn twice.</a:t>
            </a:r>
            <a:endParaRPr/>
          </a:p>
        </p:txBody>
      </p:sp>
      <p:sp>
        <p:nvSpPr>
          <p:cNvPr id="588" name=""/>
          <p:cNvSpPr/>
          <p:nvPr/>
        </p:nvSpPr>
        <p:spPr>
          <a:xfrm rot="0" flipH="0" flipV="0">
            <a:off x="0" y="6419850"/>
            <a:ext cx="12192000" cy="438150"/>
          </a:xfrm>
          <a:prstGeom prst="rect">
            <a:avLst/>
          </a:prstGeom>
          <a:solidFill>
            <a:srgbClr val="0E3F8C"/>
          </a:solidFill>
          <a:ln/>
        </p:spPr>
        <p:txBody>
          <a:bodyPr/>
          <a:p/>
        </p:txBody>
      </p:sp>
      <p:sp>
        <p:nvSpPr>
          <p:cNvPr id="589" name="" descr="{&quot;isTemplate&quot;:true,&quot;type&quot;:&quot;text&quot;}"/>
          <p:cNvSpPr txBox="1"/>
          <p:nvPr/>
        </p:nvSpPr>
        <p:spPr>
          <a:xfrm rot="0" flipH="0" flipV="0">
            <a:off x="2914650" y="6543675"/>
            <a:ext cx="6372225" cy="190500"/>
          </a:xfrm>
          <a:prstGeom prst="rect"/>
        </p:spPr>
        <p:txBody>
          <a:bodyPr wrap="none" lIns="0" tIns="0" rIns="0" bIns="0"/>
          <a:p>
            <a:pPr>
              <a:lnSpc>
                <a:spcPct val="100000"/>
              </a:lnSpc>
            </a:pPr>
            <a:r>
              <a:rPr lang="en-US" sz="1200" b="1">
                <a:solidFill>
                  <a:srgbClr val="FFFFFF"/>
                </a:solidFill>
                <a:latin typeface="Microsoft YaHei"/>
                <a:ea typeface="Microsoft YaHei"/>
              </a:rPr>
              <a:t>Fifteen minutes with the text. It is the cheapest fifteen minutes you will spend this week.</a:t>
            </a:r>
            <a:endParaRPr/>
          </a:p>
        </p:txBody>
      </p:sp>
      <p:sp>
        <p:nvSpPr>
          <p:cNvPr id="590" name=""/>
          <p:cNvSpPr/>
          <p:nvPr/>
        </p:nvSpPr>
        <p:spPr>
          <a:xfrm rot="0" flipH="0" flipV="0">
            <a:off x="381000" y="2257425"/>
            <a:ext cx="7991475" cy="3152775"/>
          </a:xfrm>
          <a:prstGeom prst="roundRect">
            <a:avLst>
              <a:gd name="adj" fmla="val 2417"/>
            </a:avLst>
          </a:prstGeom>
          <a:solidFill>
            <a:srgbClr val="0E1116"/>
          </a:solidFill>
          <a:ln/>
        </p:spPr>
        <p:txBody>
          <a:bodyPr/>
          <a:p/>
        </p:txBody>
      </p:sp>
      <p:sp>
        <p:nvSpPr>
          <p:cNvPr id="591" name=""/>
          <p:cNvSpPr txBox="1"/>
          <p:nvPr/>
        </p:nvSpPr>
        <p:spPr>
          <a:xfrm rot="0" flipH="0" flipV="0">
            <a:off x="533400" y="2390775"/>
            <a:ext cx="7686675" cy="2886075"/>
          </a:xfrm>
          <a:prstGeom prst="rect"/>
        </p:spPr>
        <p:txBody>
          <a:bodyPr wrap="square" lIns="0" tIns="0" rIns="0" bIns="0">
            <a:normAutofit/>
          </a:bodyPr>
          <a:p>
            <a:pPr/>
            <a:r>
              <a:rPr sz="900">
                <a:solidFill>
                  <a:srgbClr val="E5E7EB"/>
                </a:solidFill>
                <a:latin typeface="Menlo"/>
                <a:ea typeface="Menlo"/>
              </a:rPr>
              <a:t>CampusBites — Requirements Pack, section 2.1 (extract)
Students on the Dalian campus order lunch from the
restaurants on campus. A student opens the app, browses
today's menu of a restaurant, selects items, and places
an order. The system authenticates the student against
the campus card centre, calculates the total, and
charges the campus card, a wallet, or cash on delivery.
Restaurant staff keep the menu current. A manager marks
an item sold out before service starts; the kitchen
receives the order on a wall tablet. When an order is
ready, a dispatcher assigns a courier. The courier picks
up the order, delivers it to the student, and confirms
the delivery in the app.
After delivery the student may rate the restaurant and
the courier. The platform administrator can suspend a
restaurant that receives three ratings below two stars
in one week. Every evening at 23:00 the system closes
the day and emails a sales report to each restaurant.</a:t>
            </a:r>
            <a:endParaRPr/>
          </a:p>
        </p:txBody>
      </p:sp>
    </p:spTree>
  </p:cSld>
</p:sld>
</file>

<file path=ppt/slides/slide32.xml><?xml version="1.0" encoding="utf-8"?>
<p:sld xmlns:a="http://schemas.openxmlformats.org/drawingml/2006/main" xmlns:p="http://schemas.openxmlformats.org/presentationml/2006/main">
  <p:cSld>
    <p:spTree>
      <p:nvGrpSpPr>
        <p:cNvPr id="592" name="" descr="&lt;Slide style={{ background: '#FFFFFF', padding: 0 }}&gt;&#10;  &lt;Box style={{ height: 72, background: '#1E4FA8', padding: '0 40px', flexDirection: 'row', alignItems: 'center', justifyContent: 'space-between' }}&gt;&#10;    &lt;Text style={{ fontSize: 15, color: '#B9CDF0', letterSpacing: 1 }}&gt;ISAD · INFORMATION SYSTEMS ANALYSIS &amp;amp; DESIGN&lt;/Text&gt;&#10;    &lt;Text style={{ fontSize: 15, color: '#B9CDF0' }}&gt;W04 · LAB · EXERCISE 4.1&lt;/Text&gt;&#10;  &lt;/Box&gt;&#10;  &lt;Box style={{ padding: '14px 40px 0 40px', flexDirection: 'row', alignItems: 'center', justifyContent: 'space-between' }}&gt;&#10;    &lt;Text style={{ fontSize: 29, fontWeight: 'bold', color: '#0E3F8C' }}&gt;Exercise 4.1 — Your Turn&lt;/Text&gt;&#10;    &lt;Text style={{ fontSize: 14, color: '#1E4FA8', fontWeight: 'bold' }}&gt;32 / 38&lt;/Text&gt;&#10;  &lt;/Box&gt;&#10;  &lt;Box style={{ flex: 1, padding: '14px 40px 0 40px', flexDirection: 'row', gap: 24 }}&gt;&#10;    &lt;Box style={{ flex: 1, flexDirection: 'column', gap: 12 }}&gt;&#10;      &lt;Box style={{ padding: '18px 18px', background: '#F0F5FC', borderRadius: 10, borderLeft: '4px solid #1E4FA8' }}&gt;&#10;        &lt;Text style={{ fontSize: 16, fontWeight: 'bold', color: '#0E3F8C' }}&gt;A · List the actors&lt;/Text&gt;&#10;        &lt;Text style={{ fontSize: 13, color: '#4A5568', lineHeight: 1.6, marginTop: 6 }}&gt;&#10;          Every role that stands outside CampusBites and talks to it. Name roles, not people — and include the systems that serve you.&#10;        &lt;/Text&gt;&#10;        &lt;Text style={{ fontSize: 12.5, color: '#8B97A8', marginTop: 8 }}&gt;Target: five to seven.&lt;/Text&gt;&#10;      &lt;/Box&gt;&#10;      &lt;Box style={{ padding: '18px 18px', background: '#F0F5FC', borderRadius: 10, borderLeft: '4px solid #1E4FA8' }}&gt;&#10;        &lt;Text style={{ fontSize: 16, fontWeight: 'bold', color: '#0E3F8C' }}&gt;B · List candidate use cases&lt;/Text&gt;&#10;        &lt;Text style={{ fontSize: 13, color: '#4A5568', lineHeight: 1.6, marginTop: 6 }}&gt;&#10;          Take the verbs from the narrative and keep only those that name a goal somebody has. Write them verb plus object.&#10;        &lt;/Text&gt;&#10;        &lt;Text style={{ fontSize: 12.5, color: '#8B97A8', marginTop: 8 }}&gt;Target: nine candidates before filtering.&lt;/Text&gt;&#10;      &lt;/Box&gt;&#10;    &lt;/Box&gt;&#10;    &lt;Box style={{ flex: 1, flexDirection: 'column', gap: 12 }}&gt;&#10;      &lt;Box style={{ padding: '18px 18px', background: '#FFFFFF', borderRadius: 10, border: '1px solid #D6DCE5' }}&gt;&#10;        &lt;Text style={{ fontSize: 16, fontWeight: 'bold', color: '#0E3F8C' }}&gt;C · Mark primary and secondary&lt;/Text&gt;&#10;        &lt;Text style={{ fontSize: 13, color: '#4A5568', lineHeight: 1.6, marginTop: 6 }}&gt;&#10;          For each actor, say whether they start use cases (primary) or are called by the system (secondary). Write the goal they own.&#10;        &lt;/Text&gt;&#10;      &lt;/Box&gt;&#10;      &lt;Box style={{ padding: '18px 18px', background: '#FFFFFF', borderRadius: 10, border: '1px solid #D6DCE5' }}&gt;&#10;        &lt;Text style={{ fontSize: 16, fontWeight: 'bold', color: '#0E3F8C' }}&gt;D · Filter the candidates&lt;/Text&gt;&#10;        &lt;Text style={{ fontSize: 13, color: '#4A5568', lineHeight: 1.6, marginTop: 6 }}&gt;&#10;          For each of the nine, answer in one line: is this a user goal, or a step inside one? Keep the goals; park the steps.&#10;        &lt;/Text&gt;&#10;      &lt;/Box&gt;&#10;      &lt;Box style={{ padding: '16px 18px', background: '#FFF6E0', borderRadius: 9, border: '1px solid #FFC107' }}&gt;&#10;        &lt;Text style={{ fontSize: 13, color: '#4A5568', lineHeight: 1.6 }}&gt;&#10;          &lt;Text style={{ fontWeight: 'bold', color: '#996F00' }}&gt;Work in your team. &lt;/Text&gt;&#10;          One page, two columns, twenty-five minutes. Answers on the next two pages — do not turn the page early.&#10;        &lt;/Text&gt;&#10;      &lt;/Box&gt;&#10;    &lt;/Box&gt;&#10;  &lt;/Box&gt;&#10;  &lt;Box style={{ height: 46, background: '#0E3F8C', padding: '0 40px', flexDirection: 'row', alignItems: 'center', justifyContent: 'center' }}&gt;&#10;    &lt;Text style={{ fontSize: 16, color: '#FFFFFF', fontWeight: '600' }}&gt;Twenty-five minutes. One page for the four of you — then each person defends one row you disagreed on.&lt;/Text&gt;&#10;  &lt;/Box&gt;&#10;&lt;/Slide&gt;"/>
        <p:cNvGrpSpPr/>
        <p:nvPr/>
      </p:nvGrpSpPr>
      <p:grpSpPr>
        <a:xfrm>
          <a:off x="0" y="0"/>
          <a:ext cx="0" cy="0"/>
          <a:chOff x="0" y="0"/>
          <a:chExt cx="0" cy="0"/>
        </a:xfrm>
      </p:grpSpPr>
      <p:sp>
        <p:nvSpPr>
          <p:cNvPr id="593" name=""/>
          <p:cNvSpPr/>
          <p:nvPr/>
        </p:nvSpPr>
        <p:spPr>
          <a:xfrm rot="0" flipH="0" flipV="0">
            <a:off x="0" y="0"/>
            <a:ext cx="12192000" cy="6858000"/>
          </a:xfrm>
          <a:prstGeom prst="rect">
            <a:avLst/>
          </a:prstGeom>
          <a:solidFill>
            <a:srgbClr val="FFFFFF"/>
          </a:solidFill>
          <a:ln/>
        </p:spPr>
        <p:txBody>
          <a:bodyPr/>
          <a:p/>
        </p:txBody>
      </p:sp>
      <p:sp>
        <p:nvSpPr>
          <p:cNvPr id="594" name=""/>
          <p:cNvSpPr/>
          <p:nvPr/>
        </p:nvSpPr>
        <p:spPr>
          <a:xfrm rot="0" flipH="0" flipV="0">
            <a:off x="0" y="0"/>
            <a:ext cx="12192000" cy="685800"/>
          </a:xfrm>
          <a:prstGeom prst="rect">
            <a:avLst/>
          </a:prstGeom>
          <a:solidFill>
            <a:srgbClr val="1E4FA8"/>
          </a:solidFill>
          <a:ln/>
        </p:spPr>
        <p:txBody>
          <a:bodyPr/>
          <a:p/>
        </p:txBody>
      </p:sp>
      <p:sp>
        <p:nvSpPr>
          <p:cNvPr id="595" name="" descr="{&quot;isTemplate&quot;:true,&quot;type&quot;:&quot;text&quot;}"/>
          <p:cNvSpPr txBox="1"/>
          <p:nvPr/>
        </p:nvSpPr>
        <p:spPr>
          <a:xfrm rot="0" flipH="0" flipV="0">
            <a:off x="381000" y="257175"/>
            <a:ext cx="4067175" cy="171450"/>
          </a:xfrm>
          <a:prstGeom prst="rect"/>
        </p:spPr>
        <p:txBody>
          <a:bodyPr wrap="none" lIns="0" tIns="0" rIns="0" bIns="0"/>
          <a:p>
            <a:pPr>
              <a:lnSpc>
                <a:spcPct val="100000"/>
              </a:lnSpc>
            </a:pPr>
            <a:r>
              <a:rPr lang="en-US" sz="1125" spc="75">
                <a:solidFill>
                  <a:srgbClr val="B9CDF0"/>
                </a:solidFill>
                <a:latin typeface="Microsoft YaHei"/>
                <a:ea typeface="Microsoft YaHei"/>
              </a:rPr>
              <a:t>ISAD · INFORMATION SYSTEMS ANALYSIS &amp; DESIGN</a:t>
            </a:r>
            <a:endParaRPr/>
          </a:p>
        </p:txBody>
      </p:sp>
      <p:sp>
        <p:nvSpPr>
          <p:cNvPr id="596" name="" descr="{&quot;isTemplate&quot;:true,&quot;type&quot;:&quot;text&quot;}"/>
          <p:cNvSpPr txBox="1"/>
          <p:nvPr/>
        </p:nvSpPr>
        <p:spPr>
          <a:xfrm rot="0" flipH="0" flipV="0">
            <a:off x="10029825" y="257175"/>
            <a:ext cx="1781175" cy="171450"/>
          </a:xfrm>
          <a:prstGeom prst="rect"/>
        </p:spPr>
        <p:txBody>
          <a:bodyPr wrap="none" lIns="0" tIns="0" rIns="0" bIns="0"/>
          <a:p>
            <a:pPr>
              <a:lnSpc>
                <a:spcPct val="100000"/>
              </a:lnSpc>
            </a:pPr>
            <a:r>
              <a:rPr lang="en-US" sz="1125">
                <a:solidFill>
                  <a:srgbClr val="B9CDF0"/>
                </a:solidFill>
                <a:latin typeface="Microsoft YaHei"/>
                <a:ea typeface="Microsoft YaHei"/>
              </a:rPr>
              <a:t>W04 · LAB · EXERCISE 4.1</a:t>
            </a:r>
            <a:endParaRPr/>
          </a:p>
        </p:txBody>
      </p:sp>
      <p:sp>
        <p:nvSpPr>
          <p:cNvPr id="597" name="" descr="{&quot;isTemplate&quot;:true,&quot;type&quot;:&quot;text&quot;}"/>
          <p:cNvSpPr txBox="1"/>
          <p:nvPr/>
        </p:nvSpPr>
        <p:spPr>
          <a:xfrm rot="0" flipH="0" flipV="0">
            <a:off x="381000" y="819150"/>
            <a:ext cx="3314700" cy="333375"/>
          </a:xfrm>
          <a:prstGeom prst="rect"/>
        </p:spPr>
        <p:txBody>
          <a:bodyPr wrap="none" lIns="0" tIns="0" rIns="0" bIns="0"/>
          <a:p>
            <a:pPr>
              <a:lnSpc>
                <a:spcPct val="100000"/>
              </a:lnSpc>
            </a:pPr>
            <a:r>
              <a:rPr lang="en-US" sz="2175" b="1">
                <a:solidFill>
                  <a:srgbClr val="0E3F8C"/>
                </a:solidFill>
                <a:latin typeface="Microsoft YaHei"/>
                <a:ea typeface="Microsoft YaHei"/>
              </a:rPr>
              <a:t>Exercise 4.1 — Your Turn</a:t>
            </a:r>
            <a:endParaRPr/>
          </a:p>
        </p:txBody>
      </p:sp>
      <p:sp>
        <p:nvSpPr>
          <p:cNvPr id="598" name="" descr="{&quot;isTemplate&quot;:true,&quot;type&quot;:&quot;text&quot;}"/>
          <p:cNvSpPr txBox="1"/>
          <p:nvPr/>
        </p:nvSpPr>
        <p:spPr>
          <a:xfrm rot="0" flipH="0" flipV="0">
            <a:off x="11401425" y="904875"/>
            <a:ext cx="409575" cy="161925"/>
          </a:xfrm>
          <a:prstGeom prst="rect"/>
        </p:spPr>
        <p:txBody>
          <a:bodyPr wrap="none" lIns="0" tIns="0" rIns="0" bIns="0"/>
          <a:p>
            <a:pPr>
              <a:lnSpc>
                <a:spcPct val="100000"/>
              </a:lnSpc>
            </a:pPr>
            <a:r>
              <a:rPr lang="en-US" sz="1050" b="1">
                <a:solidFill>
                  <a:srgbClr val="1E4FA8"/>
                </a:solidFill>
                <a:latin typeface="Microsoft YaHei"/>
                <a:ea typeface="Microsoft YaHei"/>
              </a:rPr>
              <a:t>32 / 38</a:t>
            </a:r>
            <a:endParaRPr/>
          </a:p>
        </p:txBody>
      </p:sp>
      <p:sp>
        <p:nvSpPr>
          <p:cNvPr id="599" name=""/>
          <p:cNvSpPr/>
          <p:nvPr/>
        </p:nvSpPr>
        <p:spPr>
          <a:xfrm rot="0" flipH="0" flipV="0">
            <a:off x="419100" y="1285875"/>
            <a:ext cx="5600700" cy="1285875"/>
          </a:xfrm>
          <a:prstGeom prst="roundRect">
            <a:avLst>
              <a:gd name="adj" fmla="val 7407"/>
            </a:avLst>
          </a:prstGeom>
          <a:solidFill>
            <a:srgbClr val="F0F5FC"/>
          </a:solidFill>
          <a:ln/>
        </p:spPr>
        <p:txBody>
          <a:bodyPr/>
          <a:p/>
        </p:txBody>
      </p:sp>
      <p:sp>
        <p:nvSpPr>
          <p:cNvPr id="600" name=""/>
          <p:cNvSpPr/>
          <p:nvPr/>
        </p:nvSpPr>
        <p:spPr>
          <a:xfrm rot="0" flipH="0" flipV="0">
            <a:off x="419100" y="1285875"/>
            <a:ext cx="5600700" cy="1285875"/>
          </a:xfrm>
          <a:custGeom>
            <a:pathLst>
              <a:path w="588" h="135">
                <a:moveTo>
                  <a:pt x="9" y="0"/>
                </a:moveTo>
                <a:cubicBezTo>
                  <a:pt x="6" y="0"/>
                  <a:pt x="4" y="3"/>
                  <a:pt x="4" y="6"/>
                </a:cubicBezTo>
                <a:lnTo>
                  <a:pt x="4" y="129"/>
                </a:lnTo>
                <a:cubicBezTo>
                  <a:pt x="4" y="132"/>
                  <a:pt x="6" y="134"/>
                  <a:pt x="9" y="135"/>
                </a:cubicBezTo>
                <a:cubicBezTo>
                  <a:pt x="4" y="134"/>
                  <a:pt x="0" y="130"/>
                  <a:pt x="0" y="125"/>
                </a:cubicBezTo>
                <a:lnTo>
                  <a:pt x="0" y="10"/>
                </a:lnTo>
                <a:cubicBezTo>
                  <a:pt x="0" y="5"/>
                  <a:pt x="4" y="0"/>
                  <a:pt x="10" y="0"/>
                </a:cubicBezTo>
                <a:close/>
              </a:path>
            </a:pathLst>
          </a:custGeom>
          <a:solidFill>
            <a:srgbClr val="1E4FA8"/>
          </a:solidFill>
          <a:ln/>
        </p:spPr>
        <p:txBody>
          <a:bodyPr/>
          <a:p/>
        </p:txBody>
      </p:sp>
      <p:sp>
        <p:nvSpPr>
          <p:cNvPr id="601" name="" descr="{&quot;isTemplate&quot;:true,&quot;type&quot;:&quot;text&quot;}"/>
          <p:cNvSpPr txBox="1"/>
          <p:nvPr/>
        </p:nvSpPr>
        <p:spPr>
          <a:xfrm rot="0" flipH="0" flipV="0">
            <a:off x="590550" y="1457325"/>
            <a:ext cx="5219700" cy="190500"/>
          </a:xfrm>
          <a:prstGeom prst="rect"/>
        </p:spPr>
        <p:txBody>
          <a:bodyPr wrap="none" lIns="0" tIns="0" rIns="0" bIns="0"/>
          <a:p>
            <a:pPr>
              <a:lnSpc>
                <a:spcPct val="100000"/>
              </a:lnSpc>
            </a:pPr>
            <a:r>
              <a:rPr lang="en-US" sz="1200" b="1">
                <a:solidFill>
                  <a:srgbClr val="0E3F8C"/>
                </a:solidFill>
                <a:latin typeface="Microsoft YaHei"/>
                <a:ea typeface="Microsoft YaHei"/>
              </a:rPr>
              <a:t>A · List the actors</a:t>
            </a:r>
            <a:endParaRPr/>
          </a:p>
        </p:txBody>
      </p:sp>
      <p:sp>
        <p:nvSpPr>
          <p:cNvPr id="602" name="" descr="{&quot;isTemplate&quot;:true,&quot;type&quot;:&quot;text&quot;}"/>
          <p:cNvSpPr txBox="1"/>
          <p:nvPr/>
        </p:nvSpPr>
        <p:spPr>
          <a:xfrm rot="0" flipH="0" flipV="0">
            <a:off x="590550" y="1704975"/>
            <a:ext cx="5219700" cy="476250"/>
          </a:xfrm>
          <a:prstGeom prst="rect"/>
        </p:spPr>
        <p:txBody>
          <a:bodyPr wrap="square" lIns="0" tIns="0" rIns="0" bIns="0">
            <a:normAutofit/>
          </a:bodyPr>
          <a:p>
            <a:pPr>
              <a:lnSpc>
                <a:spcPct val="160000"/>
              </a:lnSpc>
            </a:pPr>
            <a:r>
              <a:rPr lang="en-US" sz="975">
                <a:solidFill>
                  <a:srgbClr val="4A5568"/>
                </a:solidFill>
                <a:latin typeface="Microsoft YaHei"/>
                <a:ea typeface="Microsoft YaHei"/>
              </a:rPr>
              <a:t>Every role that stands outside CampusBites and talks to it. Name roles, not people — and include the systems that serve you.</a:t>
            </a:r>
            <a:endParaRPr/>
          </a:p>
        </p:txBody>
      </p:sp>
      <p:sp>
        <p:nvSpPr>
          <p:cNvPr id="603" name="" descr="{&quot;isTemplate&quot;:true,&quot;type&quot;:&quot;text&quot;}"/>
          <p:cNvSpPr txBox="1"/>
          <p:nvPr/>
        </p:nvSpPr>
        <p:spPr>
          <a:xfrm rot="0" flipH="0" flipV="0">
            <a:off x="590550" y="2257425"/>
            <a:ext cx="5219700" cy="142875"/>
          </a:xfrm>
          <a:prstGeom prst="rect"/>
        </p:spPr>
        <p:txBody>
          <a:bodyPr wrap="none" lIns="0" tIns="0" rIns="0" bIns="0"/>
          <a:p>
            <a:pPr>
              <a:lnSpc>
                <a:spcPct val="100000"/>
              </a:lnSpc>
            </a:pPr>
            <a:r>
              <a:rPr lang="en-US" sz="938">
                <a:solidFill>
                  <a:srgbClr val="8B97A8"/>
                </a:solidFill>
                <a:latin typeface="Microsoft YaHei"/>
                <a:ea typeface="Microsoft YaHei"/>
              </a:rPr>
              <a:t>Target: five to seven.</a:t>
            </a:r>
            <a:endParaRPr/>
          </a:p>
        </p:txBody>
      </p:sp>
      <p:sp>
        <p:nvSpPr>
          <p:cNvPr id="604" name=""/>
          <p:cNvSpPr/>
          <p:nvPr/>
        </p:nvSpPr>
        <p:spPr>
          <a:xfrm rot="0" flipH="0" flipV="0">
            <a:off x="419100" y="2686050"/>
            <a:ext cx="5600700" cy="1285875"/>
          </a:xfrm>
          <a:prstGeom prst="roundRect">
            <a:avLst>
              <a:gd name="adj" fmla="val 7407"/>
            </a:avLst>
          </a:prstGeom>
          <a:solidFill>
            <a:srgbClr val="F0F5FC"/>
          </a:solidFill>
          <a:ln/>
        </p:spPr>
        <p:txBody>
          <a:bodyPr/>
          <a:p/>
        </p:txBody>
      </p:sp>
      <p:sp>
        <p:nvSpPr>
          <p:cNvPr id="605" name=""/>
          <p:cNvSpPr/>
          <p:nvPr/>
        </p:nvSpPr>
        <p:spPr>
          <a:xfrm rot="0" flipH="0" flipV="0">
            <a:off x="419100" y="2686050"/>
            <a:ext cx="5600700" cy="1285875"/>
          </a:xfrm>
          <a:custGeom>
            <a:pathLst>
              <a:path w="588" h="135">
                <a:moveTo>
                  <a:pt x="9" y="0"/>
                </a:moveTo>
                <a:cubicBezTo>
                  <a:pt x="6" y="0"/>
                  <a:pt x="4" y="3"/>
                  <a:pt x="4" y="6"/>
                </a:cubicBezTo>
                <a:lnTo>
                  <a:pt x="4" y="129"/>
                </a:lnTo>
                <a:cubicBezTo>
                  <a:pt x="4" y="132"/>
                  <a:pt x="6" y="134"/>
                  <a:pt x="9" y="135"/>
                </a:cubicBezTo>
                <a:cubicBezTo>
                  <a:pt x="4" y="134"/>
                  <a:pt x="0" y="130"/>
                  <a:pt x="0" y="125"/>
                </a:cubicBezTo>
                <a:lnTo>
                  <a:pt x="0" y="10"/>
                </a:lnTo>
                <a:cubicBezTo>
                  <a:pt x="0" y="5"/>
                  <a:pt x="4" y="0"/>
                  <a:pt x="10" y="0"/>
                </a:cubicBezTo>
                <a:close/>
              </a:path>
            </a:pathLst>
          </a:custGeom>
          <a:solidFill>
            <a:srgbClr val="1E4FA8"/>
          </a:solidFill>
          <a:ln/>
        </p:spPr>
        <p:txBody>
          <a:bodyPr/>
          <a:p/>
        </p:txBody>
      </p:sp>
      <p:sp>
        <p:nvSpPr>
          <p:cNvPr id="606" name="" descr="{&quot;isTemplate&quot;:true,&quot;type&quot;:&quot;text&quot;}"/>
          <p:cNvSpPr txBox="1"/>
          <p:nvPr/>
        </p:nvSpPr>
        <p:spPr>
          <a:xfrm rot="0" flipH="0" flipV="0">
            <a:off x="590550" y="2857500"/>
            <a:ext cx="5219700" cy="190500"/>
          </a:xfrm>
          <a:prstGeom prst="rect"/>
        </p:spPr>
        <p:txBody>
          <a:bodyPr wrap="none" lIns="0" tIns="0" rIns="0" bIns="0"/>
          <a:p>
            <a:pPr>
              <a:lnSpc>
                <a:spcPct val="100000"/>
              </a:lnSpc>
            </a:pPr>
            <a:r>
              <a:rPr lang="en-US" sz="1200" b="1">
                <a:solidFill>
                  <a:srgbClr val="0E3F8C"/>
                </a:solidFill>
                <a:latin typeface="Microsoft YaHei"/>
                <a:ea typeface="Microsoft YaHei"/>
              </a:rPr>
              <a:t>B · List candidate use cases</a:t>
            </a:r>
            <a:endParaRPr/>
          </a:p>
        </p:txBody>
      </p:sp>
      <p:sp>
        <p:nvSpPr>
          <p:cNvPr id="607" name="" descr="{&quot;isTemplate&quot;:true,&quot;type&quot;:&quot;text&quot;}"/>
          <p:cNvSpPr txBox="1"/>
          <p:nvPr/>
        </p:nvSpPr>
        <p:spPr>
          <a:xfrm rot="0" flipH="0" flipV="0">
            <a:off x="590550" y="3105150"/>
            <a:ext cx="5219700" cy="476250"/>
          </a:xfrm>
          <a:prstGeom prst="rect"/>
        </p:spPr>
        <p:txBody>
          <a:bodyPr wrap="square" lIns="0" tIns="0" rIns="0" bIns="0">
            <a:normAutofit/>
          </a:bodyPr>
          <a:p>
            <a:pPr>
              <a:lnSpc>
                <a:spcPct val="160000"/>
              </a:lnSpc>
            </a:pPr>
            <a:r>
              <a:rPr lang="en-US" sz="975">
                <a:solidFill>
                  <a:srgbClr val="4A5568"/>
                </a:solidFill>
                <a:latin typeface="Microsoft YaHei"/>
                <a:ea typeface="Microsoft YaHei"/>
              </a:rPr>
              <a:t>Take the verbs from the narrative and keep only those that name a goal somebody has. Write them verb plus object.</a:t>
            </a:r>
            <a:endParaRPr/>
          </a:p>
        </p:txBody>
      </p:sp>
      <p:sp>
        <p:nvSpPr>
          <p:cNvPr id="608" name="" descr="{&quot;isTemplate&quot;:true,&quot;type&quot;:&quot;text&quot;}"/>
          <p:cNvSpPr txBox="1"/>
          <p:nvPr/>
        </p:nvSpPr>
        <p:spPr>
          <a:xfrm rot="0" flipH="0" flipV="0">
            <a:off x="590550" y="3657600"/>
            <a:ext cx="5219700" cy="142875"/>
          </a:xfrm>
          <a:prstGeom prst="rect"/>
        </p:spPr>
        <p:txBody>
          <a:bodyPr wrap="none" lIns="0" tIns="0" rIns="0" bIns="0"/>
          <a:p>
            <a:pPr>
              <a:lnSpc>
                <a:spcPct val="100000"/>
              </a:lnSpc>
            </a:pPr>
            <a:r>
              <a:rPr lang="en-US" sz="938">
                <a:solidFill>
                  <a:srgbClr val="8B97A8"/>
                </a:solidFill>
                <a:latin typeface="Microsoft YaHei"/>
                <a:ea typeface="Microsoft YaHei"/>
              </a:rPr>
              <a:t>Target: nine candidates before filtering.</a:t>
            </a:r>
            <a:endParaRPr/>
          </a:p>
        </p:txBody>
      </p:sp>
      <p:sp>
        <p:nvSpPr>
          <p:cNvPr id="609" name=""/>
          <p:cNvSpPr/>
          <p:nvPr/>
        </p:nvSpPr>
        <p:spPr>
          <a:xfrm rot="0" flipH="0" flipV="0">
            <a:off x="6210300" y="1285875"/>
            <a:ext cx="5600700" cy="1066800"/>
          </a:xfrm>
          <a:prstGeom prst="roundRect">
            <a:avLst>
              <a:gd name="adj" fmla="val 8929"/>
            </a:avLst>
          </a:prstGeom>
          <a:solidFill>
            <a:srgbClr val="FFFFFF"/>
          </a:solidFill>
          <a:ln w="12700">
            <a:solidFill>
              <a:srgbClr val="D6DCE5"/>
            </a:solidFill>
            <a:prstDash val="solid"/>
          </a:ln>
        </p:spPr>
        <p:txBody>
          <a:bodyPr/>
          <a:p/>
        </p:txBody>
      </p:sp>
      <p:sp>
        <p:nvSpPr>
          <p:cNvPr id="610" name="" descr="{&quot;isTemplate&quot;:true,&quot;type&quot;:&quot;text&quot;}"/>
          <p:cNvSpPr txBox="1"/>
          <p:nvPr/>
        </p:nvSpPr>
        <p:spPr>
          <a:xfrm rot="0" flipH="0" flipV="0">
            <a:off x="6381750" y="1457325"/>
            <a:ext cx="5257800" cy="190500"/>
          </a:xfrm>
          <a:prstGeom prst="rect"/>
        </p:spPr>
        <p:txBody>
          <a:bodyPr wrap="none" lIns="0" tIns="0" rIns="0" bIns="0"/>
          <a:p>
            <a:pPr>
              <a:lnSpc>
                <a:spcPct val="100000"/>
              </a:lnSpc>
            </a:pPr>
            <a:r>
              <a:rPr lang="en-US" sz="1200" b="1">
                <a:solidFill>
                  <a:srgbClr val="0E3F8C"/>
                </a:solidFill>
                <a:latin typeface="Microsoft YaHei"/>
                <a:ea typeface="Microsoft YaHei"/>
              </a:rPr>
              <a:t>C · Mark primary and secondary</a:t>
            </a:r>
            <a:endParaRPr/>
          </a:p>
        </p:txBody>
      </p:sp>
      <p:sp>
        <p:nvSpPr>
          <p:cNvPr id="611" name="" descr="{&quot;isTemplate&quot;:true,&quot;type&quot;:&quot;text&quot;}"/>
          <p:cNvSpPr txBox="1"/>
          <p:nvPr/>
        </p:nvSpPr>
        <p:spPr>
          <a:xfrm rot="0" flipH="0" flipV="0">
            <a:off x="6381750" y="1704975"/>
            <a:ext cx="5257800" cy="476250"/>
          </a:xfrm>
          <a:prstGeom prst="rect"/>
        </p:spPr>
        <p:txBody>
          <a:bodyPr wrap="square" lIns="0" tIns="0" rIns="0" bIns="0">
            <a:normAutofit/>
          </a:bodyPr>
          <a:p>
            <a:pPr>
              <a:lnSpc>
                <a:spcPct val="160000"/>
              </a:lnSpc>
            </a:pPr>
            <a:r>
              <a:rPr lang="en-US" sz="975">
                <a:solidFill>
                  <a:srgbClr val="4A5568"/>
                </a:solidFill>
                <a:latin typeface="Microsoft YaHei"/>
                <a:ea typeface="Microsoft YaHei"/>
              </a:rPr>
              <a:t>For each actor, say whether they start use cases (primary) or are called by the system (secondary). Write the goal they own.</a:t>
            </a:r>
            <a:endParaRPr/>
          </a:p>
        </p:txBody>
      </p:sp>
      <p:sp>
        <p:nvSpPr>
          <p:cNvPr id="612" name=""/>
          <p:cNvSpPr/>
          <p:nvPr/>
        </p:nvSpPr>
        <p:spPr>
          <a:xfrm rot="0" flipH="0" flipV="0">
            <a:off x="6210300" y="2466975"/>
            <a:ext cx="5600700" cy="1066800"/>
          </a:xfrm>
          <a:prstGeom prst="roundRect">
            <a:avLst>
              <a:gd name="adj" fmla="val 8929"/>
            </a:avLst>
          </a:prstGeom>
          <a:solidFill>
            <a:srgbClr val="FFFFFF"/>
          </a:solidFill>
          <a:ln w="12700">
            <a:solidFill>
              <a:srgbClr val="D6DCE5"/>
            </a:solidFill>
            <a:prstDash val="solid"/>
          </a:ln>
        </p:spPr>
        <p:txBody>
          <a:bodyPr/>
          <a:p/>
        </p:txBody>
      </p:sp>
      <p:sp>
        <p:nvSpPr>
          <p:cNvPr id="613" name="" descr="{&quot;isTemplate&quot;:true,&quot;type&quot;:&quot;text&quot;}"/>
          <p:cNvSpPr txBox="1"/>
          <p:nvPr/>
        </p:nvSpPr>
        <p:spPr>
          <a:xfrm rot="0" flipH="0" flipV="0">
            <a:off x="6381750" y="2638425"/>
            <a:ext cx="5257800" cy="190500"/>
          </a:xfrm>
          <a:prstGeom prst="rect"/>
        </p:spPr>
        <p:txBody>
          <a:bodyPr wrap="none" lIns="0" tIns="0" rIns="0" bIns="0"/>
          <a:p>
            <a:pPr>
              <a:lnSpc>
                <a:spcPct val="100000"/>
              </a:lnSpc>
            </a:pPr>
            <a:r>
              <a:rPr lang="en-US" sz="1200" b="1">
                <a:solidFill>
                  <a:srgbClr val="0E3F8C"/>
                </a:solidFill>
                <a:latin typeface="Microsoft YaHei"/>
                <a:ea typeface="Microsoft YaHei"/>
              </a:rPr>
              <a:t>D · Filter the candidates</a:t>
            </a:r>
            <a:endParaRPr/>
          </a:p>
        </p:txBody>
      </p:sp>
      <p:sp>
        <p:nvSpPr>
          <p:cNvPr id="614" name="" descr="{&quot;isTemplate&quot;:true,&quot;type&quot;:&quot;text&quot;}"/>
          <p:cNvSpPr txBox="1"/>
          <p:nvPr/>
        </p:nvSpPr>
        <p:spPr>
          <a:xfrm rot="0" flipH="0" flipV="0">
            <a:off x="6381750" y="2886075"/>
            <a:ext cx="5257800" cy="476250"/>
          </a:xfrm>
          <a:prstGeom prst="rect"/>
        </p:spPr>
        <p:txBody>
          <a:bodyPr wrap="square" lIns="0" tIns="0" rIns="0" bIns="0">
            <a:normAutofit/>
          </a:bodyPr>
          <a:p>
            <a:pPr>
              <a:lnSpc>
                <a:spcPct val="160000"/>
              </a:lnSpc>
            </a:pPr>
            <a:r>
              <a:rPr lang="en-US" sz="975">
                <a:solidFill>
                  <a:srgbClr val="4A5568"/>
                </a:solidFill>
                <a:latin typeface="Microsoft YaHei"/>
                <a:ea typeface="Microsoft YaHei"/>
              </a:rPr>
              <a:t>For each of the nine, answer in one line: is this a user goal, or a step inside one? Keep the goals; park the steps.</a:t>
            </a:r>
            <a:endParaRPr/>
          </a:p>
        </p:txBody>
      </p:sp>
      <p:sp>
        <p:nvSpPr>
          <p:cNvPr id="615" name=""/>
          <p:cNvSpPr/>
          <p:nvPr/>
        </p:nvSpPr>
        <p:spPr>
          <a:xfrm rot="0" flipH="0" flipV="0">
            <a:off x="6210300" y="3648075"/>
            <a:ext cx="5600700" cy="781050"/>
          </a:xfrm>
          <a:prstGeom prst="roundRect">
            <a:avLst>
              <a:gd name="adj" fmla="val 10976"/>
            </a:avLst>
          </a:prstGeom>
          <a:solidFill>
            <a:srgbClr val="FFF6E0"/>
          </a:solidFill>
          <a:ln w="12700">
            <a:solidFill>
              <a:srgbClr val="FFC107"/>
            </a:solidFill>
            <a:prstDash val="solid"/>
          </a:ln>
        </p:spPr>
        <p:txBody>
          <a:bodyPr/>
          <a:p/>
        </p:txBody>
      </p:sp>
      <p:sp>
        <p:nvSpPr>
          <p:cNvPr id="616" name="" descr="{&quot;isTemplate&quot;:true,&quot;type&quot;:&quot;text&quot;}"/>
          <p:cNvSpPr txBox="1"/>
          <p:nvPr/>
        </p:nvSpPr>
        <p:spPr>
          <a:xfrm rot="0" flipH="0" flipV="0">
            <a:off x="6381750" y="3800475"/>
            <a:ext cx="5257800" cy="476250"/>
          </a:xfrm>
          <a:prstGeom prst="rect"/>
        </p:spPr>
        <p:txBody>
          <a:bodyPr wrap="square" lIns="0" tIns="0" rIns="0" bIns="0">
            <a:normAutofit/>
          </a:bodyPr>
          <a:p>
            <a:pPr>
              <a:lnSpc>
                <a:spcPct val="160000"/>
              </a:lnSpc>
            </a:pPr>
            <a:r>
              <a:rPr lang="en-US" sz="975">
                <a:solidFill>
                  <a:srgbClr val="4A5568"/>
                </a:solidFill>
                <a:latin typeface="Microsoft YaHei"/>
                <a:ea typeface="Microsoft YaHei"/>
              </a:rPr>
              <a:t>Work in your team. </a:t>
            </a:r>
            <a:r>
              <a:rPr lang="en-US" sz="975">
                <a:solidFill>
                  <a:srgbClr val="4A5568"/>
                </a:solidFill>
                <a:latin typeface="Microsoft YaHei"/>
                <a:ea typeface="Microsoft YaHei"/>
              </a:rPr>
              <a:t>One page, two columns, twenty-five minutes. Answers on the next two pages — do not turn the page early.</a:t>
            </a:r>
            <a:endParaRPr/>
          </a:p>
        </p:txBody>
      </p:sp>
      <p:sp>
        <p:nvSpPr>
          <p:cNvPr id="617" name=""/>
          <p:cNvSpPr/>
          <p:nvPr/>
        </p:nvSpPr>
        <p:spPr>
          <a:xfrm rot="0" flipH="0" flipV="0">
            <a:off x="0" y="6419850"/>
            <a:ext cx="12192000" cy="438150"/>
          </a:xfrm>
          <a:prstGeom prst="rect">
            <a:avLst/>
          </a:prstGeom>
          <a:solidFill>
            <a:srgbClr val="0E3F8C"/>
          </a:solidFill>
          <a:ln/>
        </p:spPr>
        <p:txBody>
          <a:bodyPr/>
          <a:p/>
        </p:txBody>
      </p:sp>
      <p:sp>
        <p:nvSpPr>
          <p:cNvPr id="618" name="" descr="{&quot;isTemplate&quot;:true,&quot;type&quot;:&quot;text&quot;}"/>
          <p:cNvSpPr txBox="1"/>
          <p:nvPr/>
        </p:nvSpPr>
        <p:spPr>
          <a:xfrm rot="0" flipH="0" flipV="0">
            <a:off x="2257425" y="6543675"/>
            <a:ext cx="7686675" cy="190500"/>
          </a:xfrm>
          <a:prstGeom prst="rect"/>
        </p:spPr>
        <p:txBody>
          <a:bodyPr wrap="none" lIns="0" tIns="0" rIns="0" bIns="0"/>
          <a:p>
            <a:pPr>
              <a:lnSpc>
                <a:spcPct val="100000"/>
              </a:lnSpc>
            </a:pPr>
            <a:r>
              <a:rPr lang="en-US" sz="1200" b="1">
                <a:solidFill>
                  <a:srgbClr val="FFFFFF"/>
                </a:solidFill>
                <a:latin typeface="Microsoft YaHei"/>
                <a:ea typeface="Microsoft YaHei"/>
              </a:rPr>
              <a:t>Twenty-five minutes. One page for the four of you — then each person defends one row you disagreed on.</a:t>
            </a:r>
            <a:endParaRPr/>
          </a:p>
        </p:txBody>
      </p:sp>
    </p:spTree>
  </p:cSld>
</p:sld>
</file>

<file path=ppt/slides/slide33.xml><?xml version="1.0" encoding="utf-8"?>
<p:sld xmlns:a16="http://schemas.microsoft.com/office/drawing/2014/main" xmlns:a="http://schemas.openxmlformats.org/drawingml/2006/main" xmlns:p="http://schemas.openxmlformats.org/presentationml/2006/main" xmlns:mc="http://schemas.openxmlformats.org/markup-compatibility/2006" mc:Ignorable="a16">
  <p:cSld>
    <p:spTree>
      <p:nvGrpSpPr>
        <p:cNvPr id="619" name="" descr="&lt;Slide style={{ background: '#FFFFFF', padding: 0 }}&gt;&#10;  &lt;Box style={{ height: 72, background: '#1E4FA8', padding: '0 40px', flexDirection: 'row', alignItems: 'center', justifyContent: 'space-between' }}&gt;&#10;    &lt;Text style={{ fontSize: 15, color: '#B9CDF0', letterSpacing: 1 }}&gt;ISAD · INFORMATION SYSTEMS ANALYSIS &amp;amp; DESIGN&lt;/Text&gt;&#10;    &lt;Text style={{ fontSize: 15, color: '#B9CDF0' }}&gt;W04 · LAB · EXERCISE 4.1&lt;/Text&gt;&#10;  &lt;/Box&gt;&#10;  &lt;Box style={{ padding: '14px 40px 0 40px', flexDirection: 'row', alignItems: 'center', justifyContent: 'space-between' }}&gt;&#10;    &lt;Text style={{ fontSize: 29, fontWeight: 'bold', color: '#0E3F8C' }}&gt;Exercise 4.1 — Actors, Answered&lt;/Text&gt;&#10;    &lt;Text style={{ fontSize: 14, color: '#1E4FA8', fontWeight: 'bold' }}&gt;33 / 38&lt;/Text&gt;&#10;  &lt;/Box&gt;&#10;  &lt;Box style={{ flex: 1, padding: '10px 40px 6px 40px' }}&gt;&#10;    &lt;Table&#10;      style={{ width: '100%', height: '100%' }}&#10;      defaultTextStyle={{ fontSize: 13, textAlign: 'left', color: '#1A2230' }}&#10;      defaultCellStyle={{&#10;        border: {&#10;          left: { width: 1, color: '#E5E7EB' },&#10;          right: { width: 1, color: '#E5E7EB' },&#10;          top: { width: 1, color: '#E5E7EB' },&#10;          bottom: { width: 1, color: '#E5E7EB' },&#10;        },&#10;      }}&#10;      cells={[&#10;        [&#10;          { text: 'Actor', textStyle: { bold: true, color: '#FFFFFF' }, cellStyle: { background: { color: '#0E3F8C' } } },&#10;          { text: 'Primary / secondary', textStyle: { bold: true, color: '#FFFFFF' }, cellStyle: { background: { color: '#0E3F8C' } } },&#10;          { text: 'The goal they own', textStyle: { bold: true, color: '#FFFFFF' }, cellStyle: { background: { color: '#1E4FA8' } } },&#10;          { text: 'Why they are here', textStyle: { bold: true, color: '#FFFFFF' }, cellStyle: { background: { color: '#1E4FA8' } } },&#10;        ],&#10;        [&#10;          { text: 'Student', textStyle: { bold: true, color: '#0E3F8C' }, cellStyle: { background: { color: '#F7F9FC' } } },&#10;          { text: 'Primary', textStyle: { color: '#1E4FA8', bold: true }, cellStyle: { background: { color: '#F7F9FC' } } },&#10;          { text: 'Order lunch, pay for it, and know where it is', textStyle: { color: '#4A5568' }, cellStyle: { background: { color: '#F7F9FC' } } },&#10;          { text: 'The reason the platform exists', textStyle: { color: '#4A5568' }, cellStyle: { background: { color: '#F7F9FC' } } },&#10;        ],&#10;        [&#10;          { text: 'Restaurant Manager', textStyle: { bold: true, color: '#0E3F8C' } },&#10;          { text: 'Primary', textStyle: { color: '#1E4FA8', bold: true } },&#10;          { text: 'Keep today’s menu true to the kitchen', textStyle: { color: '#4A5568' } },&#10;          { text: 'Marks items sold out before service', textStyle: { color: '#4A5568' } },&#10;        ],&#10;        [&#10;          { text: 'Kitchen Staff', textStyle: { bold: true, color: '#0E3F8C' }, cellStyle: { background: { color: '#F7F9FC' } } },&#10;          { text: 'Primary', textStyle: { color: '#1E4FA8', bold: true }, cellStyle: { background: { color: '#F7F9FC' } } },&#10;          { text: 'Receive an order and mark it ready', textStyle: { color: '#4A5568' }, cellStyle: { background: { color: '#F7F9FC' } } },&#10;          { text: 'Works from the wall tablet, not a phone', textStyle: { color: '#4A5568' }, cellStyle: { background: { color: '#F7F9FC' } } },&#10;        ],&#10;        [&#10;          { text: 'Dispatcher', textStyle: { bold: true, color: '#0E3F8C' } },&#10;          { text: 'Primary', textStyle: { color: '#1E4FA8', bold: true } },&#10;          { text: 'Get a ready order onto a courier', textStyle: { color: '#4A5568' } },&#10;          { text: 'Assigns, and reassigns when a rider is late', textStyle: { color: '#4A5568' } },&#10;        ],&#10;        [&#10;          { text: 'Courier', textStyle: { bold: true, color: '#0E3F8C' }, cellStyle: { background: { color: '#F7F9FC' } } },&#10;          { text: 'Primary', textStyle: { color: '#1E4FA8', bold: true }, cellStyle: { background: { color: '#F7F9FC' } } },&#10;          { text: 'Deliver an order and prove it arrived', textStyle: { color: '#4A5568' }, cellStyle: { background: { color: '#F7F9FC' } } },&#10;          { text: 'Confirms delivery in the app', textStyle: { color: '#4A5568' }, cellStyle: { background: { color: '#F7F9FC' } } },&#10;        ],&#10;        [&#10;          { text: 'Platform Administrator', textStyle: { bold: true, color: '#0E3F8C' } },&#10;          { text: 'Primary', textStyle: { color: '#1E4FA8', bold: true } },&#10;          { text: 'Protect students from failing restaurants', textStyle: { color: '#4A5568' } },&#10;          { text: 'Suspends after three ratings below two stars', textStyle: { color: '#4A5568' } },&#10;        ],&#10;        [&#10;          { text: 'Campus Card Centre', textStyle: { bold: true, color: '#8B97A8' }, cellStyle: { background: { color: '#F7F9FC' } } },&#10;          { text: 'Secondary', textStyle: { color: '#8B97A8', bold: true }, cellStyle: { background: { color: '#F7F9FC' } } },&#10;          { text: 'None of its own — it serves us', textStyle: { color: '#4A5568' }, cellStyle: { background: { color: '#F7F9FC' } } },&#10;          { text: 'Authenticates the student and clears the charge', textStyle: { color: '#4A5568' }, cellStyle: { background: { color: '#F7F9FC' } } },&#10;        ],&#10;        [&#10;          { text: 'Payment Provider', textStyle: { bold: true, color: '#8B97A8' } },&#10;          { text: 'Secondary', textStyle: { color: '#8B97A8', bold: true } },&#10;          { text: 'None of its own', textStyle: { color: '#4A5568' } },&#10;          { text: 'Takes wallet payments; tells us yes or no', textStyle: { color: '#4A5568' } },&#10;        ],&#10;        [&#10;          { text: 'Email Service', textStyle: { bold: true, color: '#8B97A8' }, cellStyle: { background: { color: '#F7F9FC' } } },&#10;          { text: 'Secondary', textStyle: { color: '#8B97A8', bold: true }, cellStyle: { background: { color: '#F7F9FC' } } },&#10;          { text: 'None of its own', textStyle: { color: '#4A5568' }, cellStyle: { background: { color: '#F7F9FC' } } },&#10;          { text: 'Carries the 23:00 sales report to each restaurant', textStyle: { color: '#4A5568' }, cellStyle: { background: { color: '#F7F9FC' } } },&#10;        ],&#10;      ]}&#10;    /&gt;&#10;  &lt;/Box&gt;&#10;  &lt;Box style={{ height: 46, background: '#0E3F8C', padding: '0 40px', flexDirection: 'row', alignItems: 'center', justifyContent: 'center' }}&gt;&#10;    &lt;Text style={{ fontSize: 15.5, color: '#FFFFFF', fontWeight: '600' }}&gt;The trap: authenticate and charge are things the card centre does for us — they are actors, never our use cases.&lt;/Text&gt;&#10;  &lt;/Box&gt;&#10;&lt;/Slide&gt;"/>
        <p:cNvGrpSpPr/>
        <p:nvPr/>
      </p:nvGrpSpPr>
      <p:grpSpPr>
        <a:xfrm>
          <a:off x="0" y="0"/>
          <a:ext cx="0" cy="0"/>
          <a:chOff x="0" y="0"/>
          <a:chExt cx="0" cy="0"/>
        </a:xfrm>
      </p:grpSpPr>
      <p:sp>
        <p:nvSpPr>
          <p:cNvPr id="620" name=""/>
          <p:cNvSpPr/>
          <p:nvPr/>
        </p:nvSpPr>
        <p:spPr>
          <a:xfrm rot="0" flipH="0" flipV="0">
            <a:off x="0" y="0"/>
            <a:ext cx="12192000" cy="6858000"/>
          </a:xfrm>
          <a:prstGeom prst="rect">
            <a:avLst/>
          </a:prstGeom>
          <a:solidFill>
            <a:srgbClr val="FFFFFF"/>
          </a:solidFill>
          <a:ln/>
        </p:spPr>
        <p:txBody>
          <a:bodyPr/>
          <a:p/>
        </p:txBody>
      </p:sp>
      <p:sp>
        <p:nvSpPr>
          <p:cNvPr id="621" name=""/>
          <p:cNvSpPr/>
          <p:nvPr/>
        </p:nvSpPr>
        <p:spPr>
          <a:xfrm rot="0" flipH="0" flipV="0">
            <a:off x="0" y="0"/>
            <a:ext cx="12192000" cy="685800"/>
          </a:xfrm>
          <a:prstGeom prst="rect">
            <a:avLst/>
          </a:prstGeom>
          <a:solidFill>
            <a:srgbClr val="1E4FA8"/>
          </a:solidFill>
          <a:ln/>
        </p:spPr>
        <p:txBody>
          <a:bodyPr/>
          <a:p/>
        </p:txBody>
      </p:sp>
      <p:sp>
        <p:nvSpPr>
          <p:cNvPr id="622" name="" descr="{&quot;isTemplate&quot;:true,&quot;type&quot;:&quot;text&quot;}"/>
          <p:cNvSpPr txBox="1"/>
          <p:nvPr/>
        </p:nvSpPr>
        <p:spPr>
          <a:xfrm rot="0" flipH="0" flipV="0">
            <a:off x="381000" y="257175"/>
            <a:ext cx="4067175" cy="171450"/>
          </a:xfrm>
          <a:prstGeom prst="rect"/>
        </p:spPr>
        <p:txBody>
          <a:bodyPr wrap="none" lIns="0" tIns="0" rIns="0" bIns="0"/>
          <a:p>
            <a:pPr>
              <a:lnSpc>
                <a:spcPct val="100000"/>
              </a:lnSpc>
            </a:pPr>
            <a:r>
              <a:rPr lang="en-US" sz="1125" spc="75">
                <a:solidFill>
                  <a:srgbClr val="B9CDF0"/>
                </a:solidFill>
                <a:latin typeface="Microsoft YaHei"/>
                <a:ea typeface="Microsoft YaHei"/>
              </a:rPr>
              <a:t>ISAD · INFORMATION SYSTEMS ANALYSIS &amp; DESIGN</a:t>
            </a:r>
            <a:endParaRPr/>
          </a:p>
        </p:txBody>
      </p:sp>
      <p:sp>
        <p:nvSpPr>
          <p:cNvPr id="623" name="" descr="{&quot;isTemplate&quot;:true,&quot;type&quot;:&quot;text&quot;}"/>
          <p:cNvSpPr txBox="1"/>
          <p:nvPr/>
        </p:nvSpPr>
        <p:spPr>
          <a:xfrm rot="0" flipH="0" flipV="0">
            <a:off x="10029825" y="257175"/>
            <a:ext cx="1781175" cy="171450"/>
          </a:xfrm>
          <a:prstGeom prst="rect"/>
        </p:spPr>
        <p:txBody>
          <a:bodyPr wrap="none" lIns="0" tIns="0" rIns="0" bIns="0"/>
          <a:p>
            <a:pPr>
              <a:lnSpc>
                <a:spcPct val="100000"/>
              </a:lnSpc>
            </a:pPr>
            <a:r>
              <a:rPr lang="en-US" sz="1125">
                <a:solidFill>
                  <a:srgbClr val="B9CDF0"/>
                </a:solidFill>
                <a:latin typeface="Microsoft YaHei"/>
                <a:ea typeface="Microsoft YaHei"/>
              </a:rPr>
              <a:t>W04 · LAB · EXERCISE 4.1</a:t>
            </a:r>
            <a:endParaRPr/>
          </a:p>
        </p:txBody>
      </p:sp>
      <p:sp>
        <p:nvSpPr>
          <p:cNvPr id="624" name="" descr="{&quot;isTemplate&quot;:true,&quot;type&quot;:&quot;text&quot;}"/>
          <p:cNvSpPr txBox="1"/>
          <p:nvPr/>
        </p:nvSpPr>
        <p:spPr>
          <a:xfrm rot="0" flipH="0" flipV="0">
            <a:off x="381000" y="819150"/>
            <a:ext cx="4381500" cy="333375"/>
          </a:xfrm>
          <a:prstGeom prst="rect"/>
        </p:spPr>
        <p:txBody>
          <a:bodyPr wrap="none" lIns="0" tIns="0" rIns="0" bIns="0"/>
          <a:p>
            <a:pPr>
              <a:lnSpc>
                <a:spcPct val="100000"/>
              </a:lnSpc>
            </a:pPr>
            <a:r>
              <a:rPr lang="en-US" sz="2175" b="1">
                <a:solidFill>
                  <a:srgbClr val="0E3F8C"/>
                </a:solidFill>
                <a:latin typeface="Microsoft YaHei"/>
                <a:ea typeface="Microsoft YaHei"/>
              </a:rPr>
              <a:t>Exercise 4.1 — Actors, Answered</a:t>
            </a:r>
            <a:endParaRPr/>
          </a:p>
        </p:txBody>
      </p:sp>
      <p:sp>
        <p:nvSpPr>
          <p:cNvPr id="625" name="" descr="{&quot;isTemplate&quot;:true,&quot;type&quot;:&quot;text&quot;}"/>
          <p:cNvSpPr txBox="1"/>
          <p:nvPr/>
        </p:nvSpPr>
        <p:spPr>
          <a:xfrm rot="0" flipH="0" flipV="0">
            <a:off x="11401425" y="904875"/>
            <a:ext cx="409575" cy="161925"/>
          </a:xfrm>
          <a:prstGeom prst="rect"/>
        </p:spPr>
        <p:txBody>
          <a:bodyPr wrap="none" lIns="0" tIns="0" rIns="0" bIns="0"/>
          <a:p>
            <a:pPr>
              <a:lnSpc>
                <a:spcPct val="100000"/>
              </a:lnSpc>
            </a:pPr>
            <a:r>
              <a:rPr lang="en-US" sz="1050" b="1">
                <a:solidFill>
                  <a:srgbClr val="1E4FA8"/>
                </a:solidFill>
                <a:latin typeface="Microsoft YaHei"/>
                <a:ea typeface="Microsoft YaHei"/>
              </a:rPr>
              <a:t>33 / 38</a:t>
            </a:r>
            <a:endParaRPr/>
          </a:p>
        </p:txBody>
      </p:sp>
      <p:graphicFrame>
        <p:nvGraphicFramePr>
          <p:cNvPr id="626" name=""/>
          <p:cNvGraphicFramePr/>
          <p:nvPr/>
        </p:nvGraphicFramePr>
        <p:xfrm rot="0" flipH="0" flipV="0">
          <a:off x="381000" y="1247775"/>
          <a:ext cx="11430000" cy="5114925"/>
        </p:xfrm>
        <a:graphic>
          <a:graphicData uri="http://schemas.openxmlformats.org/drawingml/2006/table">
            <a:tbl>
              <a:tblGrid>
                <a:gridCol w="2071722">
                  <a:extLst>
                    <a:ext uri="{9D8B030D-6E8A-4147-A177-3AD203B41FA5}">
                      <a16:colId val="1"/>
                    </a:ext>
                  </a:extLst>
                </a:gridCol>
                <a:gridCol w="1839405">
                  <a:extLst>
                    <a:ext uri="{9D8B030D-6E8A-4147-A177-3AD203B41FA5}">
                      <a16:colId val="2"/>
                    </a:ext>
                  </a:extLst>
                </a:gridCol>
                <a:gridCol w="3561284">
                  <a:extLst>
                    <a:ext uri="{9D8B030D-6E8A-4147-A177-3AD203B41FA5}">
                      <a16:colId val="3"/>
                    </a:ext>
                  </a:extLst>
                </a:gridCol>
                <a:gridCol w="3957590">
                  <a:extLst>
                    <a:ext uri="{9D8B030D-6E8A-4147-A177-3AD203B41FA5}">
                      <a16:colId val="4"/>
                    </a:ext>
                  </a:extLst>
                </a:gridCol>
              </a:tblGrid>
              <a:tr h="511493">
                <a:tc>
                  <a:txBody>
                    <a:bodyPr wrap="square" lIns="0" tIns="0" rIns="0" bIns="0" anchor="ctr">
                      <a:normAutofit/>
                    </a:bodyPr>
                    <a:p>
                      <a:pPr marL="114300" marR="114300" algn="l">
                        <a:lnSpc>
                          <a:spcPct val="120000"/>
                        </a:lnSpc>
                      </a:pPr>
                      <a:r>
                        <a:rPr sz="975" b="1">
                          <a:solidFill>
                            <a:srgbClr val="FFFFFF"/>
                          </a:solidFill>
                          <a:latin typeface="Microsoft YaHei"/>
                          <a:ea typeface="Microsoft YaHei"/>
                        </a:rPr>
                        <a:t>Actor</a:t>
                      </a:r>
                      <a:endParaRPr/>
                    </a:p>
                  </a:txBody>
                  <a:tcPr marL="45720" marR="45720" marT="45720" marB="45720" anchor="ctr">
                    <a:lnL>
                      <a:noFill/>
                    </a:lnL>
                    <a:lnR>
                      <a:noFill/>
                    </a:lnR>
                    <a:lnT>
                      <a:noFill/>
                    </a:lnT>
                    <a:lnB>
                      <a:noFill/>
                    </a:lnB>
                    <a:solidFill>
                      <a:srgbClr val="0E3F8C"/>
                    </a:solidFill>
                  </a:tcPr>
                </a:tc>
                <a:tc>
                  <a:txBody>
                    <a:bodyPr wrap="square" lIns="0" tIns="0" rIns="0" bIns="0" anchor="ctr">
                      <a:normAutofit/>
                    </a:bodyPr>
                    <a:p>
                      <a:pPr marL="114300" marR="114300" algn="l">
                        <a:lnSpc>
                          <a:spcPct val="120000"/>
                        </a:lnSpc>
                      </a:pPr>
                      <a:r>
                        <a:rPr sz="975" b="1">
                          <a:solidFill>
                            <a:srgbClr val="FFFFFF"/>
                          </a:solidFill>
                          <a:latin typeface="Microsoft YaHei"/>
                          <a:ea typeface="Microsoft YaHei"/>
                        </a:rPr>
                        <a:t>Primary / secondary</a:t>
                      </a:r>
                      <a:endParaRPr/>
                    </a:p>
                  </a:txBody>
                  <a:tcPr marL="45720" marR="45720" marT="45720" marB="45720" anchor="ctr">
                    <a:lnL>
                      <a:noFill/>
                    </a:lnL>
                    <a:lnR>
                      <a:noFill/>
                    </a:lnR>
                    <a:lnT>
                      <a:noFill/>
                    </a:lnT>
                    <a:lnB>
                      <a:noFill/>
                    </a:lnB>
                    <a:solidFill>
                      <a:srgbClr val="0E3F8C"/>
                    </a:solidFill>
                  </a:tcPr>
                </a:tc>
                <a:tc>
                  <a:txBody>
                    <a:bodyPr wrap="square" lIns="0" tIns="0" rIns="0" bIns="0" anchor="ctr">
                      <a:normAutofit/>
                    </a:bodyPr>
                    <a:p>
                      <a:pPr marL="114300" marR="114300" algn="l">
                        <a:lnSpc>
                          <a:spcPct val="120000"/>
                        </a:lnSpc>
                      </a:pPr>
                      <a:r>
                        <a:rPr sz="975" b="1">
                          <a:solidFill>
                            <a:srgbClr val="FFFFFF"/>
                          </a:solidFill>
                          <a:latin typeface="Microsoft YaHei"/>
                          <a:ea typeface="Microsoft YaHei"/>
                        </a:rPr>
                        <a:t>The goal they own</a:t>
                      </a:r>
                      <a:endParaRPr/>
                    </a:p>
                  </a:txBody>
                  <a:tcPr marL="45720" marR="45720" marT="45720" marB="45720" anchor="ctr">
                    <a:lnL>
                      <a:noFill/>
                    </a:lnL>
                    <a:lnR>
                      <a:noFill/>
                    </a:lnR>
                    <a:lnT>
                      <a:noFill/>
                    </a:lnT>
                    <a:lnB>
                      <a:noFill/>
                    </a:lnB>
                    <a:solidFill>
                      <a:srgbClr val="1E4FA8"/>
                    </a:solidFill>
                  </a:tcPr>
                </a:tc>
                <a:tc>
                  <a:txBody>
                    <a:bodyPr wrap="square" lIns="0" tIns="0" rIns="0" bIns="0" anchor="ctr">
                      <a:normAutofit/>
                    </a:bodyPr>
                    <a:p>
                      <a:pPr marL="114300" marR="114300" algn="l">
                        <a:lnSpc>
                          <a:spcPct val="120000"/>
                        </a:lnSpc>
                      </a:pPr>
                      <a:r>
                        <a:rPr sz="975" b="1">
                          <a:solidFill>
                            <a:srgbClr val="FFFFFF"/>
                          </a:solidFill>
                          <a:latin typeface="Microsoft YaHei"/>
                          <a:ea typeface="Microsoft YaHei"/>
                        </a:rPr>
                        <a:t>Why they are here</a:t>
                      </a:r>
                      <a:endParaRPr/>
                    </a:p>
                  </a:txBody>
                  <a:tcPr marL="45720" marR="45720" marT="45720" marB="45720" anchor="ctr">
                    <a:lnL>
                      <a:noFill/>
                    </a:lnL>
                    <a:lnR>
                      <a:noFill/>
                    </a:lnR>
                    <a:lnT>
                      <a:noFill/>
                    </a:lnT>
                    <a:lnB>
                      <a:noFill/>
                    </a:lnB>
                    <a:solidFill>
                      <a:srgbClr val="1E4FA8"/>
                    </a:solidFill>
                  </a:tcPr>
                </a:tc>
                <a:extLst>
                  <a:ext uri="{0D108BD9-81ED-4DB2-BD59-A6C34878D82A}">
                    <a16:rowId val="1"/>
                  </a:ext>
                </a:extLst>
              </a:tr>
              <a:tr h="511493">
                <a:tc>
                  <a:txBody>
                    <a:bodyPr wrap="square" lIns="0" tIns="0" rIns="0" bIns="0" anchor="ctr">
                      <a:normAutofit/>
                    </a:bodyPr>
                    <a:p>
                      <a:pPr marL="114300" marR="114300" algn="l">
                        <a:lnSpc>
                          <a:spcPct val="120000"/>
                        </a:lnSpc>
                      </a:pPr>
                      <a:r>
                        <a:rPr sz="975" b="1">
                          <a:solidFill>
                            <a:srgbClr val="0E3F8C"/>
                          </a:solidFill>
                          <a:latin typeface="Microsoft YaHei"/>
                          <a:ea typeface="Microsoft YaHei"/>
                        </a:rPr>
                        <a:t>Student</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975" b="1">
                          <a:solidFill>
                            <a:srgbClr val="1E4FA8"/>
                          </a:solidFill>
                          <a:latin typeface="Microsoft YaHei"/>
                          <a:ea typeface="Microsoft YaHei"/>
                        </a:rPr>
                        <a:t>Primary</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975">
                          <a:solidFill>
                            <a:srgbClr val="4A5568"/>
                          </a:solidFill>
                          <a:latin typeface="Microsoft YaHei"/>
                          <a:ea typeface="Microsoft YaHei"/>
                        </a:rPr>
                        <a:t>Order lunch, pay for it, and know where it is</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975">
                          <a:solidFill>
                            <a:srgbClr val="4A5568"/>
                          </a:solidFill>
                          <a:latin typeface="Microsoft YaHei"/>
                          <a:ea typeface="Microsoft YaHei"/>
                        </a:rPr>
                        <a:t>The reason the platform exists</a:t>
                      </a:r>
                      <a:endParaRPr/>
                    </a:p>
                  </a:txBody>
                  <a:tcPr marL="45720" marR="45720" marT="45720" marB="45720" anchor="ctr">
                    <a:lnL>
                      <a:noFill/>
                    </a:lnL>
                    <a:lnR>
                      <a:noFill/>
                    </a:lnR>
                    <a:lnT>
                      <a:noFill/>
                    </a:lnT>
                    <a:lnB>
                      <a:noFill/>
                    </a:lnB>
                    <a:solidFill>
                      <a:srgbClr val="F7F9FC"/>
                    </a:solidFill>
                  </a:tcPr>
                </a:tc>
                <a:extLst>
                  <a:ext uri="{0D108BD9-81ED-4DB2-BD59-A6C34878D82A}">
                    <a16:rowId val="2"/>
                  </a:ext>
                </a:extLst>
              </a:tr>
              <a:tr h="511493">
                <a:tc>
                  <a:txBody>
                    <a:bodyPr wrap="square" lIns="0" tIns="0" rIns="0" bIns="0" anchor="ctr">
                      <a:normAutofit/>
                    </a:bodyPr>
                    <a:p>
                      <a:pPr marL="114300" marR="114300" algn="l">
                        <a:lnSpc>
                          <a:spcPct val="120000"/>
                        </a:lnSpc>
                      </a:pPr>
                      <a:r>
                        <a:rPr sz="975" b="1">
                          <a:solidFill>
                            <a:srgbClr val="0E3F8C"/>
                          </a:solidFill>
                          <a:latin typeface="Microsoft YaHei"/>
                          <a:ea typeface="Microsoft YaHei"/>
                        </a:rPr>
                        <a:t>Restaurant Manager</a:t>
                      </a:r>
                      <a:endParaRPr/>
                    </a:p>
                  </a:txBody>
                  <a:tcPr marL="45720" marR="45720" marT="45720" marB="45720" anchor="ctr">
                    <a:lnL>
                      <a:noFill/>
                    </a:lnL>
                    <a:lnR>
                      <a:noFill/>
                    </a:lnR>
                    <a:lnT>
                      <a:noFill/>
                    </a:lnT>
                    <a:lnB>
                      <a:noFill/>
                    </a:lnB>
                  </a:tcPr>
                </a:tc>
                <a:tc>
                  <a:txBody>
                    <a:bodyPr wrap="square" lIns="0" tIns="0" rIns="0" bIns="0" anchor="ctr">
                      <a:normAutofit/>
                    </a:bodyPr>
                    <a:p>
                      <a:pPr marL="114300" marR="114300" algn="l">
                        <a:lnSpc>
                          <a:spcPct val="120000"/>
                        </a:lnSpc>
                      </a:pPr>
                      <a:r>
                        <a:rPr sz="975" b="1">
                          <a:solidFill>
                            <a:srgbClr val="1E4FA8"/>
                          </a:solidFill>
                          <a:latin typeface="Microsoft YaHei"/>
                          <a:ea typeface="Microsoft YaHei"/>
                        </a:rPr>
                        <a:t>Primary</a:t>
                      </a:r>
                      <a:endParaRPr/>
                    </a:p>
                  </a:txBody>
                  <a:tcPr marL="45720" marR="45720" marT="45720" marB="45720" anchor="ctr">
                    <a:lnL>
                      <a:noFill/>
                    </a:lnL>
                    <a:lnR>
                      <a:noFill/>
                    </a:lnR>
                    <a:lnT>
                      <a:noFill/>
                    </a:lnT>
                    <a:lnB>
                      <a:noFill/>
                    </a:lnB>
                  </a:tcPr>
                </a:tc>
                <a:tc>
                  <a:txBody>
                    <a:bodyPr wrap="square" lIns="0" tIns="0" rIns="0" bIns="0" anchor="ctr">
                      <a:normAutofit/>
                    </a:bodyPr>
                    <a:p>
                      <a:pPr marL="114300" marR="114300" algn="l">
                        <a:lnSpc>
                          <a:spcPct val="120000"/>
                        </a:lnSpc>
                      </a:pPr>
                      <a:r>
                        <a:rPr sz="975">
                          <a:solidFill>
                            <a:srgbClr val="4A5568"/>
                          </a:solidFill>
                          <a:latin typeface="Microsoft YaHei"/>
                          <a:ea typeface="Microsoft YaHei"/>
                        </a:rPr>
                        <a:t>Keep today’s menu true to the kitchen</a:t>
                      </a:r>
                      <a:endParaRPr/>
                    </a:p>
                  </a:txBody>
                  <a:tcPr marL="45720" marR="45720" marT="45720" marB="45720" anchor="ctr">
                    <a:lnL>
                      <a:noFill/>
                    </a:lnL>
                    <a:lnR>
                      <a:noFill/>
                    </a:lnR>
                    <a:lnT>
                      <a:noFill/>
                    </a:lnT>
                    <a:lnB>
                      <a:noFill/>
                    </a:lnB>
                  </a:tcPr>
                </a:tc>
                <a:tc>
                  <a:txBody>
                    <a:bodyPr wrap="square" lIns="0" tIns="0" rIns="0" bIns="0" anchor="ctr">
                      <a:normAutofit/>
                    </a:bodyPr>
                    <a:p>
                      <a:pPr marL="114300" marR="114300" algn="l">
                        <a:lnSpc>
                          <a:spcPct val="120000"/>
                        </a:lnSpc>
                      </a:pPr>
                      <a:r>
                        <a:rPr sz="975">
                          <a:solidFill>
                            <a:srgbClr val="4A5568"/>
                          </a:solidFill>
                          <a:latin typeface="Microsoft YaHei"/>
                          <a:ea typeface="Microsoft YaHei"/>
                        </a:rPr>
                        <a:t>Marks items sold out before service</a:t>
                      </a:r>
                      <a:endParaRPr/>
                    </a:p>
                  </a:txBody>
                  <a:tcPr marL="45720" marR="45720" marT="45720" marB="45720" anchor="ctr">
                    <a:lnL>
                      <a:noFill/>
                    </a:lnL>
                    <a:lnR>
                      <a:noFill/>
                    </a:lnR>
                    <a:lnT>
                      <a:noFill/>
                    </a:lnT>
                    <a:lnB>
                      <a:noFill/>
                    </a:lnB>
                  </a:tcPr>
                </a:tc>
                <a:extLst>
                  <a:ext uri="{0D108BD9-81ED-4DB2-BD59-A6C34878D82A}">
                    <a16:rowId val="3"/>
                  </a:ext>
                </a:extLst>
              </a:tr>
              <a:tr h="511493">
                <a:tc>
                  <a:txBody>
                    <a:bodyPr wrap="square" lIns="0" tIns="0" rIns="0" bIns="0" anchor="ctr">
                      <a:normAutofit/>
                    </a:bodyPr>
                    <a:p>
                      <a:pPr marL="114300" marR="114300" algn="l">
                        <a:lnSpc>
                          <a:spcPct val="120000"/>
                        </a:lnSpc>
                      </a:pPr>
                      <a:r>
                        <a:rPr sz="975" b="1">
                          <a:solidFill>
                            <a:srgbClr val="0E3F8C"/>
                          </a:solidFill>
                          <a:latin typeface="Microsoft YaHei"/>
                          <a:ea typeface="Microsoft YaHei"/>
                        </a:rPr>
                        <a:t>Kitchen Staff</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975" b="1">
                          <a:solidFill>
                            <a:srgbClr val="1E4FA8"/>
                          </a:solidFill>
                          <a:latin typeface="Microsoft YaHei"/>
                          <a:ea typeface="Microsoft YaHei"/>
                        </a:rPr>
                        <a:t>Primary</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975">
                          <a:solidFill>
                            <a:srgbClr val="4A5568"/>
                          </a:solidFill>
                          <a:latin typeface="Microsoft YaHei"/>
                          <a:ea typeface="Microsoft YaHei"/>
                        </a:rPr>
                        <a:t>Receive an order and mark it ready</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975">
                          <a:solidFill>
                            <a:srgbClr val="4A5568"/>
                          </a:solidFill>
                          <a:latin typeface="Microsoft YaHei"/>
                          <a:ea typeface="Microsoft YaHei"/>
                        </a:rPr>
                        <a:t>Works from the wall tablet, not a phone</a:t>
                      </a:r>
                      <a:endParaRPr/>
                    </a:p>
                  </a:txBody>
                  <a:tcPr marL="45720" marR="45720" marT="45720" marB="45720" anchor="ctr">
                    <a:lnL>
                      <a:noFill/>
                    </a:lnL>
                    <a:lnR>
                      <a:noFill/>
                    </a:lnR>
                    <a:lnT>
                      <a:noFill/>
                    </a:lnT>
                    <a:lnB>
                      <a:noFill/>
                    </a:lnB>
                    <a:solidFill>
                      <a:srgbClr val="F7F9FC"/>
                    </a:solidFill>
                  </a:tcPr>
                </a:tc>
                <a:extLst>
                  <a:ext uri="{0D108BD9-81ED-4DB2-BD59-A6C34878D82A}">
                    <a16:rowId val="4"/>
                  </a:ext>
                </a:extLst>
              </a:tr>
              <a:tr h="511493">
                <a:tc>
                  <a:txBody>
                    <a:bodyPr wrap="square" lIns="0" tIns="0" rIns="0" bIns="0" anchor="ctr">
                      <a:normAutofit/>
                    </a:bodyPr>
                    <a:p>
                      <a:pPr marL="114300" marR="114300" algn="l">
                        <a:lnSpc>
                          <a:spcPct val="120000"/>
                        </a:lnSpc>
                      </a:pPr>
                      <a:r>
                        <a:rPr sz="975" b="1">
                          <a:solidFill>
                            <a:srgbClr val="0E3F8C"/>
                          </a:solidFill>
                          <a:latin typeface="Microsoft YaHei"/>
                          <a:ea typeface="Microsoft YaHei"/>
                        </a:rPr>
                        <a:t>Dispatcher</a:t>
                      </a:r>
                      <a:endParaRPr/>
                    </a:p>
                  </a:txBody>
                  <a:tcPr marL="45720" marR="45720" marT="45720" marB="45720" anchor="ctr">
                    <a:lnL>
                      <a:noFill/>
                    </a:lnL>
                    <a:lnR>
                      <a:noFill/>
                    </a:lnR>
                    <a:lnT>
                      <a:noFill/>
                    </a:lnT>
                    <a:lnB>
                      <a:noFill/>
                    </a:lnB>
                  </a:tcPr>
                </a:tc>
                <a:tc>
                  <a:txBody>
                    <a:bodyPr wrap="square" lIns="0" tIns="0" rIns="0" bIns="0" anchor="ctr">
                      <a:normAutofit/>
                    </a:bodyPr>
                    <a:p>
                      <a:pPr marL="114300" marR="114300" algn="l">
                        <a:lnSpc>
                          <a:spcPct val="120000"/>
                        </a:lnSpc>
                      </a:pPr>
                      <a:r>
                        <a:rPr sz="975" b="1">
                          <a:solidFill>
                            <a:srgbClr val="1E4FA8"/>
                          </a:solidFill>
                          <a:latin typeface="Microsoft YaHei"/>
                          <a:ea typeface="Microsoft YaHei"/>
                        </a:rPr>
                        <a:t>Primary</a:t>
                      </a:r>
                      <a:endParaRPr/>
                    </a:p>
                  </a:txBody>
                  <a:tcPr marL="45720" marR="45720" marT="45720" marB="45720" anchor="ctr">
                    <a:lnL>
                      <a:noFill/>
                    </a:lnL>
                    <a:lnR>
                      <a:noFill/>
                    </a:lnR>
                    <a:lnT>
                      <a:noFill/>
                    </a:lnT>
                    <a:lnB>
                      <a:noFill/>
                    </a:lnB>
                  </a:tcPr>
                </a:tc>
                <a:tc>
                  <a:txBody>
                    <a:bodyPr wrap="square" lIns="0" tIns="0" rIns="0" bIns="0" anchor="ctr">
                      <a:normAutofit/>
                    </a:bodyPr>
                    <a:p>
                      <a:pPr marL="114300" marR="114300" algn="l">
                        <a:lnSpc>
                          <a:spcPct val="120000"/>
                        </a:lnSpc>
                      </a:pPr>
                      <a:r>
                        <a:rPr sz="975">
                          <a:solidFill>
                            <a:srgbClr val="4A5568"/>
                          </a:solidFill>
                          <a:latin typeface="Microsoft YaHei"/>
                          <a:ea typeface="Microsoft YaHei"/>
                        </a:rPr>
                        <a:t>Get a ready order onto a courier</a:t>
                      </a:r>
                      <a:endParaRPr/>
                    </a:p>
                  </a:txBody>
                  <a:tcPr marL="45720" marR="45720" marT="45720" marB="45720" anchor="ctr">
                    <a:lnL>
                      <a:noFill/>
                    </a:lnL>
                    <a:lnR>
                      <a:noFill/>
                    </a:lnR>
                    <a:lnT>
                      <a:noFill/>
                    </a:lnT>
                    <a:lnB>
                      <a:noFill/>
                    </a:lnB>
                  </a:tcPr>
                </a:tc>
                <a:tc>
                  <a:txBody>
                    <a:bodyPr wrap="square" lIns="0" tIns="0" rIns="0" bIns="0" anchor="ctr">
                      <a:normAutofit/>
                    </a:bodyPr>
                    <a:p>
                      <a:pPr marL="114300" marR="114300" algn="l">
                        <a:lnSpc>
                          <a:spcPct val="120000"/>
                        </a:lnSpc>
                      </a:pPr>
                      <a:r>
                        <a:rPr sz="975">
                          <a:solidFill>
                            <a:srgbClr val="4A5568"/>
                          </a:solidFill>
                          <a:latin typeface="Microsoft YaHei"/>
                          <a:ea typeface="Microsoft YaHei"/>
                        </a:rPr>
                        <a:t>Assigns, and reassigns when a rider is late</a:t>
                      </a:r>
                      <a:endParaRPr/>
                    </a:p>
                  </a:txBody>
                  <a:tcPr marL="45720" marR="45720" marT="45720" marB="45720" anchor="ctr">
                    <a:lnL>
                      <a:noFill/>
                    </a:lnL>
                    <a:lnR>
                      <a:noFill/>
                    </a:lnR>
                    <a:lnT>
                      <a:noFill/>
                    </a:lnT>
                    <a:lnB>
                      <a:noFill/>
                    </a:lnB>
                  </a:tcPr>
                </a:tc>
                <a:extLst>
                  <a:ext uri="{0D108BD9-81ED-4DB2-BD59-A6C34878D82A}">
                    <a16:rowId val="5"/>
                  </a:ext>
                </a:extLst>
              </a:tr>
              <a:tr h="511493">
                <a:tc>
                  <a:txBody>
                    <a:bodyPr wrap="square" lIns="0" tIns="0" rIns="0" bIns="0" anchor="ctr">
                      <a:normAutofit/>
                    </a:bodyPr>
                    <a:p>
                      <a:pPr marL="114300" marR="114300" algn="l">
                        <a:lnSpc>
                          <a:spcPct val="120000"/>
                        </a:lnSpc>
                      </a:pPr>
                      <a:r>
                        <a:rPr sz="975" b="1">
                          <a:solidFill>
                            <a:srgbClr val="0E3F8C"/>
                          </a:solidFill>
                          <a:latin typeface="Microsoft YaHei"/>
                          <a:ea typeface="Microsoft YaHei"/>
                        </a:rPr>
                        <a:t>Courier</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975" b="1">
                          <a:solidFill>
                            <a:srgbClr val="1E4FA8"/>
                          </a:solidFill>
                          <a:latin typeface="Microsoft YaHei"/>
                          <a:ea typeface="Microsoft YaHei"/>
                        </a:rPr>
                        <a:t>Primary</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975">
                          <a:solidFill>
                            <a:srgbClr val="4A5568"/>
                          </a:solidFill>
                          <a:latin typeface="Microsoft YaHei"/>
                          <a:ea typeface="Microsoft YaHei"/>
                        </a:rPr>
                        <a:t>Deliver an order and prove it arrived</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975">
                          <a:solidFill>
                            <a:srgbClr val="4A5568"/>
                          </a:solidFill>
                          <a:latin typeface="Microsoft YaHei"/>
                          <a:ea typeface="Microsoft YaHei"/>
                        </a:rPr>
                        <a:t>Confirms delivery in the app</a:t>
                      </a:r>
                      <a:endParaRPr/>
                    </a:p>
                  </a:txBody>
                  <a:tcPr marL="45720" marR="45720" marT="45720" marB="45720" anchor="ctr">
                    <a:lnL>
                      <a:noFill/>
                    </a:lnL>
                    <a:lnR>
                      <a:noFill/>
                    </a:lnR>
                    <a:lnT>
                      <a:noFill/>
                    </a:lnT>
                    <a:lnB>
                      <a:noFill/>
                    </a:lnB>
                    <a:solidFill>
                      <a:srgbClr val="F7F9FC"/>
                    </a:solidFill>
                  </a:tcPr>
                </a:tc>
                <a:extLst>
                  <a:ext uri="{0D108BD9-81ED-4DB2-BD59-A6C34878D82A}">
                    <a16:rowId val="6"/>
                  </a:ext>
                </a:extLst>
              </a:tr>
              <a:tr h="511493">
                <a:tc>
                  <a:txBody>
                    <a:bodyPr wrap="square" lIns="0" tIns="0" rIns="0" bIns="0" anchor="ctr">
                      <a:normAutofit/>
                    </a:bodyPr>
                    <a:p>
                      <a:pPr marL="114300" marR="114300" algn="l">
                        <a:lnSpc>
                          <a:spcPct val="120000"/>
                        </a:lnSpc>
                      </a:pPr>
                      <a:r>
                        <a:rPr sz="975" b="1">
                          <a:solidFill>
                            <a:srgbClr val="0E3F8C"/>
                          </a:solidFill>
                          <a:latin typeface="Microsoft YaHei"/>
                          <a:ea typeface="Microsoft YaHei"/>
                        </a:rPr>
                        <a:t>Platform Administrator</a:t>
                      </a:r>
                      <a:endParaRPr/>
                    </a:p>
                  </a:txBody>
                  <a:tcPr marL="45720" marR="45720" marT="45720" marB="45720" anchor="ctr">
                    <a:lnL>
                      <a:noFill/>
                    </a:lnL>
                    <a:lnR>
                      <a:noFill/>
                    </a:lnR>
                    <a:lnT>
                      <a:noFill/>
                    </a:lnT>
                    <a:lnB>
                      <a:noFill/>
                    </a:lnB>
                  </a:tcPr>
                </a:tc>
                <a:tc>
                  <a:txBody>
                    <a:bodyPr wrap="square" lIns="0" tIns="0" rIns="0" bIns="0" anchor="ctr">
                      <a:normAutofit/>
                    </a:bodyPr>
                    <a:p>
                      <a:pPr marL="114300" marR="114300" algn="l">
                        <a:lnSpc>
                          <a:spcPct val="120000"/>
                        </a:lnSpc>
                      </a:pPr>
                      <a:r>
                        <a:rPr sz="975" b="1">
                          <a:solidFill>
                            <a:srgbClr val="1E4FA8"/>
                          </a:solidFill>
                          <a:latin typeface="Microsoft YaHei"/>
                          <a:ea typeface="Microsoft YaHei"/>
                        </a:rPr>
                        <a:t>Primary</a:t>
                      </a:r>
                      <a:endParaRPr/>
                    </a:p>
                  </a:txBody>
                  <a:tcPr marL="45720" marR="45720" marT="45720" marB="45720" anchor="ctr">
                    <a:lnL>
                      <a:noFill/>
                    </a:lnL>
                    <a:lnR>
                      <a:noFill/>
                    </a:lnR>
                    <a:lnT>
                      <a:noFill/>
                    </a:lnT>
                    <a:lnB>
                      <a:noFill/>
                    </a:lnB>
                  </a:tcPr>
                </a:tc>
                <a:tc>
                  <a:txBody>
                    <a:bodyPr wrap="square" lIns="0" tIns="0" rIns="0" bIns="0" anchor="ctr">
                      <a:normAutofit/>
                    </a:bodyPr>
                    <a:p>
                      <a:pPr marL="114300" marR="114300" algn="l">
                        <a:lnSpc>
                          <a:spcPct val="120000"/>
                        </a:lnSpc>
                      </a:pPr>
                      <a:r>
                        <a:rPr sz="975">
                          <a:solidFill>
                            <a:srgbClr val="4A5568"/>
                          </a:solidFill>
                          <a:latin typeface="Microsoft YaHei"/>
                          <a:ea typeface="Microsoft YaHei"/>
                        </a:rPr>
                        <a:t>Protect students from failing restaurants</a:t>
                      </a:r>
                      <a:endParaRPr/>
                    </a:p>
                  </a:txBody>
                  <a:tcPr marL="45720" marR="45720" marT="45720" marB="45720" anchor="ctr">
                    <a:lnL>
                      <a:noFill/>
                    </a:lnL>
                    <a:lnR>
                      <a:noFill/>
                    </a:lnR>
                    <a:lnT>
                      <a:noFill/>
                    </a:lnT>
                    <a:lnB>
                      <a:noFill/>
                    </a:lnB>
                  </a:tcPr>
                </a:tc>
                <a:tc>
                  <a:txBody>
                    <a:bodyPr wrap="square" lIns="0" tIns="0" rIns="0" bIns="0" anchor="ctr">
                      <a:normAutofit/>
                    </a:bodyPr>
                    <a:p>
                      <a:pPr marL="114300" marR="114300" algn="l">
                        <a:lnSpc>
                          <a:spcPct val="120000"/>
                        </a:lnSpc>
                      </a:pPr>
                      <a:r>
                        <a:rPr sz="975">
                          <a:solidFill>
                            <a:srgbClr val="4A5568"/>
                          </a:solidFill>
                          <a:latin typeface="Microsoft YaHei"/>
                          <a:ea typeface="Microsoft YaHei"/>
                        </a:rPr>
                        <a:t>Suspends after three ratings below two stars</a:t>
                      </a:r>
                      <a:endParaRPr/>
                    </a:p>
                  </a:txBody>
                  <a:tcPr marL="45720" marR="45720" marT="45720" marB="45720" anchor="ctr">
                    <a:lnL>
                      <a:noFill/>
                    </a:lnL>
                    <a:lnR>
                      <a:noFill/>
                    </a:lnR>
                    <a:lnT>
                      <a:noFill/>
                    </a:lnT>
                    <a:lnB>
                      <a:noFill/>
                    </a:lnB>
                  </a:tcPr>
                </a:tc>
                <a:extLst>
                  <a:ext uri="{0D108BD9-81ED-4DB2-BD59-A6C34878D82A}">
                    <a16:rowId val="7"/>
                  </a:ext>
                </a:extLst>
              </a:tr>
              <a:tr h="511493">
                <a:tc>
                  <a:txBody>
                    <a:bodyPr wrap="square" lIns="0" tIns="0" rIns="0" bIns="0" anchor="ctr">
                      <a:normAutofit/>
                    </a:bodyPr>
                    <a:p>
                      <a:pPr marL="114300" marR="114300" algn="l">
                        <a:lnSpc>
                          <a:spcPct val="120000"/>
                        </a:lnSpc>
                      </a:pPr>
                      <a:r>
                        <a:rPr sz="975" b="1">
                          <a:solidFill>
                            <a:srgbClr val="8B97A8"/>
                          </a:solidFill>
                          <a:latin typeface="Microsoft YaHei"/>
                          <a:ea typeface="Microsoft YaHei"/>
                        </a:rPr>
                        <a:t>Campus Card Centre</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975" b="1">
                          <a:solidFill>
                            <a:srgbClr val="8B97A8"/>
                          </a:solidFill>
                          <a:latin typeface="Microsoft YaHei"/>
                          <a:ea typeface="Microsoft YaHei"/>
                        </a:rPr>
                        <a:t>Secondary</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975">
                          <a:solidFill>
                            <a:srgbClr val="4A5568"/>
                          </a:solidFill>
                          <a:latin typeface="Microsoft YaHei"/>
                          <a:ea typeface="Microsoft YaHei"/>
                        </a:rPr>
                        <a:t>None of its own — it serves us</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975">
                          <a:solidFill>
                            <a:srgbClr val="4A5568"/>
                          </a:solidFill>
                          <a:latin typeface="Microsoft YaHei"/>
                          <a:ea typeface="Microsoft YaHei"/>
                        </a:rPr>
                        <a:t>Authenticates the student and clears the charge</a:t>
                      </a:r>
                      <a:endParaRPr/>
                    </a:p>
                  </a:txBody>
                  <a:tcPr marL="45720" marR="45720" marT="45720" marB="45720" anchor="ctr">
                    <a:lnL>
                      <a:noFill/>
                    </a:lnL>
                    <a:lnR>
                      <a:noFill/>
                    </a:lnR>
                    <a:lnT>
                      <a:noFill/>
                    </a:lnT>
                    <a:lnB>
                      <a:noFill/>
                    </a:lnB>
                    <a:solidFill>
                      <a:srgbClr val="F7F9FC"/>
                    </a:solidFill>
                  </a:tcPr>
                </a:tc>
                <a:extLst>
                  <a:ext uri="{0D108BD9-81ED-4DB2-BD59-A6C34878D82A}">
                    <a16:rowId val="8"/>
                  </a:ext>
                </a:extLst>
              </a:tr>
              <a:tr h="511493">
                <a:tc>
                  <a:txBody>
                    <a:bodyPr wrap="square" lIns="0" tIns="0" rIns="0" bIns="0" anchor="ctr">
                      <a:normAutofit/>
                    </a:bodyPr>
                    <a:p>
                      <a:pPr marL="114300" marR="114300" algn="l">
                        <a:lnSpc>
                          <a:spcPct val="120000"/>
                        </a:lnSpc>
                      </a:pPr>
                      <a:r>
                        <a:rPr sz="975" b="1">
                          <a:solidFill>
                            <a:srgbClr val="8B97A8"/>
                          </a:solidFill>
                          <a:latin typeface="Microsoft YaHei"/>
                          <a:ea typeface="Microsoft YaHei"/>
                        </a:rPr>
                        <a:t>Payment Provider</a:t>
                      </a:r>
                      <a:endParaRPr/>
                    </a:p>
                  </a:txBody>
                  <a:tcPr marL="45720" marR="45720" marT="45720" marB="45720" anchor="ctr">
                    <a:lnL>
                      <a:noFill/>
                    </a:lnL>
                    <a:lnR>
                      <a:noFill/>
                    </a:lnR>
                    <a:lnT>
                      <a:noFill/>
                    </a:lnT>
                    <a:lnB>
                      <a:noFill/>
                    </a:lnB>
                  </a:tcPr>
                </a:tc>
                <a:tc>
                  <a:txBody>
                    <a:bodyPr wrap="square" lIns="0" tIns="0" rIns="0" bIns="0" anchor="ctr">
                      <a:normAutofit/>
                    </a:bodyPr>
                    <a:p>
                      <a:pPr marL="114300" marR="114300" algn="l">
                        <a:lnSpc>
                          <a:spcPct val="120000"/>
                        </a:lnSpc>
                      </a:pPr>
                      <a:r>
                        <a:rPr sz="975" b="1">
                          <a:solidFill>
                            <a:srgbClr val="8B97A8"/>
                          </a:solidFill>
                          <a:latin typeface="Microsoft YaHei"/>
                          <a:ea typeface="Microsoft YaHei"/>
                        </a:rPr>
                        <a:t>Secondary</a:t>
                      </a:r>
                      <a:endParaRPr/>
                    </a:p>
                  </a:txBody>
                  <a:tcPr marL="45720" marR="45720" marT="45720" marB="45720" anchor="ctr">
                    <a:lnL>
                      <a:noFill/>
                    </a:lnL>
                    <a:lnR>
                      <a:noFill/>
                    </a:lnR>
                    <a:lnT>
                      <a:noFill/>
                    </a:lnT>
                    <a:lnB>
                      <a:noFill/>
                    </a:lnB>
                  </a:tcPr>
                </a:tc>
                <a:tc>
                  <a:txBody>
                    <a:bodyPr wrap="square" lIns="0" tIns="0" rIns="0" bIns="0" anchor="ctr">
                      <a:normAutofit/>
                    </a:bodyPr>
                    <a:p>
                      <a:pPr marL="114300" marR="114300" algn="l">
                        <a:lnSpc>
                          <a:spcPct val="120000"/>
                        </a:lnSpc>
                      </a:pPr>
                      <a:r>
                        <a:rPr sz="975">
                          <a:solidFill>
                            <a:srgbClr val="4A5568"/>
                          </a:solidFill>
                          <a:latin typeface="Microsoft YaHei"/>
                          <a:ea typeface="Microsoft YaHei"/>
                        </a:rPr>
                        <a:t>None of its own</a:t>
                      </a:r>
                      <a:endParaRPr/>
                    </a:p>
                  </a:txBody>
                  <a:tcPr marL="45720" marR="45720" marT="45720" marB="45720" anchor="ctr">
                    <a:lnL>
                      <a:noFill/>
                    </a:lnL>
                    <a:lnR>
                      <a:noFill/>
                    </a:lnR>
                    <a:lnT>
                      <a:noFill/>
                    </a:lnT>
                    <a:lnB>
                      <a:noFill/>
                    </a:lnB>
                  </a:tcPr>
                </a:tc>
                <a:tc>
                  <a:txBody>
                    <a:bodyPr wrap="square" lIns="0" tIns="0" rIns="0" bIns="0" anchor="ctr">
                      <a:normAutofit/>
                    </a:bodyPr>
                    <a:p>
                      <a:pPr marL="114300" marR="114300" algn="l">
                        <a:lnSpc>
                          <a:spcPct val="120000"/>
                        </a:lnSpc>
                      </a:pPr>
                      <a:r>
                        <a:rPr sz="975">
                          <a:solidFill>
                            <a:srgbClr val="4A5568"/>
                          </a:solidFill>
                          <a:latin typeface="Microsoft YaHei"/>
                          <a:ea typeface="Microsoft YaHei"/>
                        </a:rPr>
                        <a:t>Takes wallet payments; tells us yes or no</a:t>
                      </a:r>
                      <a:endParaRPr/>
                    </a:p>
                  </a:txBody>
                  <a:tcPr marL="45720" marR="45720" marT="45720" marB="45720" anchor="ctr">
                    <a:lnL>
                      <a:noFill/>
                    </a:lnL>
                    <a:lnR>
                      <a:noFill/>
                    </a:lnR>
                    <a:lnT>
                      <a:noFill/>
                    </a:lnT>
                    <a:lnB>
                      <a:noFill/>
                    </a:lnB>
                  </a:tcPr>
                </a:tc>
                <a:extLst>
                  <a:ext uri="{0D108BD9-81ED-4DB2-BD59-A6C34878D82A}">
                    <a16:rowId val="9"/>
                  </a:ext>
                </a:extLst>
              </a:tr>
              <a:tr h="511493">
                <a:tc>
                  <a:txBody>
                    <a:bodyPr wrap="square" lIns="0" tIns="0" rIns="0" bIns="0" anchor="ctr">
                      <a:normAutofit/>
                    </a:bodyPr>
                    <a:p>
                      <a:pPr marL="114300" marR="114300" algn="l">
                        <a:lnSpc>
                          <a:spcPct val="120000"/>
                        </a:lnSpc>
                      </a:pPr>
                      <a:r>
                        <a:rPr sz="975" b="1">
                          <a:solidFill>
                            <a:srgbClr val="8B97A8"/>
                          </a:solidFill>
                          <a:latin typeface="Microsoft YaHei"/>
                          <a:ea typeface="Microsoft YaHei"/>
                        </a:rPr>
                        <a:t>Email Service</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975" b="1">
                          <a:solidFill>
                            <a:srgbClr val="8B97A8"/>
                          </a:solidFill>
                          <a:latin typeface="Microsoft YaHei"/>
                          <a:ea typeface="Microsoft YaHei"/>
                        </a:rPr>
                        <a:t>Secondary</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975">
                          <a:solidFill>
                            <a:srgbClr val="4A5568"/>
                          </a:solidFill>
                          <a:latin typeface="Microsoft YaHei"/>
                          <a:ea typeface="Microsoft YaHei"/>
                        </a:rPr>
                        <a:t>None of its own</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975">
                          <a:solidFill>
                            <a:srgbClr val="4A5568"/>
                          </a:solidFill>
                          <a:latin typeface="Microsoft YaHei"/>
                          <a:ea typeface="Microsoft YaHei"/>
                        </a:rPr>
                        <a:t>Carries the 23:00 sales report to each restaurant</a:t>
                      </a:r>
                      <a:endParaRPr/>
                    </a:p>
                  </a:txBody>
                  <a:tcPr marL="45720" marR="45720" marT="45720" marB="45720" anchor="ctr">
                    <a:lnL>
                      <a:noFill/>
                    </a:lnL>
                    <a:lnR>
                      <a:noFill/>
                    </a:lnR>
                    <a:lnT>
                      <a:noFill/>
                    </a:lnT>
                    <a:lnB>
                      <a:noFill/>
                    </a:lnB>
                    <a:solidFill>
                      <a:srgbClr val="F7F9FC"/>
                    </a:solidFill>
                  </a:tcPr>
                </a:tc>
                <a:extLst>
                  <a:ext uri="{0D108BD9-81ED-4DB2-BD59-A6C34878D82A}">
                    <a16:rowId val="10"/>
                  </a:ext>
                </a:extLst>
              </a:tr>
            </a:tbl>
          </a:graphicData>
        </a:graphic>
      </p:graphicFrame>
      <p:sp>
        <p:nvSpPr>
          <p:cNvPr id="627" name=""/>
          <p:cNvSpPr/>
          <p:nvPr/>
        </p:nvSpPr>
        <p:spPr>
          <a:xfrm rot="0" flipH="0" flipV="0">
            <a:off x="0" y="6419850"/>
            <a:ext cx="12192000" cy="438150"/>
          </a:xfrm>
          <a:prstGeom prst="rect">
            <a:avLst/>
          </a:prstGeom>
          <a:solidFill>
            <a:srgbClr val="0E3F8C"/>
          </a:solidFill>
          <a:ln/>
        </p:spPr>
        <p:txBody>
          <a:bodyPr/>
          <a:p/>
        </p:txBody>
      </p:sp>
      <p:sp>
        <p:nvSpPr>
          <p:cNvPr id="628" name="" descr="{&quot;isTemplate&quot;:true,&quot;type&quot;:&quot;text&quot;}"/>
          <p:cNvSpPr txBox="1"/>
          <p:nvPr/>
        </p:nvSpPr>
        <p:spPr>
          <a:xfrm rot="0" flipH="0" flipV="0">
            <a:off x="2162175" y="6553200"/>
            <a:ext cx="7877175" cy="180975"/>
          </a:xfrm>
          <a:prstGeom prst="rect"/>
        </p:spPr>
        <p:txBody>
          <a:bodyPr wrap="none" lIns="0" tIns="0" rIns="0" bIns="0"/>
          <a:p>
            <a:pPr>
              <a:lnSpc>
                <a:spcPct val="100000"/>
              </a:lnSpc>
            </a:pPr>
            <a:r>
              <a:rPr lang="en-US" sz="1163" b="1">
                <a:solidFill>
                  <a:srgbClr val="FFFFFF"/>
                </a:solidFill>
                <a:latin typeface="Microsoft YaHei"/>
                <a:ea typeface="Microsoft YaHei"/>
              </a:rPr>
              <a:t>The trap: authenticate and charge are things the card centre does for us — they are actors, never our use cases.</a:t>
            </a:r>
            <a:endParaRPr/>
          </a:p>
        </p:txBody>
      </p:sp>
    </p:spTree>
  </p:cSld>
</p:sld>
</file>

<file path=ppt/slides/slide34.xml><?xml version="1.0" encoding="utf-8"?>
<p:sld xmlns:a16="http://schemas.microsoft.com/office/drawing/2014/main" xmlns:a="http://schemas.openxmlformats.org/drawingml/2006/main" xmlns:p="http://schemas.openxmlformats.org/presentationml/2006/main" xmlns:mc="http://schemas.openxmlformats.org/markup-compatibility/2006" mc:Ignorable="a16">
  <p:cSld>
    <p:spTree>
      <p:nvGrpSpPr>
        <p:cNvPr id="629" name="" descr="&lt;Slide style={{ background: '#FFFFFF', padding: 0 }}&gt;&#10;  &lt;Box style={{ height: 72, background: '#1E4FA8', padding: '0 40px', flexDirection: 'row', alignItems: 'center', justifyContent: 'space-between' }}&gt;&#10;    &lt;Text style={{ fontSize: 15, color: '#B9CDF0', letterSpacing: 1 }}&gt;ISAD · INFORMATION SYSTEMS ANALYSIS &amp;amp; DESIGN&lt;/Text&gt;&#10;    &lt;Text style={{ fontSize: 15, color: '#B9CDF0' }}&gt;W04 · LAB · EXERCISE 4.1&lt;/Text&gt;&#10;  &lt;/Box&gt;&#10;  &lt;Box style={{ padding: '14px 40px 0 40px', flexDirection: 'row', alignItems: 'center', justifyContent: 'space-between' }}&gt;&#10;    &lt;Text style={{ fontSize: 29, fontWeight: 'bold', color: '#0E3F8C' }}&gt;Exercise 4.1 — Use Cases, Answered&lt;/Text&gt;&#10;    &lt;Text style={{ fontSize: 14, color: '#1E4FA8', fontWeight: 'bold' }}&gt;34 / 38&lt;/Text&gt;&#10;  &lt;/Box&gt;&#10;  &lt;Box style={{ flex: 1, padding: '10px 40px 6px 40px' }}&gt;&#10;    &lt;Table&#10;      style={{ width: '100%', height: '100%' }}&#10;      defaultTextStyle={{ fontSize: 13, textAlign: 'left', color: '#1A2230' }}&#10;      defaultCellStyle={{&#10;        border: {&#10;          left: { width: 1, color: '#E5E7EB' },&#10;          right: { width: 1, color: '#E5E7EB' },&#10;          top: { width: 1, color: '#E5E7EB' },&#10;          bottom: { width: 1, color: '#E5E7EB' },&#10;        },&#10;      }}&#10;      cells={[&#10;        [&#10;          { text: 'Candidate', textStyle: { bold: true, color: '#FFFFFF' }, cellStyle: { background: { color: '#0E3F8C' } } },&#10;          { text: 'Who wants it', textStyle: { bold: true, color: '#FFFFFF' }, cellStyle: { background: { color: '#0E3F8C' } } },&#10;          { text: 'Goal level?', textStyle: { bold: true, color: '#FFFFFF' }, cellStyle: { background: { color: '#0E3F8C' } } },&#10;          { text: 'Why', textStyle: { bold: true, color: '#FFFFFF' }, cellStyle: { background: { color: '#1E4FA8' } } },&#10;        ],&#10;        [&#10;          { text: 'Browse Menu', textStyle: { bold: true, color: '#0E3F8C' }, cellStyle: { background: { color: '#F7F9FC' } } },&#10;          { text: 'Student', textStyle: { color: '#4A5568' }, cellStyle: { background: { color: '#F7F9FC' } } },&#10;          { text: 'Yes', textStyle: { color: '#1E4FA8', bold: true }, cellStyle: { background: { color: '#F7F9FC' } } },&#10;          { text: 'A student can browse and leave. It ends, on its own.', textStyle: { color: '#4A5568' }, cellStyle: { background: { color: '#F7F9FC' } } },&#10;        ],&#10;        [&#10;          { text: 'Place Order', textStyle: { bold: true, color: '#0E3F8C' } },&#10;          { text: 'Student', textStyle: { color: '#4A5568' } },&#10;          { text: 'Yes', textStyle: { color: '#1E4FA8', bold: true } },&#10;          { text: 'The headline goal. Ends when the order is accepted.', textStyle: { color: '#4A5568' } },&#10;        ],&#10;        [&#10;          { text: 'Authenticate', textStyle: { bold: true, color: '#4A5568' }, cellStyle: { background: { color: '#F7F9FC' } } },&#10;          { text: 'Nobody', textStyle: { color: '#4A5568' }, cellStyle: { background: { color: '#F7F9FC' } } },&#10;          { text: 'No — include', textStyle: { color: '#D9534F', bold: true }, cellStyle: { background: { color: '#F7F9FC' } } },&#10;          { text: 'Nobody comes to log in. Place Order always includes it.', textStyle: { color: '#4A5568' }, cellStyle: { background: { color: '#F7F9FC' } } },&#10;        ],&#10;        [&#10;          { text: 'Calculate Total', textStyle: { bold: true, color: '#4A5568' } },&#10;          { text: 'Nobody', textStyle: { color: '#4A5568' } },&#10;          { text: 'No — step', textStyle: { color: '#D9534F', bold: true } },&#10;          { text: 'One line inside the scenario, not a goal of its own.', textStyle: { color: '#4A5568' } },&#10;        ],&#10;        [&#10;          { text: 'Pay for Order', textStyle: { bold: true, color: '#0E3F8C' }, cellStyle: { background: { color: '#F7F9FC' } } },&#10;          { text: 'Student', textStyle: { color: '#4A5568' }, cellStyle: { background: { color: '#F7F9FC' } } },&#10;          { text: 'Yes', textStyle: { color: '#1E4FA8', bold: true }, cellStyle: { background: { color: '#F7F9FC' } } },&#10;          { text: 'Can happen on its own — pay a later order.', textStyle: { color: '#4A5568' }, cellStyle: { background: { color: '#F7F9FC' } } },&#10;        ],&#10;        [&#10;          { text: 'Manage Today’s Menu', textStyle: { bold: true, color: '#0E3F8C' } },&#10;          { text: 'Restaurant Manager', textStyle: { color: '#4A5568' } },&#10;          { text: 'Yes', textStyle: { color: '#1E4FA8', bold: true } },&#10;          { text: 'Ends when the kitchen sees a menu it can cook.', textStyle: { color: '#4A5568' } },&#10;        ],&#10;        [&#10;          { text: 'Receive Order', textStyle: { bold: true, color: '#0E3F8C' }, cellStyle: { background: { color: '#F7F9FC' } } },&#10;          { text: 'Kitchen Staff', textStyle: { color: '#4A5568' }, cellStyle: { background: { color: '#F7F9FC' } } },&#10;          { text: 'Yes', textStyle: { color: '#1E4FA8', bold: true }, cellStyle: { background: { color: '#F7F9FC' } } },&#10;          { text: 'The kitchen has its own goal: see what to cook.', textStyle: { color: '#4A5568' }, cellStyle: { background: { color: '#F7F9FC' } } },&#10;        ],&#10;        [&#10;          { text: 'Dispatch Courier', textStyle: { bold: true, color: '#0E3F8C' } },&#10;          { text: 'Dispatcher', textStyle: { color: '#4A5568' } },&#10;          { text: 'Yes', textStyle: { color: '#1E4FA8', bold: true } },&#10;          { text: 'Ends when a rider accepts. Different actor, different goal.', textStyle: { color: '#4A5568' } },&#10;        ],&#10;        [&#10;          { text: 'Rate Restaurant', textStyle: { bold: true, color: '#0E3F8C' }, cellStyle: { background: { color: '#F7F9FC' } } },&#10;          { text: 'Student', textStyle: { color: '#4A5568' }, cellStyle: { background: { color: '#F7F9FC' } } },&#10;          { text: 'Yes', textStyle: { color: '#1E4FA8', bold: true }, cellStyle: { background: { color: '#F7F9FC' } } },&#10;          { text: 'Optional, but a goal — and it can extend Confirm Delivery.', textStyle: { color: '#4A5568' }, cellStyle: { background: { color: '#F7F9FC' } } },&#10;        ],&#10;      ]}&#10;    /&gt;&#10;  &lt;/Box&gt;&#10;  &lt;Box style={{ height: 46, background: '#0E3F8C', padding: '0 40px', flexDirection: 'row', alignItems: 'center', justifyContent: 'center' }}&gt;&#10;    &lt;Text style={{ fontSize: 15.5, color: '#FFFFFF', fontWeight: '600' }}&gt;Two more from the pack: Suspend Restaurant (Administrator) and Close the Day (the 23:00 clock) — both goal level.&lt;/Text&gt;&#10;  &lt;/Box&gt;&#10;&lt;/Slide&gt;"/>
        <p:cNvGrpSpPr/>
        <p:nvPr/>
      </p:nvGrpSpPr>
      <p:grpSpPr>
        <a:xfrm>
          <a:off x="0" y="0"/>
          <a:ext cx="0" cy="0"/>
          <a:chOff x="0" y="0"/>
          <a:chExt cx="0" cy="0"/>
        </a:xfrm>
      </p:grpSpPr>
      <p:sp>
        <p:nvSpPr>
          <p:cNvPr id="630" name=""/>
          <p:cNvSpPr/>
          <p:nvPr/>
        </p:nvSpPr>
        <p:spPr>
          <a:xfrm rot="0" flipH="0" flipV="0">
            <a:off x="0" y="0"/>
            <a:ext cx="12192000" cy="6858000"/>
          </a:xfrm>
          <a:prstGeom prst="rect">
            <a:avLst/>
          </a:prstGeom>
          <a:solidFill>
            <a:srgbClr val="FFFFFF"/>
          </a:solidFill>
          <a:ln/>
        </p:spPr>
        <p:txBody>
          <a:bodyPr/>
          <a:p/>
        </p:txBody>
      </p:sp>
      <p:sp>
        <p:nvSpPr>
          <p:cNvPr id="631" name=""/>
          <p:cNvSpPr/>
          <p:nvPr/>
        </p:nvSpPr>
        <p:spPr>
          <a:xfrm rot="0" flipH="0" flipV="0">
            <a:off x="0" y="0"/>
            <a:ext cx="12192000" cy="685800"/>
          </a:xfrm>
          <a:prstGeom prst="rect">
            <a:avLst/>
          </a:prstGeom>
          <a:solidFill>
            <a:srgbClr val="1E4FA8"/>
          </a:solidFill>
          <a:ln/>
        </p:spPr>
        <p:txBody>
          <a:bodyPr/>
          <a:p/>
        </p:txBody>
      </p:sp>
      <p:sp>
        <p:nvSpPr>
          <p:cNvPr id="632" name="" descr="{&quot;isTemplate&quot;:true,&quot;type&quot;:&quot;text&quot;}"/>
          <p:cNvSpPr txBox="1"/>
          <p:nvPr/>
        </p:nvSpPr>
        <p:spPr>
          <a:xfrm rot="0" flipH="0" flipV="0">
            <a:off x="381000" y="257175"/>
            <a:ext cx="4067175" cy="171450"/>
          </a:xfrm>
          <a:prstGeom prst="rect"/>
        </p:spPr>
        <p:txBody>
          <a:bodyPr wrap="none" lIns="0" tIns="0" rIns="0" bIns="0"/>
          <a:p>
            <a:pPr>
              <a:lnSpc>
                <a:spcPct val="100000"/>
              </a:lnSpc>
            </a:pPr>
            <a:r>
              <a:rPr lang="en-US" sz="1125" spc="75">
                <a:solidFill>
                  <a:srgbClr val="B9CDF0"/>
                </a:solidFill>
                <a:latin typeface="Microsoft YaHei"/>
                <a:ea typeface="Microsoft YaHei"/>
              </a:rPr>
              <a:t>ISAD · INFORMATION SYSTEMS ANALYSIS &amp; DESIGN</a:t>
            </a:r>
            <a:endParaRPr/>
          </a:p>
        </p:txBody>
      </p:sp>
      <p:sp>
        <p:nvSpPr>
          <p:cNvPr id="633" name="" descr="{&quot;isTemplate&quot;:true,&quot;type&quot;:&quot;text&quot;}"/>
          <p:cNvSpPr txBox="1"/>
          <p:nvPr/>
        </p:nvSpPr>
        <p:spPr>
          <a:xfrm rot="0" flipH="0" flipV="0">
            <a:off x="10029825" y="257175"/>
            <a:ext cx="1781175" cy="171450"/>
          </a:xfrm>
          <a:prstGeom prst="rect"/>
        </p:spPr>
        <p:txBody>
          <a:bodyPr wrap="none" lIns="0" tIns="0" rIns="0" bIns="0"/>
          <a:p>
            <a:pPr>
              <a:lnSpc>
                <a:spcPct val="100000"/>
              </a:lnSpc>
            </a:pPr>
            <a:r>
              <a:rPr lang="en-US" sz="1125">
                <a:solidFill>
                  <a:srgbClr val="B9CDF0"/>
                </a:solidFill>
                <a:latin typeface="Microsoft YaHei"/>
                <a:ea typeface="Microsoft YaHei"/>
              </a:rPr>
              <a:t>W04 · LAB · EXERCISE 4.1</a:t>
            </a:r>
            <a:endParaRPr/>
          </a:p>
        </p:txBody>
      </p:sp>
      <p:sp>
        <p:nvSpPr>
          <p:cNvPr id="634" name="" descr="{&quot;isTemplate&quot;:true,&quot;type&quot;:&quot;text&quot;}"/>
          <p:cNvSpPr txBox="1"/>
          <p:nvPr/>
        </p:nvSpPr>
        <p:spPr>
          <a:xfrm rot="0" flipH="0" flipV="0">
            <a:off x="381000" y="819150"/>
            <a:ext cx="4905375" cy="333375"/>
          </a:xfrm>
          <a:prstGeom prst="rect"/>
        </p:spPr>
        <p:txBody>
          <a:bodyPr wrap="none" lIns="0" tIns="0" rIns="0" bIns="0"/>
          <a:p>
            <a:pPr>
              <a:lnSpc>
                <a:spcPct val="100000"/>
              </a:lnSpc>
            </a:pPr>
            <a:r>
              <a:rPr lang="en-US" sz="2175" b="1">
                <a:solidFill>
                  <a:srgbClr val="0E3F8C"/>
                </a:solidFill>
                <a:latin typeface="Microsoft YaHei"/>
                <a:ea typeface="Microsoft YaHei"/>
              </a:rPr>
              <a:t>Exercise 4.1 — Use Cases, Answered</a:t>
            </a:r>
            <a:endParaRPr/>
          </a:p>
        </p:txBody>
      </p:sp>
      <p:sp>
        <p:nvSpPr>
          <p:cNvPr id="635" name="" descr="{&quot;isTemplate&quot;:true,&quot;type&quot;:&quot;text&quot;}"/>
          <p:cNvSpPr txBox="1"/>
          <p:nvPr/>
        </p:nvSpPr>
        <p:spPr>
          <a:xfrm rot="0" flipH="0" flipV="0">
            <a:off x="11401425" y="904875"/>
            <a:ext cx="409575" cy="161925"/>
          </a:xfrm>
          <a:prstGeom prst="rect"/>
        </p:spPr>
        <p:txBody>
          <a:bodyPr wrap="none" lIns="0" tIns="0" rIns="0" bIns="0"/>
          <a:p>
            <a:pPr>
              <a:lnSpc>
                <a:spcPct val="100000"/>
              </a:lnSpc>
            </a:pPr>
            <a:r>
              <a:rPr lang="en-US" sz="1050" b="1">
                <a:solidFill>
                  <a:srgbClr val="1E4FA8"/>
                </a:solidFill>
                <a:latin typeface="Microsoft YaHei"/>
                <a:ea typeface="Microsoft YaHei"/>
              </a:rPr>
              <a:t>34 / 38</a:t>
            </a:r>
            <a:endParaRPr/>
          </a:p>
        </p:txBody>
      </p:sp>
      <p:graphicFrame>
        <p:nvGraphicFramePr>
          <p:cNvPr id="636" name=""/>
          <p:cNvGraphicFramePr/>
          <p:nvPr/>
        </p:nvGraphicFramePr>
        <p:xfrm rot="0" flipH="0" flipV="0">
          <a:off x="381000" y="1247775"/>
          <a:ext cx="11430000" cy="5114925"/>
        </p:xfrm>
        <a:graphic>
          <a:graphicData uri="http://schemas.openxmlformats.org/drawingml/2006/table">
            <a:tbl>
              <a:tblGrid>
                <a:gridCol w="2361517">
                  <a:extLst>
                    <a:ext uri="{9D8B030D-6E8A-4147-A177-3AD203B41FA5}">
                      <a16:colId val="1"/>
                    </a:ext>
                  </a:extLst>
                </a:gridCol>
                <a:gridCol w="2057528">
                  <a:extLst>
                    <a:ext uri="{9D8B030D-6E8A-4147-A177-3AD203B41FA5}">
                      <a16:colId val="2"/>
                    </a:ext>
                  </a:extLst>
                </a:gridCol>
                <a:gridCol w="1497548">
                  <a:extLst>
                    <a:ext uri="{9D8B030D-6E8A-4147-A177-3AD203B41FA5}">
                      <a16:colId val="3"/>
                    </a:ext>
                  </a:extLst>
                </a:gridCol>
                <a:gridCol w="5513407">
                  <a:extLst>
                    <a:ext uri="{9D8B030D-6E8A-4147-A177-3AD203B41FA5}">
                      <a16:colId val="4"/>
                    </a:ext>
                  </a:extLst>
                </a:gridCol>
              </a:tblGrid>
              <a:tr h="511493">
                <a:tc>
                  <a:txBody>
                    <a:bodyPr wrap="square" lIns="0" tIns="0" rIns="0" bIns="0" anchor="ctr">
                      <a:normAutofit/>
                    </a:bodyPr>
                    <a:p>
                      <a:pPr marL="114300" marR="114300" algn="l">
                        <a:lnSpc>
                          <a:spcPct val="120000"/>
                        </a:lnSpc>
                      </a:pPr>
                      <a:r>
                        <a:rPr sz="975" b="1">
                          <a:solidFill>
                            <a:srgbClr val="FFFFFF"/>
                          </a:solidFill>
                          <a:latin typeface="Microsoft YaHei"/>
                          <a:ea typeface="Microsoft YaHei"/>
                        </a:rPr>
                        <a:t>Candidate</a:t>
                      </a:r>
                      <a:endParaRPr/>
                    </a:p>
                  </a:txBody>
                  <a:tcPr marL="45720" marR="45720" marT="45720" marB="45720" anchor="ctr">
                    <a:lnL>
                      <a:noFill/>
                    </a:lnL>
                    <a:lnR>
                      <a:noFill/>
                    </a:lnR>
                    <a:lnT>
                      <a:noFill/>
                    </a:lnT>
                    <a:lnB>
                      <a:noFill/>
                    </a:lnB>
                    <a:solidFill>
                      <a:srgbClr val="0E3F8C"/>
                    </a:solidFill>
                  </a:tcPr>
                </a:tc>
                <a:tc>
                  <a:txBody>
                    <a:bodyPr wrap="square" lIns="0" tIns="0" rIns="0" bIns="0" anchor="ctr">
                      <a:normAutofit/>
                    </a:bodyPr>
                    <a:p>
                      <a:pPr marL="114300" marR="114300" algn="l">
                        <a:lnSpc>
                          <a:spcPct val="120000"/>
                        </a:lnSpc>
                      </a:pPr>
                      <a:r>
                        <a:rPr sz="975" b="1">
                          <a:solidFill>
                            <a:srgbClr val="FFFFFF"/>
                          </a:solidFill>
                          <a:latin typeface="Microsoft YaHei"/>
                          <a:ea typeface="Microsoft YaHei"/>
                        </a:rPr>
                        <a:t>Who wants it</a:t>
                      </a:r>
                      <a:endParaRPr/>
                    </a:p>
                  </a:txBody>
                  <a:tcPr marL="45720" marR="45720" marT="45720" marB="45720" anchor="ctr">
                    <a:lnL>
                      <a:noFill/>
                    </a:lnL>
                    <a:lnR>
                      <a:noFill/>
                    </a:lnR>
                    <a:lnT>
                      <a:noFill/>
                    </a:lnT>
                    <a:lnB>
                      <a:noFill/>
                    </a:lnB>
                    <a:solidFill>
                      <a:srgbClr val="0E3F8C"/>
                    </a:solidFill>
                  </a:tcPr>
                </a:tc>
                <a:tc>
                  <a:txBody>
                    <a:bodyPr wrap="square" lIns="0" tIns="0" rIns="0" bIns="0" anchor="ctr">
                      <a:normAutofit/>
                    </a:bodyPr>
                    <a:p>
                      <a:pPr marL="114300" marR="114300" algn="l">
                        <a:lnSpc>
                          <a:spcPct val="120000"/>
                        </a:lnSpc>
                      </a:pPr>
                      <a:r>
                        <a:rPr sz="975" b="1">
                          <a:solidFill>
                            <a:srgbClr val="FFFFFF"/>
                          </a:solidFill>
                          <a:latin typeface="Microsoft YaHei"/>
                          <a:ea typeface="Microsoft YaHei"/>
                        </a:rPr>
                        <a:t>Goal level?</a:t>
                      </a:r>
                      <a:endParaRPr/>
                    </a:p>
                  </a:txBody>
                  <a:tcPr marL="45720" marR="45720" marT="45720" marB="45720" anchor="ctr">
                    <a:lnL>
                      <a:noFill/>
                    </a:lnL>
                    <a:lnR>
                      <a:noFill/>
                    </a:lnR>
                    <a:lnT>
                      <a:noFill/>
                    </a:lnT>
                    <a:lnB>
                      <a:noFill/>
                    </a:lnB>
                    <a:solidFill>
                      <a:srgbClr val="0E3F8C"/>
                    </a:solidFill>
                  </a:tcPr>
                </a:tc>
                <a:tc>
                  <a:txBody>
                    <a:bodyPr wrap="square" lIns="0" tIns="0" rIns="0" bIns="0" anchor="ctr">
                      <a:normAutofit/>
                    </a:bodyPr>
                    <a:p>
                      <a:pPr marL="114300" marR="114300" algn="l">
                        <a:lnSpc>
                          <a:spcPct val="120000"/>
                        </a:lnSpc>
                      </a:pPr>
                      <a:r>
                        <a:rPr sz="975" b="1">
                          <a:solidFill>
                            <a:srgbClr val="FFFFFF"/>
                          </a:solidFill>
                          <a:latin typeface="Microsoft YaHei"/>
                          <a:ea typeface="Microsoft YaHei"/>
                        </a:rPr>
                        <a:t>Why</a:t>
                      </a:r>
                      <a:endParaRPr/>
                    </a:p>
                  </a:txBody>
                  <a:tcPr marL="45720" marR="45720" marT="45720" marB="45720" anchor="ctr">
                    <a:lnL>
                      <a:noFill/>
                    </a:lnL>
                    <a:lnR>
                      <a:noFill/>
                    </a:lnR>
                    <a:lnT>
                      <a:noFill/>
                    </a:lnT>
                    <a:lnB>
                      <a:noFill/>
                    </a:lnB>
                    <a:solidFill>
                      <a:srgbClr val="1E4FA8"/>
                    </a:solidFill>
                  </a:tcPr>
                </a:tc>
                <a:extLst>
                  <a:ext uri="{0D108BD9-81ED-4DB2-BD59-A6C34878D82A}">
                    <a16:rowId val="1"/>
                  </a:ext>
                </a:extLst>
              </a:tr>
              <a:tr h="511493">
                <a:tc>
                  <a:txBody>
                    <a:bodyPr wrap="square" lIns="0" tIns="0" rIns="0" bIns="0" anchor="ctr">
                      <a:normAutofit/>
                    </a:bodyPr>
                    <a:p>
                      <a:pPr marL="114300" marR="114300" algn="l">
                        <a:lnSpc>
                          <a:spcPct val="120000"/>
                        </a:lnSpc>
                      </a:pPr>
                      <a:r>
                        <a:rPr sz="975" b="1">
                          <a:solidFill>
                            <a:srgbClr val="0E3F8C"/>
                          </a:solidFill>
                          <a:latin typeface="Microsoft YaHei"/>
                          <a:ea typeface="Microsoft YaHei"/>
                        </a:rPr>
                        <a:t>Browse Menu</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975">
                          <a:solidFill>
                            <a:srgbClr val="4A5568"/>
                          </a:solidFill>
                          <a:latin typeface="Microsoft YaHei"/>
                          <a:ea typeface="Microsoft YaHei"/>
                        </a:rPr>
                        <a:t>Student</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975" b="1">
                          <a:solidFill>
                            <a:srgbClr val="1E4FA8"/>
                          </a:solidFill>
                          <a:latin typeface="Microsoft YaHei"/>
                          <a:ea typeface="Microsoft YaHei"/>
                        </a:rPr>
                        <a:t>Yes</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975">
                          <a:solidFill>
                            <a:srgbClr val="4A5568"/>
                          </a:solidFill>
                          <a:latin typeface="Microsoft YaHei"/>
                          <a:ea typeface="Microsoft YaHei"/>
                        </a:rPr>
                        <a:t>A student can browse and leave. It ends, on its own.</a:t>
                      </a:r>
                      <a:endParaRPr/>
                    </a:p>
                  </a:txBody>
                  <a:tcPr marL="45720" marR="45720" marT="45720" marB="45720" anchor="ctr">
                    <a:lnL>
                      <a:noFill/>
                    </a:lnL>
                    <a:lnR>
                      <a:noFill/>
                    </a:lnR>
                    <a:lnT>
                      <a:noFill/>
                    </a:lnT>
                    <a:lnB>
                      <a:noFill/>
                    </a:lnB>
                    <a:solidFill>
                      <a:srgbClr val="F7F9FC"/>
                    </a:solidFill>
                  </a:tcPr>
                </a:tc>
                <a:extLst>
                  <a:ext uri="{0D108BD9-81ED-4DB2-BD59-A6C34878D82A}">
                    <a16:rowId val="2"/>
                  </a:ext>
                </a:extLst>
              </a:tr>
              <a:tr h="511493">
                <a:tc>
                  <a:txBody>
                    <a:bodyPr wrap="square" lIns="0" tIns="0" rIns="0" bIns="0" anchor="ctr">
                      <a:normAutofit/>
                    </a:bodyPr>
                    <a:p>
                      <a:pPr marL="114300" marR="114300" algn="l">
                        <a:lnSpc>
                          <a:spcPct val="120000"/>
                        </a:lnSpc>
                      </a:pPr>
                      <a:r>
                        <a:rPr sz="975" b="1">
                          <a:solidFill>
                            <a:srgbClr val="0E3F8C"/>
                          </a:solidFill>
                          <a:latin typeface="Microsoft YaHei"/>
                          <a:ea typeface="Microsoft YaHei"/>
                        </a:rPr>
                        <a:t>Place Order</a:t>
                      </a:r>
                      <a:endParaRPr/>
                    </a:p>
                  </a:txBody>
                  <a:tcPr marL="45720" marR="45720" marT="45720" marB="45720" anchor="ctr">
                    <a:lnL>
                      <a:noFill/>
                    </a:lnL>
                    <a:lnR>
                      <a:noFill/>
                    </a:lnR>
                    <a:lnT>
                      <a:noFill/>
                    </a:lnT>
                    <a:lnB>
                      <a:noFill/>
                    </a:lnB>
                  </a:tcPr>
                </a:tc>
                <a:tc>
                  <a:txBody>
                    <a:bodyPr wrap="square" lIns="0" tIns="0" rIns="0" bIns="0" anchor="ctr">
                      <a:normAutofit/>
                    </a:bodyPr>
                    <a:p>
                      <a:pPr marL="114300" marR="114300" algn="l">
                        <a:lnSpc>
                          <a:spcPct val="120000"/>
                        </a:lnSpc>
                      </a:pPr>
                      <a:r>
                        <a:rPr sz="975">
                          <a:solidFill>
                            <a:srgbClr val="4A5568"/>
                          </a:solidFill>
                          <a:latin typeface="Microsoft YaHei"/>
                          <a:ea typeface="Microsoft YaHei"/>
                        </a:rPr>
                        <a:t>Student</a:t>
                      </a:r>
                      <a:endParaRPr/>
                    </a:p>
                  </a:txBody>
                  <a:tcPr marL="45720" marR="45720" marT="45720" marB="45720" anchor="ctr">
                    <a:lnL>
                      <a:noFill/>
                    </a:lnL>
                    <a:lnR>
                      <a:noFill/>
                    </a:lnR>
                    <a:lnT>
                      <a:noFill/>
                    </a:lnT>
                    <a:lnB>
                      <a:noFill/>
                    </a:lnB>
                  </a:tcPr>
                </a:tc>
                <a:tc>
                  <a:txBody>
                    <a:bodyPr wrap="square" lIns="0" tIns="0" rIns="0" bIns="0" anchor="ctr">
                      <a:normAutofit/>
                    </a:bodyPr>
                    <a:p>
                      <a:pPr marL="114300" marR="114300" algn="l">
                        <a:lnSpc>
                          <a:spcPct val="120000"/>
                        </a:lnSpc>
                      </a:pPr>
                      <a:r>
                        <a:rPr sz="975" b="1">
                          <a:solidFill>
                            <a:srgbClr val="1E4FA8"/>
                          </a:solidFill>
                          <a:latin typeface="Microsoft YaHei"/>
                          <a:ea typeface="Microsoft YaHei"/>
                        </a:rPr>
                        <a:t>Yes</a:t>
                      </a:r>
                      <a:endParaRPr/>
                    </a:p>
                  </a:txBody>
                  <a:tcPr marL="45720" marR="45720" marT="45720" marB="45720" anchor="ctr">
                    <a:lnL>
                      <a:noFill/>
                    </a:lnL>
                    <a:lnR>
                      <a:noFill/>
                    </a:lnR>
                    <a:lnT>
                      <a:noFill/>
                    </a:lnT>
                    <a:lnB>
                      <a:noFill/>
                    </a:lnB>
                  </a:tcPr>
                </a:tc>
                <a:tc>
                  <a:txBody>
                    <a:bodyPr wrap="square" lIns="0" tIns="0" rIns="0" bIns="0" anchor="ctr">
                      <a:normAutofit/>
                    </a:bodyPr>
                    <a:p>
                      <a:pPr marL="114300" marR="114300" algn="l">
                        <a:lnSpc>
                          <a:spcPct val="120000"/>
                        </a:lnSpc>
                      </a:pPr>
                      <a:r>
                        <a:rPr sz="975">
                          <a:solidFill>
                            <a:srgbClr val="4A5568"/>
                          </a:solidFill>
                          <a:latin typeface="Microsoft YaHei"/>
                          <a:ea typeface="Microsoft YaHei"/>
                        </a:rPr>
                        <a:t>The headline goal. Ends when the order is accepted.</a:t>
                      </a:r>
                      <a:endParaRPr/>
                    </a:p>
                  </a:txBody>
                  <a:tcPr marL="45720" marR="45720" marT="45720" marB="45720" anchor="ctr">
                    <a:lnL>
                      <a:noFill/>
                    </a:lnL>
                    <a:lnR>
                      <a:noFill/>
                    </a:lnR>
                    <a:lnT>
                      <a:noFill/>
                    </a:lnT>
                    <a:lnB>
                      <a:noFill/>
                    </a:lnB>
                  </a:tcPr>
                </a:tc>
                <a:extLst>
                  <a:ext uri="{0D108BD9-81ED-4DB2-BD59-A6C34878D82A}">
                    <a16:rowId val="3"/>
                  </a:ext>
                </a:extLst>
              </a:tr>
              <a:tr h="511493">
                <a:tc>
                  <a:txBody>
                    <a:bodyPr wrap="square" lIns="0" tIns="0" rIns="0" bIns="0" anchor="ctr">
                      <a:normAutofit/>
                    </a:bodyPr>
                    <a:p>
                      <a:pPr marL="114300" marR="114300" algn="l">
                        <a:lnSpc>
                          <a:spcPct val="120000"/>
                        </a:lnSpc>
                      </a:pPr>
                      <a:r>
                        <a:rPr sz="975" b="1">
                          <a:solidFill>
                            <a:srgbClr val="4A5568"/>
                          </a:solidFill>
                          <a:latin typeface="Microsoft YaHei"/>
                          <a:ea typeface="Microsoft YaHei"/>
                        </a:rPr>
                        <a:t>Authenticate</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975">
                          <a:solidFill>
                            <a:srgbClr val="4A5568"/>
                          </a:solidFill>
                          <a:latin typeface="Microsoft YaHei"/>
                          <a:ea typeface="Microsoft YaHei"/>
                        </a:rPr>
                        <a:t>Nobody</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975" b="1">
                          <a:solidFill>
                            <a:srgbClr val="D9534F"/>
                          </a:solidFill>
                          <a:latin typeface="Microsoft YaHei"/>
                          <a:ea typeface="Microsoft YaHei"/>
                        </a:rPr>
                        <a:t>No — include</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975">
                          <a:solidFill>
                            <a:srgbClr val="4A5568"/>
                          </a:solidFill>
                          <a:latin typeface="Microsoft YaHei"/>
                          <a:ea typeface="Microsoft YaHei"/>
                        </a:rPr>
                        <a:t>Nobody comes to log in. Place Order always includes it.</a:t>
                      </a:r>
                      <a:endParaRPr/>
                    </a:p>
                  </a:txBody>
                  <a:tcPr marL="45720" marR="45720" marT="45720" marB="45720" anchor="ctr">
                    <a:lnL>
                      <a:noFill/>
                    </a:lnL>
                    <a:lnR>
                      <a:noFill/>
                    </a:lnR>
                    <a:lnT>
                      <a:noFill/>
                    </a:lnT>
                    <a:lnB>
                      <a:noFill/>
                    </a:lnB>
                    <a:solidFill>
                      <a:srgbClr val="F7F9FC"/>
                    </a:solidFill>
                  </a:tcPr>
                </a:tc>
                <a:extLst>
                  <a:ext uri="{0D108BD9-81ED-4DB2-BD59-A6C34878D82A}">
                    <a16:rowId val="4"/>
                  </a:ext>
                </a:extLst>
              </a:tr>
              <a:tr h="511493">
                <a:tc>
                  <a:txBody>
                    <a:bodyPr wrap="square" lIns="0" tIns="0" rIns="0" bIns="0" anchor="ctr">
                      <a:normAutofit/>
                    </a:bodyPr>
                    <a:p>
                      <a:pPr marL="114300" marR="114300" algn="l">
                        <a:lnSpc>
                          <a:spcPct val="120000"/>
                        </a:lnSpc>
                      </a:pPr>
                      <a:r>
                        <a:rPr sz="975" b="1">
                          <a:solidFill>
                            <a:srgbClr val="4A5568"/>
                          </a:solidFill>
                          <a:latin typeface="Microsoft YaHei"/>
                          <a:ea typeface="Microsoft YaHei"/>
                        </a:rPr>
                        <a:t>Calculate Total</a:t>
                      </a:r>
                      <a:endParaRPr/>
                    </a:p>
                  </a:txBody>
                  <a:tcPr marL="45720" marR="45720" marT="45720" marB="45720" anchor="ctr">
                    <a:lnL>
                      <a:noFill/>
                    </a:lnL>
                    <a:lnR>
                      <a:noFill/>
                    </a:lnR>
                    <a:lnT>
                      <a:noFill/>
                    </a:lnT>
                    <a:lnB>
                      <a:noFill/>
                    </a:lnB>
                  </a:tcPr>
                </a:tc>
                <a:tc>
                  <a:txBody>
                    <a:bodyPr wrap="square" lIns="0" tIns="0" rIns="0" bIns="0" anchor="ctr">
                      <a:normAutofit/>
                    </a:bodyPr>
                    <a:p>
                      <a:pPr marL="114300" marR="114300" algn="l">
                        <a:lnSpc>
                          <a:spcPct val="120000"/>
                        </a:lnSpc>
                      </a:pPr>
                      <a:r>
                        <a:rPr sz="975">
                          <a:solidFill>
                            <a:srgbClr val="4A5568"/>
                          </a:solidFill>
                          <a:latin typeface="Microsoft YaHei"/>
                          <a:ea typeface="Microsoft YaHei"/>
                        </a:rPr>
                        <a:t>Nobody</a:t>
                      </a:r>
                      <a:endParaRPr/>
                    </a:p>
                  </a:txBody>
                  <a:tcPr marL="45720" marR="45720" marT="45720" marB="45720" anchor="ctr">
                    <a:lnL>
                      <a:noFill/>
                    </a:lnL>
                    <a:lnR>
                      <a:noFill/>
                    </a:lnR>
                    <a:lnT>
                      <a:noFill/>
                    </a:lnT>
                    <a:lnB>
                      <a:noFill/>
                    </a:lnB>
                  </a:tcPr>
                </a:tc>
                <a:tc>
                  <a:txBody>
                    <a:bodyPr wrap="square" lIns="0" tIns="0" rIns="0" bIns="0" anchor="ctr">
                      <a:normAutofit/>
                    </a:bodyPr>
                    <a:p>
                      <a:pPr marL="114300" marR="114300" algn="l">
                        <a:lnSpc>
                          <a:spcPct val="120000"/>
                        </a:lnSpc>
                      </a:pPr>
                      <a:r>
                        <a:rPr sz="975" b="1">
                          <a:solidFill>
                            <a:srgbClr val="D9534F"/>
                          </a:solidFill>
                          <a:latin typeface="Microsoft YaHei"/>
                          <a:ea typeface="Microsoft YaHei"/>
                        </a:rPr>
                        <a:t>No — step</a:t>
                      </a:r>
                      <a:endParaRPr/>
                    </a:p>
                  </a:txBody>
                  <a:tcPr marL="45720" marR="45720" marT="45720" marB="45720" anchor="ctr">
                    <a:lnL>
                      <a:noFill/>
                    </a:lnL>
                    <a:lnR>
                      <a:noFill/>
                    </a:lnR>
                    <a:lnT>
                      <a:noFill/>
                    </a:lnT>
                    <a:lnB>
                      <a:noFill/>
                    </a:lnB>
                  </a:tcPr>
                </a:tc>
                <a:tc>
                  <a:txBody>
                    <a:bodyPr wrap="square" lIns="0" tIns="0" rIns="0" bIns="0" anchor="ctr">
                      <a:normAutofit/>
                    </a:bodyPr>
                    <a:p>
                      <a:pPr marL="114300" marR="114300" algn="l">
                        <a:lnSpc>
                          <a:spcPct val="120000"/>
                        </a:lnSpc>
                      </a:pPr>
                      <a:r>
                        <a:rPr sz="975">
                          <a:solidFill>
                            <a:srgbClr val="4A5568"/>
                          </a:solidFill>
                          <a:latin typeface="Microsoft YaHei"/>
                          <a:ea typeface="Microsoft YaHei"/>
                        </a:rPr>
                        <a:t>One line inside the scenario, not a goal of its own.</a:t>
                      </a:r>
                      <a:endParaRPr/>
                    </a:p>
                  </a:txBody>
                  <a:tcPr marL="45720" marR="45720" marT="45720" marB="45720" anchor="ctr">
                    <a:lnL>
                      <a:noFill/>
                    </a:lnL>
                    <a:lnR>
                      <a:noFill/>
                    </a:lnR>
                    <a:lnT>
                      <a:noFill/>
                    </a:lnT>
                    <a:lnB>
                      <a:noFill/>
                    </a:lnB>
                  </a:tcPr>
                </a:tc>
                <a:extLst>
                  <a:ext uri="{0D108BD9-81ED-4DB2-BD59-A6C34878D82A}">
                    <a16:rowId val="5"/>
                  </a:ext>
                </a:extLst>
              </a:tr>
              <a:tr h="511493">
                <a:tc>
                  <a:txBody>
                    <a:bodyPr wrap="square" lIns="0" tIns="0" rIns="0" bIns="0" anchor="ctr">
                      <a:normAutofit/>
                    </a:bodyPr>
                    <a:p>
                      <a:pPr marL="114300" marR="114300" algn="l">
                        <a:lnSpc>
                          <a:spcPct val="120000"/>
                        </a:lnSpc>
                      </a:pPr>
                      <a:r>
                        <a:rPr sz="975" b="1">
                          <a:solidFill>
                            <a:srgbClr val="0E3F8C"/>
                          </a:solidFill>
                          <a:latin typeface="Microsoft YaHei"/>
                          <a:ea typeface="Microsoft YaHei"/>
                        </a:rPr>
                        <a:t>Pay for Order</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975">
                          <a:solidFill>
                            <a:srgbClr val="4A5568"/>
                          </a:solidFill>
                          <a:latin typeface="Microsoft YaHei"/>
                          <a:ea typeface="Microsoft YaHei"/>
                        </a:rPr>
                        <a:t>Student</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975" b="1">
                          <a:solidFill>
                            <a:srgbClr val="1E4FA8"/>
                          </a:solidFill>
                          <a:latin typeface="Microsoft YaHei"/>
                          <a:ea typeface="Microsoft YaHei"/>
                        </a:rPr>
                        <a:t>Yes</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975">
                          <a:solidFill>
                            <a:srgbClr val="4A5568"/>
                          </a:solidFill>
                          <a:latin typeface="Microsoft YaHei"/>
                          <a:ea typeface="Microsoft YaHei"/>
                        </a:rPr>
                        <a:t>Can happen on its own — pay a later order.</a:t>
                      </a:r>
                      <a:endParaRPr/>
                    </a:p>
                  </a:txBody>
                  <a:tcPr marL="45720" marR="45720" marT="45720" marB="45720" anchor="ctr">
                    <a:lnL>
                      <a:noFill/>
                    </a:lnL>
                    <a:lnR>
                      <a:noFill/>
                    </a:lnR>
                    <a:lnT>
                      <a:noFill/>
                    </a:lnT>
                    <a:lnB>
                      <a:noFill/>
                    </a:lnB>
                    <a:solidFill>
                      <a:srgbClr val="F7F9FC"/>
                    </a:solidFill>
                  </a:tcPr>
                </a:tc>
                <a:extLst>
                  <a:ext uri="{0D108BD9-81ED-4DB2-BD59-A6C34878D82A}">
                    <a16:rowId val="6"/>
                  </a:ext>
                </a:extLst>
              </a:tr>
              <a:tr h="511493">
                <a:tc>
                  <a:txBody>
                    <a:bodyPr wrap="square" lIns="0" tIns="0" rIns="0" bIns="0" anchor="ctr">
                      <a:normAutofit/>
                    </a:bodyPr>
                    <a:p>
                      <a:pPr marL="114300" marR="114300" algn="l">
                        <a:lnSpc>
                          <a:spcPct val="120000"/>
                        </a:lnSpc>
                      </a:pPr>
                      <a:r>
                        <a:rPr sz="975" b="1">
                          <a:solidFill>
                            <a:srgbClr val="0E3F8C"/>
                          </a:solidFill>
                          <a:latin typeface="Microsoft YaHei"/>
                          <a:ea typeface="Microsoft YaHei"/>
                        </a:rPr>
                        <a:t>Manage Today’s Menu</a:t>
                      </a:r>
                      <a:endParaRPr/>
                    </a:p>
                  </a:txBody>
                  <a:tcPr marL="45720" marR="45720" marT="45720" marB="45720" anchor="ctr">
                    <a:lnL>
                      <a:noFill/>
                    </a:lnL>
                    <a:lnR>
                      <a:noFill/>
                    </a:lnR>
                    <a:lnT>
                      <a:noFill/>
                    </a:lnT>
                    <a:lnB>
                      <a:noFill/>
                    </a:lnB>
                  </a:tcPr>
                </a:tc>
                <a:tc>
                  <a:txBody>
                    <a:bodyPr wrap="square" lIns="0" tIns="0" rIns="0" bIns="0" anchor="ctr">
                      <a:normAutofit/>
                    </a:bodyPr>
                    <a:p>
                      <a:pPr marL="114300" marR="114300" algn="l">
                        <a:lnSpc>
                          <a:spcPct val="120000"/>
                        </a:lnSpc>
                      </a:pPr>
                      <a:r>
                        <a:rPr sz="975">
                          <a:solidFill>
                            <a:srgbClr val="4A5568"/>
                          </a:solidFill>
                          <a:latin typeface="Microsoft YaHei"/>
                          <a:ea typeface="Microsoft YaHei"/>
                        </a:rPr>
                        <a:t>Restaurant Manager</a:t>
                      </a:r>
                      <a:endParaRPr/>
                    </a:p>
                  </a:txBody>
                  <a:tcPr marL="45720" marR="45720" marT="45720" marB="45720" anchor="ctr">
                    <a:lnL>
                      <a:noFill/>
                    </a:lnL>
                    <a:lnR>
                      <a:noFill/>
                    </a:lnR>
                    <a:lnT>
                      <a:noFill/>
                    </a:lnT>
                    <a:lnB>
                      <a:noFill/>
                    </a:lnB>
                  </a:tcPr>
                </a:tc>
                <a:tc>
                  <a:txBody>
                    <a:bodyPr wrap="square" lIns="0" tIns="0" rIns="0" bIns="0" anchor="ctr">
                      <a:normAutofit/>
                    </a:bodyPr>
                    <a:p>
                      <a:pPr marL="114300" marR="114300" algn="l">
                        <a:lnSpc>
                          <a:spcPct val="120000"/>
                        </a:lnSpc>
                      </a:pPr>
                      <a:r>
                        <a:rPr sz="975" b="1">
                          <a:solidFill>
                            <a:srgbClr val="1E4FA8"/>
                          </a:solidFill>
                          <a:latin typeface="Microsoft YaHei"/>
                          <a:ea typeface="Microsoft YaHei"/>
                        </a:rPr>
                        <a:t>Yes</a:t>
                      </a:r>
                      <a:endParaRPr/>
                    </a:p>
                  </a:txBody>
                  <a:tcPr marL="45720" marR="45720" marT="45720" marB="45720" anchor="ctr">
                    <a:lnL>
                      <a:noFill/>
                    </a:lnL>
                    <a:lnR>
                      <a:noFill/>
                    </a:lnR>
                    <a:lnT>
                      <a:noFill/>
                    </a:lnT>
                    <a:lnB>
                      <a:noFill/>
                    </a:lnB>
                  </a:tcPr>
                </a:tc>
                <a:tc>
                  <a:txBody>
                    <a:bodyPr wrap="square" lIns="0" tIns="0" rIns="0" bIns="0" anchor="ctr">
                      <a:normAutofit/>
                    </a:bodyPr>
                    <a:p>
                      <a:pPr marL="114300" marR="114300" algn="l">
                        <a:lnSpc>
                          <a:spcPct val="120000"/>
                        </a:lnSpc>
                      </a:pPr>
                      <a:r>
                        <a:rPr sz="975">
                          <a:solidFill>
                            <a:srgbClr val="4A5568"/>
                          </a:solidFill>
                          <a:latin typeface="Microsoft YaHei"/>
                          <a:ea typeface="Microsoft YaHei"/>
                        </a:rPr>
                        <a:t>Ends when the kitchen sees a menu it can cook.</a:t>
                      </a:r>
                      <a:endParaRPr/>
                    </a:p>
                  </a:txBody>
                  <a:tcPr marL="45720" marR="45720" marT="45720" marB="45720" anchor="ctr">
                    <a:lnL>
                      <a:noFill/>
                    </a:lnL>
                    <a:lnR>
                      <a:noFill/>
                    </a:lnR>
                    <a:lnT>
                      <a:noFill/>
                    </a:lnT>
                    <a:lnB>
                      <a:noFill/>
                    </a:lnB>
                  </a:tcPr>
                </a:tc>
                <a:extLst>
                  <a:ext uri="{0D108BD9-81ED-4DB2-BD59-A6C34878D82A}">
                    <a16:rowId val="7"/>
                  </a:ext>
                </a:extLst>
              </a:tr>
              <a:tr h="511493">
                <a:tc>
                  <a:txBody>
                    <a:bodyPr wrap="square" lIns="0" tIns="0" rIns="0" bIns="0" anchor="ctr">
                      <a:normAutofit/>
                    </a:bodyPr>
                    <a:p>
                      <a:pPr marL="114300" marR="114300" algn="l">
                        <a:lnSpc>
                          <a:spcPct val="120000"/>
                        </a:lnSpc>
                      </a:pPr>
                      <a:r>
                        <a:rPr sz="975" b="1">
                          <a:solidFill>
                            <a:srgbClr val="0E3F8C"/>
                          </a:solidFill>
                          <a:latin typeface="Microsoft YaHei"/>
                          <a:ea typeface="Microsoft YaHei"/>
                        </a:rPr>
                        <a:t>Receive Order</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975">
                          <a:solidFill>
                            <a:srgbClr val="4A5568"/>
                          </a:solidFill>
                          <a:latin typeface="Microsoft YaHei"/>
                          <a:ea typeface="Microsoft YaHei"/>
                        </a:rPr>
                        <a:t>Kitchen Staff</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975" b="1">
                          <a:solidFill>
                            <a:srgbClr val="1E4FA8"/>
                          </a:solidFill>
                          <a:latin typeface="Microsoft YaHei"/>
                          <a:ea typeface="Microsoft YaHei"/>
                        </a:rPr>
                        <a:t>Yes</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975">
                          <a:solidFill>
                            <a:srgbClr val="4A5568"/>
                          </a:solidFill>
                          <a:latin typeface="Microsoft YaHei"/>
                          <a:ea typeface="Microsoft YaHei"/>
                        </a:rPr>
                        <a:t>The kitchen has its own goal: see what to cook.</a:t>
                      </a:r>
                      <a:endParaRPr/>
                    </a:p>
                  </a:txBody>
                  <a:tcPr marL="45720" marR="45720" marT="45720" marB="45720" anchor="ctr">
                    <a:lnL>
                      <a:noFill/>
                    </a:lnL>
                    <a:lnR>
                      <a:noFill/>
                    </a:lnR>
                    <a:lnT>
                      <a:noFill/>
                    </a:lnT>
                    <a:lnB>
                      <a:noFill/>
                    </a:lnB>
                    <a:solidFill>
                      <a:srgbClr val="F7F9FC"/>
                    </a:solidFill>
                  </a:tcPr>
                </a:tc>
                <a:extLst>
                  <a:ext uri="{0D108BD9-81ED-4DB2-BD59-A6C34878D82A}">
                    <a16:rowId val="8"/>
                  </a:ext>
                </a:extLst>
              </a:tr>
              <a:tr h="511493">
                <a:tc>
                  <a:txBody>
                    <a:bodyPr wrap="square" lIns="0" tIns="0" rIns="0" bIns="0" anchor="ctr">
                      <a:normAutofit/>
                    </a:bodyPr>
                    <a:p>
                      <a:pPr marL="114300" marR="114300" algn="l">
                        <a:lnSpc>
                          <a:spcPct val="120000"/>
                        </a:lnSpc>
                      </a:pPr>
                      <a:r>
                        <a:rPr sz="975" b="1">
                          <a:solidFill>
                            <a:srgbClr val="0E3F8C"/>
                          </a:solidFill>
                          <a:latin typeface="Microsoft YaHei"/>
                          <a:ea typeface="Microsoft YaHei"/>
                        </a:rPr>
                        <a:t>Dispatch Courier</a:t>
                      </a:r>
                      <a:endParaRPr/>
                    </a:p>
                  </a:txBody>
                  <a:tcPr marL="45720" marR="45720" marT="45720" marB="45720" anchor="ctr">
                    <a:lnL>
                      <a:noFill/>
                    </a:lnL>
                    <a:lnR>
                      <a:noFill/>
                    </a:lnR>
                    <a:lnT>
                      <a:noFill/>
                    </a:lnT>
                    <a:lnB>
                      <a:noFill/>
                    </a:lnB>
                  </a:tcPr>
                </a:tc>
                <a:tc>
                  <a:txBody>
                    <a:bodyPr wrap="square" lIns="0" tIns="0" rIns="0" bIns="0" anchor="ctr">
                      <a:normAutofit/>
                    </a:bodyPr>
                    <a:p>
                      <a:pPr marL="114300" marR="114300" algn="l">
                        <a:lnSpc>
                          <a:spcPct val="120000"/>
                        </a:lnSpc>
                      </a:pPr>
                      <a:r>
                        <a:rPr sz="975">
                          <a:solidFill>
                            <a:srgbClr val="4A5568"/>
                          </a:solidFill>
                          <a:latin typeface="Microsoft YaHei"/>
                          <a:ea typeface="Microsoft YaHei"/>
                        </a:rPr>
                        <a:t>Dispatcher</a:t>
                      </a:r>
                      <a:endParaRPr/>
                    </a:p>
                  </a:txBody>
                  <a:tcPr marL="45720" marR="45720" marT="45720" marB="45720" anchor="ctr">
                    <a:lnL>
                      <a:noFill/>
                    </a:lnL>
                    <a:lnR>
                      <a:noFill/>
                    </a:lnR>
                    <a:lnT>
                      <a:noFill/>
                    </a:lnT>
                    <a:lnB>
                      <a:noFill/>
                    </a:lnB>
                  </a:tcPr>
                </a:tc>
                <a:tc>
                  <a:txBody>
                    <a:bodyPr wrap="square" lIns="0" tIns="0" rIns="0" bIns="0" anchor="ctr">
                      <a:normAutofit/>
                    </a:bodyPr>
                    <a:p>
                      <a:pPr marL="114300" marR="114300" algn="l">
                        <a:lnSpc>
                          <a:spcPct val="120000"/>
                        </a:lnSpc>
                      </a:pPr>
                      <a:r>
                        <a:rPr sz="975" b="1">
                          <a:solidFill>
                            <a:srgbClr val="1E4FA8"/>
                          </a:solidFill>
                          <a:latin typeface="Microsoft YaHei"/>
                          <a:ea typeface="Microsoft YaHei"/>
                        </a:rPr>
                        <a:t>Yes</a:t>
                      </a:r>
                      <a:endParaRPr/>
                    </a:p>
                  </a:txBody>
                  <a:tcPr marL="45720" marR="45720" marT="45720" marB="45720" anchor="ctr">
                    <a:lnL>
                      <a:noFill/>
                    </a:lnL>
                    <a:lnR>
                      <a:noFill/>
                    </a:lnR>
                    <a:lnT>
                      <a:noFill/>
                    </a:lnT>
                    <a:lnB>
                      <a:noFill/>
                    </a:lnB>
                  </a:tcPr>
                </a:tc>
                <a:tc>
                  <a:txBody>
                    <a:bodyPr wrap="square" lIns="0" tIns="0" rIns="0" bIns="0" anchor="ctr">
                      <a:normAutofit/>
                    </a:bodyPr>
                    <a:p>
                      <a:pPr marL="114300" marR="114300" algn="l">
                        <a:lnSpc>
                          <a:spcPct val="120000"/>
                        </a:lnSpc>
                      </a:pPr>
                      <a:r>
                        <a:rPr sz="975">
                          <a:solidFill>
                            <a:srgbClr val="4A5568"/>
                          </a:solidFill>
                          <a:latin typeface="Microsoft YaHei"/>
                          <a:ea typeface="Microsoft YaHei"/>
                        </a:rPr>
                        <a:t>Ends when a rider accepts. Different actor, different goal.</a:t>
                      </a:r>
                      <a:endParaRPr/>
                    </a:p>
                  </a:txBody>
                  <a:tcPr marL="45720" marR="45720" marT="45720" marB="45720" anchor="ctr">
                    <a:lnL>
                      <a:noFill/>
                    </a:lnL>
                    <a:lnR>
                      <a:noFill/>
                    </a:lnR>
                    <a:lnT>
                      <a:noFill/>
                    </a:lnT>
                    <a:lnB>
                      <a:noFill/>
                    </a:lnB>
                  </a:tcPr>
                </a:tc>
                <a:extLst>
                  <a:ext uri="{0D108BD9-81ED-4DB2-BD59-A6C34878D82A}">
                    <a16:rowId val="9"/>
                  </a:ext>
                </a:extLst>
              </a:tr>
              <a:tr h="511493">
                <a:tc>
                  <a:txBody>
                    <a:bodyPr wrap="square" lIns="0" tIns="0" rIns="0" bIns="0" anchor="ctr">
                      <a:normAutofit/>
                    </a:bodyPr>
                    <a:p>
                      <a:pPr marL="114300" marR="114300" algn="l">
                        <a:lnSpc>
                          <a:spcPct val="120000"/>
                        </a:lnSpc>
                      </a:pPr>
                      <a:r>
                        <a:rPr sz="975" b="1">
                          <a:solidFill>
                            <a:srgbClr val="0E3F8C"/>
                          </a:solidFill>
                          <a:latin typeface="Microsoft YaHei"/>
                          <a:ea typeface="Microsoft YaHei"/>
                        </a:rPr>
                        <a:t>Rate Restaurant</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975">
                          <a:solidFill>
                            <a:srgbClr val="4A5568"/>
                          </a:solidFill>
                          <a:latin typeface="Microsoft YaHei"/>
                          <a:ea typeface="Microsoft YaHei"/>
                        </a:rPr>
                        <a:t>Student</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975" b="1">
                          <a:solidFill>
                            <a:srgbClr val="1E4FA8"/>
                          </a:solidFill>
                          <a:latin typeface="Microsoft YaHei"/>
                          <a:ea typeface="Microsoft YaHei"/>
                        </a:rPr>
                        <a:t>Yes</a:t>
                      </a:r>
                      <a:endParaRPr/>
                    </a:p>
                  </a:txBody>
                  <a:tcPr marL="45720" marR="45720" marT="45720" marB="45720" anchor="ctr">
                    <a:lnL>
                      <a:noFill/>
                    </a:lnL>
                    <a:lnR>
                      <a:noFill/>
                    </a:lnR>
                    <a:lnT>
                      <a:noFill/>
                    </a:lnT>
                    <a:lnB>
                      <a:noFill/>
                    </a:lnB>
                    <a:solidFill>
                      <a:srgbClr val="F7F9FC"/>
                    </a:solidFill>
                  </a:tcPr>
                </a:tc>
                <a:tc>
                  <a:txBody>
                    <a:bodyPr wrap="square" lIns="0" tIns="0" rIns="0" bIns="0" anchor="ctr">
                      <a:normAutofit/>
                    </a:bodyPr>
                    <a:p>
                      <a:pPr marL="114300" marR="114300" algn="l">
                        <a:lnSpc>
                          <a:spcPct val="120000"/>
                        </a:lnSpc>
                      </a:pPr>
                      <a:r>
                        <a:rPr sz="975">
                          <a:solidFill>
                            <a:srgbClr val="4A5568"/>
                          </a:solidFill>
                          <a:latin typeface="Microsoft YaHei"/>
                          <a:ea typeface="Microsoft YaHei"/>
                        </a:rPr>
                        <a:t>Optional, but a goal — and it can extend Confirm Delivery.</a:t>
                      </a:r>
                      <a:endParaRPr/>
                    </a:p>
                  </a:txBody>
                  <a:tcPr marL="45720" marR="45720" marT="45720" marB="45720" anchor="ctr">
                    <a:lnL>
                      <a:noFill/>
                    </a:lnL>
                    <a:lnR>
                      <a:noFill/>
                    </a:lnR>
                    <a:lnT>
                      <a:noFill/>
                    </a:lnT>
                    <a:lnB>
                      <a:noFill/>
                    </a:lnB>
                    <a:solidFill>
                      <a:srgbClr val="F7F9FC"/>
                    </a:solidFill>
                  </a:tcPr>
                </a:tc>
                <a:extLst>
                  <a:ext uri="{0D108BD9-81ED-4DB2-BD59-A6C34878D82A}">
                    <a16:rowId val="10"/>
                  </a:ext>
                </a:extLst>
              </a:tr>
            </a:tbl>
          </a:graphicData>
        </a:graphic>
      </p:graphicFrame>
      <p:sp>
        <p:nvSpPr>
          <p:cNvPr id="637" name=""/>
          <p:cNvSpPr/>
          <p:nvPr/>
        </p:nvSpPr>
        <p:spPr>
          <a:xfrm rot="0" flipH="0" flipV="0">
            <a:off x="0" y="6419850"/>
            <a:ext cx="12192000" cy="438150"/>
          </a:xfrm>
          <a:prstGeom prst="rect">
            <a:avLst/>
          </a:prstGeom>
          <a:solidFill>
            <a:srgbClr val="0E3F8C"/>
          </a:solidFill>
          <a:ln/>
        </p:spPr>
        <p:txBody>
          <a:bodyPr/>
          <a:p/>
        </p:txBody>
      </p:sp>
      <p:sp>
        <p:nvSpPr>
          <p:cNvPr id="638" name="" descr="{&quot;isTemplate&quot;:true,&quot;type&quot;:&quot;text&quot;}"/>
          <p:cNvSpPr txBox="1"/>
          <p:nvPr/>
        </p:nvSpPr>
        <p:spPr>
          <a:xfrm rot="0" flipH="0" flipV="0">
            <a:off x="2019300" y="6553200"/>
            <a:ext cx="8153400" cy="180975"/>
          </a:xfrm>
          <a:prstGeom prst="rect"/>
        </p:spPr>
        <p:txBody>
          <a:bodyPr wrap="none" lIns="0" tIns="0" rIns="0" bIns="0"/>
          <a:p>
            <a:pPr>
              <a:lnSpc>
                <a:spcPct val="100000"/>
              </a:lnSpc>
            </a:pPr>
            <a:r>
              <a:rPr lang="en-US" sz="1163" b="1">
                <a:solidFill>
                  <a:srgbClr val="FFFFFF"/>
                </a:solidFill>
                <a:latin typeface="Microsoft YaHei"/>
                <a:ea typeface="Microsoft YaHei"/>
              </a:rPr>
              <a:t>Two more from the pack: Suspend Restaurant (Administrator) and Close the Day (the 23:00 clock) — both goal level.</a:t>
            </a:r>
            <a:endParaRPr/>
          </a:p>
        </p:txBody>
      </p:sp>
    </p:spTree>
  </p:cSld>
</p:sld>
</file>

<file path=ppt/slides/slide35.xml><?xml version="1.0" encoding="utf-8"?>
<p:sld xmlns:a="http://schemas.openxmlformats.org/drawingml/2006/main" xmlns:p="http://schemas.openxmlformats.org/presentationml/2006/main">
  <p:cSld>
    <p:spTree>
      <p:nvGrpSpPr>
        <p:cNvPr id="639" name="" descr="&lt;Slide style={{ background: '#FFFFFF', padding: 0 }}&gt;&#10;  &lt;Box style={{ height: 72, background: '#1E4FA8', padding: '0 40px', flexDirection: 'row', alignItems: 'center', justifyContent: 'space-between' }}&gt;&#10;    &lt;Text style={{ fontSize: 15, color: '#B9CDF0', letterSpacing: 1 }}&gt;ISAD · INFORMATION SYSTEMS ANALYSIS &amp;amp; DESIGN&lt;/Text&gt;&#10;    &lt;Text style={{ fontSize: 15, color: '#B9CDF0' }}&gt;W04 · LAB · EXERCISE 4.2&lt;/Text&gt;&#10;  &lt;/Box&gt;&#10;  &lt;Box style={{ padding: '14px 40px 0 40px', flexDirection: 'row', alignItems: 'center', justifyContent: 'space-between' }}&gt;&#10;    &lt;Text style={{ fontSize: 29, fontWeight: 'bold', color: '#0E3F8C' }}&gt;Exercise 4.2 — Draw the Diagram&lt;/Text&gt;&#10;    &lt;Text style={{ fontSize: 14, color: '#1E4FA8', fontWeight: 'bold' }}&gt;35 / 38&lt;/Text&gt;&#10;  &lt;/Box&gt;&#10;  &lt;Box style={{ flex: 1, padding: '12px 40px 0 40px', flexDirection: 'row', gap: 24 }}&gt;&#10;    &lt;Box style={{ flex: 5, flexDirection: 'column', gap: 12 }}&gt;&#10;      &lt;Box style={{ padding: '18px 18px', background: '#F0F5FC', borderRadius: 10, borderLeft: '4px solid #1E4FA8' }}&gt;&#10;        &lt;Text style={{ fontSize: 17, fontWeight: 'bold', color: '#0E3F8C' }}&gt;The task&lt;/Text&gt;&#10;        &lt;Text style={{ fontSize: 13.5, color: '#4A5568', lineHeight: 1.65, marginTop: 6 }}&gt;&#10;          Draw one use case diagram for CampusBites from the Exercise 4.1 narrative. Six to ten use cases, the actors you listed, one &lt;Text style={{ fontWeight: 'bold', color: '#0E3F8C' }}&gt;&amp;lt;&amp;lt;include&amp;gt;&amp;gt;&lt;/Text&gt; and one &lt;Text style={{ fontWeight: 'bold', color: '#0E3F8C' }}&gt;&amp;lt;&amp;lt;extend&amp;gt;&amp;gt;&lt;/Text&gt;. Put the external systems outside the boundary box.&#10;        &lt;/Text&gt;&#10;      &lt;/Box&gt;&#10;      &lt;Box style={{ padding: '16px 18px', background: '#FFFFFF', borderRadius: 10, border: '1px solid #D6DCE5' }}&gt;&#10;        &lt;Text style={{ fontSize: 15.5, fontWeight: 'bold', color: '#0E3F8C' }}&gt;For each dashed arrow, write one sentence&lt;/Text&gt;&#10;        &lt;Text style={{ fontSize: 13, color: '#4A5568', lineHeight: 1.6, marginTop: 5 }}&gt;&#10;          State in words what the relationship means and why the arrow points that way. A diagram without the sentence is a drawing; with it, it is a model.&#10;        &lt;/Text&gt;&#10;      &lt;/Box&gt;&#10;      &lt;Box style={{ padding: '16px 18px', background: '#F7F9FC', borderRadius: 10, border: '1px dashed #D6DCE5' }}&gt;&#10;        &lt;Text style={{ fontSize: 13, color: '#8B97A8', lineHeight: 1.6 }}&gt;&#10;          Deliverable: &lt;Text style={{ color: '#0E3F8C', fontWeight: 'bold' }}&gt;docs/diagrams/use-case-v1.drawio&lt;/Text&gt; plus an exported PNG, committed before you leave. Source file and picture — both, as agreed in Week 03.&#10;        &lt;/Text&gt;&#10;      &lt;/Box&gt;&#10;    &lt;/Box&gt;&#10;    &lt;Box style={{ flex: 4, flexDirection: 'column', justifyContent: 'center' }}&gt;&#10;      &lt;Box style={{ padding: '16px 18px', background: '#FFF6E0', borderRadius: 10, borderLeft: '4px solid #FFC107', marginBottom: 10 }}&gt;&#10;        &lt;Text style={{ fontSize: 16, fontWeight: 'bold', color: '#996F00' }}&gt;Self-check before you hand it in&lt;/Text&gt;&#10;      &lt;/Box&gt;&#10;      {[&#10;        'Every ellipse is named verb plus object, in business words',&#10;        'Every use case belongs to exactly one primary actor',&#10;        'The boundary box is drawn, and its name is at the top',&#10;        'External systems sit outside the box and are drawn as boxes',&#10;        'No “Manage X” and no create-read-update-delete quartet',&#10;        'The include arrow leaves the base and arrives at what it needs',&#10;        'The extend arrow comes back from the extra to the base',&#10;        'Each dashed arrow carries a condition or a reason in words',&#10;      ].map((t) =&gt; (&#10;        &lt;Box key={t} style={{ flexDirection: 'row', alignItems: 'flex-start', gap: 9, marginBottom: 7 }}&gt;&#10;          &lt;Box style={{ width: 13, height: 13, borderRadius: 7, borderWidth: 1.4, borderColor: '#1E4FA8', marginTop: 3 }} /&gt;&#10;          &lt;Box style={{ flex: 1 }}&gt;&#10;            &lt;Text style={{ fontSize: 12.5, color: '#1A2230', lineHeight: 1.5 }}&gt;{t}&lt;/Text&gt;&#10;          &lt;/Box&gt;&#10;        &lt;/Box&gt;&#10;      ))}&#10;    &lt;/Box&gt;&#10;  &lt;/Box&gt;&#10;  &lt;Box style={{ height: 46, background: '#0E3F8C', padding: '0 40px', flexDirection: 'row', alignItems: 'center', justifyContent: 'center' }}&gt;&#10;    &lt;Text style={{ fontSize: 16, color: '#FFFFFF', fontWeight: '600' }}&gt;Thirty minutes to draw, fifteen to defend it to the instructor, who is playing the client today. Answers on the next page.&lt;/Text&gt;&#10;  &lt;/Box&gt;&#10;&lt;/Slide&gt;"/>
        <p:cNvGrpSpPr/>
        <p:nvPr/>
      </p:nvGrpSpPr>
      <p:grpSpPr>
        <a:xfrm>
          <a:off x="0" y="0"/>
          <a:ext cx="0" cy="0"/>
          <a:chOff x="0" y="0"/>
          <a:chExt cx="0" cy="0"/>
        </a:xfrm>
      </p:grpSpPr>
      <p:sp>
        <p:nvSpPr>
          <p:cNvPr id="640" name=""/>
          <p:cNvSpPr/>
          <p:nvPr/>
        </p:nvSpPr>
        <p:spPr>
          <a:xfrm rot="0" flipH="0" flipV="0">
            <a:off x="0" y="0"/>
            <a:ext cx="12192000" cy="6858000"/>
          </a:xfrm>
          <a:prstGeom prst="rect">
            <a:avLst/>
          </a:prstGeom>
          <a:solidFill>
            <a:srgbClr val="FFFFFF"/>
          </a:solidFill>
          <a:ln/>
        </p:spPr>
        <p:txBody>
          <a:bodyPr/>
          <a:p/>
        </p:txBody>
      </p:sp>
      <p:sp>
        <p:nvSpPr>
          <p:cNvPr id="641" name=""/>
          <p:cNvSpPr/>
          <p:nvPr/>
        </p:nvSpPr>
        <p:spPr>
          <a:xfrm rot="0" flipH="0" flipV="0">
            <a:off x="0" y="0"/>
            <a:ext cx="12192000" cy="685800"/>
          </a:xfrm>
          <a:prstGeom prst="rect">
            <a:avLst/>
          </a:prstGeom>
          <a:solidFill>
            <a:srgbClr val="1E4FA8"/>
          </a:solidFill>
          <a:ln/>
        </p:spPr>
        <p:txBody>
          <a:bodyPr/>
          <a:p/>
        </p:txBody>
      </p:sp>
      <p:sp>
        <p:nvSpPr>
          <p:cNvPr id="642" name="" descr="{&quot;isTemplate&quot;:true,&quot;type&quot;:&quot;text&quot;}"/>
          <p:cNvSpPr txBox="1"/>
          <p:nvPr/>
        </p:nvSpPr>
        <p:spPr>
          <a:xfrm rot="0" flipH="0" flipV="0">
            <a:off x="381000" y="257175"/>
            <a:ext cx="4067175" cy="171450"/>
          </a:xfrm>
          <a:prstGeom prst="rect"/>
        </p:spPr>
        <p:txBody>
          <a:bodyPr wrap="none" lIns="0" tIns="0" rIns="0" bIns="0"/>
          <a:p>
            <a:pPr>
              <a:lnSpc>
                <a:spcPct val="100000"/>
              </a:lnSpc>
            </a:pPr>
            <a:r>
              <a:rPr lang="en-US" sz="1125" spc="75">
                <a:solidFill>
                  <a:srgbClr val="B9CDF0"/>
                </a:solidFill>
                <a:latin typeface="Microsoft YaHei"/>
                <a:ea typeface="Microsoft YaHei"/>
              </a:rPr>
              <a:t>ISAD · INFORMATION SYSTEMS ANALYSIS &amp; DESIGN</a:t>
            </a:r>
            <a:endParaRPr/>
          </a:p>
        </p:txBody>
      </p:sp>
      <p:sp>
        <p:nvSpPr>
          <p:cNvPr id="643" name="" descr="{&quot;isTemplate&quot;:true,&quot;type&quot;:&quot;text&quot;}"/>
          <p:cNvSpPr txBox="1"/>
          <p:nvPr/>
        </p:nvSpPr>
        <p:spPr>
          <a:xfrm rot="0" flipH="0" flipV="0">
            <a:off x="10029825" y="257175"/>
            <a:ext cx="1781175" cy="171450"/>
          </a:xfrm>
          <a:prstGeom prst="rect"/>
        </p:spPr>
        <p:txBody>
          <a:bodyPr wrap="none" lIns="0" tIns="0" rIns="0" bIns="0"/>
          <a:p>
            <a:pPr>
              <a:lnSpc>
                <a:spcPct val="100000"/>
              </a:lnSpc>
            </a:pPr>
            <a:r>
              <a:rPr lang="en-US" sz="1125">
                <a:solidFill>
                  <a:srgbClr val="B9CDF0"/>
                </a:solidFill>
                <a:latin typeface="Microsoft YaHei"/>
                <a:ea typeface="Microsoft YaHei"/>
              </a:rPr>
              <a:t>W04 · LAB · EXERCISE 4.2</a:t>
            </a:r>
            <a:endParaRPr/>
          </a:p>
        </p:txBody>
      </p:sp>
      <p:sp>
        <p:nvSpPr>
          <p:cNvPr id="644" name="" descr="{&quot;isTemplate&quot;:true,&quot;type&quot;:&quot;text&quot;}"/>
          <p:cNvSpPr txBox="1"/>
          <p:nvPr/>
        </p:nvSpPr>
        <p:spPr>
          <a:xfrm rot="0" flipH="0" flipV="0">
            <a:off x="381000" y="819150"/>
            <a:ext cx="4381500" cy="333375"/>
          </a:xfrm>
          <a:prstGeom prst="rect"/>
        </p:spPr>
        <p:txBody>
          <a:bodyPr wrap="none" lIns="0" tIns="0" rIns="0" bIns="0"/>
          <a:p>
            <a:pPr>
              <a:lnSpc>
                <a:spcPct val="100000"/>
              </a:lnSpc>
            </a:pPr>
            <a:r>
              <a:rPr lang="en-US" sz="2175" b="1">
                <a:solidFill>
                  <a:srgbClr val="0E3F8C"/>
                </a:solidFill>
                <a:latin typeface="Microsoft YaHei"/>
                <a:ea typeface="Microsoft YaHei"/>
              </a:rPr>
              <a:t>Exercise 4.2 — Draw the Diagram</a:t>
            </a:r>
            <a:endParaRPr/>
          </a:p>
        </p:txBody>
      </p:sp>
      <p:sp>
        <p:nvSpPr>
          <p:cNvPr id="645" name="" descr="{&quot;isTemplate&quot;:true,&quot;type&quot;:&quot;text&quot;}"/>
          <p:cNvSpPr txBox="1"/>
          <p:nvPr/>
        </p:nvSpPr>
        <p:spPr>
          <a:xfrm rot="0" flipH="0" flipV="0">
            <a:off x="11401425" y="904875"/>
            <a:ext cx="409575" cy="161925"/>
          </a:xfrm>
          <a:prstGeom prst="rect"/>
        </p:spPr>
        <p:txBody>
          <a:bodyPr wrap="none" lIns="0" tIns="0" rIns="0" bIns="0"/>
          <a:p>
            <a:pPr>
              <a:lnSpc>
                <a:spcPct val="100000"/>
              </a:lnSpc>
            </a:pPr>
            <a:r>
              <a:rPr lang="en-US" sz="1050" b="1">
                <a:solidFill>
                  <a:srgbClr val="1E4FA8"/>
                </a:solidFill>
                <a:latin typeface="Microsoft YaHei"/>
                <a:ea typeface="Microsoft YaHei"/>
              </a:rPr>
              <a:t>35 / 38</a:t>
            </a:r>
            <a:endParaRPr/>
          </a:p>
        </p:txBody>
      </p:sp>
      <p:sp>
        <p:nvSpPr>
          <p:cNvPr id="646" name=""/>
          <p:cNvSpPr/>
          <p:nvPr/>
        </p:nvSpPr>
        <p:spPr>
          <a:xfrm rot="0" flipH="0" flipV="0">
            <a:off x="419100" y="1266825"/>
            <a:ext cx="6219825" cy="1371600"/>
          </a:xfrm>
          <a:prstGeom prst="roundRect">
            <a:avLst>
              <a:gd name="adj" fmla="val 6944"/>
            </a:avLst>
          </a:prstGeom>
          <a:solidFill>
            <a:srgbClr val="F0F5FC"/>
          </a:solidFill>
          <a:ln/>
        </p:spPr>
        <p:txBody>
          <a:bodyPr/>
          <a:p/>
        </p:txBody>
      </p:sp>
      <p:sp>
        <p:nvSpPr>
          <p:cNvPr id="647" name=""/>
          <p:cNvSpPr/>
          <p:nvPr/>
        </p:nvSpPr>
        <p:spPr>
          <a:xfrm rot="0" flipH="0" flipV="0">
            <a:off x="419100" y="1266825"/>
            <a:ext cx="6219825" cy="1371600"/>
          </a:xfrm>
          <a:custGeom>
            <a:pathLst>
              <a:path w="653" h="144">
                <a:moveTo>
                  <a:pt x="9" y="0"/>
                </a:moveTo>
                <a:cubicBezTo>
                  <a:pt x="6" y="0"/>
                  <a:pt x="4" y="3"/>
                  <a:pt x="4" y="6"/>
                </a:cubicBezTo>
                <a:lnTo>
                  <a:pt x="4" y="138"/>
                </a:lnTo>
                <a:cubicBezTo>
                  <a:pt x="4" y="141"/>
                  <a:pt x="6" y="143"/>
                  <a:pt x="9" y="144"/>
                </a:cubicBezTo>
                <a:cubicBezTo>
                  <a:pt x="4" y="143"/>
                  <a:pt x="0" y="139"/>
                  <a:pt x="0" y="134"/>
                </a:cubicBezTo>
                <a:lnTo>
                  <a:pt x="0" y="10"/>
                </a:lnTo>
                <a:cubicBezTo>
                  <a:pt x="0" y="5"/>
                  <a:pt x="4" y="0"/>
                  <a:pt x="10" y="0"/>
                </a:cubicBezTo>
                <a:close/>
              </a:path>
            </a:pathLst>
          </a:custGeom>
          <a:solidFill>
            <a:srgbClr val="1E4FA8"/>
          </a:solidFill>
          <a:ln/>
        </p:spPr>
        <p:txBody>
          <a:bodyPr/>
          <a:p/>
        </p:txBody>
      </p:sp>
      <p:sp>
        <p:nvSpPr>
          <p:cNvPr id="648" name="" descr="{&quot;isTemplate&quot;:true,&quot;type&quot;:&quot;text&quot;}"/>
          <p:cNvSpPr txBox="1"/>
          <p:nvPr/>
        </p:nvSpPr>
        <p:spPr>
          <a:xfrm rot="0" flipH="0" flipV="0">
            <a:off x="590550" y="1438275"/>
            <a:ext cx="5838825" cy="200025"/>
          </a:xfrm>
          <a:prstGeom prst="rect"/>
        </p:spPr>
        <p:txBody>
          <a:bodyPr wrap="none" lIns="0" tIns="0" rIns="0" bIns="0"/>
          <a:p>
            <a:pPr>
              <a:lnSpc>
                <a:spcPct val="100000"/>
              </a:lnSpc>
            </a:pPr>
            <a:r>
              <a:rPr lang="en-US" sz="1275" b="1">
                <a:solidFill>
                  <a:srgbClr val="0E3F8C"/>
                </a:solidFill>
                <a:latin typeface="Microsoft YaHei"/>
                <a:ea typeface="Microsoft YaHei"/>
              </a:rPr>
              <a:t>The task</a:t>
            </a:r>
            <a:endParaRPr/>
          </a:p>
        </p:txBody>
      </p:sp>
      <p:sp>
        <p:nvSpPr>
          <p:cNvPr id="649" name="" descr="{&quot;isTemplate&quot;:true,&quot;type&quot;:&quot;text&quot;}"/>
          <p:cNvSpPr txBox="1"/>
          <p:nvPr/>
        </p:nvSpPr>
        <p:spPr>
          <a:xfrm rot="0" flipH="0" flipV="0">
            <a:off x="590550" y="1695450"/>
            <a:ext cx="5838825" cy="771525"/>
          </a:xfrm>
          <a:prstGeom prst="rect"/>
        </p:spPr>
        <p:txBody>
          <a:bodyPr wrap="square" lIns="0" tIns="0" rIns="0" bIns="0">
            <a:normAutofit/>
          </a:bodyPr>
          <a:p>
            <a:pPr>
              <a:lnSpc>
                <a:spcPct val="165000"/>
              </a:lnSpc>
            </a:pPr>
            <a:r>
              <a:rPr lang="en-US" sz="1013">
                <a:solidFill>
                  <a:srgbClr val="4A5568"/>
                </a:solidFill>
                <a:latin typeface="Microsoft YaHei"/>
                <a:ea typeface="Microsoft YaHei"/>
              </a:rPr>
              <a:t>Draw one use case diagram for CampusBites from the Exercise 4.1 narrative. Six to ten use cases, the actors you listed, one </a:t>
            </a:r>
            <a:r>
              <a:rPr lang="en-US" sz="1013">
                <a:solidFill>
                  <a:srgbClr val="4A5568"/>
                </a:solidFill>
                <a:latin typeface="Microsoft YaHei"/>
                <a:ea typeface="Microsoft YaHei"/>
              </a:rPr>
              <a:t>&lt;&lt;include&gt;&gt;</a:t>
            </a:r>
            <a:r>
              <a:rPr lang="en-US" sz="1013">
                <a:solidFill>
                  <a:srgbClr val="4A5568"/>
                </a:solidFill>
                <a:latin typeface="Microsoft YaHei"/>
                <a:ea typeface="Microsoft YaHei"/>
              </a:rPr>
              <a:t> and one </a:t>
            </a:r>
            <a:r>
              <a:rPr lang="en-US" sz="1013">
                <a:solidFill>
                  <a:srgbClr val="4A5568"/>
                </a:solidFill>
                <a:latin typeface="Microsoft YaHei"/>
                <a:ea typeface="Microsoft YaHei"/>
              </a:rPr>
              <a:t>&lt;&lt;extend&gt;&gt;</a:t>
            </a:r>
            <a:r>
              <a:rPr lang="en-US" sz="1013">
                <a:solidFill>
                  <a:srgbClr val="4A5568"/>
                </a:solidFill>
                <a:latin typeface="Microsoft YaHei"/>
                <a:ea typeface="Microsoft YaHei"/>
              </a:rPr>
              <a:t>. Put the external systems outside the boundary box.</a:t>
            </a:r>
            <a:endParaRPr/>
          </a:p>
        </p:txBody>
      </p:sp>
      <p:sp>
        <p:nvSpPr>
          <p:cNvPr id="650" name=""/>
          <p:cNvSpPr/>
          <p:nvPr/>
        </p:nvSpPr>
        <p:spPr>
          <a:xfrm rot="0" flipH="0" flipV="0">
            <a:off x="381000" y="2752725"/>
            <a:ext cx="6219825" cy="1009650"/>
          </a:xfrm>
          <a:prstGeom prst="roundRect">
            <a:avLst>
              <a:gd name="adj" fmla="val 9434"/>
            </a:avLst>
          </a:prstGeom>
          <a:solidFill>
            <a:srgbClr val="FFFFFF"/>
          </a:solidFill>
          <a:ln w="12700">
            <a:solidFill>
              <a:srgbClr val="D6DCE5"/>
            </a:solidFill>
            <a:prstDash val="solid"/>
          </a:ln>
        </p:spPr>
        <p:txBody>
          <a:bodyPr/>
          <a:p/>
        </p:txBody>
      </p:sp>
      <p:sp>
        <p:nvSpPr>
          <p:cNvPr id="651" name="" descr="{&quot;isTemplate&quot;:true,&quot;type&quot;:&quot;text&quot;}"/>
          <p:cNvSpPr txBox="1"/>
          <p:nvPr/>
        </p:nvSpPr>
        <p:spPr>
          <a:xfrm rot="0" flipH="0" flipV="0">
            <a:off x="552450" y="2905125"/>
            <a:ext cx="5876925" cy="180975"/>
          </a:xfrm>
          <a:prstGeom prst="rect"/>
        </p:spPr>
        <p:txBody>
          <a:bodyPr wrap="none" lIns="0" tIns="0" rIns="0" bIns="0"/>
          <a:p>
            <a:pPr>
              <a:lnSpc>
                <a:spcPct val="100000"/>
              </a:lnSpc>
            </a:pPr>
            <a:r>
              <a:rPr lang="en-US" sz="1163" b="1">
                <a:solidFill>
                  <a:srgbClr val="0E3F8C"/>
                </a:solidFill>
                <a:latin typeface="Microsoft YaHei"/>
                <a:ea typeface="Microsoft YaHei"/>
              </a:rPr>
              <a:t>For each dashed arrow, write one sentence</a:t>
            </a:r>
            <a:endParaRPr/>
          </a:p>
        </p:txBody>
      </p:sp>
      <p:sp>
        <p:nvSpPr>
          <p:cNvPr id="652" name="" descr="{&quot;isTemplate&quot;:true,&quot;type&quot;:&quot;text&quot;}"/>
          <p:cNvSpPr txBox="1"/>
          <p:nvPr/>
        </p:nvSpPr>
        <p:spPr>
          <a:xfrm rot="0" flipH="0" flipV="0">
            <a:off x="552450" y="3133725"/>
            <a:ext cx="5876925" cy="476250"/>
          </a:xfrm>
          <a:prstGeom prst="rect"/>
        </p:spPr>
        <p:txBody>
          <a:bodyPr wrap="square" lIns="0" tIns="0" rIns="0" bIns="0">
            <a:normAutofit/>
          </a:bodyPr>
          <a:p>
            <a:pPr>
              <a:lnSpc>
                <a:spcPct val="160000"/>
              </a:lnSpc>
            </a:pPr>
            <a:r>
              <a:rPr lang="en-US" sz="975">
                <a:solidFill>
                  <a:srgbClr val="4A5568"/>
                </a:solidFill>
                <a:latin typeface="Microsoft YaHei"/>
                <a:ea typeface="Microsoft YaHei"/>
              </a:rPr>
              <a:t>State in words what the relationship means and why the arrow points that way. A diagram without the sentence is a drawing; with it, it is a model.</a:t>
            </a:r>
            <a:endParaRPr/>
          </a:p>
        </p:txBody>
      </p:sp>
      <p:sp>
        <p:nvSpPr>
          <p:cNvPr id="653" name=""/>
          <p:cNvSpPr/>
          <p:nvPr/>
        </p:nvSpPr>
        <p:spPr>
          <a:xfrm rot="0" flipH="0" flipV="0">
            <a:off x="381000" y="3876675"/>
            <a:ext cx="6219825" cy="781050"/>
          </a:xfrm>
          <a:prstGeom prst="roundRect">
            <a:avLst>
              <a:gd name="adj" fmla="val 12195"/>
            </a:avLst>
          </a:prstGeom>
          <a:solidFill>
            <a:srgbClr val="F7F9FC"/>
          </a:solidFill>
          <a:ln w="12700">
            <a:solidFill>
              <a:srgbClr val="D6DCE5"/>
            </a:solidFill>
            <a:prstDash val="dash"/>
          </a:ln>
        </p:spPr>
        <p:txBody>
          <a:bodyPr/>
          <a:p/>
        </p:txBody>
      </p:sp>
      <p:sp>
        <p:nvSpPr>
          <p:cNvPr id="654" name="" descr="{&quot;isTemplate&quot;:true,&quot;type&quot;:&quot;text&quot;}"/>
          <p:cNvSpPr txBox="1"/>
          <p:nvPr/>
        </p:nvSpPr>
        <p:spPr>
          <a:xfrm rot="0" flipH="0" flipV="0">
            <a:off x="552450" y="4029075"/>
            <a:ext cx="5876925" cy="476250"/>
          </a:xfrm>
          <a:prstGeom prst="rect"/>
        </p:spPr>
        <p:txBody>
          <a:bodyPr wrap="square" lIns="0" tIns="0" rIns="0" bIns="0">
            <a:normAutofit/>
          </a:bodyPr>
          <a:p>
            <a:pPr>
              <a:lnSpc>
                <a:spcPct val="160000"/>
              </a:lnSpc>
            </a:pPr>
            <a:r>
              <a:rPr lang="en-US" sz="975">
                <a:solidFill>
                  <a:srgbClr val="8B97A8"/>
                </a:solidFill>
                <a:latin typeface="Microsoft YaHei"/>
                <a:ea typeface="Microsoft YaHei"/>
              </a:rPr>
              <a:t>Deliverable: </a:t>
            </a:r>
            <a:r>
              <a:rPr lang="en-US" sz="975">
                <a:solidFill>
                  <a:srgbClr val="8B97A8"/>
                </a:solidFill>
                <a:latin typeface="Microsoft YaHei"/>
                <a:ea typeface="Microsoft YaHei"/>
              </a:rPr>
              <a:t>docs/diagrams/use-case-v1.drawio</a:t>
            </a:r>
            <a:r>
              <a:rPr lang="en-US" sz="975">
                <a:solidFill>
                  <a:srgbClr val="8B97A8"/>
                </a:solidFill>
                <a:latin typeface="Microsoft YaHei"/>
                <a:ea typeface="Microsoft YaHei"/>
              </a:rPr>
              <a:t> plus an exported PNG, committed before you leave. Source file and picture — both, as agreed in Week 03.</a:t>
            </a:r>
            <a:endParaRPr/>
          </a:p>
        </p:txBody>
      </p:sp>
      <p:sp>
        <p:nvSpPr>
          <p:cNvPr id="655" name=""/>
          <p:cNvSpPr/>
          <p:nvPr/>
        </p:nvSpPr>
        <p:spPr>
          <a:xfrm rot="0" flipH="0" flipV="0">
            <a:off x="6867525" y="2409825"/>
            <a:ext cx="4981575" cy="495300"/>
          </a:xfrm>
          <a:prstGeom prst="roundRect">
            <a:avLst>
              <a:gd name="adj" fmla="val 19231"/>
            </a:avLst>
          </a:prstGeom>
          <a:solidFill>
            <a:srgbClr val="FFF6E0"/>
          </a:solidFill>
          <a:ln/>
        </p:spPr>
        <p:txBody>
          <a:bodyPr/>
          <a:p/>
        </p:txBody>
      </p:sp>
      <p:sp>
        <p:nvSpPr>
          <p:cNvPr id="656" name=""/>
          <p:cNvSpPr/>
          <p:nvPr/>
        </p:nvSpPr>
        <p:spPr>
          <a:xfrm rot="0" flipH="0" flipV="0">
            <a:off x="6867525" y="2409825"/>
            <a:ext cx="4981575" cy="495300"/>
          </a:xfrm>
          <a:custGeom>
            <a:pathLst>
              <a:path w="523" h="52">
                <a:moveTo>
                  <a:pt x="9" y="0"/>
                </a:moveTo>
                <a:cubicBezTo>
                  <a:pt x="6" y="0"/>
                  <a:pt x="4" y="3"/>
                  <a:pt x="4" y="6"/>
                </a:cubicBezTo>
                <a:lnTo>
                  <a:pt x="4" y="46"/>
                </a:lnTo>
                <a:cubicBezTo>
                  <a:pt x="4" y="49"/>
                  <a:pt x="6" y="51"/>
                  <a:pt x="9" y="52"/>
                </a:cubicBezTo>
                <a:cubicBezTo>
                  <a:pt x="4" y="51"/>
                  <a:pt x="0" y="47"/>
                  <a:pt x="0" y="42"/>
                </a:cubicBezTo>
                <a:lnTo>
                  <a:pt x="0" y="10"/>
                </a:lnTo>
                <a:cubicBezTo>
                  <a:pt x="0" y="5"/>
                  <a:pt x="4" y="0"/>
                  <a:pt x="10" y="0"/>
                </a:cubicBezTo>
                <a:close/>
              </a:path>
            </a:pathLst>
          </a:custGeom>
          <a:solidFill>
            <a:srgbClr val="FFC107"/>
          </a:solidFill>
          <a:ln/>
        </p:spPr>
        <p:txBody>
          <a:bodyPr/>
          <a:p/>
        </p:txBody>
      </p:sp>
      <p:sp>
        <p:nvSpPr>
          <p:cNvPr id="657" name="" descr="{&quot;isTemplate&quot;:true,&quot;type&quot;:&quot;text&quot;}"/>
          <p:cNvSpPr txBox="1"/>
          <p:nvPr/>
        </p:nvSpPr>
        <p:spPr>
          <a:xfrm rot="0" flipH="0" flipV="0">
            <a:off x="7038975" y="2562225"/>
            <a:ext cx="4600575" cy="190500"/>
          </a:xfrm>
          <a:prstGeom prst="rect"/>
        </p:spPr>
        <p:txBody>
          <a:bodyPr wrap="none" lIns="0" tIns="0" rIns="0" bIns="0"/>
          <a:p>
            <a:pPr>
              <a:lnSpc>
                <a:spcPct val="100000"/>
              </a:lnSpc>
            </a:pPr>
            <a:r>
              <a:rPr lang="en-US" sz="1200" b="1">
                <a:solidFill>
                  <a:srgbClr val="996F00"/>
                </a:solidFill>
                <a:latin typeface="Microsoft YaHei"/>
                <a:ea typeface="Microsoft YaHei"/>
              </a:rPr>
              <a:t>Self-check before you hand it in</a:t>
            </a:r>
            <a:endParaRPr/>
          </a:p>
        </p:txBody>
      </p:sp>
      <p:sp>
        <p:nvSpPr>
          <p:cNvPr id="658" name=""/>
          <p:cNvSpPr/>
          <p:nvPr/>
        </p:nvSpPr>
        <p:spPr>
          <a:xfrm rot="0" flipH="0" flipV="0">
            <a:off x="6829425" y="3028950"/>
            <a:ext cx="123825" cy="123825"/>
          </a:xfrm>
          <a:prstGeom prst="roundRect">
            <a:avLst>
              <a:gd name="adj" fmla="val 53846"/>
            </a:avLst>
          </a:prstGeom>
          <a:ln w="17780">
            <a:solidFill>
              <a:srgbClr val="1E4FA8"/>
            </a:solidFill>
            <a:prstDash val="solid"/>
          </a:ln>
        </p:spPr>
        <p:txBody>
          <a:bodyPr/>
          <a:p/>
        </p:txBody>
      </p:sp>
      <p:sp>
        <p:nvSpPr>
          <p:cNvPr id="659" name="" descr="{&quot;isTemplate&quot;:true,&quot;type&quot;:&quot;text&quot;}"/>
          <p:cNvSpPr txBox="1"/>
          <p:nvPr/>
        </p:nvSpPr>
        <p:spPr>
          <a:xfrm rot="0" flipH="0" flipV="0">
            <a:off x="7038975" y="3000375"/>
            <a:ext cx="4772025" cy="219075"/>
          </a:xfrm>
          <a:prstGeom prst="rect"/>
        </p:spPr>
        <p:txBody>
          <a:bodyPr wrap="none" lIns="0" tIns="0" rIns="0" bIns="0"/>
          <a:p>
            <a:pPr>
              <a:lnSpc>
                <a:spcPct val="150000"/>
              </a:lnSpc>
            </a:pPr>
            <a:r>
              <a:rPr lang="en-US" sz="938">
                <a:solidFill>
                  <a:srgbClr val="1A2230"/>
                </a:solidFill>
                <a:latin typeface="Microsoft YaHei"/>
                <a:ea typeface="Microsoft YaHei"/>
              </a:rPr>
              <a:t>Every ellipse is named verb plus object, in business words</a:t>
            </a:r>
            <a:endParaRPr/>
          </a:p>
        </p:txBody>
      </p:sp>
      <p:sp>
        <p:nvSpPr>
          <p:cNvPr id="660" name=""/>
          <p:cNvSpPr/>
          <p:nvPr/>
        </p:nvSpPr>
        <p:spPr>
          <a:xfrm rot="0" flipH="0" flipV="0">
            <a:off x="6829425" y="3314700"/>
            <a:ext cx="123825" cy="123825"/>
          </a:xfrm>
          <a:prstGeom prst="roundRect">
            <a:avLst>
              <a:gd name="adj" fmla="val 53846"/>
            </a:avLst>
          </a:prstGeom>
          <a:ln w="17780">
            <a:solidFill>
              <a:srgbClr val="1E4FA8"/>
            </a:solidFill>
            <a:prstDash val="solid"/>
          </a:ln>
        </p:spPr>
        <p:txBody>
          <a:bodyPr/>
          <a:p/>
        </p:txBody>
      </p:sp>
      <p:sp>
        <p:nvSpPr>
          <p:cNvPr id="661" name="" descr="{&quot;isTemplate&quot;:true,&quot;type&quot;:&quot;text&quot;}"/>
          <p:cNvSpPr txBox="1"/>
          <p:nvPr/>
        </p:nvSpPr>
        <p:spPr>
          <a:xfrm rot="0" flipH="0" flipV="0">
            <a:off x="7038975" y="3286125"/>
            <a:ext cx="4772025" cy="219075"/>
          </a:xfrm>
          <a:prstGeom prst="rect"/>
        </p:spPr>
        <p:txBody>
          <a:bodyPr wrap="none" lIns="0" tIns="0" rIns="0" bIns="0"/>
          <a:p>
            <a:pPr>
              <a:lnSpc>
                <a:spcPct val="150000"/>
              </a:lnSpc>
            </a:pPr>
            <a:r>
              <a:rPr lang="en-US" sz="938">
                <a:solidFill>
                  <a:srgbClr val="1A2230"/>
                </a:solidFill>
                <a:latin typeface="Microsoft YaHei"/>
                <a:ea typeface="Microsoft YaHei"/>
              </a:rPr>
              <a:t>Every use case belongs to exactly one primary actor</a:t>
            </a:r>
            <a:endParaRPr/>
          </a:p>
        </p:txBody>
      </p:sp>
      <p:sp>
        <p:nvSpPr>
          <p:cNvPr id="662" name=""/>
          <p:cNvSpPr/>
          <p:nvPr/>
        </p:nvSpPr>
        <p:spPr>
          <a:xfrm rot="0" flipH="0" flipV="0">
            <a:off x="6829425" y="3600450"/>
            <a:ext cx="123825" cy="123825"/>
          </a:xfrm>
          <a:prstGeom prst="roundRect">
            <a:avLst>
              <a:gd name="adj" fmla="val 53846"/>
            </a:avLst>
          </a:prstGeom>
          <a:ln w="17780">
            <a:solidFill>
              <a:srgbClr val="1E4FA8"/>
            </a:solidFill>
            <a:prstDash val="solid"/>
          </a:ln>
        </p:spPr>
        <p:txBody>
          <a:bodyPr/>
          <a:p/>
        </p:txBody>
      </p:sp>
      <p:sp>
        <p:nvSpPr>
          <p:cNvPr id="663" name="" descr="{&quot;isTemplate&quot;:true,&quot;type&quot;:&quot;text&quot;}"/>
          <p:cNvSpPr txBox="1"/>
          <p:nvPr/>
        </p:nvSpPr>
        <p:spPr>
          <a:xfrm rot="0" flipH="0" flipV="0">
            <a:off x="7038975" y="3571875"/>
            <a:ext cx="4772025" cy="219075"/>
          </a:xfrm>
          <a:prstGeom prst="rect"/>
        </p:spPr>
        <p:txBody>
          <a:bodyPr wrap="none" lIns="0" tIns="0" rIns="0" bIns="0"/>
          <a:p>
            <a:pPr>
              <a:lnSpc>
                <a:spcPct val="150000"/>
              </a:lnSpc>
            </a:pPr>
            <a:r>
              <a:rPr lang="en-US" sz="938">
                <a:solidFill>
                  <a:srgbClr val="1A2230"/>
                </a:solidFill>
                <a:latin typeface="Microsoft YaHei"/>
                <a:ea typeface="Microsoft YaHei"/>
              </a:rPr>
              <a:t>The boundary box is drawn, and its name is at the top</a:t>
            </a:r>
            <a:endParaRPr/>
          </a:p>
        </p:txBody>
      </p:sp>
      <p:sp>
        <p:nvSpPr>
          <p:cNvPr id="664" name=""/>
          <p:cNvSpPr/>
          <p:nvPr/>
        </p:nvSpPr>
        <p:spPr>
          <a:xfrm rot="0" flipH="0" flipV="0">
            <a:off x="6829425" y="3886200"/>
            <a:ext cx="123825" cy="123825"/>
          </a:xfrm>
          <a:prstGeom prst="roundRect">
            <a:avLst>
              <a:gd name="adj" fmla="val 53846"/>
            </a:avLst>
          </a:prstGeom>
          <a:ln w="17780">
            <a:solidFill>
              <a:srgbClr val="1E4FA8"/>
            </a:solidFill>
            <a:prstDash val="solid"/>
          </a:ln>
        </p:spPr>
        <p:txBody>
          <a:bodyPr/>
          <a:p/>
        </p:txBody>
      </p:sp>
      <p:sp>
        <p:nvSpPr>
          <p:cNvPr id="665" name="" descr="{&quot;isTemplate&quot;:true,&quot;type&quot;:&quot;text&quot;}"/>
          <p:cNvSpPr txBox="1"/>
          <p:nvPr/>
        </p:nvSpPr>
        <p:spPr>
          <a:xfrm rot="0" flipH="0" flipV="0">
            <a:off x="7038975" y="3857625"/>
            <a:ext cx="4772025" cy="219075"/>
          </a:xfrm>
          <a:prstGeom prst="rect"/>
        </p:spPr>
        <p:txBody>
          <a:bodyPr wrap="none" lIns="0" tIns="0" rIns="0" bIns="0"/>
          <a:p>
            <a:pPr>
              <a:lnSpc>
                <a:spcPct val="150000"/>
              </a:lnSpc>
            </a:pPr>
            <a:r>
              <a:rPr lang="en-US" sz="938">
                <a:solidFill>
                  <a:srgbClr val="1A2230"/>
                </a:solidFill>
                <a:latin typeface="Microsoft YaHei"/>
                <a:ea typeface="Microsoft YaHei"/>
              </a:rPr>
              <a:t>External systems sit outside the box and are drawn as boxes</a:t>
            </a:r>
            <a:endParaRPr/>
          </a:p>
        </p:txBody>
      </p:sp>
      <p:sp>
        <p:nvSpPr>
          <p:cNvPr id="666" name=""/>
          <p:cNvSpPr/>
          <p:nvPr/>
        </p:nvSpPr>
        <p:spPr>
          <a:xfrm rot="0" flipH="0" flipV="0">
            <a:off x="6829425" y="4171950"/>
            <a:ext cx="123825" cy="123825"/>
          </a:xfrm>
          <a:prstGeom prst="roundRect">
            <a:avLst>
              <a:gd name="adj" fmla="val 53846"/>
            </a:avLst>
          </a:prstGeom>
          <a:ln w="17780">
            <a:solidFill>
              <a:srgbClr val="1E4FA8"/>
            </a:solidFill>
            <a:prstDash val="solid"/>
          </a:ln>
        </p:spPr>
        <p:txBody>
          <a:bodyPr/>
          <a:p/>
        </p:txBody>
      </p:sp>
      <p:sp>
        <p:nvSpPr>
          <p:cNvPr id="667" name="" descr="{&quot;isTemplate&quot;:true,&quot;type&quot;:&quot;text&quot;}"/>
          <p:cNvSpPr txBox="1"/>
          <p:nvPr/>
        </p:nvSpPr>
        <p:spPr>
          <a:xfrm rot="0" flipH="0" flipV="0">
            <a:off x="7038975" y="4143375"/>
            <a:ext cx="4772025" cy="219075"/>
          </a:xfrm>
          <a:prstGeom prst="rect"/>
        </p:spPr>
        <p:txBody>
          <a:bodyPr wrap="none" lIns="0" tIns="0" rIns="0" bIns="0"/>
          <a:p>
            <a:pPr>
              <a:lnSpc>
                <a:spcPct val="150000"/>
              </a:lnSpc>
            </a:pPr>
            <a:r>
              <a:rPr lang="en-US" sz="938">
                <a:solidFill>
                  <a:srgbClr val="1A2230"/>
                </a:solidFill>
                <a:latin typeface="Microsoft YaHei"/>
                <a:ea typeface="Microsoft YaHei"/>
              </a:rPr>
              <a:t>No “Manage X” and no create-read-update-delete quartet</a:t>
            </a:r>
            <a:endParaRPr/>
          </a:p>
        </p:txBody>
      </p:sp>
      <p:sp>
        <p:nvSpPr>
          <p:cNvPr id="668" name=""/>
          <p:cNvSpPr/>
          <p:nvPr/>
        </p:nvSpPr>
        <p:spPr>
          <a:xfrm rot="0" flipH="0" flipV="0">
            <a:off x="6829425" y="4457700"/>
            <a:ext cx="123825" cy="123825"/>
          </a:xfrm>
          <a:prstGeom prst="roundRect">
            <a:avLst>
              <a:gd name="adj" fmla="val 53846"/>
            </a:avLst>
          </a:prstGeom>
          <a:ln w="17780">
            <a:solidFill>
              <a:srgbClr val="1E4FA8"/>
            </a:solidFill>
            <a:prstDash val="solid"/>
          </a:ln>
        </p:spPr>
        <p:txBody>
          <a:bodyPr/>
          <a:p/>
        </p:txBody>
      </p:sp>
      <p:sp>
        <p:nvSpPr>
          <p:cNvPr id="669" name="" descr="{&quot;isTemplate&quot;:true,&quot;type&quot;:&quot;text&quot;}"/>
          <p:cNvSpPr txBox="1"/>
          <p:nvPr/>
        </p:nvSpPr>
        <p:spPr>
          <a:xfrm rot="0" flipH="0" flipV="0">
            <a:off x="7038975" y="4429125"/>
            <a:ext cx="4772025" cy="219075"/>
          </a:xfrm>
          <a:prstGeom prst="rect"/>
        </p:spPr>
        <p:txBody>
          <a:bodyPr wrap="none" lIns="0" tIns="0" rIns="0" bIns="0"/>
          <a:p>
            <a:pPr>
              <a:lnSpc>
                <a:spcPct val="150000"/>
              </a:lnSpc>
            </a:pPr>
            <a:r>
              <a:rPr lang="en-US" sz="938">
                <a:solidFill>
                  <a:srgbClr val="1A2230"/>
                </a:solidFill>
                <a:latin typeface="Microsoft YaHei"/>
                <a:ea typeface="Microsoft YaHei"/>
              </a:rPr>
              <a:t>The include arrow leaves the base and arrives at what it needs</a:t>
            </a:r>
            <a:endParaRPr/>
          </a:p>
        </p:txBody>
      </p:sp>
      <p:sp>
        <p:nvSpPr>
          <p:cNvPr id="670" name=""/>
          <p:cNvSpPr/>
          <p:nvPr/>
        </p:nvSpPr>
        <p:spPr>
          <a:xfrm rot="0" flipH="0" flipV="0">
            <a:off x="6829425" y="4743450"/>
            <a:ext cx="123825" cy="123825"/>
          </a:xfrm>
          <a:prstGeom prst="roundRect">
            <a:avLst>
              <a:gd name="adj" fmla="val 53846"/>
            </a:avLst>
          </a:prstGeom>
          <a:ln w="17780">
            <a:solidFill>
              <a:srgbClr val="1E4FA8"/>
            </a:solidFill>
            <a:prstDash val="solid"/>
          </a:ln>
        </p:spPr>
        <p:txBody>
          <a:bodyPr/>
          <a:p/>
        </p:txBody>
      </p:sp>
      <p:sp>
        <p:nvSpPr>
          <p:cNvPr id="671" name="" descr="{&quot;isTemplate&quot;:true,&quot;type&quot;:&quot;text&quot;}"/>
          <p:cNvSpPr txBox="1"/>
          <p:nvPr/>
        </p:nvSpPr>
        <p:spPr>
          <a:xfrm rot="0" flipH="0" flipV="0">
            <a:off x="7038975" y="4714875"/>
            <a:ext cx="4772025" cy="219075"/>
          </a:xfrm>
          <a:prstGeom prst="rect"/>
        </p:spPr>
        <p:txBody>
          <a:bodyPr wrap="none" lIns="0" tIns="0" rIns="0" bIns="0"/>
          <a:p>
            <a:pPr>
              <a:lnSpc>
                <a:spcPct val="150000"/>
              </a:lnSpc>
            </a:pPr>
            <a:r>
              <a:rPr lang="en-US" sz="938">
                <a:solidFill>
                  <a:srgbClr val="1A2230"/>
                </a:solidFill>
                <a:latin typeface="Microsoft YaHei"/>
                <a:ea typeface="Microsoft YaHei"/>
              </a:rPr>
              <a:t>The extend arrow comes back from the extra to the base</a:t>
            </a:r>
            <a:endParaRPr/>
          </a:p>
        </p:txBody>
      </p:sp>
      <p:sp>
        <p:nvSpPr>
          <p:cNvPr id="672" name=""/>
          <p:cNvSpPr/>
          <p:nvPr/>
        </p:nvSpPr>
        <p:spPr>
          <a:xfrm rot="0" flipH="0" flipV="0">
            <a:off x="6829425" y="5029200"/>
            <a:ext cx="123825" cy="123825"/>
          </a:xfrm>
          <a:prstGeom prst="roundRect">
            <a:avLst>
              <a:gd name="adj" fmla="val 53846"/>
            </a:avLst>
          </a:prstGeom>
          <a:ln w="17780">
            <a:solidFill>
              <a:srgbClr val="1E4FA8"/>
            </a:solidFill>
            <a:prstDash val="solid"/>
          </a:ln>
        </p:spPr>
        <p:txBody>
          <a:bodyPr/>
          <a:p/>
        </p:txBody>
      </p:sp>
      <p:sp>
        <p:nvSpPr>
          <p:cNvPr id="673" name="" descr="{&quot;isTemplate&quot;:true,&quot;type&quot;:&quot;text&quot;}"/>
          <p:cNvSpPr txBox="1"/>
          <p:nvPr/>
        </p:nvSpPr>
        <p:spPr>
          <a:xfrm rot="0" flipH="0" flipV="0">
            <a:off x="7038975" y="5000625"/>
            <a:ext cx="4772025" cy="219075"/>
          </a:xfrm>
          <a:prstGeom prst="rect"/>
        </p:spPr>
        <p:txBody>
          <a:bodyPr wrap="none" lIns="0" tIns="0" rIns="0" bIns="0"/>
          <a:p>
            <a:pPr>
              <a:lnSpc>
                <a:spcPct val="150000"/>
              </a:lnSpc>
            </a:pPr>
            <a:r>
              <a:rPr lang="en-US" sz="938">
                <a:solidFill>
                  <a:srgbClr val="1A2230"/>
                </a:solidFill>
                <a:latin typeface="Microsoft YaHei"/>
                <a:ea typeface="Microsoft YaHei"/>
              </a:rPr>
              <a:t>Each dashed arrow carries a condition or a reason in words</a:t>
            </a:r>
            <a:endParaRPr/>
          </a:p>
        </p:txBody>
      </p:sp>
      <p:sp>
        <p:nvSpPr>
          <p:cNvPr id="674" name=""/>
          <p:cNvSpPr/>
          <p:nvPr/>
        </p:nvSpPr>
        <p:spPr>
          <a:xfrm rot="0" flipH="0" flipV="0">
            <a:off x="0" y="6419850"/>
            <a:ext cx="12192000" cy="438150"/>
          </a:xfrm>
          <a:prstGeom prst="rect">
            <a:avLst/>
          </a:prstGeom>
          <a:solidFill>
            <a:srgbClr val="0E3F8C"/>
          </a:solidFill>
          <a:ln/>
        </p:spPr>
        <p:txBody>
          <a:bodyPr/>
          <a:p/>
        </p:txBody>
      </p:sp>
      <p:sp>
        <p:nvSpPr>
          <p:cNvPr id="675" name="" descr="{&quot;isTemplate&quot;:true,&quot;type&quot;:&quot;text&quot;}"/>
          <p:cNvSpPr txBox="1"/>
          <p:nvPr/>
        </p:nvSpPr>
        <p:spPr>
          <a:xfrm rot="0" flipH="0" flipV="0">
            <a:off x="1828800" y="6543675"/>
            <a:ext cx="8543925" cy="190500"/>
          </a:xfrm>
          <a:prstGeom prst="rect"/>
        </p:spPr>
        <p:txBody>
          <a:bodyPr wrap="none" lIns="0" tIns="0" rIns="0" bIns="0"/>
          <a:p>
            <a:pPr>
              <a:lnSpc>
                <a:spcPct val="100000"/>
              </a:lnSpc>
            </a:pPr>
            <a:r>
              <a:rPr lang="en-US" sz="1200" b="1">
                <a:solidFill>
                  <a:srgbClr val="FFFFFF"/>
                </a:solidFill>
                <a:latin typeface="Microsoft YaHei"/>
                <a:ea typeface="Microsoft YaHei"/>
              </a:rPr>
              <a:t>Thirty minutes to draw, fifteen to defend it to the instructor, who is playing the client today. Answers on the next page.</a:t>
            </a:r>
            <a:endParaRPr/>
          </a:p>
        </p:txBody>
      </p:sp>
    </p:spTree>
  </p:cSld>
</p:sld>
</file>

<file path=ppt/slides/slide36.xml><?xml version="1.0" encoding="utf-8"?>
<p:sld xmlns:asvg="http://schemas.microsoft.com/office/drawing/2016/SVG/main" xmlns:a="http://schemas.openxmlformats.org/drawingml/2006/main" xmlns:r="http://schemas.openxmlformats.org/officeDocument/2006/relationships" xmlns:p="http://schemas.openxmlformats.org/presentationml/2006/main" xmlns:mc="http://schemas.openxmlformats.org/markup-compatibility/2006" mc:Ignorable="asvg">
  <p:cSld>
    <p:spTree>
      <p:nvGrpSpPr>
        <p:cNvPr id="676" name="" descr="&lt;Slide style={{ background: '#FFFFFF', padding: 0 }}&gt;&#10;  &lt;Box style={{ height: 72, background: '#1E4FA8', padding: '0 40px', flexDirection: 'row', alignItems: 'center', justifyContent: 'space-between' }}&gt;&#10;    &lt;Text style={{ fontSize: 15, color: '#B9CDF0', letterSpacing: 1 }}&gt;ISAD · INFORMATION SYSTEMS ANALYSIS &amp;amp; DESIGN&lt;/Text&gt;&#10;    &lt;Text style={{ fontSize: 15, color: '#B9CDF0' }}&gt;W04 · LAB · EXERCISE 4.2&lt;/Text&gt;&#10;  &lt;/Box&gt;&#10;  &lt;Box style={{ padding: '12px 40px 0 40px', flexDirection: 'row', alignItems: 'center', justifyContent: 'space-between' }}&gt;&#10;    &lt;Text style={{ fontSize: 29, fontWeight: 'bold', color: '#0E3F8C' }}&gt;Exercise 4.2 — Reference Solution&lt;/Text&gt;&#10;    &lt;Text style={{ fontSize: 14, color: '#1E4FA8', fontWeight: 'bold' }}&gt;36 / 38&lt;/Text&gt;&#10;  &lt;/Box&gt;&#10;  &lt;Box style={{ flex: 1, padding: '2px 40px 0 40px', justifyContent: 'center', alignItems: 'center' }}&gt;&#10;    &lt;svg width={1180} height={386} viewBox='0 0 1180 386'&gt;&#10;      &lt;text x='10' y='14' fill='#8B97A8' fontSize='12.5'&gt;One answer of several defensible ones — check the arrows before you copy the shapes&lt;/text&gt;&#10;&#10;      &lt;rect x='470' y='30' width='260' height='306' rx='6' fill='#FFFFFF' stroke='#1E4FA8' strokeWidth='2' /&gt;&#10;      &lt;text x='600' y='48' textAnchor='middle' fill='#0E3F8C' fontSize='12.5' fontWeight='bold'&gt;CampusBites&lt;/text&gt;&#10;&#10;      &lt;ellipse cx='600' cy='55' rx='112' ry='15' fill='#F0F5FC' stroke='#1E4FA8' strokeWidth='1.4' /&gt;&#10;      &lt;text x='600' y='59' textAnchor='middle' fill='#1A2230' fontSize='11.5'&gt;Browse Menu&lt;/text&gt;&#10;&#10;      &lt;ellipse cx='600' cy='86' rx='112' ry='15' fill='#FFFFFF' stroke='#3D7BD9' strokeWidth='1.4' /&gt;&#10;      &lt;text x='600' y='90' textAnchor='middle' fill='#1A2230' fontSize='11.5'&gt;Apply Coupon&lt;/text&gt;&#10;&#10;      &lt;ellipse cx='600' cy='117' rx='112' ry='15' fill='#F0F5FC' stroke='#1E4FA8' strokeWidth='1.6' /&gt;&#10;      &lt;text x='600' y='121' textAnchor='middle' fill='#1A2230' fontSize='11.5' fontWeight='bold'&gt;Place Order&lt;/text&gt;&#10;&#10;      &lt;ellipse cx='600' cy='148' rx='112' ry='15' fill='#FFFFFF' stroke='#1E4FA8' strokeWidth='1.4' /&gt;&#10;      &lt;text x='600' y='152' textAnchor='middle' fill='#1A2230' fontSize='11.5'&gt;Authenticate&lt;/text&gt;&#10;&#10;      &lt;ellipse cx='600' cy='179' rx='112' ry='15' fill='#F0F5FC' stroke='#1E4FA8' strokeWidth='1.4' /&gt;&#10;      &lt;text x='600' y='183' textAnchor='middle' fill='#1A2230' fontSize='11.5'&gt;Pay for Order&lt;/text&gt;&#10;&#10;      &lt;ellipse cx='600' cy='210' rx='112' ry='15' fill='#F0F5FC' stroke='#1E4FA8' strokeWidth='1.4' /&gt;&#10;      &lt;text x='600' y='214' textAnchor='middle' fill='#1A2230' fontSize='11.5'&gt;Rate Restaurant&lt;/text&gt;&#10;&#10;      &lt;ellipse cx='600' cy='241' rx='112' ry='15' fill='#F0F5FC' stroke='#1E4FA8' strokeWidth='1.4' /&gt;&#10;      &lt;text x='600' y='245' textAnchor='middle' fill='#1A2230' fontSize='11.5'&gt;Manage Today’s Menu&lt;/text&gt;&#10;&#10;      &lt;ellipse cx='600' cy='272' rx='112' ry='15' fill='#F0F5FC' stroke='#1E4FA8' strokeWidth='1.4' /&gt;&#10;      &lt;text x='600' y='276' textAnchor='middle' fill='#1A2230' fontSize='11.5'&gt;Receive Order&lt;/text&gt;&#10;&#10;      &lt;ellipse cx='600' cy='303' rx='112' ry='15' fill='#F0F5FC' stroke='#1E4FA8' strokeWidth='1.4' /&gt;&#10;      &lt;text x='600' y='307' textAnchor='middle' fill='#1A2230' fontSize='11.5'&gt;Dispatch Courier&lt;/text&gt;&#10;&#10;      &lt;line x1='600' y1='102' x2='600' y2='130' stroke='#1E4FA8' strokeWidth='1.6' strokeDasharray='6 4' /&gt;&#10;      &lt;polygon points='600,134 595,122 605,122' fill='#1E4FA8' /&gt;&#10;      &lt;text x='612' y='124' fill='#1E4FA8' fontSize='10.5' fontWeight='bold'&gt;«include»&lt;/text&gt;&#10;&#10;      &lt;line x1='588' y1='71' x2='588' y2='97' stroke='#3D7BD9' strokeWidth='1.6' strokeDasharray='6 4' /&gt;&#10;      &lt;polygon points='588,101 583,89 593,89' fill='#3D7BD9' /&gt;&#10;      &lt;text x='470' y='80' fill='#3D7BD9' fontSize='10.5' fontWeight='bold'&gt;«extend»&lt;/text&gt;&#10;&#10;      &lt;g transform='translate(20,44)'&gt;&#10;        &lt;circle cx='40' cy='0' r='9' fill='none' stroke='#0E3F8C' strokeWidth='2' /&gt;&#10;        &lt;line x1='40' y1='9' x2='40' y2='32' stroke='#0E3F8C' strokeWidth='2' /&gt;&#10;        &lt;line x1='40' y1='17' x2='28' y2='29' stroke='#0E3F8C' strokeWidth='2' /&gt;&#10;        &lt;line x1='40' y1='17' x2='52' y2='29' stroke='#0E3F8C' strokeWidth='2' /&gt;&#10;        &lt;line x1='40' y1='32' x2='29' y2='48' stroke='#0E3F8C' strokeWidth='2' /&gt;&#10;        &lt;line x1='40' y1='32' x2='51' y2='48' stroke='#0E3F8C' strokeWidth='2' /&gt;&#10;        &lt;text x='40' y='64' textAnchor='middle' fill='#0E3F8C' fontSize='12' fontWeight='bold'&gt;Student&lt;/text&gt;&#10;      &lt;/g&gt;&#10;      &lt;g transform='translate(20,148)'&gt;&#10;        &lt;circle cx='40' cy='0' r='9' fill='none' stroke='#0E3F8C' strokeWidth='2' /&gt;&#10;        &lt;line x1='40' y1='9' x2='40' y2='32' stroke='#0E3F8C' strokeWidth='2' /&gt;&#10;        &lt;line x1='40' y1='17' x2='28' y2='29' stroke='#0E3F8C' strokeWidth='2' /&gt;&#10;        &lt;line x1='40' y1='17' x2='52' y2='29' stroke='#0E3F8C' strokeWidth='2' /&gt;&#10;        &lt;line x1='40' y1='32' x2='29' y2='48' stroke='#0E3F8C' strokeWidth='2' /&gt;&#10;        &lt;line x1='40' y1='32' x2='51' y2='48' stroke='#0E3F8C' strokeWidth='2' /&gt;&#10;        &lt;text x='40' y='64' textAnchor='middle' fill='#0E3F8C' fontSize='11.5' fontWeight='bold'&gt;Restaurant&lt;/text&gt;&#10;        &lt;text x='40' y='78' textAnchor='middle' fill='#0E3F8C' fontSize='11.5' fontWeight='bold'&gt;Manager&lt;/text&gt;&#10;      &lt;/g&gt;&#10;      &lt;g transform='translate(20,250)'&gt;&#10;        &lt;circle cx='40' cy='0' r='9' fill='none' stroke='#0E3F8C' strokeWidth='2' /&gt;&#10;        &lt;line x1='40' y1='9' x2='40' y2='32' stroke='#0E3F8C' strokeWidth='2' /&gt;&#10;        &lt;line x1='40' y1='17' x2='28' y2='29' stroke='#0E3F8C' strokeWidth='2' /&gt;&#10;        &lt;line x1='40' y1='17' x2='52' y2='29' stroke='#0E3F8C' strokeWidth='2' /&gt;&#10;        &lt;line x1='40' y1='32' x2='29' y2='48' stroke='#0E3F8C' strokeWidth='2' /&gt;&#10;        &lt;line x1='40' y1='32' x2='51' y2='48' stroke='#0E3F8C' strokeWidth='2' /&gt;&#10;        &lt;text x='40' y='64' textAnchor='middle' fill='#0E3F8C' fontSize='11.5' fontWeight='bold'&gt;Kitchen&lt;/text&gt;&#10;        &lt;text x='40' y='78' textAnchor='middle' fill='#0E3F8C' fontSize='11.5' fontWeight='bold'&gt;Staff&lt;/text&gt;&#10;      &lt;/g&gt;&#10;&#10;      &lt;g transform='translate(770,44)'&gt;&#10;        &lt;circle cx='40' cy='0' r='9' fill='none' stroke='#0E3F8C' strokeWidth='2' /&gt;&#10;        &lt;line x1='40' y1='9' x2='40' y2='32' stroke='#0E3F8C' strokeWidth='2' /&gt;&#10;        &lt;line x1='40' y1='17' x2='28' y2='29' stroke='#0E3F8C' strokeWidth='2' /&gt;&#10;        &lt;line x1='40' y1='17' x2='52' y2='29' stroke='#0E3F8C' strokeWidth='2' /&gt;&#10;        &lt;line x1='40' y1='32' x2='29' y2='48' stroke='#0E3F8C' strokeWidth='2' /&gt;&#10;        &lt;line x1='40' y1='32' x2='51' y2='48' stroke='#0E3F8C' strokeWidth='2' /&gt;&#10;        &lt;text x='40' y='64' textAnchor='middle' fill='#0E3F8C' fontSize='11.5' fontWeight='bold'&gt;Dispatcher&lt;/text&gt;&#10;      &lt;/g&gt;&#10;      &lt;g transform='translate(770,148)'&gt;&#10;        &lt;circle cx='40' cy='0' r='9' fill='none' stroke='#0E3F8C' strokeWidth='2' /&gt;&#10;        &lt;line x1='40' y1='9' x2='40' y2='32' stroke='#0E3F8C' strokeWidth='2' /&gt;&#10;        &lt;line x1='40' y1='17' x2='28' y2='29' stroke='#0E3F8C' strokeWidth='2' /&gt;&#10;        &lt;line x1='40' y1='17' x2='52' y2='29' stroke='#0E3F8C' strokeWidth='2' /&gt;&#10;        &lt;line x1='40' y1='32' x2='29' y2='48' stroke='#0E3F8C' strokeWidth='2' /&gt;&#10;        &lt;line x1='40' y1='32' x2='51' y2='48' stroke='#0E3F8C' strokeWidth='2' /&gt;&#10;        &lt;text x='40' y='64' textAnchor='middle' fill='#0E3F8C' fontSize='11.5' fontWeight='bold'&gt;Courier&lt;/text&gt;&#10;      &lt;/g&gt;&#10;&#10;      &lt;g transform='translate(940,196)'&gt;&#10;        &lt;rect x='0' y='0' width='192' height='32' rx='4' fill='#F7F9FC' stroke='#8B97A8' strokeWidth='1.4' /&gt;&#10;        &lt;text x='96' y='21' textAnchor='middle' fill='#4A5568' fontSize='11.5' fontWeight='bold'&gt;Campus Card Centre&lt;/text&gt;&#10;      &lt;/g&gt;&#10;      &lt;g transform='translate(940,238)'&gt;&#10;        &lt;rect x='0' y='0' width='192' height='32' rx='4' fill='#F7F9FC' stroke='#8B97A8' strokeWidth='1.4' /&gt;&#10;        &lt;text x='96' y='21' textAnchor='middle' fill='#4A5568' fontSize='11.5' fontWeight='bold'&gt;Payment Provider&lt;/text&gt;&#10;      &lt;/g&gt;&#10;&#10;      &lt;line x1='72' y1='100' x2='488' y2='58' stroke='#1E4FA8' strokeWidth='1.2' /&gt;&#10;      &lt;line x1='72' y1='106' x2='488' y2='114' stroke='#1E4FA8' strokeWidth='1.2' /&gt;&#10;      &lt;line x1='72' y1='112' x2='488' y2='176' stroke='#1E4FA8' strokeWidth='1.2' /&gt;&#10;      &lt;line x1='72' y1='118' x2='488' y2='208' stroke='#1E4FA8' strokeWidth='1.2' /&gt;&#10;      &lt;line x1='72' y1='200' x2='488' y2='242' stroke='#1E4FA8' strokeWidth='1.2' /&gt;&#10;      &lt;line x1='72' y1='292' x2='488' y2='273' stroke='#1E4FA8' strokeWidth='1.2' /&gt;&#10;      &lt;line x1='790' y1='100' x2='712' y2='300' stroke='#1E4FA8' strokeWidth='1.2' /&gt;&#10;      &lt;line x1='790' y1='190' x2='712' y2='306' stroke='#1E4FA8' strokeWidth='1.2' /&gt;&#10;&#10;      &lt;line x1='712' y1='182' x2='938' y2='208' stroke='#8B97A8' strokeWidth='1.2' strokeDasharray='5 3' /&gt;&#10;      &lt;line x1='712' y1='188' x2='938' y2='250' stroke='#8B97A8' strokeWidth='1.2' strokeDasharray='5 3' /&gt;&#10;&#10;      &lt;text x='10' y='360' fill='#8B97A8' fontSize='11'&gt;Dashed include leaves Place Order and arrives at Authenticate. Dashed extend leaves Apply Coupon and returns to Place Order. Both arrows point the way the dependency runs.&lt;/text&gt;&#10;      &lt;text x='10' y='376' fill='#8B97A8' fontSize='11'&gt;External systems stay outside the box: we call the card centre and the provider; we do not design them.&lt;/text&gt;&#10;    &lt;/svg&gt;&#10;  &lt;/Box&gt;&#10;  &lt;Box style={{ height: 30, padding: '0 40px', flexDirection: 'row', alignItems: 'center', justifyContent: 'space-between' }}&gt;&#10;    &lt;Text style={{ fontSize: 12.5, color: '#8B97A8' }}&gt;ISAD · Fall 2026 · Your diagram may differ and still be right — but every difference needs a sentence&lt;/Text&gt;&#10;    &lt;Text style={{ fontSize: 14, color: '#1E4FA8', fontWeight: 'bold' }}&gt;36 / 38&lt;/Text&gt;&#10;  &lt;/Box&gt;&#10;&lt;/Slide&gt;"/>
        <p:cNvGrpSpPr/>
        <p:nvPr/>
      </p:nvGrpSpPr>
      <p:grpSpPr>
        <a:xfrm>
          <a:off x="0" y="0"/>
          <a:ext cx="0" cy="0"/>
          <a:chOff x="0" y="0"/>
          <a:chExt cx="0" cy="0"/>
        </a:xfrm>
      </p:grpSpPr>
      <p:sp>
        <p:nvSpPr>
          <p:cNvPr id="677" name=""/>
          <p:cNvSpPr/>
          <p:nvPr/>
        </p:nvSpPr>
        <p:spPr>
          <a:xfrm rot="0" flipH="0" flipV="0">
            <a:off x="0" y="0"/>
            <a:ext cx="12192000" cy="6858000"/>
          </a:xfrm>
          <a:prstGeom prst="rect">
            <a:avLst/>
          </a:prstGeom>
          <a:solidFill>
            <a:srgbClr val="FFFFFF"/>
          </a:solidFill>
          <a:ln/>
        </p:spPr>
        <p:txBody>
          <a:bodyPr/>
          <a:p/>
        </p:txBody>
      </p:sp>
      <p:sp>
        <p:nvSpPr>
          <p:cNvPr id="678" name=""/>
          <p:cNvSpPr/>
          <p:nvPr/>
        </p:nvSpPr>
        <p:spPr>
          <a:xfrm rot="0" flipH="0" flipV="0">
            <a:off x="0" y="0"/>
            <a:ext cx="12192000" cy="685800"/>
          </a:xfrm>
          <a:prstGeom prst="rect">
            <a:avLst/>
          </a:prstGeom>
          <a:solidFill>
            <a:srgbClr val="1E4FA8"/>
          </a:solidFill>
          <a:ln/>
        </p:spPr>
        <p:txBody>
          <a:bodyPr/>
          <a:p/>
        </p:txBody>
      </p:sp>
      <p:sp>
        <p:nvSpPr>
          <p:cNvPr id="679" name="" descr="{&quot;isTemplate&quot;:true,&quot;type&quot;:&quot;text&quot;}"/>
          <p:cNvSpPr txBox="1"/>
          <p:nvPr/>
        </p:nvSpPr>
        <p:spPr>
          <a:xfrm rot="0" flipH="0" flipV="0">
            <a:off x="381000" y="257175"/>
            <a:ext cx="4067175" cy="171450"/>
          </a:xfrm>
          <a:prstGeom prst="rect"/>
        </p:spPr>
        <p:txBody>
          <a:bodyPr wrap="none" lIns="0" tIns="0" rIns="0" bIns="0"/>
          <a:p>
            <a:pPr>
              <a:lnSpc>
                <a:spcPct val="100000"/>
              </a:lnSpc>
            </a:pPr>
            <a:r>
              <a:rPr lang="en-US" sz="1125" spc="75">
                <a:solidFill>
                  <a:srgbClr val="B9CDF0"/>
                </a:solidFill>
                <a:latin typeface="Microsoft YaHei"/>
                <a:ea typeface="Microsoft YaHei"/>
              </a:rPr>
              <a:t>ISAD · INFORMATION SYSTEMS ANALYSIS &amp; DESIGN</a:t>
            </a:r>
            <a:endParaRPr/>
          </a:p>
        </p:txBody>
      </p:sp>
      <p:sp>
        <p:nvSpPr>
          <p:cNvPr id="680" name="" descr="{&quot;isTemplate&quot;:true,&quot;type&quot;:&quot;text&quot;}"/>
          <p:cNvSpPr txBox="1"/>
          <p:nvPr/>
        </p:nvSpPr>
        <p:spPr>
          <a:xfrm rot="0" flipH="0" flipV="0">
            <a:off x="10029825" y="257175"/>
            <a:ext cx="1781175" cy="171450"/>
          </a:xfrm>
          <a:prstGeom prst="rect"/>
        </p:spPr>
        <p:txBody>
          <a:bodyPr wrap="none" lIns="0" tIns="0" rIns="0" bIns="0"/>
          <a:p>
            <a:pPr>
              <a:lnSpc>
                <a:spcPct val="100000"/>
              </a:lnSpc>
            </a:pPr>
            <a:r>
              <a:rPr lang="en-US" sz="1125">
                <a:solidFill>
                  <a:srgbClr val="B9CDF0"/>
                </a:solidFill>
                <a:latin typeface="Microsoft YaHei"/>
                <a:ea typeface="Microsoft YaHei"/>
              </a:rPr>
              <a:t>W04 · LAB · EXERCISE 4.2</a:t>
            </a:r>
            <a:endParaRPr/>
          </a:p>
        </p:txBody>
      </p:sp>
      <p:sp>
        <p:nvSpPr>
          <p:cNvPr id="681" name="" descr="{&quot;isTemplate&quot;:true,&quot;type&quot;:&quot;text&quot;}"/>
          <p:cNvSpPr txBox="1"/>
          <p:nvPr/>
        </p:nvSpPr>
        <p:spPr>
          <a:xfrm rot="0" flipH="0" flipV="0">
            <a:off x="381000" y="800100"/>
            <a:ext cx="4552950" cy="333375"/>
          </a:xfrm>
          <a:prstGeom prst="rect"/>
        </p:spPr>
        <p:txBody>
          <a:bodyPr wrap="none" lIns="0" tIns="0" rIns="0" bIns="0"/>
          <a:p>
            <a:pPr>
              <a:lnSpc>
                <a:spcPct val="100000"/>
              </a:lnSpc>
            </a:pPr>
            <a:r>
              <a:rPr lang="en-US" sz="2175" b="1">
                <a:solidFill>
                  <a:srgbClr val="0E3F8C"/>
                </a:solidFill>
                <a:latin typeface="Microsoft YaHei"/>
                <a:ea typeface="Microsoft YaHei"/>
              </a:rPr>
              <a:t>Exercise 4.2 — Reference Solution</a:t>
            </a:r>
            <a:endParaRPr/>
          </a:p>
        </p:txBody>
      </p:sp>
      <p:sp>
        <p:nvSpPr>
          <p:cNvPr id="682" name="" descr="{&quot;isTemplate&quot;:true,&quot;type&quot;:&quot;text&quot;}"/>
          <p:cNvSpPr txBox="1"/>
          <p:nvPr/>
        </p:nvSpPr>
        <p:spPr>
          <a:xfrm rot="0" flipH="0" flipV="0">
            <a:off x="11401425" y="885825"/>
            <a:ext cx="409575" cy="161925"/>
          </a:xfrm>
          <a:prstGeom prst="rect"/>
        </p:spPr>
        <p:txBody>
          <a:bodyPr wrap="none" lIns="0" tIns="0" rIns="0" bIns="0"/>
          <a:p>
            <a:pPr>
              <a:lnSpc>
                <a:spcPct val="100000"/>
              </a:lnSpc>
            </a:pPr>
            <a:r>
              <a:rPr lang="en-US" sz="1050" b="1">
                <a:solidFill>
                  <a:srgbClr val="1E4FA8"/>
                </a:solidFill>
                <a:latin typeface="Microsoft YaHei"/>
                <a:ea typeface="Microsoft YaHei"/>
              </a:rPr>
              <a:t>36 / 38</a:t>
            </a:r>
            <a:endParaRPr/>
          </a:p>
        </p:txBody>
      </p:sp>
      <p:pic>
        <p:nvPicPr>
          <p:cNvPr id="683" name=""/>
          <p:cNvPicPr>
            <a:picLocks noChangeAspect="1"/>
          </p:cNvPicPr>
          <p:nvPr/>
        </p:nvPicPr>
        <p:blipFill>
          <a:blip>
            <a:extLst>
              <a:ext uri="{96DAC541-7B7A-43D3-8B79-37D633B846F1}">
                <asvg:svgBlip r:embed="rId1"/>
              </a:ext>
            </a:extLst>
          </a:blip>
          <a:stretch>
            <a:fillRect/>
          </a:stretch>
        </p:blipFill>
        <p:spPr>
          <a:xfrm rot="0" flipH="0" flipV="0">
            <a:off x="476250" y="2028825"/>
            <a:ext cx="11239500" cy="3676650"/>
          </a:xfrm>
          <a:prstGeom prst="rect">
            <a:avLst/>
          </a:prstGeom>
          <a:ln/>
        </p:spPr>
      </p:pic>
      <p:sp>
        <p:nvSpPr>
          <p:cNvPr id="684" name="" descr="{&quot;isTemplate&quot;:true,&quot;type&quot;:&quot;text&quot;}"/>
          <p:cNvSpPr txBox="1"/>
          <p:nvPr/>
        </p:nvSpPr>
        <p:spPr>
          <a:xfrm rot="0" flipH="0" flipV="0">
            <a:off x="381000" y="6648450"/>
            <a:ext cx="5314950" cy="142875"/>
          </a:xfrm>
          <a:prstGeom prst="rect"/>
        </p:spPr>
        <p:txBody>
          <a:bodyPr wrap="none" lIns="0" tIns="0" rIns="0" bIns="0"/>
          <a:p>
            <a:pPr>
              <a:lnSpc>
                <a:spcPct val="100000"/>
              </a:lnSpc>
            </a:pPr>
            <a:r>
              <a:rPr lang="en-US" sz="938">
                <a:solidFill>
                  <a:srgbClr val="8B97A8"/>
                </a:solidFill>
                <a:latin typeface="Microsoft YaHei"/>
                <a:ea typeface="Microsoft YaHei"/>
              </a:rPr>
              <a:t>ISAD · Fall 2026 · Your diagram may differ and still be right — but every difference needs a sentence</a:t>
            </a:r>
            <a:endParaRPr/>
          </a:p>
        </p:txBody>
      </p:sp>
      <p:sp>
        <p:nvSpPr>
          <p:cNvPr id="685" name="" descr="{&quot;isTemplate&quot;:true,&quot;type&quot;:&quot;text&quot;}"/>
          <p:cNvSpPr txBox="1"/>
          <p:nvPr/>
        </p:nvSpPr>
        <p:spPr>
          <a:xfrm rot="0" flipH="0" flipV="0">
            <a:off x="11401425" y="6638925"/>
            <a:ext cx="409575" cy="161925"/>
          </a:xfrm>
          <a:prstGeom prst="rect"/>
        </p:spPr>
        <p:txBody>
          <a:bodyPr wrap="none" lIns="0" tIns="0" rIns="0" bIns="0"/>
          <a:p>
            <a:pPr>
              <a:lnSpc>
                <a:spcPct val="100000"/>
              </a:lnSpc>
            </a:pPr>
            <a:r>
              <a:rPr lang="en-US" sz="1050" b="1">
                <a:solidFill>
                  <a:srgbClr val="1E4FA8"/>
                </a:solidFill>
                <a:latin typeface="Microsoft YaHei"/>
                <a:ea typeface="Microsoft YaHei"/>
              </a:rPr>
              <a:t>36 / 38</a:t>
            </a:r>
            <a:endParaRPr/>
          </a:p>
        </p:txBody>
      </p:sp>
    </p:spTree>
  </p:cSld>
</p:sld>
</file>

<file path=ppt/slides/slide37.xml><?xml version="1.0" encoding="utf-8"?>
<p:sld xmlns:asvg="http://schemas.microsoft.com/office/drawing/2016/SVG/main" xmlns:a="http://schemas.openxmlformats.org/drawingml/2006/main" xmlns:r="http://schemas.openxmlformats.org/officeDocument/2006/relationships" xmlns:p="http://schemas.openxmlformats.org/presentationml/2006/main" xmlns:mc="http://schemas.openxmlformats.org/markup-compatibility/2006" mc:Ignorable="asvg">
  <p:cSld>
    <p:spTree>
      <p:nvGrpSpPr>
        <p:cNvPr id="686" name="" descr="&lt;Slide style={{ background: '#FFFFFF', padding: 0 }}&gt;&#10;  &lt;Box style={{ height: 72, background: '#1E4FA8', padding: '0 40px', flexDirection: 'row', alignItems: 'center', justifyContent: 'space-between' }}&gt;&#10;    &lt;Text style={{ fontSize: 15, color: '#B9CDF0', letterSpacing: 1 }}&gt;ISAD · INFORMATION SYSTEMS ANALYSIS &amp;amp; DESIGN&lt;/Text&gt;&#10;    &lt;Text style={{ fontSize: 15, color: '#B9CDF0' }}&gt;W04 · HOMEWORK &amp;amp; M1&lt;/Text&gt;&#10;  &lt;/Box&gt;&#10;  &lt;Box style={{ padding: '14px 40px 0 40px', flexDirection: 'row', alignItems: 'center', justifyContent: 'space-between' }}&gt;&#10;    &lt;Text style={{ fontSize: 29, fontWeight: 'bold', color: '#0E3F8C' }}&gt;Homework &amp;amp; Project M1&lt;/Text&gt;&#10;    &lt;Text style={{ fontSize: 14, color: '#1E4FA8', fontWeight: 'bold' }}&gt;37 / 38&lt;/Text&gt;&#10;  &lt;/Box&gt;&#10;  &lt;Box style={{ flex: 1, padding: '12px 40px 0 40px', flexDirection: 'row', gap: 20 }}&gt;&#10;    &lt;Box style={{ flex: 1, flexDirection: 'column', gap: 10 }}&gt;&#10;      &lt;Box style={{ flexDirection: 'row', alignItems: 'center', gap: 9, marginBottom: 2 }}&gt;&#10;        &lt;FAIcon name='pen-fancy' style={{ fill: '#1E4FA8', width: 18, height: 18 }} /&gt;&#10;        &lt;Text style={{ fontSize: 16.5, fontWeight: 'bold', color: '#0E3F8C' }}&gt;Before next Monday&lt;/Text&gt;&#10;      &lt;/Box&gt;&#10;      {[&#10;        'Finish the diagram — source file and PNG, in docs/diagrams/, pushed',&#10;        'Write two use case briefs: Place Order and one you choose',&#10;        'Read Larman Chapter 6 (use cases) — twenty pages, not all of it',&#10;        'Bring one question the narrative could not answer',&#10;      ].map((t) =&gt; (&#10;        &lt;Box key={t} style={{ flexDirection: 'row', alignItems: 'flex-start', gap: 9 }}&gt;&#10;          &lt;Box style={{ width: 13, height: 13, borderRadius: 7, borderWidth: 1.4, borderColor: '#1E4FA8', marginTop: 3 }} /&gt;&#10;          &lt;Box style={{ flex: 1 }}&gt;&#10;            &lt;Text style={{ fontSize: 13, color: '#1A2230', lineHeight: 1.55 }}&gt;{t}&lt;/Text&gt;&#10;          &lt;/Box&gt;&#10;        &lt;/Box&gt;&#10;      ))}&#10;      &lt;Box style={{ padding: '12px 14px', background: '#FFF6E0', borderRadius: 8, borderLeft: '3px solid #FFC107', marginTop: 4 }}&gt;&#10;        &lt;Text style={{ fontSize: 12.2, color: '#4A5568', lineHeight: 1.55 }}&gt;&#10;          A brief is half a page: the goal in one sentence, the primary actor, and the one thing that can go wrong. Full specifications are Week 05.&#10;        &lt;/Text&gt;&#10;      &lt;/Box&gt;&#10;    &lt;/Box&gt;&#10;    &lt;Box style={{ width: 20 }} /&gt;&#10;    &lt;Box style={{ flex: 1, flexDirection: 'column', gap: 10 }}&gt;&#10;      &lt;Box style={{ flexDirection: 'row', alignItems: 'center', gap: 9, marginBottom: 2 }}&gt;&#10;        &lt;FAIcon name='folder' style={{ fill: '#1E4FA8', width: 18, height: 18 }} /&gt;&#10;        &lt;Text style={{ fontSize: 16.5, fontWeight: 'bold', color: '#0E3F8C' }}&gt;Milestone M1 — due Sunday 4 October&lt;/Text&gt;&#10;      &lt;/Box&gt;&#10;      {[&#10;        'A requirements list: functional and non-functional, each testable',&#10;        'The use case diagram — source file, PNG, and one sentence per dashed arrow',&#10;        'Two use case briefs, written in your own words',&#10;      ].map((t) =&gt; (&#10;        &lt;Box key={t} style={{ padding: '13px 15px', background: '#F0F5FC', borderRadius: 8, borderLeft: '3px solid #1E4FA8' }}&gt;&#10;          &lt;Text style={{ fontSize: 13, color: '#1A2230', lineHeight: 1.55 }}&gt;{t}&lt;/Text&gt;&#10;        &lt;/Box&gt;&#10;      ))}&#10;      &lt;Box style={{ flexDirection: 'row', alignItems: 'center', gap: 9, marginTop: 6, marginBottom: 2 }}&gt;&#10;        &lt;FAIcon name='exclamation-triangle' style={{ fill: '#D9534F', width: 17, height: 17 }} /&gt;&#10;        &lt;Text style={{ fontSize: 16.5, fontWeight: 'bold', color: '#D9534F' }}&gt;How it is submitted&lt;/Text&gt;&#10;      &lt;/Box&gt;&#10;      &lt;Box style={{ padding: '14px 16px', background: '#FDF3F3', borderRadius: 9, border: '1px solid #D9534F' }}&gt;&#10;        &lt;Text style={{ fontSize: 13, color: '#1A2230', lineHeight: 1.6 }}&gt;&#10;          Push to GitHub, then tag it &lt;Text style={{ fontWeight: 'bold', color: '#D9534F' }}&gt;m1&lt;/Text&gt;. A push without a tag is not a submission — the tag is the snapshot that gets graded.&#10;        &lt;/Text&gt;&#10;        &lt;Text style={{ fontSize: 12, color: '#8B97A8', lineHeight: 1.55, marginTop: 6 }}&gt;&#10;          git tag -a m1 -m &quot;M1: requirements, use case diagram, two briefs&quot; &amp;amp;&amp;amp; git push origin m1&#10;        &lt;/Text&gt;&#10;        &lt;Text style={{ fontSize: 12, color: '#8B97A8', lineHeight: 1.55, marginTop: 4 }}&gt;&#10;          Check it landed: git ls-remote --tags origin&#10;        &lt;/Text&gt;&#10;      &lt;/Box&gt;&#10;    &lt;/Box&gt;&#10;  &lt;/Box&gt;&#10;  &lt;Box style={{ height: 46, background: '#0E3F8C', padding: '0 40px', flexDirection: 'row', alignItems: 'center', justifyContent: 'center' }}&gt;&#10;    &lt;Text style={{ fontSize: 16, color: '#FFFFFF', fontWeight: '600' }}&gt;M1 closes on Sunday 4 October. The diagram is due next week; the briefs and the requirements list follow.&lt;/Text&gt;&#10;  &lt;/Box&gt;&#10;&lt;/Slide&gt;"/>
        <p:cNvGrpSpPr/>
        <p:nvPr/>
      </p:nvGrpSpPr>
      <p:grpSpPr>
        <a:xfrm>
          <a:off x="0" y="0"/>
          <a:ext cx="0" cy="0"/>
          <a:chOff x="0" y="0"/>
          <a:chExt cx="0" cy="0"/>
        </a:xfrm>
      </p:grpSpPr>
      <p:sp>
        <p:nvSpPr>
          <p:cNvPr id="687" name=""/>
          <p:cNvSpPr/>
          <p:nvPr/>
        </p:nvSpPr>
        <p:spPr>
          <a:xfrm rot="0" flipH="0" flipV="0">
            <a:off x="0" y="0"/>
            <a:ext cx="12192000" cy="6858000"/>
          </a:xfrm>
          <a:prstGeom prst="rect">
            <a:avLst/>
          </a:prstGeom>
          <a:solidFill>
            <a:srgbClr val="FFFFFF"/>
          </a:solidFill>
          <a:ln/>
        </p:spPr>
        <p:txBody>
          <a:bodyPr/>
          <a:p/>
        </p:txBody>
      </p:sp>
      <p:sp>
        <p:nvSpPr>
          <p:cNvPr id="688" name=""/>
          <p:cNvSpPr/>
          <p:nvPr/>
        </p:nvSpPr>
        <p:spPr>
          <a:xfrm rot="0" flipH="0" flipV="0">
            <a:off x="0" y="0"/>
            <a:ext cx="12192000" cy="685800"/>
          </a:xfrm>
          <a:prstGeom prst="rect">
            <a:avLst/>
          </a:prstGeom>
          <a:solidFill>
            <a:srgbClr val="1E4FA8"/>
          </a:solidFill>
          <a:ln/>
        </p:spPr>
        <p:txBody>
          <a:bodyPr/>
          <a:p/>
        </p:txBody>
      </p:sp>
      <p:sp>
        <p:nvSpPr>
          <p:cNvPr id="689" name="" descr="{&quot;isTemplate&quot;:true,&quot;type&quot;:&quot;text&quot;}"/>
          <p:cNvSpPr txBox="1"/>
          <p:nvPr/>
        </p:nvSpPr>
        <p:spPr>
          <a:xfrm rot="0" flipH="0" flipV="0">
            <a:off x="381000" y="257175"/>
            <a:ext cx="4067175" cy="171450"/>
          </a:xfrm>
          <a:prstGeom prst="rect"/>
        </p:spPr>
        <p:txBody>
          <a:bodyPr wrap="none" lIns="0" tIns="0" rIns="0" bIns="0"/>
          <a:p>
            <a:pPr>
              <a:lnSpc>
                <a:spcPct val="100000"/>
              </a:lnSpc>
            </a:pPr>
            <a:r>
              <a:rPr lang="en-US" sz="1125" spc="75">
                <a:solidFill>
                  <a:srgbClr val="B9CDF0"/>
                </a:solidFill>
                <a:latin typeface="Microsoft YaHei"/>
                <a:ea typeface="Microsoft YaHei"/>
              </a:rPr>
              <a:t>ISAD · INFORMATION SYSTEMS ANALYSIS &amp; DESIGN</a:t>
            </a:r>
            <a:endParaRPr/>
          </a:p>
        </p:txBody>
      </p:sp>
      <p:sp>
        <p:nvSpPr>
          <p:cNvPr id="690" name="" descr="{&quot;isTemplate&quot;:true,&quot;type&quot;:&quot;text&quot;}"/>
          <p:cNvSpPr txBox="1"/>
          <p:nvPr/>
        </p:nvSpPr>
        <p:spPr>
          <a:xfrm rot="0" flipH="0" flipV="0">
            <a:off x="10134600" y="257175"/>
            <a:ext cx="1676400" cy="171450"/>
          </a:xfrm>
          <a:prstGeom prst="rect"/>
        </p:spPr>
        <p:txBody>
          <a:bodyPr wrap="none" lIns="0" tIns="0" rIns="0" bIns="0"/>
          <a:p>
            <a:pPr>
              <a:lnSpc>
                <a:spcPct val="100000"/>
              </a:lnSpc>
            </a:pPr>
            <a:r>
              <a:rPr lang="en-US" sz="1125">
                <a:solidFill>
                  <a:srgbClr val="B9CDF0"/>
                </a:solidFill>
                <a:latin typeface="Microsoft YaHei"/>
                <a:ea typeface="Microsoft YaHei"/>
              </a:rPr>
              <a:t>W04 · HOMEWORK &amp; M1</a:t>
            </a:r>
            <a:endParaRPr/>
          </a:p>
        </p:txBody>
      </p:sp>
      <p:sp>
        <p:nvSpPr>
          <p:cNvPr id="691" name="" descr="{&quot;isTemplate&quot;:true,&quot;type&quot;:&quot;text&quot;}"/>
          <p:cNvSpPr txBox="1"/>
          <p:nvPr/>
        </p:nvSpPr>
        <p:spPr>
          <a:xfrm rot="0" flipH="0" flipV="0">
            <a:off x="381000" y="819150"/>
            <a:ext cx="3162300" cy="333375"/>
          </a:xfrm>
          <a:prstGeom prst="rect"/>
        </p:spPr>
        <p:txBody>
          <a:bodyPr wrap="none" lIns="0" tIns="0" rIns="0" bIns="0"/>
          <a:p>
            <a:pPr>
              <a:lnSpc>
                <a:spcPct val="100000"/>
              </a:lnSpc>
            </a:pPr>
            <a:r>
              <a:rPr lang="en-US" sz="2175" b="1">
                <a:solidFill>
                  <a:srgbClr val="0E3F8C"/>
                </a:solidFill>
                <a:latin typeface="Microsoft YaHei"/>
                <a:ea typeface="Microsoft YaHei"/>
              </a:rPr>
              <a:t>Homework &amp; Project M1</a:t>
            </a:r>
            <a:endParaRPr/>
          </a:p>
        </p:txBody>
      </p:sp>
      <p:sp>
        <p:nvSpPr>
          <p:cNvPr id="692" name="" descr="{&quot;isTemplate&quot;:true,&quot;type&quot;:&quot;text&quot;}"/>
          <p:cNvSpPr txBox="1"/>
          <p:nvPr/>
        </p:nvSpPr>
        <p:spPr>
          <a:xfrm rot="0" flipH="0" flipV="0">
            <a:off x="11401425" y="904875"/>
            <a:ext cx="409575" cy="161925"/>
          </a:xfrm>
          <a:prstGeom prst="rect"/>
        </p:spPr>
        <p:txBody>
          <a:bodyPr wrap="none" lIns="0" tIns="0" rIns="0" bIns="0"/>
          <a:p>
            <a:pPr>
              <a:lnSpc>
                <a:spcPct val="100000"/>
              </a:lnSpc>
            </a:pPr>
            <a:r>
              <a:rPr lang="en-US" sz="1050" b="1">
                <a:solidFill>
                  <a:srgbClr val="1E4FA8"/>
                </a:solidFill>
                <a:latin typeface="Microsoft YaHei"/>
                <a:ea typeface="Microsoft YaHei"/>
              </a:rPr>
              <a:t>37 / 38</a:t>
            </a:r>
            <a:endParaRPr/>
          </a:p>
        </p:txBody>
      </p:sp>
      <p:pic>
        <p:nvPicPr>
          <p:cNvPr id="693" name=""/>
          <p:cNvPicPr>
            <a:picLocks noChangeAspect="1"/>
          </p:cNvPicPr>
          <p:nvPr/>
        </p:nvPicPr>
        <p:blipFill>
          <a:blip>
            <a:extLst>
              <a:ext uri="{96DAC541-7B7A-43D3-8B79-37D633B846F1}">
                <asvg:svgBlip r:embed="rId1"/>
              </a:ext>
            </a:extLst>
          </a:blip>
          <a:stretch>
            <a:fillRect/>
          </a:stretch>
        </p:blipFill>
        <p:spPr>
          <a:xfrm rot="0" flipH="0" flipV="0">
            <a:off x="381000" y="1276350"/>
            <a:ext cx="171450" cy="171450"/>
          </a:xfrm>
          <a:prstGeom prst="rect">
            <a:avLst/>
          </a:prstGeom>
          <a:ln/>
        </p:spPr>
      </p:pic>
      <p:sp>
        <p:nvSpPr>
          <p:cNvPr id="694" name="" descr="{&quot;isTemplate&quot;:true,&quot;type&quot;:&quot;text&quot;}"/>
          <p:cNvSpPr txBox="1"/>
          <p:nvPr/>
        </p:nvSpPr>
        <p:spPr>
          <a:xfrm rot="0" flipH="0" flipV="0">
            <a:off x="638175" y="1266825"/>
            <a:ext cx="1504950" cy="190500"/>
          </a:xfrm>
          <a:prstGeom prst="rect"/>
        </p:spPr>
        <p:txBody>
          <a:bodyPr wrap="none" lIns="0" tIns="0" rIns="0" bIns="0"/>
          <a:p>
            <a:pPr>
              <a:lnSpc>
                <a:spcPct val="100000"/>
              </a:lnSpc>
            </a:pPr>
            <a:r>
              <a:rPr lang="en-US" sz="1238" b="1">
                <a:solidFill>
                  <a:srgbClr val="0E3F8C"/>
                </a:solidFill>
                <a:latin typeface="Microsoft YaHei"/>
                <a:ea typeface="Microsoft YaHei"/>
              </a:rPr>
              <a:t>Before next Monday</a:t>
            </a:r>
            <a:endParaRPr/>
          </a:p>
        </p:txBody>
      </p:sp>
      <p:sp>
        <p:nvSpPr>
          <p:cNvPr id="695" name=""/>
          <p:cNvSpPr/>
          <p:nvPr/>
        </p:nvSpPr>
        <p:spPr>
          <a:xfrm rot="0" flipH="0" flipV="0">
            <a:off x="381000" y="1600200"/>
            <a:ext cx="123825" cy="123825"/>
          </a:xfrm>
          <a:prstGeom prst="roundRect">
            <a:avLst>
              <a:gd name="adj" fmla="val 53846"/>
            </a:avLst>
          </a:prstGeom>
          <a:ln w="17780">
            <a:solidFill>
              <a:srgbClr val="1E4FA8"/>
            </a:solidFill>
            <a:prstDash val="solid"/>
          </a:ln>
        </p:spPr>
        <p:txBody>
          <a:bodyPr/>
          <a:p/>
        </p:txBody>
      </p:sp>
      <p:sp>
        <p:nvSpPr>
          <p:cNvPr id="696" name="" descr="{&quot;isTemplate&quot;:true,&quot;type&quot;:&quot;text&quot;}"/>
          <p:cNvSpPr txBox="1"/>
          <p:nvPr/>
        </p:nvSpPr>
        <p:spPr>
          <a:xfrm rot="0" flipH="0" flipV="0">
            <a:off x="590550" y="1571625"/>
            <a:ext cx="5219700" cy="238125"/>
          </a:xfrm>
          <a:prstGeom prst="rect"/>
        </p:spPr>
        <p:txBody>
          <a:bodyPr wrap="none" lIns="0" tIns="0" rIns="0" bIns="0"/>
          <a:p>
            <a:pPr>
              <a:lnSpc>
                <a:spcPct val="155000"/>
              </a:lnSpc>
            </a:pPr>
            <a:r>
              <a:rPr lang="en-US" sz="975">
                <a:solidFill>
                  <a:srgbClr val="1A2230"/>
                </a:solidFill>
                <a:latin typeface="Microsoft YaHei"/>
                <a:ea typeface="Microsoft YaHei"/>
              </a:rPr>
              <a:t>Finish the diagram — source file and PNG, in docs/diagrams/, pushed</a:t>
            </a:r>
            <a:endParaRPr/>
          </a:p>
        </p:txBody>
      </p:sp>
      <p:sp>
        <p:nvSpPr>
          <p:cNvPr id="697" name=""/>
          <p:cNvSpPr/>
          <p:nvPr/>
        </p:nvSpPr>
        <p:spPr>
          <a:xfrm rot="0" flipH="0" flipV="0">
            <a:off x="381000" y="1933575"/>
            <a:ext cx="123825" cy="123825"/>
          </a:xfrm>
          <a:prstGeom prst="roundRect">
            <a:avLst>
              <a:gd name="adj" fmla="val 53846"/>
            </a:avLst>
          </a:prstGeom>
          <a:ln w="17780">
            <a:solidFill>
              <a:srgbClr val="1E4FA8"/>
            </a:solidFill>
            <a:prstDash val="solid"/>
          </a:ln>
        </p:spPr>
        <p:txBody>
          <a:bodyPr/>
          <a:p/>
        </p:txBody>
      </p:sp>
      <p:sp>
        <p:nvSpPr>
          <p:cNvPr id="698" name="" descr="{&quot;isTemplate&quot;:true,&quot;type&quot;:&quot;text&quot;}"/>
          <p:cNvSpPr txBox="1"/>
          <p:nvPr/>
        </p:nvSpPr>
        <p:spPr>
          <a:xfrm rot="0" flipH="0" flipV="0">
            <a:off x="590550" y="1905000"/>
            <a:ext cx="5219700" cy="238125"/>
          </a:xfrm>
          <a:prstGeom prst="rect"/>
        </p:spPr>
        <p:txBody>
          <a:bodyPr wrap="none" lIns="0" tIns="0" rIns="0" bIns="0"/>
          <a:p>
            <a:pPr>
              <a:lnSpc>
                <a:spcPct val="155000"/>
              </a:lnSpc>
            </a:pPr>
            <a:r>
              <a:rPr lang="en-US" sz="975">
                <a:solidFill>
                  <a:srgbClr val="1A2230"/>
                </a:solidFill>
                <a:latin typeface="Microsoft YaHei"/>
                <a:ea typeface="Microsoft YaHei"/>
              </a:rPr>
              <a:t>Write two use case briefs: Place Order and one you choose</a:t>
            </a:r>
            <a:endParaRPr/>
          </a:p>
        </p:txBody>
      </p:sp>
      <p:sp>
        <p:nvSpPr>
          <p:cNvPr id="699" name=""/>
          <p:cNvSpPr/>
          <p:nvPr/>
        </p:nvSpPr>
        <p:spPr>
          <a:xfrm rot="0" flipH="0" flipV="0">
            <a:off x="381000" y="2266950"/>
            <a:ext cx="123825" cy="123825"/>
          </a:xfrm>
          <a:prstGeom prst="roundRect">
            <a:avLst>
              <a:gd name="adj" fmla="val 53846"/>
            </a:avLst>
          </a:prstGeom>
          <a:ln w="17780">
            <a:solidFill>
              <a:srgbClr val="1E4FA8"/>
            </a:solidFill>
            <a:prstDash val="solid"/>
          </a:ln>
        </p:spPr>
        <p:txBody>
          <a:bodyPr/>
          <a:p/>
        </p:txBody>
      </p:sp>
      <p:sp>
        <p:nvSpPr>
          <p:cNvPr id="700" name="" descr="{&quot;isTemplate&quot;:true,&quot;type&quot;:&quot;text&quot;}"/>
          <p:cNvSpPr txBox="1"/>
          <p:nvPr/>
        </p:nvSpPr>
        <p:spPr>
          <a:xfrm rot="0" flipH="0" flipV="0">
            <a:off x="590550" y="2238375"/>
            <a:ext cx="5219700" cy="238125"/>
          </a:xfrm>
          <a:prstGeom prst="rect"/>
        </p:spPr>
        <p:txBody>
          <a:bodyPr wrap="none" lIns="0" tIns="0" rIns="0" bIns="0"/>
          <a:p>
            <a:pPr>
              <a:lnSpc>
                <a:spcPct val="155000"/>
              </a:lnSpc>
            </a:pPr>
            <a:r>
              <a:rPr lang="en-US" sz="975">
                <a:solidFill>
                  <a:srgbClr val="1A2230"/>
                </a:solidFill>
                <a:latin typeface="Microsoft YaHei"/>
                <a:ea typeface="Microsoft YaHei"/>
              </a:rPr>
              <a:t>Read Larman Chapter 6 (use cases) — twenty pages, not all of it</a:t>
            </a:r>
            <a:endParaRPr/>
          </a:p>
        </p:txBody>
      </p:sp>
      <p:sp>
        <p:nvSpPr>
          <p:cNvPr id="701" name=""/>
          <p:cNvSpPr/>
          <p:nvPr/>
        </p:nvSpPr>
        <p:spPr>
          <a:xfrm rot="0" flipH="0" flipV="0">
            <a:off x="381000" y="2600325"/>
            <a:ext cx="123825" cy="123825"/>
          </a:xfrm>
          <a:prstGeom prst="roundRect">
            <a:avLst>
              <a:gd name="adj" fmla="val 53846"/>
            </a:avLst>
          </a:prstGeom>
          <a:ln w="17780">
            <a:solidFill>
              <a:srgbClr val="1E4FA8"/>
            </a:solidFill>
            <a:prstDash val="solid"/>
          </a:ln>
        </p:spPr>
        <p:txBody>
          <a:bodyPr/>
          <a:p/>
        </p:txBody>
      </p:sp>
      <p:sp>
        <p:nvSpPr>
          <p:cNvPr id="702" name="" descr="{&quot;isTemplate&quot;:true,&quot;type&quot;:&quot;text&quot;}"/>
          <p:cNvSpPr txBox="1"/>
          <p:nvPr/>
        </p:nvSpPr>
        <p:spPr>
          <a:xfrm rot="0" flipH="0" flipV="0">
            <a:off x="590550" y="2571750"/>
            <a:ext cx="5219700" cy="238125"/>
          </a:xfrm>
          <a:prstGeom prst="rect"/>
        </p:spPr>
        <p:txBody>
          <a:bodyPr wrap="none" lIns="0" tIns="0" rIns="0" bIns="0"/>
          <a:p>
            <a:pPr>
              <a:lnSpc>
                <a:spcPct val="155000"/>
              </a:lnSpc>
            </a:pPr>
            <a:r>
              <a:rPr lang="en-US" sz="975">
                <a:solidFill>
                  <a:srgbClr val="1A2230"/>
                </a:solidFill>
                <a:latin typeface="Microsoft YaHei"/>
                <a:ea typeface="Microsoft YaHei"/>
              </a:rPr>
              <a:t>Bring one question the narrative could not answer</a:t>
            </a:r>
            <a:endParaRPr/>
          </a:p>
        </p:txBody>
      </p:sp>
      <p:sp>
        <p:nvSpPr>
          <p:cNvPr id="703" name=""/>
          <p:cNvSpPr/>
          <p:nvPr/>
        </p:nvSpPr>
        <p:spPr>
          <a:xfrm rot="0" flipH="0" flipV="0">
            <a:off x="409575" y="2943225"/>
            <a:ext cx="5429250" cy="666750"/>
          </a:xfrm>
          <a:prstGeom prst="roundRect">
            <a:avLst>
              <a:gd name="adj" fmla="val 11429"/>
            </a:avLst>
          </a:prstGeom>
          <a:solidFill>
            <a:srgbClr val="FFF6E0"/>
          </a:solidFill>
          <a:ln/>
        </p:spPr>
        <p:txBody>
          <a:bodyPr/>
          <a:p/>
        </p:txBody>
      </p:sp>
      <p:sp>
        <p:nvSpPr>
          <p:cNvPr id="704" name=""/>
          <p:cNvSpPr/>
          <p:nvPr/>
        </p:nvSpPr>
        <p:spPr>
          <a:xfrm rot="0" flipH="0" flipV="0">
            <a:off x="409575" y="2943225"/>
            <a:ext cx="5429250" cy="666750"/>
          </a:xfrm>
          <a:custGeom>
            <a:pathLst>
              <a:path w="570" h="70">
                <a:moveTo>
                  <a:pt x="8" y="0"/>
                </a:moveTo>
                <a:cubicBezTo>
                  <a:pt x="5" y="0"/>
                  <a:pt x="3" y="2"/>
                  <a:pt x="3" y="5"/>
                </a:cubicBezTo>
                <a:lnTo>
                  <a:pt x="3" y="65"/>
                </a:lnTo>
                <a:cubicBezTo>
                  <a:pt x="3" y="67"/>
                  <a:pt x="5" y="69"/>
                  <a:pt x="7" y="70"/>
                </a:cubicBezTo>
                <a:cubicBezTo>
                  <a:pt x="3" y="69"/>
                  <a:pt x="0" y="66"/>
                  <a:pt x="0" y="62"/>
                </a:cubicBezTo>
                <a:lnTo>
                  <a:pt x="0" y="8"/>
                </a:lnTo>
                <a:cubicBezTo>
                  <a:pt x="0" y="4"/>
                  <a:pt x="3" y="0"/>
                  <a:pt x="8" y="0"/>
                </a:cubicBezTo>
                <a:close/>
              </a:path>
            </a:pathLst>
          </a:custGeom>
          <a:solidFill>
            <a:srgbClr val="FFC107"/>
          </a:solidFill>
          <a:ln/>
        </p:spPr>
        <p:txBody>
          <a:bodyPr/>
          <a:p/>
        </p:txBody>
      </p:sp>
      <p:sp>
        <p:nvSpPr>
          <p:cNvPr id="705" name="" descr="{&quot;isTemplate&quot;:true,&quot;type&quot;:&quot;text&quot;}"/>
          <p:cNvSpPr txBox="1"/>
          <p:nvPr/>
        </p:nvSpPr>
        <p:spPr>
          <a:xfrm rot="0" flipH="0" flipV="0">
            <a:off x="542925" y="3057525"/>
            <a:ext cx="5133975" cy="438150"/>
          </a:xfrm>
          <a:prstGeom prst="rect"/>
        </p:spPr>
        <p:txBody>
          <a:bodyPr wrap="square" lIns="0" tIns="0" rIns="0" bIns="0">
            <a:normAutofit/>
          </a:bodyPr>
          <a:p>
            <a:pPr>
              <a:lnSpc>
                <a:spcPct val="155000"/>
              </a:lnSpc>
            </a:pPr>
            <a:r>
              <a:rPr lang="en-US" sz="915">
                <a:solidFill>
                  <a:srgbClr val="4A5568"/>
                </a:solidFill>
                <a:latin typeface="Microsoft YaHei"/>
                <a:ea typeface="Microsoft YaHei"/>
              </a:rPr>
              <a:t>A brief is half a page: the goal in one sentence, the primary actor, and the one thing that can go wrong. Full specifications are Week 05.</a:t>
            </a:r>
            <a:endParaRPr/>
          </a:p>
        </p:txBody>
      </p:sp>
      <p:pic>
        <p:nvPicPr>
          <p:cNvPr id="706" name=""/>
          <p:cNvPicPr>
            <a:picLocks noChangeAspect="1"/>
          </p:cNvPicPr>
          <p:nvPr/>
        </p:nvPicPr>
        <p:blipFill>
          <a:blip>
            <a:extLst>
              <a:ext uri="{96DAC541-7B7A-43D3-8B79-37D633B846F1}">
                <asvg:svgBlip r:embed="rId2"/>
              </a:ext>
            </a:extLst>
          </a:blip>
          <a:stretch>
            <a:fillRect/>
          </a:stretch>
        </p:blipFill>
        <p:spPr>
          <a:xfrm rot="0" flipH="0" flipV="0">
            <a:off x="6381750" y="1276350"/>
            <a:ext cx="171450" cy="171450"/>
          </a:xfrm>
          <a:prstGeom prst="rect">
            <a:avLst/>
          </a:prstGeom>
          <a:ln/>
        </p:spPr>
      </p:pic>
      <p:sp>
        <p:nvSpPr>
          <p:cNvPr id="707" name="" descr="{&quot;isTemplate&quot;:true,&quot;type&quot;:&quot;text&quot;}"/>
          <p:cNvSpPr txBox="1"/>
          <p:nvPr/>
        </p:nvSpPr>
        <p:spPr>
          <a:xfrm rot="0" flipH="0" flipV="0">
            <a:off x="6638925" y="1266825"/>
            <a:ext cx="2905125" cy="190500"/>
          </a:xfrm>
          <a:prstGeom prst="rect"/>
        </p:spPr>
        <p:txBody>
          <a:bodyPr wrap="none" lIns="0" tIns="0" rIns="0" bIns="0"/>
          <a:p>
            <a:pPr>
              <a:lnSpc>
                <a:spcPct val="100000"/>
              </a:lnSpc>
            </a:pPr>
            <a:r>
              <a:rPr lang="en-US" sz="1238" b="1">
                <a:solidFill>
                  <a:srgbClr val="0E3F8C"/>
                </a:solidFill>
                <a:latin typeface="Microsoft YaHei"/>
                <a:ea typeface="Microsoft YaHei"/>
              </a:rPr>
              <a:t>Milestone M1 — due Sunday 4 October</a:t>
            </a:r>
            <a:endParaRPr/>
          </a:p>
        </p:txBody>
      </p:sp>
      <p:sp>
        <p:nvSpPr>
          <p:cNvPr id="708" name=""/>
          <p:cNvSpPr/>
          <p:nvPr/>
        </p:nvSpPr>
        <p:spPr>
          <a:xfrm rot="0" flipH="0" flipV="0">
            <a:off x="6410325" y="1571625"/>
            <a:ext cx="5429250" cy="485775"/>
          </a:xfrm>
          <a:prstGeom prst="roundRect">
            <a:avLst>
              <a:gd name="adj" fmla="val 15686"/>
            </a:avLst>
          </a:prstGeom>
          <a:solidFill>
            <a:srgbClr val="F0F5FC"/>
          </a:solidFill>
          <a:ln/>
        </p:spPr>
        <p:txBody>
          <a:bodyPr/>
          <a:p/>
        </p:txBody>
      </p:sp>
      <p:sp>
        <p:nvSpPr>
          <p:cNvPr id="709" name=""/>
          <p:cNvSpPr/>
          <p:nvPr/>
        </p:nvSpPr>
        <p:spPr>
          <a:xfrm rot="0" flipH="0" flipV="0">
            <a:off x="6410325" y="1571625"/>
            <a:ext cx="5429250" cy="485775"/>
          </a:xfrm>
          <a:custGeom>
            <a:pathLst>
              <a:path w="570" h="51">
                <a:moveTo>
                  <a:pt x="8" y="0"/>
                </a:moveTo>
                <a:cubicBezTo>
                  <a:pt x="5" y="0"/>
                  <a:pt x="3" y="2"/>
                  <a:pt x="3" y="5"/>
                </a:cubicBezTo>
                <a:lnTo>
                  <a:pt x="3" y="46"/>
                </a:lnTo>
                <a:cubicBezTo>
                  <a:pt x="3" y="48"/>
                  <a:pt x="5" y="50"/>
                  <a:pt x="7" y="51"/>
                </a:cubicBezTo>
                <a:cubicBezTo>
                  <a:pt x="3" y="50"/>
                  <a:pt x="0" y="47"/>
                  <a:pt x="0" y="43"/>
                </a:cubicBezTo>
                <a:lnTo>
                  <a:pt x="0" y="8"/>
                </a:lnTo>
                <a:cubicBezTo>
                  <a:pt x="0" y="4"/>
                  <a:pt x="3" y="0"/>
                  <a:pt x="8" y="0"/>
                </a:cubicBezTo>
                <a:close/>
              </a:path>
            </a:pathLst>
          </a:custGeom>
          <a:solidFill>
            <a:srgbClr val="1E4FA8"/>
          </a:solidFill>
          <a:ln/>
        </p:spPr>
        <p:txBody>
          <a:bodyPr/>
          <a:p/>
        </p:txBody>
      </p:sp>
      <p:sp>
        <p:nvSpPr>
          <p:cNvPr id="710" name="" descr="{&quot;isTemplate&quot;:true,&quot;type&quot;:&quot;text&quot;}"/>
          <p:cNvSpPr txBox="1"/>
          <p:nvPr/>
        </p:nvSpPr>
        <p:spPr>
          <a:xfrm rot="0" flipH="0" flipV="0">
            <a:off x="6553200" y="1695450"/>
            <a:ext cx="5114925" cy="238125"/>
          </a:xfrm>
          <a:prstGeom prst="rect"/>
        </p:spPr>
        <p:txBody>
          <a:bodyPr wrap="none" lIns="0" tIns="0" rIns="0" bIns="0"/>
          <a:p>
            <a:pPr>
              <a:lnSpc>
                <a:spcPct val="155000"/>
              </a:lnSpc>
            </a:pPr>
            <a:r>
              <a:rPr lang="en-US" sz="975">
                <a:solidFill>
                  <a:srgbClr val="1A2230"/>
                </a:solidFill>
                <a:latin typeface="Microsoft YaHei"/>
                <a:ea typeface="Microsoft YaHei"/>
              </a:rPr>
              <a:t>A requirements list: functional and non-functional, each testable</a:t>
            </a:r>
            <a:endParaRPr/>
          </a:p>
        </p:txBody>
      </p:sp>
      <p:sp>
        <p:nvSpPr>
          <p:cNvPr id="711" name=""/>
          <p:cNvSpPr/>
          <p:nvPr/>
        </p:nvSpPr>
        <p:spPr>
          <a:xfrm rot="0" flipH="0" flipV="0">
            <a:off x="6410325" y="2152650"/>
            <a:ext cx="5429250" cy="485775"/>
          </a:xfrm>
          <a:prstGeom prst="roundRect">
            <a:avLst>
              <a:gd name="adj" fmla="val 15686"/>
            </a:avLst>
          </a:prstGeom>
          <a:solidFill>
            <a:srgbClr val="F0F5FC"/>
          </a:solidFill>
          <a:ln/>
        </p:spPr>
        <p:txBody>
          <a:bodyPr/>
          <a:p/>
        </p:txBody>
      </p:sp>
      <p:sp>
        <p:nvSpPr>
          <p:cNvPr id="712" name=""/>
          <p:cNvSpPr/>
          <p:nvPr/>
        </p:nvSpPr>
        <p:spPr>
          <a:xfrm rot="0" flipH="0" flipV="0">
            <a:off x="6410325" y="2152650"/>
            <a:ext cx="5429250" cy="485775"/>
          </a:xfrm>
          <a:custGeom>
            <a:pathLst>
              <a:path w="570" h="51">
                <a:moveTo>
                  <a:pt x="8" y="0"/>
                </a:moveTo>
                <a:cubicBezTo>
                  <a:pt x="5" y="0"/>
                  <a:pt x="3" y="2"/>
                  <a:pt x="3" y="5"/>
                </a:cubicBezTo>
                <a:lnTo>
                  <a:pt x="3" y="46"/>
                </a:lnTo>
                <a:cubicBezTo>
                  <a:pt x="3" y="48"/>
                  <a:pt x="5" y="50"/>
                  <a:pt x="7" y="51"/>
                </a:cubicBezTo>
                <a:cubicBezTo>
                  <a:pt x="3" y="50"/>
                  <a:pt x="0" y="47"/>
                  <a:pt x="0" y="43"/>
                </a:cubicBezTo>
                <a:lnTo>
                  <a:pt x="0" y="8"/>
                </a:lnTo>
                <a:cubicBezTo>
                  <a:pt x="0" y="4"/>
                  <a:pt x="3" y="0"/>
                  <a:pt x="8" y="0"/>
                </a:cubicBezTo>
                <a:close/>
              </a:path>
            </a:pathLst>
          </a:custGeom>
          <a:solidFill>
            <a:srgbClr val="1E4FA8"/>
          </a:solidFill>
          <a:ln/>
        </p:spPr>
        <p:txBody>
          <a:bodyPr/>
          <a:p/>
        </p:txBody>
      </p:sp>
      <p:sp>
        <p:nvSpPr>
          <p:cNvPr id="713" name="" descr="{&quot;isTemplate&quot;:true,&quot;type&quot;:&quot;text&quot;}"/>
          <p:cNvSpPr txBox="1"/>
          <p:nvPr/>
        </p:nvSpPr>
        <p:spPr>
          <a:xfrm rot="0" flipH="0" flipV="0">
            <a:off x="6553200" y="2276475"/>
            <a:ext cx="5114925" cy="238125"/>
          </a:xfrm>
          <a:prstGeom prst="rect"/>
        </p:spPr>
        <p:txBody>
          <a:bodyPr wrap="none" lIns="0" tIns="0" rIns="0" bIns="0"/>
          <a:p>
            <a:pPr>
              <a:lnSpc>
                <a:spcPct val="155000"/>
              </a:lnSpc>
            </a:pPr>
            <a:r>
              <a:rPr lang="en-US" sz="975">
                <a:solidFill>
                  <a:srgbClr val="1A2230"/>
                </a:solidFill>
                <a:latin typeface="Microsoft YaHei"/>
                <a:ea typeface="Microsoft YaHei"/>
              </a:rPr>
              <a:t>The use case diagram — source file, PNG, and one sentence per dashed arrow</a:t>
            </a:r>
            <a:endParaRPr/>
          </a:p>
        </p:txBody>
      </p:sp>
      <p:sp>
        <p:nvSpPr>
          <p:cNvPr id="714" name=""/>
          <p:cNvSpPr/>
          <p:nvPr/>
        </p:nvSpPr>
        <p:spPr>
          <a:xfrm rot="0" flipH="0" flipV="0">
            <a:off x="6410325" y="2733675"/>
            <a:ext cx="5429250" cy="485775"/>
          </a:xfrm>
          <a:prstGeom prst="roundRect">
            <a:avLst>
              <a:gd name="adj" fmla="val 15686"/>
            </a:avLst>
          </a:prstGeom>
          <a:solidFill>
            <a:srgbClr val="F0F5FC"/>
          </a:solidFill>
          <a:ln/>
        </p:spPr>
        <p:txBody>
          <a:bodyPr/>
          <a:p/>
        </p:txBody>
      </p:sp>
      <p:sp>
        <p:nvSpPr>
          <p:cNvPr id="715" name=""/>
          <p:cNvSpPr/>
          <p:nvPr/>
        </p:nvSpPr>
        <p:spPr>
          <a:xfrm rot="0" flipH="0" flipV="0">
            <a:off x="6410325" y="2733675"/>
            <a:ext cx="5429250" cy="485775"/>
          </a:xfrm>
          <a:custGeom>
            <a:pathLst>
              <a:path w="570" h="51">
                <a:moveTo>
                  <a:pt x="8" y="0"/>
                </a:moveTo>
                <a:cubicBezTo>
                  <a:pt x="5" y="0"/>
                  <a:pt x="3" y="2"/>
                  <a:pt x="3" y="5"/>
                </a:cubicBezTo>
                <a:lnTo>
                  <a:pt x="3" y="46"/>
                </a:lnTo>
                <a:cubicBezTo>
                  <a:pt x="3" y="48"/>
                  <a:pt x="5" y="50"/>
                  <a:pt x="7" y="51"/>
                </a:cubicBezTo>
                <a:cubicBezTo>
                  <a:pt x="3" y="50"/>
                  <a:pt x="0" y="47"/>
                  <a:pt x="0" y="43"/>
                </a:cubicBezTo>
                <a:lnTo>
                  <a:pt x="0" y="8"/>
                </a:lnTo>
                <a:cubicBezTo>
                  <a:pt x="0" y="4"/>
                  <a:pt x="3" y="0"/>
                  <a:pt x="8" y="0"/>
                </a:cubicBezTo>
                <a:close/>
              </a:path>
            </a:pathLst>
          </a:custGeom>
          <a:solidFill>
            <a:srgbClr val="1E4FA8"/>
          </a:solidFill>
          <a:ln/>
        </p:spPr>
        <p:txBody>
          <a:bodyPr/>
          <a:p/>
        </p:txBody>
      </p:sp>
      <p:sp>
        <p:nvSpPr>
          <p:cNvPr id="716" name="" descr="{&quot;isTemplate&quot;:true,&quot;type&quot;:&quot;text&quot;}"/>
          <p:cNvSpPr txBox="1"/>
          <p:nvPr/>
        </p:nvSpPr>
        <p:spPr>
          <a:xfrm rot="0" flipH="0" flipV="0">
            <a:off x="6553200" y="2857500"/>
            <a:ext cx="5114925" cy="238125"/>
          </a:xfrm>
          <a:prstGeom prst="rect"/>
        </p:spPr>
        <p:txBody>
          <a:bodyPr wrap="none" lIns="0" tIns="0" rIns="0" bIns="0"/>
          <a:p>
            <a:pPr>
              <a:lnSpc>
                <a:spcPct val="155000"/>
              </a:lnSpc>
            </a:pPr>
            <a:r>
              <a:rPr lang="en-US" sz="975">
                <a:solidFill>
                  <a:srgbClr val="1A2230"/>
                </a:solidFill>
                <a:latin typeface="Microsoft YaHei"/>
                <a:ea typeface="Microsoft YaHei"/>
              </a:rPr>
              <a:t>Two use case briefs, written in your own words</a:t>
            </a:r>
            <a:endParaRPr/>
          </a:p>
        </p:txBody>
      </p:sp>
      <p:pic>
        <p:nvPicPr>
          <p:cNvPr id="717" name=""/>
          <p:cNvPicPr>
            <a:picLocks noChangeAspect="1"/>
          </p:cNvPicPr>
          <p:nvPr/>
        </p:nvPicPr>
        <p:blipFill>
          <a:blip>
            <a:extLst>
              <a:ext uri="{96DAC541-7B7A-43D3-8B79-37D633B846F1}">
                <asvg:svgBlip r:embed="rId3"/>
              </a:ext>
            </a:extLst>
          </a:blip>
          <a:stretch>
            <a:fillRect/>
          </a:stretch>
        </p:blipFill>
        <p:spPr>
          <a:xfrm rot="0" flipH="0" flipV="0">
            <a:off x="6381750" y="3390900"/>
            <a:ext cx="161925" cy="161925"/>
          </a:xfrm>
          <a:prstGeom prst="rect">
            <a:avLst/>
          </a:prstGeom>
          <a:ln/>
        </p:spPr>
      </p:pic>
      <p:sp>
        <p:nvSpPr>
          <p:cNvPr id="718" name="" descr="{&quot;isTemplate&quot;:true,&quot;type&quot;:&quot;text&quot;}"/>
          <p:cNvSpPr txBox="1"/>
          <p:nvPr/>
        </p:nvSpPr>
        <p:spPr>
          <a:xfrm rot="0" flipH="0" flipV="0">
            <a:off x="6629400" y="3371850"/>
            <a:ext cx="1447800" cy="190500"/>
          </a:xfrm>
          <a:prstGeom prst="rect"/>
        </p:spPr>
        <p:txBody>
          <a:bodyPr wrap="none" lIns="0" tIns="0" rIns="0" bIns="0"/>
          <a:p>
            <a:pPr>
              <a:lnSpc>
                <a:spcPct val="100000"/>
              </a:lnSpc>
            </a:pPr>
            <a:r>
              <a:rPr lang="en-US" sz="1238" b="1">
                <a:solidFill>
                  <a:srgbClr val="D9534F"/>
                </a:solidFill>
                <a:latin typeface="Microsoft YaHei"/>
                <a:ea typeface="Microsoft YaHei"/>
              </a:rPr>
              <a:t>How it is submitted</a:t>
            </a:r>
            <a:endParaRPr/>
          </a:p>
        </p:txBody>
      </p:sp>
      <p:sp>
        <p:nvSpPr>
          <p:cNvPr id="719" name=""/>
          <p:cNvSpPr/>
          <p:nvPr/>
        </p:nvSpPr>
        <p:spPr>
          <a:xfrm rot="0" flipH="0" flipV="0">
            <a:off x="6381750" y="3676650"/>
            <a:ext cx="5429250" cy="1276350"/>
          </a:xfrm>
          <a:prstGeom prst="roundRect">
            <a:avLst>
              <a:gd name="adj" fmla="val 6716"/>
            </a:avLst>
          </a:prstGeom>
          <a:solidFill>
            <a:srgbClr val="FDF3F3"/>
          </a:solidFill>
          <a:ln w="12700">
            <a:solidFill>
              <a:srgbClr val="D9534F"/>
            </a:solidFill>
            <a:prstDash val="solid"/>
          </a:ln>
        </p:spPr>
        <p:txBody>
          <a:bodyPr/>
          <a:p/>
        </p:txBody>
      </p:sp>
      <p:sp>
        <p:nvSpPr>
          <p:cNvPr id="720" name="" descr="{&quot;isTemplate&quot;:true,&quot;type&quot;:&quot;text&quot;}"/>
          <p:cNvSpPr txBox="1"/>
          <p:nvPr/>
        </p:nvSpPr>
        <p:spPr>
          <a:xfrm rot="0" flipH="0" flipV="0">
            <a:off x="6534150" y="3810000"/>
            <a:ext cx="5124450" cy="476250"/>
          </a:xfrm>
          <a:prstGeom prst="rect"/>
        </p:spPr>
        <p:txBody>
          <a:bodyPr wrap="square" lIns="0" tIns="0" rIns="0" bIns="0">
            <a:normAutofit/>
          </a:bodyPr>
          <a:p>
            <a:pPr>
              <a:lnSpc>
                <a:spcPct val="160000"/>
              </a:lnSpc>
            </a:pPr>
            <a:r>
              <a:rPr lang="en-US" sz="975">
                <a:solidFill>
                  <a:srgbClr val="1A2230"/>
                </a:solidFill>
                <a:latin typeface="Microsoft YaHei"/>
                <a:ea typeface="Microsoft YaHei"/>
              </a:rPr>
              <a:t>Push to GitHub, then tag it </a:t>
            </a:r>
            <a:r>
              <a:rPr lang="en-US" sz="975">
                <a:solidFill>
                  <a:srgbClr val="1A2230"/>
                </a:solidFill>
                <a:latin typeface="Microsoft YaHei"/>
                <a:ea typeface="Microsoft YaHei"/>
              </a:rPr>
              <a:t>m1</a:t>
            </a:r>
            <a:r>
              <a:rPr lang="en-US" sz="975">
                <a:solidFill>
                  <a:srgbClr val="1A2230"/>
                </a:solidFill>
                <a:latin typeface="Microsoft YaHei"/>
                <a:ea typeface="Microsoft YaHei"/>
              </a:rPr>
              <a:t>. A push without a tag is not a submission — the tag is the snapshot that gets graded.</a:t>
            </a:r>
            <a:endParaRPr/>
          </a:p>
        </p:txBody>
      </p:sp>
      <p:sp>
        <p:nvSpPr>
          <p:cNvPr id="721" name="" descr="{&quot;isTemplate&quot;:true,&quot;type&quot;:&quot;text&quot;}"/>
          <p:cNvSpPr txBox="1"/>
          <p:nvPr/>
        </p:nvSpPr>
        <p:spPr>
          <a:xfrm rot="0" flipH="0" flipV="0">
            <a:off x="6534150" y="4343400"/>
            <a:ext cx="5124450" cy="219075"/>
          </a:xfrm>
          <a:prstGeom prst="rect"/>
        </p:spPr>
        <p:txBody>
          <a:bodyPr wrap="none" lIns="0" tIns="0" rIns="0" bIns="0"/>
          <a:p>
            <a:pPr>
              <a:lnSpc>
                <a:spcPct val="155000"/>
              </a:lnSpc>
            </a:pPr>
            <a:r>
              <a:rPr lang="en-US" sz="900">
                <a:solidFill>
                  <a:srgbClr val="8B97A8"/>
                </a:solidFill>
                <a:latin typeface="Microsoft YaHei"/>
                <a:ea typeface="Microsoft YaHei"/>
              </a:rPr>
              <a:t>git tag -a m1 -m "M1: requirements, use case diagram, two briefs" &amp;&amp; git push origin m1</a:t>
            </a:r>
            <a:endParaRPr/>
          </a:p>
        </p:txBody>
      </p:sp>
      <p:sp>
        <p:nvSpPr>
          <p:cNvPr id="722" name="" descr="{&quot;isTemplate&quot;:true,&quot;type&quot;:&quot;text&quot;}"/>
          <p:cNvSpPr txBox="1"/>
          <p:nvPr/>
        </p:nvSpPr>
        <p:spPr>
          <a:xfrm rot="0" flipH="0" flipV="0">
            <a:off x="6534150" y="4600575"/>
            <a:ext cx="5124450" cy="219075"/>
          </a:xfrm>
          <a:prstGeom prst="rect"/>
        </p:spPr>
        <p:txBody>
          <a:bodyPr wrap="none" lIns="0" tIns="0" rIns="0" bIns="0"/>
          <a:p>
            <a:pPr>
              <a:lnSpc>
                <a:spcPct val="155000"/>
              </a:lnSpc>
            </a:pPr>
            <a:r>
              <a:rPr lang="en-US" sz="900">
                <a:solidFill>
                  <a:srgbClr val="8B97A8"/>
                </a:solidFill>
                <a:latin typeface="Microsoft YaHei"/>
                <a:ea typeface="Microsoft YaHei"/>
              </a:rPr>
              <a:t>Check it landed: git ls-remote --tags origin</a:t>
            </a:r>
            <a:endParaRPr/>
          </a:p>
        </p:txBody>
      </p:sp>
      <p:sp>
        <p:nvSpPr>
          <p:cNvPr id="723" name=""/>
          <p:cNvSpPr/>
          <p:nvPr/>
        </p:nvSpPr>
        <p:spPr>
          <a:xfrm rot="0" flipH="0" flipV="0">
            <a:off x="0" y="6419850"/>
            <a:ext cx="12192000" cy="438150"/>
          </a:xfrm>
          <a:prstGeom prst="rect">
            <a:avLst/>
          </a:prstGeom>
          <a:solidFill>
            <a:srgbClr val="0E3F8C"/>
          </a:solidFill>
          <a:ln/>
        </p:spPr>
        <p:txBody>
          <a:bodyPr/>
          <a:p/>
        </p:txBody>
      </p:sp>
      <p:sp>
        <p:nvSpPr>
          <p:cNvPr id="724" name="" descr="{&quot;isTemplate&quot;:true,&quot;type&quot;:&quot;text&quot;}"/>
          <p:cNvSpPr txBox="1"/>
          <p:nvPr/>
        </p:nvSpPr>
        <p:spPr>
          <a:xfrm rot="0" flipH="0" flipV="0">
            <a:off x="2247900" y="6543675"/>
            <a:ext cx="7696200" cy="190500"/>
          </a:xfrm>
          <a:prstGeom prst="rect"/>
        </p:spPr>
        <p:txBody>
          <a:bodyPr wrap="none" lIns="0" tIns="0" rIns="0" bIns="0"/>
          <a:p>
            <a:pPr>
              <a:lnSpc>
                <a:spcPct val="100000"/>
              </a:lnSpc>
            </a:pPr>
            <a:r>
              <a:rPr lang="en-US" sz="1200" b="1">
                <a:solidFill>
                  <a:srgbClr val="FFFFFF"/>
                </a:solidFill>
                <a:latin typeface="Microsoft YaHei"/>
                <a:ea typeface="Microsoft YaHei"/>
              </a:rPr>
              <a:t>M1 closes on Sunday 4 October. The diagram is due next week; the briefs and the requirements list follow.</a:t>
            </a:r>
            <a:endParaRPr/>
          </a:p>
        </p:txBody>
      </p:sp>
    </p:spTree>
  </p:cSld>
</p:sld>
</file>

<file path=ppt/slides/slide38.xml><?xml version="1.0" encoding="utf-8"?>
<p:sld xmlns:a="http://schemas.openxmlformats.org/drawingml/2006/main" xmlns:p="http://schemas.openxmlformats.org/presentationml/2006/main">
  <p:cSld>
    <p:spTree>
      <p:nvGrpSpPr>
        <p:cNvPr id="725" name="" descr="&lt;Slide style={{ background: '#0E3F8C', padding: 0 }}&gt;&#10;  &lt;Box style={{ flexDirection: 'column', height: '100%', position: 'relative', padding: '0 80px', justifyContent: 'center' }}&gt;&#10;    &lt;Box style={{ position: 'absolute', top: 0, left: 0, right: 0, height: 8, background: '#1E4FA8' }} /&gt;&#10;    &lt;Text style={{ fontSize: 15, color: '#7FA2D6', letterSpacing: 2, marginBottom: 16 }}&gt;WEEK 04 · WHAT YOU TAKE AWAY&lt;/Text&gt;&#10;    &lt;Text style={{ fontSize: 44, fontWeight: 'bold', color: '#FFFFFF', fontFamily: 'Georgia, serif', lineHeight: 1.15 }}&gt;&#10;      Goals first.&#10;      &lt;br /&gt;&#10;      Notation second.&#10;    &lt;/Text&gt;&#10;    &lt;Box style={{ width: 88, height: 5, background: '#FFC107', marginTop: 24, marginBottom: 26 }} /&gt;&#10;    &lt;Box style={{ flexDirection: 'row', flexWrap: 'wrap', gap: '12px 28px', marginBottom: 30 }}&gt;&#10;      {[&#10;        '01 · Functional says what, non-functional says how well',&#10;        '02 · An actor is a role; a use case is a goal',&#10;        '03 · Six symbols, and the boundary is one of them',&#10;        '04 · include is inevitable, extend is conditional',&#10;        '05 · Events and the noun-verb scan find the goals',&#10;        '06 · M1 opened today — tag it m1 by 4 October',&#10;      ].map((t) =&gt; (&#10;        &lt;Box key={t} style={{ flexDirection: 'row', alignItems: 'center', gap: 10, width: '48%' }}&gt;&#10;          &lt;Box style={{ width: 7, height: 7, borderRadius: 4, background: '#3D7BD9' }} /&gt;&#10;          &lt;Text style={{ fontSize: 15.5, color: '#C5D4EA' }}&gt;{t}&lt;/Text&gt;&#10;        &lt;/Box&gt;&#10;      ))}&#10;    &lt;/Box&gt;&#10;    &lt;Box style={{ borderTop: '1px solid #2B5793', paddingTop: 20, flexDirection: 'row', justifyContent: 'space-between', alignItems: 'center' }}&gt;&#10;      &lt;Box style={{ flex: 1 }}&gt;&#10;        &lt;Text style={{ fontSize: 14, color: '#7FA2D6', letterSpacing: 1, marginBottom: 6 }}&gt;NEXT WEEK — W05&lt;/Text&gt;&#10;        &lt;Text style={{ fontSize: 19, color: '#FFFFFF', fontWeight: '600' }}&gt;&#10;          Writing the Use Case — and being reviewed by the client&#10;        &lt;/Text&gt;&#10;      &lt;/Box&gt;&#10;      &lt;Box style={{ padding: '10px 22px', background: '#1E4FA8', borderRadius: 22 }}&gt;&#10;        &lt;Text style={{ fontSize: 15, color: '#FFFFFF', fontWeight: 'bold' }}&gt;Questions?&lt;/Text&gt;&#10;      &lt;/Box&gt;&#10;    &lt;/Box&gt;&#10;  &lt;/Box&gt;&#10;&lt;/Slide&gt;"/>
        <p:cNvGrpSpPr/>
        <p:nvPr/>
      </p:nvGrpSpPr>
      <p:grpSpPr>
        <a:xfrm>
          <a:off x="0" y="0"/>
          <a:ext cx="0" cy="0"/>
          <a:chOff x="0" y="0"/>
          <a:chExt cx="0" cy="0"/>
        </a:xfrm>
      </p:grpSpPr>
      <p:sp>
        <p:nvSpPr>
          <p:cNvPr id="726" name=""/>
          <p:cNvSpPr/>
          <p:nvPr/>
        </p:nvSpPr>
        <p:spPr>
          <a:xfrm rot="0" flipH="0" flipV="0">
            <a:off x="0" y="0"/>
            <a:ext cx="12192000" cy="6858000"/>
          </a:xfrm>
          <a:prstGeom prst="rect">
            <a:avLst/>
          </a:prstGeom>
          <a:solidFill>
            <a:srgbClr val="0E3F8C"/>
          </a:solidFill>
          <a:ln/>
        </p:spPr>
        <p:txBody>
          <a:bodyPr/>
          <a:p/>
        </p:txBody>
      </p:sp>
      <p:sp>
        <p:nvSpPr>
          <p:cNvPr id="727" name="" descr="{&quot;isTemplate&quot;:true,&quot;type&quot;:&quot;text&quot;}"/>
          <p:cNvSpPr txBox="1"/>
          <p:nvPr/>
        </p:nvSpPr>
        <p:spPr>
          <a:xfrm rot="0" flipH="0" flipV="0">
            <a:off x="762000" y="1581150"/>
            <a:ext cx="10668000" cy="171450"/>
          </a:xfrm>
          <a:prstGeom prst="rect"/>
        </p:spPr>
        <p:txBody>
          <a:bodyPr wrap="none" lIns="0" tIns="0" rIns="0" bIns="0"/>
          <a:p>
            <a:pPr>
              <a:lnSpc>
                <a:spcPct val="100000"/>
              </a:lnSpc>
            </a:pPr>
            <a:r>
              <a:rPr lang="en-US" sz="1125" spc="150">
                <a:solidFill>
                  <a:srgbClr val="7FA2D6"/>
                </a:solidFill>
                <a:latin typeface="Microsoft YaHei"/>
                <a:ea typeface="Microsoft YaHei"/>
              </a:rPr>
              <a:t>WEEK 04 · WHAT YOU TAKE AWAY</a:t>
            </a:r>
            <a:endParaRPr/>
          </a:p>
        </p:txBody>
      </p:sp>
      <p:sp>
        <p:nvSpPr>
          <p:cNvPr id="728" name="" descr="{&quot;isTemplate&quot;:true,&quot;type&quot;:&quot;text&quot;}"/>
          <p:cNvSpPr txBox="1"/>
          <p:nvPr/>
        </p:nvSpPr>
        <p:spPr>
          <a:xfrm rot="0" flipH="0" flipV="0">
            <a:off x="762000" y="1905000"/>
            <a:ext cx="10668000" cy="1162050"/>
          </a:xfrm>
          <a:prstGeom prst="rect"/>
        </p:spPr>
        <p:txBody>
          <a:bodyPr wrap="none" lIns="0" tIns="0" rIns="0" bIns="0"/>
          <a:p>
            <a:pPr>
              <a:lnSpc>
                <a:spcPct val="114999"/>
              </a:lnSpc>
            </a:pPr>
            <a:r>
              <a:rPr lang="en-US" sz="3300" b="1">
                <a:solidFill>
                  <a:srgbClr val="FFFFFF"/>
                </a:solidFill>
                <a:latin typeface="Georgia"/>
                <a:ea typeface="Georgia"/>
              </a:rPr>
              <a:t>Goals first.</a:t>
            </a:r>
            <a:endParaRPr/>
          </a:p>
          <a:p>
            <a:pPr>
              <a:lnSpc>
                <a:spcPct val="114999"/>
              </a:lnSpc>
            </a:pPr>
            <a:r>
              <a:rPr lang="en-US" sz="3300" b="1">
                <a:solidFill>
                  <a:srgbClr val="FFFFFF"/>
                </a:solidFill>
                <a:latin typeface="Georgia"/>
                <a:ea typeface="Georgia"/>
              </a:rPr>
              <a:t>Notation second.</a:t>
            </a:r>
            <a:endParaRPr/>
          </a:p>
        </p:txBody>
      </p:sp>
      <p:sp>
        <p:nvSpPr>
          <p:cNvPr id="729" name=""/>
          <p:cNvSpPr/>
          <p:nvPr/>
        </p:nvSpPr>
        <p:spPr>
          <a:xfrm rot="0" flipH="0" flipV="0">
            <a:off x="762000" y="3295650"/>
            <a:ext cx="838200" cy="47625"/>
          </a:xfrm>
          <a:prstGeom prst="rect">
            <a:avLst/>
          </a:prstGeom>
          <a:solidFill>
            <a:srgbClr val="FFC107"/>
          </a:solidFill>
          <a:ln/>
        </p:spPr>
        <p:txBody>
          <a:bodyPr/>
          <a:p/>
        </p:txBody>
      </p:sp>
      <p:sp>
        <p:nvSpPr>
          <p:cNvPr id="730" name=""/>
          <p:cNvSpPr/>
          <p:nvPr/>
        </p:nvSpPr>
        <p:spPr>
          <a:xfrm rot="0" flipH="0" flipV="0">
            <a:off x="762000" y="3648075"/>
            <a:ext cx="66675" cy="66675"/>
          </a:xfrm>
          <a:prstGeom prst="roundRect">
            <a:avLst>
              <a:gd name="adj" fmla="val 57143"/>
            </a:avLst>
          </a:prstGeom>
          <a:solidFill>
            <a:srgbClr val="3D7BD9"/>
          </a:solidFill>
          <a:ln/>
        </p:spPr>
        <p:txBody>
          <a:bodyPr/>
          <a:p/>
        </p:txBody>
      </p:sp>
      <p:sp>
        <p:nvSpPr>
          <p:cNvPr id="731" name="" descr="{&quot;isTemplate&quot;:true,&quot;type&quot;:&quot;text&quot;}"/>
          <p:cNvSpPr txBox="1"/>
          <p:nvPr/>
        </p:nvSpPr>
        <p:spPr>
          <a:xfrm rot="0" flipH="0" flipV="0">
            <a:off x="923925" y="3590925"/>
            <a:ext cx="3638550" cy="180975"/>
          </a:xfrm>
          <a:prstGeom prst="rect"/>
        </p:spPr>
        <p:txBody>
          <a:bodyPr wrap="none" lIns="0" tIns="0" rIns="0" bIns="0"/>
          <a:p>
            <a:pPr>
              <a:lnSpc>
                <a:spcPct val="100000"/>
              </a:lnSpc>
            </a:pPr>
            <a:r>
              <a:rPr lang="en-US" sz="1163">
                <a:solidFill>
                  <a:srgbClr val="C5D4EA"/>
                </a:solidFill>
                <a:latin typeface="Microsoft YaHei"/>
                <a:ea typeface="Microsoft YaHei"/>
              </a:rPr>
              <a:t>01 · Functional says what, non-functional says how well</a:t>
            </a:r>
            <a:endParaRPr/>
          </a:p>
        </p:txBody>
      </p:sp>
      <p:sp>
        <p:nvSpPr>
          <p:cNvPr id="732" name=""/>
          <p:cNvSpPr/>
          <p:nvPr/>
        </p:nvSpPr>
        <p:spPr>
          <a:xfrm rot="0" flipH="0" flipV="0">
            <a:off x="6000750" y="3648075"/>
            <a:ext cx="66675" cy="66675"/>
          </a:xfrm>
          <a:prstGeom prst="roundRect">
            <a:avLst>
              <a:gd name="adj" fmla="val 57143"/>
            </a:avLst>
          </a:prstGeom>
          <a:solidFill>
            <a:srgbClr val="3D7BD9"/>
          </a:solidFill>
          <a:ln/>
        </p:spPr>
        <p:txBody>
          <a:bodyPr/>
          <a:p/>
        </p:txBody>
      </p:sp>
      <p:sp>
        <p:nvSpPr>
          <p:cNvPr id="733" name="" descr="{&quot;isTemplate&quot;:true,&quot;type&quot;:&quot;text&quot;}"/>
          <p:cNvSpPr txBox="1"/>
          <p:nvPr/>
        </p:nvSpPr>
        <p:spPr>
          <a:xfrm rot="0" flipH="0" flipV="0">
            <a:off x="6162675" y="3590925"/>
            <a:ext cx="2790825" cy="180975"/>
          </a:xfrm>
          <a:prstGeom prst="rect"/>
        </p:spPr>
        <p:txBody>
          <a:bodyPr wrap="none" lIns="0" tIns="0" rIns="0" bIns="0"/>
          <a:p>
            <a:pPr>
              <a:lnSpc>
                <a:spcPct val="100000"/>
              </a:lnSpc>
            </a:pPr>
            <a:r>
              <a:rPr lang="en-US" sz="1163">
                <a:solidFill>
                  <a:srgbClr val="C5D4EA"/>
                </a:solidFill>
                <a:latin typeface="Microsoft YaHei"/>
                <a:ea typeface="Microsoft YaHei"/>
              </a:rPr>
              <a:t>02 · An actor is a role; a use case is a goal</a:t>
            </a:r>
            <a:endParaRPr/>
          </a:p>
        </p:txBody>
      </p:sp>
      <p:sp>
        <p:nvSpPr>
          <p:cNvPr id="734" name=""/>
          <p:cNvSpPr/>
          <p:nvPr/>
        </p:nvSpPr>
        <p:spPr>
          <a:xfrm rot="0" flipH="0" flipV="0">
            <a:off x="762000" y="3943350"/>
            <a:ext cx="66675" cy="66675"/>
          </a:xfrm>
          <a:prstGeom prst="roundRect">
            <a:avLst>
              <a:gd name="adj" fmla="val 57143"/>
            </a:avLst>
          </a:prstGeom>
          <a:solidFill>
            <a:srgbClr val="3D7BD9"/>
          </a:solidFill>
          <a:ln/>
        </p:spPr>
        <p:txBody>
          <a:bodyPr/>
          <a:p/>
        </p:txBody>
      </p:sp>
      <p:sp>
        <p:nvSpPr>
          <p:cNvPr id="735" name="" descr="{&quot;isTemplate&quot;:true,&quot;type&quot;:&quot;text&quot;}"/>
          <p:cNvSpPr txBox="1"/>
          <p:nvPr/>
        </p:nvSpPr>
        <p:spPr>
          <a:xfrm rot="0" flipH="0" flipV="0">
            <a:off x="923925" y="3886200"/>
            <a:ext cx="3286125" cy="180975"/>
          </a:xfrm>
          <a:prstGeom prst="rect"/>
        </p:spPr>
        <p:txBody>
          <a:bodyPr wrap="none" lIns="0" tIns="0" rIns="0" bIns="0"/>
          <a:p>
            <a:pPr>
              <a:lnSpc>
                <a:spcPct val="100000"/>
              </a:lnSpc>
            </a:pPr>
            <a:r>
              <a:rPr lang="en-US" sz="1163">
                <a:solidFill>
                  <a:srgbClr val="C5D4EA"/>
                </a:solidFill>
                <a:latin typeface="Microsoft YaHei"/>
                <a:ea typeface="Microsoft YaHei"/>
              </a:rPr>
              <a:t>03 · Six symbols, and the boundary is one of them</a:t>
            </a:r>
            <a:endParaRPr/>
          </a:p>
        </p:txBody>
      </p:sp>
      <p:sp>
        <p:nvSpPr>
          <p:cNvPr id="736" name=""/>
          <p:cNvSpPr/>
          <p:nvPr/>
        </p:nvSpPr>
        <p:spPr>
          <a:xfrm rot="0" flipH="0" flipV="0">
            <a:off x="6000750" y="3943350"/>
            <a:ext cx="66675" cy="66675"/>
          </a:xfrm>
          <a:prstGeom prst="roundRect">
            <a:avLst>
              <a:gd name="adj" fmla="val 57143"/>
            </a:avLst>
          </a:prstGeom>
          <a:solidFill>
            <a:srgbClr val="3D7BD9"/>
          </a:solidFill>
          <a:ln/>
        </p:spPr>
        <p:txBody>
          <a:bodyPr/>
          <a:p/>
        </p:txBody>
      </p:sp>
      <p:sp>
        <p:nvSpPr>
          <p:cNvPr id="737" name="" descr="{&quot;isTemplate&quot;:true,&quot;type&quot;:&quot;text&quot;}"/>
          <p:cNvSpPr txBox="1"/>
          <p:nvPr/>
        </p:nvSpPr>
        <p:spPr>
          <a:xfrm rot="0" flipH="0" flipV="0">
            <a:off x="6162675" y="3886200"/>
            <a:ext cx="3000375" cy="180975"/>
          </a:xfrm>
          <a:prstGeom prst="rect"/>
        </p:spPr>
        <p:txBody>
          <a:bodyPr wrap="none" lIns="0" tIns="0" rIns="0" bIns="0"/>
          <a:p>
            <a:pPr>
              <a:lnSpc>
                <a:spcPct val="100000"/>
              </a:lnSpc>
            </a:pPr>
            <a:r>
              <a:rPr lang="en-US" sz="1163">
                <a:solidFill>
                  <a:srgbClr val="C5D4EA"/>
                </a:solidFill>
                <a:latin typeface="Microsoft YaHei"/>
                <a:ea typeface="Microsoft YaHei"/>
              </a:rPr>
              <a:t>04 · include is inevitable, extend is conditional</a:t>
            </a:r>
            <a:endParaRPr/>
          </a:p>
        </p:txBody>
      </p:sp>
      <p:sp>
        <p:nvSpPr>
          <p:cNvPr id="738" name=""/>
          <p:cNvSpPr/>
          <p:nvPr/>
        </p:nvSpPr>
        <p:spPr>
          <a:xfrm rot="0" flipH="0" flipV="0">
            <a:off x="762000" y="4238625"/>
            <a:ext cx="66675" cy="66675"/>
          </a:xfrm>
          <a:prstGeom prst="roundRect">
            <a:avLst>
              <a:gd name="adj" fmla="val 57143"/>
            </a:avLst>
          </a:prstGeom>
          <a:solidFill>
            <a:srgbClr val="3D7BD9"/>
          </a:solidFill>
          <a:ln/>
        </p:spPr>
        <p:txBody>
          <a:bodyPr/>
          <a:p/>
        </p:txBody>
      </p:sp>
      <p:sp>
        <p:nvSpPr>
          <p:cNvPr id="739" name="" descr="{&quot;isTemplate&quot;:true,&quot;type&quot;:&quot;text&quot;}"/>
          <p:cNvSpPr txBox="1"/>
          <p:nvPr/>
        </p:nvSpPr>
        <p:spPr>
          <a:xfrm rot="0" flipH="0" flipV="0">
            <a:off x="923925" y="4181475"/>
            <a:ext cx="3267075" cy="180975"/>
          </a:xfrm>
          <a:prstGeom prst="rect"/>
        </p:spPr>
        <p:txBody>
          <a:bodyPr wrap="none" lIns="0" tIns="0" rIns="0" bIns="0"/>
          <a:p>
            <a:pPr>
              <a:lnSpc>
                <a:spcPct val="100000"/>
              </a:lnSpc>
            </a:pPr>
            <a:r>
              <a:rPr lang="en-US" sz="1163">
                <a:solidFill>
                  <a:srgbClr val="C5D4EA"/>
                </a:solidFill>
                <a:latin typeface="Microsoft YaHei"/>
                <a:ea typeface="Microsoft YaHei"/>
              </a:rPr>
              <a:t>05 · Events and the noun-verb scan find the goals</a:t>
            </a:r>
            <a:endParaRPr/>
          </a:p>
        </p:txBody>
      </p:sp>
      <p:sp>
        <p:nvSpPr>
          <p:cNvPr id="740" name=""/>
          <p:cNvSpPr/>
          <p:nvPr/>
        </p:nvSpPr>
        <p:spPr>
          <a:xfrm rot="0" flipH="0" flipV="0">
            <a:off x="6000750" y="4238625"/>
            <a:ext cx="66675" cy="66675"/>
          </a:xfrm>
          <a:prstGeom prst="roundRect">
            <a:avLst>
              <a:gd name="adj" fmla="val 57143"/>
            </a:avLst>
          </a:prstGeom>
          <a:solidFill>
            <a:srgbClr val="3D7BD9"/>
          </a:solidFill>
          <a:ln/>
        </p:spPr>
        <p:txBody>
          <a:bodyPr/>
          <a:p/>
        </p:txBody>
      </p:sp>
      <p:sp>
        <p:nvSpPr>
          <p:cNvPr id="741" name="" descr="{&quot;isTemplate&quot;:true,&quot;type&quot;:&quot;text&quot;}"/>
          <p:cNvSpPr txBox="1"/>
          <p:nvPr/>
        </p:nvSpPr>
        <p:spPr>
          <a:xfrm rot="0" flipH="0" flipV="0">
            <a:off x="6162675" y="4181475"/>
            <a:ext cx="3124200" cy="180975"/>
          </a:xfrm>
          <a:prstGeom prst="rect"/>
        </p:spPr>
        <p:txBody>
          <a:bodyPr wrap="none" lIns="0" tIns="0" rIns="0" bIns="0"/>
          <a:p>
            <a:pPr>
              <a:lnSpc>
                <a:spcPct val="100000"/>
              </a:lnSpc>
            </a:pPr>
            <a:r>
              <a:rPr lang="en-US" sz="1163">
                <a:solidFill>
                  <a:srgbClr val="C5D4EA"/>
                </a:solidFill>
                <a:latin typeface="Microsoft YaHei"/>
                <a:ea typeface="Microsoft YaHei"/>
              </a:rPr>
              <a:t>06 · M1 opened today — tag it m1 by 4 October</a:t>
            </a:r>
            <a:endParaRPr/>
          </a:p>
        </p:txBody>
      </p:sp>
      <p:sp>
        <p:nvSpPr>
          <p:cNvPr id="742" name=""/>
          <p:cNvSpPr/>
          <p:nvPr/>
        </p:nvSpPr>
        <p:spPr>
          <a:xfrm rot="0" flipH="0" flipV="0">
            <a:off x="762000" y="4648200"/>
            <a:ext cx="10668000" cy="647700"/>
          </a:xfrm>
          <a:custGeom>
            <a:pathLst>
              <a:path w="1120" h="68">
                <a:moveTo>
                  <a:pt x="0" y="0"/>
                </a:moveTo>
                <a:lnTo>
                  <a:pt x="1120" y="0"/>
                </a:lnTo>
                <a:lnTo>
                  <a:pt x="1120" y="1"/>
                </a:lnTo>
                <a:lnTo>
                  <a:pt x="0" y="1"/>
                </a:lnTo>
                <a:close/>
              </a:path>
            </a:pathLst>
          </a:custGeom>
          <a:solidFill>
            <a:srgbClr val="2B5793"/>
          </a:solidFill>
          <a:ln/>
        </p:spPr>
        <p:txBody>
          <a:bodyPr/>
          <a:p/>
        </p:txBody>
      </p:sp>
      <p:sp>
        <p:nvSpPr>
          <p:cNvPr id="743" name="" descr="{&quot;isTemplate&quot;:true,&quot;type&quot;:&quot;text&quot;}"/>
          <p:cNvSpPr txBox="1"/>
          <p:nvPr/>
        </p:nvSpPr>
        <p:spPr>
          <a:xfrm rot="0" flipH="0" flipV="0">
            <a:off x="762000" y="4848225"/>
            <a:ext cx="9458325" cy="161925"/>
          </a:xfrm>
          <a:prstGeom prst="rect"/>
        </p:spPr>
        <p:txBody>
          <a:bodyPr wrap="none" lIns="0" tIns="0" rIns="0" bIns="0"/>
          <a:p>
            <a:pPr>
              <a:lnSpc>
                <a:spcPct val="100000"/>
              </a:lnSpc>
            </a:pPr>
            <a:r>
              <a:rPr lang="en-US" sz="1050" spc="75">
                <a:solidFill>
                  <a:srgbClr val="7FA2D6"/>
                </a:solidFill>
                <a:latin typeface="Microsoft YaHei"/>
                <a:ea typeface="Microsoft YaHei"/>
              </a:rPr>
              <a:t>NEXT WEEK — W05</a:t>
            </a:r>
            <a:endParaRPr/>
          </a:p>
        </p:txBody>
      </p:sp>
      <p:sp>
        <p:nvSpPr>
          <p:cNvPr id="744" name="" descr="{&quot;isTemplate&quot;:true,&quot;type&quot;:&quot;text&quot;}"/>
          <p:cNvSpPr txBox="1"/>
          <p:nvPr/>
        </p:nvSpPr>
        <p:spPr>
          <a:xfrm rot="0" flipH="0" flipV="0">
            <a:off x="762000" y="5067300"/>
            <a:ext cx="9458325" cy="219075"/>
          </a:xfrm>
          <a:prstGeom prst="rect"/>
        </p:spPr>
        <p:txBody>
          <a:bodyPr wrap="none" lIns="0" tIns="0" rIns="0" bIns="0"/>
          <a:p>
            <a:pPr>
              <a:lnSpc>
                <a:spcPct val="100000"/>
              </a:lnSpc>
            </a:pPr>
            <a:r>
              <a:rPr lang="en-US" sz="1425" b="1">
                <a:solidFill>
                  <a:srgbClr val="FFFFFF"/>
                </a:solidFill>
                <a:latin typeface="Microsoft YaHei"/>
                <a:ea typeface="Microsoft YaHei"/>
              </a:rPr>
              <a:t>Writing the Use Case — and being reviewed by the client</a:t>
            </a:r>
            <a:endParaRPr/>
          </a:p>
        </p:txBody>
      </p:sp>
      <p:sp>
        <p:nvSpPr>
          <p:cNvPr id="745" name=""/>
          <p:cNvSpPr/>
          <p:nvPr/>
        </p:nvSpPr>
        <p:spPr>
          <a:xfrm rot="0" flipH="0" flipV="0">
            <a:off x="10220325" y="4886325"/>
            <a:ext cx="1209675" cy="361950"/>
          </a:xfrm>
          <a:prstGeom prst="roundRect">
            <a:avLst>
              <a:gd name="adj" fmla="val 57895"/>
            </a:avLst>
          </a:prstGeom>
          <a:solidFill>
            <a:srgbClr val="1E4FA8"/>
          </a:solidFill>
          <a:ln/>
        </p:spPr>
        <p:txBody>
          <a:bodyPr/>
          <a:p/>
        </p:txBody>
      </p:sp>
      <p:sp>
        <p:nvSpPr>
          <p:cNvPr id="746" name="" descr="{&quot;isTemplate&quot;:true,&quot;type&quot;:&quot;text&quot;}"/>
          <p:cNvSpPr txBox="1"/>
          <p:nvPr/>
        </p:nvSpPr>
        <p:spPr>
          <a:xfrm rot="0" flipH="0" flipV="0">
            <a:off x="10429875" y="4981575"/>
            <a:ext cx="790575" cy="171450"/>
          </a:xfrm>
          <a:prstGeom prst="rect"/>
        </p:spPr>
        <p:txBody>
          <a:bodyPr wrap="none" lIns="0" tIns="0" rIns="0" bIns="0"/>
          <a:p>
            <a:pPr>
              <a:lnSpc>
                <a:spcPct val="100000"/>
              </a:lnSpc>
            </a:pPr>
            <a:r>
              <a:rPr lang="en-US" sz="1125" b="1">
                <a:solidFill>
                  <a:srgbClr val="FFFFFF"/>
                </a:solidFill>
                <a:latin typeface="Microsoft YaHei"/>
                <a:ea typeface="Microsoft YaHei"/>
              </a:rPr>
              <a:t>Questions?</a:t>
            </a:r>
            <a:endParaRPr/>
          </a:p>
        </p:txBody>
      </p:sp>
      <p:sp>
        <p:nvSpPr>
          <p:cNvPr id="747" name=""/>
          <p:cNvSpPr/>
          <p:nvPr/>
        </p:nvSpPr>
        <p:spPr>
          <a:xfrm rot="0" flipH="0" flipV="0">
            <a:off x="0" y="0"/>
            <a:ext cx="12192000" cy="76200"/>
          </a:xfrm>
          <a:prstGeom prst="rect">
            <a:avLst/>
          </a:prstGeom>
          <a:solidFill>
            <a:srgbClr val="1E4FA8"/>
          </a:solidFill>
          <a:ln/>
        </p:spPr>
        <p:txBody>
          <a:bodyP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等线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theme>
</file>

<file path=docProps/app.xml><?xml version="1.0" encoding="utf-8"?>
<Properties xmlns:vt="http://schemas.openxmlformats.org/officeDocument/2006/docPropsVTypes" xmlns="http://schemas.openxmlformats.org/officeDocument/2006/extended-properties">
  <Application>Tencent office</Application>
</Properties>
</file>

<file path=docProps/core.xml><?xml version="1.0" encoding="utf-8"?>
<cp:coreProperties xmlns:xsi="http://www.w3.org/2001/XMLSchema-instance" xmlns:dcmitype="http://purl.org/dc/dcmitype/" xmlns:dcterms="http://purl.org/dc/terms/" xmlns:dc="http://purl.org/dc/elements/1.1/" xmlns:cp="http://schemas.openxmlformats.org/package/2006/metadata/core-properties">
  <dcterms:created xsi:type="dcterms:W3CDTF">2026-09-09T16:11:59Z</dcterms:created>
  <dcterms:modified xsi:type="dcterms:W3CDTF">2026-09-09T16:11:59Z</dcterms:modified>
</cp:coreProperties>
</file>
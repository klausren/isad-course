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0.xml" ContentType="application/vnd.openxmlformats-officedocument.presentationml.slide+xml"/>
  <Override PartName="/docProps/core.xml" ContentType="application/vnd.openxmlformats-package.core-properties+xml"/>
  <Override PartName="/ppt/slides/slide18.xml" ContentType="application/vnd.openxmlformats-officedocument.presentationml.slide+xml"/>
  <Override PartName="/ppt/slides/slide38.xml" ContentType="application/vnd.openxmlformats-officedocument.presentationml.slide+xml"/>
  <Override PartName="/ppt/slides/slide3.xml" ContentType="application/vnd.openxmlformats-officedocument.presentationml.slide+xml"/>
  <Override PartName="/ppt/slides/slide16.xml" ContentType="application/vnd.openxmlformats-officedocument.presentationml.slide+xml"/>
  <Override PartName="/ppt/slides/slide23.xml" ContentType="application/vnd.openxmlformats-officedocument.presentationml.slide+xml"/>
  <Override PartName="/ppt/slides/slide13.xml" ContentType="application/vnd.openxmlformats-officedocument.presentationml.slide+xml"/>
  <Override PartName="/ppt/slides/slide1.xml" ContentType="application/vnd.openxmlformats-officedocument.presentationml.slide+xml"/>
  <Override PartName="/ppt/slides/slide27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29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slides/slide25.xml" ContentType="application/vnd.openxmlformats-officedocument.presentationml.slide+xml"/>
  <Override PartName="/ppt/tableStyles.xml" ContentType="application/vnd.openxmlformats-officedocument.presentationml.tableStyles+xml"/>
  <Override PartName="/ppt/slides/slide5.xml" ContentType="application/vnd.openxmlformats-officedocument.presentationml.slide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33.xml" ContentType="application/vnd.openxmlformats-officedocument.presentationml.slide+xml"/>
  <Override PartName="/ppt/slides/slide37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slides/slide32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35.xml" ContentType="application/vnd.openxmlformats-officedocument.presentationml.slide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8" Type="http://schemas.openxmlformats.org/officeDocument/2006/relationships/slide" Target="slides/slide8.xml" /><Relationship Id="rId40" Type="http://schemas.openxmlformats.org/officeDocument/2006/relationships/presProps" Target="presProps.xml" /><Relationship Id="rId39" Type="http://schemas.openxmlformats.org/officeDocument/2006/relationships/notesMaster" Target="notesMasters/notesMaster1.xml" /><Relationship Id="rId37" Type="http://schemas.openxmlformats.org/officeDocument/2006/relationships/slide" Target="slides/slide37.xml" /><Relationship Id="rId7" Type="http://schemas.openxmlformats.org/officeDocument/2006/relationships/slide" Target="slides/slide7.xml" /><Relationship Id="rId36" Type="http://schemas.openxmlformats.org/officeDocument/2006/relationships/slide" Target="slides/slide36.xml" /><Relationship Id="rId35" Type="http://schemas.openxmlformats.org/officeDocument/2006/relationships/slide" Target="slides/slide35.xml" /><Relationship Id="rId34" Type="http://schemas.openxmlformats.org/officeDocument/2006/relationships/slide" Target="slides/slide34.xml" /><Relationship Id="rId31" Type="http://schemas.openxmlformats.org/officeDocument/2006/relationships/slide" Target="slides/slide31.xml" /><Relationship Id="rId38" Type="http://schemas.openxmlformats.org/officeDocument/2006/relationships/slide" Target="slides/slide38.xml" /><Relationship Id="rId18" Type="http://schemas.openxmlformats.org/officeDocument/2006/relationships/slide" Target="slides/slide18.xml" /><Relationship Id="rId20" Type="http://schemas.openxmlformats.org/officeDocument/2006/relationships/slide" Target="slides/slide20.xml" /><Relationship Id="rId25" Type="http://schemas.openxmlformats.org/officeDocument/2006/relationships/slide" Target="slides/slide25.xml" /><Relationship Id="rId29" Type="http://schemas.openxmlformats.org/officeDocument/2006/relationships/slide" Target="slides/slide29.xml" /><Relationship Id="rId6" Type="http://schemas.openxmlformats.org/officeDocument/2006/relationships/slide" Target="slides/slide6.xml" /><Relationship Id="rId24" Type="http://schemas.openxmlformats.org/officeDocument/2006/relationships/slide" Target="slides/slide24.xml" /><Relationship Id="rId22" Type="http://schemas.openxmlformats.org/officeDocument/2006/relationships/slide" Target="slides/slide22.xml" /><Relationship Id="rId32" Type="http://schemas.openxmlformats.org/officeDocument/2006/relationships/slide" Target="slides/slide32.xml" /><Relationship Id="rId21" Type="http://schemas.openxmlformats.org/officeDocument/2006/relationships/slide" Target="slides/slide21.xml" /><Relationship Id="rId11" Type="http://schemas.openxmlformats.org/officeDocument/2006/relationships/slide" Target="slides/slide11.xml" /><Relationship Id="rId2" Type="http://schemas.openxmlformats.org/officeDocument/2006/relationships/slide" Target="slides/slide2.xml" /><Relationship Id="rId27" Type="http://schemas.openxmlformats.org/officeDocument/2006/relationships/slide" Target="slides/slide27.xml" /><Relationship Id="rId19" Type="http://schemas.openxmlformats.org/officeDocument/2006/relationships/slide" Target="slides/slide19.xml" /><Relationship Id="rId5" Type="http://schemas.openxmlformats.org/officeDocument/2006/relationships/slide" Target="slides/slide5.xml" /><Relationship Id="rId1" Type="http://schemas.openxmlformats.org/officeDocument/2006/relationships/slide" Target="slides/slide1.xml" /><Relationship Id="rId17" Type="http://schemas.openxmlformats.org/officeDocument/2006/relationships/slide" Target="slides/slide17.xml" /><Relationship Id="rId13" Type="http://schemas.openxmlformats.org/officeDocument/2006/relationships/slide" Target="slides/slide13.xml" /><Relationship Id="rId23" Type="http://schemas.openxmlformats.org/officeDocument/2006/relationships/slide" Target="slides/slide23.xml" /><Relationship Id="rId4" Type="http://schemas.openxmlformats.org/officeDocument/2006/relationships/slide" Target="slides/slide4.xml" /><Relationship Id="rId33" Type="http://schemas.openxmlformats.org/officeDocument/2006/relationships/slide" Target="slides/slide33.xml" /><Relationship Id="rId14" Type="http://schemas.openxmlformats.org/officeDocument/2006/relationships/slide" Target="slides/slide14.xml" /><Relationship Id="rId41" Type="http://schemas.openxmlformats.org/officeDocument/2006/relationships/tableStyles" Target="tableStyles.xml" /><Relationship Id="rId12" Type="http://schemas.openxmlformats.org/officeDocument/2006/relationships/slide" Target="slides/slide12.xml" /><Relationship Id="rId16" Type="http://schemas.openxmlformats.org/officeDocument/2006/relationships/slide" Target="slides/slide16.xml" /><Relationship Id="rId15" Type="http://schemas.openxmlformats.org/officeDocument/2006/relationships/slide" Target="slides/slide15.xml" /><Relationship Id="rId30" Type="http://schemas.openxmlformats.org/officeDocument/2006/relationships/slide" Target="slides/slide30.xml" /><Relationship Id="rId28" Type="http://schemas.openxmlformats.org/officeDocument/2006/relationships/slide" Target="slides/slide28.xml" /><Relationship Id="rId26" Type="http://schemas.openxmlformats.org/officeDocument/2006/relationships/slide" Target="slides/slide26.xml" /><Relationship Id="rId42" Type="http://schemas.openxmlformats.org/officeDocument/2006/relationships/viewProps" Target="viewProps.xml" /><Relationship Id="rId10" Type="http://schemas.openxmlformats.org/officeDocument/2006/relationships/slide" Target="slides/slide10.xml" /><Relationship Id="rId3" Type="http://schemas.openxmlformats.org/officeDocument/2006/relationships/slide" Target="slides/slide3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4" Type="http://schemas.openxmlformats.org/officeDocument/2006/relationships/image" Target="media/image26.svg" /><Relationship Id="rId3" Type="http://schemas.openxmlformats.org/officeDocument/2006/relationships/image" Target="media/image25.svg" /><Relationship Id="rId5" Type="http://schemas.openxmlformats.org/officeDocument/2006/relationships/image" Target="media/image27.svg" /><Relationship Id="rId2" Type="http://schemas.openxmlformats.org/officeDocument/2006/relationships/image" Target="media/image2.svg" /><Relationship Id="rId1" Type="http://schemas.openxmlformats.org/officeDocument/2006/relationships/image" Target="media/image24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28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3" Type="http://schemas.openxmlformats.org/officeDocument/2006/relationships/image" Target="media/image31.svg" /><Relationship Id="rId1" Type="http://schemas.openxmlformats.org/officeDocument/2006/relationships/image" Target="media/image29.svg" /><Relationship Id="rId2" Type="http://schemas.openxmlformats.org/officeDocument/2006/relationships/image" Target="media/image30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32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3" Type="http://schemas.openxmlformats.org/officeDocument/2006/relationships/image" Target="media/image3.svg" /><Relationship Id="rId2" Type="http://schemas.openxmlformats.org/officeDocument/2006/relationships/image" Target="media/image2.svg" /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2" Type="http://schemas.openxmlformats.org/officeDocument/2006/relationships/image" Target="media/image5.svg" /><Relationship Id="rId1" Type="http://schemas.openxmlformats.org/officeDocument/2006/relationships/image" Target="media/image4.svg" /><Relationship Id="rId3" Type="http://schemas.openxmlformats.org/officeDocument/2006/relationships/image" Target="media/image3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media/image8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image" Target="media/image9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image" Target="media/image10.svg" /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3" Type="http://schemas.openxmlformats.org/officeDocument/2006/relationships/image" Target="media/image13.svg" /><Relationship Id="rId2" Type="http://schemas.openxmlformats.org/officeDocument/2006/relationships/image" Target="media/image12.svg" /><Relationship Id="rId1" Type="http://schemas.openxmlformats.org/officeDocument/2006/relationships/image" Target="media/image11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image" Target="media/image15.svg" /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image" Target="media/image16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image" Target="media/image17.svg" /><Relationship Id="rId3" Type="http://schemas.openxmlformats.org/officeDocument/2006/relationships/image" Target="media/image19.svg" /><Relationship Id="rId2" Type="http://schemas.openxmlformats.org/officeDocument/2006/relationships/image" Target="media/image18.svg" /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/Relationships>
</file>

<file path=ppt/slides/_rels/slide37.xml.rels><?xml version="1.0" encoding="UTF-8" standalone="yes"?><Relationships xmlns="http://schemas.openxmlformats.org/package/2006/relationships"><Relationship Id="rId3" Type="http://schemas.openxmlformats.org/officeDocument/2006/relationships/image" Target="media/image23.svg" /><Relationship Id="rId1" Type="http://schemas.openxmlformats.org/officeDocument/2006/relationships/image" Target="media/image21.svg" /><Relationship Id="rId2" Type="http://schemas.openxmlformats.org/officeDocument/2006/relationships/image" Target="media/image22.svg" /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Box style={{ flexDirection: 'row', alignItems: 'center', gap: 14, marginBottom: 30 }}&gt;&#10;      &lt;Box style={{ padding: '7px 18px', background: '#3D7BD9', borderRadius: 18 }}&gt;&#10;        &lt;Text style={{ fontSize: 16, color: '#FFFFFF', fontWeight: 'bold', letterSpacing: 2 }}&gt;ISAD · WEEK 04&lt;/Text&gt;&#10;      &lt;/Box&gt;&#10;      &lt;Box style={{ width: 56, height: 1, background: '#5B84C4' }} /&gt;&#10;      &lt;Text style={{ fontSize: 16, color: '#7FA2D6', letterSpacing: 1 }}&gt;MODULE B · OO ANALYSIS&lt;/Text&gt;&#10;    &lt;/Box&gt;&#10;    &lt;Text style={{ fontSize: 56, fontWeight: 'bold', color: '#FFFFFF', fontFamily: 'Georgia, serif', lineHeight: 1.12 }}&gt;&#10;      Requirements&#10;      &lt;br /&gt;&#10;      &amp;amp; Use Case Modeling&#10;    &lt;/Text&gt;&#10;    &lt;Box style={{ width: 88, height: 5, background: '#FFC107', marginTop: 28, marginBottom: 22 }} /&gt;&#10;    &lt;Text style={{ fontSize: 26, color: '#B9CDF0', lineHeight: 1.45 }}&gt;&#10;      Where the Requirements Pack Lands on Your Desk — and Becomes a Model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Ren Zheng · School of Software Engineering&lt;/Text&gt;&#10;      &lt;Text style={{ fontSize: 17, color: '#C5D4EA' }}&gt;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92405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9072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04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8597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90725"/>
            <a:ext cx="2171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B · OO ANALYSIS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33650"/>
            <a:ext cx="10668000" cy="1438275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200" b="1">
                <a:solidFill>
                  <a:srgbClr val="FFFFFF"/>
                </a:solidFill>
                <a:latin typeface="Georgia"/>
                <a:ea typeface="Georgia"/>
              </a:rPr>
              <a:t>Requirements</a:t>
            </a:r>
            <a:endParaRPr/>
          </a:p>
          <a:p>
            <a:pPr>
              <a:lnSpc>
                <a:spcPct val="112000"/>
              </a:lnSpc>
            </a:pPr>
            <a:r>
              <a:rPr lang="en-US" sz="4200" b="1">
                <a:solidFill>
                  <a:srgbClr val="FFFFFF"/>
                </a:solidFill>
                <a:latin typeface="Georgia"/>
                <a:ea typeface="Georgia"/>
              </a:rPr>
              <a:t>&amp; Use Case Modeling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38625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495800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Where the Requirements Pack Lands on Your Desk — and Becomes a Model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286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4 · ROADMAP&lt;/Text&gt;&#10;      &lt;/Box&gt;&#10;      &lt;Text style={{ fontSize: 15, color: '#5B84C4', lineHeight: 1.5 }}&gt;Requirements&lt;br /&gt;&amp;amp; Use Case Modeling&lt;/Text&gt;&#10;    &lt;/Box&gt;&#10;    &lt;Box style={{ flex: 1, padding: '50px 56px', flexDirection: 'column', gap: 15 }}&gt;&#10;      {[&#10;        { n: '01', t: 'Requirements, Briefly', p: '03' },&#10;        { n: '02', t: 'Actors &amp;amp; Goals', p: '08' },&#10;        { n: '03', t: 'The Use Case Diagram', p: '14' },&#10;        { n: '04', t: 'Include vs. Extend', p: '20' },&#10;        { n: '05', t: 'Finding Use Cases', p: '24' },&#10;        { n: '06', t: 'Lab — Exercise 4.1, 4.2 &amp;amp; M1', p: '30' },&#10;      ].map((item) =&gt; (&#10;        &lt;Box key={item.n} style={{ flexDirection: 'row', alignItems: 'center', gap: 20, padding: '14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0, color: '#1A2230', fontWeight: '600' }}&gt;{item.t}&lt;/Text&gt;&#10;          &lt;Text style={{ fontSize: 20, color: '#8B97A8', fontWeight: 'bold' }}&gt;{item.p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8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9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04 · ROADMAP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Requirements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&amp; Use Case Modeling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3581400" y="476250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4" name=""/>
          <p:cNvSpPr/>
          <p:nvPr/>
        </p:nvSpPr>
        <p:spPr>
          <a:xfrm rot="0" flipH="0" flipV="0">
            <a:off x="3771900" y="6096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3905250" y="7334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4457700" y="742950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Requirements, Briefly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11249025" y="7429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3581400" y="1381125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9" name=""/>
          <p:cNvSpPr/>
          <p:nvPr/>
        </p:nvSpPr>
        <p:spPr>
          <a:xfrm rot="0" flipH="0" flipV="0">
            <a:off x="3771900" y="1514475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3905250" y="1638300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4457700" y="1647825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Actors &amp;amp; Goals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1249025" y="1647825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08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3581400" y="2286000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04" name=""/>
          <p:cNvSpPr/>
          <p:nvPr/>
        </p:nvSpPr>
        <p:spPr>
          <a:xfrm rot="0" flipH="0" flipV="0">
            <a:off x="3771900" y="2419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3905250" y="2543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4457700" y="2552700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The Use Case Diagram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11249025" y="2552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14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3581400" y="3190875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09" name=""/>
          <p:cNvSpPr/>
          <p:nvPr/>
        </p:nvSpPr>
        <p:spPr>
          <a:xfrm rot="0" flipH="0" flipV="0">
            <a:off x="3771900" y="3324225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3905250" y="3448050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4457700" y="3457575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Include vs. Extend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11249025" y="3457575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3581400" y="4095750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4" name=""/>
          <p:cNvSpPr/>
          <p:nvPr/>
        </p:nvSpPr>
        <p:spPr>
          <a:xfrm rot="0" flipH="0" flipV="0">
            <a:off x="3771900" y="42291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3905250" y="43529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4457700" y="4362450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Finding Use Cases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11249025" y="43624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24</a:t>
            </a:r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3581400" y="5000625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9" name=""/>
          <p:cNvSpPr/>
          <p:nvPr/>
        </p:nvSpPr>
        <p:spPr>
          <a:xfrm rot="0" flipH="0" flipV="0">
            <a:off x="3771900" y="5133975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3905250" y="5257800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4457700" y="5267325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Lab — Exercise 4.1, 4.2 &amp;amp; M1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11249025" y="5267325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30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54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1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Requirements,&lt;br /&gt;Briefly&lt;/Text&gt;&#10;      &lt;Box style={{ width: 64, height: 4, background: '#FFC107', marginTop: 26, marginBottom: 26 }} /&gt;&#10;      &lt;Box style={{ flexDirection: 'column', gap: 12 }}&gt;&#10;        {[&#10;          'The requirements pack arrives today',&#10;          'Functional says what, non-functional says how well',&#10;          'A requirement you cannot test is not a requirement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Requirements,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Briefly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50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095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requirements pack arrives today</a:t>
            </a:r>
            <a:endParaRPr/>
          </a:p>
        </p:txBody>
      </p:sp>
      <p:sp>
        <p:nvSpPr>
          <p:cNvPr id="552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4314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Functional says what, non-functional says how well</a:t>
            </a:r>
            <a:endParaRPr/>
          </a:p>
        </p:txBody>
      </p:sp>
      <p:sp>
        <p:nvSpPr>
          <p:cNvPr id="554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4286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requirement you cannot test is not a requirement</a:t>
            </a:r>
            <a:endParaRPr/>
          </a:p>
        </p:txBody>
      </p:sp>
      <p:sp>
        <p:nvSpPr>
          <p:cNvPr id="55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4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REQUIREMENTS&lt;/Text&gt;&#10;  &lt;/Box&gt;&#10;  &lt;Box style={{ padding: '14px 40px 0 40px', flexDirection: 'row', alignItems: 'center', justifyContent: 'space-between' }}&gt;&#10;    &lt;Text style={{ fontSize: 30, fontWeight: 'bold', color: '#0E3F8C' }}&gt;The Requirements Pack Arrives&lt;/Text&gt;&#10;    &lt;Text style={{ fontSize: 14, color: '#1E4FA8', fontWeight: 'bold' }}&gt;04 / 38&lt;/Text&gt;&#10;  &lt;/Box&gt;&#10;  &lt;Box style={{ flex: 1, padding: '10px 40px 0 40px', flexDirection: 'row', gap: 26 }}&gt;&#10;    &lt;Box style={{ flex: 3, flexDirection: 'column', gap: 10 }}&gt;&#10;      &lt;Text style={{ fontSize: 16, color: '#0E3F8C', fontWeight: 'bold', marginBottom: 2 }}&gt;What is in the pack&lt;/Text&gt;&#10;      {[&#10;        ['file-lines', 'Vision', 'One paragraph: who this is for, what problem it solves, and why it is worth building.'],&#10;        ['users', 'Stakeholder list', 'Six kinds of people and systems with a stake in CampusBites — you met them in Week 01.'],&#10;        ['list-check', 'About 20 functional requirements', 'The things the system must do, written as short statements.'],&#10;        ['gauge-high', 'Non-functional requirements', 'How well it must do them: speed, scale, availability, usability.'],&#10;        ['lock', 'Constraints', 'Things you cannot change: the campus card API, the network, the devices.'],&#10;      ].map(([icon, t, d]) =&gt; (&#10;        &lt;Box key={t} style={{ flexDirection: 'row', gap: 12, alignItems: 'flex-start', padding: '11px 14px', background: '#F7F9FC', borderRadius: 9, borderLeft: '3px solid #1E4FA8' }}&gt;&#10;          &lt;Box style={{ width: 32, height: 32, borderRadius: 8, background: '#E8EFF8', justifyContent: 'center', alignItems: 'center' }}&gt;&#10;            &lt;FAIcon name={icon} style={{ fill: '#1E4FA8', width: 15, height: 15 }} /&gt;&#10;          &lt;/Box&gt;&#10;          &lt;Box style={{ flex: 1, flexDirection: 'column', gap: 2 }}&gt;&#10;            &lt;Text style={{ fontSize: 15, fontWeight: 'bold', color: '#0E3F8C' }}&gt;{t}&lt;/Text&gt;&#10;            &lt;Text style={{ fontSize: 12.5, color: '#4A5568', lineHeight: 1.45 }}&gt;{d}&lt;/Text&gt;&#10;          &lt;/Box&gt;&#10;        &lt;/Box&gt;&#10;      ))}&#10;    &lt;/Box&gt;&#10;    &lt;Box style={{ flex: 2, flexDirection: 'column', gap: 12 }}&gt;&#10;      &lt;Box style={{ padding: '16px 18px', background: '#0E3F8C', borderRadius: 10 }}&gt;&#10;        &lt;Text style={{ fontSize: 15, fontWeight: 'bold', color: '#FFC107', marginBottom: 8 }}&gt;Your job this week&lt;/Text&gt;&#10;        &lt;Text style={{ fontSize: 14, color: '#FFFFFF', lineHeight: 1.55 }}&gt;&#10;          Turn twenty sentences of prose into a picture that shows &lt;Text style={{ fontWeight: 'bold' }}&gt;who wants what&lt;/Text&gt; from this system.&#10;        &lt;/Text&gt;&#10;      &lt;/Box&gt;&#10;      {[&#10;        ['1', 'Read the pack', 'Today, in the lab.'],&#10;        ['2', 'Find the actors', 'Who or what touches this system?'],&#10;        ['3', 'Find the use cases', 'What goal does each one reach?'],&#10;        ['4', 'Draw the diagram', 'Boundary, ellipses, lines, two dashed arrows.'],&#10;      ].map(([n, t, d]) =&gt; (&#10;        &lt;Box key={n} style={{ flexDirection: 'row', gap: 12, alignItems: 'flex-start' }}&gt;&#10;          &lt;Box style={{ width: 26, height: 26, borderRadius: 13, background: '#1E4FA8', justifyContent: 'center', alignItems: 'center' }}&gt;&#10;            &lt;Text style={{ fontSize: 13, fontWeight: 'bold', color: '#FFFFFF' }}&gt;{n}&lt;/Text&gt;&#10;          &lt;/Box&gt;&#10;          &lt;Box style={{ flex: 1, flexDirection: 'column' }}&gt;&#10;            &lt;Text style={{ fontSize: 14, fontWeight: 'bold', color: '#1A2230' }}&gt;{t}&lt;/Text&gt;&#10;            &lt;Text style={{ fontSize: 12, color: '#8B97A8' }}&gt;{d}&lt;/Text&gt;&#10;          &lt;/Box&gt;&#10;        &lt;/Box&gt;&#10;      ))}&#10;      &lt;Box style={{ padding: '12px 14px', background: '#F0F5FC', borderRadius: 9, border: '1px dashed #3D7BD9' }}&gt;&#10;        &lt;Text style={{ fontSize: 12.5, color: '#0E3F8C', lineHeight: 1.5 }}&gt;&#10;          &lt;Text style={{ fontWeight: 'bold' }}&gt;Heads up:&lt;/Text&gt; three requirement changes will be injected later this term. Your model must absorb them — that is part of the design grade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the pack is also in 04-项目实践 on the course drive&lt;/Text&gt;&#10;    &lt;Text style={{ fontSize: 14, color: '#1E4FA8', fontWeight: 'bold' }}&gt;0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5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5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52" name="" descr="{&quot;isTemplate&quot;:true,&quot;type&quot;:&quot;text&quot;}"/>
          <p:cNvSpPr txBox="1"/>
          <p:nvPr/>
        </p:nvSpPr>
        <p:spPr>
          <a:xfrm rot="0" flipH="0" flipV="0">
            <a:off x="10229850" y="257175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REQUIREMENTS</a:t>
            </a:r>
            <a:endParaRPr/>
          </a:p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305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The Requirements Pack Arrives</a:t>
            </a:r>
            <a:endParaRPr/>
          </a:p>
        </p:txBody>
      </p:sp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381000" y="1257300"/>
            <a:ext cx="6705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What is in the pack</a:t>
            </a:r>
            <a:endParaRPr/>
          </a:p>
        </p:txBody>
      </p:sp>
      <p:sp>
        <p:nvSpPr>
          <p:cNvPr id="756" name=""/>
          <p:cNvSpPr/>
          <p:nvPr/>
        </p:nvSpPr>
        <p:spPr>
          <a:xfrm rot="0" flipH="0" flipV="0">
            <a:off x="409575" y="1562100"/>
            <a:ext cx="6705600" cy="609600"/>
          </a:xfrm>
          <a:prstGeom prst="roundRect">
            <a:avLst>
              <a:gd name="adj" fmla="val 140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57" name=""/>
          <p:cNvSpPr/>
          <p:nvPr/>
        </p:nvSpPr>
        <p:spPr>
          <a:xfrm rot="0" flipH="0" flipV="0">
            <a:off x="409575" y="1562100"/>
            <a:ext cx="6705600" cy="609600"/>
          </a:xfrm>
          <a:custGeom>
            <a:pathLst>
              <a:path w="704" h="64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58"/>
                </a:lnTo>
                <a:cubicBezTo>
                  <a:pt x="3" y="61"/>
                  <a:pt x="5" y="63"/>
                  <a:pt x="8" y="64"/>
                </a:cubicBezTo>
                <a:cubicBezTo>
                  <a:pt x="3" y="63"/>
                  <a:pt x="0" y="59"/>
                  <a:pt x="0" y="5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58" name=""/>
          <p:cNvSpPr/>
          <p:nvPr/>
        </p:nvSpPr>
        <p:spPr>
          <a:xfrm rot="0" flipH="0" flipV="0">
            <a:off x="542925" y="166687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1752600"/>
            <a:ext cx="142875" cy="142875"/>
          </a:xfrm>
          <a:prstGeom prst="rect">
            <a:avLst/>
          </a:prstGeom>
          <a:ln/>
        </p:spPr>
      </p:pic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962025" y="1666875"/>
            <a:ext cx="599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Vision</a:t>
            </a:r>
            <a:endParaRPr/>
          </a:p>
        </p:txBody>
      </p:sp>
      <p:sp>
        <p:nvSpPr>
          <p:cNvPr id="761" name="" descr="{&quot;isTemplate&quot;:true,&quot;type&quot;:&quot;text&quot;}"/>
          <p:cNvSpPr txBox="1"/>
          <p:nvPr/>
        </p:nvSpPr>
        <p:spPr>
          <a:xfrm rot="0" flipH="0" flipV="0">
            <a:off x="962025" y="1857375"/>
            <a:ext cx="5991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One paragraph: who this is for, what problem it solves, and why it is worth building.</a:t>
            </a:r>
            <a:endParaRPr/>
          </a:p>
        </p:txBody>
      </p:sp>
      <p:sp>
        <p:nvSpPr>
          <p:cNvPr id="762" name=""/>
          <p:cNvSpPr/>
          <p:nvPr/>
        </p:nvSpPr>
        <p:spPr>
          <a:xfrm rot="0" flipH="0" flipV="0">
            <a:off x="409575" y="2266950"/>
            <a:ext cx="6705600" cy="609600"/>
          </a:xfrm>
          <a:prstGeom prst="roundRect">
            <a:avLst>
              <a:gd name="adj" fmla="val 140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63" name=""/>
          <p:cNvSpPr/>
          <p:nvPr/>
        </p:nvSpPr>
        <p:spPr>
          <a:xfrm rot="0" flipH="0" flipV="0">
            <a:off x="409575" y="2266950"/>
            <a:ext cx="6705600" cy="609600"/>
          </a:xfrm>
          <a:custGeom>
            <a:pathLst>
              <a:path w="704" h="64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58"/>
                </a:lnTo>
                <a:cubicBezTo>
                  <a:pt x="3" y="61"/>
                  <a:pt x="5" y="63"/>
                  <a:pt x="8" y="64"/>
                </a:cubicBezTo>
                <a:cubicBezTo>
                  <a:pt x="3" y="63"/>
                  <a:pt x="0" y="59"/>
                  <a:pt x="0" y="5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64" name=""/>
          <p:cNvSpPr/>
          <p:nvPr/>
        </p:nvSpPr>
        <p:spPr>
          <a:xfrm rot="0" flipH="0" flipV="0">
            <a:off x="542925" y="237172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28650" y="2457450"/>
            <a:ext cx="142875" cy="142875"/>
          </a:xfrm>
          <a:prstGeom prst="rect">
            <a:avLst/>
          </a:prstGeom>
          <a:ln/>
        </p:spPr>
      </p:pic>
      <p:sp>
        <p:nvSpPr>
          <p:cNvPr id="766" name="" descr="{&quot;isTemplate&quot;:true,&quot;type&quot;:&quot;text&quot;}"/>
          <p:cNvSpPr txBox="1"/>
          <p:nvPr/>
        </p:nvSpPr>
        <p:spPr>
          <a:xfrm rot="0" flipH="0" flipV="0">
            <a:off x="962025" y="2371725"/>
            <a:ext cx="599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Stakeholder list</a:t>
            </a:r>
            <a:endParaRPr/>
          </a:p>
        </p:txBody>
      </p:sp>
      <p:sp>
        <p:nvSpPr>
          <p:cNvPr id="767" name="" descr="{&quot;isTemplate&quot;:true,&quot;type&quot;:&quot;text&quot;}"/>
          <p:cNvSpPr txBox="1"/>
          <p:nvPr/>
        </p:nvSpPr>
        <p:spPr>
          <a:xfrm rot="0" flipH="0" flipV="0">
            <a:off x="962025" y="2562225"/>
            <a:ext cx="5991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Six kinds of people and systems with a stake in CampusBites — you met them in Week 01.</a:t>
            </a:r>
            <a:endParaRPr/>
          </a:p>
        </p:txBody>
      </p:sp>
      <p:sp>
        <p:nvSpPr>
          <p:cNvPr id="768" name=""/>
          <p:cNvSpPr/>
          <p:nvPr/>
        </p:nvSpPr>
        <p:spPr>
          <a:xfrm rot="0" flipH="0" flipV="0">
            <a:off x="409575" y="2971800"/>
            <a:ext cx="6705600" cy="609600"/>
          </a:xfrm>
          <a:prstGeom prst="roundRect">
            <a:avLst>
              <a:gd name="adj" fmla="val 140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69" name=""/>
          <p:cNvSpPr/>
          <p:nvPr/>
        </p:nvSpPr>
        <p:spPr>
          <a:xfrm rot="0" flipH="0" flipV="0">
            <a:off x="409575" y="2971800"/>
            <a:ext cx="6705600" cy="609600"/>
          </a:xfrm>
          <a:custGeom>
            <a:pathLst>
              <a:path w="704" h="64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58"/>
                </a:lnTo>
                <a:cubicBezTo>
                  <a:pt x="3" y="61"/>
                  <a:pt x="5" y="63"/>
                  <a:pt x="8" y="64"/>
                </a:cubicBezTo>
                <a:cubicBezTo>
                  <a:pt x="3" y="63"/>
                  <a:pt x="0" y="59"/>
                  <a:pt x="0" y="5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0" name=""/>
          <p:cNvSpPr/>
          <p:nvPr/>
        </p:nvSpPr>
        <p:spPr>
          <a:xfrm rot="0" flipH="0" flipV="0">
            <a:off x="542925" y="307657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7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28650" y="3162300"/>
            <a:ext cx="142875" cy="142875"/>
          </a:xfrm>
          <a:prstGeom prst="rect">
            <a:avLst/>
          </a:prstGeom>
          <a:ln/>
        </p:spPr>
      </p:pic>
      <p:sp>
        <p:nvSpPr>
          <p:cNvPr id="772" name="" descr="{&quot;isTemplate&quot;:true,&quot;type&quot;:&quot;text&quot;}"/>
          <p:cNvSpPr txBox="1"/>
          <p:nvPr/>
        </p:nvSpPr>
        <p:spPr>
          <a:xfrm rot="0" flipH="0" flipV="0">
            <a:off x="962025" y="3076575"/>
            <a:ext cx="599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About 20 functional requirements</a:t>
            </a:r>
            <a:endParaRPr/>
          </a:p>
        </p:txBody>
      </p:sp>
      <p:sp>
        <p:nvSpPr>
          <p:cNvPr id="773" name="" descr="{&quot;isTemplate&quot;:true,&quot;type&quot;:&quot;text&quot;}"/>
          <p:cNvSpPr txBox="1"/>
          <p:nvPr/>
        </p:nvSpPr>
        <p:spPr>
          <a:xfrm rot="0" flipH="0" flipV="0">
            <a:off x="962025" y="3267075"/>
            <a:ext cx="5991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The things the system must do, written as short statements.</a:t>
            </a:r>
            <a:endParaRPr/>
          </a:p>
        </p:txBody>
      </p:sp>
      <p:sp>
        <p:nvSpPr>
          <p:cNvPr id="774" name=""/>
          <p:cNvSpPr/>
          <p:nvPr/>
        </p:nvSpPr>
        <p:spPr>
          <a:xfrm rot="0" flipH="0" flipV="0">
            <a:off x="409575" y="3676650"/>
            <a:ext cx="6705600" cy="609600"/>
          </a:xfrm>
          <a:prstGeom prst="roundRect">
            <a:avLst>
              <a:gd name="adj" fmla="val 140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75" name=""/>
          <p:cNvSpPr/>
          <p:nvPr/>
        </p:nvSpPr>
        <p:spPr>
          <a:xfrm rot="0" flipH="0" flipV="0">
            <a:off x="409575" y="3676650"/>
            <a:ext cx="6705600" cy="609600"/>
          </a:xfrm>
          <a:custGeom>
            <a:pathLst>
              <a:path w="704" h="64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58"/>
                </a:lnTo>
                <a:cubicBezTo>
                  <a:pt x="3" y="61"/>
                  <a:pt x="5" y="63"/>
                  <a:pt x="8" y="64"/>
                </a:cubicBezTo>
                <a:cubicBezTo>
                  <a:pt x="3" y="63"/>
                  <a:pt x="0" y="59"/>
                  <a:pt x="0" y="5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6" name=""/>
          <p:cNvSpPr/>
          <p:nvPr/>
        </p:nvSpPr>
        <p:spPr>
          <a:xfrm rot="0" flipH="0" flipV="0">
            <a:off x="542925" y="378142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28650" y="3867150"/>
            <a:ext cx="142875" cy="142875"/>
          </a:xfrm>
          <a:prstGeom prst="rect">
            <a:avLst/>
          </a:prstGeom>
          <a:ln/>
        </p:spPr>
      </p:pic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962025" y="3781425"/>
            <a:ext cx="599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Non-functional requirements</a:t>
            </a:r>
            <a:endParaRPr/>
          </a:p>
        </p:txBody>
      </p:sp>
      <p:sp>
        <p:nvSpPr>
          <p:cNvPr id="779" name="" descr="{&quot;isTemplate&quot;:true,&quot;type&quot;:&quot;text&quot;}"/>
          <p:cNvSpPr txBox="1"/>
          <p:nvPr/>
        </p:nvSpPr>
        <p:spPr>
          <a:xfrm rot="0" flipH="0" flipV="0">
            <a:off x="962025" y="3971925"/>
            <a:ext cx="5991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How well it must do them: speed, scale, availability, usability.</a:t>
            </a:r>
            <a:endParaRPr/>
          </a:p>
        </p:txBody>
      </p:sp>
      <p:sp>
        <p:nvSpPr>
          <p:cNvPr id="780" name=""/>
          <p:cNvSpPr/>
          <p:nvPr/>
        </p:nvSpPr>
        <p:spPr>
          <a:xfrm rot="0" flipH="0" flipV="0">
            <a:off x="409575" y="4381500"/>
            <a:ext cx="6705600" cy="609600"/>
          </a:xfrm>
          <a:prstGeom prst="roundRect">
            <a:avLst>
              <a:gd name="adj" fmla="val 140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81" name=""/>
          <p:cNvSpPr/>
          <p:nvPr/>
        </p:nvSpPr>
        <p:spPr>
          <a:xfrm rot="0" flipH="0" flipV="0">
            <a:off x="409575" y="4381500"/>
            <a:ext cx="6705600" cy="609600"/>
          </a:xfrm>
          <a:custGeom>
            <a:pathLst>
              <a:path w="704" h="64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58"/>
                </a:lnTo>
                <a:cubicBezTo>
                  <a:pt x="3" y="61"/>
                  <a:pt x="5" y="63"/>
                  <a:pt x="8" y="64"/>
                </a:cubicBezTo>
                <a:cubicBezTo>
                  <a:pt x="3" y="63"/>
                  <a:pt x="0" y="59"/>
                  <a:pt x="0" y="5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2" name=""/>
          <p:cNvSpPr/>
          <p:nvPr/>
        </p:nvSpPr>
        <p:spPr>
          <a:xfrm rot="0" flipH="0" flipV="0">
            <a:off x="542925" y="448627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28650" y="4572000"/>
            <a:ext cx="142875" cy="142875"/>
          </a:xfrm>
          <a:prstGeom prst="rect">
            <a:avLst/>
          </a:prstGeom>
          <a:ln/>
        </p:spPr>
      </p:pic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962025" y="4486275"/>
            <a:ext cx="599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Constraints</a:t>
            </a:r>
            <a:endParaRPr/>
          </a:p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962025" y="4676775"/>
            <a:ext cx="5991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Things you cannot change: the campus card API, the network, the devices.</a:t>
            </a:r>
            <a:endParaRPr/>
          </a:p>
        </p:txBody>
      </p:sp>
      <p:sp>
        <p:nvSpPr>
          <p:cNvPr id="786" name=""/>
          <p:cNvSpPr/>
          <p:nvPr/>
        </p:nvSpPr>
        <p:spPr>
          <a:xfrm rot="0" flipH="0" flipV="0">
            <a:off x="7334250" y="1257300"/>
            <a:ext cx="4476750" cy="1057275"/>
          </a:xfrm>
          <a:prstGeom prst="roundRect">
            <a:avLst>
              <a:gd name="adj" fmla="val 900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87" name="" descr="{&quot;isTemplate&quot;:true,&quot;type&quot;:&quot;text&quot;}"/>
          <p:cNvSpPr txBox="1"/>
          <p:nvPr/>
        </p:nvSpPr>
        <p:spPr>
          <a:xfrm rot="0" flipH="0" flipV="0">
            <a:off x="7505700" y="1409700"/>
            <a:ext cx="4133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C107"/>
                </a:solidFill>
                <a:latin typeface="Microsoft YaHei"/>
                <a:ea typeface="Microsoft YaHei"/>
              </a:rPr>
              <a:t>Your job this week</a:t>
            </a:r>
            <a:endParaRPr/>
          </a:p>
        </p:txBody>
      </p:sp>
      <p:sp>
        <p:nvSpPr>
          <p:cNvPr id="788" name="" descr="{&quot;isTemplate&quot;:true,&quot;type&quot;:&quot;text&quot;}"/>
          <p:cNvSpPr txBox="1"/>
          <p:nvPr/>
        </p:nvSpPr>
        <p:spPr>
          <a:xfrm rot="0" flipH="0" flipV="0">
            <a:off x="7505700" y="1657350"/>
            <a:ext cx="41338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Turn twenty sentences of prose into a picture that shows 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who wants what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from this system.</a:t>
            </a:r>
            <a:endParaRPr/>
          </a:p>
        </p:txBody>
      </p:sp>
      <p:sp>
        <p:nvSpPr>
          <p:cNvPr id="789" name=""/>
          <p:cNvSpPr/>
          <p:nvPr/>
        </p:nvSpPr>
        <p:spPr>
          <a:xfrm rot="0" flipH="0" flipV="0">
            <a:off x="7334250" y="242887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7419975" y="247650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7696200" y="2428875"/>
            <a:ext cx="411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Read the pack</a:t>
            </a:r>
            <a:endParaRPr/>
          </a:p>
        </p:txBody>
      </p:sp>
      <p:sp>
        <p:nvSpPr>
          <p:cNvPr id="792" name="" descr="{&quot;isTemplate&quot;:true,&quot;type&quot;:&quot;text&quot;}"/>
          <p:cNvSpPr txBox="1"/>
          <p:nvPr/>
        </p:nvSpPr>
        <p:spPr>
          <a:xfrm rot="0" flipH="0" flipV="0">
            <a:off x="7696200" y="2590800"/>
            <a:ext cx="411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Today, in the lab.</a:t>
            </a:r>
            <a:endParaRPr/>
          </a:p>
        </p:txBody>
      </p:sp>
      <p:sp>
        <p:nvSpPr>
          <p:cNvPr id="793" name=""/>
          <p:cNvSpPr/>
          <p:nvPr/>
        </p:nvSpPr>
        <p:spPr>
          <a:xfrm rot="0" flipH="0" flipV="0">
            <a:off x="7334250" y="284797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7419975" y="289560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7696200" y="2847975"/>
            <a:ext cx="411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Find the actors</a:t>
            </a:r>
            <a:endParaRPr/>
          </a:p>
        </p:txBody>
      </p:sp>
      <p:sp>
        <p:nvSpPr>
          <p:cNvPr id="796" name="" descr="{&quot;isTemplate&quot;:true,&quot;type&quot;:&quot;text&quot;}"/>
          <p:cNvSpPr txBox="1"/>
          <p:nvPr/>
        </p:nvSpPr>
        <p:spPr>
          <a:xfrm rot="0" flipH="0" flipV="0">
            <a:off x="7696200" y="3009900"/>
            <a:ext cx="411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Who or what touches this system?</a:t>
            </a:r>
            <a:endParaRPr/>
          </a:p>
        </p:txBody>
      </p:sp>
      <p:sp>
        <p:nvSpPr>
          <p:cNvPr id="797" name=""/>
          <p:cNvSpPr/>
          <p:nvPr/>
        </p:nvSpPr>
        <p:spPr>
          <a:xfrm rot="0" flipH="0" flipV="0">
            <a:off x="7334250" y="326707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8" name="" descr="{&quot;isTemplate&quot;:true,&quot;type&quot;:&quot;text&quot;}"/>
          <p:cNvSpPr txBox="1"/>
          <p:nvPr/>
        </p:nvSpPr>
        <p:spPr>
          <a:xfrm rot="0" flipH="0" flipV="0">
            <a:off x="7419975" y="331470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7696200" y="3267075"/>
            <a:ext cx="411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Find the use cases</a:t>
            </a:r>
            <a:endParaRPr/>
          </a:p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7696200" y="3429000"/>
            <a:ext cx="411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What goal does each one reach?</a:t>
            </a:r>
            <a:endParaRPr/>
          </a:p>
        </p:txBody>
      </p:sp>
      <p:sp>
        <p:nvSpPr>
          <p:cNvPr id="801" name=""/>
          <p:cNvSpPr/>
          <p:nvPr/>
        </p:nvSpPr>
        <p:spPr>
          <a:xfrm rot="0" flipH="0" flipV="0">
            <a:off x="7334250" y="368617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02" name="" descr="{&quot;isTemplate&quot;:true,&quot;type&quot;:&quot;text&quot;}"/>
          <p:cNvSpPr txBox="1"/>
          <p:nvPr/>
        </p:nvSpPr>
        <p:spPr>
          <a:xfrm rot="0" flipH="0" flipV="0">
            <a:off x="7419975" y="373380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7696200" y="3686175"/>
            <a:ext cx="411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Draw the diagram</a:t>
            </a:r>
            <a:endParaRPr/>
          </a:p>
        </p:txBody>
      </p:sp>
      <p:sp>
        <p:nvSpPr>
          <p:cNvPr id="804" name="" descr="{&quot;isTemplate&quot;:true,&quot;type&quot;:&quot;text&quot;}"/>
          <p:cNvSpPr txBox="1"/>
          <p:nvPr/>
        </p:nvSpPr>
        <p:spPr>
          <a:xfrm rot="0" flipH="0" flipV="0">
            <a:off x="7696200" y="3848100"/>
            <a:ext cx="411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Boundary, ellipses, lines, two dashed arrows.</a:t>
            </a:r>
            <a:endParaRPr/>
          </a:p>
        </p:txBody>
      </p:sp>
      <p:sp>
        <p:nvSpPr>
          <p:cNvPr id="805" name=""/>
          <p:cNvSpPr/>
          <p:nvPr/>
        </p:nvSpPr>
        <p:spPr>
          <a:xfrm rot="0" flipH="0" flipV="0">
            <a:off x="7334250" y="4105275"/>
            <a:ext cx="4476750" cy="657225"/>
          </a:xfrm>
          <a:prstGeom prst="roundRect">
            <a:avLst>
              <a:gd name="adj" fmla="val 13043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dash"/>
          </a:ln>
        </p:spPr>
        <p:txBody>
          <a:bodyPr/>
          <a:p/>
        </p:txBody>
      </p:sp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7467600" y="4219575"/>
            <a:ext cx="4210050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0E3F8C"/>
                </a:solidFill>
                <a:latin typeface="Microsoft YaHei"/>
                <a:ea typeface="Microsoft YaHei"/>
              </a:rPr>
              <a:t>Heads up:</a:t>
            </a:r>
            <a:r>
              <a:rPr lang="en-US" sz="938">
                <a:solidFill>
                  <a:srgbClr val="0E3F8C"/>
                </a:solidFill>
                <a:latin typeface="Microsoft YaHei"/>
                <a:ea typeface="Microsoft YaHei"/>
              </a:rPr>
              <a:t> three requirement changes will be injected later this term. Your model must absorb them — that is part of the design grade.</a:t>
            </a:r>
            <a:endParaRPr/>
          </a:p>
        </p:txBody>
      </p:sp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3800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the pack is also in 04-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项目实践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 on the course drive</a:t>
            </a:r>
            <a:endParaRPr/>
          </a:p>
        </p:txBody>
      </p:sp>
      <p:sp>
        <p:nvSpPr>
          <p:cNvPr id="808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80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REQUIREMENTS&lt;/Text&gt;&#10;  &lt;/Box&gt;&#10;  &lt;Box style={{ padding: '14px 40px 0 40px', flexDirection: 'row', alignItems: 'center', justifyContent: 'space-between' }}&gt;&#10;    &lt;Text style={{ fontSize: 30, fontWeight: 'bold', color: '#0E3F8C' }}&gt;Functional vs. Non-Functional&lt;/Text&gt;&#10;    &lt;Text style={{ fontSize: 14, color: '#1E4FA8', fontWeight: 'bold' }}&gt;05 / 38&lt;/Text&gt;&#10;  &lt;/Box&gt;&#10;  &lt;Box style={{ flex: 1, padding: '10px 40px 6px 40px' }}&gt;&#10;    &lt;Table&#10;      style={{ width: '100%', height: '100%' }}&#10;      defaultTextStyle={{ fontSize: 14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', textStyle: { bold: true, color: '#FFFFFF' }, cellStyle: { background: { color: '#0E3F8C' } } },&#10;          { text: 'Functional', textStyle: { bold: true, color: '#FFFFFF', fontSize: 16 }, cellStyle: { background: { color: '#1E4FA8' } } },&#10;          { text: 'Non-functional', textStyle: { bold: true, color: '#FFFFFF', fontSize: 16 }, cellStyle: { background: { color: '#3D7BD9' } } },&#10;        ],&#10;        [&#10;          { text: 'What it says', textStyle: { bold: true, color: '#0E3F8C' }, cellStyle: { background: { color: '#F7F9FC' } } },&#10;          { text: 'What the system does', textStyle: { color: '#4A5568' }, cellStyle: { background: { color: '#F7F9FC' } } },&#10;          { text: 'How well it does it', textStyle: { color: '#4A5568' }, cellStyle: { background: { color: '#F7F9FC' } } },&#10;        ],&#10;        [&#10;          { text: 'CampusBites example', textStyle: { bold: true, color: '#0E3F8C' } },&#10;          { text: 'A student shall pay for an order with a campus card, a wallet, or cash on delivery.', textStyle: { color: '#4A5568' } },&#10;          { text: 'The order status screen shall refresh within 2 seconds for 5 000 concurrent users.', textStyle: { color: '#4A5568' } },&#10;        ],&#10;        [&#10;          { text: 'How you test it', textStyle: { bold: true, color: '#0E3F8C' }, cellStyle: { background: { color: '#F7F9FC' } } },&#10;          { text: 'Give it an input, check the output. One pass, one fail.', textStyle: { color: '#4A5568' }, cellStyle: { background: { color: '#F7F9FC' } } },&#10;          { text: 'Put it under load and measure. There is no single pass — there is a curve.', textStyle: { color: '#4A5568' }, cellStyle: { background: { color: '#F7F9FC' } } },&#10;        ],&#10;        [&#10;          { text: 'Typical failure', textStyle: { bold: true, color: '#0E3F8C' } },&#10;          { text: 'A feature is missing. The client notices at the demo.', textStyle: { color: '#4A5568' } },&#10;          { text: 'It works for one user and dies for five thousand. Nobody notices until launch.', textStyle: { color: '#4A5568' } },&#10;        ],&#10;        [&#10;          { text: 'Who complains', textStyle: { bold: true, color: '#0E3F8C' }, cellStyle: { background: { color: '#F7F9FC' } } },&#10;          { text: 'The client — &quot;where is my button?&quot;', textStyle: { color: '#4A5568' }, cellStyle: { background: { color: '#F7F9FC' } } },&#10;          { text: 'Operations — at 12:05 on a Monday, with a queue out the door.', textStyle: { color: '#4A5568' }, cellStyle: { background: { color: '#F7F9FC' } } },&#10;        ],&#10;      ]}&#10;    /&gt;&#10;  &lt;/Box&gt;&#10;  &lt;Box style={{ height: 46, background: '#0E3F8C', padding: '0 40px', flexDirection: 'row', alignItems: 'center', justifyContent: 'center' }}&gt;&#10;    &lt;Text style={{ fontSize: 16.5, color: '#FFFFFF', fontWeight: '600' }}&gt;Functional requirements get you the demo. Non-functional requirements get you the deploymen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1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1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13" name="" descr="{&quot;isTemplate&quot;:true,&quot;type&quot;:&quot;text&quot;}"/>
          <p:cNvSpPr txBox="1"/>
          <p:nvPr/>
        </p:nvSpPr>
        <p:spPr>
          <a:xfrm rot="0" flipH="0" flipV="0">
            <a:off x="10229850" y="257175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REQUIREMENTS</a:t>
            </a:r>
            <a:endParaRPr/>
          </a:p>
        </p:txBody>
      </p:sp>
      <p:sp>
        <p:nvSpPr>
          <p:cNvPr id="81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095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Functional vs. Non-Functional</a:t>
            </a:r>
            <a:endParaRPr/>
          </a:p>
        </p:txBody>
      </p:sp>
      <p:sp>
        <p:nvSpPr>
          <p:cNvPr id="815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05 / 38</a:t>
            </a:r>
            <a:endParaRPr/>
          </a:p>
        </p:txBody>
      </p:sp>
      <p:graphicFrame>
        <p:nvGraphicFramePr>
          <p:cNvPr id="816" name=""/>
          <p:cNvGraphicFramePr/>
          <p:nvPr/>
        </p:nvGraphicFramePr>
        <p:xfrm rot="0" flipH="0" flipV="0">
          <a:off x="381000" y="1257300"/>
          <a:ext cx="11430000" cy="5105400"/>
        </p:xfrm>
        <a:graphic>
          <a:graphicData uri="http://schemas.openxmlformats.org/drawingml/2006/table">
            <a:tbl>
              <a:tblGrid>
                <a:gridCol w="1534512">
                  <a:extLst>
                    <a:ext uri="{9D8B030D-6E8A-4147-A177-3AD203B41FA5}">
                      <a16:colId val="1"/>
                    </a:ext>
                  </a:extLst>
                </a:gridCol>
                <a:gridCol w="4928514">
                  <a:extLst>
                    <a:ext uri="{9D8B030D-6E8A-4147-A177-3AD203B41FA5}">
                      <a16:colId val="2"/>
                    </a:ext>
                  </a:extLst>
                </a:gridCol>
                <a:gridCol w="4966973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9193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Functional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Non-functional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83722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it says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the system does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How well it does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83722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CampusBites example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student shall pay for an order with a campus card, a wallet, or cash on delivery.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order status screen shall refresh within 2 seconds for 5 000 concurrent users.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83722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How you test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Give it an input, check the output. One pass, one fail.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Put it under load and measure. There is no single pass — there is a curve.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83722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Typical failure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feature is missing. The client notices at the demo.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It works for one user and dies for five thousand. Nobody notices until launch.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83722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Who complains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client — "where is my button?"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Operations — at 12:05 on a Monday, with a queue out the door.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817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18" name="" descr="{&quot;isTemplate&quot;:true,&quot;type&quot;:&quot;text&quot;}"/>
          <p:cNvSpPr txBox="1"/>
          <p:nvPr/>
        </p:nvSpPr>
        <p:spPr>
          <a:xfrm rot="0" flipH="0" flipV="0">
            <a:off x="2466975" y="6543675"/>
            <a:ext cx="72675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FFFFFF"/>
                </a:solidFill>
                <a:latin typeface="Microsoft YaHei"/>
                <a:ea typeface="Microsoft YaHei"/>
              </a:rPr>
              <a:t>Functional requirements get you the demo. Non-functional requirements get you the deployment.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1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REQUIREMENTS&lt;/Text&gt;&#10;  &lt;/Box&gt;&#10;  &lt;Box style={{ padding: '12px 40px 0 40px', flexDirection: 'row', alignItems: 'center', justifyContent: 'space-between' }}&gt;&#10;    &lt;Text style={{ fontSize: 30, fontWeight: 'bold', color: '#0E3F8C' }}&gt;FURPS+ at a Glance&lt;/Text&gt;&#10;    &lt;Text style={{ fontSize: 14, color: '#1E4FA8', fontWeight: 'bold' }}&gt;06 / 38&lt;/Text&gt;&#10;  &lt;/Box&gt;&#10;  &lt;Box style={{ flex: 1, padding: '4px 40px 0 40px', justifyContent: 'center', alignItems: 'center' }}&gt;&#10;    &lt;svg width={1180} height={382} viewBox='0 0 1180 382'&gt;&#10;      &lt;text x='10' y='16' fill='#8B97A8' fontSize='13'&gt;FURPS — five lenses for non-functional and functional requirements&lt;/text&gt;&#10;&#10;      &lt;g transform='translate(10,30)'&gt;&#10;        &lt;rect x='0' y='0' width='220' height='156' rx='8' fill='#F0F5FC' stroke='#1E4FA8' strokeWidth='2' /&gt;&#10;        &lt;circle cx='25' cy='26' r='14' fill='#1E4FA8' /&gt;&#10;        &lt;text x='25' y='32' textAnchor='middle' fill='#FFFFFF' fontSize='15' fontWeight='bold'&gt;F&lt;/text&gt;&#10;        &lt;text x='48' y='31' fill='#0E3F8C' fontSize='15' fontWeight='bold'&gt;Functionality&lt;/text&gt;&#10;        &lt;text x='14' y='60' fill='#4A5568' fontSize='12'&gt;Features, capabilities,&lt;/text&gt;&#10;        &lt;text x='14' y='78' fill='#4A5568' fontSize='12'&gt;and security.&lt;/text&gt;&#10;        &lt;line x1='14' y1='92' x2='206' y2='92' stroke='#D6DCE5' strokeWidth='1' /&gt;&#10;        &lt;text x='14' y='112' fill='#1E4FA8' fontSize='11.5' fontWeight='bold'&gt;CampusBites:&lt;/text&gt;&#10;        &lt;text x='14' y='130' fill='#1E4FA8' fontSize='11.5'&gt;place an order, pay,&lt;/text&gt;&#10;        &lt;text x='14' y='146' fill='#1E4FA8' fontSize='11.5'&gt;track it, rate the rider&lt;/text&gt;&#10;      &lt;/g&gt;&#10;&#10;      &lt;g transform='translate(242,30)'&gt;&#10;        &lt;rect x='0' y='0' width='220' height='156' rx='8' fill='#F0F5FC' stroke='#1E4FA8' strokeWidth='2' /&gt;&#10;        &lt;circle cx='25' cy='26' r='14' fill='#1E4FA8' /&gt;&#10;        &lt;text x='25' y='32' textAnchor='middle' fill='#FFFFFF' fontSize='15' fontWeight='bold'&gt;U&lt;/text&gt;&#10;        &lt;text x='48' y='31' fill='#0E3F8C' fontSize='15' fontWeight='bold'&gt;Usability&lt;/text&gt;&#10;        &lt;text x='14' y='60' fill='#4A5568' fontSize='12'&gt;Learnability, efficiency,&lt;/text&gt;&#10;        &lt;text x='14' y='78' fill='#4A5568' fontSize='12'&gt;error handling.&lt;/text&gt;&#10;        &lt;line x1='14' y1='92' x2='206' y2='92' stroke='#D6DCE5' strokeWidth='1' /&gt;&#10;        &lt;text x='14' y='112' fill='#1E4FA8' fontSize='11.5' fontWeight='bold'&gt;CampusBites:&lt;/text&gt;&#10;        &lt;text x='14' y='130' fill='#1E4FA8' fontSize='11.5'&gt;a first-time user orders&lt;/text&gt;&#10;        &lt;text x='14' y='146' fill='#1E4FA8' fontSize='11.5'&gt;in under 90 seconds&lt;/text&gt;&#10;      &lt;/g&gt;&#10;&#10;      &lt;g transform='translate(474,30)'&gt;&#10;        &lt;rect x='0' y='0' width='220' height='156' rx='8' fill='#F0F5FC' stroke='#1E4FA8' strokeWidth='2' /&gt;&#10;        &lt;circle cx='25' cy='26' r='14' fill='#1E4FA8' /&gt;&#10;        &lt;text x='25' y='32' textAnchor='middle' fill='#FFFFFF' fontSize='15' fontWeight='bold'&gt;R&lt;/text&gt;&#10;        &lt;text x='48' y='31' fill='#0E3F8C' fontSize='15' fontWeight='bold'&gt;Reliability&lt;/text&gt;&#10;        &lt;text x='14' y='60' fill='#4A5568' fontSize='12'&gt;Availability, fault&lt;/text&gt;&#10;        &lt;text x='14' y='78' fill='#4A5568' fontSize='12'&gt;tolerance, recovery.&lt;/text&gt;&#10;        &lt;line x1='14' y1='92' x2='206' y2='92' stroke='#D6DCE5' strokeWidth='1' /&gt;&#10;        &lt;text x='14' y='112' fill='#1E4FA8' fontSize='11.5' fontWeight='bold'&gt;CampusBites:&lt;/text&gt;&#10;        &lt;text x='14' y='130' fill='#1E4FA8' fontSize='11.5'&gt;99.5% available during&lt;/text&gt;&#10;        &lt;text x='14' y='146' fill='#1E4FA8' fontSize='11.5'&gt;term; no lost orders&lt;/text&gt;&#10;      &lt;/g&gt;&#10;&#10;      &lt;g transform='translate(706,30)'&gt;&#10;        &lt;rect x='0' y='0' width='220' height='156' rx='8' fill='#F0F5FC' stroke='#1E4FA8' strokeWidth='2' /&gt;&#10;        &lt;circle cx='25' cy='26' r='14' fill='#1E4FA8' /&gt;&#10;        &lt;text x='25' y='32' textAnchor='middle' fill='#FFFFFF' fontSize='15' fontWeight='bold'&gt;P&lt;/text&gt;&#10;        &lt;text x='48' y='31' fill='#0E3F8C' fontSize='15' fontWeight='bold'&gt;Performance&lt;/text&gt;&#10;        &lt;text x='14' y='60' fill='#4A5568' fontSize='12'&gt;Throughput, response&lt;/text&gt;&#10;        &lt;text x='14' y='78' fill='#4A5568' fontSize='12'&gt;time, resource use.&lt;/text&gt;&#10;        &lt;line x1='14' y1='92' x2='206' y2='92' stroke='#D6DCE5' strokeWidth='1' /&gt;&#10;        &lt;text x='14' y='112' fill='#1E4FA8' fontSize='11.5' fontWeight='bold'&gt;CampusBites:&lt;/text&gt;&#10;        &lt;text x='14' y='130' fill='#1E4FA8' fontSize='11.5'&gt;5 000 students at the&lt;/text&gt;&#10;        &lt;text x='14' y='146' fill='#1E4FA8' fontSize='11.5'&gt;12:00 lunch peak&lt;/text&gt;&#10;      &lt;/g&gt;&#10;&#10;      &lt;g transform='translate(938,30)'&gt;&#10;        &lt;rect x='0' y='0' width='220' height='156' rx='8' fill='#F0F5FC' stroke='#1E4FA8' strokeWidth='2' /&gt;&#10;        &lt;circle cx='25' cy='26' r='14' fill='#1E4FA8' /&gt;&#10;        &lt;text x='25' y='32' textAnchor='middle' fill='#FFFFFF' fontSize='15' fontWeight='bold'&gt;S&lt;/text&gt;&#10;        &lt;text x='48' y='31' fill='#0E3F8C' fontSize='15' fontWeight='bold'&gt;Supportability&lt;/text&gt;&#10;        &lt;text x='14' y='60' fill='#4A5568' fontSize='12'&gt;Testability, changeability,&lt;/text&gt;&#10;        &lt;text x='14' y='78' fill='#4A5568' fontSize='12'&gt;configurability.&lt;/text&gt;&#10;        &lt;line x1='14' y1='92' x2='206' y2='92' stroke='#D6DCE5' strokeWidth='1' /&gt;&#10;        &lt;text x='14' y='112' fill='#1E4FA8' fontSize='11.5' fontWeight='bold'&gt;CampusBites:&lt;/text&gt;&#10;        &lt;text x='14' y='130' fill='#1E4FA8' fontSize='11.5'&gt;a new payment method&lt;/text&gt;&#10;        &lt;text x='14' y='146' fill='#1E4FA8' fontSize='11.5'&gt;added without a rewrite&lt;/text&gt;&#10;      &lt;/g&gt;&#10;&#10;      &lt;g transform='translate(10,204)'&gt;&#10;        &lt;rect x='0' y='0' width='1148' height='164' rx='8' fill='#FFFFFF' stroke='#D6DCE5' strokeWidth='1' /&gt;&#10;        &lt;circle cx='34' cy='34' r='17' fill='#FFC107' /&gt;&#10;        &lt;text x='34' y='41' textAnchor='middle' fill='#1A2230' fontSize='17' fontWeight='bold'&gt;+&lt;/text&gt;&#10;        &lt;text x='60' y='39' fill='#0E3F8C' fontSize='16' fontWeight='bold'&gt;The “+” — constraints you did not choose&lt;/text&gt;&#10;        &lt;text x='60' y='58' fill='#8B97A8' fontSize='12'&gt;These are not wishes. They are the walls of the room you are building in.&lt;/text&gt;&#10;&#10;        &lt;g transform='translate(24,74)'&gt;&#10;          &lt;rect x='0' y='0' width='266' height='72' rx='6' fill='#F7F9FC' stroke='#E5E7EB' strokeWidth='1' /&gt;&#10;          &lt;text x='14' y='22' fill='#0E3F8C' fontSize='13' fontWeight='bold'&gt;Design constraints&lt;/text&gt;&#10;          &lt;text x='14' y='42' fill='#4A5568' fontSize='11.5'&gt;Must run on the campus&lt;/text&gt;&#10;          &lt;text x='14' y='58' fill='#4A5568' fontSize='11.5'&gt;network; Android and iOS.&lt;/text&gt;&#10;        &lt;/g&gt;&#10;        &lt;g transform='translate(302,74)'&gt;&#10;          &lt;rect x='0' y='0' width='266' height='72' rx='6' fill='#F7F9FC' stroke='#E5E7EB' strokeWidth='1' /&gt;&#10;          &lt;text x='14' y='22' fill='#0E3F8C' fontSize='13' fontWeight='bold'&gt;Implementation constraints&lt;/text&gt;&#10;          &lt;text x='14' y='42' fill='#4A5568' fontSize='11.5'&gt;Java 21, Spring Boot,&lt;/text&gt;&#10;          &lt;text x='14' y='58' fill='#4A5568' fontSize='11.5'&gt;Git and GitHub for delivery.&lt;/text&gt;&#10;        &lt;/g&gt;&#10;        &lt;g transform='translate(580,74)'&gt;&#10;          &lt;rect x='0' y='0' width='266' height='72' rx='6' fill='#F7F9FC' stroke='#E5E7EB' strokeWidth='1' /&gt;&#10;          &lt;text x='14' y='22' fill='#0E3F8C' fontSize='13' fontWeight='bold'&gt;Interface constraints&lt;/text&gt;&#10;          &lt;text x='14' y='42' fill='#4A5568' fontSize='11.5'&gt;Campus card centre legacy&lt;/text&gt;&#10;          &lt;text x='14' y='58' fill='#4A5568' fontSize='11.5'&gt;API; external SMS gateway.&lt;/text&gt;&#10;        &lt;/g&gt;&#10;        &lt;g transform='translate(858,74)'&gt;&#10;          &lt;rect x='0' y='0' width='266' height='72' rx='6' fill='#F7F9FC' stroke='#E5E7EB' strokeWidth='1' /&gt;&#10;          &lt;text x='14' y='22' fill='#0E3F8C' fontSize='13' fontWeight='bold'&gt;Physical constraints&lt;/text&gt;&#10;          &lt;text x='14' y='42' fill='#4A5568' fontSize='11.5'&gt;Phones in a courier’s pocket;&lt;/text&gt;&#10;          &lt;text x='14' y='58' fill='#4A5568' fontSize='11.5'&gt;kitchen tablets on the wall.&lt;/text&gt;&#10;        &lt;/g&gt;&#10;      &lt;/g&gt;&#10;    &lt;/svg&gt;&#10;  &lt;/Box&gt;&#10;  &lt;Box style={{ height: 34, padding: '0 40px', flexDirection: 'row', alignItems: 'center', justifyContent: 'space-between' }}&gt;&#10;    &lt;Text style={{ fontSize: 13, color: '#8B97A8' }}&gt;ISAD · Fall 2026 · FURPS+ is a checklist, not a procedure — use it to notice what you forgot&lt;/Text&gt;&#10;    &lt;Text style={{ fontSize: 14, color: '#1E4FA8', fontWeight: 'bold' }}&gt;0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2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10229850" y="257175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REQUIREMENTS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27432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FURPS+ at a Glance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  <p:pic>
        <p:nvPicPr>
          <p:cNvPr id="8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38350"/>
            <a:ext cx="11239500" cy="3638550"/>
          </a:xfrm>
          <a:prstGeom prst="rect">
            <a:avLst/>
          </a:prstGeom>
          <a:ln/>
        </p:spPr>
      </p:pic>
      <p:sp>
        <p:nvSpPr>
          <p:cNvPr id="82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5057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FURPS+ is a checklist, not a procedure — use it to notice what you forgot</a:t>
            </a:r>
            <a:endParaRPr/>
          </a:p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2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REQUIREMENTS&lt;/Text&gt;&#10;  &lt;/Box&gt;&#10;  &lt;Box style={{ padding: '14px 40px 0 40px', flexDirection: 'row', alignItems: 'center', justifyContent: 'space-between' }}&gt;&#10;    &lt;Text style={{ fontSize: 27, fontWeight: 'bold', color: '#0E3F8C' }}&gt;“The system shall…” — Testable or Not&lt;/Text&gt;&#10;    &lt;Text style={{ fontSize: 14, color: '#1E4FA8', fontWeight: 'bold' }}&gt;07 / 38&lt;/Text&gt;&#10;  &lt;/Box&gt;&#10;  &lt;Box style={{ flex: 1, padding: '10px 40px 0 40px', flexDirection: 'row', gap: 22 }}&gt;&#10;    &lt;Box style={{ flex: 1, flexDirection: 'column', gap: 9 }}&gt;&#10;      &lt;Box style={{ flexDirection: 'row', alignItems: 'center', gap: 9, marginBottom: 2 }}&gt;&#10;        &lt;Box style={{ width: 26, height: 26, borderRadius: 13, background: '#D9534F', justifyContent: 'center', alignItems: 'center' }}&gt;&#10;          &lt;FAIcon name='xmark' style={{ fill: '#FFFFFF', width: 12, height: 12 }} /&gt;&#10;        &lt;/Box&gt;&#10;        &lt;Text style={{ fontSize: 16, fontWeight: 'bold', color: '#D9534F' }}&gt;Untestable — a wish&lt;/Text&gt;&#10;      &lt;/Box&gt;&#10;      {[&#10;        'The system shall be user-friendly.',&#10;        'The system shall be fast and reliable.',&#10;        'The system shall handle payments securely.',&#10;        'The system shall have a good menu page.',&#10;      ].map((t) =&gt; (&#10;        &lt;Box key={t} style={{ padding: '13px 15px', background: '#FDF3F3', borderRadius: 9, borderLeft: '3px solid #D9534F' }}&gt;&#10;          &lt;Text style={{ fontSize: 13.5, color: '#4A5568', lineHeight: 1.5 }}&gt;{t}&lt;/Text&gt;&#10;        &lt;/Box&gt;&#10;      ))}&#10;      &lt;Box style={{ padding: '12px 15px', background: '#F7F9FC', borderRadius: 9, marginTop: 2 }}&gt;&#10;        &lt;Text style={{ fontSize: 12.5, color: '#8B97A8', lineHeight: 1.5 }}&gt;&#10;          Every one of these is an opinion wearing a requirement’s clothes. You cannot fail a test you cannot write.&#10;        &lt;/Text&gt;&#10;      &lt;/Box&gt;&#10;    &lt;/Box&gt;&#10;    &lt;Box style={{ width: 34, justifyContent: 'center', alignItems: 'center' }}&gt;&#10;      &lt;Box style={{ padding: '8px 0', justifyContent: 'center', alignItems: 'center' }}&gt;&#10;        &lt;FAIcon name='arrow-right-long' style={{ fill: '#3D7BD9', width: 22, height: 22 }} /&gt;&#10;      &lt;/Box&gt;&#10;    &lt;/Box&gt;&#10;    &lt;Box style={{ flex: 1, flexDirection: 'column', gap: 9 }}&gt;&#10;      &lt;Box style={{ flexDirection: 'row', alignItems: 'center', gap: 9, marginBottom: 2 }}&gt;&#10;        &lt;Box style={{ width: 26, height: 26, borderRadius: 13, background: '#1E4FA8', justifyContent: 'center', alignItems: 'center' }}&gt;&#10;          &lt;FAIcon name='check' style={{ fill: '#FFFFFF', width: 12, height: 12 }} /&gt;&#10;        &lt;/Box&gt;&#10;        &lt;Text style={{ fontSize: 16, fontWeight: 'bold', color: '#1E4FA8' }}&gt;Testable — a promise&lt;/Text&gt;&#10;      &lt;/Box&gt;&#10;      {[&#10;        'A first-time user shall complete an order in under 90 seconds without help.',&#10;        'The status screen shall refresh within 2 s at 5 000 concurrent users; 99.5% uptime in term.',&#10;        'The system shall store only the provider token — never a full card number.',&#10;        'A manager shall mark an item sold out in no more than three taps.',&#10;      ].map((t) =&gt; (&#10;        &lt;Box key={t} style={{ padding: '13px 15px', background: '#F0F5FC', borderRadius: 9, borderLeft: '3px solid #1E4FA8' }}&gt;&#10;          &lt;Text style={{ fontSize: 13.5, color: '#1A2230', lineHeight: 1.5 }}&gt;{t}&lt;/Text&gt;&#10;        &lt;/Box&gt;&#10;      ))}&#10;      &lt;Box style={{ padding: '12px 15px', background: '#F0F5FC', borderRadius: 9, marginTop: 2 }}&gt;&#10;        &lt;Text style={{ fontSize: 12.5, color: '#0E3F8C', lineHeight: 1.5, fontWeight: 'bold' }}&gt;&#10;          Each one names a number, a threshold, or a forbidden thing. That is what makes it testable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If you cannot describe how you would test it, you have not finished writing i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33" name="" descr="{&quot;isTemplate&quot;:true,&quot;type&quot;:&quot;text&quot;}"/>
          <p:cNvSpPr txBox="1"/>
          <p:nvPr/>
        </p:nvSpPr>
        <p:spPr>
          <a:xfrm rot="0" flipH="0" flipV="0">
            <a:off x="10229850" y="257175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REQUIREMENTS</a:t>
            </a:r>
            <a:endParaRPr/>
          </a:p>
        </p:txBody>
      </p:sp>
      <p:sp>
        <p:nvSpPr>
          <p:cNvPr id="83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848225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025" b="1">
                <a:solidFill>
                  <a:srgbClr val="0E3F8C"/>
                </a:solidFill>
                <a:latin typeface="Microsoft YaHei"/>
                <a:ea typeface="Microsoft YaHei"/>
              </a:rPr>
              <a:t>“The system shall…” — Testable or Not</a:t>
            </a:r>
            <a:endParaRPr/>
          </a:p>
        </p:txBody>
      </p:sp>
      <p:sp>
        <p:nvSpPr>
          <p:cNvPr id="835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07 / 38</a:t>
            </a:r>
            <a:endParaRPr/>
          </a:p>
        </p:txBody>
      </p:sp>
      <p:sp>
        <p:nvSpPr>
          <p:cNvPr id="836" name=""/>
          <p:cNvSpPr/>
          <p:nvPr/>
        </p:nvSpPr>
        <p:spPr>
          <a:xfrm rot="0" flipH="0" flipV="0">
            <a:off x="381000" y="122872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8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47675" y="1295400"/>
            <a:ext cx="114300" cy="114300"/>
          </a:xfrm>
          <a:prstGeom prst="rect">
            <a:avLst/>
          </a:prstGeom>
          <a:ln/>
        </p:spPr>
      </p:pic>
      <p:sp>
        <p:nvSpPr>
          <p:cNvPr id="838" name="" descr="{&quot;isTemplate&quot;:true,&quot;type&quot;:&quot;text&quot;}"/>
          <p:cNvSpPr txBox="1"/>
          <p:nvPr/>
        </p:nvSpPr>
        <p:spPr>
          <a:xfrm rot="0" flipH="0" flipV="0">
            <a:off x="714375" y="1257300"/>
            <a:ext cx="1485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Untestable — a wish</a:t>
            </a:r>
            <a:endParaRPr/>
          </a:p>
        </p:txBody>
      </p:sp>
      <p:sp>
        <p:nvSpPr>
          <p:cNvPr id="839" name=""/>
          <p:cNvSpPr/>
          <p:nvPr/>
        </p:nvSpPr>
        <p:spPr>
          <a:xfrm rot="0" flipH="0" flipV="0">
            <a:off x="409575" y="15811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40" name=""/>
          <p:cNvSpPr/>
          <p:nvPr/>
        </p:nvSpPr>
        <p:spPr>
          <a:xfrm rot="0" flipH="0" flipV="0">
            <a:off x="409575" y="15811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41" name="" descr="{&quot;isTemplate&quot;:true,&quot;type&quot;:&quot;text&quot;}"/>
          <p:cNvSpPr txBox="1"/>
          <p:nvPr/>
        </p:nvSpPr>
        <p:spPr>
          <a:xfrm rot="0" flipH="0" flipV="0">
            <a:off x="552450" y="17049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system shall be user-friendly.</a:t>
            </a:r>
            <a:endParaRPr/>
          </a:p>
        </p:txBody>
      </p:sp>
      <p:sp>
        <p:nvSpPr>
          <p:cNvPr id="842" name=""/>
          <p:cNvSpPr/>
          <p:nvPr/>
        </p:nvSpPr>
        <p:spPr>
          <a:xfrm rot="0" flipH="0" flipV="0">
            <a:off x="409575" y="21526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43" name=""/>
          <p:cNvSpPr/>
          <p:nvPr/>
        </p:nvSpPr>
        <p:spPr>
          <a:xfrm rot="0" flipH="0" flipV="0">
            <a:off x="409575" y="21526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44" name="" descr="{&quot;isTemplate&quot;:true,&quot;type&quot;:&quot;text&quot;}"/>
          <p:cNvSpPr txBox="1"/>
          <p:nvPr/>
        </p:nvSpPr>
        <p:spPr>
          <a:xfrm rot="0" flipH="0" flipV="0">
            <a:off x="552450" y="22764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system shall be fast and reliable.</a:t>
            </a:r>
            <a:endParaRPr/>
          </a:p>
        </p:txBody>
      </p:sp>
      <p:sp>
        <p:nvSpPr>
          <p:cNvPr id="845" name=""/>
          <p:cNvSpPr/>
          <p:nvPr/>
        </p:nvSpPr>
        <p:spPr>
          <a:xfrm rot="0" flipH="0" flipV="0">
            <a:off x="409575" y="27241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46" name=""/>
          <p:cNvSpPr/>
          <p:nvPr/>
        </p:nvSpPr>
        <p:spPr>
          <a:xfrm rot="0" flipH="0" flipV="0">
            <a:off x="409575" y="27241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47" name="" descr="{&quot;isTemplate&quot;:true,&quot;type&quot;:&quot;text&quot;}"/>
          <p:cNvSpPr txBox="1"/>
          <p:nvPr/>
        </p:nvSpPr>
        <p:spPr>
          <a:xfrm rot="0" flipH="0" flipV="0">
            <a:off x="552450" y="28479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system shall handle payments securely.</a:t>
            </a:r>
            <a:endParaRPr/>
          </a:p>
        </p:txBody>
      </p:sp>
      <p:sp>
        <p:nvSpPr>
          <p:cNvPr id="848" name=""/>
          <p:cNvSpPr/>
          <p:nvPr/>
        </p:nvSpPr>
        <p:spPr>
          <a:xfrm rot="0" flipH="0" flipV="0">
            <a:off x="409575" y="32956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49" name=""/>
          <p:cNvSpPr/>
          <p:nvPr/>
        </p:nvSpPr>
        <p:spPr>
          <a:xfrm rot="0" flipH="0" flipV="0">
            <a:off x="409575" y="32956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50" name="" descr="{&quot;isTemplate&quot;:true,&quot;type&quot;:&quot;text&quot;}"/>
          <p:cNvSpPr txBox="1"/>
          <p:nvPr/>
        </p:nvSpPr>
        <p:spPr>
          <a:xfrm rot="0" flipH="0" flipV="0">
            <a:off x="552450" y="34194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system shall have a good menu page.</a:t>
            </a:r>
            <a:endParaRPr/>
          </a:p>
        </p:txBody>
      </p:sp>
      <p:sp>
        <p:nvSpPr>
          <p:cNvPr id="851" name=""/>
          <p:cNvSpPr/>
          <p:nvPr/>
        </p:nvSpPr>
        <p:spPr>
          <a:xfrm rot="0" flipH="0" flipV="0">
            <a:off x="381000" y="3886200"/>
            <a:ext cx="5343525" cy="657225"/>
          </a:xfrm>
          <a:prstGeom prst="roundRect">
            <a:avLst>
              <a:gd name="adj" fmla="val 130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52" name="" descr="{&quot;isTemplate&quot;:true,&quot;type&quot;:&quot;text&quot;}"/>
          <p:cNvSpPr txBox="1"/>
          <p:nvPr/>
        </p:nvSpPr>
        <p:spPr>
          <a:xfrm rot="0" flipH="0" flipV="0">
            <a:off x="523875" y="4000500"/>
            <a:ext cx="505777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Every one of these is an opinion wearing a requirement’s clothes. You cannot fail a test you cannot write.</a:t>
            </a:r>
            <a:endParaRPr/>
          </a:p>
        </p:txBody>
      </p:sp>
      <p:pic>
        <p:nvPicPr>
          <p:cNvPr id="8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991225" y="3724275"/>
            <a:ext cx="209550" cy="209550"/>
          </a:xfrm>
          <a:prstGeom prst="rect">
            <a:avLst/>
          </a:prstGeom>
          <a:ln/>
        </p:spPr>
      </p:pic>
      <p:sp>
        <p:nvSpPr>
          <p:cNvPr id="854" name=""/>
          <p:cNvSpPr/>
          <p:nvPr/>
        </p:nvSpPr>
        <p:spPr>
          <a:xfrm rot="0" flipH="0" flipV="0">
            <a:off x="6467475" y="122872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8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34150" y="1295400"/>
            <a:ext cx="114300" cy="114300"/>
          </a:xfrm>
          <a:prstGeom prst="rect">
            <a:avLst/>
          </a:prstGeom>
          <a:ln/>
        </p:spPr>
      </p:pic>
      <p:sp>
        <p:nvSpPr>
          <p:cNvPr id="856" name="" descr="{&quot;isTemplate&quot;:true,&quot;type&quot;:&quot;text&quot;}"/>
          <p:cNvSpPr txBox="1"/>
          <p:nvPr/>
        </p:nvSpPr>
        <p:spPr>
          <a:xfrm rot="0" flipH="0" flipV="0">
            <a:off x="6800850" y="1257300"/>
            <a:ext cx="1571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Testable — a promise</a:t>
            </a:r>
            <a:endParaRPr/>
          </a:p>
        </p:txBody>
      </p:sp>
      <p:sp>
        <p:nvSpPr>
          <p:cNvPr id="857" name=""/>
          <p:cNvSpPr/>
          <p:nvPr/>
        </p:nvSpPr>
        <p:spPr>
          <a:xfrm rot="0" flipH="0" flipV="0">
            <a:off x="6496050" y="15811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58" name=""/>
          <p:cNvSpPr/>
          <p:nvPr/>
        </p:nvSpPr>
        <p:spPr>
          <a:xfrm rot="0" flipH="0" flipV="0">
            <a:off x="6496050" y="15811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9" name="" descr="{&quot;isTemplate&quot;:true,&quot;type&quot;:&quot;text&quot;}"/>
          <p:cNvSpPr txBox="1"/>
          <p:nvPr/>
        </p:nvSpPr>
        <p:spPr>
          <a:xfrm rot="0" flipH="0" flipV="0">
            <a:off x="6638925" y="17049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1A2230"/>
                </a:solidFill>
                <a:latin typeface="Microsoft YaHei"/>
                <a:ea typeface="Microsoft YaHei"/>
              </a:rPr>
              <a:t>A first-time user shall complete an order in under 90 seconds without help.</a:t>
            </a:r>
            <a:endParaRPr/>
          </a:p>
        </p:txBody>
      </p:sp>
      <p:sp>
        <p:nvSpPr>
          <p:cNvPr id="860" name=""/>
          <p:cNvSpPr/>
          <p:nvPr/>
        </p:nvSpPr>
        <p:spPr>
          <a:xfrm rot="0" flipH="0" flipV="0">
            <a:off x="6496050" y="2152650"/>
            <a:ext cx="5343525" cy="714375"/>
          </a:xfrm>
          <a:prstGeom prst="roundRect">
            <a:avLst>
              <a:gd name="adj" fmla="val 12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61" name=""/>
          <p:cNvSpPr/>
          <p:nvPr/>
        </p:nvSpPr>
        <p:spPr>
          <a:xfrm rot="0" flipH="0" flipV="0">
            <a:off x="6496050" y="2152650"/>
            <a:ext cx="5343525" cy="714375"/>
          </a:xfrm>
          <a:custGeom>
            <a:pathLst>
              <a:path w="561" h="75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9"/>
                </a:lnTo>
                <a:cubicBezTo>
                  <a:pt x="3" y="72"/>
                  <a:pt x="5" y="74"/>
                  <a:pt x="8" y="75"/>
                </a:cubicBezTo>
                <a:cubicBezTo>
                  <a:pt x="3" y="74"/>
                  <a:pt x="0" y="70"/>
                  <a:pt x="0" y="6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2" name="" descr="{&quot;isTemplate&quot;:true,&quot;type&quot;:&quot;text&quot;}"/>
          <p:cNvSpPr txBox="1"/>
          <p:nvPr/>
        </p:nvSpPr>
        <p:spPr>
          <a:xfrm rot="0" flipH="0" flipV="0">
            <a:off x="6638925" y="2276475"/>
            <a:ext cx="50292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1A2230"/>
                </a:solidFill>
                <a:latin typeface="Microsoft YaHei"/>
                <a:ea typeface="Microsoft YaHei"/>
              </a:rPr>
              <a:t>The status screen shall refresh within 2 s at 5 000 concurrent users; 99.5% uptime in term.</a:t>
            </a:r>
            <a:endParaRPr/>
          </a:p>
        </p:txBody>
      </p:sp>
      <p:sp>
        <p:nvSpPr>
          <p:cNvPr id="863" name=""/>
          <p:cNvSpPr/>
          <p:nvPr/>
        </p:nvSpPr>
        <p:spPr>
          <a:xfrm rot="0" flipH="0" flipV="0">
            <a:off x="6496050" y="29527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64" name=""/>
          <p:cNvSpPr/>
          <p:nvPr/>
        </p:nvSpPr>
        <p:spPr>
          <a:xfrm rot="0" flipH="0" flipV="0">
            <a:off x="6496050" y="29527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5" name="" descr="{&quot;isTemplate&quot;:true,&quot;type&quot;:&quot;text&quot;}"/>
          <p:cNvSpPr txBox="1"/>
          <p:nvPr/>
        </p:nvSpPr>
        <p:spPr>
          <a:xfrm rot="0" flipH="0" flipV="0">
            <a:off x="6638925" y="30765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1A2230"/>
                </a:solidFill>
                <a:latin typeface="Microsoft YaHei"/>
                <a:ea typeface="Microsoft YaHei"/>
              </a:rPr>
              <a:t>The system shall store only the provider token — never a full card number.</a:t>
            </a:r>
            <a:endParaRPr/>
          </a:p>
        </p:txBody>
      </p:sp>
      <p:sp>
        <p:nvSpPr>
          <p:cNvPr id="866" name=""/>
          <p:cNvSpPr/>
          <p:nvPr/>
        </p:nvSpPr>
        <p:spPr>
          <a:xfrm rot="0" flipH="0" flipV="0">
            <a:off x="6496050" y="35242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67" name=""/>
          <p:cNvSpPr/>
          <p:nvPr/>
        </p:nvSpPr>
        <p:spPr>
          <a:xfrm rot="0" flipH="0" flipV="0">
            <a:off x="6496050" y="35242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8" name="" descr="{&quot;isTemplate&quot;:true,&quot;type&quot;:&quot;text&quot;}"/>
          <p:cNvSpPr txBox="1"/>
          <p:nvPr/>
        </p:nvSpPr>
        <p:spPr>
          <a:xfrm rot="0" flipH="0" flipV="0">
            <a:off x="6638925" y="36480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1A2230"/>
                </a:solidFill>
                <a:latin typeface="Microsoft YaHei"/>
                <a:ea typeface="Microsoft YaHei"/>
              </a:rPr>
              <a:t>A manager shall mark an item sold out in no more than three taps.</a:t>
            </a:r>
            <a:endParaRPr/>
          </a:p>
        </p:txBody>
      </p:sp>
      <p:sp>
        <p:nvSpPr>
          <p:cNvPr id="869" name=""/>
          <p:cNvSpPr/>
          <p:nvPr/>
        </p:nvSpPr>
        <p:spPr>
          <a:xfrm rot="0" flipH="0" flipV="0">
            <a:off x="6467475" y="4114800"/>
            <a:ext cx="5343525" cy="657225"/>
          </a:xfrm>
          <a:prstGeom prst="roundRect">
            <a:avLst>
              <a:gd name="adj" fmla="val 1304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70" name="" descr="{&quot;isTemplate&quot;:true,&quot;type&quot;:&quot;text&quot;}"/>
          <p:cNvSpPr txBox="1"/>
          <p:nvPr/>
        </p:nvSpPr>
        <p:spPr>
          <a:xfrm rot="0" flipH="0" flipV="0">
            <a:off x="6610350" y="4229100"/>
            <a:ext cx="505777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 b="1">
                <a:solidFill>
                  <a:srgbClr val="0E3F8C"/>
                </a:solidFill>
                <a:latin typeface="Microsoft YaHei"/>
                <a:ea typeface="Microsoft YaHei"/>
              </a:rPr>
              <a:t>Each one names a number, a threshold, or a forbidden thing. That is what makes it testable.</a:t>
            </a:r>
            <a:endParaRPr/>
          </a:p>
        </p:txBody>
      </p:sp>
      <p:sp>
        <p:nvSpPr>
          <p:cNvPr id="871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72" name="" descr="{&quot;isTemplate&quot;:true,&quot;type&quot;:&quot;text&quot;}"/>
          <p:cNvSpPr txBox="1"/>
          <p:nvPr/>
        </p:nvSpPr>
        <p:spPr>
          <a:xfrm rot="0" flipH="0" flipV="0">
            <a:off x="3305175" y="6543675"/>
            <a:ext cx="5581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If you cannot describe how you would test it, you have not finished writing it.</a:t>
            </a:r>
            <a:endParaRPr/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87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2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Actors&lt;br /&gt;&amp;amp; Goals&lt;/Text&gt;&#10;      &lt;Box style={{ width: 64, height: 4, background: '#FFC107', marginTop: 26, marginBottom: 26 }} /&gt;&#10;      &lt;Box style={{ flexDirection: 'column', gap: 12 }}&gt;&#10;        {[&#10;          'An actor is a role, not a person',&#10;          'A use case is a goal, not a function',&#10;          'Beware the CRUD trap — Manage X is not a use cas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7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76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77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78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Actors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&amp; Goals</a:t>
            </a:r>
            <a:endParaRPr/>
          </a:p>
        </p:txBody>
      </p:sp>
      <p:sp>
        <p:nvSpPr>
          <p:cNvPr id="879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80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1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26003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An actor is a role, not a person</a:t>
            </a:r>
            <a:endParaRPr/>
          </a:p>
        </p:txBody>
      </p:sp>
      <p:sp>
        <p:nvSpPr>
          <p:cNvPr id="882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3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2962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use case is a goal, not a function</a:t>
            </a:r>
            <a:endParaRPr/>
          </a:p>
        </p:txBody>
      </p:sp>
      <p:sp>
        <p:nvSpPr>
          <p:cNvPr id="884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5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4600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Beware the CRUD trap — Manage X is not a use case</a:t>
            </a:r>
            <a:endParaRPr/>
          </a:p>
        </p:txBody>
      </p:sp>
      <p:sp>
        <p:nvSpPr>
          <p:cNvPr id="88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8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ACTORS &amp;amp; GOALS&lt;/Text&gt;&#10;  &lt;/Box&gt;&#10;  &lt;Box style={{ padding: '12px 40px 0 40px', flexDirection: 'row', alignItems: 'center', justifyContent: 'space-between' }}&gt;&#10;    &lt;Text style={{ fontSize: 30, fontWeight: 'bold', color: '#0E3F8C' }}&gt;What Is an Actor?&lt;/Text&gt;&#10;    &lt;Text style={{ fontSize: 14, color: '#1E4FA8', fontWeight: 'bold' }}&gt;09 / 38&lt;/Text&gt;&#10;  &lt;/Box&gt;&#10;  &lt;Box style={{ flex: 1, padding: '4px 40px 0 40px', justifyContent: 'center', alignItems: 'center' }}&gt;&#10;    &lt;svg width={1180} height={384} viewBox='0 0 1180 384'&gt;&#10;      &lt;text x='10' y='16' fill='#8B97A8' fontSize='13'&gt;An actor is a ROLE played toward the system — not a job title, and not a person&lt;/text&gt;&#10;&#10;      &lt;g transform='translate(10,32)'&gt;&#10;        &lt;rect x='0' y='0' width='372' height='172' rx='8' fill='#F0F5FC' stroke='#1E4FA8' strokeWidth='2' /&gt;&#10;        &lt;circle cx='30' cy='28' r='15' fill='#1E4FA8' /&gt;&#10;        &lt;text x='30' y='34' textAnchor='middle' fill='#FFFFFF' fontSize='13' fontWeight='bold'&gt;1&lt;/text&gt;&#10;        &lt;text x='54' y='33' fill='#0E3F8C' fontSize='16' fontWeight='bold'&gt;Primary actor&lt;/text&gt;&#10;        &lt;text x='18' y='60' fill='#4A5568' fontSize='12'&gt;Starts the use case. Has a goal&lt;/text&gt;&#10;        &lt;text x='18' y='78' fill='#4A5568' fontSize='12'&gt;the system must satisfy.&lt;/text&gt;&#10;        &lt;line x1='18' y1='92' x2='354' y2='92' stroke='#D6DCE5' strokeWidth='1' /&gt;&#10;        &lt;text x='18' y='112' fill='#1E4FA8' fontSize='11.5' fontWeight='bold'&gt;CampusBites:&lt;/text&gt;&#10;        &lt;text x='18' y='130' fill='#1E4FA8' fontSize='11.5'&gt;Student, Restaurant Manager,&lt;/text&gt;&#10;        &lt;text x='18' y='148' fill='#1E4FA8' fontSize='11.5'&gt;Courier&lt;/text&gt;&#10;        &lt;text x='18' y='166' fill='#8B97A8' fontSize='10.5'&gt;Test: does the use case exist for them?&lt;/text&gt;&#10;      &lt;/g&gt;&#10;&#10;      &lt;g transform='translate(404,32)'&gt;&#10;        &lt;rect x='0' y='0' width='372' height='172' rx='8' fill='#FFFFFF' stroke='#D6DCE5' strokeWidth='1.5' /&gt;&#10;        &lt;circle cx='30' cy='28' r='15' fill='#3D7BD9' /&gt;&#10;        &lt;text x='30' y='34' textAnchor='middle' fill='#FFFFFF' fontSize='13' fontWeight='bold'&gt;2&lt;/text&gt;&#10;        &lt;text x='54' y='33' fill='#0E3F8C' fontSize='16' fontWeight='bold'&gt;Secondary actor&lt;/text&gt;&#10;        &lt;text x='18' y='60' fill='#4A5568' fontSize='12'&gt;Serves the system. The system&lt;/text&gt;&#10;        &lt;text x='18' y='78' fill='#4A5568' fontSize='12'&gt;calls them; they never start it.&lt;/text&gt;&#10;        &lt;line x1='18' y1='92' x2='354' y2='92' stroke='#D6DCE5' strokeWidth='1' /&gt;&#10;        &lt;text x='18' y='112' fill='#1E4FA8' fontSize='11.5' fontWeight='bold'&gt;CampusBites:&lt;/text&gt;&#10;        &lt;text x='18' y='130' fill='#1E4FA8' fontSize='11.5'&gt;Payment Provider, SMS Gateway,&lt;/text&gt;&#10;        &lt;text x='18' y='148' fill='#1E4FA8' fontSize='11.5'&gt;Campus Card Centre&lt;/text&gt;&#10;        &lt;text x='18' y='166' fill='#8B97A8' fontSize='10.5'&gt;Test: who waits, and who is called?&lt;/text&gt;&#10;      &lt;/g&gt;&#10;&#10;      &lt;g transform='translate(798,32)'&gt;&#10;        &lt;rect x='0' y='0' width='372' height='172' rx='8' fill='#FFFFFF' stroke='#D6DCE5' strokeWidth='1.5' /&gt;&#10;        &lt;circle cx='30' cy='28' r='15' fill='#3D7BD9' /&gt;&#10;        &lt;text x='30' y='34' textAnchor='middle' fill='#FFFFFF' fontSize='13' fontWeight='bold'&gt;3&lt;/text&gt;&#10;        &lt;text x='54' y='33' fill='#0E3F8C' fontSize='16' fontWeight='bold'&gt;Another system&lt;/text&gt;&#10;        &lt;text x='18' y='60' fill='#4A5568' fontSize='12'&gt;Software can be an actor.&lt;/text&gt;&#10;        &lt;text x='18' y='78' fill='#4A5568' fontSize='12'&gt;It sits outside your boundary.&lt;/text&gt;&#10;        &lt;line x1='18' y1='92' x2='354' y2='92' stroke='#D6DCE5' strokeWidth='1' /&gt;&#10;        &lt;text x='18' y='112' fill='#1E4FA8' fontSize='11.5' fontWeight='bold'&gt;CampusBites:&lt;/text&gt;&#10;        &lt;text x='18' y='130' fill='#1E4FA8' fontSize='11.5'&gt;the card centre that must&lt;/text&gt;&#10;        &lt;text x='18' y='148' fill='#1E4FA8' fontSize='11.5'&gt;approve a student payment&lt;/text&gt;&#10;        &lt;text x='18' y='166' fill='#8B97A8' fontSize='10.5'&gt;Drawn as a box, or as an actor&lt;/text&gt;&#10;      &lt;/g&gt;&#10;&#10;      &lt;g transform='translate(10,220)'&gt;&#10;        &lt;rect x='0' y='0' width='1160' height='150' rx='8' fill='#FFFFFF' stroke='#D9534F' strokeWidth='1.5' /&gt;&#10;        &lt;circle cx='30' cy='30' r='16' fill='#D9534F' /&gt;&#10;        &lt;text x='30' y='36' textAnchor='middle' fill='#FFFFFF' fontSize='15' fontWeight='bold'&gt;!&lt;/text&gt;&#10;        &lt;text x='56' y='35' fill='#D9534F' fontSize='16' fontWeight='bold'&gt;A role is not a person — the same human can be three actors&lt;/text&gt;&#10;        &lt;line x1='20' y1='56' x2='1140' y2='56' stroke='#E5E7EB' strokeWidth='1' /&gt;&#10;&#10;        &lt;g transform='translate(30,72)'&gt;&#10;          &lt;circle cx='18' cy='18' r='14' fill='none' stroke='#1E4FA8' strokeWidth='2' /&gt;&#10;          &lt;line x1='18' y1='32' x2='18' y2='56' stroke='#1E4FA8' strokeWidth='2' /&gt;&#10;          &lt;line x1='18' y1='40' x2='4' y2='52' stroke='#1E4FA8' strokeWidth='2' /&gt;&#10;          &lt;line x1='18' y1='40' x2='32' y2='52' stroke='#1E4FA8' strokeWidth='2' /&gt;&#10;          &lt;line x1='18' y1='56' x2='6' y2='72' stroke='#1E4FA8' strokeWidth='2' /&gt;&#10;          &lt;line x1='18' y1='56' x2='30' y2='72' stroke='#1E4FA8' strokeWidth='2' /&gt;&#10;          &lt;text x='44' y='26' fill='#1A2230' fontSize='13' fontWeight='bold'&gt;Li Wei&lt;/text&gt;&#10;          &lt;text x='44' y='44' fill='#4A5568' fontSize='11.5'&gt;one human being&lt;/text&gt;&#10;        &lt;/g&gt;&#10;&#10;        &lt;g transform='translate(300,72)'&gt;&#10;          &lt;rect x='0' y='0' width='230' height='60' rx='6' fill='#F0F5FC' stroke='#1E4FA8' strokeWidth='1' /&gt;&#10;          &lt;text x='14' y='24' fill='#0E3F8C' fontSize='12.5' fontWeight='bold'&gt;Student&lt;/text&gt;&#10;          &lt;text x='14' y='44' fill='#4A5568' fontSize='11'&gt;orders lunch at 12:00&lt;/text&gt;&#10;        &lt;/g&gt;&#10;        &lt;g transform='translate(548,72)'&gt;&#10;          &lt;rect x='0' y='0' width='230' height='60' rx='6' fill='#F0F5FC' stroke='#1E4FA8' strokeWidth='1' /&gt;&#10;          &lt;text x='14' y='24' fill='#0E3F8C' fontSize='12.5' fontWeight='bold'&gt;Courier&lt;/text&gt;&#10;          &lt;text x='14' y='44' fill='#4A5568' fontSize='11'&gt;delivers orders at 18:00&lt;/text&gt;&#10;        &lt;/g&gt;&#10;        &lt;g transform='translate(796,72)'&gt;&#10;          &lt;rect x='0' y='0' width='230' height='60' rx='6' fill='#F0F5FC' stroke='#1E4FA8' strokeWidth='1' /&gt;&#10;          &lt;text x='14' y='24' fill='#0E3F8C' fontSize='12.5' fontWeight='bold'&gt;Reviewer&lt;/text&gt;&#10;          &lt;text x='14' y='44' fill='#4A5568' fontSize='11'&gt;rates the restaurant later&lt;/text&gt;&#10;        &lt;/g&gt;&#10;&#10;        &lt;text x='1050' y='98' fill='#8B97A8' fontSize='11'&gt;Three actors.&lt;/text&gt;&#10;        &lt;text x='1050' y='116' fill='#8B97A8' fontSize='11'&gt;One person.&lt;/text&gt;&#10;      &lt;/g&gt;&#10;    &lt;/svg&gt;&#10;  &lt;/Box&gt;&#10;  &lt;Box style={{ height: 34, padding: '0 40px', flexDirection: 'row', alignItems: 'center', justifyContent: 'space-between' }}&gt;&#10;    &lt;Text style={{ fontSize: 13, color: '#8B97A8' }}&gt;ISAD · Fall 2026 · Name the role, not the person — the role is what the system has to serve&lt;/Text&gt;&#10;    &lt;Text style={{ fontSize: 14, color: '#1E4FA8', fontWeight: 'bold' }}&gt;0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8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9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91" name="" descr="{&quot;isTemplate&quot;:true,&quot;type&quot;:&quot;text&quot;}"/>
          <p:cNvSpPr txBox="1"/>
          <p:nvPr/>
        </p:nvSpPr>
        <p:spPr>
          <a:xfrm rot="0" flipH="0" flipV="0">
            <a:off x="10125075" y="257175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ACTORS &amp; GOALS</a:t>
            </a:r>
            <a:endParaRPr/>
          </a:p>
        </p:txBody>
      </p:sp>
      <p:sp>
        <p:nvSpPr>
          <p:cNvPr id="892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2438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What Is an Actor?</a:t>
            </a:r>
            <a:endParaRPr/>
          </a:p>
        </p:txBody>
      </p:sp>
      <p:sp>
        <p:nvSpPr>
          <p:cNvPr id="893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38</a:t>
            </a:r>
            <a:endParaRPr/>
          </a:p>
        </p:txBody>
      </p:sp>
      <p:pic>
        <p:nvPicPr>
          <p:cNvPr id="8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28825"/>
            <a:ext cx="11239500" cy="3657600"/>
          </a:xfrm>
          <a:prstGeom prst="rect">
            <a:avLst/>
          </a:prstGeom>
          <a:ln/>
        </p:spPr>
      </p:pic>
      <p:sp>
        <p:nvSpPr>
          <p:cNvPr id="895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5029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Name the role, not the person — the role is what the system has to serve</a:t>
            </a:r>
            <a:endParaRPr/>
          </a:p>
        </p:txBody>
      </p:sp>
      <p:sp>
        <p:nvSpPr>
          <p:cNvPr id="896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38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ACTORS &amp;amp; GOALS&lt;/Text&gt;&#10;  &lt;/Box&gt;&#10;  &lt;Box style={{ padding: '12px 40px 0 40px', flexDirection: 'row', alignItems: 'center', justifyContent: 'space-between' }}&gt;&#10;    &lt;Text style={{ fontSize: 30, fontWeight: 'bold', color: '#0E3F8C' }}&gt;A Use Case Is a Goal, Not a Function&lt;/Text&gt;&#10;    &lt;Text style={{ fontSize: 14, color: '#1E4FA8', fontWeight: 'bold' }}&gt;10 / 38&lt;/Text&gt;&#10;  &lt;/Box&gt;&#10;  &lt;Box style={{ flex: 1, padding: '18px 60px 0 60px', flexDirection: 'column', justifyContent: 'center', alignItems: 'center' }}&gt;&#10;    &lt;Box style={{ padding: '0 40px', marginBottom: 8 }}&gt;&#10;      &lt;Text style={{ fontSize: 19, color: '#8B97A8', letterSpacing: 1 }}&gt;THE DEFINITION WE USE THIS SEMESTER&lt;/Text&gt;&#10;    &lt;/Box&gt;&#10;    &lt;Box style={{ width: 940, padding: '34px 46px', background: '#F0F5FC', borderRadius: 12, borderLeft: '6px solid #1E4FA8', alignItems: 'center' }}&gt;&#10;      &lt;Text style={{ fontSize: 27, color: '#0E3F8C', fontWeight: 'bold', lineHeight: 1.42, textAlign: 'center' }}&gt;&#10;        A use case is a set of scenarios whose end is a&#10;        &lt;br /&gt;&#10;        user goal — something the actor walks away saying “done”.&#10;      &lt;/Text&gt;&#10;    &lt;/Box&gt;&#10;    &lt;Box style={{ width: 940, marginTop: 12, marginBottom: 22 }}&gt;&#10;      &lt;Text style={{ fontSize: 13.5, color: '#8B97A8', textAlign: 'center', lineHeight: 1.5 }}&gt;&#10;        Cockburn’s definition. Three words carry the weight: scenarios, end, goal.&#10;      &lt;/Text&gt;&#10;    &lt;/Box&gt;&#10;    &lt;Box style={{ width: 940, flexDirection: 'row', gap: 20 }}&gt;&#10;      &lt;Box style={{ flex: 1, padding: '22px 20px', background: '#FFFFFF', borderRadius: 10, border: '1px solid #D6DCE5' }}&gt;&#10;        &lt;FAIcon name='flag-checkered' style={{ fill: '#1E4FA8', width: 22, height: 22 }} /&gt;&#10;        &lt;Text style={{ fontSize: 17, fontWeight: 'bold', color: '#0E3F8C', marginTop: 10 }}&gt;It ends&lt;/Text&gt;&#10;        &lt;Text style={{ fontSize: 13, color: '#4A5568', lineHeight: 1.55, marginTop: 6 }}&gt;&#10;          There is a state of the world where the actor stops and says “that is it”. If your use case never ends, you have modelled a process, not a goal.&#10;        &lt;/Text&gt;&#10;      &lt;/Box&gt;&#10;      &lt;Box style={{ flex: 1, padding: '22px 20px', background: '#FFFFFF', borderRadius: 10, border: '1px solid #D6DCE5' }}&gt;&#10;        &lt;FAIcon name='users' style={{ fill: '#1E4FA8', width: 22, height: 22 }} /&gt;&#10;        &lt;Text style={{ fontSize: 17, fontWeight: 'bold', color: '#0E3F8C', marginTop: 10 }}&gt;It belongs to one actor&lt;/Text&gt;&#10;        &lt;Text style={{ fontSize: 13, color: '#4A5568', lineHeight: 1.55, marginTop: 6 }}&gt;&#10;          Exactly one primary actor owns the goal. Other actors may help, but only one of them is the reason the use case exists.&#10;        &lt;/Text&gt;&#10;      &lt;/Box&gt;&#10;      &lt;Box style={{ flex: 1, padding: '22px 20px', background: '#FFFFFF', borderRadius: 10, border: '1px solid #D6DCE5' }}&gt;&#10;        &lt;FAIcon name='check-circle' style={{ fill: '#1E4FA8', width: 22, height: 22 }} /&gt;&#10;        &lt;Text style={{ fontSize: 17, fontWeight: 'bold', color: '#0E3F8C', marginTop: 10 }}&gt;It can fail, and still be one&lt;/Text&gt;&#10;        &lt;Text style={{ fontSize: 13, color: '#4A5568', lineHeight: 1.55, marginTop: 6 }}&gt;&#10;          “Pay for order” stays one use case whether the card clears or is declined. Success and failure are scenarios inside it — not separate use cases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Ask “what does the actor get out of this?” — if the answer is “nothing yet”, it is not a use cas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0125075" y="257175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ACTORS &amp; GOALS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5010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A Use Case Is a Goal, Not a Function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4076700" y="1724025"/>
            <a:ext cx="40481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spc="75">
                <a:solidFill>
                  <a:srgbClr val="8B97A8"/>
                </a:solidFill>
                <a:latin typeface="Microsoft YaHei"/>
                <a:ea typeface="Microsoft YaHei"/>
              </a:rPr>
              <a:t>THE DEFINITION WE USE THIS SEMESTER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1676400" y="2019300"/>
            <a:ext cx="8896350" cy="1533525"/>
          </a:xfrm>
          <a:prstGeom prst="roundRect">
            <a:avLst>
              <a:gd name="adj" fmla="val 745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1676400" y="2019300"/>
            <a:ext cx="8896350" cy="1533525"/>
          </a:xfrm>
          <a:custGeom>
            <a:pathLst>
              <a:path w="934" h="161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155"/>
                </a:lnTo>
                <a:cubicBezTo>
                  <a:pt x="6" y="158"/>
                  <a:pt x="8" y="160"/>
                  <a:pt x="11" y="161"/>
                </a:cubicBezTo>
                <a:cubicBezTo>
                  <a:pt x="5" y="160"/>
                  <a:pt x="0" y="155"/>
                  <a:pt x="0" y="149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2438400" y="2343150"/>
            <a:ext cx="7381875" cy="885825"/>
          </a:xfrm>
          <a:prstGeom prst="rect"/>
        </p:spPr>
        <p:txBody>
          <a:bodyPr wrap="none" lIns="0" tIns="0" rIns="0" bIns="0"/>
          <a:p>
            <a:pPr algn="ctr">
              <a:lnSpc>
                <a:spcPct val="142000"/>
              </a:lnSpc>
            </a:pPr>
            <a:r>
              <a:rPr lang="en-US" sz="2025" b="1">
                <a:solidFill>
                  <a:srgbClr val="0E3F8C"/>
                </a:solidFill>
                <a:latin typeface="Microsoft YaHei"/>
                <a:ea typeface="Microsoft YaHei"/>
              </a:rPr>
              <a:t>A use case is a set of scenarios whose end is a</a:t>
            </a:r>
            <a:endParaRPr/>
          </a:p>
          <a:p>
            <a:pPr algn="ctr">
              <a:lnSpc>
                <a:spcPct val="142000"/>
              </a:lnSpc>
            </a:pPr>
            <a:r>
              <a:rPr lang="en-US" sz="2025" b="1">
                <a:solidFill>
                  <a:srgbClr val="0E3F8C"/>
                </a:solidFill>
                <a:latin typeface="Microsoft YaHei"/>
                <a:ea typeface="Microsoft YaHei"/>
              </a:rPr>
              <a:t>user goal — something the actor walks away saying “done”.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619250" y="3667125"/>
            <a:ext cx="8953500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Cockburn’s definition. Three words carry the weight: scenarios, end, goal.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1619250" y="4114800"/>
            <a:ext cx="28575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809750" y="4324350"/>
            <a:ext cx="209550" cy="209550"/>
          </a:xfrm>
          <a:prstGeom prst="rect">
            <a:avLst/>
          </a:prstGeom>
          <a:ln/>
        </p:spPr>
      </p:pic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809750" y="4629150"/>
            <a:ext cx="2476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It ends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809750" y="4886325"/>
            <a:ext cx="2476500" cy="923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There is a state of the world where the actor stops and says “that is it”. If your use case never ends, you have modelled a process, not a goal.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4667250" y="4114800"/>
            <a:ext cx="28575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857750" y="4324350"/>
            <a:ext cx="209550" cy="209550"/>
          </a:xfrm>
          <a:prstGeom prst="rect">
            <a:avLst/>
          </a:prstGeom>
          <a:ln/>
        </p:spPr>
      </p:pic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4857750" y="4629150"/>
            <a:ext cx="2476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It belongs to one actor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4857750" y="4886325"/>
            <a:ext cx="247650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Exactly one primary actor owns the goal. Other actors may help, but only one of them is the reason the use case exists.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7715250" y="4114800"/>
            <a:ext cx="28575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905750" y="4324350"/>
            <a:ext cx="209550" cy="209550"/>
          </a:xfrm>
          <a:prstGeom prst="rect">
            <a:avLst/>
          </a:prstGeom>
          <a:ln/>
        </p:spPr>
      </p:pic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7905750" y="4629150"/>
            <a:ext cx="2476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It can fail, and still be one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905750" y="4886325"/>
            <a:ext cx="2476500" cy="923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“Pay for order” stays one use case whether the card clears or is declined. Success and failure are scenarios inside it — not separate use cases.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2657475" y="6543675"/>
            <a:ext cx="68865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Ask “what does the actor get out of this?” — if the answer is “nothing yet”, it is not a use case.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ACTORS &amp;amp; GOALS&lt;/Text&gt;&#10;  &lt;/Box&gt;&#10;  &lt;Box style={{ padding: '14px 40px 0 40px', flexDirection: 'row', alignItems: 'center', justifyContent: 'space-between' }}&gt;&#10;    &lt;Text style={{ fontSize: 29, fontWeight: 'bold', color: '#0E3F8C' }}&gt;The CRUD Trap&lt;/Text&gt;&#10;    &lt;Text style={{ fontSize: 14, color: '#1E4FA8', fontWeight: 'bold' }}&gt;11 / 38&lt;/Text&gt;&#10;  &lt;/Box&gt;&#10;  &lt;Box style={{ flex: 1, padding: '12px 40px 0 40px', flexDirection: 'row', gap: 22 }}&gt;&#10;    &lt;Box style={{ flex: 1, flexDirection: 'column' }}&gt;&#10;      &lt;Box style={{ flexDirection: 'row', alignItems: 'center', gap: 9, marginBottom: 10 }}&gt;&#10;        &lt;FAIcon name='times-circle' style={{ fill: '#D9534F', width: 20, height: 20 }} /&gt;&#10;        &lt;Text style={{ fontSize: 17, fontWeight: 'bold', color: '#D9534F' }}&gt;Data-centred — four “use cases”&lt;/Text&gt;&#10;      &lt;/Box&gt;&#10;      {[&#10;        ['Manage Order', 'Create / Read / Update / Delete, all in one'],&#10;        ['Maintain Menu', 'Who wants this? Nobody gets up for it'],&#10;        ['Maintain Customer', 'No goal. No end. Just a table'],&#10;        ['Administer System', 'A screen name, not a user goal'],&#10;      ].map((r) =&gt; (&#10;        &lt;Box key={r[0]} style={{ padding: '14px 16px', background: '#FDF3F3', borderRadius: 9, borderLeft: '3px solid #D9534F', marginBottom: 9 }}&gt;&#10;          &lt;Text style={{ fontSize: 15, fontWeight: 'bold', color: '#1A2230' }}&gt;{r[0]}&lt;/Text&gt;&#10;          &lt;Text style={{ fontSize: 12.5, color: '#4A5568', lineHeight: 1.5, marginTop: 3 }}&gt;{r[1]}&lt;/Text&gt;&#10;        &lt;/Box&gt;&#10;      ))}&#10;    &lt;/Box&gt;&#10;    &lt;Box style={{ width: 34, justifyContent: 'center', alignItems: 'center' }}&gt;&#10;      &lt;FAIcon name='long-arrow-alt-right' style={{ fill: '#3D7BD9', width: 26, height: 26 }} /&gt;&#10;    &lt;/Box&gt;&#10;    &lt;Box style={{ flex: 1, flexDirection: 'column' }}&gt;&#10;      &lt;Box style={{ flexDirection: 'row', alignItems: 'center', gap: 9, marginBottom: 10 }}&gt;&#10;        &lt;FAIcon name='check-circle' style={{ fill: '#1E4FA8', width: 20, height: 20 }} /&gt;&#10;        &lt;Text style={{ fontSize: 17, fontWeight: 'bold', color: '#1E4FA8' }}&gt;Goal-centred — what people want&lt;/Text&gt;&#10;      &lt;/Box&gt;&#10;      {[&#10;        ['Place Order', 'Student · ends when the order is accepted'],&#10;        ['Cancel Order', 'Student · ends when the refund is issued'],&#10;        ['Manage Today’s Menu', 'Restaurant Manager · ends when the menu is live'],&#10;        ['Dispatch Courier', 'Dispatcher · ends when a rider is assigned'],&#10;      ].map((r) =&gt; (&#10;        &lt;Box key={r[0]} style={{ padding: '14px 16px', background: '#F0F5FC', borderRadius: 9, borderLeft: '3px solid #1E4FA8', marginBottom: 9 }}&gt;&#10;          &lt;Text style={{ fontSize: 15, fontWeight: 'bold', color: '#1A2230' }}&gt;{r[0]}&lt;/Text&gt;&#10;          &lt;Text style={{ fontSize: 12.5, color: '#4A5568', lineHeight: 1.5, marginTop: 3 }}&gt;{r[1]}&lt;/Text&gt;&#10;        &lt;/Box&gt;&#10;      ))}&#10;    &lt;/Box&gt;&#10;  &lt;/Box&gt;&#10;  &lt;Box style={{ height: 46, background: '#0E3F8C', padding: '0 40px', flexDirection: 'row', alignItems: 'center', justifyContent: 'center' }}&gt;&#10;    &lt;Text style={{ fontSize: 16, color: '#FFFFFF', fontWeight: '600' }}&gt;“Manage X” is a database table with a verb glued on. Ask who wakes up wanting i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0125075" y="257175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ACTORS &amp; GOALS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0288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The CRUD Trap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276350"/>
            <a:ext cx="190500" cy="190500"/>
          </a:xfrm>
          <a:prstGeom prst="rect">
            <a:avLst/>
          </a:prstGeom>
          <a:ln/>
        </p:spPr>
      </p:pic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57225" y="1266825"/>
            <a:ext cx="25431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Data-centred — four “use cases”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409575" y="1562100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409575" y="1562100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561975" y="1695450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Manage Order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561975" y="1895475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Create / Read / Update / Delete, all in one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409575" y="2333625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55" name=""/>
          <p:cNvSpPr/>
          <p:nvPr/>
        </p:nvSpPr>
        <p:spPr>
          <a:xfrm rot="0" flipH="0" flipV="0">
            <a:off x="409575" y="2333625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561975" y="2466975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Maintain Menu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561975" y="2667000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Who wants this? Nobody gets up for it</a:t>
            </a:r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409575" y="3105150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59" name=""/>
          <p:cNvSpPr/>
          <p:nvPr/>
        </p:nvSpPr>
        <p:spPr>
          <a:xfrm rot="0" flipH="0" flipV="0">
            <a:off x="409575" y="3105150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561975" y="3238500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Maintain Customer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561975" y="3438525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No goal. No end. Just a table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409575" y="3876675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63" name=""/>
          <p:cNvSpPr/>
          <p:nvPr/>
        </p:nvSpPr>
        <p:spPr>
          <a:xfrm rot="0" flipH="0" flipV="0">
            <a:off x="409575" y="3876675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561975" y="4010025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Administer System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561975" y="4210050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A screen name, not a user goal</a:t>
            </a:r>
            <a:endParaRPr/>
          </a:p>
        </p:txBody>
      </p:sp>
      <p:pic>
        <p:nvPicPr>
          <p:cNvPr id="6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972175" y="3724275"/>
            <a:ext cx="247650" cy="247650"/>
          </a:xfrm>
          <a:prstGeom prst="rect">
            <a:avLst/>
          </a:prstGeom>
          <a:ln/>
        </p:spPr>
      </p:pic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67475" y="1276350"/>
            <a:ext cx="190500" cy="190500"/>
          </a:xfrm>
          <a:prstGeom prst="rect">
            <a:avLst/>
          </a:prstGeom>
          <a:ln/>
        </p:spPr>
      </p:pic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743700" y="1266825"/>
            <a:ext cx="2600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Microsoft YaHei"/>
                <a:ea typeface="Microsoft YaHei"/>
              </a:rPr>
              <a:t>Goal-centred — what people want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6496050" y="1562100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496050" y="1562100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648450" y="1695450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Place Order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648450" y="1895475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Student · ends when the order is accepted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6496050" y="2333625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4" name=""/>
          <p:cNvSpPr/>
          <p:nvPr/>
        </p:nvSpPr>
        <p:spPr>
          <a:xfrm rot="0" flipH="0" flipV="0">
            <a:off x="6496050" y="2333625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648450" y="2466975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Cancel Order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648450" y="2667000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Student · ends when the refund is issued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6496050" y="3105150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8" name=""/>
          <p:cNvSpPr/>
          <p:nvPr/>
        </p:nvSpPr>
        <p:spPr>
          <a:xfrm rot="0" flipH="0" flipV="0">
            <a:off x="6496050" y="3105150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6648450" y="3238500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Manage Today’s Menu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6648450" y="3438525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Restaurant Manager · ends when the menu is live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6496050" y="3876675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2" name=""/>
          <p:cNvSpPr/>
          <p:nvPr/>
        </p:nvSpPr>
        <p:spPr>
          <a:xfrm rot="0" flipH="0" flipV="0">
            <a:off x="6496050" y="3876675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6648450" y="4010025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Dispatch Courier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6648450" y="4210050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Dispatcher · ends when a rider is assigned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086100" y="6543675"/>
            <a:ext cx="601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“Manage X” is a database table with a verb glued on. Ask who wakes up wanting it.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ACTORS &amp;amp; GOALS&lt;/Text&gt;&#10;  &lt;/Box&gt;&#10;  &lt;Box style={{ padding: '12px 40px 0 40px', flexDirection: 'row', alignItems: 'center', justifyContent: 'space-between' }}&gt;&#10;    &lt;Text style={{ fontSize: 29, fontWeight: 'bold', color: '#0E3F8C' }}&gt;Actor Generalization&lt;/Text&gt;&#10;    &lt;Text style={{ fontSize: 14, color: '#1E4FA8', fontWeight: 'bold' }}&gt;12 / 38&lt;/Text&gt;&#10;  &lt;/Box&gt;&#10;  &lt;Box style={{ flex: 1, padding: '8px 40px 0 40px', flexDirection: 'row', gap: 26 }}&gt;&#10;    &lt;Box style={{ width: 560, justifyContent: 'center', alignItems: 'center' }}&gt;&#10;      &lt;svg width={560} height={356} viewBox='0 0 560 356'&gt;&#10;        &lt;text x='6' y='16' fill='#8B97A8' fontSize='12'&gt;The child inherits every use case of the parent&lt;/text&gt;&#10;&#10;        &lt;g transform='translate(18,40)'&gt;&#10;          &lt;circle cx='0' cy='0' r='9' fill='none' stroke='#1E4FA8' strokeWidth='2' /&gt;&#10;          &lt;line x1='0' y1='9' x2='0' y2='30' stroke='#1E4FA8' strokeWidth='2' /&gt;&#10;          &lt;line x1='0' y1='17' x2='-12' y2='28' stroke='#1E4FA8' strokeWidth='2' /&gt;&#10;          &lt;line x1='0' y1='17' x2='12' y2='28' stroke='#1E4FA8' strokeWidth='2' /&gt;&#10;          &lt;line x1='0' y1='30' x2='-11' y2='46' stroke='#1E4FA8' strokeWidth='2' /&gt;&#10;          &lt;line x1='0' y1='30' x2='11' y2='46' stroke='#1E4FA8' strokeWidth='2' /&gt;&#10;          &lt;text x='0' y='62' textAnchor='middle' fill='#0E3F8C' fontSize='13' fontWeight='bold'&gt;User&lt;/text&gt;&#10;          &lt;text x='0' y='78' textAnchor='middle' fill='#8B97A8' fontSize='10.5'&gt;parent actor&lt;/text&gt;&#10;        &lt;/g&gt;&#10;&#10;        &lt;path d='M 90 105 L 90 140 L 26 140 L 26 168' fill='none' stroke='#1E4FA8' strokeWidth='1.6' /&gt;&#10;        &lt;path d='M 90 105 L 90 140 L 154 140 L 154 168' fill='none' stroke='#1E4FA8' strokeWidth='1.6' /&gt;&#10;        &lt;polygon points='90,168 82,150 98,150' fill='#FFFFFF' stroke='#1E4FA8' strokeWidth='1.6' /&gt;&#10;        &lt;text x='104' y='132' fill='#4A5568' fontSize='10.5'&gt;generalization&lt;/text&gt;&#10;        &lt;text x='104' y='148' fill='#8B97A8' fontSize='10'&gt;hollow triangle&lt;/text&gt;&#10;&#10;        &lt;g transform='translate(10,170)'&gt;&#10;          &lt;circle cx='16' cy='12' r='9' fill='none' stroke='#3D7BD9' strokeWidth='2' /&gt;&#10;          &lt;line x1='16' y1='21' x2='16' y2='40' stroke='#3D7BD9' strokeWidth='2' /&gt;&#10;          &lt;line x1='16' y1='28' x2='5' y2='38' stroke='#3D7BD9' strokeWidth='2' /&gt;&#10;          &lt;line x1='16' y1='28' x2='27' y2='38' stroke='#3D7BD9' strokeWidth='2' /&gt;&#10;          &lt;line x1='16' y1='40' x2='6' y2='54' stroke='#3D7BD9' strokeWidth='2' /&gt;&#10;          &lt;line x1='16' y1='40' x2='26' y2='54' stroke='#3D7BD9' strokeWidth='2' /&gt;&#10;          &lt;text x='16' y='70' textAnchor='middle' fill='#0E3F8C' fontSize='12.5' fontWeight='bold'&gt;Student&lt;/text&gt;&#10;        &lt;/g&gt;&#10;&#10;        &lt;g transform='translate(140,170)'&gt;&#10;          &lt;circle cx='18' cy='12' r='9' fill='none' stroke='#3D7BD9' strokeWidth='2' /&gt;&#10;          &lt;line x1='18' y1='21' x2='18' y2='40' stroke='#3D7BD9' strokeWidth='2' /&gt;&#10;          &lt;line x1='18' y1='28' x2='7' y2='38' stroke='#3D7BD9' strokeWidth='2' /&gt;&#10;          &lt;line x1='18' y1='28' x2='29' y2='38' stroke='#3D7BD9' strokeWidth='2' /&gt;&#10;          &lt;line x1='18' y1='40' x2='8' y2='54' stroke='#3D7BD9' strokeWidth='2' /&gt;&#10;          &lt;line x1='18' y1='40' x2='28' y2='54' stroke='#3D7BD9' strokeWidth='2' /&gt;&#10;          &lt;text x='18' y='70' textAnchor='middle' fill='#0E3F8C' fontSize='12.5' fontWeight='bold'&gt;Staff&lt;/text&gt;&#10;        &lt;/g&gt;&#10;&#10;        &lt;rect x='250' y='30' width='300' height='300' rx='8' fill='#F7F9FC' stroke='#1E4FA8' strokeWidth='2' /&gt;&#10;        &lt;text x='400' y='54' textAnchor='middle' fill='#0E3F8C' fontSize='13.5' fontWeight='bold'&gt;CampusBites&lt;/text&gt;&#10;        &lt;text x='400' y='70' textAnchor='middle' fill='#8B97A8' fontSize='10'&gt;system boundary&lt;/text&gt;&#10;&#10;        &lt;ellipse cx='400' cy='112' rx='112' ry='27' fill='#FFFFFF' stroke='#1E4FA8' strokeWidth='1.6' /&gt;&#10;        &lt;text x='400' y='117' textAnchor='middle' fill='#1A2230' fontSize='12.5'&gt;Browse Menu&lt;/text&gt;&#10;&#10;        &lt;ellipse cx='400' cy='164' rx='112' ry='27' fill='#FFFFFF' stroke='#1E4FA8' strokeWidth='1.6' /&gt;&#10;        &lt;text x='400' y='169' textAnchor='middle' fill='#1A2230' fontSize='12.5'&gt;Place Order&lt;/text&gt;&#10;&#10;        &lt;ellipse cx='400' cy='216' rx='112' ry='27' fill='#FFFFFF' stroke='#1E4FA8' strokeWidth='1.6' /&gt;&#10;        &lt;text x='400' y='221' textAnchor='middle' fill='#1A2230' fontSize='12.5'&gt;Track Order&lt;/text&gt;&#10;&#10;        &lt;ellipse cx='400' cy='268' rx='112' ry='27' fill='#FFFFFF' stroke='#3D7BD9' strokeWidth='1.6' strokeDasharray='5 3' /&gt;&#10;        &lt;text x='400' y='273' textAnchor='middle' fill='#3D7BD9' fontSize='12.5'&gt;Order Staff Meal&lt;/text&gt;&#10;        &lt;text x='400' y='294' textAnchor='middle' fill='#8B97A8' fontSize='9.5'&gt;inherited by all; written once&lt;/text&gt;&#10;&#10;        &lt;line x1='28' y1='112' x2='288' y2='112' stroke='#1E4FA8' strokeWidth='1.4' /&gt;&#10;        &lt;line x1='158' y1='164' x2='288' y2='164' stroke='#1E4FA8' strokeWidth='1.4' /&gt;&#10;        &lt;line x1='28' y1='216' x2='288' y2='216' stroke='#1E4FA8' strokeWidth='1.4' /&gt;&#10;        &lt;line x1='158' y1='268' x2='288' y2='268' stroke='#3D7BD9' strokeWidth='1.4' /&gt;&#10;      &lt;/svg&gt;&#10;    &lt;/Box&gt;&#10;    &lt;Box style={{ flex: 1, flexDirection: 'column', justifyContent: 'center', gap: 14 }}&gt;&#10;      &lt;Box style={{ padding: '16px 18px', background: '#F0F5FC', borderRadius: 9, borderLeft: '4px solid #1E4FA8' }}&gt;&#10;        &lt;Text style={{ fontSize: 16, fontWeight: 'bold', color: '#0E3F8C' }}&gt;What the arrow says&lt;/Text&gt;&#10;        &lt;Text style={{ fontSize: 13, color: '#4A5568', lineHeight: 1.6, marginTop: 5 }}&gt;&#10;          A hollow triangle points from the child to the parent. Read it as “Student is a kind of User”. Every use case attached to User is automatically available to Student and Staff.&#10;        &lt;/Text&gt;&#10;      &lt;/Box&gt;&#10;      &lt;Box style={{ padding: '16px 18px', background: '#F7F9FC', borderRadius: 9, borderLeft: '4px solid #3D7BD9' }}&gt;&#10;        &lt;Text style={{ fontSize: 16, fontWeight: 'bold', color: '#0E3F8C' }}&gt;Use it when…&lt;/Text&gt;&#10;        &lt;Text style={{ fontSize: 13, color: '#4A5568', lineHeight: 1.6, marginTop: 5 }}&gt;&#10;          Two actors share most of their goals, and one of them has one or two extra. You then write the shared use cases once, against the parent.&#10;        &lt;/Text&gt;&#10;      &lt;/Box&gt;&#10;      &lt;Box style={{ padding: '16px 18px', background: '#FDF3F3', borderRadius: 9, borderLeft: '4px solid #D9534F' }}&gt;&#10;        &lt;Text style={{ fontSize: 16, fontWeight: 'bold', color: '#D9534F' }}&gt;Do not use it when…&lt;/Text&gt;&#10;        &lt;Text style={{ fontSize: 13, color: '#4A5568', lineHeight: 1.6, marginTop: 5 }}&gt;&#10;          The two roles share almost nothing. A hollow triangle that earns you one line of saving is one more thing the reader must decode — draw two actors instead.&#10;        &lt;/Text&gt;&#10;      &lt;/Box&gt;&#10;      &lt;Box style={{ padding: '12px 16px', background: '#FFFFFF', borderRadius: 8, border: '1px dashed #D6DCE5' }}&gt;&#10;        &lt;Text style={{ fontSize: 12.5, color: '#8B97A8', lineHeight: 1.55 }}&gt;&#10;          Rule of thumb: if you have to explain why the triangle is there, take it out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Generalization is a saving, not a decoration&lt;/Text&gt;&#10;    &lt;Text style={{ fontSize: 14, color: '#1E4FA8', fontWeight: 'bold' }}&gt;1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10125075" y="257175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ACTORS &amp; GOALS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27051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Actor Generalization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  <p:pic>
        <p:nvPicPr>
          <p:cNvPr id="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181225"/>
            <a:ext cx="5334000" cy="3390900"/>
          </a:xfrm>
          <a:prstGeom prst="rect">
            <a:avLst/>
          </a:prstGeom>
          <a:ln/>
        </p:spPr>
      </p:pic>
      <p:sp>
        <p:nvSpPr>
          <p:cNvPr id="95" name=""/>
          <p:cNvSpPr/>
          <p:nvPr/>
        </p:nvSpPr>
        <p:spPr>
          <a:xfrm rot="0" flipH="0" flipV="0">
            <a:off x="6000750" y="1914525"/>
            <a:ext cx="5848350" cy="1019175"/>
          </a:xfrm>
          <a:prstGeom prst="roundRect">
            <a:avLst>
              <a:gd name="adj" fmla="val 841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6000750" y="1914525"/>
            <a:ext cx="5848350" cy="1019175"/>
          </a:xfrm>
          <a:custGeom>
            <a:pathLst>
              <a:path w="614" h="107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2"/>
                </a:lnTo>
                <a:cubicBezTo>
                  <a:pt x="4" y="104"/>
                  <a:pt x="6" y="106"/>
                  <a:pt x="8" y="107"/>
                </a:cubicBezTo>
                <a:cubicBezTo>
                  <a:pt x="4" y="107"/>
                  <a:pt x="0" y="103"/>
                  <a:pt x="0" y="98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172200" y="2066925"/>
            <a:ext cx="5467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What the arrow says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6172200" y="2305050"/>
            <a:ext cx="54673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hollow triangle points from the child to the parent. Read it as “Student is a kind of User”. Every use case attached to User is automatically available to Student and Staff.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6000750" y="3067050"/>
            <a:ext cx="5848350" cy="1019175"/>
          </a:xfrm>
          <a:prstGeom prst="roundRect">
            <a:avLst>
              <a:gd name="adj" fmla="val 841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0" name=""/>
          <p:cNvSpPr/>
          <p:nvPr/>
        </p:nvSpPr>
        <p:spPr>
          <a:xfrm rot="0" flipH="0" flipV="0">
            <a:off x="6000750" y="3067050"/>
            <a:ext cx="5848350" cy="1019175"/>
          </a:xfrm>
          <a:custGeom>
            <a:pathLst>
              <a:path w="614" h="107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2"/>
                </a:lnTo>
                <a:cubicBezTo>
                  <a:pt x="4" y="104"/>
                  <a:pt x="6" y="106"/>
                  <a:pt x="8" y="107"/>
                </a:cubicBezTo>
                <a:cubicBezTo>
                  <a:pt x="4" y="107"/>
                  <a:pt x="0" y="103"/>
                  <a:pt x="0" y="98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6172200" y="3219450"/>
            <a:ext cx="5467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Use it when…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6172200" y="3457575"/>
            <a:ext cx="54673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Two actors share most of their goals, and one of them has one or two extra. You then write the shared use cases once, against the parent.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6000750" y="4219575"/>
            <a:ext cx="5848350" cy="1019175"/>
          </a:xfrm>
          <a:prstGeom prst="roundRect">
            <a:avLst>
              <a:gd name="adj" fmla="val 841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04" name=""/>
          <p:cNvSpPr/>
          <p:nvPr/>
        </p:nvSpPr>
        <p:spPr>
          <a:xfrm rot="0" flipH="0" flipV="0">
            <a:off x="6000750" y="4219575"/>
            <a:ext cx="5848350" cy="1019175"/>
          </a:xfrm>
          <a:custGeom>
            <a:pathLst>
              <a:path w="614" h="107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2"/>
                </a:lnTo>
                <a:cubicBezTo>
                  <a:pt x="4" y="104"/>
                  <a:pt x="6" y="106"/>
                  <a:pt x="8" y="107"/>
                </a:cubicBezTo>
                <a:cubicBezTo>
                  <a:pt x="4" y="107"/>
                  <a:pt x="0" y="103"/>
                  <a:pt x="0" y="98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172200" y="4371975"/>
            <a:ext cx="5467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Do not use it when…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172200" y="4610100"/>
            <a:ext cx="54673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two roles share almost nothing. A hollow triangle that earns you one line of saving is one more thing the reader must decode — draw two actors instead.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5962650" y="5372100"/>
            <a:ext cx="58483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115050" y="5486400"/>
            <a:ext cx="5543550" cy="2286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Rule of thumb: if you have to explain why the triangle is there, take it out.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3400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Generalization is a saving, not a decoration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</p:spTree>
  </p:cSld>
</p:sld>
</file>

<file path=ppt/slides/slide1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ACTORS &amp;amp; GOALS&lt;/Text&gt;&#10;  &lt;/Box&gt;&#10;  &lt;Box style={{ padding: '14px 40px 0 40px', flexDirection: 'row', alignItems: 'center', justifyContent: 'space-between' }}&gt;&#10;    &lt;Text style={{ fontSize: 29, fontWeight: 'bold', color: '#0E3F8C' }}&gt;Naming a Use Case&lt;/Text&gt;&#10;    &lt;Text style={{ fontSize: 14, color: '#1E4FA8', fontWeight: 'bold' }}&gt;13 / 38&lt;/Text&gt;&#10;  &lt;/Box&gt;&#10;  &lt;Box style={{ flex: 1, padding: '12px 40px 0 40px', flexDirection: 'row', gap: 24 }}&gt;&#10;    &lt;Box style={{ width: 310, flexDirection: 'column', gap: 12, justifyContent: 'center' }}&gt;&#10;      &lt;Box style={{ padding: '18px 18px', background: '#F0F5FC', borderRadius: 10, borderTop: '4px solid #1E4FA8' }}&gt;&#10;        &lt;Text style={{ fontSize: 17, fontWeight: 'bold', color: '#0E3F8C' }}&gt;Verb + object&lt;/Text&gt;&#10;        &lt;Text style={{ fontSize: 13, color: '#4A5568', lineHeight: 1.6, marginTop: 6 }}&gt;&#10;          Two or three words. An active verb, then the thing the actor cares about.&#10;        &lt;/Text&gt;&#10;      &lt;/Box&gt;&#10;      &lt;Box style={{ padding: '18px 18px', background: '#F7F9FC', borderRadius: 10, borderTop: '4px solid #3D7BD9' }}&gt;&#10;        &lt;Text style={{ fontSize: 17, fontWeight: 'bold', color: '#0E3F8C' }}&gt;Business words&lt;/Text&gt;&#10;        &lt;Text style={{ fontSize: 13, color: '#4A5568', lineHeight: 1.6, marginTop: 6 }}&gt;&#10;          Say “Place Order”, not “Insert Row”. A manager must be able to read the diagram without a developer next to them.&#10;        &lt;/Text&gt;&#10;      &lt;/Box&gt;&#10;      &lt;Box style={{ padding: '18px 18px', background: '#FDF3F3', borderRadius: 10, borderTop: '4px solid #D9534F' }}&gt;&#10;        &lt;Text style={{ fontSize: 17, fontWeight: 'bold', color: '#D9534F' }}&gt;Never a step&lt;/Text&gt;&#10;        &lt;Text style={{ fontSize: 13, color: '#4A5568', lineHeight: 1.6, marginTop: 6 }}&gt;&#10;          If the name is something the actor does on the way, it belongs inside a use case, not on the diagram.&#10;        &lt;/Text&gt;&#10;      &lt;/Box&gt;&#10;    &lt;/Box&gt;&#10;    &lt;Box style={{ flex: 1, flexDirection: 'column', justifyContent: 'center', gap: 10 }}&gt;&#10;      {[&#10;        ['Order Processing', 'Place Order', 'A noun phrase describes a topic, not a goal'],&#10;        ['Validate Credit Card', 'Pay for Order', 'A single step. The actor wants the order paid, not a check'],&#10;        ['Order Management System', 'Manage Today’s Menu', 'You named the software, or the table — not the goal'],&#10;        ['User Logs In and Then Browses', 'Browse Menu', 'Two goals glued together. Split them; log in is an include'],&#10;      ].map((r) =&gt; (&#10;        &lt;Box key={r[0]} style={{ flexDirection: 'row', alignItems: 'stretch', gap: 12 }}&gt;&#10;          &lt;Box style={{ flex: 1, padding: '13px 15px', background: '#FDF3F3', borderRadius: 8, borderLeft: '3px solid #D9534F', justifyContent: 'center' }}&gt;&#10;            &lt;Text style={{ fontSize: 11, color: '#8B97A8', marginBottom: 2 }}&gt;WEAK&lt;/Text&gt;&#10;            &lt;Text style={{ fontSize: 15, color: '#1A2230', fontWeight: '600' }}&gt;{r[0]}&lt;/Text&gt;&#10;          &lt;/Box&gt;&#10;          &lt;Box style={{ width: 30, justifyContent: 'center', alignItems: 'center' }}&gt;&#10;            &lt;FAIcon name='long-arrow-alt-right' style={{ fill: '#1E4FA8', width: 20, height: 20 }} /&gt;&#10;          &lt;/Box&gt;&#10;          &lt;Box style={{ flex: 1, padding: '13px 15px', background: '#F0F5FC', borderRadius: 8, borderLeft: '3px solid #1E4FA8', justifyContent: 'center' }}&gt;&#10;            &lt;Text style={{ fontSize: 11, color: '#8B97A8', marginBottom: 2 }}&gt;BETTER&lt;/Text&gt;&#10;            &lt;Text style={{ fontSize: 15, color: '#0E3F8C', fontWeight: 'bold' }}&gt;{r[1]}&lt;/Text&gt;&#10;          &lt;/Box&gt;&#10;          &lt;Box style={{ width: 300, padding: '13px 15px', background: '#FFFFFF', borderRadius: 8, border: '1px solid #D6DCE5', justifyContent: 'center' }}&gt;&#10;            &lt;Text style={{ fontSize: 12, color: '#4A5568', lineHeight: 1.5 }}&gt;{r[2]}&lt;/Text&gt;&#10;          &lt;/Box&gt;&#10;        &lt;/Box&gt;&#10;      ))}&#10;    &lt;/Box&gt;&#10;  &lt;/Box&gt;&#10;  &lt;Box style={{ height: 46, background: '#0E3F8C', padding: '0 40px', flexDirection: 'row', alignItems: 'center', justifyContent: 'center' }}&gt;&#10;    &lt;Text style={{ fontSize: 16, color: '#FFFFFF', fontWeight: '600' }}&gt;Read your names aloud to the actor. If it sounds like a screen label, try agai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10125075" y="257175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ACTORS &amp; GOALS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57175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Naming a Use Case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13 / 38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381000" y="1857375"/>
            <a:ext cx="2952750" cy="1114425"/>
          </a:xfrm>
          <a:prstGeom prst="roundRect">
            <a:avLst>
              <a:gd name="adj" fmla="val 854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9" name=""/>
          <p:cNvSpPr/>
          <p:nvPr/>
        </p:nvSpPr>
        <p:spPr>
          <a:xfrm rot="0" flipH="0" flipV="0">
            <a:off x="381000" y="1857375"/>
            <a:ext cx="2952750" cy="1114425"/>
          </a:xfrm>
          <a:custGeom>
            <a:pathLst>
              <a:path w="310" h="117">
                <a:moveTo>
                  <a:pt x="300" y="0"/>
                </a:moveTo>
                <a:cubicBezTo>
                  <a:pt x="305" y="0"/>
                  <a:pt x="309" y="4"/>
                  <a:pt x="310" y="8"/>
                </a:cubicBezTo>
                <a:cubicBezTo>
                  <a:pt x="309" y="6"/>
                  <a:pt x="307" y="4"/>
                  <a:pt x="304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300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552450" y="2028825"/>
            <a:ext cx="2609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Verb + object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552450" y="2286000"/>
            <a:ext cx="26098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Two or three words. An active verb, then the thing the actor cares about.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381000" y="3086100"/>
            <a:ext cx="2952750" cy="1352550"/>
          </a:xfrm>
          <a:prstGeom prst="roundRect">
            <a:avLst>
              <a:gd name="adj" fmla="val 704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3" name=""/>
          <p:cNvSpPr/>
          <p:nvPr/>
        </p:nvSpPr>
        <p:spPr>
          <a:xfrm rot="0" flipH="0" flipV="0">
            <a:off x="381000" y="3086100"/>
            <a:ext cx="2952750" cy="1352550"/>
          </a:xfrm>
          <a:custGeom>
            <a:pathLst>
              <a:path w="310" h="142">
                <a:moveTo>
                  <a:pt x="300" y="0"/>
                </a:moveTo>
                <a:cubicBezTo>
                  <a:pt x="305" y="0"/>
                  <a:pt x="309" y="4"/>
                  <a:pt x="310" y="8"/>
                </a:cubicBezTo>
                <a:cubicBezTo>
                  <a:pt x="309" y="6"/>
                  <a:pt x="307" y="4"/>
                  <a:pt x="304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300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552450" y="3257550"/>
            <a:ext cx="2609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Business words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552450" y="3514725"/>
            <a:ext cx="26098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Say “Place Order”, not “Insert Row”. A manager must be able to read the diagram without a developer next to them.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381000" y="4552950"/>
            <a:ext cx="2952750" cy="1352550"/>
          </a:xfrm>
          <a:prstGeom prst="roundRect">
            <a:avLst>
              <a:gd name="adj" fmla="val 7042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27" name=""/>
          <p:cNvSpPr/>
          <p:nvPr/>
        </p:nvSpPr>
        <p:spPr>
          <a:xfrm rot="0" flipH="0" flipV="0">
            <a:off x="381000" y="4552950"/>
            <a:ext cx="2952750" cy="1352550"/>
          </a:xfrm>
          <a:custGeom>
            <a:pathLst>
              <a:path w="310" h="142">
                <a:moveTo>
                  <a:pt x="300" y="0"/>
                </a:moveTo>
                <a:cubicBezTo>
                  <a:pt x="305" y="0"/>
                  <a:pt x="309" y="4"/>
                  <a:pt x="310" y="8"/>
                </a:cubicBezTo>
                <a:cubicBezTo>
                  <a:pt x="309" y="6"/>
                  <a:pt x="307" y="4"/>
                  <a:pt x="304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300" y="0"/>
                </a:ln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552450" y="4724400"/>
            <a:ext cx="2609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Never a step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552450" y="4981575"/>
            <a:ext cx="26098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If the name is something the actor does on the way, it belongs inside a use case, not on the diagram.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3590925" y="2381250"/>
            <a:ext cx="2381250" cy="571500"/>
          </a:xfrm>
          <a:prstGeom prst="roundRect">
            <a:avLst>
              <a:gd name="adj" fmla="val 13333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31" name=""/>
          <p:cNvSpPr/>
          <p:nvPr/>
        </p:nvSpPr>
        <p:spPr>
          <a:xfrm rot="0" flipH="0" flipV="0">
            <a:off x="3590925" y="2381250"/>
            <a:ext cx="2381250" cy="571500"/>
          </a:xfrm>
          <a:custGeom>
            <a:pathLst>
              <a:path w="250" h="6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5"/>
                </a:lnTo>
                <a:cubicBezTo>
                  <a:pt x="3" y="57"/>
                  <a:pt x="5" y="59"/>
                  <a:pt x="7" y="60"/>
                </a:cubicBezTo>
                <a:cubicBezTo>
                  <a:pt x="3" y="59"/>
                  <a:pt x="0" y="56"/>
                  <a:pt x="0" y="5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3733800" y="2505075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WEAK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3733800" y="2657475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Order Processing</a:t>
            </a:r>
            <a:endParaRPr/>
          </a:p>
        </p:txBody>
      </p:sp>
      <p:pic>
        <p:nvPicPr>
          <p:cNvPr id="1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05525" y="2571750"/>
            <a:ext cx="190500" cy="190500"/>
          </a:xfrm>
          <a:prstGeom prst="rect">
            <a:avLst/>
          </a:prstGeom>
          <a:ln/>
        </p:spPr>
      </p:pic>
      <p:sp>
        <p:nvSpPr>
          <p:cNvPr id="135" name=""/>
          <p:cNvSpPr/>
          <p:nvPr/>
        </p:nvSpPr>
        <p:spPr>
          <a:xfrm rot="0" flipH="0" flipV="0">
            <a:off x="6486525" y="2381250"/>
            <a:ext cx="2381250" cy="571500"/>
          </a:xfrm>
          <a:prstGeom prst="roundRect">
            <a:avLst>
              <a:gd name="adj" fmla="val 1333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36" name=""/>
          <p:cNvSpPr/>
          <p:nvPr/>
        </p:nvSpPr>
        <p:spPr>
          <a:xfrm rot="0" flipH="0" flipV="0">
            <a:off x="6486525" y="2381250"/>
            <a:ext cx="2381250" cy="571500"/>
          </a:xfrm>
          <a:custGeom>
            <a:pathLst>
              <a:path w="250" h="6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5"/>
                </a:lnTo>
                <a:cubicBezTo>
                  <a:pt x="3" y="57"/>
                  <a:pt x="5" y="59"/>
                  <a:pt x="7" y="60"/>
                </a:cubicBezTo>
                <a:cubicBezTo>
                  <a:pt x="3" y="59"/>
                  <a:pt x="0" y="56"/>
                  <a:pt x="0" y="5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629400" y="2505075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BETTER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6629400" y="2657475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Place Order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8953500" y="2381250"/>
            <a:ext cx="285750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9096375" y="2562225"/>
            <a:ext cx="2571750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4A5568"/>
                </a:solidFill>
                <a:latin typeface="Microsoft YaHei"/>
                <a:ea typeface="Microsoft YaHei"/>
              </a:rPr>
              <a:t>A noun phrase describes a topic, not a goal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3590925" y="3048000"/>
            <a:ext cx="2381250" cy="666750"/>
          </a:xfrm>
          <a:prstGeom prst="roundRect">
            <a:avLst>
              <a:gd name="adj" fmla="val 11429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42" name=""/>
          <p:cNvSpPr/>
          <p:nvPr/>
        </p:nvSpPr>
        <p:spPr>
          <a:xfrm rot="0" flipH="0" flipV="0">
            <a:off x="3590925" y="3048000"/>
            <a:ext cx="2381250" cy="666750"/>
          </a:xfrm>
          <a:custGeom>
            <a:pathLst>
              <a:path w="250" h="7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5"/>
                </a:lnTo>
                <a:cubicBezTo>
                  <a:pt x="3" y="67"/>
                  <a:pt x="5" y="69"/>
                  <a:pt x="7" y="70"/>
                </a:cubicBezTo>
                <a:cubicBezTo>
                  <a:pt x="3" y="69"/>
                  <a:pt x="0" y="66"/>
                  <a:pt x="0" y="6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3733800" y="3219450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WEAK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3733800" y="3371850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Validate Credit Card</a:t>
            </a:r>
            <a:endParaRPr/>
          </a:p>
        </p:txBody>
      </p:sp>
      <p:pic>
        <p:nvPicPr>
          <p:cNvPr id="1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05525" y="3286125"/>
            <a:ext cx="190500" cy="190500"/>
          </a:xfrm>
          <a:prstGeom prst="rect">
            <a:avLst/>
          </a:prstGeom>
          <a:ln/>
        </p:spPr>
      </p:pic>
      <p:sp>
        <p:nvSpPr>
          <p:cNvPr id="146" name=""/>
          <p:cNvSpPr/>
          <p:nvPr/>
        </p:nvSpPr>
        <p:spPr>
          <a:xfrm rot="0" flipH="0" flipV="0">
            <a:off x="6486525" y="3048000"/>
            <a:ext cx="2381250" cy="666750"/>
          </a:xfrm>
          <a:prstGeom prst="roundRect">
            <a:avLst>
              <a:gd name="adj" fmla="val 114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47" name=""/>
          <p:cNvSpPr/>
          <p:nvPr/>
        </p:nvSpPr>
        <p:spPr>
          <a:xfrm rot="0" flipH="0" flipV="0">
            <a:off x="6486525" y="3048000"/>
            <a:ext cx="2381250" cy="666750"/>
          </a:xfrm>
          <a:custGeom>
            <a:pathLst>
              <a:path w="250" h="7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5"/>
                </a:lnTo>
                <a:cubicBezTo>
                  <a:pt x="3" y="67"/>
                  <a:pt x="5" y="69"/>
                  <a:pt x="7" y="70"/>
                </a:cubicBezTo>
                <a:cubicBezTo>
                  <a:pt x="3" y="69"/>
                  <a:pt x="0" y="66"/>
                  <a:pt x="0" y="6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6629400" y="3219450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BETTER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6629400" y="3371850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Pay for Order</a:t>
            </a:r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8953500" y="3048000"/>
            <a:ext cx="28575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9096375" y="3171825"/>
            <a:ext cx="25717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00">
                <a:solidFill>
                  <a:srgbClr val="4A5568"/>
                </a:solidFill>
                <a:latin typeface="Microsoft YaHei"/>
                <a:ea typeface="Microsoft YaHei"/>
              </a:rPr>
              <a:t>A single step. The actor wants the order paid, not a check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3590925" y="3810000"/>
            <a:ext cx="2381250" cy="666750"/>
          </a:xfrm>
          <a:prstGeom prst="roundRect">
            <a:avLst>
              <a:gd name="adj" fmla="val 11429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53" name=""/>
          <p:cNvSpPr/>
          <p:nvPr/>
        </p:nvSpPr>
        <p:spPr>
          <a:xfrm rot="0" flipH="0" flipV="0">
            <a:off x="3590925" y="3810000"/>
            <a:ext cx="2381250" cy="666750"/>
          </a:xfrm>
          <a:custGeom>
            <a:pathLst>
              <a:path w="250" h="7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5"/>
                </a:lnTo>
                <a:cubicBezTo>
                  <a:pt x="3" y="67"/>
                  <a:pt x="5" y="69"/>
                  <a:pt x="7" y="70"/>
                </a:cubicBezTo>
                <a:cubicBezTo>
                  <a:pt x="3" y="69"/>
                  <a:pt x="0" y="66"/>
                  <a:pt x="0" y="6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3733800" y="3981450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WEAK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3733800" y="4133850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Order Management System</a:t>
            </a:r>
            <a:endParaRPr/>
          </a:p>
        </p:txBody>
      </p:sp>
      <p:pic>
        <p:nvPicPr>
          <p:cNvPr id="1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05525" y="4048125"/>
            <a:ext cx="190500" cy="190500"/>
          </a:xfrm>
          <a:prstGeom prst="rect">
            <a:avLst/>
          </a:prstGeom>
          <a:ln/>
        </p:spPr>
      </p:pic>
      <p:sp>
        <p:nvSpPr>
          <p:cNvPr id="157" name=""/>
          <p:cNvSpPr/>
          <p:nvPr/>
        </p:nvSpPr>
        <p:spPr>
          <a:xfrm rot="0" flipH="0" flipV="0">
            <a:off x="6486525" y="3810000"/>
            <a:ext cx="2381250" cy="666750"/>
          </a:xfrm>
          <a:prstGeom prst="roundRect">
            <a:avLst>
              <a:gd name="adj" fmla="val 114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58" name=""/>
          <p:cNvSpPr/>
          <p:nvPr/>
        </p:nvSpPr>
        <p:spPr>
          <a:xfrm rot="0" flipH="0" flipV="0">
            <a:off x="6486525" y="3810000"/>
            <a:ext cx="2381250" cy="666750"/>
          </a:xfrm>
          <a:custGeom>
            <a:pathLst>
              <a:path w="250" h="7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5"/>
                </a:lnTo>
                <a:cubicBezTo>
                  <a:pt x="3" y="67"/>
                  <a:pt x="5" y="69"/>
                  <a:pt x="7" y="70"/>
                </a:cubicBezTo>
                <a:cubicBezTo>
                  <a:pt x="3" y="69"/>
                  <a:pt x="0" y="66"/>
                  <a:pt x="0" y="6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6629400" y="3981450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BETTER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6629400" y="4133850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Manage Today’s Menu</a:t>
            </a:r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8953500" y="3810000"/>
            <a:ext cx="28575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9096375" y="3933825"/>
            <a:ext cx="25717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00">
                <a:solidFill>
                  <a:srgbClr val="4A5568"/>
                </a:solidFill>
                <a:latin typeface="Microsoft YaHei"/>
                <a:ea typeface="Microsoft YaHei"/>
              </a:rPr>
              <a:t>You named the software, or the table — not the goal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3590925" y="4572000"/>
            <a:ext cx="2381250" cy="742950"/>
          </a:xfrm>
          <a:prstGeom prst="roundRect">
            <a:avLst>
              <a:gd name="adj" fmla="val 10256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64" name=""/>
          <p:cNvSpPr/>
          <p:nvPr/>
        </p:nvSpPr>
        <p:spPr>
          <a:xfrm rot="0" flipH="0" flipV="0">
            <a:off x="3590925" y="4572000"/>
            <a:ext cx="2381250" cy="742950"/>
          </a:xfrm>
          <a:custGeom>
            <a:pathLst>
              <a:path w="250" h="78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73"/>
                </a:lnTo>
                <a:cubicBezTo>
                  <a:pt x="3" y="75"/>
                  <a:pt x="5" y="77"/>
                  <a:pt x="7" y="78"/>
                </a:cubicBezTo>
                <a:cubicBezTo>
                  <a:pt x="3" y="77"/>
                  <a:pt x="0" y="74"/>
                  <a:pt x="0" y="7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3733800" y="4695825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WEAK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3733800" y="4848225"/>
            <a:ext cx="2066925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User Logs In and Then Browses</a:t>
            </a:r>
            <a:endParaRPr/>
          </a:p>
        </p:txBody>
      </p:sp>
      <p:pic>
        <p:nvPicPr>
          <p:cNvPr id="1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05525" y="4848225"/>
            <a:ext cx="190500" cy="190500"/>
          </a:xfrm>
          <a:prstGeom prst="rect">
            <a:avLst/>
          </a:prstGeom>
          <a:ln/>
        </p:spPr>
      </p:pic>
      <p:sp>
        <p:nvSpPr>
          <p:cNvPr id="168" name=""/>
          <p:cNvSpPr/>
          <p:nvPr/>
        </p:nvSpPr>
        <p:spPr>
          <a:xfrm rot="0" flipH="0" flipV="0">
            <a:off x="6486525" y="4572000"/>
            <a:ext cx="2381250" cy="742950"/>
          </a:xfrm>
          <a:prstGeom prst="roundRect">
            <a:avLst>
              <a:gd name="adj" fmla="val 1025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69" name=""/>
          <p:cNvSpPr/>
          <p:nvPr/>
        </p:nvSpPr>
        <p:spPr>
          <a:xfrm rot="0" flipH="0" flipV="0">
            <a:off x="6486525" y="4572000"/>
            <a:ext cx="2381250" cy="742950"/>
          </a:xfrm>
          <a:custGeom>
            <a:pathLst>
              <a:path w="250" h="78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73"/>
                </a:lnTo>
                <a:cubicBezTo>
                  <a:pt x="3" y="75"/>
                  <a:pt x="5" y="77"/>
                  <a:pt x="7" y="78"/>
                </a:cubicBezTo>
                <a:cubicBezTo>
                  <a:pt x="3" y="77"/>
                  <a:pt x="0" y="74"/>
                  <a:pt x="0" y="7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6629400" y="4781550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BETTER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6629400" y="4933950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Browse Menu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8953500" y="4572000"/>
            <a:ext cx="28575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9096375" y="4733925"/>
            <a:ext cx="25717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00">
                <a:solidFill>
                  <a:srgbClr val="4A5568"/>
                </a:solidFill>
                <a:latin typeface="Microsoft YaHei"/>
                <a:ea typeface="Microsoft YaHei"/>
              </a:rPr>
              <a:t>Two goals glued together. Split them; log in is an include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3305175" y="6543675"/>
            <a:ext cx="5591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Read your names aloud to the actor. If it sounds like a screen label, try again.</a:t>
            </a:r>
            <a:endParaRPr/>
          </a:p>
        </p:txBody>
      </p:sp>
    </p:spTree>
  </p:cSld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17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3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The Use Case&lt;br /&gt;Diagram&lt;/Text&gt;&#10;      &lt;Box style={{ width: 64, height: 4, background: '#FFC107', marginTop: 26, marginBottom: 26 }} /&gt;&#10;      &lt;Box style={{ flexDirection: 'column', gap: 12 }}&gt;&#10;        {[&#10;          'Six symbols, and how to read each one aloud',&#10;          'The boundary decides what is yours to build',&#10;          'Three mistakes almost everyone makes first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The Use Case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Diagram</a:t>
            </a:r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83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848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Six symbols, and how to read each one aloud</a:t>
            </a:r>
            <a:endParaRPr/>
          </a:p>
        </p:txBody>
      </p:sp>
      <p:sp>
        <p:nvSpPr>
          <p:cNvPr id="185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3724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boundary decides what is yours to build</a:t>
            </a:r>
            <a:endParaRPr/>
          </a:p>
        </p:txBody>
      </p:sp>
      <p:sp>
        <p:nvSpPr>
          <p:cNvPr id="187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3733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Three mistakes almost everyone makes first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9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THE USE CASE DIAGRAM&lt;/Text&gt;&#10;  &lt;/Box&gt;&#10;  &lt;Box style={{ padding: '12px 40px 0 40px', flexDirection: 'row', alignItems: 'center', justifyContent: 'space-between' }}&gt;&#10;    &lt;Text style={{ fontSize: 30, fontWeight: 'bold', color: '#0E3F8C' }}&gt;Anatomy of a Use Case Diagram&lt;/Text&gt;&#10;    &lt;Text style={{ fontSize: 14, color: '#1E4FA8', fontWeight: 'bold' }}&gt;15 / 38&lt;/Text&gt;&#10;  &lt;/Box&gt;&#10;  &lt;Box style={{ flex: 1, padding: '2px 40px 0 40px', justifyContent: 'center', alignItems: 'center' }}&gt;&#10;    &lt;svg width={1180} height={386} viewBox='0 0 1180 386'&gt;&#10;      &lt;text x='10' y='16' fill='#8B97A8' fontSize='13'&gt;Six symbols. If you can read all six aloud, you can read — and draw — any use case diagram.&lt;/text&gt;&#10;&#10;      &lt;g transform='translate(14,34)'&gt;&#10;        &lt;rect x='0' y='0' width='636' height='348' rx='8' fill='#F7F9FC' stroke='#1E4FA8' strokeWidth='2' /&gt;&#10;        &lt;text x='14' y='24' fill='#0E3F8C' fontSize='13.5' fontWeight='bold'&gt;the diagram&lt;/text&gt;&#10;&#10;        &lt;rect x='132' y='44' width='410' height='278' rx='6' fill='#FFFFFF' stroke='#1E4FA8' strokeWidth='1.6' /&gt;&#10;        &lt;text x='337' y='64' textAnchor='middle' fill='#1E4FA8' fontSize='13' fontWeight='bold'&gt;CampusBites&lt;/text&gt;&#10;&#10;        &lt;ellipse cx='337' cy='112' rx='132' ry='28' fill='#FFFFFF' stroke='#1E4FA8' strokeWidth='1.6' /&gt;&#10;        &lt;text x='337' y='117' textAnchor='middle' fill='#1A2230' fontSize='13'&gt;Place Order&lt;/text&gt;&#10;&#10;        &lt;ellipse cx='337' cy='182' rx='132' ry='28' fill='#FFFFFF' stroke='#1E4FA8' strokeWidth='1.6' /&gt;&#10;        &lt;text x='337' y='187' textAnchor='middle' fill='#1A2230' fontSize='13'&gt;Authenticate&lt;/text&gt;&#10;&#10;        &lt;ellipse cx='337' cy='252' rx='132' ry='28' fill='#FFFFFF' stroke='#3D7BD9' strokeWidth='1.6' /&gt;&#10;        &lt;text x='337' y='257' textAnchor='middle' fill='#1A2230' fontSize='13'&gt;Apply Coupon&lt;/text&gt;&#10;&#10;        &lt;g transform='translate(40,96)'&gt;&#10;          &lt;circle cx='16' cy='16' r='10' fill='none' stroke='#0E3F8C' strokeWidth='2' /&gt;&#10;          &lt;line x1='16' y1='26' x2='16' y2='52' stroke='#0E3F8C' strokeWidth='2' /&gt;&#10;          &lt;line x1='16' y1='34' x2='2' y2='48' stroke='#0E3F8C' strokeWidth='2' /&gt;&#10;          &lt;line x1='16' y1='34' x2='30' y2='48' stroke='#0E3F8C' strokeWidth='2' /&gt;&#10;          &lt;line x1='16' y1='52' x2='4' y2='70' stroke='#0E3F8C' strokeWidth='2' /&gt;&#10;          &lt;line x1='16' y1='52' x2='28' y2='70' stroke='#0E3F8C' strokeWidth='2' /&gt;&#10;          &lt;text x='16' y='88' textAnchor='middle' fill='#0E3F8C' fontSize='12.5' fontWeight='bold'&gt;Customer&lt;/text&gt;&#10;        &lt;/g&gt;&#10;&#10;        &lt;g transform='translate(556,182)'&gt;&#10;          &lt;circle cx='16' cy='16' r='10' fill='none' stroke='#8B97A8' strokeWidth='2' /&gt;&#10;          &lt;line x1='16' y1='26' x2='16' y2='52' stroke='#8B97A8' strokeWidth='2' /&gt;&#10;          &lt;line x1='16' y1='34' x2='2' y2='48' stroke='#8B97A8' strokeWidth='2' /&gt;&#10;          &lt;line x1='16' y1='34' x2='30' y2='48' stroke='#8B97A8' strokeWidth='2' /&gt;&#10;          &lt;line x1='16' y1='52' x2='4' y2='70' stroke='#8B97A8' strokeWidth='2' /&gt;&#10;          &lt;line x1='16' y1='52' x2='28' y2='70' stroke='#8B97A8' strokeWidth='2' /&gt;&#10;          &lt;text x='16' y='88' textAnchor='middle' fill='#8B97A8' fontSize='12.5' fontWeight='bold'&gt;Payment&lt;/text&gt;&#10;          &lt;text x='16' y='104' textAnchor='middle' fill='#8B97A8' fontSize='12.5' fontWeight='bold'&gt;Provider&lt;/text&gt;&#10;          &lt;text x='16' y='120' textAnchor='middle' fill='#4A5568' fontSize='10'&gt;outside the box&lt;/text&gt;&#10;        &lt;/g&gt;&#10;&#10;        &lt;line x1='56' y1='140' x2='212' y2='120' stroke='#1E4FA8' strokeWidth='1.6' /&gt;&#10;        &lt;line x1='270' y1='132' x2='542' y2='190' stroke='#8B97A8' strokeWidth='1.4' /&gt;&#10;&#10;        &lt;line x1='290' y1='134' x2='256' y2='158' stroke='#1E4FA8' strokeWidth='1.5' strokeDasharray='6 4' /&gt;&#10;        &lt;polygon points='252,161 264,158 256,148' fill='#1E4FA8' /&gt;&#10;        &lt;text x='196' y='148' fill='#1E4FA8' fontSize='11' fontWeight='bold'&gt;«include»&lt;/text&gt;&#10;&#10;        &lt;line x1='290' y1='232' x2='320' y2='166' stroke='#3D7BD9' strokeWidth='1.5' strokeDasharray='6 4' /&gt;&#10;        &lt;polygon points='322,162 310,168 320,176' fill='#3D7BD9' /&gt;&#10;        &lt;text x='240' y='220' fill='#3D7BD9' fontSize='11' fontWeight='bold'&gt;«extend»&lt;/text&gt;&#10;      &lt;/g&gt;&#10;&#10;      &lt;g transform='translate(672,34)'&gt;&#10;        &lt;text x='0' y='12' fill='#8B97A8' fontSize='12.5'&gt;read them in this order&lt;/text&gt;&#10;&#10;        &lt;g transform='translate(0,30)'&gt;&#10;          &lt;rect x='0' y='0' width='486' height='50' rx='6' fill='#F0F5FC' stroke='#1E4FA8' strokeWidth='1' /&gt;&#10;          &lt;circle cx='24' cy='25' r='15' fill='#1E4FA8' /&gt;&#10;          &lt;text x='24' y='31' textAnchor='middle' fill='#FFFFFF' fontSize='13' fontWeight='bold'&gt;1&lt;/text&gt;&#10;          &lt;text x='50' y='21' fill='#0E3F8C' fontSize='13.5' fontWeight='bold'&gt;System boundary — the box&lt;/text&gt;&#10;          &lt;text x='50' y='39' fill='#4A5568' fontSize='11.5'&gt;What you are building. Everything else is outside and belongs to someone else.&lt;/text&gt;&#10;        &lt;/g&gt;&#10;&#10;        &lt;g transform='translate(0,86)'&gt;&#10;          &lt;rect x='0' y='0' width='486' height='50' rx='6' fill='#FFFFFF' stroke='#D6DCE5' strokeWidth='1' /&gt;&#10;          &lt;circle cx='24' cy='25' r='15' fill='#3D7BD9' /&gt;&#10;          &lt;text x='24' y='31' textAnchor='middle' fill='#FFFFFF' fontSize='13' fontWeight='bold'&gt;2&lt;/text&gt;&#10;          &lt;text x='50' y='21' fill='#0E3F8C' fontSize='13.5' fontWeight='bold'&gt;Use case — the ellipse&lt;/text&gt;&#10;          &lt;text x='50' y='39' fill='#4A5568' fontSize='11.5'&gt;One user goal. Named verb plus object. An ellipse, never a box.&lt;/text&gt;&#10;        &lt;/g&gt;&#10;&#10;        &lt;g transform='translate(0,142)'&gt;&#10;          &lt;rect x='0' y='0' width='486' height='50' rx='6' fill='#FFFFFF' stroke='#D6DCE5' strokeWidth='1' /&gt;&#10;          &lt;circle cx='24' cy='25' r='15' fill='#3D7BD9' /&gt;&#10;          &lt;text x='24' y='31' textAnchor='middle' fill='#FFFFFF' fontSize='13' fontWeight='bold'&gt;3&lt;/text&gt;&#10;          &lt;text x='50' y='21' fill='#0E3F8C' fontSize='13.5' fontWeight='bold'&gt;Actor — the stick figure&lt;/text&gt;&#10;          &lt;text x='50' y='39' fill='#4A5568' fontSize='11.5'&gt;A role outside the box. Primary actors stand on the left; supporting actors on the right.&lt;/text&gt;&#10;        &lt;/g&gt;&#10;&#10;        &lt;g transform='translate(0,198)'&gt;&#10;          &lt;rect x='0' y='0' width='486' height='50' rx='6' fill='#FFFFFF' stroke='#D6DCE5' strokeWidth='1' /&gt;&#10;          &lt;circle cx='24' cy='25' r='15' fill='#3D7BD9' /&gt;&#10;          &lt;text x='24' y='31' textAnchor='middle' fill='#FFFFFF' fontSize='13' fontWeight='bold'&gt;4&lt;/text&gt;&#10;          &lt;text x='50' y='21' fill='#0E3F8C' fontSize='13.5' fontWeight='bold'&gt;Association — the solid line&lt;/text&gt;&#10;          &lt;text x='50' y='39' fill='#4A5568' fontSize='11.5'&gt;An actor talks to a use case. No arrowhead: information flows both ways.&lt;/text&gt;&#10;        &lt;/g&gt;&#10;&#10;        &lt;g transform='translate(0,254)'&gt;&#10;          &lt;rect x='0' y='0' width='486' height='50' rx='6' fill='#F0F5FC' stroke='#1E4FA8' strokeWidth='1' /&gt;&#10;          &lt;circle cx='24' cy='25' r='15' fill='#1E4FA8' /&gt;&#10;          &lt;text x='24' y='31' textAnchor='middle' fill='#FFFFFF' fontSize='13' fontWeight='bold'&gt;5&lt;/text&gt;&#10;          &lt;text x='50' y='21' fill='#0E3F8C' fontSize='13.5' fontWeight='bold'&gt;«include» — dashed, always happens&lt;/text&gt;&#10;          &lt;text x='50' y='39' fill='#4A5568' fontSize='11.5'&gt;Arrow from the base use case to the one it always pulls in.&lt;/text&gt;&#10;        &lt;/g&gt;&#10;&#10;        &lt;g transform='translate(0,310)'&gt;&#10;          &lt;rect x='0' y='0' width='486' height='50' rx='6' fill='#FFFFFF' stroke='#3D7BD9' strokeWidth='1' /&gt;&#10;          &lt;circle cx='24' cy='25' r='15' fill='#3D7BD9' /&gt;&#10;          &lt;text x='24' y='31' textAnchor='middle' fill='#FFFFFF' fontSize='13' fontWeight='bold'&gt;6&lt;/text&gt;&#10;          &lt;text x='50' y='21' fill='#0E3F8C' fontSize='13.5' fontWeight='bold'&gt;«extend» — dashed, may happen&lt;/text&gt;&#10;          &lt;text x='50' y='39' fill='#4A5568' fontSize='11.5'&gt;Arrow from the extra use case back to the base. Watch the direction.&lt;/text&gt;&#10;        &lt;/g&gt;&#10;      &lt;/g&gt;&#10;    &lt;/svg&gt;&#10;  &lt;/Box&gt;&#10;  &lt;Box style={{ height: 34, padding: '0 40px', flexDirection: 'row', alignItems: 'center', justifyContent: 'space-between' }}&gt;&#10;    &lt;Text style={{ fontSize: 13, color: '#8B97A8' }}&gt;ISAD · Fall 2026 · The diagram is a table of contents — the value is in the text you write for each ellipse (Week 05)&lt;/Text&gt;&#10;    &lt;Text style={{ fontSize: 14, color: '#1E4FA8', fontWeight: 'bold' }}&gt;1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9629775" y="257175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THE USE CASE DIAGRAM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4400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Anatomy of a Use Case Diagram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38</a:t>
            </a:r>
            <a:endParaRPr/>
          </a:p>
        </p:txBody>
      </p:sp>
      <p:pic>
        <p:nvPicPr>
          <p:cNvPr id="19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09775"/>
            <a:ext cx="11239500" cy="3676650"/>
          </a:xfrm>
          <a:prstGeom prst="rect">
            <a:avLst/>
          </a:prstGeom>
          <a:ln/>
        </p:spPr>
      </p:pic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6276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The diagram is a table of contents — the value is in the text you write for each ellipse (Week 05)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38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0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THE USE CASE DIAGRAM&lt;/Text&gt;&#10;  &lt;/Box&gt;&#10;  &lt;Box style={{ padding: '12px 40px 0 40px', flexDirection: 'row', alignItems: 'center', justifyContent: 'space-between' }}&gt;&#10;    &lt;Text style={{ fontSize: 29, fontWeight: 'bold', color: '#0E3F8C' }}&gt;The System Boundary&lt;/Text&gt;&#10;    &lt;Text style={{ fontSize: 14, color: '#1E4FA8', fontWeight: 'bold' }}&gt;16 / 38&lt;/Text&gt;&#10;  &lt;/Box&gt;&#10;  &lt;Box style={{ flex: 1, padding: '8px 40px 0 40px', flexDirection: 'row', gap: 26 }}&gt;&#10;    &lt;Box style={{ width: 600, justifyContent: 'center', alignItems: 'center' }}&gt;&#10;      &lt;svg width={600} height={358} viewBox='0 0 600 358'&gt;&#10;        &lt;text x='6' y='16' fill='#8B97A8' fontSize='12'&gt;The box is a promise: inside is what you build, outside is what you call&lt;/text&gt;&#10;&#10;        &lt;rect x='150' y='36' width='290' height='286' rx='6' fill='#FFFFFF' stroke='#1E4FA8' strokeWidth='2' /&gt;&#10;        &lt;text x='295' y='58' textAnchor='middle' fill='#0E3F8C' fontSize='13.5' fontWeight='bold'&gt;CampusBites&lt;/text&gt;&#10;&#10;        &lt;ellipse cx='295' cy='98' rx='110' ry='24' fill='#F0F5FC' stroke='#1E4FA8' strokeWidth='1.5' /&gt;&#10;        &lt;text x='295' y='103' textAnchor='middle' fill='#1A2230' fontSize='12'&gt;Place Order&lt;/text&gt;&#10;&#10;        &lt;ellipse cx='295' cy='158' rx='110' ry='24' fill='#F0F5FC' stroke='#1E4FA8' strokeWidth='1.5' /&gt;&#10;        &lt;text x='295' y='163' textAnchor='middle' fill='#1A2230' fontSize='12'&gt;Pay for Order&lt;/text&gt;&#10;&#10;        &lt;ellipse cx='295' cy='218' rx='110' ry='24' fill='#F0F5FC' stroke='#1E4FA8' strokeWidth='1.5' /&gt;&#10;        &lt;text x='295' y='223' textAnchor='middle' fill='#1A2230' fontSize='12'&gt;Send Notification&lt;/text&gt;&#10;&#10;        &lt;ellipse cx='295' cy='278' rx='110' ry='24' fill='#F0F5FC' stroke='#1E4FA8' strokeWidth='1.5' /&gt;&#10;        &lt;text x='295' y='283' textAnchor='middle' fill='#1A2230' fontSize='12'&gt;Track Order&lt;/text&gt;&#10;&#10;        &lt;g transform='translate(24,86)'&gt;&#10;          &lt;circle cx='16' cy='16' r='9' fill='none' stroke='#0E3F8C' strokeWidth='2' /&gt;&#10;          &lt;line x1='16' y1='25' x2='16' y2='48' stroke='#0E3F8C' strokeWidth='2' /&gt;&#10;          &lt;line x1='16' y1='33' x2='4' y2='45' stroke='#0E3F8C' strokeWidth='2' /&gt;&#10;          &lt;line x1='16' y1='33' x2='28' y2='45' stroke='#0E3F8C' strokeWidth='2' /&gt;&#10;          &lt;line x1='16' y1='48' x2='5' y2='64' stroke='#0E3F8C' strokeWidth='2' /&gt;&#10;          &lt;line x1='16' y1='48' x2='27' y2='64' stroke='#0E3F8C' strokeWidth='2' /&gt;&#10;          &lt;text x='16' y='80' textAnchor='middle' fill='#0E3F8C' fontSize='12' fontWeight='bold'&gt;Student&lt;/text&gt;&#10;        &lt;/g&gt;&#10;&#10;        &lt;g transform='translate(24,200)'&gt;&#10;          &lt;circle cx='16' cy='16' r='9' fill='none' stroke='#0E3F8C' strokeWidth='2' /&gt;&#10;          &lt;line x1='16' y1='25' x2='16' y2='48' stroke='#0E3F8C' strokeWidth='2' /&gt;&#10;          &lt;line x1='16' y1='33' x2='4' y2='45' stroke='#0E3F8C' strokeWidth='2' /&gt;&#10;          &lt;line x1='16' y1='33' x2='28' y2='45' stroke='#0E3F8C' strokeWidth='2' /&gt;&#10;          &lt;line x1='16' y1='48' x2='5' y2='64' stroke='#0E3F8C' strokeWidth='2' /&gt;&#10;          &lt;line x1='16' y1='48' x2='27' y2='64' stroke='#0E3F8C' strokeWidth='2' /&gt;&#10;          &lt;text x='16' y='80' textAnchor='middle' fill='#0E3F8C' fontSize='12' fontWeight='bold'&gt;Manager&lt;/text&gt;&#10;        &lt;/g&gt;&#10;&#10;        &lt;line x1='56' y1='152' x2='186' y2='104' stroke='#1E4FA8' strokeWidth='1.4' /&gt;&#10;        &lt;line x1='186' y1='218' x2='56' y2='256' stroke='#1E4FA8' strokeWidth='1.4' /&gt;&#10;&#10;        &lt;g transform='translate(462,86)'&gt;&#10;          &lt;rect x='0' y='0' width='120' height='46' rx='4' fill='#F7F9FC' stroke='#8B97A8' strokeWidth='1.6' /&gt;&#10;          &lt;text x='60' y='21' textAnchor='middle' fill='#4A5568' fontSize='11.5' fontWeight='bold'&gt;Payment&lt;/text&gt;&#10;          &lt;text x='60' y='37' textAnchor='middle' fill='#4A5568' fontSize='11.5' fontWeight='bold'&gt;Centre&lt;/text&gt;&#10;        &lt;/g&gt;&#10;        &lt;g transform='translate(462,186)'&gt;&#10;          &lt;rect x='0' y='0' width='120' height='46' rx='4' fill='#F7F9FC' stroke='#8B97A8' strokeWidth='1.6' /&gt;&#10;          &lt;text x='60' y='21' textAnchor='middle' fill='#4A5568' fontSize='11.5' fontWeight='bold'&gt;SMS&lt;/text&gt;&#10;          &lt;text x='60' y='37' textAnchor='middle' fill='#4A5568' fontSize='11.5' fontWeight='bold'&gt;Gateway&lt;/text&gt;&#10;        &lt;/g&gt;&#10;        &lt;g transform='translate(462,286)'&gt;&#10;          &lt;rect x='0' y='0' width='120' height='46' rx='4' fill='#F7F9FC' stroke='#8B97A8' strokeWidth='1.6' /&gt;&#10;          &lt;text x='60' y='21' textAnchor='middle' fill='#4A5568' fontSize='11.5' fontWeight='bold'&gt;Campus Card&lt;/text&gt;&#10;          &lt;text x='60' y='37' textAnchor='middle' fill='#4A5568' fontSize='11.5' fontWeight='bold'&gt;System&lt;/text&gt;&#10;        &lt;/g&gt;&#10;&#10;        &lt;line x1='440' y1='158' x2='490' y2='120' stroke='#8B97A8' strokeWidth='1.4' strokeDasharray='6 4' /&gt;&#10;        &lt;line x1='440' y1='218' x2='490' y2='206' stroke='#8B97A8' strokeWidth='1.4' strokeDasharray='6 4' /&gt;&#10;        &lt;line x1='440' y1='158' x2='490' y2='300' stroke='#8B97A8' strokeWidth='1.4' strokeDasharray='6 4' /&gt;&#10;&#10;        &lt;text x='150' y='340' fill='#1E4FA8' fontSize='11.5' fontWeight='bold'&gt;INSIDE — ours to design, ours to test&lt;/text&gt;&#10;        &lt;text x='462' y='340' fill='#8B97A8' fontSize='11.5' fontWeight='bold'&gt;OUTSIDE&lt;/text&gt;&#10;      &lt;/svg&gt;&#10;    &lt;/Box&gt;&#10;    &lt;Box style={{ flex: 1, flexDirection: 'column', justifyContent: 'center', gap: 13 }}&gt;&#10;      &lt;Box style={{ padding: '15px 17px', background: '#F0F5FC', borderRadius: 9, borderLeft: '4px solid #1E4FA8' }}&gt;&#10;        &lt;Text style={{ fontSize: 16, fontWeight: 'bold', color: '#0E3F8C' }}&gt;The box draws the contract&lt;/Text&gt;&#10;        &lt;Text style={{ fontSize: 13, color: '#4A5568', lineHeight: 1.6, marginTop: 5 }}&gt;&#10;          Everything inside the rectangle is a use case you will design, build and test. Everything outside is a thing you call, obey, or wait for.&#10;        &lt;/Text&gt;&#10;      &lt;/Box&gt;&#10;      &lt;Box style={{ padding: '15px 17px', background: '#FFFFFF', borderRadius: 9, border: '1px solid #D6DCE5' }}&gt;&#10;        &lt;Text style={{ fontSize: 16, fontWeight: 'bold', color: '#0E3F8C' }}&gt;“Send Notification” stays inside&lt;/Text&gt;&#10;        &lt;Text style={{ fontSize: 13, color: '#4A5568', lineHeight: 1.6, marginTop: 5 }}&gt;&#10;          The goal is ours even though the SMS is not. The gateway is the actor that serves us — it never becomes a use case of its own.&#10;        &lt;/Text&gt;&#10;      &lt;/Box&gt;&#10;      &lt;Box style={{ padding: '15px 17px', background: '#FDF3F3', borderRadius: 9, borderLeft: '4px solid #D9534F' }}&gt;&#10;        &lt;Text style={{ fontSize: 16, fontWeight: 'bold', color: '#D9534F' }}&gt;The usual mistake&lt;/Text&gt;&#10;        &lt;Text style={{ fontSize: 13, color: '#4A5568', lineHeight: 1.6, marginTop: 5 }}&gt;&#10;          Drawing “Process Payment” as a use case when it is really a call to the payment centre. If you cannot change how it behaves, it is not your use case.&#10;        &lt;/Text&gt;&#10;      &lt;/Box&gt;&#10;      &lt;Box style={{ padding: '12px 16px', background: '#F7F9FC', borderRadius: 8, border: '1px dashed #D6DCE5' }}&gt;&#10;        &lt;Text style={{ fontSize: 12.5, color: '#8B97A8', lineHeight: 1.55 }}&gt;&#10;          Test for the line: could we rewrite this thing from scratch if we wanted to? Yes → inside. No → outside, and it becomes an actor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The boundary is the first design decision you make, and the hardest to move later&lt;/Text&gt;&#10;    &lt;Text style={{ fontSize: 14, color: '#1E4FA8', fontWeight: 'bold' }}&gt;1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9629775" y="257175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THE USE CASE DIAGRAM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292417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The System Boundary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  <p:pic>
        <p:nvPicPr>
          <p:cNvPr id="2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171700"/>
            <a:ext cx="5715000" cy="3409950"/>
          </a:xfrm>
          <a:prstGeom prst="rect">
            <a:avLst/>
          </a:prstGeom>
          <a:ln/>
        </p:spPr>
      </p:pic>
      <p:sp>
        <p:nvSpPr>
          <p:cNvPr id="208" name=""/>
          <p:cNvSpPr/>
          <p:nvPr/>
        </p:nvSpPr>
        <p:spPr>
          <a:xfrm rot="0" flipH="0" flipV="0">
            <a:off x="6381750" y="1847850"/>
            <a:ext cx="5467350" cy="1000125"/>
          </a:xfrm>
          <a:prstGeom prst="roundRect">
            <a:avLst>
              <a:gd name="adj" fmla="val 857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09" name=""/>
          <p:cNvSpPr/>
          <p:nvPr/>
        </p:nvSpPr>
        <p:spPr>
          <a:xfrm rot="0" flipH="0" flipV="0">
            <a:off x="6381750" y="1847850"/>
            <a:ext cx="5467350" cy="1000125"/>
          </a:xfrm>
          <a:custGeom>
            <a:pathLst>
              <a:path w="57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6543675" y="1990725"/>
            <a:ext cx="5105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The box draws the contract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6543675" y="2228850"/>
            <a:ext cx="51054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Everything inside the rectangle is a use case you will design, build and test. Everything outside is a thing you call, obey, or wait for.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6343650" y="2971800"/>
            <a:ext cx="5467350" cy="100012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6505575" y="3114675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“Send Notification” stays inside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505575" y="3352800"/>
            <a:ext cx="5143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goal is ours even though the SMS is not. The gateway is the actor that serves us — it never becomes a use case of its own.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6381750" y="4095750"/>
            <a:ext cx="5467350" cy="1000125"/>
          </a:xfrm>
          <a:prstGeom prst="roundRect">
            <a:avLst>
              <a:gd name="adj" fmla="val 857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16" name=""/>
          <p:cNvSpPr/>
          <p:nvPr/>
        </p:nvSpPr>
        <p:spPr>
          <a:xfrm rot="0" flipH="0" flipV="0">
            <a:off x="6381750" y="4095750"/>
            <a:ext cx="5467350" cy="1000125"/>
          </a:xfrm>
          <a:custGeom>
            <a:pathLst>
              <a:path w="57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543675" y="4238625"/>
            <a:ext cx="5105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The usual mistake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543675" y="4476750"/>
            <a:ext cx="51054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Drawing “Process Payment” as a use case when it is really a call to the payment centre. If you cannot change how it behaves, it is not your use case.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6343650" y="5219700"/>
            <a:ext cx="5467350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6496050" y="5334000"/>
            <a:ext cx="51625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Test for the line: could we rewrite this thing from scratch if we wanted to? Yes → inside. No → outside, and it becomes an actor.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5486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The boundary is the first design decision you make, and the hardest to move later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22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THE USE CASE DIAGRAM&lt;/Text&gt;&#10;  &lt;/Box&gt;&#10;  &lt;Box style={{ padding: '14px 40px 0 40px', flexDirection: 'row', alignItems: 'center', justifyContent: 'space-between' }}&gt;&#10;    &lt;Text style={{ fontSize: 29, fontWeight: 'bold', color: '#0E3F8C' }}&gt;The Six Elements — Quick Reference&lt;/Text&gt;&#10;    &lt;Text style={{ fontSize: 14, color: '#1E4FA8', fontWeight: 'bold' }}&gt;17 / 38&lt;/Text&gt;&#10;  &lt;/Box&gt;&#10;  &lt;Box style={{ flex: 1, padding: '10px 40px 6px 40px' }}&gt;&#10;    &lt;Table&#10;      style={{ width: '100%', height: '100%' }}&#10;      defaultTextStyle={{ fontSize: 13.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Element', textStyle: { bold: true, color: '#FFFFFF' }, cellStyle: { background: { color: '#0E3F8C' } } },&#10;          { text: 'How you draw it', textStyle: { bold: true, color: '#FFFFFF' }, cellStyle: { background: { color: '#0E3F8C' } } },&#10;          { text: 'How you read it aloud', textStyle: { bold: true, color: '#FFFFFF' }, cellStyle: { background: { color: '#1E4FA8' } } },&#10;          { text: 'Mistake to avoid', textStyle: { bold: true, color: '#FFFFFF' }, cellStyle: { background: { color: '#D9534F' } } },&#10;        ],&#10;        [&#10;          { text: 'System boundary', textStyle: { bold: true, color: '#0E3F8C' }, cellStyle: { background: { color: '#F7F9FC' } } },&#10;          { text: 'A rectangle with the system name at the top', textStyle: { color: '#4A5568' }, cellStyle: { background: { color: '#F7F9FC' } } },&#10;          { text: '“Everything in this box is ours.”', textStyle: { color: '#4A5568' }, cellStyle: { background: { color: '#F7F9FC' } } },&#10;          { text: 'Leaving it out — then nobody knows what is in scope', textStyle: { color: '#4A5568' }, cellStyle: { background: { color: '#F7F9FC' } } },&#10;        ],&#10;        [&#10;          { text: 'Use case', textStyle: { bold: true, color: '#0E3F8C' } },&#10;          { text: 'An ellipse, named verb plus object', textStyle: { color: '#4A5568' } },&#10;          { text: '“Place Order — a goal that ends.”', textStyle: { color: '#4A5568' } },&#10;          { text: 'Drawing a rectangle, or naming it with a noun', textStyle: { color: '#4A5568' } },&#10;        ],&#10;        [&#10;          { text: 'Actor', textStyle: { bold: true, color: '#0E3F8C' }, cellStyle: { background: { color: '#F7F9FC' } } },&#10;          { text: 'A stick figure, or a box labelled with the system', textStyle: { color: '#4A5568' }, cellStyle: { background: { color: '#F7F9FC' } } },&#10;          { text: '“The Student wants this.”', textStyle: { color: '#4A5568' }, cellStyle: { background: { color: '#F7F9FC' } } },&#10;          { text: 'Naming a department, a person, or your own database', textStyle: { color: '#4A5568' }, cellStyle: { background: { color: '#F7F9FC' } } },&#10;        ],&#10;        [&#10;          { text: 'Association', textStyle: { bold: true, color: '#0E3F8C' } },&#10;          { text: 'A solid line, no arrowhead', textStyle: { color: '#4A5568' } },&#10;          { text: '“The actor talks to this use case.”', textStyle: { color: '#4A5568' } },&#10;          { text: 'Adding arrowheads — it is a conversation, not a flow', textStyle: { color: '#4A5568' } },&#10;        ],&#10;        [&#10;          { text: '&lt;&lt;include&gt;&gt;', textStyle: { bold: true, color: '#0E3F8C' }, cellStyle: { background: { color: '#F7F9FC' } } },&#10;          { text: 'A dashed arrow, base pointing to the included', textStyle: { color: '#4A5568' }, cellStyle: { background: { color: '#F7F9FC' } } },&#10;          { text: '“Place Order always authenticates first.”', textStyle: { color: '#4A5568' }, cellStyle: { background: { color: '#F7F9FC' } } },&#10;          { text: 'Using it for something that only sometimes happens', textStyle: { color: '#4A5568' }, cellStyle: { background: { color: '#F7F9FC' } } },&#10;        ],&#10;        [&#10;          { text: '&lt;&lt;extend&gt;&gt;', textStyle: { bold: true, color: '#0E3F8C' } },&#10;          { text: 'A dashed arrow, extra pointing back to the base', textStyle: { color: '#4A5568' } },&#10;          { text: '“Apply Coupon sometimes adds itself in.”', textStyle: { color: '#4A5568' } },&#10;          { text: 'Drawing the arrow the wrong way round', textStyle: { color: '#4A5568' } },&#10;        ],&#10;      ]}&#10;    /&gt;&#10;  &lt;/Box&gt;&#10;  &lt;Box style={{ height: 46, background: '#0E3F8C', padding: '0 40px', flexDirection: 'row', alignItems: 'center', justifyContent: 'center' }}&gt;&#10;    &lt;Text style={{ fontSize: 16, color: '#FFFFFF', fontWeight: '600' }}&gt;Six symbols is the whole notation. If your diagram needs a seventh, something is wrong with the model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9629775" y="257175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THE USE CASE DIAGRAM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90537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The Six Elements — Quick Reference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17 / 38</a:t>
            </a:r>
            <a:endParaRPr/>
          </a:p>
        </p:txBody>
      </p:sp>
      <p:graphicFrame>
        <p:nvGraphicFramePr>
          <p:cNvPr id="230" name=""/>
          <p:cNvGraphicFramePr/>
          <p:nvPr/>
        </p:nvGraphicFramePr>
        <p:xfrm rot="0" flipH="0" flipV="0">
          <a:off x="381000" y="1247775"/>
          <a:ext cx="11430000" cy="5114925"/>
        </p:xfrm>
        <a:graphic>
          <a:graphicData uri="http://schemas.openxmlformats.org/drawingml/2006/table">
            <a:tbl>
              <a:tblGrid>
                <a:gridCol w="1395444">
                  <a:extLst>
                    <a:ext uri="{9D8B030D-6E8A-4147-A177-3AD203B41FA5}">
                      <a16:colId val="1"/>
                    </a:ext>
                  </a:extLst>
                </a:gridCol>
                <a:gridCol w="3337325">
                  <a:extLst>
                    <a:ext uri="{9D8B030D-6E8A-4147-A177-3AD203B41FA5}">
                      <a16:colId val="2"/>
                    </a:ext>
                  </a:extLst>
                </a:gridCol>
                <a:gridCol w="2885725">
                  <a:extLst>
                    <a:ext uri="{9D8B030D-6E8A-4147-A177-3AD203B41FA5}">
                      <a16:colId val="3"/>
                    </a:ext>
                  </a:extLst>
                </a:gridCol>
                <a:gridCol w="3811505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Element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How you draw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How you read it aloud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Mistake to avoid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534F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System boundary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rectangle with the system name at the top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“Everything in this box is ours.”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Leaving it out — then nobody knows what is in scope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Use case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An ellipse, named verb plus object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“Place Order — a goal that ends.”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Drawing a rectangle, or naming it with a noun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Actor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stick figure, or a box labelled with the system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“The Student wants this.”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Naming a department, a person, or your own database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Association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solid line, no arrowhead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“The actor talks to this use case.”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Adding arrowheads — it is a conversation, not a flow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&lt;&lt;include&gt;&gt;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dashed arrow, base pointing to the included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“Place Order always authenticates first.”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Using it for something that only sometimes happens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&lt;&lt;extend&gt;&gt;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dashed arrow, extra pointing back to the base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“Apply Coupon sometimes adds itself in.”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Drawing the arrow the wrong way round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31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2324100" y="6543675"/>
            <a:ext cx="7543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Six symbols is the whole notation. If your diagram needs a seventh, something is wrong with the model.</a:t>
            </a:r>
            <a:endParaRPr/>
          </a:p>
        </p:txBody>
      </p:sp>
    </p:spTree>
  </p:cSld>
</p:sld>
</file>

<file path=ppt/slides/slide1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3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THE USE CASE DIAGRAM&lt;/Text&gt;&#10;  &lt;/Box&gt;&#10;  &lt;Box style={{ padding: '12px 40px 0 40px', flexDirection: 'row', alignItems: 'center', justifyContent: 'space-between' }}&gt;&#10;    &lt;Text style={{ fontSize: 29, fontWeight: 'bold', color: '#0E3F8C' }}&gt;A Worked Diagram — Place Order&lt;/Text&gt;&#10;    &lt;Text style={{ fontSize: 14, color: '#1E4FA8', fontWeight: 'bold' }}&gt;18 / 38&lt;/Text&gt;&#10;  &lt;/Box&gt;&#10;  &lt;Box style={{ flex: 1, padding: '8px 40px 0 40px', flexDirection: 'row', gap: 26 }}&gt;&#10;    &lt;Box style={{ width: 600, justifyContent: 'center', alignItems: 'center' }}&gt;&#10;      &lt;svg width={600} height={356} viewBox='0 0 600 356'&gt;&#10;        &lt;text x='6' y='16' fill='#8B97A8' fontSize='12'&gt;One goal, two actors, one include — read it before you copy it&lt;/text&gt;&#10;&#10;        &lt;rect x='168' y='36' width='300' height='280' rx='6' fill='#FFFFFF' stroke='#1E4FA8' strokeWidth='2' /&gt;&#10;        &lt;text x='318' y='58' textAnchor='middle' fill='#0E3F8C' fontSize='13.5' fontWeight='bold'&gt;CampusBites&lt;/text&gt;&#10;&#10;        &lt;ellipse cx='318' cy='108' rx='122' ry='26' fill='#F0F5FC' stroke='#1E4FA8' strokeWidth='1.8' /&gt;&#10;        &lt;text x='318' y='113' textAnchor='middle' fill='#1A2230' fontSize='13' fontWeight='bold'&gt;Place Order&lt;/text&gt;&#10;&#10;        &lt;ellipse cx='318' cy='190' rx='122' ry='26' fill='#FFFFFF' stroke='#1E4FA8' strokeWidth='1.5' /&gt;&#10;        &lt;text x='318' y='195' textAnchor='middle' fill='#1A2230' fontSize='13'&gt;Authenticate&lt;/text&gt;&#10;&#10;        &lt;ellipse cx='318' cy='262' rx='122' ry='26' fill='#FFFFFF' stroke='#1E4FA8' strokeWidth='1.5' /&gt;&#10;        &lt;text x='318' y='267' textAnchor='middle' fill='#1A2230' fontSize='13'&gt;Pay for Order&lt;/text&gt;&#10;&#10;        &lt;g transform='translate(24,84)'&gt;&#10;          &lt;circle cx='16' cy='16' r='9' fill='none' stroke='#0E3F8C' strokeWidth='2' /&gt;&#10;          &lt;line x1='16' y1='25' x2='16' y2='48' stroke='#0E3F8C' strokeWidth='2' /&gt;&#10;          &lt;line x1='16' y1='33' x2='4' y2='45' stroke='#0E3F8C' strokeWidth='2' /&gt;&#10;          &lt;line x1='16' y1='33' x2='28' y2='45' stroke='#0E3F8C' strokeWidth='2' /&gt;&#10;          &lt;line x1='16' y1='48' x2='5' y2='64' stroke='#0E3F8C' strokeWidth='2' /&gt;&#10;          &lt;line x1='16' y1='48' x2='27' y2='64' stroke='#0E3F8C' strokeWidth='2' /&gt;&#10;          &lt;text x='16' y='80' textAnchor='middle' fill='#0E3F8C' fontSize='12' fontWeight='bold'&gt;Student&lt;/text&gt;&#10;          &lt;text x='16' y='95' textAnchor='middle' fill='#8B97A8' fontSize='10'&gt;primary&lt;/text&gt;&#10;        &lt;/g&gt;&#10;&#10;        &lt;g transform='translate(492,222)'&gt;&#10;          &lt;rect x='0' y='0' width='100' height='42' rx='4' fill='#F7F9FC' stroke='#8B97A8' strokeWidth='1.6' /&gt;&#10;          &lt;text x='50' y='19' textAnchor='middle' fill='#4A5568' fontSize='11' fontWeight='bold'&gt;Payment&lt;/text&gt;&#10;          &lt;text x='50' y='34' textAnchor='middle' fill='#4A5568' fontSize='11' fontWeight='bold'&gt;Provider&lt;/text&gt;&#10;          &lt;text x='50' y='56' textAnchor='middle' fill='#8B97A8' fontSize='10'&gt;secondary&lt;/text&gt;&#10;        &lt;/g&gt;&#10;&#10;        &lt;line x1='52' y1='148' x2='200' y2='114' stroke='#1E4FA8' strokeWidth='1.6' /&gt;&#10;        &lt;line x1='52' y1='158' x2='200' y2='186' stroke='#1E4FA8' strokeWidth='1.4' /&gt;&#10;&#10;        &lt;line x1='440' y1='258' x2='494' y2='246' stroke='#8B97A8' strokeWidth='1.4' /&gt;&#10;&#10;        &lt;line x1='262' y1='126' x2='220' y2='168' stroke='#1E4FA8' strokeWidth='1.5' strokeDasharray='6 4' /&gt;&#10;        &lt;polygon points='216,171 230,168 221,158' fill='#1E4FA8' /&gt;&#10;        &lt;text x='150' y='158' fill='#1E4FA8' fontSize='10.5' fontWeight='bold'&gt;«include»&lt;/text&gt;&#10;&#10;        &lt;text x='318' y='336' textAnchor='middle' fill='#8B97A8' fontSize='11'&gt;Note: two actors touch one use case, and the dashed arrow never points at an actor.&lt;/text&gt;&#10;      &lt;/svg&gt;&#10;    &lt;/Box&gt;&#10;    &lt;Box style={{ flex: 1, flexDirection: 'column', justifyContent: 'center', gap: 12 }}&gt;&#10;      &lt;Box style={{ padding: '14px 17px', background: '#F0F5FC', borderRadius: 9, borderLeft: '4px solid #1E4FA8' }}&gt;&#10;        &lt;Text style={{ fontSize: 15.5, fontWeight: 'bold', color: '#0E3F8C' }}&gt;Why Authenticate is an include&lt;/Text&gt;&#10;        &lt;Text style={{ fontSize: 12.8, color: '#4A5568', lineHeight: 1.6, marginTop: 5 }}&gt;&#10;          Every order needs it, every time. Nobody asks for it on its own — that is the signature of an include, not a use case anyone wants.&#10;        &lt;/Text&gt;&#10;      &lt;/Box&gt;&#10;      &lt;Box style={{ padding: '14px 17px', background: '#FFFFFF', borderRadius: 9, border: '1px solid #D6DCE5' }}&gt;&#10;        &lt;Text style={{ fontSize: 15.5, fontWeight: 'bold', color: '#0E3F8C' }}&gt;Why Pay for Order is a use case&lt;/Text&gt;&#10;        &lt;Text style={{ fontSize: 12.8, color: '#4A5568', lineHeight: 1.6, marginTop: 5 }}&gt;&#10;          A student can pay a later order without placing a new one. It is a goal somebody has, so it earns its own ellipse.&#10;        &lt;/Text&gt;&#10;      &lt;/Box&gt;&#10;      &lt;Box style={{ padding: '14px 17px', background: '#FFFFFF', borderRadius: 9, border: '1px solid #D6DCE5' }}&gt;&#10;        &lt;Text style={{ fontSize: 15.5, fontWeight: 'bold', color: '#0E3F8C' }}&gt;Why the provider is an actor&lt;/Text&gt;&#10;        &lt;Text style={{ fontSize: 12.8, color: '#4A5568', lineHeight: 1.6, marginTop: 5 }}&gt;&#10;          We do not own the card network, so we cannot change how it behaves. It sits outside the box and serves us.&#10;        &lt;/Text&gt;&#10;      &lt;/Box&gt;&#10;      &lt;Box style={{ padding: '12px 16px', background: '#FDF3F3', borderRadius: 8, borderLeft: '3px solid #D9534F' }}&gt;&#10;        &lt;Text style={{ fontSize: 12.5, color: '#4A5568', lineHeight: 1.55 }}&gt;&#10;          &lt;Text style={{ fontWeight: 'bold', color: '#D9534F' }}&gt;Check the arrows. &lt;/Text&gt;&#10;          The dashed arrow leaves Place Order and arrives at Authenticate. If yours points the other way, you have described the opposite relationship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Read every dashed arrow out loud — the direction is where most first diagrams go wrong&lt;/Text&gt;&#10;    &lt;Text style={{ fontSize: 14, color: '#1E4FA8', fontWeight: 'bold' }}&gt;1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9629775" y="257175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THE USE CASE DIAGRAM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444817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A Worked Diagram — Place Order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  <p:pic>
        <p:nvPicPr>
          <p:cNvPr id="2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181225"/>
            <a:ext cx="5715000" cy="3390900"/>
          </a:xfrm>
          <a:prstGeom prst="rect">
            <a:avLst/>
          </a:prstGeom>
          <a:ln/>
        </p:spPr>
      </p:pic>
      <p:sp>
        <p:nvSpPr>
          <p:cNvPr id="241" name=""/>
          <p:cNvSpPr/>
          <p:nvPr/>
        </p:nvSpPr>
        <p:spPr>
          <a:xfrm rot="0" flipH="0" flipV="0">
            <a:off x="6381750" y="1905000"/>
            <a:ext cx="5467350" cy="971550"/>
          </a:xfrm>
          <a:prstGeom prst="roundRect">
            <a:avLst>
              <a:gd name="adj" fmla="val 882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42" name=""/>
          <p:cNvSpPr/>
          <p:nvPr/>
        </p:nvSpPr>
        <p:spPr>
          <a:xfrm rot="0" flipH="0" flipV="0">
            <a:off x="6381750" y="1905000"/>
            <a:ext cx="5467350" cy="971550"/>
          </a:xfrm>
          <a:custGeom>
            <a:pathLst>
              <a:path w="574" h="102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97"/>
                </a:lnTo>
                <a:cubicBezTo>
                  <a:pt x="4" y="99"/>
                  <a:pt x="6" y="101"/>
                  <a:pt x="8" y="102"/>
                </a:cubicBezTo>
                <a:cubicBezTo>
                  <a:pt x="4" y="102"/>
                  <a:pt x="0" y="98"/>
                  <a:pt x="0" y="9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6543675" y="2038350"/>
            <a:ext cx="51054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Why Authenticate is an include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6543675" y="2266950"/>
            <a:ext cx="51054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Every order needs it, every time. Nobody asks for it on its own — that is the signature of an include, not a use case anyone wants.</a:t>
            </a:r>
            <a:endParaRPr/>
          </a:p>
        </p:txBody>
      </p:sp>
      <p:sp>
        <p:nvSpPr>
          <p:cNvPr id="245" name=""/>
          <p:cNvSpPr/>
          <p:nvPr/>
        </p:nvSpPr>
        <p:spPr>
          <a:xfrm rot="0" flipH="0" flipV="0">
            <a:off x="6343650" y="2990850"/>
            <a:ext cx="5467350" cy="97155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6505575" y="3124200"/>
            <a:ext cx="5143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Why Pay for Order is a use case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6505575" y="3352800"/>
            <a:ext cx="5143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A student can pay a later order without placing a new one. It is a goal somebody has, so it earns its own ellipse.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6343650" y="4076700"/>
            <a:ext cx="5467350" cy="97155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6505575" y="4210050"/>
            <a:ext cx="5143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Why the provider is an actor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6505575" y="4438650"/>
            <a:ext cx="5143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We do not own the card network, so we cannot change how it behaves. It sits outside the box and serves us.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6372225" y="5162550"/>
            <a:ext cx="5467350" cy="676275"/>
          </a:xfrm>
          <a:prstGeom prst="roundRect">
            <a:avLst>
              <a:gd name="adj" fmla="val 11268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52" name=""/>
          <p:cNvSpPr/>
          <p:nvPr/>
        </p:nvSpPr>
        <p:spPr>
          <a:xfrm rot="0" flipH="0" flipV="0">
            <a:off x="6372225" y="5162550"/>
            <a:ext cx="5467350" cy="676275"/>
          </a:xfrm>
          <a:custGeom>
            <a:pathLst>
              <a:path w="574" h="7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6"/>
                </a:lnTo>
                <a:cubicBezTo>
                  <a:pt x="3" y="68"/>
                  <a:pt x="5" y="70"/>
                  <a:pt x="7" y="71"/>
                </a:cubicBezTo>
                <a:cubicBezTo>
                  <a:pt x="3" y="70"/>
                  <a:pt x="0" y="67"/>
                  <a:pt x="0" y="6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524625" y="5276850"/>
            <a:ext cx="51339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Check the arrows. </a:t>
            </a: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The dashed arrow leaves Place Order and arrives at Authenticate. If yours points the other way, you have described the opposite relationship.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5905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Read every dashed arrow out loud — the direction is where most first diagrams go wrong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5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THE USE CASE DIAGRAM&lt;/Text&gt;&#10;  &lt;/Box&gt;&#10;  &lt;Box style={{ padding: '14px 40px 0 40px', flexDirection: 'row', alignItems: 'center', justifyContent: 'space-between' }}&gt;&#10;    &lt;Text style={{ fontSize: 29, fontWeight: 'bold', color: '#0E3F8C' }}&gt;Three Mistakes Everyone Makes&lt;/Text&gt;&#10;    &lt;Text style={{ fontSize: 14, color: '#1E4FA8', fontWeight: 'bold' }}&gt;19 / 38&lt;/Text&gt;&#10;  &lt;/Box&gt;&#10;  &lt;Box style={{ flex: 1, padding: '14px 60px 0 60px', flexDirection: 'column', justifyContent: 'center', alignItems: 'center' }}&gt;&#10;    &lt;Box style={{ width: 960, padding: '20px 30px', background: '#F0F5FC', borderRadius: 10, borderLeft: '6px solid #D9534F', marginBottom: 20 }}&gt;&#10;      &lt;Text style={{ fontSize: 23, color: '#0E3F8C', fontWeight: 'bold', lineHeight: 1.4, textAlign: 'center' }}&gt;&#10;        All three come from the same habit: describing what the system does&#10;        &lt;br /&gt;&#10;        instead of what the actor gets.&#10;      &lt;/Text&gt;&#10;    &lt;/Box&gt;&#10;    &lt;Box style={{ width: 960, flexDirection: 'row', gap: 18 }}&gt;&#10;      &lt;Box style={{ flex: 1, padding: '20px 18px', background: '#FFFFFF', borderRadius: 10, border: '1px solid #D6DCE5' }}&gt;&#10;        &lt;Box style={{ flexDirection: 'row', alignItems: 'center', gap: 8, marginBottom: 8 }}&gt;&#10;          &lt;FAIcon name='sitemap' style={{ fill: '#D9534F', width: 20, height: 20 }} /&gt;&#10;          &lt;Text style={{ fontSize: 16, fontWeight: 'bold', color: '#D9534F' }}&gt;01 · Functional decomposition&lt;/Text&gt;&#10;        &lt;/Box&gt;&#10;        &lt;Box style={{ padding: '10px 12px', background: '#FDF3F3', borderRadius: 6, marginBottom: 8 }}&gt;&#10;          &lt;Text style={{ fontSize: 12.5, color: '#4A5568', lineHeight: 1.5 }}&gt;Enter Address → Choose Restaurant → Add Item → Confirm → Pay&lt;/Text&gt;&#10;        &lt;/Box&gt;&#10;        &lt;Text style={{ fontSize: 12.5, color: '#4A5568', lineHeight: 1.6 }}&gt;&#10;          Five “use cases” that are really five steps of one. The student has exactly one goal: get lunch. Everything else is a line inside the scenario — Week 05.&#10;        &lt;/Text&gt;&#10;      &lt;/Box&gt;&#10;      &lt;Box style={{ flex: 1, padding: '20px 18px', background: '#FFFFFF', borderRadius: 10, border: '1px solid #D6DCE5' }}&gt;&#10;        &lt;Box style={{ flexDirection: 'row', alignItems: 'center', gap: 8, marginBottom: 8 }}&gt;&#10;          &lt;FAIcon name='cubes' style={{ fill: '#D9534F', width: 20, height: 20 }} /&gt;&#10;          &lt;Text style={{ fontSize: 16, fontWeight: 'bold', color: '#D9534F' }}&gt;02 · CRUD as use cases&lt;/Text&gt;&#10;        &lt;/Box&gt;&#10;        &lt;Box style={{ padding: '10px 12px', background: '#FDF3F3', borderRadius: 6, marginBottom: 8 }}&gt;&#10;          &lt;Text style={{ fontSize: 12.5, color: '#4A5568', lineHeight: 1.5 }}&gt;Create Order · Read Order · Update Order · Delete Order&lt;/Text&gt;&#10;        &lt;/Box&gt;&#10;        &lt;Text style={{ fontSize: 12.5, color: '#4A5568', lineHeight: 1.6 }}&gt;&#10;          You have modelled a table. Ask who wakes up wanting this: nobody wants to “update an order”. They want to change the address, or cancel it.&#10;        &lt;/Text&gt;&#10;      &lt;/Box&gt;&#10;      &lt;Box style={{ flex: 1, padding: '20px 18px', background: '#FFFFFF', borderRadius: 10, border: '1px solid #D6DCE5' }}&gt;&#10;        &lt;Box style={{ flexDirection: 'row', alignItems: 'center', gap: 8, marginBottom: 8 }}&gt;&#10;          &lt;FAIcon name='plug' style={{ fill: '#D9534F', width: 20, height: 20 }} /&gt;&#10;          &lt;Text style={{ fontSize: 16, fontWeight: 'bold', color: '#D9534F' }}&gt;03 · External systems inside&lt;/Text&gt;&#10;        &lt;/Box&gt;&#10;        &lt;Box style={{ padding: '10px 12px', background: '#FDF3F3', borderRadius: 6, marginBottom: 8 }}&gt;&#10;          &lt;Text style={{ fontSize: 12.5, color: '#4A5568', lineHeight: 1.5 }}&gt;Process Payment · Send SMS · Charge Campus Card&lt;/Text&gt;&#10;        &lt;/Box&gt;&#10;        &lt;Text style={{ fontSize: 12.5, color: '#4A5568', lineHeight: 1.6 }}&gt;&#10;          If you cannot change how it behaves, it is not your use case. Those three are actors outside the box that serve you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Count your ellipses. Six to twelve is a healthy diagram; forty means you have modelled the menu, not the goals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9629775" y="257175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THE USE CASE DIAGRAM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2386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Three Mistakes Everyone Makes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1581150" y="2066925"/>
            <a:ext cx="9086850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1581150" y="2066925"/>
            <a:ext cx="9086850" cy="1123950"/>
          </a:xfrm>
          <a:custGeom>
            <a:pathLst>
              <a:path w="954" h="118">
                <a:moveTo>
                  <a:pt x="10" y="0"/>
                </a:moveTo>
                <a:cubicBezTo>
                  <a:pt x="8" y="0"/>
                  <a:pt x="6" y="2"/>
                  <a:pt x="6" y="4"/>
                </a:cubicBezTo>
                <a:lnTo>
                  <a:pt x="6" y="114"/>
                </a:lnTo>
                <a:cubicBezTo>
                  <a:pt x="6" y="116"/>
                  <a:pt x="8" y="118"/>
                  <a:pt x="10" y="118"/>
                </a:cubicBezTo>
                <a:cubicBezTo>
                  <a:pt x="4" y="118"/>
                  <a:pt x="0" y="113"/>
                  <a:pt x="0" y="10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866900" y="2257425"/>
            <a:ext cx="8515350" cy="74295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All three come from the same habit: describing what the system does</a:t>
            </a:r>
            <a:endParaRPr/>
          </a:p>
          <a:p>
            <a:pPr algn="ctr">
              <a:lnSpc>
                <a:spcPct val="14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instead of what the actor gets.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1524000" y="3381375"/>
            <a:ext cx="2933700" cy="2257425"/>
          </a:xfrm>
          <a:prstGeom prst="roundRect">
            <a:avLst>
              <a:gd name="adj" fmla="val 421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2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695450" y="3571875"/>
            <a:ext cx="190500" cy="190500"/>
          </a:xfrm>
          <a:prstGeom prst="rect">
            <a:avLst/>
          </a:prstGeom>
          <a:ln/>
        </p:spPr>
      </p:pic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962150" y="3571875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01 · Functional decomposition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1695450" y="3838575"/>
            <a:ext cx="2590800" cy="619125"/>
          </a:xfrm>
          <a:prstGeom prst="roundRect">
            <a:avLst>
              <a:gd name="adj" fmla="val 923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809750" y="3933825"/>
            <a:ext cx="2362200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Enter Address → Choose Restaurant → Add Item → Confirm → Pay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1695450" y="4533900"/>
            <a:ext cx="2590800" cy="914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Five “use cases” that are really five steps of one. The student has exactly one goal: get lunch. Everything else is a line inside the scenario — Week 05.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4629150" y="3381375"/>
            <a:ext cx="2933700" cy="2257425"/>
          </a:xfrm>
          <a:prstGeom prst="roundRect">
            <a:avLst>
              <a:gd name="adj" fmla="val 421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27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800600" y="3571875"/>
            <a:ext cx="190500" cy="190500"/>
          </a:xfrm>
          <a:prstGeom prst="rect">
            <a:avLst/>
          </a:prstGeom>
          <a:ln/>
        </p:spPr>
      </p:pic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5067300" y="3571875"/>
            <a:ext cx="1733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02 · CRUD as use cases</a:t>
            </a:r>
            <a:endParaRPr/>
          </a:p>
        </p:txBody>
      </p:sp>
      <p:sp>
        <p:nvSpPr>
          <p:cNvPr id="275" name=""/>
          <p:cNvSpPr/>
          <p:nvPr/>
        </p:nvSpPr>
        <p:spPr>
          <a:xfrm rot="0" flipH="0" flipV="0">
            <a:off x="4800600" y="3838575"/>
            <a:ext cx="2590800" cy="619125"/>
          </a:xfrm>
          <a:prstGeom prst="roundRect">
            <a:avLst>
              <a:gd name="adj" fmla="val 923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4914900" y="3933825"/>
            <a:ext cx="2362200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Create Order · Read Order · Update Order · Delete Order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4800600" y="4533900"/>
            <a:ext cx="25908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You have modelled a table. Ask who wakes up wanting this: nobody wants to “update an order”. They want to change the address, or cancel it.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7734300" y="3381375"/>
            <a:ext cx="2933700" cy="2257425"/>
          </a:xfrm>
          <a:prstGeom prst="roundRect">
            <a:avLst>
              <a:gd name="adj" fmla="val 421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2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905750" y="3571875"/>
            <a:ext cx="190500" cy="190500"/>
          </a:xfrm>
          <a:prstGeom prst="rect">
            <a:avLst/>
          </a:prstGeom>
          <a:ln/>
        </p:spPr>
      </p:pic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8172450" y="3571875"/>
            <a:ext cx="2047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03 · External systems inside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7905750" y="3838575"/>
            <a:ext cx="2590800" cy="619125"/>
          </a:xfrm>
          <a:prstGeom prst="roundRect">
            <a:avLst>
              <a:gd name="adj" fmla="val 923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8020050" y="3933825"/>
            <a:ext cx="2362200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Process Payment · Send SMS · Charge Campus Card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7905750" y="4533900"/>
            <a:ext cx="25908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If you cannot change how it behaves, it is not your use case. Those three are actors outside the box that serve you.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2047875" y="6543675"/>
            <a:ext cx="8096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Count your ellipses. Six to twelve is a healthy diagram; forty means you have modelled the menu, not the goals.</a:t>
            </a:r>
            <a:endParaRPr/>
          </a:p>
        </p:txBody>
      </p:sp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32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4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Include&lt;br /&gt;vs. Extend&lt;/Text&gt;&#10;      &lt;Box style={{ width: 64, height: 4, background: '#FFC107', marginTop: 26, marginBottom: 26 }} /&gt;&#10;      &lt;Box style={{ flexDirection: 'column', gap: 12 }}&gt;&#10;        {[&#10;          'include: always happens, the base cannot finish without it',&#10;          'extend: may happen, the base is complete either way',&#10;          'The arrow direction is the part everybody gets wrong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Include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vs. Extend</a:t>
            </a:r>
            <a:endParaRPr/>
          </a:p>
        </p:txBody>
      </p:sp>
      <p:sp>
        <p:nvSpPr>
          <p:cNvPr id="329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30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48482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include: always happens, the base cannot finish without it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45053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extend: may happen, the base is complete either way</a:t>
            </a:r>
            <a:endParaRPr/>
          </a:p>
        </p:txBody>
      </p:sp>
      <p:sp>
        <p:nvSpPr>
          <p:cNvPr id="334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44386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arrow direction is the part everybody gets wrong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3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INCLUDE &amp;amp; EXTEND&lt;/Text&gt;&#10;  &lt;/Box&gt;&#10;  &lt;Box style={{ padding: '12px 40px 0 40px', flexDirection: 'row', alignItems: 'center', justifyContent: 'space-between' }}&gt;&#10;    &lt;Text style={{ fontSize: 29, fontWeight: 'bold', color: '#0E3F8C' }}&gt;&amp;lt;&amp;lt;include&amp;gt;&amp;gt; — Always Happens&lt;/Text&gt;&#10;    &lt;Text style={{ fontSize: 14, color: '#1E4FA8', fontWeight: 'bold' }}&gt;21 / 38&lt;/Text&gt;&#10;  &lt;/Box&gt;&#10;  &lt;Box style={{ flex: 1, padding: '8px 40px 0 40px', flexDirection: 'row', gap: 26 }}&gt;&#10;    &lt;Box style={{ width: 590, justifyContent: 'center', alignItems: 'center' }}&gt;&#10;      &lt;svg width={590} height={352} viewBox='0 0 590 352'&gt;&#10;        &lt;text x='6' y='16' fill='#8B97A8' fontSize='12'&gt;The base use case reaches out and pulls the other one in — every single time&lt;/text&gt;&#10;&#10;        &lt;rect x='150' y='40' width='320' height='250' rx='6' fill='#FFFFFF' stroke='#1E4FA8' strokeWidth='2' /&gt;&#10;        &lt;text x='310' y='62' textAnchor='middle' fill='#0E3F8C' fontSize='13' fontWeight='bold'&gt;CampusBites&lt;/text&gt;&#10;&#10;        &lt;ellipse cx='310' cy='112' rx='126' ry='27' fill='#F0F5FC' stroke='#1E4FA8' strokeWidth='1.8' /&gt;&#10;        &lt;text x='310' y='117' textAnchor='middle' fill='#1A2230' fontSize='13' fontWeight='bold'&gt;Place Order&lt;/text&gt;&#10;&#10;        &lt;ellipse cx='310' cy='214' rx='126' ry='27' fill='#FFFFFF' stroke='#1E4FA8' strokeWidth='1.5' /&gt;&#10;        &lt;text x='310' y='219' textAnchor='middle' fill='#1A2230' fontSize='13'&gt;Authenticate&lt;/text&gt;&#10;&#10;        &lt;g transform='translate(24,86)'&gt;&#10;          &lt;circle cx='16' cy='16' r='9' fill='none' stroke='#0E3F8C' strokeWidth='2' /&gt;&#10;          &lt;line x1='16' y1='25' x2='16' y2='48' stroke='#0E3F8C' strokeWidth='2' /&gt;&#10;          &lt;line x1='16' y1='33' x2='4' y2='45' stroke='#0E3F8C' strokeWidth='2' /&gt;&#10;          &lt;line x1='16' y1='33' x2='28' y2='45' stroke='#0E3F8C' strokeWidth='2' /&gt;&#10;          &lt;line x1='16' y1='48' x2='5' y2='64' stroke='#0E3F8C' strokeWidth='2' /&gt;&#10;          &lt;line x1='16' y1='48' x2='27' y2='64' stroke='#0E3F8C' strokeWidth='2' /&gt;&#10;          &lt;text x='16' y='80' textAnchor='middle' fill='#0E3F8C' fontSize='12' fontWeight='bold'&gt;Student&lt;/text&gt;&#10;        &lt;/g&gt;&#10;&#10;        &lt;line x1='52' y1='152' x2='188' y2='120' stroke='#1E4FA8' strokeWidth='1.6' /&gt;&#10;&#10;        &lt;line x1='256' y1='130' x2='214' y2='188' stroke='#1E4FA8' strokeWidth='2' strokeDasharray='7 4' /&gt;&#10;        &lt;polygon points='210,192 224,187 213,178' fill='#1E4FA8' /&gt;&#10;        &lt;text x='132' y='170' fill='#1E4FA8' fontSize='11.5' fontWeight='bold'&gt;«include»&lt;/text&gt;&#10;        &lt;text x='132' y='186' fill='#8B97A8' fontSize='10'&gt;arrow leaves the base&lt;/text&gt;&#10;&#10;        &lt;rect x='150' y='304' width='320' height='38' rx='6' fill='#F0F5FC' stroke='#1E4FA8' strokeWidth='1' /&gt;&#10;        &lt;text x='310' y='328' textAnchor='middle' fill='#0E3F8C' fontSize='12.5' fontWeight='bold'&gt;No authentication, no order — the base is incomplete without it&lt;/text&gt;&#10;      &lt;/svg&gt;&#10;    &lt;/Box&gt;&#10;    &lt;Box style={{ flex: 1, flexDirection: 'column', justifyContent: 'center', gap: 12 }}&gt;&#10;      &lt;Box style={{ padding: '15px 17px', background: '#F0F5FC', borderRadius: 9, borderLeft: '4px solid #1E4FA8' }}&gt;&#10;        &lt;Text style={{ fontSize: 16, fontWeight: 'bold', color: '#0E3F8C' }}&gt;The test&lt;/Text&gt;&#10;        &lt;Text style={{ fontSize: 13, color: '#4A5568', lineHeight: 1.6, marginTop: 5 }}&gt;&#10;          Delete the included use case from your head. Can the base still reach its goal? If the answer is no, it is an include.&#10;        &lt;/Text&gt;&#10;      &lt;/Box&gt;&#10;      &lt;Box style={{ padding: '15px 17px', background: '#FFFFFF', borderRadius: 9, border: '1px solid #D6DCE5' }}&gt;&#10;        &lt;Text style={{ fontSize: 16, fontWeight: 'bold', color: '#0E3F8C' }}&gt;It is about reuse, not options&lt;/Text&gt;&#10;        &lt;Text style={{ fontSize: 13, color: '#4A5568', lineHeight: 1.6, marginTop: 5 }}&gt;&#10;          You draw it once because three use cases all need it, and you refuse to write “authenticate the user” three times. That is the whole reason.&#10;        &lt;/Text&gt;&#10;      &lt;/Box&gt;&#10;      &lt;Box style={{ padding: '15px 17px', background: '#FDF3F3', borderRadius: 9, borderLeft: '4px solid #D9534F' }}&gt;&#10;        &lt;Text style={{ fontSize: 16, fontWeight: 'bold', color: '#D9534F' }}&gt;Common misuse&lt;/Text&gt;&#10;        &lt;Text style={{ fontSize: 13, color: '#4A5568', lineHeight: 1.6, marginTop: 5 }}&gt;&#10;          Using include to break one use case into steps. Steps belong in the scenario text next week, not in ellipses.&#10;        &lt;/Text&gt;&#10;      &lt;/Box&gt;&#10;      &lt;Box style={{ padding: '12px 16px', background: '#F7F9FC', borderRadius: 8, border: '1px dashed #D6DCE5' }}&gt;&#10;        &lt;Text style={{ fontSize: 12.5, color: '#8B97A8', lineHeight: 1.55 }}&gt;&#10;          Memory hook: &lt;Text style={{ fontWeight: 'bold', color: '#0E3F8C' }}&gt;in&lt;/Text&gt;clude = &lt;Text style={{ fontWeight: 'bold', color: '#0E3F8C' }}&gt;in&lt;/Text&gt;evitable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The base owns the arrow: it points at what it needs&lt;/Text&gt;&#10;    &lt;Text style={{ fontSize: 14, color: '#1E4FA8', fontWeight: 'bold' }}&gt;2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10001250" y="257175"/>
            <a:ext cx="180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INCLUDE &amp; EXTEND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42386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&lt;&lt;include&gt;&gt; — Always Happens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  <p:pic>
        <p:nvPicPr>
          <p:cNvPr id="3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200275"/>
            <a:ext cx="5619750" cy="3352800"/>
          </a:xfrm>
          <a:prstGeom prst="rect">
            <a:avLst/>
          </a:prstGeom>
          <a:ln/>
        </p:spPr>
      </p:pic>
      <p:sp>
        <p:nvSpPr>
          <p:cNvPr id="345" name=""/>
          <p:cNvSpPr/>
          <p:nvPr/>
        </p:nvSpPr>
        <p:spPr>
          <a:xfrm rot="0" flipH="0" flipV="0">
            <a:off x="6286500" y="1971675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46" name=""/>
          <p:cNvSpPr/>
          <p:nvPr/>
        </p:nvSpPr>
        <p:spPr>
          <a:xfrm rot="0" flipH="0" flipV="0">
            <a:off x="6286500" y="1971675"/>
            <a:ext cx="5562600" cy="1000125"/>
          </a:xfrm>
          <a:custGeom>
            <a:pathLst>
              <a:path w="58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6448425" y="2114550"/>
            <a:ext cx="5200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The test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6448425" y="2352675"/>
            <a:ext cx="52006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Delete the included use case from your head. Can the base still reach its goal? If the answer is no, it is an include.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6248400" y="3086100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6410325" y="3228975"/>
            <a:ext cx="5238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It is about reuse, not options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6410325" y="3467100"/>
            <a:ext cx="52387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You draw it once because three use cases all need it, and you refuse to write “authenticate the user” three times. That is the whole reason.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6286500" y="4200525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353" name=""/>
          <p:cNvSpPr/>
          <p:nvPr/>
        </p:nvSpPr>
        <p:spPr>
          <a:xfrm rot="0" flipH="0" flipV="0">
            <a:off x="6286500" y="4200525"/>
            <a:ext cx="5562600" cy="1000125"/>
          </a:xfrm>
          <a:custGeom>
            <a:pathLst>
              <a:path w="58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6448425" y="4343400"/>
            <a:ext cx="5200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Common misuse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6448425" y="4581525"/>
            <a:ext cx="52006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Using include to break one use case into steps. Steps belong in the scenario text next week, not in ellipses.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6248400" y="5314950"/>
            <a:ext cx="5562600" cy="4572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6400800" y="5429250"/>
            <a:ext cx="5257800" cy="2286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Memory hook: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in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clude =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in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evitable.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3810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The base owns the arrow: it points at what it needs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6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INCLUDE &amp;amp; EXTEND&lt;/Text&gt;&#10;  &lt;/Box&gt;&#10;  &lt;Box style={{ padding: '12px 40px 0 40px', flexDirection: 'row', alignItems: 'center', justifyContent: 'space-between' }}&gt;&#10;    &lt;Text style={{ fontSize: 29, fontWeight: 'bold', color: '#0E3F8C' }}&gt;&amp;lt;&amp;lt;extend&amp;gt;&amp;gt; — Conditionally Happens&lt;/Text&gt;&#10;    &lt;Text style={{ fontSize: 14, color: '#1E4FA8', fontWeight: 'bold' }}&gt;22 / 38&lt;/Text&gt;&#10;  &lt;/Box&gt;&#10;  &lt;Box style={{ flex: 1, padding: '8px 40px 0 40px', flexDirection: 'row', gap: 26 }}&gt;&#10;    &lt;Box style={{ width: 590, justifyContent: 'center', alignItems: 'center' }}&gt;&#10;      &lt;svg width={590} height={352} viewBox='0 0 590 352'&gt;&#10;        &lt;text x='6' y='16' fill='#8B97A8' fontSize='12'&gt;The extra use case points BACK at the base — this is the direction people reverse&lt;/text&gt;&#10;&#10;        &lt;rect x='150' y='40' width='320' height='250' rx='6' fill='#FFFFFF' stroke='#1E4FA8' strokeWidth='2' /&gt;&#10;        &lt;text x='310' y='62' textAnchor='middle' fill='#0E3F8C' fontSize='13' fontWeight='bold'&gt;CampusBites&lt;/text&gt;&#10;&#10;        &lt;ellipse cx='310' cy='112' rx='126' ry='27' fill='#F0F5FC' stroke='#1E4FA8' strokeWidth='1.8' /&gt;&#10;        &lt;text x='310' y='117' textAnchor='middle' fill='#1A2230' fontSize='13' fontWeight='bold'&gt;Place Order&lt;/text&gt;&#10;&#10;        &lt;ellipse cx='310' cy='214' rx='126' ry='27' fill='#FFFFFF' stroke='#3D7BD9' strokeWidth='1.6' /&gt;&#10;        &lt;text x='310' y='219' textAnchor='middle' fill='#1A2230' fontSize='13'&gt;Apply Coupon&lt;/text&gt;&#10;&#10;        &lt;g transform='translate(24,86)'&gt;&#10;          &lt;circle cx='16' cy='16' r='9' fill='none' stroke='#0E3F8C' strokeWidth='2' /&gt;&#10;          &lt;line x1='16' y1='25' x2='16' y2='48' stroke='#0E3F8C' strokeWidth='2' /&gt;&#10;          &lt;line x1='16' y1='33' x2='4' y2='45' stroke='#0E3F8C' strokeWidth='2' /&gt;&#10;          &lt;line x1='16' y1='33' x2='28' y2='45' stroke='#0E3F8C' strokeWidth='2' /&gt;&#10;          &lt;line x1='16' y1='48' x2='5' y2='64' stroke='#0E3F8C' strokeWidth='2' /&gt;&#10;          &lt;line x1='16' y1='48' x2='27' y2='64' stroke='#0E3F8C' strokeWidth='2' /&gt;&#10;          &lt;text x='16' y='80' textAnchor='middle' fill='#0E3F8C' fontSize='12' fontWeight='bold'&gt;Student&lt;/text&gt;&#10;        &lt;/g&gt;&#10;&#10;        &lt;line x1='52' y1='152' x2='188' y2='120' stroke='#1E4FA8' strokeWidth='1.6' /&gt;&#10;&#10;        &lt;line x1='256' y1='196' x2='216' y2='140' stroke='#3D7BD9' strokeWidth='2' strokeDasharray='7 4' /&gt;&#10;        &lt;polygon points='212,136 226,142 216,151' fill='#3D7BD9' /&gt;&#10;        &lt;text x='256' y='176' fill='#3D7BD9' fontSize='11.5' fontWeight='bold'&gt;«extend»&lt;/text&gt;&#10;        &lt;text x='256' y='192' fill='#8B97A8' fontSize='10'&gt;arrow points back to the base&lt;/text&gt;&#10;&#10;        &lt;rect x='150' y='304' width='320' height='38' rx='6' fill='#FFFFFF' stroke='#3D7BD9' strokeWidth='1' /&gt;&#10;        &lt;text x='310' y='322' textAnchor='middle' fill='#0E3F8C' fontSize='12' fontWeight='bold'&gt;Condition: the student holds a valid coupon&lt;/text&gt;&#10;        &lt;text x='310' y='336' textAnchor='middle' fill='#8B97A8' fontSize='11'&gt;The order is complete with or without it&lt;/text&gt;&#10;      &lt;/svg&gt;&#10;    &lt;/Box&gt;&#10;    &lt;Box style={{ flex: 1, flexDirection: 'column', justifyContent: 'center', gap: 12 }}&gt;&#10;      &lt;Box style={{ padding: '15px 17px', background: '#F0F5FC', borderRadius: 9, borderLeft: '4px solid #3D7BD9' }}&gt;&#10;        &lt;Text style={{ fontSize: 16, fontWeight: 'bold', color: '#0E3F8C' }}&gt;The test&lt;/Text&gt;&#10;        &lt;Text style={{ fontSize: 13, color: '#4A5568', lineHeight: 1.6, marginTop: 5 }}&gt;&#10;          Delete the extension. Does the base still deliver its goal? If yes — the base is complete, so the extra is an extend.&#10;        &lt;/Text&gt;&#10;      &lt;/Box&gt;&#10;      &lt;Box style={{ padding: '15px 17px', background: '#FFFFFF', borderRadius: 9, border: '1px solid #D6DCE5' }}&gt;&#10;        &lt;Text style={{ fontSize: 16, fontWeight: 'bold', color: '#0E3F8C' }}&gt;Name the condition&lt;/Text&gt;&#10;        &lt;Text style={{ fontSize: 13, color: '#4A5568', lineHeight: 1.6, marginTop: 5 }}&gt;&#10;          An extend without a stated condition is a guess. Write it on the diagram as a note: “only when the student holds a valid coupon”.&#10;        &lt;/Text&gt;&#10;      &lt;/Box&gt;&#10;      &lt;Box style={{ padding: '15px 17px', background: '#FDF3F3', borderRadius: 9, borderLeft: '4px solid #D9534F' }}&gt;&#10;        &lt;Text style={{ fontSize: 16, fontWeight: 'bold', color: '#D9534F' }}&gt;Common misuse&lt;/Text&gt;&#10;        &lt;Text style={{ fontSize: 13, color: '#4A5568', lineHeight: 1.6, marginTop: 5 }}&gt;&#10;          Using extend for the normal path. If it happens eight times out of ten, it is part of the base, not an extension of it.&#10;        &lt;/Text&gt;&#10;      &lt;/Box&gt;&#10;      &lt;Box style={{ padding: '12px 16px', background: '#F7F9FC', borderRadius: 8, border: '1px dashed #D6DCE5' }}&gt;&#10;        &lt;Text style={{ fontSize: 12.5, color: '#8B97A8', lineHeight: 1.55 }}&gt;&#10;          Memory hook: &lt;Text style={{ fontWeight: 'bold', color: '#0E3F8C' }}&gt;ex&lt;/Text&gt;tend = &lt;Text style={{ fontWeight: 'bold', color: '#0E3F8C' }}&gt;ex&lt;/Text&gt;ception, and the arrow comes back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Arrow from the extra to the base — the opposite of include&lt;/Text&gt;&#10;    &lt;Text style={{ fontSize: 14, color: '#1E4FA8', fontWeight: 'bold' }}&gt;2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10001250" y="257175"/>
            <a:ext cx="180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INCLUDE &amp; EXTEND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49625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&lt;&lt;extend&gt;&gt; — Conditionally Happens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22 / 38</a:t>
            </a:r>
            <a:endParaRPr/>
          </a:p>
        </p:txBody>
      </p:sp>
      <p:pic>
        <p:nvPicPr>
          <p:cNvPr id="3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200275"/>
            <a:ext cx="5619750" cy="3352800"/>
          </a:xfrm>
          <a:prstGeom prst="rect">
            <a:avLst/>
          </a:prstGeom>
          <a:ln/>
        </p:spPr>
      </p:pic>
      <p:sp>
        <p:nvSpPr>
          <p:cNvPr id="368" name=""/>
          <p:cNvSpPr/>
          <p:nvPr/>
        </p:nvSpPr>
        <p:spPr>
          <a:xfrm rot="0" flipH="0" flipV="0">
            <a:off x="6286500" y="1971675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69" name=""/>
          <p:cNvSpPr/>
          <p:nvPr/>
        </p:nvSpPr>
        <p:spPr>
          <a:xfrm rot="0" flipH="0" flipV="0">
            <a:off x="6286500" y="1971675"/>
            <a:ext cx="5562600" cy="1000125"/>
          </a:xfrm>
          <a:custGeom>
            <a:pathLst>
              <a:path w="58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6448425" y="2114550"/>
            <a:ext cx="5200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The test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6448425" y="2352675"/>
            <a:ext cx="52006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Delete the extension. Does the base still deliver its goal? If yes — the base is complete, so the extra is an extend.</a:t>
            </a:r>
            <a:endParaRPr/>
          </a:p>
        </p:txBody>
      </p:sp>
      <p:sp>
        <p:nvSpPr>
          <p:cNvPr id="372" name=""/>
          <p:cNvSpPr/>
          <p:nvPr/>
        </p:nvSpPr>
        <p:spPr>
          <a:xfrm rot="0" flipH="0" flipV="0">
            <a:off x="6248400" y="3086100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6410325" y="3228975"/>
            <a:ext cx="5238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Name the condition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6410325" y="3467100"/>
            <a:ext cx="52387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An extend without a stated condition is a guess. Write it on the diagram as a note: “only when the student holds a valid coupon”.</a:t>
            </a:r>
            <a:endParaRPr/>
          </a:p>
        </p:txBody>
      </p:sp>
      <p:sp>
        <p:nvSpPr>
          <p:cNvPr id="375" name=""/>
          <p:cNvSpPr/>
          <p:nvPr/>
        </p:nvSpPr>
        <p:spPr>
          <a:xfrm rot="0" flipH="0" flipV="0">
            <a:off x="6286500" y="4200525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376" name=""/>
          <p:cNvSpPr/>
          <p:nvPr/>
        </p:nvSpPr>
        <p:spPr>
          <a:xfrm rot="0" flipH="0" flipV="0">
            <a:off x="6286500" y="4200525"/>
            <a:ext cx="5562600" cy="1000125"/>
          </a:xfrm>
          <a:custGeom>
            <a:pathLst>
              <a:path w="58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6448425" y="4343400"/>
            <a:ext cx="5200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Common misuse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6448425" y="4581525"/>
            <a:ext cx="52006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Using extend for the normal path. If it happens eight times out of ten, it is part of the base, not an extension of it.</a:t>
            </a:r>
            <a:endParaRPr/>
          </a:p>
        </p:txBody>
      </p:sp>
      <p:sp>
        <p:nvSpPr>
          <p:cNvPr id="379" name=""/>
          <p:cNvSpPr/>
          <p:nvPr/>
        </p:nvSpPr>
        <p:spPr>
          <a:xfrm rot="0" flipH="0" flipV="0">
            <a:off x="6248400" y="5314950"/>
            <a:ext cx="5562600" cy="4572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6400800" y="5429250"/>
            <a:ext cx="5257800" cy="2286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Memory hook: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ex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tend =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ex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ception, and the arrow comes back.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4219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Arrow from the extra to the base — the opposite of include</a:t>
            </a:r>
            <a:endParaRPr/>
          </a:p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22 / 38</a:t>
            </a:r>
            <a:endParaRPr/>
          </a:p>
        </p:txBody>
      </p:sp>
    </p:spTree>
  </p:cSld>
</p:sld>
</file>

<file path=ppt/slides/slide23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38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INCLUDE &amp;amp; EXTEND&lt;/Text&gt;&#10;  &lt;/Box&gt;&#10;  &lt;Box style={{ padding: '14px 40px 0 40px', flexDirection: 'row', alignItems: 'center', justifyContent: 'space-between' }}&gt;&#10;    &lt;Text style={{ fontSize: 29, fontWeight: 'bold', color: '#0E3F8C' }}&gt;Include vs. Extend — The Decision Table&lt;/Text&gt;&#10;    &lt;Text style={{ fontSize: 14, color: '#1E4FA8', fontWeight: 'bold' }}&gt;23 / 38&lt;/Text&gt;&#10;  &lt;/Box&gt;&#10;  &lt;Box style={{ flex: 1, padding: '10px 40px 6px 40px' }}&gt;&#10;    &lt;Table&#10;      style={{ width: '100%', height: '100%' }}&#10;      defaultTextStyle={{ fontSize: 13.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Dimension', textStyle: { bold: true, color: '#FFFFFF' }, cellStyle: { background: { color: '#0E3F8C' } } },&#10;          { text: '&lt;&lt;include&gt;&gt;', textStyle: { bold: true, color: '#FFFFFF' }, cellStyle: { background: { color: '#1E4FA8' } } },&#10;          { text: '&lt;&lt;extend&gt;&gt;', textStyle: { bold: true, color: '#FFFFFF' }, cellStyle: { background: { color: '#3D7BD9' } } },&#10;        ],&#10;        [&#10;          { text: 'Does it always happen?', textStyle: { bold: true, color: '#0E3F8C' }, cellStyle: { background: { color: '#F7F9FC' } } },&#10;          { text: 'Yes. Every run of the base.', textStyle: { color: '#4A5568' }, cellStyle: { background: { color: '#F7F9FC' } } },&#10;          { text: 'No. Only when a condition holds.', textStyle: { color: '#4A5568' }, cellStyle: { background: { color: '#F7F9FC' } } },&#10;        ],&#10;        [&#10;          { text: 'Is the base complete without it?', textStyle: { bold: true, color: '#0E3F8C' } },&#10;          { text: 'No. Remove it and the goal is unreachable.', textStyle: { color: '#4A5568' } },&#10;          { text: 'Yes. The goal is met either way.', textStyle: { color: '#4A5568' } },&#10;        ],&#10;        [&#10;          { text: 'Who depends on whom?', textStyle: { bold: true, color: '#0E3F8C' }, cellStyle: { background: { color: '#F7F9FC' } } },&#10;          { text: 'The base needs the included behaviour.', textStyle: { color: '#4A5568' }, cellStyle: { background: { color: '#F7F9FC' } } },&#10;          { text: 'The extension needs the base to hook into.', textStyle: { color: '#4A5568' }, cellStyle: { background: { color: '#F7F9FC' } } },&#10;        ],&#10;        [&#10;          { text: 'Arrow direction', textStyle: { bold: true, color: '#0E3F8C' } },&#10;          { text: 'Base → included', textStyle: { color: '#4A5568' } },&#10;          { text: 'Extension → base', textStyle: { color: '#4A5568' } },&#10;        ],&#10;        [&#10;          { text: 'Can it stand alone?', textStyle: { bold: true, color: '#0E3F8C' }, cellStyle: { background: { color: '#F7F9FC' } } },&#10;          { text: 'Usually not — nobody asks for it on its own.', textStyle: { color: '#4A5568' }, cellStyle: { background: { color: '#F7F9FC' } } },&#10;          { text: 'Often yes — it may be a small goal of its own.', textStyle: { color: '#4A5568' }, cellStyle: { background: { color: '#F7F9FC' } } },&#10;        ],&#10;        [&#10;          { text: 'Why you draw it', textStyle: { bold: true, color: '#0E3F8C' } },&#10;          { text: 'To stop writing the same behaviour three times.', textStyle: { color: '#4A5568' } },&#10;          { text: 'To keep a rare case out of the main text.', textStyle: { color: '#4A5568' } },&#10;        ],&#10;        [&#10;          { text: 'CampusBites example', textStyle: { bold: true, color: '#0E3F8C' }, cellStyle: { background: { color: '#F7F9FC' } } },&#10;          { text: 'Place Order includes Authenticate', textStyle: { color: '#4A5568' }, cellStyle: { background: { color: '#F7F9FC' } } },&#10;          { text: 'Apply Coupon extends Place Order', textStyle: { color: '#4A5568' }, cellStyle: { background: { color: '#F7F9FC' } } },&#10;        ],&#10;      ]}&#10;    /&gt;&#10;  &lt;/Box&gt;&#10;  &lt;Box style={{ height: 46, background: '#0E3F8C', padding: '0 40px', flexDirection: 'row', alignItems: 'center', justifyContent: 'center' }}&gt;&#10;    &lt;Text style={{ fontSize: 16, color: '#FFFFFF', fontWeight: '600' }}&gt;Ask only one question: is the base still complete without it? No → include. Yes → extend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10001250" y="257175"/>
            <a:ext cx="180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INCLUDE &amp; EXTEND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535305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Include vs. Extend — The Decision Table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23 / 38</a:t>
            </a:r>
            <a:endParaRPr/>
          </a:p>
        </p:txBody>
      </p:sp>
      <p:graphicFrame>
        <p:nvGraphicFramePr>
          <p:cNvPr id="390" name=""/>
          <p:cNvGraphicFramePr/>
          <p:nvPr/>
        </p:nvGraphicFramePr>
        <p:xfrm rot="0" flipH="0" flipV="0">
          <a:off x="381000" y="1247775"/>
          <a:ext cx="11430000" cy="5114925"/>
        </p:xfrm>
        <a:graphic>
          <a:graphicData uri="http://schemas.openxmlformats.org/drawingml/2006/table">
            <a:tbl>
              <a:tblGrid>
                <a:gridCol w="3101768">
                  <a:extLst>
                    <a:ext uri="{9D8B030D-6E8A-4147-A177-3AD203B41FA5}">
                      <a16:colId val="1"/>
                    </a:ext>
                  </a:extLst>
                </a:gridCol>
                <a:gridCol w="4229158">
                  <a:extLst>
                    <a:ext uri="{9D8B030D-6E8A-4147-A177-3AD203B41FA5}">
                      <a16:colId val="2"/>
                    </a:ext>
                  </a:extLst>
                </a:gridCol>
                <a:gridCol w="4099074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Dimension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&lt;&lt;include&gt;&gt;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&lt;&lt;extend&gt;&gt;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Does it always happen?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Yes. Every run of the base.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No. Only when a condition holds.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Is the base complete without it?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No. Remove it and the goal is unreachable.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Yes. The goal is met either way.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Who depends on whom?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base needs the included behaviour.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extension needs the base to hook into.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Arrow direction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Base → included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Extension → base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Can it stand alone?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Usually not — nobody asks for it on its own.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Often yes — it may be a small goal of its own.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Why you draw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To stop writing the same behaviour three times.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To keep a rare case out of the main text.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CampusBites example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Place Order includes Authenticate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Apply Coupon extends Place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</a:tbl>
          </a:graphicData>
        </a:graphic>
      </p:graphicFrame>
      <p:sp>
        <p:nvSpPr>
          <p:cNvPr id="391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2857500" y="6543675"/>
            <a:ext cx="6477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Ask only one question: is the base still complete without it? No → include. Yes → extend.</a:t>
            </a:r>
            <a:endParaRPr/>
          </a:p>
        </p:txBody>
      </p:sp>
    </p:spTree>
  </p:cSld>
</p:sld>
</file>

<file path=ppt/slides/slide24.xml><?xml version="1.0" encoding="utf-8"?>
<p:sld xmlns:a="http://schemas.openxmlformats.org/drawingml/2006/main" xmlns:p="http://schemas.openxmlformats.org/presentationml/2006/main">
  <p:cSld>
    <p:spTree>
      <p:nvGrpSpPr>
        <p:cNvPr id="39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5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Finding&lt;br /&gt;Use Cases&lt;/Text&gt;&#10;      &lt;Box style={{ width: 64, height: 4, background: '#FFC107', marginTop: 26, marginBottom: 26 }} /&gt;&#10;      &lt;Box style={{ flexDirection: 'column', gap: 12 }}&gt;&#10;        {[&#10;          'Two heuristics: events, and the noun-verb scan',&#10;          'Six use cases fall out of the CampusBites pack',&#10;          'A name is not a use case — the text comes in Week 05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Finding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Use Cases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00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9909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Two heuristics: events, and the noun-verb scan</a:t>
            </a:r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3962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Six use cases fall out of the CampusBites pack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46767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name is not a use case — the text comes in Week 05</a:t>
            </a:r>
            <a:endParaRPr/>
          </a:p>
        </p:txBody>
      </p:sp>
      <p:sp>
        <p:nvSpPr>
          <p:cNvPr id="40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40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FINDING USE CASES&lt;/Text&gt;&#10;  &lt;/Box&gt;&#10;  &lt;Box style={{ padding: '14px 40px 0 40px', flexDirection: 'row', alignItems: 'center', justifyContent: 'space-between' }}&gt;&#10;    &lt;Text style={{ fontSize: 29, fontWeight: 'bold', color: '#0E3F8C' }}&gt;Two Ways to Find Them&lt;/Text&gt;&#10;    &lt;Text style={{ fontSize: 14, color: '#1E4FA8', fontWeight: 'bold' }}&gt;25 / 38&lt;/Text&gt;&#10;  &lt;/Box&gt;&#10;  &lt;Box style={{ flex: 1, padding: '12px 40px 0 40px', flexDirection: 'row', gap: 22 }}&gt;&#10;    &lt;Box style={{ flex: 1, flexDirection: 'column' }}&gt;&#10;      &lt;Box style={{ padding: '16px 18px', background: '#F0F5FC', borderRadius: 10, borderTop: '4px solid #1E4FA8', marginBottom: 10 }}&gt;&#10;        &lt;Text style={{ fontSize: 18, fontWeight: 'bold', color: '#0E3F8C' }}&gt;01 · Event analysis&lt;/Text&gt;&#10;        &lt;Text style={{ fontSize: 13, color: '#4A5568', lineHeight: 1.6, marginTop: 6 }}&gt;&#10;          Start from what happens to the business, then ask what the system must do about it.&#10;        &lt;/Text&gt;&#10;      &lt;/Box&gt;&#10;      {[&#10;        ['Best when', 'The process is well understood and somebody can list the events'],&#10;        ['You get', 'A use case per business event — traceable back to the business'],&#10;        ['Blind spot', 'Misses quiet goals: browsing, searching, comparing'],&#10;        ['Effort', 'Needs a domain expert in the room for an hour'],&#10;      ].map((r) =&gt; (&#10;        &lt;Box key={r[0]} style={{ padding: '12px 15px', background: '#FFFFFF', borderRadius: 8, border: '1px solid #D6DCE5', marginBottom: 8 }}&gt;&#10;          &lt;Text style={{ fontSize: 11.5, color: '#8B97A8', marginBottom: 2 }}&gt;{r[0].toUpperCase()}&lt;/Text&gt;&#10;          &lt;Text style={{ fontSize: 13, color: '#4A5568', lineHeight: 1.5 }}&gt;{r[1]}&lt;/Text&gt;&#10;        &lt;/Box&gt;&#10;      ))}&#10;    &lt;/Box&gt;&#10;    &lt;Box style={{ width: 20 }} /&gt;&#10;    &lt;Box style={{ flex: 1, flexDirection: 'column' }}&gt;&#10;      &lt;Box style={{ padding: '16px 18px', background: '#F7F9FC', borderRadius: 10, borderTop: '4px solid #3D7BD9', marginBottom: 10 }}&gt;&#10;        &lt;Text style={{ fontSize: 18, fontWeight: 'bold', color: '#0E3F8C' }}&gt;02 · Noun–verb scanning&lt;/Text&gt;&#10;        &lt;Text style={{ fontSize: 13, color: '#4A5568', lineHeight: 1.6, marginTop: 6 }}&gt;&#10;          Read the narrative. Underline the nouns and the verbs, then sort what you underlined.&#10;        &lt;/Text&gt;&#10;      &lt;/Box&gt;&#10;      {[&#10;        ['Best when', 'You have a written brief and no expert available'],&#10;        ['You get', 'Candidate actors and use cases in one pass — plus candidate classes'],&#10;        ['Blind spot', 'Finds what the text says, not what the text forgot'],&#10;        ['Effort', 'Twenty minutes alone with a highlighter'],&#10;      ].map((r) =&gt; (&#10;        &lt;Box key={r[0]} style={{ padding: '12px 15px', background: '#FFFFFF', borderRadius: 8, border: '1px solid #D6DCE5', marginBottom: 8 }}&gt;&#10;          &lt;Text style={{ fontSize: 11.5, color: '#8B97A8', marginBottom: 2 }}&gt;{r[0].toUpperCase()}&lt;/Text&gt;&#10;          &lt;Text style={{ fontSize: 13, color: '#4A5568', lineHeight: 1.5 }}&gt;{r[1]}&lt;/Text&gt;&#10;        &lt;/Box&gt;&#10;      ))}&#10;    &lt;/Box&gt;&#10;  &lt;/Box&gt;&#10;  &lt;Box style={{ height: 46, background: '#0E3F8C', padding: '0 40px', flexDirection: 'row', alignItems: 'center', justifyContent: 'center' }}&gt;&#10;    &lt;Text style={{ fontSize: 16, color: '#FFFFFF', fontWeight: '600' }}&gt;Run both. Where they agree, you are confident; where they disagree, you have found a question to ask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9944100" y="257175"/>
            <a:ext cx="1866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FINDING USE CASES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1337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Two Ways to Find Them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381000" y="1304925"/>
            <a:ext cx="5410200" cy="847725"/>
          </a:xfrm>
          <a:prstGeom prst="roundRect">
            <a:avLst>
              <a:gd name="adj" fmla="val 1123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15" name=""/>
          <p:cNvSpPr/>
          <p:nvPr/>
        </p:nvSpPr>
        <p:spPr>
          <a:xfrm rot="0" flipH="0" flipV="0">
            <a:off x="381000" y="1304925"/>
            <a:ext cx="5410200" cy="847725"/>
          </a:xfrm>
          <a:custGeom>
            <a:pathLst>
              <a:path w="568" h="89">
                <a:moveTo>
                  <a:pt x="558" y="0"/>
                </a:moveTo>
                <a:cubicBezTo>
                  <a:pt x="563" y="0"/>
                  <a:pt x="567" y="4"/>
                  <a:pt x="568" y="8"/>
                </a:cubicBezTo>
                <a:cubicBezTo>
                  <a:pt x="567" y="6"/>
                  <a:pt x="565" y="4"/>
                  <a:pt x="56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558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552450" y="1457325"/>
            <a:ext cx="5067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01 · Event analysis</a:t>
            </a:r>
            <a:endParaRPr/>
          </a:p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552450" y="1724025"/>
            <a:ext cx="50673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Start from what happens to the business, then ask what the system must do about it.</a:t>
            </a:r>
            <a:endParaRPr/>
          </a:p>
        </p:txBody>
      </p:sp>
      <p:sp>
        <p:nvSpPr>
          <p:cNvPr id="418" name=""/>
          <p:cNvSpPr/>
          <p:nvPr/>
        </p:nvSpPr>
        <p:spPr>
          <a:xfrm rot="0" flipH="0" flipV="0">
            <a:off x="381000" y="22098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523875" y="23241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BEST WHEN</a:t>
            </a:r>
            <a:endParaRPr/>
          </a:p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523875" y="24765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process is well understood and somebody can list the events</a:t>
            </a:r>
            <a:endParaRPr/>
          </a:p>
        </p:txBody>
      </p:sp>
      <p:sp>
        <p:nvSpPr>
          <p:cNvPr id="421" name=""/>
          <p:cNvSpPr/>
          <p:nvPr/>
        </p:nvSpPr>
        <p:spPr>
          <a:xfrm rot="0" flipH="0" flipV="0">
            <a:off x="381000" y="28956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523875" y="30099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YOU GET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523875" y="31623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use case per business event — traceable back to the business</a:t>
            </a:r>
            <a:endParaRPr/>
          </a:p>
        </p:txBody>
      </p:sp>
      <p:sp>
        <p:nvSpPr>
          <p:cNvPr id="424" name=""/>
          <p:cNvSpPr/>
          <p:nvPr/>
        </p:nvSpPr>
        <p:spPr>
          <a:xfrm rot="0" flipH="0" flipV="0">
            <a:off x="381000" y="35814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523875" y="36957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BLIND SPOT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523875" y="38481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Misses quiet goals: browsing, searching, comparing</a:t>
            </a:r>
            <a:endParaRPr/>
          </a:p>
        </p:txBody>
      </p:sp>
      <p:sp>
        <p:nvSpPr>
          <p:cNvPr id="427" name=""/>
          <p:cNvSpPr/>
          <p:nvPr/>
        </p:nvSpPr>
        <p:spPr>
          <a:xfrm rot="0" flipH="0" flipV="0">
            <a:off x="381000" y="42672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523875" y="43815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EFFORT</a:t>
            </a:r>
            <a:endParaRPr/>
          </a:p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523875" y="45339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Needs a domain expert in the room for an hour</a:t>
            </a:r>
            <a:endParaRPr/>
          </a:p>
        </p:txBody>
      </p:sp>
      <p:sp>
        <p:nvSpPr>
          <p:cNvPr id="430" name=""/>
          <p:cNvSpPr/>
          <p:nvPr/>
        </p:nvSpPr>
        <p:spPr>
          <a:xfrm rot="0" flipH="0" flipV="0">
            <a:off x="6400800" y="1304925"/>
            <a:ext cx="5410200" cy="847725"/>
          </a:xfrm>
          <a:prstGeom prst="roundRect">
            <a:avLst>
              <a:gd name="adj" fmla="val 1123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31" name=""/>
          <p:cNvSpPr/>
          <p:nvPr/>
        </p:nvSpPr>
        <p:spPr>
          <a:xfrm rot="0" flipH="0" flipV="0">
            <a:off x="6400800" y="1304925"/>
            <a:ext cx="5410200" cy="847725"/>
          </a:xfrm>
          <a:custGeom>
            <a:pathLst>
              <a:path w="568" h="89">
                <a:moveTo>
                  <a:pt x="558" y="0"/>
                </a:moveTo>
                <a:cubicBezTo>
                  <a:pt x="563" y="0"/>
                  <a:pt x="567" y="4"/>
                  <a:pt x="568" y="8"/>
                </a:cubicBezTo>
                <a:cubicBezTo>
                  <a:pt x="567" y="6"/>
                  <a:pt x="565" y="4"/>
                  <a:pt x="56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558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6572250" y="1457325"/>
            <a:ext cx="5067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02 · Noun–verb scanning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6572250" y="1724025"/>
            <a:ext cx="50673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Read the narrative. Underline the nouns and the verbs, then sort what you underlined.</a:t>
            </a:r>
            <a:endParaRPr/>
          </a:p>
        </p:txBody>
      </p:sp>
      <p:sp>
        <p:nvSpPr>
          <p:cNvPr id="434" name=""/>
          <p:cNvSpPr/>
          <p:nvPr/>
        </p:nvSpPr>
        <p:spPr>
          <a:xfrm rot="0" flipH="0" flipV="0">
            <a:off x="6400800" y="22098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6543675" y="23241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BEST WHEN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6543675" y="24765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You have a written brief and no expert available</a:t>
            </a:r>
            <a:endParaRPr/>
          </a:p>
        </p:txBody>
      </p:sp>
      <p:sp>
        <p:nvSpPr>
          <p:cNvPr id="437" name=""/>
          <p:cNvSpPr/>
          <p:nvPr/>
        </p:nvSpPr>
        <p:spPr>
          <a:xfrm rot="0" flipH="0" flipV="0">
            <a:off x="6400800" y="28956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6543675" y="30099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YOU GET</a:t>
            </a:r>
            <a:endParaRPr/>
          </a:p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6543675" y="31623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Candidate actors and use cases in one pass — plus candidate classes</a:t>
            </a:r>
            <a:endParaRPr/>
          </a:p>
        </p:txBody>
      </p:sp>
      <p:sp>
        <p:nvSpPr>
          <p:cNvPr id="440" name=""/>
          <p:cNvSpPr/>
          <p:nvPr/>
        </p:nvSpPr>
        <p:spPr>
          <a:xfrm rot="0" flipH="0" flipV="0">
            <a:off x="6400800" y="35814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6543675" y="36957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BLIND SPOT</a:t>
            </a:r>
            <a:endParaRPr/>
          </a:p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6543675" y="38481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Finds what the text says, not what the text forgot</a:t>
            </a:r>
            <a:endParaRPr/>
          </a:p>
        </p:txBody>
      </p:sp>
      <p:sp>
        <p:nvSpPr>
          <p:cNvPr id="443" name=""/>
          <p:cNvSpPr/>
          <p:nvPr/>
        </p:nvSpPr>
        <p:spPr>
          <a:xfrm rot="0" flipH="0" flipV="0">
            <a:off x="6400800" y="42672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6543675" y="43815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EFFORT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6543675" y="45339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Twenty minutes alone with a highlighter</a:t>
            </a:r>
            <a:endParaRPr/>
          </a:p>
        </p:txBody>
      </p:sp>
      <p:sp>
        <p:nvSpPr>
          <p:cNvPr id="446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2352675" y="6543675"/>
            <a:ext cx="7486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Run both. Where they agree, you are confident; where they disagree, you have found a question to ask.</a:t>
            </a:r>
            <a:endParaRPr/>
          </a:p>
        </p:txBody>
      </p:sp>
    </p:spTree>
  </p:cSld>
</p:sld>
</file>

<file path=ppt/slides/slide26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44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FINDING USE CASES&lt;/Text&gt;&#10;  &lt;/Box&gt;&#10;  &lt;Box style={{ padding: '14px 40px 0 40px', flexDirection: 'row', alignItems: 'center', justifyContent: 'space-between' }}&gt;&#10;    &lt;Text style={{ fontSize: 29, fontWeight: 'bold', color: '#0E3F8C' }}&gt;The Event Table&lt;/Text&gt;&#10;    &lt;Text style={{ fontSize: 14, color: '#1E4FA8', fontWeight: 'bold' }}&gt;26 / 38&lt;/Text&gt;&#10;  &lt;/Box&gt;&#10;  &lt;Box style={{ flex: 1, padding: '10px 40px 6px 40px' }}&gt;&#10;    &lt;Table&#10;      style={{ width: '100%', height: '100%' }}&#10;      defaultTextStyle={{ fontSize: 13.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External event', textStyle: { bold: true, color: '#FFFFFF' }, cellStyle: { background: { color: '#0E3F8C' } } },&#10;          { text: 'Who triggers it', textStyle: { bold: true, color: '#FFFFFF' }, cellStyle: { background: { color: '#0E3F8C' } } },&#10;          { text: 'What the system must do', textStyle: { bold: true, color: '#FFFFFF' }, cellStyle: { background: { color: '#1E4FA8' } } },&#10;          { text: 'Use case', textStyle: { bold: true, color: '#FFFFFF' }, cellStyle: { background: { color: '#1E4FA8' } } },&#10;        ],&#10;        [&#10;          { text: 'A student wants lunch', textStyle: { color: '#4A5568' }, cellStyle: { background: { color: '#F7F9FC' } } },&#10;          { text: 'Student', textStyle: { color: '#4A5568' }, cellStyle: { background: { color: '#F7F9FC' } } },&#10;          { text: 'Show the menu, take the selection, take the money', textStyle: { color: '#4A5568' }, cellStyle: { background: { color: '#F7F9FC' } } },&#10;          { text: 'Place Order', textStyle: { bold: true, color: '#0E3F8C' }, cellStyle: { background: { color: '#F7F9FC' } } },&#10;        ],&#10;        [&#10;          { text: 'A restaurant changes its menu', textStyle: { color: '#4A5568' } },&#10;          { text: 'Restaurant Manager', textStyle: { color: '#4A5568' } },&#10;          { text: 'Let the manager mark items sold out before service starts', textStyle: { color: '#4A5568' } },&#10;          { text: 'Manage Today’s Menu', textStyle: { bold: true, color: '#0E3F8C' } },&#10;        ],&#10;        [&#10;          { text: 'An order is ready for pickup', textStyle: { color: '#4A5568' }, cellStyle: { background: { color: '#F7F9FC' } } },&#10;          { text: 'Kitchen (system clock)', textStyle: { color: '#4A5568' }, cellStyle: { background: { color: '#F7F9FC' } } },&#10;          { text: 'Find an available courier and assign the delivery', textStyle: { color: '#4A5568' }, cellStyle: { background: { color: '#F7F9FC' } } },&#10;          { text: 'Dispatch Courier', textStyle: { bold: true, color: '#0E3F8C' }, cellStyle: { background: { color: '#F7F9FC' } } },&#10;        ],&#10;        [&#10;          { text: 'A student wants to know where lunch is', textStyle: { color: '#4A5568' } },&#10;          { text: 'Student', textStyle: { color: '#4A5568' } },&#10;          { text: 'Show the current status of a live order', textStyle: { color: '#4A5568' } },&#10;          { text: 'Track Order', textStyle: { bold: true, color: '#0E3F8C' } },&#10;        ],&#10;        [&#10;          { text: 'A delivery has arrived', textStyle: { color: '#4A5568' }, cellStyle: { background: { color: '#F7F9FC' } } },&#10;          { text: 'Courier', textStyle: { color: '#4A5568' }, cellStyle: { background: { color: '#F7F9FC' } } },&#10;          { text: 'Close the order, record the arrival time, open the rating', textStyle: { color: '#4A5568' }, cellStyle: { background: { color: '#F7F9FC' } } },&#10;          { text: 'Confirm Delivery', textStyle: { bold: true, color: '#0E3F8C' }, cellStyle: { background: { color: '#F7F9FC' } } },&#10;        ],&#10;        [&#10;          { text: 'A payment is declined', textStyle: { color: '#4A5568' } },&#10;          { text: 'Payment Provider', textStyle: { color: '#4A5568' } },&#10;          { text: 'Tell the student, hold the order for thirty minutes', textStyle: { color: '#4A5568' } },&#10;          { text: 'Pay for Order', textStyle: { bold: true, color: '#0E3F8C' } },&#10;        ],&#10;      ]}&#10;    /&gt;&#10;  &lt;/Box&gt;&#10;  &lt;Box style={{ height: 46, background: '#0E3F8C', padding: '0 40px', flexDirection: 'row', alignItems: 'center', justifyContent: 'center' }}&gt;&#10;    &lt;Text style={{ fontSize: 16, color: '#FFFFFF', fontWeight: '600' }}&gt;One row per event, one verb phrase per row — if two rows produce the same use case, merge them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9944100" y="257175"/>
            <a:ext cx="1866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FINDING USE CASES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105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The Event Table</a:t>
            </a:r>
            <a:endParaRPr/>
          </a:p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26 / 38</a:t>
            </a:r>
            <a:endParaRPr/>
          </a:p>
        </p:txBody>
      </p:sp>
      <p:graphicFrame>
        <p:nvGraphicFramePr>
          <p:cNvPr id="455" name=""/>
          <p:cNvGraphicFramePr/>
          <p:nvPr/>
        </p:nvGraphicFramePr>
        <p:xfrm rot="0" flipH="0" flipV="0">
          <a:off x="381000" y="1247775"/>
          <a:ext cx="11430000" cy="5114925"/>
        </p:xfrm>
        <a:graphic>
          <a:graphicData uri="http://schemas.openxmlformats.org/drawingml/2006/table">
            <a:tbl>
              <a:tblGrid>
                <a:gridCol w="3133909">
                  <a:extLst>
                    <a:ext uri="{9D8B030D-6E8A-4147-A177-3AD203B41FA5}">
                      <a16:colId val="1"/>
                    </a:ext>
                  </a:extLst>
                </a:gridCol>
                <a:gridCol w="1850354">
                  <a:extLst>
                    <a:ext uri="{9D8B030D-6E8A-4147-A177-3AD203B41FA5}">
                      <a16:colId val="2"/>
                    </a:ext>
                  </a:extLst>
                </a:gridCol>
                <a:gridCol w="4506424">
                  <a:extLst>
                    <a:ext uri="{9D8B030D-6E8A-4147-A177-3AD203B41FA5}">
                      <a16:colId val="3"/>
                    </a:ext>
                  </a:extLst>
                </a:gridCol>
                <a:gridCol w="1939313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External event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Who triggers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What the system must do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Use case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student wants lunch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Show the menu, take the selection, take the money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Place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restaurant changes its menu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Restaurant Manager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Let the manager mark items sold out before service starts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Manage Today’s Menu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An order is ready for pickup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Kitchen (system clock)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Find an available courier and assign the delivery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Dispatch Courier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student wants to know where lunch is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Show the current status of a live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Track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delivery has arrived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Courier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Close the order, record the arrival time, open the rating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Confirm Delivery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payment is declined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Payment Provider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Tell the student, hold the order for thirty minutes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Pay for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456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2476500" y="6543675"/>
            <a:ext cx="7248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One row per event, one verb phrase per row — if two rows produce the same use case, merge them.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5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FINDING USE CASES&lt;/Text&gt;&#10;  &lt;/Box&gt;&#10;  &lt;Box style={{ padding: '12px 40px 0 40px', flexDirection: 'row', alignItems: 'center', justifyContent: 'space-between' }}&gt;&#10;    &lt;Text style={{ fontSize: 30, fontWeight: 'bold', color: '#0E3F8C' }}&gt;Noun–Verb Scanning&lt;/Text&gt;&#10;    &lt;Text style={{ fontSize: 14, color: '#1E4FA8', fontWeight: 'bold' }}&gt;27 / 38&lt;/Text&gt;&#10;  &lt;/Box&gt;&#10;  &lt;Box style={{ flex: 1, padding: '4px 40px 0 40px', justifyContent: 'center', alignItems: 'center' }}&gt;&#10;    &lt;svg width={1180} height={382} viewBox='0 0 1180 382'&gt;&#10;      &lt;text x='10' y='16' fill='#8B97A8' fontSize='13'&gt;Underline the nouns in blue and the verbs in amber. Then sort what you underlined.&lt;/text&gt;&#10;&#10;      &lt;g transform='translate(10,30)'&gt;&#10;        &lt;rect x='0' y='0' width='1160' height='186' rx='8' fill='#F7F9FC' stroke='#D6DCE5' strokeWidth='1' /&gt;&#10;        &lt;text x='20' y='26' fill='#8B97A8' fontSize='11.5'&gt;THE NARRATIVE — CampusBites requirements pack, §2.1&lt;/text&gt;&#10;&#10;        &lt;text x='20' y='54' fill='#1A2230' fontSize='14'&gt;&#10;          A &lt;tspan fill='#1E4FA8' fontWeight='bold'&gt;student&lt;/tspan&gt; &lt;tspan fill='#B8860B' fontWeight='bold'&gt;browses&lt;/tspan&gt; the &lt;tspan fill='#1E4FA8' fontWeight='bold'&gt;menu&lt;/tspan&gt; of a &lt;tspan fill='#1E4FA8' fontWeight='bold'&gt;restaurant&lt;/tspan&gt;, &lt;tspan fill='#B8860B' fontWeight='bold'&gt;selects&lt;/tspan&gt; &lt;tspan fill='#1E4FA8' fontWeight='bold'&gt;items&lt;/tspan&gt;,&#10;        &lt;/text&gt;&#10;        &lt;text x='20' y='78' fill='#1A2230' fontSize='14'&gt;&#10;          and &lt;tspan fill='#B8860B' fontWeight='bold'&gt;places&lt;/tspan&gt; an &lt;tspan fill='#1E4FA8' fontWeight='bold'&gt;order&lt;/tspan&gt;. The system &lt;tspan fill='#B8860B' fontWeight='bold'&gt;authenticates&lt;/tspan&gt; the student,&#10;        &lt;/text&gt;&#10;        &lt;text x='20' y='102' fill='#1A2230' fontSize='14'&gt;&#10;          &lt;tspan fill='#B8860B' fontWeight='bold'&gt;calculates&lt;/tspan&gt; the total and &lt;tspan fill='#B8860B' fontWeight='bold'&gt;charges&lt;/tspan&gt; the &lt;tspan fill='#1E4FA8' fontWeight='bold'&gt;campus card&lt;/tspan&gt;.&#10;        &lt;/text&gt;&#10;        &lt;text x='20' y='126' fill='#1A2230' fontSize='14'&gt;&#10;          The restaurant &lt;tspan fill='#B8860B' fontWeight='bold'&gt;receives&lt;/tspan&gt; the order, &lt;tspan fill='#B8860B' fontWeight='bold'&gt;marks&lt;/tspan&gt; an item sold out,&#10;        &lt;/text&gt;&#10;        &lt;text x='20' y='150' fill='#1A2230' fontSize='14'&gt;&#10;          and &lt;tspan fill='#B8860B' fontWeight='bold'&gt;notifies&lt;/tspan&gt; a &lt;tspan fill='#1E4FA8' fontWeight='bold'&gt;courier&lt;/tspan&gt;. The courier &lt;tspan fill='#B8860B' fontWeight='bold'&gt;picks up&lt;/tspan&gt; and &lt;tspan fill='#B8860B' fontWeight='bold'&gt;delivers&lt;/tspan&gt;&#10;        &lt;/text&gt;&#10;        &lt;text x='20' y='174' fill='#1A2230' fontSize='14'&gt;&#10;          the order; the student &lt;tspan fill='#B8860B' fontWeight='bold'&gt;rates&lt;/tspan&gt; the restaurant afterwards.&#10;        &lt;/text&gt;&#10;&#10;        &lt;g transform='translate(872,196)'&gt;&#10;          &lt;rect x='0' y='0' width='130' height='22' rx='4' fill='#E8EFF8' stroke='#1E4FA8' strokeWidth='1' /&gt;&#10;          &lt;text x='65' y='15' textAnchor='middle' fill='#1E4FA8' fontSize='11' fontWeight='bold'&gt;NOUNS&lt;/text&gt;&#10;          &lt;rect x='142' y='0' width='130' height='22' rx='4' fill='#FFF6E0' stroke='#FFC107' strokeWidth='1' /&gt;&#10;          &lt;text x='207' y='15' textAnchor='middle' fill='#996F00' fontSize='11' fontWeight='bold'&gt;VERBS&lt;/text&gt;&#10;        &lt;/g&gt;&#10;      &lt;/g&gt;&#10;&#10;      &lt;g transform='translate(10,230)'&gt;&#10;        &lt;rect x='0' y='0' width='570' height='146' rx='8' fill='#F0F5FC' stroke='#1E4FA8' strokeWidth='1.5' /&gt;&#10;        &lt;text x='18' y='26' fill='#0E3F8C' fontSize='14' fontWeight='bold'&gt;Nouns → actors and candidate concepts&lt;/text&gt;&#10;        &lt;text x='18' y='45' fill='#8B97A8' fontSize='11.5'&gt;Keep for Week 06: the domain model is hiding in this column&lt;/text&gt;&#10;&#10;        &lt;g transform='translate(18,58)'&gt;&#10;          &lt;rect x='0' y='0' width='164' height='26' rx='4' fill='#FFFFFF' stroke='#D6DCE5' strokeWidth='1' /&gt;&#10;          &lt;text x='10' y='18' fill='#1A2230' fontSize='11.5' fontWeight='bold'&gt;Student&lt;/text&gt;&#10;          &lt;text x='96' y='18' fill='#1E4FA8' fontSize='11'&gt;actor&lt;/text&gt;&#10;        &lt;/g&gt;&#10;        &lt;g transform='translate(192,58)'&gt;&#10;          &lt;rect x='0' y='0' width='164' height='26' rx='4' fill='#FFFFFF' stroke='#D6DCE5' strokeWidth='1' /&gt;&#10;          &lt;text x='10' y='18' fill='#1A2230' fontSize='11.5' fontWeight='bold'&gt;Restaurant&lt;/text&gt;&#10;          &lt;text x='96' y='18' fill='#1E4FA8' fontSize='11'&gt;actor&lt;/text&gt;&#10;        &lt;/g&gt;&#10;        &lt;g transform='translate(366,58)'&gt;&#10;          &lt;rect x='0' y='0' width='164' height='26' rx='4' fill='#FFFFFF' stroke='#D6DCE5' strokeWidth='1' /&gt;&#10;          &lt;text x='10' y='18' fill='#1A2230' fontSize='11.5' fontWeight='bold'&gt;Courier&lt;/text&gt;&#10;          &lt;text x='96' y='18' fill='#1E4FA8' fontSize='11'&gt;actor&lt;/text&gt;&#10;        &lt;/g&gt;&#10;&#10;        &lt;g transform='translate(18,92)'&gt;&#10;          &lt;rect x='0' y='0' width='164' height='26' rx='4' fill='#FFFFFF' stroke='#D6DCE5' strokeWidth='1' /&gt;&#10;          &lt;text x='10' y='18' fill='#1A2230' fontSize='11.5'&gt;Menu&lt;/text&gt;&#10;          &lt;text x='96' y='18' fill='#8B97A8' fontSize='11'&gt;concept&lt;/text&gt;&#10;        &lt;/g&gt;&#10;        &lt;g transform='translate(192,92)'&gt;&#10;          &lt;rect x='0' y='0' width='164' height='26' rx='4' fill='#FFFFFF' stroke='#D6DCE5' strokeWidth='1' /&gt;&#10;          &lt;text x='10' y='18' fill='#1A2230' fontSize='11.5'&gt;Order&lt;/text&gt;&#10;          &lt;text x='96' y='18' fill='#8B97A8' fontSize='11'&gt;concept&lt;/text&gt;&#10;        &lt;/g&gt;&#10;        &lt;g transform='translate(366,92)'&gt;&#10;          &lt;rect x='0' y='0' width='164' height='26' rx='4' fill='#FFFFFF' stroke='#D6DCE5' strokeWidth='1' /&gt;&#10;          &lt;text x='10' y='18' fill='#1A2230' fontSize='11.5'&gt;Campus card&lt;/text&gt;&#10;          &lt;text x='96' y='18' fill='#8B97A8' fontSize='11'&gt;concept&lt;/text&gt;&#10;        &lt;/g&gt;&#10;&#10;        &lt;text x='18' y='136' fill='#8B97A8' fontSize='11'&gt;Some nouns turn out to be attributes — “total” is a number on Order, not a class.&lt;/text&gt;&#10;      &lt;/g&gt;&#10;&#10;      &lt;g transform='translate(600,230)'&gt;&#10;        &lt;rect x='0' y='0' width='570' height='146' rx='8' fill='#FFF6E0' stroke='#FFC107' strokeWidth='1.5' /&gt;&#10;        &lt;text x='18' y='26' fill='#996F00' fontSize='14' fontWeight='bold'&gt;Verbs → candidate use cases&lt;/text&gt;&#10;        &lt;text x='18' y='45' fill='#8B97A8' fontSize='11.5'&gt;Then filter: keep only the verbs that name a goal somebody has&lt;/text&gt;&#10;&#10;        &lt;g transform='translate(18,58)'&gt;&#10;          &lt;rect x='0' y='0' width='164' height='26' rx='4' fill='#FFFFFF' stroke='#D6DCE5' strokeWidth='1' /&gt;&#10;          &lt;text x='10' y='18' fill='#1A2230' fontSize='11.5' fontWeight='bold'&gt;Browse menu&lt;/text&gt;&#10;          &lt;text x='118' y='18' fill='#1E4FA8' fontSize='10.5'&gt;keep&lt;/text&gt;&#10;        &lt;/g&gt;&#10;        &lt;g transform='translate(192,58)'&gt;&#10;          &lt;rect x='0' y='0' width='164' height='26' rx='4' fill='#FFFFFF' stroke='#D6DCE5' strokeWidth='1' /&gt;&#10;          &lt;text x='10' y='18' fill='#1A2230' fontSize='11.5' fontWeight='bold'&gt;Place order&lt;/text&gt;&#10;          &lt;text x='118' y='18' fill='#1E4FA8' fontSize='10.5'&gt;keep&lt;/text&gt;&#10;        &lt;/g&gt;&#10;        &lt;g transform='translate(366,58)'&gt;&#10;          &lt;rect x='0' y='0' width='164' height='26' rx='4' fill='#FFFFFF' stroke='#D6DCE5' strokeWidth='1' /&gt;&#10;          &lt;text x='10' y='18' fill='#1A2230' fontSize='11.5' fontWeight='bold'&gt;Rate restaurant&lt;/text&gt;&#10;          &lt;text x='118' y='18' fill='#1E4FA8' fontSize='10.5'&gt;keep&lt;/text&gt;&#10;        &lt;/g&gt;&#10;&#10;        &lt;g transform='translate(18,92)'&gt;&#10;          &lt;rect x='0' y='0' width='164' height='26' rx='4' fill='#FDF3F3' stroke='#D9534F' strokeWidth='1' /&gt;&#10;          &lt;text x='10' y='18' fill='#4A5568' fontSize='11.5'&gt;Calculates&lt;/text&gt;&#10;          &lt;text x='118' y='18' fill='#D9534F' fontSize='10.5'&gt;step&lt;/text&gt;&#10;        &lt;/g&gt;&#10;        &lt;g transform='translate(192,92)'&gt;&#10;          &lt;rect x='0' y='0' width='164' height='26' rx='4' fill='#FDF3F3' stroke='#D9534F' strokeWidth='1' /&gt;&#10;          &lt;text x='10' y='18' fill='#4A5568' fontSize='11.5'&gt;Authenticates&lt;/text&gt;&#10;          &lt;text x='118' y='18' fill='#D9534F' fontSize='10.5'&gt;include&lt;/text&gt;&#10;        &lt;/g&gt;&#10;        &lt;g transform='translate(366,92)'&gt;&#10;          &lt;rect x='0' y='0' width='164' height='26' rx='4' fill='#FDF3F3' stroke='#D9534F' strokeWidth='1' /&gt;&#10;          &lt;text x='10' y='18' fill='#4A5568' fontSize='11.5'&gt;Notifies&lt;/text&gt;&#10;          &lt;text x='118' y='18' fill='#D9534F' fontSize='10.5'&gt;external&lt;/text&gt;&#10;        &lt;/g&gt;&#10;&#10;        &lt;text x='18' y='136' fill='#8B97A8' fontSize='11'&gt;Three verbs survive as use cases. The other three go to the scenario text — Week 05.&lt;/text&gt;&#10;      &lt;/g&gt;&#10;    &lt;/svg&gt;&#10;  &lt;/Box&gt;&#10;  &lt;Box style={{ height: 34, padding: '0 40px', flexDirection: 'row', alignItems: 'center', justifyContent: 'space-between' }}&gt;&#10;    &lt;Text style={{ fontSize: 13, color: '#8B97A8' }}&gt;ISAD · Fall 2026 · The scan gives you candidates, not answers — you still have to say “is this a goal?”&lt;/Text&gt;&#10;    &lt;Text style={{ fontSize: 14, color: '#1E4FA8', fontWeight: 'bold' }}&gt;2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9944100" y="257175"/>
            <a:ext cx="1866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FINDING USE CASES</a:t>
            </a:r>
            <a:endParaRPr/>
          </a:p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2876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Noun–Verb Scanning</a:t>
            </a:r>
            <a:endParaRPr/>
          </a:p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pic>
        <p:nvPicPr>
          <p:cNvPr id="4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38350"/>
            <a:ext cx="11239500" cy="3638550"/>
          </a:xfrm>
          <a:prstGeom prst="rect">
            <a:avLst/>
          </a:prstGeom>
          <a:ln/>
        </p:spPr>
      </p:pic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56102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The scan gives you candidates, not answers — you still have to say “is this a goal?”</a:t>
            </a:r>
            <a:endParaRPr/>
          </a:p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</p:spTree>
  </p:cSld>
</p:sld>
</file>

<file path=ppt/slides/slide28.xml><?xml version="1.0" encoding="utf-8"?>
<p:sld xmlns:a="http://schemas.openxmlformats.org/drawingml/2006/main" xmlns:p="http://schemas.openxmlformats.org/presentationml/2006/main">
  <p:cSld>
    <p:spTree>
      <p:nvGrpSpPr>
        <p:cNvPr id="46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FINDING USE CASES&lt;/Text&gt;&#10;  &lt;/Box&gt;&#10;  &lt;Box style={{ padding: '14px 40px 0 40px', flexDirection: 'row', alignItems: 'center', justifyContent: 'space-between' }}&gt;&#10;    &lt;Text style={{ fontSize: 29, fontWeight: 'bold', color: '#0E3F8C' }}&gt;Six Use Cases of CampusBites&lt;/Text&gt;&#10;    &lt;Text style={{ fontSize: 14, color: '#1E4FA8', fontWeight: 'bold' }}&gt;28 / 38&lt;/Text&gt;&#10;  &lt;/Box&gt;&#10;  &lt;Box style={{ flex: 1, padding: '14px 40px 0 40px', flexDirection: 'row', gap: 14 }}&gt;&#10;    {[&#10;      ['01', 'Place Order', 'Student', 'Ends when the order is accepted and paid for', '#1E4FA8'],&#10;      ['02', 'Pay for Order', 'Student', 'Ends when the provider confirms or declines', '#1E4FA8'],&#10;      ['03', 'Track Order', 'Student', 'Ends when the student sees the current status', '#1E4FA8'],&#10;      ['04', 'Manage Today’s Menu', 'Restaurant Manager', 'Ends when the kitchen sees the live menu', '#3D7BD9'],&#10;      ['05', 'Dispatch Courier', 'Dispatcher', 'Ends when a rider accepts the delivery', '#3D7BD9'],&#10;      ['06', 'Rate Restaurant', 'Student', 'Ends when the rating is stored and shown', '#3D7BD9'],&#10;    ].map((c) =&gt; (&#10;      &lt;Box key={c[0]} style={{ flex: 1, padding: '16px 14px', background: '#FFFFFF', borderRadius: 10, border: '1px solid #D6DCE5', borderTop: '4px solid #1E4FA8', flexDirection: 'column' }}&gt;&#10;        &lt;Text style={{ fontSize: 13, color: '#8B97A8', fontWeight: 'bold', letterSpacing: 1 }}&gt;{c[0]}&lt;/Text&gt;&#10;        &lt;Text style={{ fontSize: 15.5, fontWeight: 'bold', color: '#0E3F8C', marginTop: 6, lineHeight: 1.3 }}&gt;{c[1]}&lt;/Text&gt;&#10;        &lt;Box style={{ marginTop: 10, padding: '4px 8px', background: '#F0F5FC', borderRadius: 4, alignSelf: 'flex-start' }}&gt;&#10;          &lt;Text style={{ fontSize: 11.5, color: '#1E4FA8', fontWeight: 'bold' }}&gt;{c[2]}&lt;/Text&gt;&#10;        &lt;/Box&gt;&#10;        &lt;Text style={{ fontSize: 11.5, color: '#4A5568', lineHeight: 1.5, marginTop: 10 }}&gt;{c[3]}&lt;/Text&gt;&#10;      &lt;/Box&gt;&#10;    ))}&#10;  &lt;/Box&gt;&#10;  &lt;Box style={{ height: 46, background: '#0E3F8C', padding: '0 40px', flexDirection: 'row', alignItems: 'center', justifyContent: 'center' }}&gt;&#10;    &lt;Text style={{ fontSize: 16, color: '#FFFFFF', fontWeight: '600' }}&gt;Six is the right number for a first pass. If your M1 diagram has twenty, look for the CRUD trap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9944100" y="257175"/>
            <a:ext cx="1866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FINDING USE CASES</a:t>
            </a:r>
            <a:endParaRPr/>
          </a:p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0767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Six Use Cases of CampusBites</a:t>
            </a:r>
            <a:endParaRPr/>
          </a:p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  <p:sp>
        <p:nvSpPr>
          <p:cNvPr id="475" name=""/>
          <p:cNvSpPr/>
          <p:nvPr/>
        </p:nvSpPr>
        <p:spPr>
          <a:xfrm rot="0" flipH="0" flipV="0">
            <a:off x="381000" y="1323975"/>
            <a:ext cx="1790700" cy="5133975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6" name=""/>
          <p:cNvSpPr/>
          <p:nvPr/>
        </p:nvSpPr>
        <p:spPr>
          <a:xfrm rot="0" flipH="0" flipV="0">
            <a:off x="381000" y="1323975"/>
            <a:ext cx="1790700" cy="5133975"/>
          </a:xfrm>
          <a:custGeom>
            <a:pathLst>
              <a:path w="188" h="539">
                <a:moveTo>
                  <a:pt x="178" y="0"/>
                </a:moveTo>
                <a:cubicBezTo>
                  <a:pt x="183" y="0"/>
                  <a:pt x="187" y="4"/>
                  <a:pt x="188" y="8"/>
                </a:cubicBezTo>
                <a:cubicBezTo>
                  <a:pt x="187" y="6"/>
                  <a:pt x="185" y="4"/>
                  <a:pt x="18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8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514350" y="1476375"/>
            <a:ext cx="1524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514350" y="1685925"/>
            <a:ext cx="1524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Place Order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514350" y="2019300"/>
            <a:ext cx="561975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590550" y="2057400"/>
            <a:ext cx="409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Student</a:t>
            </a:r>
            <a:endParaRPr/>
          </a:p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514350" y="2324100"/>
            <a:ext cx="1524000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the order is accepted and paid for</a:t>
            </a:r>
            <a:endParaRPr/>
          </a:p>
        </p:txBody>
      </p:sp>
      <p:sp>
        <p:nvSpPr>
          <p:cNvPr id="482" name=""/>
          <p:cNvSpPr/>
          <p:nvPr/>
        </p:nvSpPr>
        <p:spPr>
          <a:xfrm rot="0" flipH="0" flipV="0">
            <a:off x="2305050" y="1323975"/>
            <a:ext cx="1800225" cy="5133975"/>
          </a:xfrm>
          <a:prstGeom prst="roundRect">
            <a:avLst>
              <a:gd name="adj" fmla="val 529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3" name=""/>
          <p:cNvSpPr/>
          <p:nvPr/>
        </p:nvSpPr>
        <p:spPr>
          <a:xfrm rot="0" flipH="0" flipV="0">
            <a:off x="2305050" y="1323975"/>
            <a:ext cx="1800225" cy="5133975"/>
          </a:xfrm>
          <a:custGeom>
            <a:pathLst>
              <a:path w="189" h="539">
                <a:moveTo>
                  <a:pt x="179" y="0"/>
                </a:moveTo>
                <a:cubicBezTo>
                  <a:pt x="184" y="0"/>
                  <a:pt x="188" y="4"/>
                  <a:pt x="189" y="8"/>
                </a:cubicBezTo>
                <a:cubicBezTo>
                  <a:pt x="188" y="6"/>
                  <a:pt x="186" y="4"/>
                  <a:pt x="183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2438400" y="1476375"/>
            <a:ext cx="15335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485" name="" descr="{&quot;isTemplate&quot;:true,&quot;type&quot;:&quot;text&quot;}"/>
          <p:cNvSpPr txBox="1"/>
          <p:nvPr/>
        </p:nvSpPr>
        <p:spPr>
          <a:xfrm rot="0" flipH="0" flipV="0">
            <a:off x="2438400" y="1685925"/>
            <a:ext cx="153352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Pay for Order</a:t>
            </a:r>
            <a:endParaRPr/>
          </a:p>
        </p:txBody>
      </p:sp>
      <p:sp>
        <p:nvSpPr>
          <p:cNvPr id="486" name=""/>
          <p:cNvSpPr/>
          <p:nvPr/>
        </p:nvSpPr>
        <p:spPr>
          <a:xfrm rot="0" flipH="0" flipV="0">
            <a:off x="2438400" y="2019300"/>
            <a:ext cx="561975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2514600" y="2057400"/>
            <a:ext cx="409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Student</a:t>
            </a:r>
            <a:endParaRPr/>
          </a:p>
        </p:txBody>
      </p:sp>
      <p:sp>
        <p:nvSpPr>
          <p:cNvPr id="488" name="" descr="{&quot;isTemplate&quot;:true,&quot;type&quot;:&quot;text&quot;}"/>
          <p:cNvSpPr txBox="1"/>
          <p:nvPr/>
        </p:nvSpPr>
        <p:spPr>
          <a:xfrm rot="0" flipH="0" flipV="0">
            <a:off x="2438400" y="2324100"/>
            <a:ext cx="1533525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the provider confirms or declines</a:t>
            </a:r>
            <a:endParaRPr/>
          </a:p>
        </p:txBody>
      </p:sp>
      <p:sp>
        <p:nvSpPr>
          <p:cNvPr id="489" name=""/>
          <p:cNvSpPr/>
          <p:nvPr/>
        </p:nvSpPr>
        <p:spPr>
          <a:xfrm rot="0" flipH="0" flipV="0">
            <a:off x="4238625" y="1323975"/>
            <a:ext cx="1790700" cy="5133975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0" name=""/>
          <p:cNvSpPr/>
          <p:nvPr/>
        </p:nvSpPr>
        <p:spPr>
          <a:xfrm rot="0" flipH="0" flipV="0">
            <a:off x="4238625" y="1323975"/>
            <a:ext cx="1790700" cy="5133975"/>
          </a:xfrm>
          <a:custGeom>
            <a:pathLst>
              <a:path w="188" h="539">
                <a:moveTo>
                  <a:pt x="178" y="0"/>
                </a:moveTo>
                <a:cubicBezTo>
                  <a:pt x="183" y="0"/>
                  <a:pt x="187" y="4"/>
                  <a:pt x="188" y="8"/>
                </a:cubicBezTo>
                <a:cubicBezTo>
                  <a:pt x="187" y="6"/>
                  <a:pt x="185" y="4"/>
                  <a:pt x="18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8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4371975" y="1476375"/>
            <a:ext cx="1524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4371975" y="1685925"/>
            <a:ext cx="1524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Track Order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4371975" y="2019300"/>
            <a:ext cx="561975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4448175" y="2057400"/>
            <a:ext cx="409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Student</a:t>
            </a:r>
            <a:endParaRPr/>
          </a:p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4371975" y="2324100"/>
            <a:ext cx="1524000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the student sees the current status</a:t>
            </a:r>
            <a:endParaRPr/>
          </a:p>
        </p:txBody>
      </p:sp>
      <p:sp>
        <p:nvSpPr>
          <p:cNvPr id="496" name=""/>
          <p:cNvSpPr/>
          <p:nvPr/>
        </p:nvSpPr>
        <p:spPr>
          <a:xfrm rot="0" flipH="0" flipV="0">
            <a:off x="6162675" y="1323975"/>
            <a:ext cx="1790700" cy="5133975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7" name=""/>
          <p:cNvSpPr/>
          <p:nvPr/>
        </p:nvSpPr>
        <p:spPr>
          <a:xfrm rot="0" flipH="0" flipV="0">
            <a:off x="6162675" y="1323975"/>
            <a:ext cx="1790700" cy="5133975"/>
          </a:xfrm>
          <a:custGeom>
            <a:pathLst>
              <a:path w="188" h="539">
                <a:moveTo>
                  <a:pt x="178" y="0"/>
                </a:moveTo>
                <a:cubicBezTo>
                  <a:pt x="183" y="0"/>
                  <a:pt x="187" y="4"/>
                  <a:pt x="188" y="8"/>
                </a:cubicBezTo>
                <a:cubicBezTo>
                  <a:pt x="187" y="6"/>
                  <a:pt x="185" y="4"/>
                  <a:pt x="18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8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6296025" y="1476375"/>
            <a:ext cx="1524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6296025" y="1685925"/>
            <a:ext cx="1524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Manage Today’s Menu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6296025" y="2247900"/>
            <a:ext cx="1209675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6372225" y="2286000"/>
            <a:ext cx="10572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Restaurant Manager</a:t>
            </a:r>
            <a:endParaRPr/>
          </a:p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6296025" y="2552700"/>
            <a:ext cx="1524000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the kitchen sees the live menu</a:t>
            </a:r>
            <a:endParaRPr/>
          </a:p>
        </p:txBody>
      </p:sp>
      <p:sp>
        <p:nvSpPr>
          <p:cNvPr id="503" name=""/>
          <p:cNvSpPr/>
          <p:nvPr/>
        </p:nvSpPr>
        <p:spPr>
          <a:xfrm rot="0" flipH="0" flipV="0">
            <a:off x="8086725" y="1323975"/>
            <a:ext cx="1800225" cy="5133975"/>
          </a:xfrm>
          <a:prstGeom prst="roundRect">
            <a:avLst>
              <a:gd name="adj" fmla="val 529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4" name=""/>
          <p:cNvSpPr/>
          <p:nvPr/>
        </p:nvSpPr>
        <p:spPr>
          <a:xfrm rot="0" flipH="0" flipV="0">
            <a:off x="8086725" y="1323975"/>
            <a:ext cx="1800225" cy="5133975"/>
          </a:xfrm>
          <a:custGeom>
            <a:pathLst>
              <a:path w="189" h="539">
                <a:moveTo>
                  <a:pt x="179" y="0"/>
                </a:moveTo>
                <a:cubicBezTo>
                  <a:pt x="184" y="0"/>
                  <a:pt x="188" y="4"/>
                  <a:pt x="189" y="8"/>
                </a:cubicBezTo>
                <a:cubicBezTo>
                  <a:pt x="188" y="6"/>
                  <a:pt x="186" y="4"/>
                  <a:pt x="183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8220075" y="1476375"/>
            <a:ext cx="15335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8220075" y="1685925"/>
            <a:ext cx="153352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Dispatch Courier</a:t>
            </a:r>
            <a:endParaRPr/>
          </a:p>
        </p:txBody>
      </p:sp>
      <p:sp>
        <p:nvSpPr>
          <p:cNvPr id="507" name=""/>
          <p:cNvSpPr/>
          <p:nvPr/>
        </p:nvSpPr>
        <p:spPr>
          <a:xfrm rot="0" flipH="0" flipV="0">
            <a:off x="8220075" y="2019300"/>
            <a:ext cx="723900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8296275" y="2057400"/>
            <a:ext cx="5715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Dispatcher</a:t>
            </a:r>
            <a:endParaRPr/>
          </a:p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8220075" y="2324100"/>
            <a:ext cx="1533525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a rider accepts the delivery</a:t>
            </a:r>
            <a:endParaRPr/>
          </a:p>
        </p:txBody>
      </p:sp>
      <p:sp>
        <p:nvSpPr>
          <p:cNvPr id="510" name=""/>
          <p:cNvSpPr/>
          <p:nvPr/>
        </p:nvSpPr>
        <p:spPr>
          <a:xfrm rot="0" flipH="0" flipV="0">
            <a:off x="10020300" y="1323975"/>
            <a:ext cx="1790700" cy="5133975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11" name=""/>
          <p:cNvSpPr/>
          <p:nvPr/>
        </p:nvSpPr>
        <p:spPr>
          <a:xfrm rot="0" flipH="0" flipV="0">
            <a:off x="10020300" y="1323975"/>
            <a:ext cx="1790700" cy="5133975"/>
          </a:xfrm>
          <a:custGeom>
            <a:pathLst>
              <a:path w="188" h="539">
                <a:moveTo>
                  <a:pt x="178" y="0"/>
                </a:moveTo>
                <a:cubicBezTo>
                  <a:pt x="183" y="0"/>
                  <a:pt x="187" y="4"/>
                  <a:pt x="188" y="8"/>
                </a:cubicBezTo>
                <a:cubicBezTo>
                  <a:pt x="187" y="6"/>
                  <a:pt x="185" y="4"/>
                  <a:pt x="18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8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10153650" y="1476375"/>
            <a:ext cx="1524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10153650" y="1685925"/>
            <a:ext cx="1524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Rate Restaurant</a:t>
            </a:r>
            <a:endParaRPr/>
          </a:p>
        </p:txBody>
      </p:sp>
      <p:sp>
        <p:nvSpPr>
          <p:cNvPr id="514" name=""/>
          <p:cNvSpPr/>
          <p:nvPr/>
        </p:nvSpPr>
        <p:spPr>
          <a:xfrm rot="0" flipH="0" flipV="0">
            <a:off x="10153650" y="2019300"/>
            <a:ext cx="561975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10229850" y="2057400"/>
            <a:ext cx="409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Student</a:t>
            </a:r>
            <a:endParaRPr/>
          </a:p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10153650" y="2324100"/>
            <a:ext cx="1524000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the rating is stored and shown</a:t>
            </a:r>
            <a:endParaRPr/>
          </a:p>
        </p:txBody>
      </p:sp>
      <p:sp>
        <p:nvSpPr>
          <p:cNvPr id="517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2714625" y="6543675"/>
            <a:ext cx="6772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Six is the right number for a first pass. If your M1 diagram has twenty, look for the CRUD trap.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1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FINDING USE CASES&lt;/Text&gt;&#10;  &lt;/Box&gt;&#10;  &lt;Box style={{ padding: '14px 40px 0 40px', flexDirection: 'row', alignItems: 'center', justifyContent: 'space-between' }}&gt;&#10;    &lt;Text style={{ fontSize: 29, fontWeight: 'bold', color: '#0E3F8C' }}&gt;What We Have Not Done Yet&lt;/Text&gt;&#10;    &lt;Text style={{ fontSize: 14, color: '#1E4FA8', fontWeight: 'bold' }}&gt;29 / 38&lt;/Text&gt;&#10;  &lt;/Box&gt;&#10;  &lt;Box style={{ flex: 1, padding: '16px 60px 0 60px', flexDirection: 'column', justifyContent: 'center', alignItems: 'center' }}&gt;&#10;    &lt;Box style={{ width: 960, padding: '20px 30px', background: '#FFF6E0', borderRadius: 10, borderLeft: '6px solid #FFC107', marginBottom: 20 }}&gt;&#10;      &lt;Text style={{ fontSize: 23, color: '#0E3F8C', fontWeight: 'bold', lineHeight: 1.4, textAlign: 'center' }}&gt;&#10;        A named ellipse is a promise to write something.&#10;        &lt;br /&gt;&#10;        The promise is kept next week.&#10;      &lt;/Text&gt;&#10;    &lt;/Box&gt;&#10;    &lt;Box style={{ width: 960, flexDirection: 'row', gap: 18 }}&gt;&#10;      &lt;Box style={{ flex: 1, padding: '20px 18px', background: '#FFFFFF', borderRadius: 10, border: '1px solid #D6DCE5' }}&gt;&#10;        &lt;Box style={{ flexDirection: 'row', alignItems: 'center', gap: 8, marginBottom: 8 }}&gt;&#10;          &lt;FAIcon name='info-circle' style={{ fill: '#1E4FA8', width: 20, height: 20 }} /&gt;&#10;          &lt;Text style={{ fontSize: 16, fontWeight: 'bold', color: '#0E3F8C' }}&gt;Not yet: the use case text&lt;/Text&gt;&#10;        &lt;/Box&gt;&#10;        &lt;Text style={{ fontSize: 12.8, color: '#4A5568', lineHeight: 1.65 }}&gt;&#10;          “Place Order” on a diagram tells you a goal exists. It does not tell you what happens when the card is declined, or what must be true before the student starts. That is the use case specification — &lt;Text style={{ fontWeight: 'bold', color: '#0E3F8C' }}&gt;Week 05&lt;/Text&gt;.&#10;        &lt;/Text&gt;&#10;      &lt;/Box&gt;&#10;      &lt;Box style={{ flex: 1, padding: '20px 18px', background: '#FFFFFF', borderRadius: 10, border: '1px solid #D6DCE5' }}&gt;&#10;        &lt;Box style={{ flexDirection: 'row', alignItems: 'center', gap: 8, marginBottom: 8 }}&gt;&#10;          &lt;FAIcon name='layer-group' style={{ fill: '#1E4FA8', width: 20, height: 20 }} /&gt;&#10;          &lt;Text style={{ fontSize: 16, fontWeight: 'bold', color: '#0E3F8C' }}&gt;Not yet: the domain model&lt;/Text&gt;&#10;        &lt;/Box&gt;&#10;        &lt;Text style={{ fontSize: 12.8, color: '#4A5568', lineHeight: 1.65 }}&gt;&#10;          Order, MenuItem and Courier are names on this page. Turning them into classes with attributes and associations is a different artefact — &lt;Text style={{ fontWeight: 'bold', color: '#0E3F8C' }}&gt;Week 06&lt;/Text&gt;. Resist the urge to draw boxes today.&#10;        &lt;/Text&gt;&#10;      &lt;/Box&gt;&#10;      &lt;Box style={{ flex: 1, padding: '20px 18px', background: '#F0F5FC', borderRadius: 10, border: '1px solid #1E4FA8' }}&gt;&#10;        &lt;Box style={{ flexDirection: 'row', alignItems: 'center', gap: 8, marginBottom: 8 }}&gt;&#10;          &lt;FAIcon name='handshake' style={{ fill: '#1E4FA8', width: 20, height: 20 }} /&gt;&#10;          &lt;Text style={{ fontSize: 16, fontWeight: 'bold', color: '#0E3F8C' }}&gt;Next week: you are the client&lt;/Text&gt;&#10;        &lt;/Box&gt;&#10;        &lt;Text style={{ fontSize: 12.8, color: '#4A5568', lineHeight: 1.65 }}&gt;&#10;          In Week 05 the two teams swap packs and review each other as the client. Bring a diagram you can defend, because the other team will ask why “Manage Order” is on it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This week you find the goals. Next week you write them down so a stranger could build them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9944100" y="257175"/>
            <a:ext cx="1866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FINDING USE CASES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6957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What We Have Not Done Yet</a:t>
            </a:r>
            <a:endParaRPr/>
          </a:p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29 / 38</a:t>
            </a:r>
            <a:endParaRPr/>
          </a:p>
        </p:txBody>
      </p:sp>
      <p:sp>
        <p:nvSpPr>
          <p:cNvPr id="526" name=""/>
          <p:cNvSpPr/>
          <p:nvPr/>
        </p:nvSpPr>
        <p:spPr>
          <a:xfrm rot="0" flipH="0" flipV="0">
            <a:off x="1581150" y="2276475"/>
            <a:ext cx="9086850" cy="1123950"/>
          </a:xfrm>
          <a:prstGeom prst="roundRect">
            <a:avLst>
              <a:gd name="adj" fmla="val 8475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527" name=""/>
          <p:cNvSpPr/>
          <p:nvPr/>
        </p:nvSpPr>
        <p:spPr>
          <a:xfrm rot="0" flipH="0" flipV="0">
            <a:off x="1581150" y="2276475"/>
            <a:ext cx="9086850" cy="1123950"/>
          </a:xfrm>
          <a:custGeom>
            <a:pathLst>
              <a:path w="954" h="118">
                <a:moveTo>
                  <a:pt x="10" y="0"/>
                </a:moveTo>
                <a:cubicBezTo>
                  <a:pt x="8" y="0"/>
                  <a:pt x="6" y="2"/>
                  <a:pt x="6" y="4"/>
                </a:cubicBezTo>
                <a:lnTo>
                  <a:pt x="6" y="114"/>
                </a:lnTo>
                <a:cubicBezTo>
                  <a:pt x="6" y="116"/>
                  <a:pt x="8" y="118"/>
                  <a:pt x="10" y="118"/>
                </a:cubicBezTo>
                <a:cubicBezTo>
                  <a:pt x="4" y="118"/>
                  <a:pt x="0" y="113"/>
                  <a:pt x="0" y="10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1866900" y="2466975"/>
            <a:ext cx="8515350" cy="74295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A named ellipse is a promise to write something.</a:t>
            </a:r>
            <a:endParaRPr/>
          </a:p>
          <a:p>
            <a:pPr algn="ctr">
              <a:lnSpc>
                <a:spcPct val="14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The promise is kept next week.</a:t>
            </a:r>
            <a:endParaRPr/>
          </a:p>
        </p:txBody>
      </p:sp>
      <p:sp>
        <p:nvSpPr>
          <p:cNvPr id="529" name=""/>
          <p:cNvSpPr/>
          <p:nvPr/>
        </p:nvSpPr>
        <p:spPr>
          <a:xfrm rot="0" flipH="0" flipV="0">
            <a:off x="1524000" y="3590925"/>
            <a:ext cx="2933700" cy="1857375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5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695450" y="3781425"/>
            <a:ext cx="190500" cy="190500"/>
          </a:xfrm>
          <a:prstGeom prst="rect">
            <a:avLst/>
          </a:prstGeom>
          <a:ln/>
        </p:spPr>
      </p:pic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1962150" y="3781425"/>
            <a:ext cx="1838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Not yet: the use case text</a:t>
            </a:r>
            <a:endParaRPr/>
          </a:p>
        </p:txBody>
      </p:sp>
      <p:sp>
        <p:nvSpPr>
          <p:cNvPr id="532" name="" descr="{&quot;isTemplate&quot;:true,&quot;type&quot;:&quot;text&quot;}"/>
          <p:cNvSpPr txBox="1"/>
          <p:nvPr/>
        </p:nvSpPr>
        <p:spPr>
          <a:xfrm rot="0" flipH="0" flipV="0">
            <a:off x="1695450" y="4048125"/>
            <a:ext cx="2590800" cy="1209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“Place Order” on a diagram tells you a goal exists. It does not tell you what happens when the card is declined, or what must be true before the student starts. That is the use case specification — </a:t>
            </a: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Week 05</a:t>
            </a: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533" name=""/>
          <p:cNvSpPr/>
          <p:nvPr/>
        </p:nvSpPr>
        <p:spPr>
          <a:xfrm rot="0" flipH="0" flipV="0">
            <a:off x="4629150" y="3590925"/>
            <a:ext cx="2933700" cy="1857375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5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800600" y="3781425"/>
            <a:ext cx="190500" cy="190500"/>
          </a:xfrm>
          <a:prstGeom prst="rect">
            <a:avLst/>
          </a:prstGeom>
          <a:ln/>
        </p:spPr>
      </p:pic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5067300" y="3781425"/>
            <a:ext cx="1914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Not yet: the domain model</a:t>
            </a:r>
            <a:endParaRPr/>
          </a:p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4800600" y="4048125"/>
            <a:ext cx="2590800" cy="971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Order, MenuItem and Courier are names on this page. Turning them into classes with attributes and associations is a different artefact — </a:t>
            </a: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Week 06</a:t>
            </a: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. Resist the urge to draw boxes today.</a:t>
            </a:r>
            <a:endParaRPr/>
          </a:p>
        </p:txBody>
      </p:sp>
      <p:sp>
        <p:nvSpPr>
          <p:cNvPr id="537" name=""/>
          <p:cNvSpPr/>
          <p:nvPr/>
        </p:nvSpPr>
        <p:spPr>
          <a:xfrm rot="0" flipH="0" flipV="0">
            <a:off x="7734300" y="3590925"/>
            <a:ext cx="2933700" cy="1857375"/>
          </a:xfrm>
          <a:prstGeom prst="roundRect">
            <a:avLst>
              <a:gd name="adj" fmla="val 5128"/>
            </a:avLst>
          </a:prstGeom>
          <a:solidFill>
            <a:srgbClr val="F0F5FC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pic>
        <p:nvPicPr>
          <p:cNvPr id="5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905750" y="3781425"/>
            <a:ext cx="190500" cy="190500"/>
          </a:xfrm>
          <a:prstGeom prst="rect">
            <a:avLst/>
          </a:prstGeom>
          <a:ln/>
        </p:spPr>
      </p:pic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8172450" y="3781425"/>
            <a:ext cx="2095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Next week: you are the client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7905750" y="4048125"/>
            <a:ext cx="2590800" cy="971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In Week 05 the two teams swap packs and review each other as the client. Bring a diagram you can defend, because the other team will ask why “Manage Order” is on it.</a:t>
            </a:r>
            <a:endParaRPr/>
          </a:p>
        </p:txBody>
      </p:sp>
      <p:sp>
        <p:nvSpPr>
          <p:cNvPr id="541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2714625" y="6543675"/>
            <a:ext cx="6772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This week you find the goals. Next week you write them down so a stranger could build them.</a:t>
            </a:r>
            <a:endParaRPr/>
          </a:p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557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6&lt;/Text&gt;&#10;    &lt;/Box&gt;&#10;    &lt;Box style={{ flex: 1, padding: '70px 64px', flexDirection: 'column', justifyContent: 'center' }}&gt;&#10;      &lt;Text style={{ fontSize: 15, color: '#7FA2D6', letterSpacing: 2, marginBottom: 18 }}&gt;PART 2 · LAB&lt;/Text&gt;&#10;      &lt;Text style={{ fontSize: 44, fontWeight: 'bold', color: '#FFFFFF', lineHeight: 1.18 }}&gt;Exercise 4.1,&lt;br /&gt;4.2 &amp;amp; M1&lt;/Text&gt;&#10;      &lt;Box style={{ width: 64, height: 4, background: '#FFC107', marginTop: 26, marginBottom: 26 }} /&gt;&#10;      &lt;Box style={{ flexDirection: 'column', gap: 12 }}&gt;&#10;        {[&#10;          'Read the narrative, find the actors and the goals',&#10;          'Draw the diagram — one include, one extend',&#10;          'M1 opens today and closes on Sunday 4 October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9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3467100" y="19431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</a:t>
            </a:r>
            <a:endParaRPr/>
          </a:p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3467100" y="2286000"/>
            <a:ext cx="8115300" cy="11906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300" b="1">
                <a:solidFill>
                  <a:srgbClr val="FFFFFF"/>
                </a:solidFill>
                <a:latin typeface="Microsoft YaHei"/>
                <a:ea typeface="Microsoft YaHei"/>
              </a:rPr>
              <a:t>Exercise 4.1,</a:t>
            </a:r>
            <a:endParaRPr/>
          </a:p>
          <a:p>
            <a:pPr>
              <a:lnSpc>
                <a:spcPct val="118000"/>
              </a:lnSpc>
            </a:pPr>
            <a:r>
              <a:rPr lang="en-US" sz="3300" b="1">
                <a:solidFill>
                  <a:srgbClr val="FFFFFF"/>
                </a:solidFill>
                <a:latin typeface="Microsoft YaHei"/>
                <a:ea typeface="Microsoft YaHei"/>
              </a:rPr>
              <a:t>4.2 &amp; M1</a:t>
            </a:r>
            <a:endParaRPr/>
          </a:p>
        </p:txBody>
      </p:sp>
      <p:sp>
        <p:nvSpPr>
          <p:cNvPr id="563" name=""/>
          <p:cNvSpPr/>
          <p:nvPr/>
        </p:nvSpPr>
        <p:spPr>
          <a:xfrm rot="0" flipH="0" flipV="0">
            <a:off x="3467100" y="3724275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64" name=""/>
          <p:cNvSpPr/>
          <p:nvPr/>
        </p:nvSpPr>
        <p:spPr>
          <a:xfrm rot="0" flipH="0" flipV="0">
            <a:off x="3467100" y="40862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3657600" y="4010025"/>
            <a:ext cx="4067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Read the narrative, find the actors and the goals</a:t>
            </a:r>
            <a:endParaRPr/>
          </a:p>
        </p:txBody>
      </p:sp>
      <p:sp>
        <p:nvSpPr>
          <p:cNvPr id="566" name=""/>
          <p:cNvSpPr/>
          <p:nvPr/>
        </p:nvSpPr>
        <p:spPr>
          <a:xfrm rot="0" flipH="0" flipV="0">
            <a:off x="3467100" y="44291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3657600" y="4352925"/>
            <a:ext cx="38290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Draw the diagram — one include, one extend</a:t>
            </a:r>
            <a:endParaRPr/>
          </a:p>
        </p:txBody>
      </p:sp>
      <p:sp>
        <p:nvSpPr>
          <p:cNvPr id="568" name=""/>
          <p:cNvSpPr/>
          <p:nvPr/>
        </p:nvSpPr>
        <p:spPr>
          <a:xfrm rot="0" flipH="0" flipV="0">
            <a:off x="3467100" y="47720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3657600" y="4695825"/>
            <a:ext cx="4181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M1 opens today and closes on Sunday 4 October</a:t>
            </a:r>
            <a:endParaRPr/>
          </a:p>
        </p:txBody>
      </p:sp>
      <p:sp>
        <p:nvSpPr>
          <p:cNvPr id="57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31.xml><?xml version="1.0" encoding="utf-8"?>
<p:sld xmlns:a="http://schemas.openxmlformats.org/drawingml/2006/main" xmlns:p="http://schemas.openxmlformats.org/presentationml/2006/main">
  <p:cSld>
    <p:spTree>
      <p:nvGrpSpPr>
        <p:cNvPr id="57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1&lt;/Text&gt;&#10;  &lt;/Box&gt;&#10;  &lt;Box style={{ padding: '14px 40px 0 40px', flexDirection: 'row', alignItems: 'center', justifyContent: 'space-between' }}&gt;&#10;    &lt;Text style={{ fontSize: 29, fontWeight: 'bold', color: '#0E3F8C' }}&gt;Exercise 4.1 — The Narrative&lt;/Text&gt;&#10;    &lt;Text style={{ fontSize: 14, color: '#1E4FA8', fontWeight: 'bold' }}&gt;31 / 38&lt;/Text&gt;&#10;  &lt;/Box&gt;&#10;  &lt;Box style={{ flex: 1, padding: '10px 40px 0 40px', flexDirection: 'row', gap: 26 }}&gt;&#10;    &lt;Box style={{ flex: 5, justifyContent: 'center' }}&gt;&#10;      &lt;CodeBlock code={`CampusBites — Requirements Pack, section 2.1 (extract)&#10;&#10;Students on the Dalian campus order lunch from the&#10;restaurants on campus. A student opens the app, browses&#10;today's menu of a restaurant, selects items, and places&#10;an order. The system authenticates the student against&#10;the campus card centre, calculates the total, and&#10;charges the campus card, a wallet, or cash on delivery.&#10;&#10;Restaurant staff keep the menu current. A manager marks&#10;an item sold out before service starts; the kitchen&#10;receives the order on a wall tablet. When an order is&#10;ready, a dispatcher assigns a courier. The courier picks&#10;up the order, delivers it to the student, and confirms&#10;the delivery in the app.&#10;&#10;After delivery the student may rate the restaurant and&#10;the courier. The platform administrator can suspend a&#10;restaurant that receives three ratings below two stars&#10;in one week. Every evening at 23:00 the system closes&#10;the day and emails a sales report to each restaurant.`} language='text' /&gt;&#10;    &lt;/Box&gt;&#10;    &lt;Box style={{ flex: 2, flexDirection: 'column', justifyContent: 'center', gap: 12 }}&gt;&#10;      &lt;Box style={{ padding: '15px 17px', background: '#F0F5FC', borderRadius: 9, borderLeft: '4px solid #1E4FA8' }}&gt;&#10;        &lt;Text style={{ fontSize: 15.5, fontWeight: 'bold', color: '#0E3F8C' }}&gt;This is real&lt;/Text&gt;&#10;        &lt;Text style={{ fontSize: 12.8, color: '#4A5568', lineHeight: 1.6, marginTop: 5 }}&gt;&#10;          This is the extract your team has in the pack. The full version has four more paragraphs; the lab works on this one.&#10;        &lt;/Text&gt;&#10;      &lt;/Box&gt;&#10;      &lt;Box style={{ padding: '15px 17px', background: '#FFF6E0', borderRadius: 9, borderLeft: '4px solid #FFC107' }}&gt;&#10;        &lt;Text style={{ fontSize: 15.5, fontWeight: 'bold', color: '#996F00' }}&gt;Read it twice&lt;/Text&gt;&#10;        &lt;Text style={{ fontSize: 12.8, color: '#4A5568', lineHeight: 1.6, marginTop: 5 }}&gt;&#10;          First time for the story. Second time with a pen, marking nouns and verbs as we did on page 27.&#10;        &lt;/Text&gt;&#10;      &lt;/Box&gt;&#10;      &lt;Box style={{ padding: '15px 17px', background: '#FFFFFF', borderRadius: 9, border: '1px dashed #D6DCE5' }}&gt;&#10;        &lt;Text style={{ fontSize: 12.8, color: '#8B97A8', lineHeight: 1.6 }}&gt;&#10;          Do not start drawing yet. A diagram drawn from a half-read paragraph has to be drawn twice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Fifteen minutes with the text. It is the cheapest fifteen minutes you will spend this week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4.1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80047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4.1 — The Narrative</a:t>
            </a:r>
            <a:endParaRPr/>
          </a:p>
        </p:txBody>
      </p:sp>
      <p:sp>
        <p:nvSpPr>
          <p:cNvPr id="577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31 / 38</a:t>
            </a:r>
            <a:endParaRPr/>
          </a:p>
        </p:txBody>
      </p:sp>
      <p:sp>
        <p:nvSpPr>
          <p:cNvPr id="578" name=""/>
          <p:cNvSpPr/>
          <p:nvPr/>
        </p:nvSpPr>
        <p:spPr>
          <a:xfrm rot="0" flipH="0" flipV="0">
            <a:off x="8658225" y="2238375"/>
            <a:ext cx="3190875" cy="1219200"/>
          </a:xfrm>
          <a:prstGeom prst="roundRect">
            <a:avLst>
              <a:gd name="adj" fmla="val 703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79" name=""/>
          <p:cNvSpPr/>
          <p:nvPr/>
        </p:nvSpPr>
        <p:spPr>
          <a:xfrm rot="0" flipH="0" flipV="0">
            <a:off x="8658225" y="2238375"/>
            <a:ext cx="3190875" cy="1219200"/>
          </a:xfrm>
          <a:custGeom>
            <a:pathLst>
              <a:path w="335" h="128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23"/>
                </a:lnTo>
                <a:cubicBezTo>
                  <a:pt x="4" y="125"/>
                  <a:pt x="6" y="127"/>
                  <a:pt x="8" y="128"/>
                </a:cubicBezTo>
                <a:cubicBezTo>
                  <a:pt x="4" y="128"/>
                  <a:pt x="0" y="124"/>
                  <a:pt x="0" y="119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0" name="" descr="{&quot;isTemplate&quot;:true,&quot;type&quot;:&quot;text&quot;}"/>
          <p:cNvSpPr txBox="1"/>
          <p:nvPr/>
        </p:nvSpPr>
        <p:spPr>
          <a:xfrm rot="0" flipH="0" flipV="0">
            <a:off x="8820150" y="2381250"/>
            <a:ext cx="28289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This is real</a:t>
            </a:r>
            <a:endParaRPr/>
          </a:p>
        </p:txBody>
      </p:sp>
      <p:sp>
        <p:nvSpPr>
          <p:cNvPr id="581" name="" descr="{&quot;isTemplate&quot;:true,&quot;type&quot;:&quot;text&quot;}"/>
          <p:cNvSpPr txBox="1"/>
          <p:nvPr/>
        </p:nvSpPr>
        <p:spPr>
          <a:xfrm rot="0" flipH="0" flipV="0">
            <a:off x="8820150" y="2609850"/>
            <a:ext cx="2828925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This is the extract your team has in the pack. The full version has four more paragraphs; the lab works on this one.</a:t>
            </a:r>
            <a:endParaRPr/>
          </a:p>
        </p:txBody>
      </p:sp>
      <p:sp>
        <p:nvSpPr>
          <p:cNvPr id="582" name=""/>
          <p:cNvSpPr/>
          <p:nvPr/>
        </p:nvSpPr>
        <p:spPr>
          <a:xfrm rot="0" flipH="0" flipV="0">
            <a:off x="8658225" y="3571875"/>
            <a:ext cx="3190875" cy="990600"/>
          </a:xfrm>
          <a:prstGeom prst="roundRect">
            <a:avLst>
              <a:gd name="adj" fmla="val 8654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583" name=""/>
          <p:cNvSpPr/>
          <p:nvPr/>
        </p:nvSpPr>
        <p:spPr>
          <a:xfrm rot="0" flipH="0" flipV="0">
            <a:off x="8658225" y="3571875"/>
            <a:ext cx="3190875" cy="990600"/>
          </a:xfrm>
          <a:custGeom>
            <a:pathLst>
              <a:path w="335" h="104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99"/>
                </a:lnTo>
                <a:cubicBezTo>
                  <a:pt x="4" y="101"/>
                  <a:pt x="6" y="103"/>
                  <a:pt x="8" y="104"/>
                </a:cubicBezTo>
                <a:cubicBezTo>
                  <a:pt x="4" y="104"/>
                  <a:pt x="0" y="100"/>
                  <a:pt x="0" y="9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8820150" y="3714750"/>
            <a:ext cx="28289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996F00"/>
                </a:solidFill>
                <a:latin typeface="Microsoft YaHei"/>
                <a:ea typeface="Microsoft YaHei"/>
              </a:rPr>
              <a:t>Read it twice</a:t>
            </a:r>
            <a:endParaRPr/>
          </a:p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8820150" y="3943350"/>
            <a:ext cx="2828925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First time for the story. Second time with a pen, marking nouns and verbs as we did on page 27.</a:t>
            </a:r>
            <a:endParaRPr/>
          </a:p>
        </p:txBody>
      </p:sp>
      <p:sp>
        <p:nvSpPr>
          <p:cNvPr id="586" name=""/>
          <p:cNvSpPr/>
          <p:nvPr/>
        </p:nvSpPr>
        <p:spPr>
          <a:xfrm rot="0" flipH="0" flipV="0">
            <a:off x="8620125" y="4676775"/>
            <a:ext cx="3190875" cy="76200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8782050" y="4819650"/>
            <a:ext cx="2867025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8B97A8"/>
                </a:solidFill>
                <a:latin typeface="Microsoft YaHei"/>
                <a:ea typeface="Microsoft YaHei"/>
              </a:rPr>
              <a:t>Do not start drawing yet. A diagram drawn from a half-read paragraph has to be drawn twice.</a:t>
            </a:r>
            <a:endParaRPr/>
          </a:p>
        </p:txBody>
      </p:sp>
      <p:sp>
        <p:nvSpPr>
          <p:cNvPr id="588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2914650" y="6543675"/>
            <a:ext cx="6372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Fifteen minutes with the text. It is the cheapest fifteen minutes you will spend this week.</a:t>
            </a:r>
            <a:endParaRPr/>
          </a:p>
        </p:txBody>
      </p:sp>
      <p:sp>
        <p:nvSpPr>
          <p:cNvPr id="590" name=""/>
          <p:cNvSpPr/>
          <p:nvPr/>
        </p:nvSpPr>
        <p:spPr>
          <a:xfrm rot="0" flipH="0" flipV="0">
            <a:off x="381000" y="1685925"/>
            <a:ext cx="7991475" cy="4305300"/>
          </a:xfrm>
          <a:prstGeom prst="roundRect">
            <a:avLst>
              <a:gd name="adj" fmla="val 177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591" name=""/>
          <p:cNvSpPr txBox="1"/>
          <p:nvPr/>
        </p:nvSpPr>
        <p:spPr>
          <a:xfrm rot="0" flipH="0" flipV="0">
            <a:off x="533400" y="1819275"/>
            <a:ext cx="7686675" cy="4038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CampusBites — Requirements Pack, section 2.1 (extract)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Students on the Dalian campus order lunch from the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restaurants on campus. A student opens the app, browses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today's menu of a restaurant, selects items, and places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an order. The system authenticates the student against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the campus card centre, calculates the total, and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charges the campus card, a wallet, or cash on delivery.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Restaurant staff keep the menu current. A manager marks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an item sold out before service starts; the kitchen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receives the order on a wall tablet. When an order is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ready, a dispatcher assigns a courier. The courier picks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up the order, delivers it to the student, and confirms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the delivery in the app.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After delivery the student may rate the restaurant and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the courier. The platform administrator can suspend a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restaurant that receives three ratings below two stars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in one week. Every evening at 23:00 the system closes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the day and emails a sales report to each restaurant.</a:t>
            </a:r>
            <a:endParaRPr/>
          </a:p>
        </p:txBody>
      </p:sp>
    </p:spTree>
  </p:cSld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59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1&lt;/Text&gt;&#10;  &lt;/Box&gt;&#10;  &lt;Box style={{ padding: '14px 40px 0 40px', flexDirection: 'row', alignItems: 'center', justifyContent: 'space-between' }}&gt;&#10;    &lt;Text style={{ fontSize: 29, fontWeight: 'bold', color: '#0E3F8C' }}&gt;Exercise 4.1 — Your Turn&lt;/Text&gt;&#10;    &lt;Text style={{ fontSize: 14, color: '#1E4FA8', fontWeight: 'bold' }}&gt;32 / 38&lt;/Text&gt;&#10;  &lt;/Box&gt;&#10;  &lt;Box style={{ flex: 1, padding: '14px 40px 0 40px', flexDirection: 'row', gap: 24 }}&gt;&#10;    &lt;Box style={{ flex: 1, flexDirection: 'column', gap: 12 }}&gt;&#10;      &lt;Box style={{ padding: '18px 18px', background: '#F0F5FC', borderRadius: 10, borderLeft: '4px solid #1E4FA8' }}&gt;&#10;        &lt;Text style={{ fontSize: 16, fontWeight: 'bold', color: '#0E3F8C' }}&gt;A · List the actors&lt;/Text&gt;&#10;        &lt;Text style={{ fontSize: 13, color: '#4A5568', lineHeight: 1.6, marginTop: 6 }}&gt;&#10;          Every role that stands outside CampusBites and talks to it. Name roles, not people — and include the systems that serve you.&#10;        &lt;/Text&gt;&#10;        &lt;Text style={{ fontSize: 12.5, color: '#8B97A8', marginTop: 8 }}&gt;Target: five to seven.&lt;/Text&gt;&#10;      &lt;/Box&gt;&#10;      &lt;Box style={{ padding: '18px 18px', background: '#F0F5FC', borderRadius: 10, borderLeft: '4px solid #1E4FA8' }}&gt;&#10;        &lt;Text style={{ fontSize: 16, fontWeight: 'bold', color: '#0E3F8C' }}&gt;B · List candidate use cases&lt;/Text&gt;&#10;        &lt;Text style={{ fontSize: 13, color: '#4A5568', lineHeight: 1.6, marginTop: 6 }}&gt;&#10;          Take the verbs from the narrative and keep only those that name a goal somebody has. Write them verb plus object.&#10;        &lt;/Text&gt;&#10;        &lt;Text style={{ fontSize: 12.5, color: '#8B97A8', marginTop: 8 }}&gt;Target: nine candidates before filtering.&lt;/Text&gt;&#10;      &lt;/Box&gt;&#10;    &lt;/Box&gt;&#10;    &lt;Box style={{ flex: 1, flexDirection: 'column', gap: 12 }}&gt;&#10;      &lt;Box style={{ padding: '18px 18px', background: '#FFFFFF', borderRadius: 10, border: '1px solid #D6DCE5' }}&gt;&#10;        &lt;Text style={{ fontSize: 16, fontWeight: 'bold', color: '#0E3F8C' }}&gt;C · Mark primary and secondary&lt;/Text&gt;&#10;        &lt;Text style={{ fontSize: 13, color: '#4A5568', lineHeight: 1.6, marginTop: 6 }}&gt;&#10;          For each actor, say whether they start use cases (primary) or are called by the system (secondary). Write the goal they own.&#10;        &lt;/Text&gt;&#10;      &lt;/Box&gt;&#10;      &lt;Box style={{ padding: '18px 18px', background: '#FFFFFF', borderRadius: 10, border: '1px solid #D6DCE5' }}&gt;&#10;        &lt;Text style={{ fontSize: 16, fontWeight: 'bold', color: '#0E3F8C' }}&gt;D · Filter the candidates&lt;/Text&gt;&#10;        &lt;Text style={{ fontSize: 13, color: '#4A5568', lineHeight: 1.6, marginTop: 6 }}&gt;&#10;          For each of the nine, answer in one line: is this a user goal, or a step inside one? Keep the goals; park the steps.&#10;        &lt;/Text&gt;&#10;      &lt;/Box&gt;&#10;      &lt;Box style={{ padding: '16px 18px', background: '#FFF6E0', borderRadius: 9, border: '1px solid #FFC107' }}&gt;&#10;        &lt;Text style={{ fontSize: 13, color: '#4A5568', lineHeight: 1.6 }}&gt;&#10;          &lt;Text style={{ fontWeight: 'bold', color: '#996F00' }}&gt;Work in your team. &lt;/Text&gt;&#10;          One page, two columns, twenty-five minutes. Answers on the next two pages — do not turn the page early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Twenty-five minutes. One page per team. Then we compare — and you will disagree about at least two of them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4.1</a:t>
            </a:r>
            <a:endParaRPr/>
          </a:p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3147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4.1 — Your Turn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419100" y="1285875"/>
            <a:ext cx="5600700" cy="1285875"/>
          </a:xfrm>
          <a:prstGeom prst="roundRect">
            <a:avLst>
              <a:gd name="adj" fmla="val 740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00" name=""/>
          <p:cNvSpPr/>
          <p:nvPr/>
        </p:nvSpPr>
        <p:spPr>
          <a:xfrm rot="0" flipH="0" flipV="0">
            <a:off x="419100" y="1285875"/>
            <a:ext cx="5600700" cy="1285875"/>
          </a:xfrm>
          <a:custGeom>
            <a:pathLst>
              <a:path w="588" h="13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29"/>
                </a:lnTo>
                <a:cubicBezTo>
                  <a:pt x="4" y="132"/>
                  <a:pt x="6" y="134"/>
                  <a:pt x="9" y="135"/>
                </a:cubicBezTo>
                <a:cubicBezTo>
                  <a:pt x="4" y="134"/>
                  <a:pt x="0" y="130"/>
                  <a:pt x="0" y="12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1" name="" descr="{&quot;isTemplate&quot;:true,&quot;type&quot;:&quot;text&quot;}"/>
          <p:cNvSpPr txBox="1"/>
          <p:nvPr/>
        </p:nvSpPr>
        <p:spPr>
          <a:xfrm rot="0" flipH="0" flipV="0">
            <a:off x="590550" y="1457325"/>
            <a:ext cx="5219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 · List the actors</a:t>
            </a:r>
            <a:endParaRPr/>
          </a:p>
        </p:txBody>
      </p:sp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590550" y="1704975"/>
            <a:ext cx="52197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Every role that stands outside CampusBites and talks to it. Name roles, not people — and include the systems that serve you.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590550" y="2257425"/>
            <a:ext cx="521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Target: five to seven.</a:t>
            </a:r>
            <a:endParaRPr/>
          </a:p>
        </p:txBody>
      </p:sp>
      <p:sp>
        <p:nvSpPr>
          <p:cNvPr id="604" name=""/>
          <p:cNvSpPr/>
          <p:nvPr/>
        </p:nvSpPr>
        <p:spPr>
          <a:xfrm rot="0" flipH="0" flipV="0">
            <a:off x="419100" y="2686050"/>
            <a:ext cx="5600700" cy="1285875"/>
          </a:xfrm>
          <a:prstGeom prst="roundRect">
            <a:avLst>
              <a:gd name="adj" fmla="val 740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05" name=""/>
          <p:cNvSpPr/>
          <p:nvPr/>
        </p:nvSpPr>
        <p:spPr>
          <a:xfrm rot="0" flipH="0" flipV="0">
            <a:off x="419100" y="2686050"/>
            <a:ext cx="5600700" cy="1285875"/>
          </a:xfrm>
          <a:custGeom>
            <a:pathLst>
              <a:path w="588" h="13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29"/>
                </a:lnTo>
                <a:cubicBezTo>
                  <a:pt x="4" y="132"/>
                  <a:pt x="6" y="134"/>
                  <a:pt x="9" y="135"/>
                </a:cubicBezTo>
                <a:cubicBezTo>
                  <a:pt x="4" y="134"/>
                  <a:pt x="0" y="130"/>
                  <a:pt x="0" y="12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590550" y="2857500"/>
            <a:ext cx="5219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B · List candidate use cases</a:t>
            </a:r>
            <a:endParaRPr/>
          </a:p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590550" y="3105150"/>
            <a:ext cx="52197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Take the verbs from the narrative and keep only those that name a goal somebody has. Write them verb plus object.</a:t>
            </a:r>
            <a:endParaRPr/>
          </a:p>
        </p:txBody>
      </p:sp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590550" y="3657600"/>
            <a:ext cx="521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Target: nine candidates before filtering.</a:t>
            </a:r>
            <a:endParaRPr/>
          </a:p>
        </p:txBody>
      </p:sp>
      <p:sp>
        <p:nvSpPr>
          <p:cNvPr id="609" name=""/>
          <p:cNvSpPr/>
          <p:nvPr/>
        </p:nvSpPr>
        <p:spPr>
          <a:xfrm rot="0" flipH="0" flipV="0">
            <a:off x="6210300" y="1285875"/>
            <a:ext cx="5600700" cy="10668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10" name="" descr="{&quot;isTemplate&quot;:true,&quot;type&quot;:&quot;text&quot;}"/>
          <p:cNvSpPr txBox="1"/>
          <p:nvPr/>
        </p:nvSpPr>
        <p:spPr>
          <a:xfrm rot="0" flipH="0" flipV="0">
            <a:off x="6381750" y="1457325"/>
            <a:ext cx="5257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 · Mark primary and secondary</a:t>
            </a:r>
            <a:endParaRPr/>
          </a:p>
        </p:txBody>
      </p:sp>
      <p:sp>
        <p:nvSpPr>
          <p:cNvPr id="611" name="" descr="{&quot;isTemplate&quot;:true,&quot;type&quot;:&quot;text&quot;}"/>
          <p:cNvSpPr txBox="1"/>
          <p:nvPr/>
        </p:nvSpPr>
        <p:spPr>
          <a:xfrm rot="0" flipH="0" flipV="0">
            <a:off x="6381750" y="1704975"/>
            <a:ext cx="52578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For each actor, say whether they start use cases (primary) or are called by the system (secondary). Write the goal they own.</a:t>
            </a:r>
            <a:endParaRPr/>
          </a:p>
        </p:txBody>
      </p:sp>
      <p:sp>
        <p:nvSpPr>
          <p:cNvPr id="612" name=""/>
          <p:cNvSpPr/>
          <p:nvPr/>
        </p:nvSpPr>
        <p:spPr>
          <a:xfrm rot="0" flipH="0" flipV="0">
            <a:off x="6210300" y="2466975"/>
            <a:ext cx="5600700" cy="10668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6381750" y="2638425"/>
            <a:ext cx="5257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D · Filter the candidates</a:t>
            </a:r>
            <a:endParaRPr/>
          </a:p>
        </p:txBody>
      </p:sp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6381750" y="2886075"/>
            <a:ext cx="52578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For each of the nine, answer in one line: is this a user goal, or a step inside one? Keep the goals; park the steps.</a:t>
            </a:r>
            <a:endParaRPr/>
          </a:p>
        </p:txBody>
      </p:sp>
      <p:sp>
        <p:nvSpPr>
          <p:cNvPr id="615" name=""/>
          <p:cNvSpPr/>
          <p:nvPr/>
        </p:nvSpPr>
        <p:spPr>
          <a:xfrm rot="0" flipH="0" flipV="0">
            <a:off x="6210300" y="3648075"/>
            <a:ext cx="5600700" cy="781050"/>
          </a:xfrm>
          <a:prstGeom prst="roundRect">
            <a:avLst>
              <a:gd name="adj" fmla="val 10976"/>
            </a:avLst>
          </a:prstGeom>
          <a:solidFill>
            <a:srgbClr val="FFF6E0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6381750" y="3800475"/>
            <a:ext cx="52578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Work in your team. </a:t>
            </a: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One page, two columns, twenty-five minutes. Answers on the next two pages — do not turn the page early.</a:t>
            </a:r>
            <a:endParaRPr/>
          </a:p>
        </p:txBody>
      </p:sp>
      <p:sp>
        <p:nvSpPr>
          <p:cNvPr id="617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2085975" y="6543675"/>
            <a:ext cx="80295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Twenty-five minutes. One page per team. Then we compare — and you will disagree about at least two of them.</a:t>
            </a:r>
            <a:endParaRPr/>
          </a:p>
        </p:txBody>
      </p:sp>
    </p:spTree>
  </p:cSld>
</p:sld>
</file>

<file path=ppt/slides/slide33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61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1&lt;/Text&gt;&#10;  &lt;/Box&gt;&#10;  &lt;Box style={{ padding: '14px 40px 0 40px', flexDirection: 'row', alignItems: 'center', justifyContent: 'space-between' }}&gt;&#10;    &lt;Text style={{ fontSize: 29, fontWeight: 'bold', color: '#0E3F8C' }}&gt;Exercise 4.1 — Actors, Answered&lt;/Text&gt;&#10;    &lt;Text style={{ fontSize: 14, color: '#1E4FA8', fontWeight: 'bold' }}&gt;33 / 38&lt;/Text&gt;&#10;  &lt;/Box&gt;&#10;  &lt;Box style={{ flex: 1, padding: '10px 40px 6px 40px' }}&gt;&#10;    &lt;Table&#10;      style={{ width: '100%', height: '100%' }}&#10;      defaultTextStyle={{ fontSize: 13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Actor', textStyle: { bold: true, color: '#FFFFFF' }, cellStyle: { background: { color: '#0E3F8C' } } },&#10;          { text: 'Primary / secondary', textStyle: { bold: true, color: '#FFFFFF' }, cellStyle: { background: { color: '#0E3F8C' } } },&#10;          { text: 'The goal they own', textStyle: { bold: true, color: '#FFFFFF' }, cellStyle: { background: { color: '#1E4FA8' } } },&#10;          { text: 'Why they are here', textStyle: { bold: true, color: '#FFFFFF' }, cellStyle: { background: { color: '#1E4FA8' } } },&#10;        ],&#10;        [&#10;          { text: 'Student', textStyle: { bold: true, color: '#0E3F8C' }, cellStyle: { background: { color: '#F7F9FC' } } },&#10;          { text: 'Primary', textStyle: { color: '#1E4FA8', bold: true }, cellStyle: { background: { color: '#F7F9FC' } } },&#10;          { text: 'Order lunch, pay for it, and know where it is', textStyle: { color: '#4A5568' }, cellStyle: { background: { color: '#F7F9FC' } } },&#10;          { text: 'The reason the platform exists', textStyle: { color: '#4A5568' }, cellStyle: { background: { color: '#F7F9FC' } } },&#10;        ],&#10;        [&#10;          { text: 'Restaurant Manager', textStyle: { bold: true, color: '#0E3F8C' } },&#10;          { text: 'Primary', textStyle: { color: '#1E4FA8', bold: true } },&#10;          { text: 'Keep today’s menu true to the kitchen', textStyle: { color: '#4A5568' } },&#10;          { text: 'Marks items sold out before service', textStyle: { color: '#4A5568' } },&#10;        ],&#10;        [&#10;          { text: 'Kitchen Staff', textStyle: { bold: true, color: '#0E3F8C' }, cellStyle: { background: { color: '#F7F9FC' } } },&#10;          { text: 'Primary', textStyle: { color: '#1E4FA8', bold: true }, cellStyle: { background: { color: '#F7F9FC' } } },&#10;          { text: 'Receive an order and mark it ready', textStyle: { color: '#4A5568' }, cellStyle: { background: { color: '#F7F9FC' } } },&#10;          { text: 'Works from the wall tablet, not a phone', textStyle: { color: '#4A5568' }, cellStyle: { background: { color: '#F7F9FC' } } },&#10;        ],&#10;        [&#10;          { text: 'Dispatcher', textStyle: { bold: true, color: '#0E3F8C' } },&#10;          { text: 'Primary', textStyle: { color: '#1E4FA8', bold: true } },&#10;          { text: 'Get a ready order onto a courier', textStyle: { color: '#4A5568' } },&#10;          { text: 'Assigns, and reassigns when a rider is late', textStyle: { color: '#4A5568' } },&#10;        ],&#10;        [&#10;          { text: 'Courier', textStyle: { bold: true, color: '#0E3F8C' }, cellStyle: { background: { color: '#F7F9FC' } } },&#10;          { text: 'Primary', textStyle: { color: '#1E4FA8', bold: true }, cellStyle: { background: { color: '#F7F9FC' } } },&#10;          { text: 'Deliver an order and prove it arrived', textStyle: { color: '#4A5568' }, cellStyle: { background: { color: '#F7F9FC' } } },&#10;          { text: 'Confirms delivery in the app', textStyle: { color: '#4A5568' }, cellStyle: { background: { color: '#F7F9FC' } } },&#10;        ],&#10;        [&#10;          { text: 'Platform Administrator', textStyle: { bold: true, color: '#0E3F8C' } },&#10;          { text: 'Primary', textStyle: { color: '#1E4FA8', bold: true } },&#10;          { text: 'Protect students from failing restaurants', textStyle: { color: '#4A5568' } },&#10;          { text: 'Suspends after three ratings below two stars', textStyle: { color: '#4A5568' } },&#10;        ],&#10;        [&#10;          { text: 'Campus Card Centre', textStyle: { bold: true, color: '#8B97A8' }, cellStyle: { background: { color: '#F7F9FC' } } },&#10;          { text: 'Secondary', textStyle: { color: '#8B97A8', bold: true }, cellStyle: { background: { color: '#F7F9FC' } } },&#10;          { text: 'None of its own — it serves us', textStyle: { color: '#4A5568' }, cellStyle: { background: { color: '#F7F9FC' } } },&#10;          { text: 'Authenticates the student and clears the charge', textStyle: { color: '#4A5568' }, cellStyle: { background: { color: '#F7F9FC' } } },&#10;        ],&#10;        [&#10;          { text: 'Payment Provider', textStyle: { bold: true, color: '#8B97A8' } },&#10;          { text: 'Secondary', textStyle: { color: '#8B97A8', bold: true } },&#10;          { text: 'None of its own', textStyle: { color: '#4A5568' } },&#10;          { text: 'Takes wallet payments; tells us yes or no', textStyle: { color: '#4A5568' } },&#10;        ],&#10;        [&#10;          { text: 'Email Service', textStyle: { bold: true, color: '#8B97A8' }, cellStyle: { background: { color: '#F7F9FC' } } },&#10;          { text: 'Secondary', textStyle: { color: '#8B97A8', bold: true }, cellStyle: { background: { color: '#F7F9FC' } } },&#10;          { text: 'None of its own', textStyle: { color: '#4A5568' }, cellStyle: { background: { color: '#F7F9FC' } } },&#10;          { text: 'Carries the 23:00 sales report to each restaurant', textStyle: { color: '#4A5568' }, cellStyle: { background: { color: '#F7F9FC' } } },&#10;        ],&#10;      ]}&#10;    /&gt;&#10;  &lt;/Box&gt;&#10;  &lt;Box style={{ height: 46, background: '#0E3F8C', padding: '0 40px', flexDirection: 'row', alignItems: 'center', justifyContent: 'center' }}&gt;&#10;    &lt;Text style={{ fontSize: 15.5, color: '#FFFFFF', fontWeight: '600' }}&gt;The trap: authenticate and charge are things the card centre does for us — they are actors, never our use cases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2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4.1</a:t>
            </a:r>
            <a:endParaRPr/>
          </a:p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3815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4.1 — Actors, Answered</a:t>
            </a:r>
            <a:endParaRPr/>
          </a:p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33 / 38</a:t>
            </a:r>
            <a:endParaRPr/>
          </a:p>
        </p:txBody>
      </p:sp>
      <p:graphicFrame>
        <p:nvGraphicFramePr>
          <p:cNvPr id="626" name=""/>
          <p:cNvGraphicFramePr/>
          <p:nvPr/>
        </p:nvGraphicFramePr>
        <p:xfrm rot="0" flipH="0" flipV="0">
          <a:off x="381000" y="1247775"/>
          <a:ext cx="11430000" cy="5114925"/>
        </p:xfrm>
        <a:graphic>
          <a:graphicData uri="http://schemas.openxmlformats.org/drawingml/2006/table">
            <a:tbl>
              <a:tblGrid>
                <a:gridCol w="2071722">
                  <a:extLst>
                    <a:ext uri="{9D8B030D-6E8A-4147-A177-3AD203B41FA5}">
                      <a16:colId val="1"/>
                    </a:ext>
                  </a:extLst>
                </a:gridCol>
                <a:gridCol w="1839405">
                  <a:extLst>
                    <a:ext uri="{9D8B030D-6E8A-4147-A177-3AD203B41FA5}">
                      <a16:colId val="2"/>
                    </a:ext>
                  </a:extLst>
                </a:gridCol>
                <a:gridCol w="3561284">
                  <a:extLst>
                    <a:ext uri="{9D8B030D-6E8A-4147-A177-3AD203B41FA5}">
                      <a16:colId val="3"/>
                    </a:ext>
                  </a:extLst>
                </a:gridCol>
                <a:gridCol w="3957590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Actor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Primary / secondary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The goal they own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Why they are here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Order lunch, pay for it, and know where it is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reason the platform exists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Restaurant Manager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Keep today’s menu true to the kitchen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Marks items sold out before service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Kitchen Staff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Receive an order and mark it ready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Works from the wall tablet, not a phone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Dispatcher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Get a ready order onto a courier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Assigns, and reassigns when a rider is late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Courier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Deliver an order and prove it arrived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Confirms delivery in the app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Platform Administrator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Protect students from failing restaurants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Suspends after three ratings below two stars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Campus Card Centre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Secondary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None of its own — it serves us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Authenticates the student and clears the charge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Payment Provider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Secondary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None of its own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Takes wallet payments; tells us yes or no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Email Service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Secondary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None of its own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Carries the 23:00 sales report to each restaurant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</a:tbl>
          </a:graphicData>
        </a:graphic>
      </p:graphicFrame>
      <p:sp>
        <p:nvSpPr>
          <p:cNvPr id="627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8" name="" descr="{&quot;isTemplate&quot;:true,&quot;type&quot;:&quot;text&quot;}"/>
          <p:cNvSpPr txBox="1"/>
          <p:nvPr/>
        </p:nvSpPr>
        <p:spPr>
          <a:xfrm rot="0" flipH="0" flipV="0">
            <a:off x="2162175" y="6553200"/>
            <a:ext cx="78771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The trap: authenticate and charge are things the card centre does for us — they are actors, never our use cases.</a:t>
            </a:r>
            <a:endParaRPr/>
          </a:p>
        </p:txBody>
      </p:sp>
    </p:spTree>
  </p:cSld>
</p:sld>
</file>

<file path=ppt/slides/slide34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62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1&lt;/Text&gt;&#10;  &lt;/Box&gt;&#10;  &lt;Box style={{ padding: '14px 40px 0 40px', flexDirection: 'row', alignItems: 'center', justifyContent: 'space-between' }}&gt;&#10;    &lt;Text style={{ fontSize: 29, fontWeight: 'bold', color: '#0E3F8C' }}&gt;Exercise 4.1 — Use Cases, Answered&lt;/Text&gt;&#10;    &lt;Text style={{ fontSize: 14, color: '#1E4FA8', fontWeight: 'bold' }}&gt;34 / 38&lt;/Text&gt;&#10;  &lt;/Box&gt;&#10;  &lt;Box style={{ flex: 1, padding: '10px 40px 6px 40px' }}&gt;&#10;    &lt;Table&#10;      style={{ width: '100%', height: '100%' }}&#10;      defaultTextStyle={{ fontSize: 13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Candidate', textStyle: { bold: true, color: '#FFFFFF' }, cellStyle: { background: { color: '#0E3F8C' } } },&#10;          { text: 'Who wants it', textStyle: { bold: true, color: '#FFFFFF' }, cellStyle: { background: { color: '#0E3F8C' } } },&#10;          { text: 'Goal level?', textStyle: { bold: true, color: '#FFFFFF' }, cellStyle: { background: { color: '#0E3F8C' } } },&#10;          { text: 'Why', textStyle: { bold: true, color: '#FFFFFF' }, cellStyle: { background: { color: '#1E4FA8' } } },&#10;        ],&#10;        [&#10;          { text: 'Browse Menu', textStyle: { bold: true, color: '#0E3F8C' }, cellStyle: { background: { color: '#F7F9FC' } } },&#10;          { text: 'Student', textStyle: { color: '#4A5568' }, cellStyle: { background: { color: '#F7F9FC' } } },&#10;          { text: 'Yes', textStyle: { color: '#1E4FA8', bold: true }, cellStyle: { background: { color: '#F7F9FC' } } },&#10;          { text: 'A student can browse and leave. It ends, on its own.', textStyle: { color: '#4A5568' }, cellStyle: { background: { color: '#F7F9FC' } } },&#10;        ],&#10;        [&#10;          { text: 'Place Order', textStyle: { bold: true, color: '#0E3F8C' } },&#10;          { text: 'Student', textStyle: { color: '#4A5568' } },&#10;          { text: 'Yes', textStyle: { color: '#1E4FA8', bold: true } },&#10;          { text: 'The headline goal. Ends when the order is accepted.', textStyle: { color: '#4A5568' } },&#10;        ],&#10;        [&#10;          { text: 'Authenticate', textStyle: { bold: true, color: '#4A5568' }, cellStyle: { background: { color: '#F7F9FC' } } },&#10;          { text: 'Nobody', textStyle: { color: '#4A5568' }, cellStyle: { background: { color: '#F7F9FC' } } },&#10;          { text: 'No — include', textStyle: { color: '#D9534F', bold: true }, cellStyle: { background: { color: '#F7F9FC' } } },&#10;          { text: 'Nobody comes to log in. Place Order always includes it.', textStyle: { color: '#4A5568' }, cellStyle: { background: { color: '#F7F9FC' } } },&#10;        ],&#10;        [&#10;          { text: 'Calculate Total', textStyle: { bold: true, color: '#4A5568' } },&#10;          { text: 'Nobody', textStyle: { color: '#4A5568' } },&#10;          { text: 'No — step', textStyle: { color: '#D9534F', bold: true } },&#10;          { text: 'One line inside the scenario, not a goal of its own.', textStyle: { color: '#4A5568' } },&#10;        ],&#10;        [&#10;          { text: 'Pay for Order', textStyle: { bold: true, color: '#0E3F8C' }, cellStyle: { background: { color: '#F7F9FC' } } },&#10;          { text: 'Student', textStyle: { color: '#4A5568' }, cellStyle: { background: { color: '#F7F9FC' } } },&#10;          { text: 'Yes', textStyle: { color: '#1E4FA8', bold: true }, cellStyle: { background: { color: '#F7F9FC' } } },&#10;          { text: 'Can happen on its own — pay a later order.', textStyle: { color: '#4A5568' }, cellStyle: { background: { color: '#F7F9FC' } } },&#10;        ],&#10;        [&#10;          { text: 'Manage Today’s Menu', textStyle: { bold: true, color: '#0E3F8C' } },&#10;          { text: 'Restaurant Manager', textStyle: { color: '#4A5568' } },&#10;          { text: 'Yes', textStyle: { color: '#1E4FA8', bold: true } },&#10;          { text: 'Ends when the kitchen sees a menu it can cook.', textStyle: { color: '#4A5568' } },&#10;        ],&#10;        [&#10;          { text: 'Receive Order', textStyle: { bold: true, color: '#0E3F8C' }, cellStyle: { background: { color: '#F7F9FC' } } },&#10;          { text: 'Kitchen Staff', textStyle: { color: '#4A5568' }, cellStyle: { background: { color: '#F7F9FC' } } },&#10;          { text: 'Yes', textStyle: { color: '#1E4FA8', bold: true }, cellStyle: { background: { color: '#F7F9FC' } } },&#10;          { text: 'The kitchen has its own goal: see what to cook.', textStyle: { color: '#4A5568' }, cellStyle: { background: { color: '#F7F9FC' } } },&#10;        ],&#10;        [&#10;          { text: 'Dispatch Courier', textStyle: { bold: true, color: '#0E3F8C' } },&#10;          { text: 'Dispatcher', textStyle: { color: '#4A5568' } },&#10;          { text: 'Yes', textStyle: { color: '#1E4FA8', bold: true } },&#10;          { text: 'Ends when a rider accepts. Different actor, different goal.', textStyle: { color: '#4A5568' } },&#10;        ],&#10;        [&#10;          { text: 'Rate Restaurant', textStyle: { bold: true, color: '#0E3F8C' }, cellStyle: { background: { color: '#F7F9FC' } } },&#10;          { text: 'Student', textStyle: { color: '#4A5568' }, cellStyle: { background: { color: '#F7F9FC' } } },&#10;          { text: 'Yes', textStyle: { color: '#1E4FA8', bold: true }, cellStyle: { background: { color: '#F7F9FC' } } },&#10;          { text: 'Optional, but a goal — and it can extend Confirm Delivery.', textStyle: { color: '#4A5568' }, cellStyle: { background: { color: '#F7F9FC' } } },&#10;        ],&#10;      ]}&#10;    /&gt;&#10;  &lt;/Box&gt;&#10;  &lt;Box style={{ height: 46, background: '#0E3F8C', padding: '0 40px', flexDirection: 'row', alignItems: 'center', justifyContent: 'center' }}&gt;&#10;    &lt;Text style={{ fontSize: 15.5, color: '#FFFFFF', fontWeight: '600' }}&gt;Two more from the pack: Suspend Restaurant (Administrator) and Close the Day (the 23:00 clock) — both goal level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3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4.1</a:t>
            </a:r>
            <a:endParaRPr/>
          </a:p>
        </p:txBody>
      </p:sp>
      <p:sp>
        <p:nvSpPr>
          <p:cNvPr id="63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90537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4.1 — Use Cases, Answered</a:t>
            </a:r>
            <a:endParaRPr/>
          </a:p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  <p:graphicFrame>
        <p:nvGraphicFramePr>
          <p:cNvPr id="636" name=""/>
          <p:cNvGraphicFramePr/>
          <p:nvPr/>
        </p:nvGraphicFramePr>
        <p:xfrm rot="0" flipH="0" flipV="0">
          <a:off x="381000" y="1247775"/>
          <a:ext cx="11430000" cy="5114925"/>
        </p:xfrm>
        <a:graphic>
          <a:graphicData uri="http://schemas.openxmlformats.org/drawingml/2006/table">
            <a:tbl>
              <a:tblGrid>
                <a:gridCol w="2361517">
                  <a:extLst>
                    <a:ext uri="{9D8B030D-6E8A-4147-A177-3AD203B41FA5}">
                      <a16:colId val="1"/>
                    </a:ext>
                  </a:extLst>
                </a:gridCol>
                <a:gridCol w="2057528">
                  <a:extLst>
                    <a:ext uri="{9D8B030D-6E8A-4147-A177-3AD203B41FA5}">
                      <a16:colId val="2"/>
                    </a:ext>
                  </a:extLst>
                </a:gridCol>
                <a:gridCol w="1497548">
                  <a:extLst>
                    <a:ext uri="{9D8B030D-6E8A-4147-A177-3AD203B41FA5}">
                      <a16:colId val="3"/>
                    </a:ext>
                  </a:extLst>
                </a:gridCol>
                <a:gridCol w="5513407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Candidate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Who wants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Goal level?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Why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Browse Menu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student can browse and leave. It ends, on its own.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Place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headline goal. Ends when the order is accepted.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Authenticate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Nobody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No — include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Nobody comes to log in. Place Order always includes it.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Calculate Total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Nobody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No — step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One line inside the scenario, not a goal of its own.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Pay for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Can happen on its own — pay a later order.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Manage Today’s Menu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Restaurant Manager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Ends when the kitchen sees a menu it can cook.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Receive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Kitchen Staff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kitchen has its own goal: see what to cook.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Dispatch Courier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Dispatcher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Ends when a rider accepts. Different actor, different goal.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Rate Restaurant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Optional, but a goal — and it can extend Confirm Delivery.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</a:tbl>
          </a:graphicData>
        </a:graphic>
      </p:graphicFrame>
      <p:sp>
        <p:nvSpPr>
          <p:cNvPr id="637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38" name="" descr="{&quot;isTemplate&quot;:true,&quot;type&quot;:&quot;text&quot;}"/>
          <p:cNvSpPr txBox="1"/>
          <p:nvPr/>
        </p:nvSpPr>
        <p:spPr>
          <a:xfrm rot="0" flipH="0" flipV="0">
            <a:off x="2019300" y="6553200"/>
            <a:ext cx="81534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Two more from the pack: Suspend Restaurant (Administrator) and Close the Day (the 23:00 clock) — both goal level.</a:t>
            </a:r>
            <a:endParaRPr/>
          </a:p>
        </p:txBody>
      </p:sp>
    </p:spTree>
  </p:cSld>
</p:sld>
</file>

<file path=ppt/slides/slide35.xml><?xml version="1.0" encoding="utf-8"?>
<p:sld xmlns:a="http://schemas.openxmlformats.org/drawingml/2006/main" xmlns:p="http://schemas.openxmlformats.org/presentationml/2006/main">
  <p:cSld>
    <p:spTree>
      <p:nvGrpSpPr>
        <p:cNvPr id="63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2&lt;/Text&gt;&#10;  &lt;/Box&gt;&#10;  &lt;Box style={{ padding: '14px 40px 0 40px', flexDirection: 'row', alignItems: 'center', justifyContent: 'space-between' }}&gt;&#10;    &lt;Text style={{ fontSize: 29, fontWeight: 'bold', color: '#0E3F8C' }}&gt;Exercise 4.2 — Draw the Diagram&lt;/Text&gt;&#10;    &lt;Text style={{ fontSize: 14, color: '#1E4FA8', fontWeight: 'bold' }}&gt;35 / 38&lt;/Text&gt;&#10;  &lt;/Box&gt;&#10;  &lt;Box style={{ flex: 1, padding: '12px 40px 0 40px', flexDirection: 'row', gap: 24 }}&gt;&#10;    &lt;Box style={{ flex: 5, flexDirection: 'column', gap: 12 }}&gt;&#10;      &lt;Box style={{ padding: '18px 18px', background: '#F0F5FC', borderRadius: 10, borderLeft: '4px solid #1E4FA8' }}&gt;&#10;        &lt;Text style={{ fontSize: 17, fontWeight: 'bold', color: '#0E3F8C' }}&gt;The task&lt;/Text&gt;&#10;        &lt;Text style={{ fontSize: 13.5, color: '#4A5568', lineHeight: 1.65, marginTop: 6 }}&gt;&#10;          Draw one use case diagram for CampusBites from the Exercise 4.1 narrative. Six to ten use cases, the actors you listed, one &lt;Text style={{ fontWeight: 'bold', color: '#0E3F8C' }}&gt;&amp;lt;&amp;lt;include&amp;gt;&amp;gt;&lt;/Text&gt; and one &lt;Text style={{ fontWeight: 'bold', color: '#0E3F8C' }}&gt;&amp;lt;&amp;lt;extend&amp;gt;&amp;gt;&lt;/Text&gt;. Put the external systems outside the boundary box.&#10;        &lt;/Text&gt;&#10;      &lt;/Box&gt;&#10;      &lt;Box style={{ padding: '16px 18px', background: '#FFFFFF', borderRadius: 10, border: '1px solid #D6DCE5' }}&gt;&#10;        &lt;Text style={{ fontSize: 15.5, fontWeight: 'bold', color: '#0E3F8C' }}&gt;For each dashed arrow, write one sentence&lt;/Text&gt;&#10;        &lt;Text style={{ fontSize: 13, color: '#4A5568', lineHeight: 1.6, marginTop: 5 }}&gt;&#10;          State in words what the relationship means and why the arrow points that way. A diagram without the sentence is a drawing; with it, it is a model.&#10;        &lt;/Text&gt;&#10;      &lt;/Box&gt;&#10;      &lt;Box style={{ padding: '16px 18px', background: '#F7F9FC', borderRadius: 10, border: '1px dashed #D6DCE5' }}&gt;&#10;        &lt;Text style={{ fontSize: 13, color: '#8B97A8', lineHeight: 1.6 }}&gt;&#10;          Deliverable: &lt;Text style={{ color: '#0E3F8C', fontWeight: 'bold' }}&gt;docs/diagrams/use-case-v1.drawio&lt;/Text&gt; plus an exported PNG, committed before you leave. Source file and picture — both, as agreed in Week 03.&#10;        &lt;/Text&gt;&#10;      &lt;/Box&gt;&#10;    &lt;/Box&gt;&#10;    &lt;Box style={{ flex: 4, flexDirection: 'column', justifyContent: 'center' }}&gt;&#10;      &lt;Box style={{ padding: '16px 18px', background: '#FFF6E0', borderRadius: 10, borderLeft: '4px solid #FFC107', marginBottom: 10 }}&gt;&#10;        &lt;Text style={{ fontSize: 16, fontWeight: 'bold', color: '#996F00' }}&gt;Self-check before you hand it in&lt;/Text&gt;&#10;      &lt;/Box&gt;&#10;      {[&#10;        'Every ellipse is named verb plus object, in business words',&#10;        'Every use case belongs to exactly one primary actor',&#10;        'The boundary box is drawn, and its name is at the top',&#10;        'External systems sit outside the box and are drawn as boxes',&#10;        'No “Manage X” and no create-read-update-delete quartet',&#10;        'The include arrow leaves the base and arrives at what it needs',&#10;        'The extend arrow comes back from the extra to the base',&#10;        'Each dashed arrow carries a condition or a reason in words',&#10;      ].map((t) =&gt; (&#10;        &lt;Box key={t} style={{ flexDirection: 'row', alignItems: 'flex-start', gap: 9, marginBottom: 7 }}&gt;&#10;          &lt;Box style={{ width: 13, height: 13, borderRadius: 7, borderWidth: 1.4, borderColor: '#1E4FA8', marginTop: 3 }} /&gt;&#10;          &lt;Box style={{ flex: 1 }}&gt;&#10;            &lt;Text style={{ fontSize: 12.5, color: '#1A2230', lineHeight: 1.5 }}&gt;{t}&lt;/Text&gt;&#10;          &lt;/Box&gt;&#10;        &lt;/Box&gt;&#10;      ))}&#10;    &lt;/Box&gt;&#10;  &lt;/Box&gt;&#10;  &lt;Box style={{ height: 46, background: '#0E3F8C', padding: '0 40px', flexDirection: 'row', alignItems: 'center', justifyContent: 'center' }}&gt;&#10;    &lt;Text style={{ fontSize: 16, color: '#FFFFFF', fontWeight: '600' }}&gt;Thirty minutes to draw, fifteen to defend it to the other team. Answers on the next pag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4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43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4.2</a:t>
            </a:r>
            <a:endParaRPr/>
          </a:p>
        </p:txBody>
      </p:sp>
      <p:sp>
        <p:nvSpPr>
          <p:cNvPr id="64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3815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4.2 — Draw the Diagram</a:t>
            </a:r>
            <a:endParaRPr/>
          </a:p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  <p:sp>
        <p:nvSpPr>
          <p:cNvPr id="646" name=""/>
          <p:cNvSpPr/>
          <p:nvPr/>
        </p:nvSpPr>
        <p:spPr>
          <a:xfrm rot="0" flipH="0" flipV="0">
            <a:off x="419100" y="1266825"/>
            <a:ext cx="6219825" cy="1371600"/>
          </a:xfrm>
          <a:prstGeom prst="roundRect">
            <a:avLst>
              <a:gd name="adj" fmla="val 694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47" name=""/>
          <p:cNvSpPr/>
          <p:nvPr/>
        </p:nvSpPr>
        <p:spPr>
          <a:xfrm rot="0" flipH="0" flipV="0">
            <a:off x="419100" y="1266825"/>
            <a:ext cx="6219825" cy="1371600"/>
          </a:xfrm>
          <a:custGeom>
            <a:pathLst>
              <a:path w="653" h="14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38"/>
                </a:lnTo>
                <a:cubicBezTo>
                  <a:pt x="4" y="141"/>
                  <a:pt x="6" y="143"/>
                  <a:pt x="9" y="144"/>
                </a:cubicBezTo>
                <a:cubicBezTo>
                  <a:pt x="4" y="143"/>
                  <a:pt x="0" y="139"/>
                  <a:pt x="0" y="13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8" name="" descr="{&quot;isTemplate&quot;:true,&quot;type&quot;:&quot;text&quot;}"/>
          <p:cNvSpPr txBox="1"/>
          <p:nvPr/>
        </p:nvSpPr>
        <p:spPr>
          <a:xfrm rot="0" flipH="0" flipV="0">
            <a:off x="590550" y="1438275"/>
            <a:ext cx="5838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The task</a:t>
            </a:r>
            <a:endParaRPr/>
          </a:p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590550" y="1695450"/>
            <a:ext cx="583882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Draw one use case diagram for CampusBites from the Exercise 4.1 narrative. Six to ten use cases, the actors you listed, one 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&lt;&lt;include&gt;&gt;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and one 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&lt;&lt;extend&gt;&gt;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. Put the external systems outside the boundary box.</a:t>
            </a:r>
            <a:endParaRPr/>
          </a:p>
        </p:txBody>
      </p:sp>
      <p:sp>
        <p:nvSpPr>
          <p:cNvPr id="650" name=""/>
          <p:cNvSpPr/>
          <p:nvPr/>
        </p:nvSpPr>
        <p:spPr>
          <a:xfrm rot="0" flipH="0" flipV="0">
            <a:off x="381000" y="2752725"/>
            <a:ext cx="6219825" cy="1009650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51" name="" descr="{&quot;isTemplate&quot;:true,&quot;type&quot;:&quot;text&quot;}"/>
          <p:cNvSpPr txBox="1"/>
          <p:nvPr/>
        </p:nvSpPr>
        <p:spPr>
          <a:xfrm rot="0" flipH="0" flipV="0">
            <a:off x="552450" y="2905125"/>
            <a:ext cx="58769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For each dashed arrow, write one sentence</a:t>
            </a:r>
            <a:endParaRPr/>
          </a:p>
        </p:txBody>
      </p:sp>
      <p:sp>
        <p:nvSpPr>
          <p:cNvPr id="652" name="" descr="{&quot;isTemplate&quot;:true,&quot;type&quot;:&quot;text&quot;}"/>
          <p:cNvSpPr txBox="1"/>
          <p:nvPr/>
        </p:nvSpPr>
        <p:spPr>
          <a:xfrm rot="0" flipH="0" flipV="0">
            <a:off x="552450" y="3133725"/>
            <a:ext cx="5876925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State in words what the relationship means and why the arrow points that way. A diagram without the sentence is a drawing; with it, it is a model.</a:t>
            </a:r>
            <a:endParaRPr/>
          </a:p>
        </p:txBody>
      </p:sp>
      <p:sp>
        <p:nvSpPr>
          <p:cNvPr id="653" name=""/>
          <p:cNvSpPr/>
          <p:nvPr/>
        </p:nvSpPr>
        <p:spPr>
          <a:xfrm rot="0" flipH="0" flipV="0">
            <a:off x="381000" y="3876675"/>
            <a:ext cx="6219825" cy="781050"/>
          </a:xfrm>
          <a:prstGeom prst="roundRect">
            <a:avLst>
              <a:gd name="adj" fmla="val 1219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552450" y="4029075"/>
            <a:ext cx="5876925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Deliverable: 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docs/diagrams/use-case-v1.drawio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 plus an exported PNG, committed before you leave. Source file and picture — both, as agreed in Week 03.</a:t>
            </a:r>
            <a:endParaRPr/>
          </a:p>
        </p:txBody>
      </p:sp>
      <p:sp>
        <p:nvSpPr>
          <p:cNvPr id="655" name=""/>
          <p:cNvSpPr/>
          <p:nvPr/>
        </p:nvSpPr>
        <p:spPr>
          <a:xfrm rot="0" flipH="0" flipV="0">
            <a:off x="6867525" y="2409825"/>
            <a:ext cx="4981575" cy="495300"/>
          </a:xfrm>
          <a:prstGeom prst="roundRect">
            <a:avLst>
              <a:gd name="adj" fmla="val 19231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656" name=""/>
          <p:cNvSpPr/>
          <p:nvPr/>
        </p:nvSpPr>
        <p:spPr>
          <a:xfrm rot="0" flipH="0" flipV="0">
            <a:off x="6867525" y="2409825"/>
            <a:ext cx="4981575" cy="495300"/>
          </a:xfrm>
          <a:custGeom>
            <a:pathLst>
              <a:path w="523" h="5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46"/>
                </a:lnTo>
                <a:cubicBezTo>
                  <a:pt x="4" y="49"/>
                  <a:pt x="6" y="51"/>
                  <a:pt x="9" y="52"/>
                </a:cubicBezTo>
                <a:cubicBezTo>
                  <a:pt x="4" y="51"/>
                  <a:pt x="0" y="47"/>
                  <a:pt x="0" y="4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657" name="" descr="{&quot;isTemplate&quot;:true,&quot;type&quot;:&quot;text&quot;}"/>
          <p:cNvSpPr txBox="1"/>
          <p:nvPr/>
        </p:nvSpPr>
        <p:spPr>
          <a:xfrm rot="0" flipH="0" flipV="0">
            <a:off x="7038975" y="2562225"/>
            <a:ext cx="46005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996F00"/>
                </a:solidFill>
                <a:latin typeface="Microsoft YaHei"/>
                <a:ea typeface="Microsoft YaHei"/>
              </a:rPr>
              <a:t>Self-check before you hand it in</a:t>
            </a:r>
            <a:endParaRPr/>
          </a:p>
        </p:txBody>
      </p:sp>
      <p:sp>
        <p:nvSpPr>
          <p:cNvPr id="658" name=""/>
          <p:cNvSpPr/>
          <p:nvPr/>
        </p:nvSpPr>
        <p:spPr>
          <a:xfrm rot="0" flipH="0" flipV="0">
            <a:off x="6829425" y="302895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7038975" y="300037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Every ellipse is named verb plus object, in business words</a:t>
            </a:r>
            <a:endParaRPr/>
          </a:p>
        </p:txBody>
      </p:sp>
      <p:sp>
        <p:nvSpPr>
          <p:cNvPr id="660" name=""/>
          <p:cNvSpPr/>
          <p:nvPr/>
        </p:nvSpPr>
        <p:spPr>
          <a:xfrm rot="0" flipH="0" flipV="0">
            <a:off x="6829425" y="331470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7038975" y="328612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Every use case belongs to exactly one primary actor</a:t>
            </a:r>
            <a:endParaRPr/>
          </a:p>
        </p:txBody>
      </p:sp>
      <p:sp>
        <p:nvSpPr>
          <p:cNvPr id="662" name=""/>
          <p:cNvSpPr/>
          <p:nvPr/>
        </p:nvSpPr>
        <p:spPr>
          <a:xfrm rot="0" flipH="0" flipV="0">
            <a:off x="6829425" y="360045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63" name="" descr="{&quot;isTemplate&quot;:true,&quot;type&quot;:&quot;text&quot;}"/>
          <p:cNvSpPr txBox="1"/>
          <p:nvPr/>
        </p:nvSpPr>
        <p:spPr>
          <a:xfrm rot="0" flipH="0" flipV="0">
            <a:off x="7038975" y="357187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The boundary box is drawn, and its name is at the top</a:t>
            </a:r>
            <a:endParaRPr/>
          </a:p>
        </p:txBody>
      </p:sp>
      <p:sp>
        <p:nvSpPr>
          <p:cNvPr id="664" name=""/>
          <p:cNvSpPr/>
          <p:nvPr/>
        </p:nvSpPr>
        <p:spPr>
          <a:xfrm rot="0" flipH="0" flipV="0">
            <a:off x="6829425" y="388620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7038975" y="385762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External systems sit outside the box and are drawn as boxes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6829425" y="417195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7038975" y="414337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No “Manage X” and no create-read-update-delete quartet</a:t>
            </a:r>
            <a:endParaRPr/>
          </a:p>
        </p:txBody>
      </p:sp>
      <p:sp>
        <p:nvSpPr>
          <p:cNvPr id="668" name=""/>
          <p:cNvSpPr/>
          <p:nvPr/>
        </p:nvSpPr>
        <p:spPr>
          <a:xfrm rot="0" flipH="0" flipV="0">
            <a:off x="6829425" y="445770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7038975" y="442912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The include arrow leaves the base and arrives at what it needs</a:t>
            </a:r>
            <a:endParaRPr/>
          </a:p>
        </p:txBody>
      </p:sp>
      <p:sp>
        <p:nvSpPr>
          <p:cNvPr id="670" name=""/>
          <p:cNvSpPr/>
          <p:nvPr/>
        </p:nvSpPr>
        <p:spPr>
          <a:xfrm rot="0" flipH="0" flipV="0">
            <a:off x="6829425" y="474345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7038975" y="471487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The extend arrow comes back from the extra to the base</a:t>
            </a:r>
            <a:endParaRPr/>
          </a:p>
        </p:txBody>
      </p:sp>
      <p:sp>
        <p:nvSpPr>
          <p:cNvPr id="672" name=""/>
          <p:cNvSpPr/>
          <p:nvPr/>
        </p:nvSpPr>
        <p:spPr>
          <a:xfrm rot="0" flipH="0" flipV="0">
            <a:off x="6829425" y="502920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7038975" y="500062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Each dashed arrow carries a condition or a reason in words</a:t>
            </a:r>
            <a:endParaRPr/>
          </a:p>
        </p:txBody>
      </p:sp>
      <p:sp>
        <p:nvSpPr>
          <p:cNvPr id="674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2933700" y="6543675"/>
            <a:ext cx="6334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Thirty minutes to draw, fifteen to defend it to the other team. Answers on the next page.</a:t>
            </a:r>
            <a:endParaRPr/>
          </a:p>
        </p:txBody>
      </p:sp>
    </p:spTree>
  </p:cSld>
</p:sld>
</file>

<file path=ppt/slides/slide3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7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2&lt;/Text&gt;&#10;  &lt;/Box&gt;&#10;  &lt;Box style={{ padding: '12px 40px 0 40px', flexDirection: 'row', alignItems: 'center', justifyContent: 'space-between' }}&gt;&#10;    &lt;Text style={{ fontSize: 29, fontWeight: 'bold', color: '#0E3F8C' }}&gt;Exercise 4.2 — Reference Solution&lt;/Text&gt;&#10;    &lt;Text style={{ fontSize: 14, color: '#1E4FA8', fontWeight: 'bold' }}&gt;36 / 38&lt;/Text&gt;&#10;  &lt;/Box&gt;&#10;  &lt;Box style={{ flex: 1, padding: '2px 40px 0 40px', justifyContent: 'center', alignItems: 'center' }}&gt;&#10;    &lt;svg width={1180} height={386} viewBox='0 0 1180 386'&gt;&#10;      &lt;text x='10' y='14' fill='#8B97A8' fontSize='12.5'&gt;One answer of several defensible ones — check the arrows before you copy the shapes&lt;/text&gt;&#10;&#10;      &lt;rect x='470' y='30' width='260' height='306' rx='6' fill='#FFFFFF' stroke='#1E4FA8' strokeWidth='2' /&gt;&#10;      &lt;text x='600' y='48' textAnchor='middle' fill='#0E3F8C' fontSize='12.5' fontWeight='bold'&gt;CampusBites&lt;/text&gt;&#10;&#10;      &lt;ellipse cx='600' cy='55' rx='112' ry='15' fill='#F0F5FC' stroke='#1E4FA8' strokeWidth='1.4' /&gt;&#10;      &lt;text x='600' y='59' textAnchor='middle' fill='#1A2230' fontSize='11.5'&gt;Browse Menu&lt;/text&gt;&#10;&#10;      &lt;ellipse cx='600' cy='86' rx='112' ry='15' fill='#FFFFFF' stroke='#3D7BD9' strokeWidth='1.4' /&gt;&#10;      &lt;text x='600' y='90' textAnchor='middle' fill='#1A2230' fontSize='11.5'&gt;Apply Coupon&lt;/text&gt;&#10;&#10;      &lt;ellipse cx='600' cy='117' rx='112' ry='15' fill='#F0F5FC' stroke='#1E4FA8' strokeWidth='1.6' /&gt;&#10;      &lt;text x='600' y='121' textAnchor='middle' fill='#1A2230' fontSize='11.5' fontWeight='bold'&gt;Place Order&lt;/text&gt;&#10;&#10;      &lt;ellipse cx='600' cy='148' rx='112' ry='15' fill='#FFFFFF' stroke='#1E4FA8' strokeWidth='1.4' /&gt;&#10;      &lt;text x='600' y='152' textAnchor='middle' fill='#1A2230' fontSize='11.5'&gt;Authenticate&lt;/text&gt;&#10;&#10;      &lt;ellipse cx='600' cy='179' rx='112' ry='15' fill='#F0F5FC' stroke='#1E4FA8' strokeWidth='1.4' /&gt;&#10;      &lt;text x='600' y='183' textAnchor='middle' fill='#1A2230' fontSize='11.5'&gt;Pay for Order&lt;/text&gt;&#10;&#10;      &lt;ellipse cx='600' cy='210' rx='112' ry='15' fill='#F0F5FC' stroke='#1E4FA8' strokeWidth='1.4' /&gt;&#10;      &lt;text x='600' y='214' textAnchor='middle' fill='#1A2230' fontSize='11.5'&gt;Rate Restaurant&lt;/text&gt;&#10;&#10;      &lt;ellipse cx='600' cy='241' rx='112' ry='15' fill='#F0F5FC' stroke='#1E4FA8' strokeWidth='1.4' /&gt;&#10;      &lt;text x='600' y='245' textAnchor='middle' fill='#1A2230' fontSize='11.5'&gt;Manage Today’s Menu&lt;/text&gt;&#10;&#10;      &lt;ellipse cx='600' cy='272' rx='112' ry='15' fill='#F0F5FC' stroke='#1E4FA8' strokeWidth='1.4' /&gt;&#10;      &lt;text x='600' y='276' textAnchor='middle' fill='#1A2230' fontSize='11.5'&gt;Receive Order&lt;/text&gt;&#10;&#10;      &lt;ellipse cx='600' cy='303' rx='112' ry='15' fill='#F0F5FC' stroke='#1E4FA8' strokeWidth='1.4' /&gt;&#10;      &lt;text x='600' y='307' textAnchor='middle' fill='#1A2230' fontSize='11.5'&gt;Dispatch Courier&lt;/text&gt;&#10;&#10;      &lt;line x1='600' y1='102' x2='600' y2='130' stroke='#1E4FA8' strokeWidth='1.6' strokeDasharray='6 4' /&gt;&#10;      &lt;polygon points='600,134 595,122 605,122' fill='#1E4FA8' /&gt;&#10;      &lt;text x='612' y='124' fill='#1E4FA8' fontSize='10.5' fontWeight='bold'&gt;«include»&lt;/text&gt;&#10;&#10;      &lt;line x1='588' y1='71' x2='588' y2='97' stroke='#3D7BD9' strokeWidth='1.6' strokeDasharray='6 4' /&gt;&#10;      &lt;polygon points='588,101 583,89 593,89' fill='#3D7BD9' /&gt;&#10;      &lt;text x='470' y='80' fill='#3D7BD9' fontSize='10.5' fontWeight='bold'&gt;«extend»&lt;/text&gt;&#10;&#10;      &lt;g transform='translate(20,44)'&gt;&#10;        &lt;circle cx='40' cy='0' r='9' fill='none' stroke='#0E3F8C' strokeWidth='2' /&gt;&#10;        &lt;line x1='40' y1='9' x2='40' y2='32' stroke='#0E3F8C' strokeWidth='2' /&gt;&#10;        &lt;line x1='40' y1='17' x2='28' y2='29' stroke='#0E3F8C' strokeWidth='2' /&gt;&#10;        &lt;line x1='40' y1='17' x2='52' y2='29' stroke='#0E3F8C' strokeWidth='2' /&gt;&#10;        &lt;line x1='40' y1='32' x2='29' y2='48' stroke='#0E3F8C' strokeWidth='2' /&gt;&#10;        &lt;line x1='40' y1='32' x2='51' y2='48' stroke='#0E3F8C' strokeWidth='2' /&gt;&#10;        &lt;text x='40' y='64' textAnchor='middle' fill='#0E3F8C' fontSize='12' fontWeight='bold'&gt;Student&lt;/text&gt;&#10;      &lt;/g&gt;&#10;      &lt;g transform='translate(20,148)'&gt;&#10;        &lt;circle cx='40' cy='0' r='9' fill='none' stroke='#0E3F8C' strokeWidth='2' /&gt;&#10;        &lt;line x1='40' y1='9' x2='40' y2='32' stroke='#0E3F8C' strokeWidth='2' /&gt;&#10;        &lt;line x1='40' y1='17' x2='28' y2='29' stroke='#0E3F8C' strokeWidth='2' /&gt;&#10;        &lt;line x1='40' y1='17' x2='52' y2='29' stroke='#0E3F8C' strokeWidth='2' /&gt;&#10;        &lt;line x1='40' y1='32' x2='29' y2='48' stroke='#0E3F8C' strokeWidth='2' /&gt;&#10;        &lt;line x1='40' y1='32' x2='51' y2='48' stroke='#0E3F8C' strokeWidth='2' /&gt;&#10;        &lt;text x='40' y='64' textAnchor='middle' fill='#0E3F8C' fontSize='11.5' fontWeight='bold'&gt;Restaurant&lt;/text&gt;&#10;        &lt;text x='40' y='78' textAnchor='middle' fill='#0E3F8C' fontSize='11.5' fontWeight='bold'&gt;Manager&lt;/text&gt;&#10;      &lt;/g&gt;&#10;      &lt;g transform='translate(20,250)'&gt;&#10;        &lt;circle cx='40' cy='0' r='9' fill='none' stroke='#0E3F8C' strokeWidth='2' /&gt;&#10;        &lt;line x1='40' y1='9' x2='40' y2='32' stroke='#0E3F8C' strokeWidth='2' /&gt;&#10;        &lt;line x1='40' y1='17' x2='28' y2='29' stroke='#0E3F8C' strokeWidth='2' /&gt;&#10;        &lt;line x1='40' y1='17' x2='52' y2='29' stroke='#0E3F8C' strokeWidth='2' /&gt;&#10;        &lt;line x1='40' y1='32' x2='29' y2='48' stroke='#0E3F8C' strokeWidth='2' /&gt;&#10;        &lt;line x1='40' y1='32' x2='51' y2='48' stroke='#0E3F8C' strokeWidth='2' /&gt;&#10;        &lt;text x='40' y='64' textAnchor='middle' fill='#0E3F8C' fontSize='11.5' fontWeight='bold'&gt;Kitchen&lt;/text&gt;&#10;        &lt;text x='40' y='78' textAnchor='middle' fill='#0E3F8C' fontSize='11.5' fontWeight='bold'&gt;Staff&lt;/text&gt;&#10;      &lt;/g&gt;&#10;&#10;      &lt;g transform='translate(770,44)'&gt;&#10;        &lt;circle cx='40' cy='0' r='9' fill='none' stroke='#0E3F8C' strokeWidth='2' /&gt;&#10;        &lt;line x1='40' y1='9' x2='40' y2='32' stroke='#0E3F8C' strokeWidth='2' /&gt;&#10;        &lt;line x1='40' y1='17' x2='28' y2='29' stroke='#0E3F8C' strokeWidth='2' /&gt;&#10;        &lt;line x1='40' y1='17' x2='52' y2='29' stroke='#0E3F8C' strokeWidth='2' /&gt;&#10;        &lt;line x1='40' y1='32' x2='29' y2='48' stroke='#0E3F8C' strokeWidth='2' /&gt;&#10;        &lt;line x1='40' y1='32' x2='51' y2='48' stroke='#0E3F8C' strokeWidth='2' /&gt;&#10;        &lt;text x='40' y='64' textAnchor='middle' fill='#0E3F8C' fontSize='11.5' fontWeight='bold'&gt;Dispatcher&lt;/text&gt;&#10;      &lt;/g&gt;&#10;      &lt;g transform='translate(770,148)'&gt;&#10;        &lt;circle cx='40' cy='0' r='9' fill='none' stroke='#0E3F8C' strokeWidth='2' /&gt;&#10;        &lt;line x1='40' y1='9' x2='40' y2='32' stroke='#0E3F8C' strokeWidth='2' /&gt;&#10;        &lt;line x1='40' y1='17' x2='28' y2='29' stroke='#0E3F8C' strokeWidth='2' /&gt;&#10;        &lt;line x1='40' y1='17' x2='52' y2='29' stroke='#0E3F8C' strokeWidth='2' /&gt;&#10;        &lt;line x1='40' y1='32' x2='29' y2='48' stroke='#0E3F8C' strokeWidth='2' /&gt;&#10;        &lt;line x1='40' y1='32' x2='51' y2='48' stroke='#0E3F8C' strokeWidth='2' /&gt;&#10;        &lt;text x='40' y='64' textAnchor='middle' fill='#0E3F8C' fontSize='11.5' fontWeight='bold'&gt;Courier&lt;/text&gt;&#10;      &lt;/g&gt;&#10;&#10;      &lt;g transform='translate(940,196)'&gt;&#10;        &lt;rect x='0' y='0' width='192' height='32' rx='4' fill='#F7F9FC' stroke='#8B97A8' strokeWidth='1.4' /&gt;&#10;        &lt;text x='96' y='21' textAnchor='middle' fill='#4A5568' fontSize='11.5' fontWeight='bold'&gt;Campus Card Centre&lt;/text&gt;&#10;      &lt;/g&gt;&#10;      &lt;g transform='translate(940,238)'&gt;&#10;        &lt;rect x='0' y='0' width='192' height='32' rx='4' fill='#F7F9FC' stroke='#8B97A8' strokeWidth='1.4' /&gt;&#10;        &lt;text x='96' y='21' textAnchor='middle' fill='#4A5568' fontSize='11.5' fontWeight='bold'&gt;Payment Provider&lt;/text&gt;&#10;      &lt;/g&gt;&#10;&#10;      &lt;line x1='72' y1='100' x2='488' y2='58' stroke='#1E4FA8' strokeWidth='1.2' /&gt;&#10;      &lt;line x1='72' y1='106' x2='488' y2='114' stroke='#1E4FA8' strokeWidth='1.2' /&gt;&#10;      &lt;line x1='72' y1='112' x2='488' y2='176' stroke='#1E4FA8' strokeWidth='1.2' /&gt;&#10;      &lt;line x1='72' y1='118' x2='488' y2='208' stroke='#1E4FA8' strokeWidth='1.2' /&gt;&#10;      &lt;line x1='72' y1='200' x2='488' y2='242' stroke='#1E4FA8' strokeWidth='1.2' /&gt;&#10;      &lt;line x1='72' y1='292' x2='488' y2='273' stroke='#1E4FA8' strokeWidth='1.2' /&gt;&#10;      &lt;line x1='790' y1='100' x2='712' y2='300' stroke='#1E4FA8' strokeWidth='1.2' /&gt;&#10;      &lt;line x1='790' y1='190' x2='712' y2='306' stroke='#1E4FA8' strokeWidth='1.2' /&gt;&#10;&#10;      &lt;line x1='712' y1='182' x2='938' y2='208' stroke='#8B97A8' strokeWidth='1.2' strokeDasharray='5 3' /&gt;&#10;      &lt;line x1='712' y1='188' x2='938' y2='250' stroke='#8B97A8' strokeWidth='1.2' strokeDasharray='5 3' /&gt;&#10;&#10;      &lt;text x='10' y='360' fill='#8B97A8' fontSize='11'&gt;Dashed include leaves Place Order and arrives at Authenticate. Dashed extend leaves Apply Coupon and returns to Place Order. Both arrows point the way the dependency runs.&lt;/text&gt;&#10;      &lt;text x='10' y='376' fill='#8B97A8' fontSize='11'&gt;External systems stay outside the box: we call the card centre and the provider; we do not design them.&lt;/text&gt;&#10;    &lt;/svg&gt;&#10;  &lt;/Box&gt;&#10;  &lt;Box style={{ height: 30, padding: '0 40px', flexDirection: 'row', alignItems: 'center', justifyContent: 'space-between' }}&gt;&#10;    &lt;Text style={{ fontSize: 12.5, color: '#8B97A8' }}&gt;ISAD · Fall 2026 · Your diagram may differ and still be right — but every difference needs a sentence&lt;/Text&gt;&#10;    &lt;Text style={{ fontSize: 14, color: '#1E4FA8', fontWeight: 'bold' }}&gt;3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7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4.2</a:t>
            </a:r>
            <a:endParaRPr/>
          </a:p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455295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4.2 — Reference Solution</a:t>
            </a:r>
            <a:endParaRPr/>
          </a:p>
        </p:txBody>
      </p:sp>
      <p:sp>
        <p:nvSpPr>
          <p:cNvPr id="682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  <p:pic>
        <p:nvPicPr>
          <p:cNvPr id="6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28825"/>
            <a:ext cx="11239500" cy="3676650"/>
          </a:xfrm>
          <a:prstGeom prst="rect">
            <a:avLst/>
          </a:prstGeom>
          <a:ln/>
        </p:spPr>
      </p:pic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381000" y="6648450"/>
            <a:ext cx="53149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ISAD · Fall 2026 · Your diagram may differ and still be right — but every difference needs a sentence</a:t>
            </a:r>
            <a:endParaRPr/>
          </a:p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11401425" y="66389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8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HOMEWORK &amp;amp; M1&lt;/Text&gt;&#10;  &lt;/Box&gt;&#10;  &lt;Box style={{ padding: '14px 40px 0 40px', flexDirection: 'row', alignItems: 'center', justifyContent: 'space-between' }}&gt;&#10;    &lt;Text style={{ fontSize: 29, fontWeight: 'bold', color: '#0E3F8C' }}&gt;Homework &amp;amp; Project M1&lt;/Text&gt;&#10;    &lt;Text style={{ fontSize: 14, color: '#1E4FA8', fontWeight: 'bold' }}&gt;37 / 38&lt;/Text&gt;&#10;  &lt;/Box&gt;&#10;  &lt;Box style={{ flex: 1, padding: '12px 40px 0 40px', flexDirection: 'row', gap: 20 }}&gt;&#10;    &lt;Box style={{ flex: 1, flexDirection: 'column', gap: 10 }}&gt;&#10;      &lt;Box style={{ flexDirection: 'row', alignItems: 'center', gap: 9, marginBottom: 2 }}&gt;&#10;        &lt;FAIcon name='pen-fancy' style={{ fill: '#1E4FA8', width: 18, height: 18 }} /&gt;&#10;        &lt;Text style={{ fontSize: 16.5, fontWeight: 'bold', color: '#0E3F8C' }}&gt;Before next Monday&lt;/Text&gt;&#10;      &lt;/Box&gt;&#10;      {[&#10;        'Finish the diagram — source file and PNG, in docs/diagrams/, pushed',&#10;        'Write two use case briefs: Place Order and one you choose',&#10;        'Read Larman Chapter 6 (use cases) — twenty pages, not all of it',&#10;        'Bring one question the narrative could not answer',&#10;      ].map((t) =&gt; (&#10;        &lt;Box key={t} style={{ flexDirection: 'row', alignItems: 'flex-start', gap: 9 }}&gt;&#10;          &lt;Box style={{ width: 13, height: 13, borderRadius: 7, borderWidth: 1.4, borderColor: '#1E4FA8', marginTop: 3 }} /&gt;&#10;          &lt;Box style={{ flex: 1 }}&gt;&#10;            &lt;Text style={{ fontSize: 13, color: '#1A2230', lineHeight: 1.55 }}&gt;{t}&lt;/Text&gt;&#10;          &lt;/Box&gt;&#10;        &lt;/Box&gt;&#10;      ))}&#10;      &lt;Box style={{ padding: '12px 14px', background: '#FFF6E0', borderRadius: 8, borderLeft: '3px solid #FFC107', marginTop: 4 }}&gt;&#10;        &lt;Text style={{ fontSize: 12.2, color: '#4A5568', lineHeight: 1.55 }}&gt;&#10;          A brief is half a page: the goal in one sentence, the primary actor, and the one thing that can go wrong. Full specifications are Week 05.&#10;        &lt;/Text&gt;&#10;      &lt;/Box&gt;&#10;    &lt;/Box&gt;&#10;    &lt;Box style={{ width: 20 }} /&gt;&#10;    &lt;Box style={{ flex: 1, flexDirection: 'column', gap: 10 }}&gt;&#10;      &lt;Box style={{ flexDirection: 'row', alignItems: 'center', gap: 9, marginBottom: 2 }}&gt;&#10;        &lt;FAIcon name='folder' style={{ fill: '#1E4FA8', width: 18, height: 18 }} /&gt;&#10;        &lt;Text style={{ fontSize: 16.5, fontWeight: 'bold', color: '#0E3F8C' }}&gt;Milestone M1 — due Sunday 4 October&lt;/Text&gt;&#10;      &lt;/Box&gt;&#10;      {[&#10;        'A requirements list: functional and non-functional, each testable',&#10;        'The use case diagram — source file, PNG, and one sentence per dashed arrow',&#10;        'Two use case briefs, written in your own words',&#10;      ].map((t) =&gt; (&#10;        &lt;Box key={t} style={{ padding: '13px 15px', background: '#F0F5FC', borderRadius: 8, borderLeft: '3px solid #1E4FA8' }}&gt;&#10;          &lt;Text style={{ fontSize: 13, color: '#1A2230', lineHeight: 1.55 }}&gt;{t}&lt;/Text&gt;&#10;        &lt;/Box&gt;&#10;      ))}&#10;      &lt;Box style={{ flexDirection: 'row', alignItems: 'center', gap: 9, marginTop: 6, marginBottom: 2 }}&gt;&#10;        &lt;FAIcon name='exclamation-triangle' style={{ fill: '#D9534F', width: 17, height: 17 }} /&gt;&#10;        &lt;Text style={{ fontSize: 16.5, fontWeight: 'bold', color: '#D9534F' }}&gt;How it is submitted&lt;/Text&gt;&#10;      &lt;/Box&gt;&#10;      &lt;Box style={{ padding: '14px 16px', background: '#FDF3F3', borderRadius: 9, border: '1px solid #D9534F' }}&gt;&#10;        &lt;Text style={{ fontSize: 13, color: '#1A2230', lineHeight: 1.6 }}&gt;&#10;          Push to GitHub, then tag it &lt;Text style={{ fontWeight: 'bold', color: '#D9534F' }}&gt;m1&lt;/Text&gt;. A push without a tag is not a submission — the tag is the snapshot that gets graded.&#10;        &lt;/Text&gt;&#10;        &lt;Text style={{ fontSize: 12, color: '#8B97A8', lineHeight: 1.55, marginTop: 6 }}&gt;&#10;          git tag -a m1 -m &quot;M1: requirements, use case diagram, two briefs&quot; &amp;amp;&amp;amp; git push origin m1&#10;        &lt;/Text&gt;&#10;        &lt;Text style={{ fontSize: 12, color: '#8B97A8', lineHeight: 1.55, marginTop: 4 }}&gt;&#10;          Check it landed: git ls-remote --tags origin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Four weeks to M1. The diagram is due next week; the briefs and the requirements list follow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10134600" y="257175"/>
            <a:ext cx="1676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HOMEWORK &amp; M1</a:t>
            </a:r>
            <a:endParaRPr/>
          </a:p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1623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Homework &amp; Project M1</a:t>
            </a:r>
            <a:endParaRPr/>
          </a:p>
        </p:txBody>
      </p:sp>
      <p:sp>
        <p:nvSpPr>
          <p:cNvPr id="692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  <p:pic>
        <p:nvPicPr>
          <p:cNvPr id="6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276350"/>
            <a:ext cx="171450" cy="171450"/>
          </a:xfrm>
          <a:prstGeom prst="rect">
            <a:avLst/>
          </a:prstGeom>
          <a:ln/>
        </p:spPr>
      </p:pic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638175" y="1266825"/>
            <a:ext cx="1504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Before next Monday</a:t>
            </a:r>
            <a:endParaRPr/>
          </a:p>
        </p:txBody>
      </p:sp>
      <p:sp>
        <p:nvSpPr>
          <p:cNvPr id="695" name=""/>
          <p:cNvSpPr/>
          <p:nvPr/>
        </p:nvSpPr>
        <p:spPr>
          <a:xfrm rot="0" flipH="0" flipV="0">
            <a:off x="381000" y="160020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590550" y="1571625"/>
            <a:ext cx="52197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Finish the diagram — source file and PNG, in docs/diagrams/, pushed</a:t>
            </a:r>
            <a:endParaRPr/>
          </a:p>
        </p:txBody>
      </p:sp>
      <p:sp>
        <p:nvSpPr>
          <p:cNvPr id="697" name=""/>
          <p:cNvSpPr/>
          <p:nvPr/>
        </p:nvSpPr>
        <p:spPr>
          <a:xfrm rot="0" flipH="0" flipV="0">
            <a:off x="381000" y="1933575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590550" y="1905000"/>
            <a:ext cx="52197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Write two use case briefs: Place Order and one you choose</a:t>
            </a:r>
            <a:endParaRPr/>
          </a:p>
        </p:txBody>
      </p:sp>
      <p:sp>
        <p:nvSpPr>
          <p:cNvPr id="699" name=""/>
          <p:cNvSpPr/>
          <p:nvPr/>
        </p:nvSpPr>
        <p:spPr>
          <a:xfrm rot="0" flipH="0" flipV="0">
            <a:off x="381000" y="226695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700" name="" descr="{&quot;isTemplate&quot;:true,&quot;type&quot;:&quot;text&quot;}"/>
          <p:cNvSpPr txBox="1"/>
          <p:nvPr/>
        </p:nvSpPr>
        <p:spPr>
          <a:xfrm rot="0" flipH="0" flipV="0">
            <a:off x="590550" y="2238375"/>
            <a:ext cx="52197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Read Larman Chapter 6 (use cases) — twenty pages, not all of it</a:t>
            </a:r>
            <a:endParaRPr/>
          </a:p>
        </p:txBody>
      </p:sp>
      <p:sp>
        <p:nvSpPr>
          <p:cNvPr id="701" name=""/>
          <p:cNvSpPr/>
          <p:nvPr/>
        </p:nvSpPr>
        <p:spPr>
          <a:xfrm rot="0" flipH="0" flipV="0">
            <a:off x="381000" y="2600325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702" name="" descr="{&quot;isTemplate&quot;:true,&quot;type&quot;:&quot;text&quot;}"/>
          <p:cNvSpPr txBox="1"/>
          <p:nvPr/>
        </p:nvSpPr>
        <p:spPr>
          <a:xfrm rot="0" flipH="0" flipV="0">
            <a:off x="590550" y="2571750"/>
            <a:ext cx="52197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Bring one question the narrative could not answer</a:t>
            </a:r>
            <a:endParaRPr/>
          </a:p>
        </p:txBody>
      </p:sp>
      <p:sp>
        <p:nvSpPr>
          <p:cNvPr id="703" name=""/>
          <p:cNvSpPr/>
          <p:nvPr/>
        </p:nvSpPr>
        <p:spPr>
          <a:xfrm rot="0" flipH="0" flipV="0">
            <a:off x="409575" y="2943225"/>
            <a:ext cx="5429250" cy="66675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704" name=""/>
          <p:cNvSpPr/>
          <p:nvPr/>
        </p:nvSpPr>
        <p:spPr>
          <a:xfrm rot="0" flipH="0" flipV="0">
            <a:off x="409575" y="2943225"/>
            <a:ext cx="5429250" cy="666750"/>
          </a:xfrm>
          <a:custGeom>
            <a:pathLst>
              <a:path w="570" h="7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5"/>
                </a:lnTo>
                <a:cubicBezTo>
                  <a:pt x="3" y="67"/>
                  <a:pt x="5" y="69"/>
                  <a:pt x="7" y="70"/>
                </a:cubicBezTo>
                <a:cubicBezTo>
                  <a:pt x="3" y="69"/>
                  <a:pt x="0" y="66"/>
                  <a:pt x="0" y="6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542925" y="3057525"/>
            <a:ext cx="51339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15">
                <a:solidFill>
                  <a:srgbClr val="4A5568"/>
                </a:solidFill>
                <a:latin typeface="Microsoft YaHei"/>
                <a:ea typeface="Microsoft YaHei"/>
              </a:rPr>
              <a:t>A brief is half a page: the goal in one sentence, the primary actor, and the one thing that can go wrong. Full specifications are Week 05.</a:t>
            </a:r>
            <a:endParaRPr/>
          </a:p>
        </p:txBody>
      </p:sp>
      <p:pic>
        <p:nvPicPr>
          <p:cNvPr id="7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381750" y="1276350"/>
            <a:ext cx="171450" cy="171450"/>
          </a:xfrm>
          <a:prstGeom prst="rect">
            <a:avLst/>
          </a:prstGeom>
          <a:ln/>
        </p:spPr>
      </p:pic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6638925" y="1266825"/>
            <a:ext cx="2905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Milestone M1 — due Sunday 4 October</a:t>
            </a:r>
            <a:endParaRPr/>
          </a:p>
        </p:txBody>
      </p:sp>
      <p:sp>
        <p:nvSpPr>
          <p:cNvPr id="708" name=""/>
          <p:cNvSpPr/>
          <p:nvPr/>
        </p:nvSpPr>
        <p:spPr>
          <a:xfrm rot="0" flipH="0" flipV="0">
            <a:off x="6410325" y="1571625"/>
            <a:ext cx="5429250" cy="485775"/>
          </a:xfrm>
          <a:prstGeom prst="roundRect">
            <a:avLst>
              <a:gd name="adj" fmla="val 1568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09" name=""/>
          <p:cNvSpPr/>
          <p:nvPr/>
        </p:nvSpPr>
        <p:spPr>
          <a:xfrm rot="0" flipH="0" flipV="0">
            <a:off x="6410325" y="1571625"/>
            <a:ext cx="5429250" cy="485775"/>
          </a:xfrm>
          <a:custGeom>
            <a:pathLst>
              <a:path w="570" h="5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46"/>
                </a:lnTo>
                <a:cubicBezTo>
                  <a:pt x="3" y="48"/>
                  <a:pt x="5" y="50"/>
                  <a:pt x="7" y="51"/>
                </a:cubicBezTo>
                <a:cubicBezTo>
                  <a:pt x="3" y="50"/>
                  <a:pt x="0" y="47"/>
                  <a:pt x="0" y="4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6553200" y="1695450"/>
            <a:ext cx="5114925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A requirements list: functional and non-functional, each testable</a:t>
            </a:r>
            <a:endParaRPr/>
          </a:p>
        </p:txBody>
      </p:sp>
      <p:sp>
        <p:nvSpPr>
          <p:cNvPr id="711" name=""/>
          <p:cNvSpPr/>
          <p:nvPr/>
        </p:nvSpPr>
        <p:spPr>
          <a:xfrm rot="0" flipH="0" flipV="0">
            <a:off x="6410325" y="2152650"/>
            <a:ext cx="5429250" cy="485775"/>
          </a:xfrm>
          <a:prstGeom prst="roundRect">
            <a:avLst>
              <a:gd name="adj" fmla="val 1568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12" name=""/>
          <p:cNvSpPr/>
          <p:nvPr/>
        </p:nvSpPr>
        <p:spPr>
          <a:xfrm rot="0" flipH="0" flipV="0">
            <a:off x="6410325" y="2152650"/>
            <a:ext cx="5429250" cy="485775"/>
          </a:xfrm>
          <a:custGeom>
            <a:pathLst>
              <a:path w="570" h="5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46"/>
                </a:lnTo>
                <a:cubicBezTo>
                  <a:pt x="3" y="48"/>
                  <a:pt x="5" y="50"/>
                  <a:pt x="7" y="51"/>
                </a:cubicBezTo>
                <a:cubicBezTo>
                  <a:pt x="3" y="50"/>
                  <a:pt x="0" y="47"/>
                  <a:pt x="0" y="4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6553200" y="2276475"/>
            <a:ext cx="5114925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The use case diagram — source file, PNG, and one sentence per dashed arrow</a:t>
            </a:r>
            <a:endParaRPr/>
          </a:p>
        </p:txBody>
      </p:sp>
      <p:sp>
        <p:nvSpPr>
          <p:cNvPr id="714" name=""/>
          <p:cNvSpPr/>
          <p:nvPr/>
        </p:nvSpPr>
        <p:spPr>
          <a:xfrm rot="0" flipH="0" flipV="0">
            <a:off x="6410325" y="2733675"/>
            <a:ext cx="5429250" cy="485775"/>
          </a:xfrm>
          <a:prstGeom prst="roundRect">
            <a:avLst>
              <a:gd name="adj" fmla="val 1568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15" name=""/>
          <p:cNvSpPr/>
          <p:nvPr/>
        </p:nvSpPr>
        <p:spPr>
          <a:xfrm rot="0" flipH="0" flipV="0">
            <a:off x="6410325" y="2733675"/>
            <a:ext cx="5429250" cy="485775"/>
          </a:xfrm>
          <a:custGeom>
            <a:pathLst>
              <a:path w="570" h="5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46"/>
                </a:lnTo>
                <a:cubicBezTo>
                  <a:pt x="3" y="48"/>
                  <a:pt x="5" y="50"/>
                  <a:pt x="7" y="51"/>
                </a:cubicBezTo>
                <a:cubicBezTo>
                  <a:pt x="3" y="50"/>
                  <a:pt x="0" y="47"/>
                  <a:pt x="0" y="4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6553200" y="2857500"/>
            <a:ext cx="5114925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Two use case briefs, written in your own words</a:t>
            </a:r>
            <a:endParaRPr/>
          </a:p>
        </p:txBody>
      </p:sp>
      <p:pic>
        <p:nvPicPr>
          <p:cNvPr id="7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381750" y="3390900"/>
            <a:ext cx="161925" cy="161925"/>
          </a:xfrm>
          <a:prstGeom prst="rect">
            <a:avLst/>
          </a:prstGeom>
          <a:ln/>
        </p:spPr>
      </p:pic>
      <p:sp>
        <p:nvSpPr>
          <p:cNvPr id="718" name="" descr="{&quot;isTemplate&quot;:true,&quot;type&quot;:&quot;text&quot;}"/>
          <p:cNvSpPr txBox="1"/>
          <p:nvPr/>
        </p:nvSpPr>
        <p:spPr>
          <a:xfrm rot="0" flipH="0" flipV="0">
            <a:off x="6629400" y="3371850"/>
            <a:ext cx="1447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D9534F"/>
                </a:solidFill>
                <a:latin typeface="Microsoft YaHei"/>
                <a:ea typeface="Microsoft YaHei"/>
              </a:rPr>
              <a:t>How it is submitted</a:t>
            </a:r>
            <a:endParaRPr/>
          </a:p>
        </p:txBody>
      </p:sp>
      <p:sp>
        <p:nvSpPr>
          <p:cNvPr id="719" name=""/>
          <p:cNvSpPr/>
          <p:nvPr/>
        </p:nvSpPr>
        <p:spPr>
          <a:xfrm rot="0" flipH="0" flipV="0">
            <a:off x="6381750" y="3676650"/>
            <a:ext cx="5429250" cy="1276350"/>
          </a:xfrm>
          <a:prstGeom prst="roundRect">
            <a:avLst>
              <a:gd name="adj" fmla="val 6716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6534150" y="3810000"/>
            <a:ext cx="51244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Push to GitHub, then tag it </a:t>
            </a: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m1</a:t>
            </a: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. A push without a tag is not a submission — the tag is the snapshot that gets graded.</a:t>
            </a:r>
            <a:endParaRPr/>
          </a:p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6534150" y="4343400"/>
            <a:ext cx="5124450" cy="2190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git tag -a m1 -m "M1: requirements, use case diagram, two briefs" &amp;&amp; git push origin m1</a:t>
            </a:r>
            <a:endParaRPr/>
          </a:p>
        </p:txBody>
      </p:sp>
      <p:sp>
        <p:nvSpPr>
          <p:cNvPr id="722" name="" descr="{&quot;isTemplate&quot;:true,&quot;type&quot;:&quot;text&quot;}"/>
          <p:cNvSpPr txBox="1"/>
          <p:nvPr/>
        </p:nvSpPr>
        <p:spPr>
          <a:xfrm rot="0" flipH="0" flipV="0">
            <a:off x="6534150" y="4600575"/>
            <a:ext cx="5124450" cy="2190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Check it landed: git ls-remote --tags origin</a:t>
            </a:r>
            <a:endParaRPr/>
          </a:p>
        </p:txBody>
      </p:sp>
      <p:sp>
        <p:nvSpPr>
          <p:cNvPr id="723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2762250" y="6543675"/>
            <a:ext cx="6677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Four weeks to M1. The diagram is due next week; the briefs and the requirements list follow.</a:t>
            </a:r>
            <a:endParaRPr/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725" name="" descr="&lt;Slide style={{ background: '#0E3F8C', padding: 0 }}&gt;&#10;  &lt;Box style={{ flexDirection: 'column', height: '100%', position: 'relative', padding: '0 80px', justifyContent: 'center' }}&gt;&#10;    &lt;Box style={{ position: 'absolute', top: 0, left: 0, right: 0, height: 8, background: '#1E4FA8' }} /&gt;&#10;    &lt;Text style={{ fontSize: 15, color: '#7FA2D6', letterSpacing: 2, marginBottom: 16 }}&gt;WEEK 04 · WHAT YOU TAKE AWAY&lt;/Text&gt;&#10;    &lt;Text style={{ fontSize: 44, fontWeight: 'bold', color: '#FFFFFF', fontFamily: 'Georgia, serif', lineHeight: 1.15 }}&gt;&#10;      Goals first.&#10;      &lt;br /&gt;&#10;      Notation second.&#10;    &lt;/Text&gt;&#10;    &lt;Box style={{ width: 88, height: 5, background: '#FFC107', marginTop: 24, marginBottom: 26 }} /&gt;&#10;    &lt;Box style={{ flexDirection: 'row', flexWrap: 'wrap', gap: '12px 28px', marginBottom: 30 }}&gt;&#10;      {[&#10;        '01 · Functional says what, non-functional says how well',&#10;        '02 · An actor is a role; a use case is a goal',&#10;        '03 · Six symbols, and the boundary is one of them',&#10;        '04 · include is inevitable, extend is conditional',&#10;        '05 · Events and the noun-verb scan find the goals',&#10;        '06 · M1 opened today — tag it m1 by 4 October',&#10;      ].map((t) =&gt; (&#10;        &lt;Box key={t} style={{ flexDirection: 'row', alignItems: 'center', gap: 10, width: '48%' }}&gt;&#10;          &lt;Box style={{ width: 7, height: 7, borderRadius: 4, background: '#3D7BD9' }} /&gt;&#10;          &lt;Text style={{ fontSize: 15.5, color: '#C5D4EA' }}&gt;{t}&lt;/Text&gt;&#10;        &lt;/Box&gt;&#10;      ))}&#10;    &lt;/Box&gt;&#10;    &lt;Box style={{ borderTop: '1px solid #2B5793', paddingTop: 20, flexDirection: 'row', justifyContent: 'space-between', alignItems: 'center' }}&gt;&#10;      &lt;Box style={{ flex: 1 }}&gt;&#10;        &lt;Text style={{ fontSize: 14, color: '#7FA2D6', letterSpacing: 1, marginBottom: 6 }}&gt;NEXT WEEK — W05&lt;/Text&gt;&#10;        &lt;Text style={{ fontSize: 19, color: '#FFFFFF', fontWeight: '600' }}&gt;&#10;          Writing the Use Case — and reviewing the other team as their client&#10;        &lt;/Text&gt;&#10;      &lt;/Box&gt;&#10;      &lt;Box style={{ padding: '10px 22px', background: '#1E4FA8', borderRadius: 22 }}&gt;&#10;        &lt;Text style={{ fontSize: 15, color: '#FFFFFF', fontWeight: 'bold' }}&gt;Questions?&lt;/Text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762000" y="1581150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04 · WHAT YOU TAKE AWAY</a:t>
            </a:r>
            <a:endParaRPr/>
          </a:p>
        </p:txBody>
      </p:sp>
      <p:sp>
        <p:nvSpPr>
          <p:cNvPr id="728" name="" descr="{&quot;isTemplate&quot;:true,&quot;type&quot;:&quot;text&quot;}"/>
          <p:cNvSpPr txBox="1"/>
          <p:nvPr/>
        </p:nvSpPr>
        <p:spPr>
          <a:xfrm rot="0" flipH="0" flipV="0">
            <a:off x="762000" y="1905000"/>
            <a:ext cx="10668000" cy="11620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300" b="1">
                <a:solidFill>
                  <a:srgbClr val="FFFFFF"/>
                </a:solidFill>
                <a:latin typeface="Georgia"/>
                <a:ea typeface="Georgia"/>
              </a:rPr>
              <a:t>Goals first.</a:t>
            </a:r>
            <a:endParaRPr/>
          </a:p>
          <a:p>
            <a:pPr>
              <a:lnSpc>
                <a:spcPct val="114999"/>
              </a:lnSpc>
            </a:pPr>
            <a:r>
              <a:rPr lang="en-US" sz="3300" b="1">
                <a:solidFill>
                  <a:srgbClr val="FFFFFF"/>
                </a:solidFill>
                <a:latin typeface="Georgia"/>
                <a:ea typeface="Georgia"/>
              </a:rPr>
              <a:t>Notation second.</a:t>
            </a:r>
            <a:endParaRPr/>
          </a:p>
        </p:txBody>
      </p:sp>
      <p:sp>
        <p:nvSpPr>
          <p:cNvPr id="729" name=""/>
          <p:cNvSpPr/>
          <p:nvPr/>
        </p:nvSpPr>
        <p:spPr>
          <a:xfrm rot="0" flipH="0" flipV="0">
            <a:off x="762000" y="329565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30" name=""/>
          <p:cNvSpPr/>
          <p:nvPr/>
        </p:nvSpPr>
        <p:spPr>
          <a:xfrm rot="0" flipH="0" flipV="0">
            <a:off x="762000" y="3648075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923925" y="3590925"/>
            <a:ext cx="36385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01 · Functional says what, non-functional says how well</a:t>
            </a:r>
            <a:endParaRPr/>
          </a:p>
        </p:txBody>
      </p:sp>
      <p:sp>
        <p:nvSpPr>
          <p:cNvPr id="732" name=""/>
          <p:cNvSpPr/>
          <p:nvPr/>
        </p:nvSpPr>
        <p:spPr>
          <a:xfrm rot="0" flipH="0" flipV="0">
            <a:off x="6000750" y="3648075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6162675" y="3590925"/>
            <a:ext cx="27908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02 · An actor is a role; a use case is a goal</a:t>
            </a:r>
            <a:endParaRPr/>
          </a:p>
        </p:txBody>
      </p:sp>
      <p:sp>
        <p:nvSpPr>
          <p:cNvPr id="734" name=""/>
          <p:cNvSpPr/>
          <p:nvPr/>
        </p:nvSpPr>
        <p:spPr>
          <a:xfrm rot="0" flipH="0" flipV="0">
            <a:off x="762000" y="3943350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35" name="" descr="{&quot;isTemplate&quot;:true,&quot;type&quot;:&quot;text&quot;}"/>
          <p:cNvSpPr txBox="1"/>
          <p:nvPr/>
        </p:nvSpPr>
        <p:spPr>
          <a:xfrm rot="0" flipH="0" flipV="0">
            <a:off x="923925" y="3886200"/>
            <a:ext cx="32861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03 · Six symbols, and the boundary is one of them</a:t>
            </a:r>
            <a:endParaRPr/>
          </a:p>
        </p:txBody>
      </p:sp>
      <p:sp>
        <p:nvSpPr>
          <p:cNvPr id="736" name=""/>
          <p:cNvSpPr/>
          <p:nvPr/>
        </p:nvSpPr>
        <p:spPr>
          <a:xfrm rot="0" flipH="0" flipV="0">
            <a:off x="6000750" y="3943350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37" name="" descr="{&quot;isTemplate&quot;:true,&quot;type&quot;:&quot;text&quot;}"/>
          <p:cNvSpPr txBox="1"/>
          <p:nvPr/>
        </p:nvSpPr>
        <p:spPr>
          <a:xfrm rot="0" flipH="0" flipV="0">
            <a:off x="6162675" y="3886200"/>
            <a:ext cx="30003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04 · include is inevitable, extend is conditional</a:t>
            </a:r>
            <a:endParaRPr/>
          </a:p>
        </p:txBody>
      </p:sp>
      <p:sp>
        <p:nvSpPr>
          <p:cNvPr id="738" name=""/>
          <p:cNvSpPr/>
          <p:nvPr/>
        </p:nvSpPr>
        <p:spPr>
          <a:xfrm rot="0" flipH="0" flipV="0">
            <a:off x="762000" y="4238625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923925" y="4181475"/>
            <a:ext cx="32670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05 · Events and the noun-verb scan find the goals</a:t>
            </a:r>
            <a:endParaRPr/>
          </a:p>
        </p:txBody>
      </p:sp>
      <p:sp>
        <p:nvSpPr>
          <p:cNvPr id="740" name=""/>
          <p:cNvSpPr/>
          <p:nvPr/>
        </p:nvSpPr>
        <p:spPr>
          <a:xfrm rot="0" flipH="0" flipV="0">
            <a:off x="6000750" y="4238625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6162675" y="4181475"/>
            <a:ext cx="31242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06 · M1 opened today — tag it m1 by 4 October</a:t>
            </a:r>
            <a:endParaRPr/>
          </a:p>
        </p:txBody>
      </p:sp>
      <p:sp>
        <p:nvSpPr>
          <p:cNvPr id="742" name=""/>
          <p:cNvSpPr/>
          <p:nvPr/>
        </p:nvSpPr>
        <p:spPr>
          <a:xfrm rot="0" flipH="0" flipV="0">
            <a:off x="762000" y="4648200"/>
            <a:ext cx="10668000" cy="647700"/>
          </a:xfrm>
          <a:custGeom>
            <a:pathLst>
              <a:path w="1120" h="68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3" name="" descr="{&quot;isTemplate&quot;:true,&quot;type&quot;:&quot;text&quot;}"/>
          <p:cNvSpPr txBox="1"/>
          <p:nvPr/>
        </p:nvSpPr>
        <p:spPr>
          <a:xfrm rot="0" flipH="0" flipV="0">
            <a:off x="762000" y="4848225"/>
            <a:ext cx="9458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7FA2D6"/>
                </a:solidFill>
                <a:latin typeface="Microsoft YaHei"/>
                <a:ea typeface="Microsoft YaHei"/>
              </a:rPr>
              <a:t>NEXT WEEK — W05</a:t>
            </a:r>
            <a:endParaRPr/>
          </a:p>
        </p:txBody>
      </p:sp>
      <p:sp>
        <p:nvSpPr>
          <p:cNvPr id="744" name="" descr="{&quot;isTemplate&quot;:true,&quot;type&quot;:&quot;text&quot;}"/>
          <p:cNvSpPr txBox="1"/>
          <p:nvPr/>
        </p:nvSpPr>
        <p:spPr>
          <a:xfrm rot="0" flipH="0" flipV="0">
            <a:off x="762000" y="5067300"/>
            <a:ext cx="9458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Writing the Use Case — and reviewing the other team as their client</a:t>
            </a:r>
            <a:endParaRPr/>
          </a:p>
        </p:txBody>
      </p:sp>
      <p:sp>
        <p:nvSpPr>
          <p:cNvPr id="745" name=""/>
          <p:cNvSpPr/>
          <p:nvPr/>
        </p:nvSpPr>
        <p:spPr>
          <a:xfrm rot="0" flipH="0" flipV="0">
            <a:off x="10220325" y="4886325"/>
            <a:ext cx="1209675" cy="361950"/>
          </a:xfrm>
          <a:prstGeom prst="roundRect">
            <a:avLst>
              <a:gd name="adj" fmla="val 5789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10429875" y="4981575"/>
            <a:ext cx="790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Questions?</a:t>
            </a:r>
            <a:endParaRPr/>
          </a:p>
        </p:txBody>
      </p:sp>
      <p:sp>
        <p:nvSpPr>
          <p:cNvPr id="747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2026-09-04T16:40:26Z</dcterms:created>
  <dcterms:modified xsi:type="dcterms:W3CDTF">2026-09-04T16:40:26Z</dcterms:modified>
</cp:coreProperties>
</file>
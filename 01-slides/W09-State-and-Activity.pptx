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  <Override PartName="/ppt/slides/slide38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slides/slide2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3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2" Type="http://schemas.openxmlformats.org/officeDocument/2006/relationships/viewProps" Target="viewProps.xml" /><Relationship Id="rId41" Type="http://schemas.openxmlformats.org/officeDocument/2006/relationships/tableStyles" Target="tableStyles.xml" /><Relationship Id="rId40" Type="http://schemas.openxmlformats.org/officeDocument/2006/relationships/presProps" Target="presProps.xml" /><Relationship Id="rId4" Type="http://schemas.openxmlformats.org/officeDocument/2006/relationships/slide" Target="slides/slide4.xml" /><Relationship Id="rId39" Type="http://schemas.openxmlformats.org/officeDocument/2006/relationships/notesMaster" Target="notesMasters/notesMaster1.xml" /><Relationship Id="rId38" Type="http://schemas.openxmlformats.org/officeDocument/2006/relationships/slide" Target="slides/slide38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3" Type="http://schemas.openxmlformats.org/officeDocument/2006/relationships/slide" Target="slides/slide3.xml" /><Relationship Id="rId28" Type="http://schemas.openxmlformats.org/officeDocument/2006/relationships/slide" Target="slides/slide28.xml" /><Relationship Id="rId25" Type="http://schemas.openxmlformats.org/officeDocument/2006/relationships/slide" Target="slides/slide25.xml" /><Relationship Id="rId29" Type="http://schemas.openxmlformats.org/officeDocument/2006/relationships/slide" Target="slides/slide29.xml" /><Relationship Id="rId22" Type="http://schemas.openxmlformats.org/officeDocument/2006/relationships/slide" Target="slides/slide22.xml" /><Relationship Id="rId21" Type="http://schemas.openxmlformats.org/officeDocument/2006/relationships/slide" Target="slides/slide21.xml" /><Relationship Id="rId35" Type="http://schemas.openxmlformats.org/officeDocument/2006/relationships/slide" Target="slides/slide35.xml" /><Relationship Id="rId34" Type="http://schemas.openxmlformats.org/officeDocument/2006/relationships/slide" Target="slides/slide34.xml" /><Relationship Id="rId33" Type="http://schemas.openxmlformats.org/officeDocument/2006/relationships/slide" Target="slides/slide33.xml" /><Relationship Id="rId32" Type="http://schemas.openxmlformats.org/officeDocument/2006/relationships/slide" Target="slides/slide32.xml" /><Relationship Id="rId2" Type="http://schemas.openxmlformats.org/officeDocument/2006/relationships/slide" Target="slides/slide2.xml" /><Relationship Id="rId26" Type="http://schemas.openxmlformats.org/officeDocument/2006/relationships/slide" Target="slides/slide26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31" Type="http://schemas.openxmlformats.org/officeDocument/2006/relationships/slide" Target="slides/slide31.xml" /><Relationship Id="rId30" Type="http://schemas.openxmlformats.org/officeDocument/2006/relationships/slide" Target="slides/slide30.xml" /><Relationship Id="rId18" Type="http://schemas.openxmlformats.org/officeDocument/2006/relationships/slide" Target="slides/slide18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27" Type="http://schemas.openxmlformats.org/officeDocument/2006/relationships/slide" Target="slides/slide27.xml" /><Relationship Id="rId20" Type="http://schemas.openxmlformats.org/officeDocument/2006/relationships/slide" Target="slides/slide2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E3F8C', padding: 0 }}&gt;&#10;  &lt;Box style={{ flexDirection: 'column', height: '100%', justifyContent: 'center', padding: '0 80px', position: 'relative' }}&gt;&#10;    &lt;Box style={{ position: 'absolute', top: 0, left: 0, right: 0, height: 8, background: '#1E4FA8' }} /&gt;&#10;    &lt;Box style={{ position: 'absolute', top: 8, left: 0, right: 0, height: 2, background: '#3D7BD9' }} /&gt;&#10;    &lt;Box style={{ flexDirection: 'row', alignItems: 'center', gap: 14, marginBottom: 30 }}&gt;&#10;      &lt;Box style={{ padding: '7px 18px', background: '#3D7BD9', borderRadius: 18 }}&gt;&#10;        &lt;Text style={{ fontSize: 16, color: '#FFFFFF', fontWeight: 'bold', letterSpacing: 2 }}&gt;ISAD · WEEK 09&lt;/Text&gt;&#10;      &lt;/Box&gt;&#10;      &lt;Box style={{ width: 56, height: 1, background: '#5B84C4' }} /&gt;&#10;      &lt;Text style={{ fontSize: 16, color: '#7FA2D6', letterSpacing: 1 }}&gt;MODULE B · OO ANALYSIS&lt;/Text&gt;&#10;    &lt;/Box&gt;&#10;    &lt;Text style={{ fontSize: 56, fontWeight: 'bold', color: '#FFFFFF', fontFamily: 'Georgia, serif', lineHeight: 1.12 }}&gt;&#10;      State + Activity Diagrams&#10;    &lt;/Text&gt;&#10;    &lt;Box style={{ width: 88, height: 5, background: '#FFC107', marginTop: 28, marginBottom: 22 }} /&gt;&#10;    &lt;Text style={{ fontSize: 26, color: '#B9CDF0', lineHeight: 1.45 }}&gt;&#10;      Lifelines, and the workflows that live between them — plus the mid-term&#10;    &lt;/Text&gt;&#10;    &lt;Box style={{ position: 'absolute', bottom: 46, left: 80, right: 80, flexDirection: 'row', justifyContent: 'space-between', alignItems: 'center', borderTop: '1px solid #2B5793', paddingTop: 18 }}&gt;&#10;      &lt;Text style={{ fontSize: 17, color: '#C5D4EA' }}&gt;Ren Zheng · School of Software Engineering&lt;/Text&gt;&#10;      &lt;Text style={{ fontSize: 17, color: '#C5D4EA' }}&gt;Fall 2026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2286000"/>
            <a:ext cx="1781175" cy="323850"/>
          </a:xfrm>
          <a:prstGeom prst="roundRect">
            <a:avLst>
              <a:gd name="adj" fmla="val 52941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33450" y="23526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ISAD · WEEK 09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2676525" y="2447925"/>
            <a:ext cx="533400" cy="9525"/>
          </a:xfrm>
          <a:prstGeom prst="rect">
            <a:avLst/>
          </a:prstGeom>
          <a:solidFill>
            <a:srgbClr val="5B84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343275" y="23526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MODULE B · OO ANALYSIS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7239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</a:rPr>
              <a:t>State + Activity Diagrams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88620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143375"/>
            <a:ext cx="106680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950">
                <a:solidFill>
                  <a:srgbClr val="B9CDF0"/>
                </a:solidFill>
                <a:latin typeface="Microsoft YaHei"/>
                <a:ea typeface="Microsoft YaHei"/>
              </a:rPr>
              <a:t>Lifelines, and the workflows that live between them — plus the mid-term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76200"/>
            <a:ext cx="12192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762000" y="6038850"/>
            <a:ext cx="10668000" cy="390525"/>
          </a:xfrm>
          <a:custGeom>
            <a:pathLst>
              <a:path w="1120" h="41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Ren Zheng · School of Software Engineering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0" y="6219825"/>
            <a:ext cx="66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5D4EA"/>
                </a:solidFill>
                <a:latin typeface="Microsoft YaHei"/>
                <a:ea typeface="Microsoft YaHei"/>
              </a:rPr>
              <a:t>Fall 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background: '#FFFFFF', padding: 0 }}&gt;&#10;  &lt;Box style={{ flexDirection: 'row', height: '100%' }}&gt;&#10;    &lt;Box style={{ width: 320, background: '#0E3F8C', padding: '60px 44px', flexDirection: 'column', justifyContent: 'space-between' }}&gt;&#10;      &lt;Box&gt;&#10;        &lt;Box style={{ width: 40, height: 4, background: '#FFC107', marginBottom: 24 }} /&gt;&#10;        &lt;Text style={{ fontSize: 46, fontWeight: 'bold', color: '#FFFFFF', fontFamily: 'Georgia, serif', lineHeight: 1.15 }}&gt;Contents&lt;/Text&gt;&#10;        &lt;Text style={{ fontSize: 16, color: '#7FA2D6', marginTop: 18, letterSpacing: 1 }}&gt;WEEK 09 · ROADMAP&lt;/Text&gt;&#10;      &lt;/Box&gt;&#10;      &lt;Text style={{ fontSize: 15, color: '#5B84C4', lineHeight: 1.5 }}&gt;State + Activity&lt;br /&gt;Mid-term&lt;/Text&gt;&#10;    &lt;/Box&gt;&#10;    &lt;Box style={{ flex: 1, padding: '50px 56px', flexDirection: 'column', gap: 15 }}&gt;&#10;        &lt;Box key=&quot;01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1&lt;/Text&gt;&#10;          &lt;/Box&gt;&#10;          &lt;Text style={{ flex: 1, fontSize: 20, color: '#1A2230', fontWeight: '600' }}&gt;State Machines&lt;/Text&gt;&#10;          &lt;Text style={{ fontSize: 20, color: '#8B97A8', fontWeight: 'bold' }}&gt;03&lt;/Text&gt;&#10;        &lt;/Box&gt;&#10;        &lt;Box key=&quot;02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2&lt;/Text&gt;&#10;          &lt;/Box&gt;&#10;          &lt;Text style={{ flex: 1, fontSize: 20, color: '#1A2230', fontWeight: '600' }}&gt;Which Objects Deserve One&lt;/Text&gt;&#10;          &lt;Text style={{ fontSize: 20, color: '#8B97A8', fontWeight: 'bold' }}&gt;09&lt;/Text&gt;&#10;        &lt;/Box&gt;&#10;        &lt;Box key=&quot;03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3&lt;/Text&gt;&#10;          &lt;/Box&gt;&#10;          &lt;Text style={{ flex: 1, fontSize: 20, color: '#1A2230', fontWeight: '600' }}&gt;Activity Diagrams&lt;/Text&gt;&#10;          &lt;Text style={{ fontSize: 20, color: '#8B97A8', fontWeight: 'bold' }}&gt;13&lt;/Text&gt;&#10;        &lt;/Box&gt;&#10;        &lt;Box key=&quot;04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4&lt;/Text&gt;&#10;          &lt;/Box&gt;&#10;          &lt;Text style={{ flex: 1, fontSize: 20, color: '#1A2230', fontWeight: '600' }}&gt;Mid-term Briefing&lt;/Text&gt;&#10;          &lt;Text style={{ fontSize: 20, color: '#8B97A8', fontWeight: 'bold' }}&gt;20&lt;/Text&gt;&#10;        &lt;/Box&gt;&#10;        &lt;Box key=&quot;05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5&lt;/Text&gt;&#10;          &lt;/Box&gt;&#10;          &lt;Text style={{ flex: 1, fontSize: 20, color: '#1A2230', fontWeight: '600' }}&gt;Worked Examples&lt;/Text&gt;&#10;          &lt;Text style={{ fontSize: 20, color: '#8B97A8', fontWeight: 'bold' }}&gt;25&lt;/Text&gt;&#10;        &lt;/Box&gt;&#10;        &lt;Box key=&quot;06&quot; style={{ flexDirection: 'row', alignItems: 'center', gap: 20, padding: '14px 20px', background: '#F7F9FC', borderRadius: 10, border: '1px solid #E5E7EB' }}&gt;&#10;          &lt;Box style={{ width: 52, height: 52, borderRadius: 8, background: '#1E4FA8', justifyContent: 'center', alignItems: 'center' }}&gt;&#10;            &lt;Text style={{ fontSize: 22, fontWeight: 'bold', color: '#FFFFFF' }}&gt;06&lt;/Text&gt;&#10;          &lt;/Box&gt;&#10;          &lt;Text style={{ flex: 1, fontSize: 20, color: '#1A2230', fontWeight: '600' }}&gt;Mid-term Review&lt;/Text&gt;&#10;          &lt;Text style={{ fontSize: 20, color: '#8B97A8', fontWeight: 'bold' }}&gt;30&lt;/Text&gt;&#10;  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419100" y="571500"/>
            <a:ext cx="381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19100" y="838200"/>
            <a:ext cx="220980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19100" y="16192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7FA2D6"/>
                </a:solidFill>
                <a:latin typeface="Microsoft YaHei"/>
                <a:ea typeface="Microsoft YaHei"/>
              </a:rPr>
              <a:t>WEEK 09 · ROADMAP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19100" y="57721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State + Activity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5B84C4"/>
                </a:solidFill>
                <a:latin typeface="Microsoft YaHei"/>
                <a:ea typeface="Microsoft YaHei"/>
              </a:rPr>
              <a:t>Mid-term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581400" y="4762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3771900" y="6096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905250" y="7334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457700" y="7429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State Machines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49025" y="7429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3581400" y="13811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3771900" y="15144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905250" y="16383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457700" y="16478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Which Objects Deserve One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49025" y="16478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581400" y="228600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3771900" y="24193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905250" y="25431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457700" y="255270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Activity Diagrams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249025" y="25527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3581400" y="319087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3771900" y="33242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905250" y="344805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457700" y="345757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Mid-term Briefing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249025" y="34575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581400" y="4095750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3771900" y="42291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905250" y="43529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457700" y="436245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Worked Examples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249025" y="436245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3581400" y="5000625"/>
            <a:ext cx="807720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3771900" y="51339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905250" y="5257800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457700" y="5267325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Mid-term Review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49025" y="526732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B97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29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1&lt;/Text&gt;&#10;    &lt;/Box&gt;&#10;    &lt;Box style={{ flex: 1, padding: '70px 64px', flexDirection: 'column', justifyContent: 'center' }}&gt;&#10;      &lt;Text style={{ fontSize: 15, color: '#7FA2D6', letterSpacing: 2, marginBottom: 18 }}&gt;PART 1 · LECTURE · 50 MIN&lt;/Text&gt;&#10;      &lt;Text style={{ fontSize: 46, fontWeight: 'bold', color: '#FFFFFF', lineHeight: 1.18 }}&gt;State Machines&lt;/Text&gt;&#10;      &lt;Box style={{ width: 64, height: 4, background: '#FFC107', marginTop: 26, marginBottom: 26 }} /&gt;&#10;      &lt;Box style={{ flexDirection: 'column', gap: 12 }}&gt;&#10;          &lt;Box key=&quot;One object, one lifecycle, drawn left to&quot; style={{ flexDirection: 'row', alignItems: 'center', gap: 12 }}&gt;&#10;            &lt;Box style={{ width: 8, height: 8, borderRadius: 4, background: '#3D7BD9' }} /&gt;&#10;            &lt;Text style={{ fontSize: 20, color: '#C5D4EA' }}&gt;One object, one lifecycle, drawn left to right in time&lt;/Text&gt;&#10;          &lt;/Box&gt;&#10;          &lt;Box key=&quot;States are nouns in the past tense; even&quot; style={{ flexDirection: 'row', alignItems: 'center', gap: 12 }}&gt;&#10;            &lt;Box style={{ width: 8, height: 8, borderRadius: 4, background: '#3D7BD9' }} /&gt;&#10;            &lt;Text style={{ fontSize: 20, color: '#C5D4EA' }}&gt;States are nouns in the past tense; events are verbs in the past tense&lt;/Text&gt;&#10;          &lt;/Box&gt;&#10;          &lt;Box key=&quot;A guard is a business condition — if you&quot; style={{ flexDirection: 'row', alignItems: 'center', gap: 12 }}&gt;&#10;            &lt;Box style={{ width: 8, height: 8, borderRadius: 4, background: '#3D7BD9' }} /&gt;&#10;            &lt;Text style={{ fontSize: 20, color: '#C5D4EA' }}&gt;A guard is a business condition — if you cannot say it, the transition is wrong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71450" y="2171700"/>
            <a:ext cx="25050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1 · LECTURE · 50 MIN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State Machines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257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One object, one lifecycle, drawn left to right in time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85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States are nouns in the past tense; events are verbs in the past tense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647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guard is a business condition — if you cannot say it, the transition is wrong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47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STATE MACHINES&lt;/Text&gt;&#10;  &lt;/Box&gt;&#10;  &lt;Box style={{ padding: '13px 40px 0 40px', flexDirection: 'row', alignItems: 'center', justifyContent: 'space-between' }}&gt;&#10;    &lt;Text style={{ fontSize: 29, fontWeight: 'bold', color: '#0E3F8C' }}&gt;Anatomy: Five Elements, Nothing More&lt;/Text&gt;&#10;    &lt;Text style={{ fontSize: 14, color: '#1E4FA8', fontWeight: 'bold' }}&gt;04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6' fill='#8B97A8' fontSize='13'&gt;State · transition · event · guard · action. Learn these five and you can read any state machine you meet.&lt;/text&gt;&#10;      &lt;circle cx='70' cy='132' r='7' fill='#2B7A3D' /&gt;      &lt;rect x='140' y='104' width='190' height='58' rx='9' fill='#F7F9FC' stroke='#1E4FA8' strokeWidth='2' /&gt;&#10;      &lt;text x='235' y='138' textAnchor='middle' fill='#0E3F8C' fontSize='15' fontWeight='bold'&gt;Pending&lt;/text&gt;      &lt;rect x='500' y='104' width='190' height='58' rx='9' fill='#F7F9FC' stroke='#1E4FA8' strokeWidth='2' /&gt;&#10;      &lt;text x='595' y='138' textAnchor='middle' fill='#0E3F8C' fontSize='15' fontWeight='bold'&gt;Confirmed&lt;/text&gt;      &lt;rect x='860' y='104' width='190' height='58' rx='9' fill='#FCEBEB' stroke='#8B3230' strokeWidth='2' /&gt;&#10;      &lt;text x='955' y='138' textAnchor='middle' fill='#0E3F8C' fontSize='15' fontWeight='bold'&gt;Cancelled&lt;/text&gt;      &lt;line x1='117' y1='132' x2='128.0' y2='132.0' stroke='#0E3F8C' strokeWidth='2' /&gt;&#10;      &lt;polygon points='140.0,132.0 128.1,137.3 128.1,126.7' fill='#0E3F8C' /&gt;      &lt;line x1='330' y1='126' x2='488.0' y2='126.0' stroke='#0E3F8C' strokeWidth='2' /&gt;&#10;      &lt;polygon points='500.0,126.0 488.1,131.3 488.1,120.7' fill='#0E3F8C' /&gt;&#10;      &lt;text x='415' y='118' fill='#1A2230' fontSize='13'&gt;confirm&lt;/text&gt;&#10;      &lt;text x='415' y='133' fill='#996F00' fontSize='11.5' fontStyle='italic'&gt;[amount paid]&lt;/text&gt;      &lt;line x1='330' y1='148' x2='848.0' y2='148.0' stroke='#8B3230' strokeWidth='2' strokeDasharray='6 4' /&gt;&#10;      &lt;polygon points='860.0,148.0 848.1,153.3 848.1,142.7' fill='#8B3230' /&gt;&#10;      &lt;text x='595' y='178' fill='#1A2230' fontSize='13'&gt;cancel&lt;/text&gt;&#10;      &lt;text x='595' y='193' fill='#996F00' fontSize='11.5' fontStyle='italic'&gt;[within 10 min]&lt;/text&gt;      &lt;circle cx='1100' cy='132' r='13' fill='none' stroke='#8B3230' strokeWidth='2.4' /&gt;&#10;      &lt;circle cx='1100' cy='132' r='10' fill='#8B3230' /&gt;      &lt;line x1='690' y1='126' x2='1075.0' y2='131.8' stroke='#0E3F8C' strokeWidth='2' /&gt;&#10;      &lt;polygon points='1087.0,132.0 1075.1,137.1 1075.2,126.5' fill='#0E3F8C' /&gt;&#10;      &lt;text x='888' y='121' fill='#1A2230' fontSize='13'&gt;settle&lt;/text&gt;&#10;      &lt;rect x='40' y='238' width='1100' height='46' rx='9' fill='#F7F9FC' stroke='#E5E7EB' /&gt;&#10;      &lt;text x='62' y='267' fill='#4A5568' fontSize='14'&gt;Entry action / do: cancel  ·  written inside the state box, under a divider. Exit action runs when leaving.&lt;/text&gt;&#10;&#10;      &lt;rect x='40' y='300' width='530' height='80' rx='9' fill='#EAF6EC' stroke='#2B7A3D' /&gt;&#10;      &lt;text x='62' y='326' fill='#2B7A3D' fontSize='14' fontWeight='bold'&gt;The filled circle is the only legal start.&lt;/text&gt;&#10;      &lt;text x='62' y='352' fill='#4A5568' fontSize='13'&gt;A state machine with two initial states is two machines.&lt;/text&gt;&#10;&#10;      &lt;rect x='610' y='300' width='530' height='80' rx='9' fill='#FCEBEB' stroke='#8B3230' /&gt;&#10;      &lt;text x='632' y='326' fill='#8B3230' fontSize='14' fontWeight='bold'&gt;The ringed circle is the only legal end.&lt;/text&gt;&#10;      &lt;text x='632' y='352' fill='#4A5568' fontSize='13'&gt;A machine may have many ends. Cancelled and Delivered are both ends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0153650" y="2571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STATE MACHINES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143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Anatomy: Five Elements, Nothing More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  <p:pic>
        <p:nvPicPr>
          <p:cNvPr id="4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38</a:t>
            </a:r>
            <a:endParaRPr/>
          </a:p>
        </p:txBody>
      </p:sp>
    </p:spTree>
  </p:cSld>
</p:sld>
</file>

<file path=ppt/slides/slide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8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STATE MACHINES&lt;/Text&gt;&#10;  &lt;/Box&gt;&#10;  &lt;Box style={{ padding: '13px 40px 0 40px', flexDirection: 'row', alignItems: 'center', justifyContent: 'space-between' }}&gt;&#10;    &lt;Text style={{ fontSize: 29, fontWeight: 'bold', color: '#0E3F8C' }}&gt;Events, Guards and Actions&lt;/Text&gt;&#10;    &lt;Text style={{ fontSize: 14, color: '#1E4FA8', fontWeight: 'bold' }}&gt;05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50, 300, 300, 250]}&#10;      cells={[&#10;        [&#10;          { text: 'Element', textStyle: {bold: true, color: '#FFFFFF', fontSize: 15}, cellStyle: {background: { color: '#0E3F8C' }} },&#10;          { text: 'Written as', textStyle: {bold: true, color: '#FFFFFF', fontSize: 15}, cellStyle: {background: { color: '#1E4FA8' }} },&#10;          { text: 'Reads as', textStyle: {bold: true, color: '#FFFFFF', fontSize: 15}, cellStyle: {background: { color: '#1E4FA8' }} },&#10;          { text: 'Example', textStyle: {bold: true, color: '#FFFFFF', fontSize: 15}, cellStyle: {background: { color: '#1E4FA8' }} }&#10;        ],&#10;        [&#10;          { text: 'State', textStyle: {color: '#4A5568'}, cellStyle: {} },&#10;          { text: 'a noun, past tense or passive', textStyle: {color: '#4A5568'}, cellStyle: {} },&#10;          { text: 'the object is now in this condition', textStyle: {color: '#4A5568'}, cellStyle: {} },&#10;          { text: 'Paid · Preparing · Cancelled', textStyle: {color: '#4A5568'}, cellStyle: {} }&#10;        ],&#10;        [&#10;          { text: 'Event', textStyle: {color: '#4A5568'}, cellStyle: {background: { color: '#F7F9FC' }} },&#10;          { text: 'a verb, past tense', textStyle: {color: '#4A5568'}, cellStyle: {background: { color: '#F7F9FC' }} },&#10;          { text: 'something happened', textStyle: {color: '#4A5568'}, cellStyle: {background: { color: '#F7F9FC' }} },&#10;          { text: 'pay · accept · deliver', textStyle: {color: '#4A5568'}, cellStyle: {background: { color: '#F7F9FC' }} }&#10;        ],&#10;        [&#10;          { text: 'Guard', textStyle: {color: '#4A5568'}, cellStyle: {} },&#10;          { text: 'in square brackets on the transition', textStyle: {color: '#4A5568'}, cellStyle: {} },&#10;          { text: '…but only if', textStyle: {color: '#4A5568'}, cellStyle: {} },&#10;          { text: '[amount &gt; 0]', textStyle: {color: '#4A5568'}, cellStyle: {} }&#10;        ],&#10;        [&#10;          { text: 'Entry action', textStyle: {color: '#4A5568'}, cellStyle: {background: { color: '#F7F9FC' }} },&#10;          { text: 'do: inside the state box', textStyle: {color: '#4A5568'}, cellStyle: {background: { color: '#F7F9FC' }} },&#10;          { text: 'on entering, run this', textStyle: {color: '#4A5568'}, cellStyle: {background: { color: '#F7F9FC' }} },&#10;          { text: 'do: reserve stock', textStyle: {color: '#4A5568'}, cellStyle: {background: { color: '#F7F9FC' }} }&#10;        ],&#10;        [&#10;          { text: 'Exit action', textStyle: {color: '#4A5568'}, cellStyle: {} },&#10;          { text: 'after: inside the state box', textStyle: {color: '#4A5568'}, cellStyle: {} },&#10;          { text: 'on leaving, run this', textStyle: {color: '#4A5568'}, cellStyle: {} },&#10;          { text: 'after: notify kitchen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5 / 38&lt;/Text&gt;&#10;  &lt;/Box&gt;&#10;  &lt;Box style={{ height: 46, background: '#0E3F8C', padding: '0 40px', flexDirection: 'row', alignItems: 'center', justifyContent: 'center' }}&gt;&#10;    &lt;Text style={{ fontSize: 16.5, color: '#FFFFFF', fontWeight: '600' }}&gt;If your state name contains a verb, it is an event. If your event name contains a state, it is a state. They are different boxes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153650" y="2571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STATE MACHINES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686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Events, Guards and Actions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  <p:graphicFrame>
        <p:nvGraphicFramePr>
          <p:cNvPr id="493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352898">
                  <a:extLst>
                    <a:ext uri="{9D8B030D-6E8A-4147-A177-3AD203B41FA5}">
                      <a16:colId val="1"/>
                    </a:ext>
                  </a:extLst>
                </a:gridCol>
                <a:gridCol w="3657467">
                  <a:extLst>
                    <a:ext uri="{9D8B030D-6E8A-4147-A177-3AD203B41FA5}">
                      <a16:colId val="2"/>
                    </a:ext>
                  </a:extLst>
                </a:gridCol>
                <a:gridCol w="3441932">
                  <a:extLst>
                    <a:ext uri="{9D8B030D-6E8A-4147-A177-3AD203B41FA5}">
                      <a16:colId val="3"/>
                    </a:ext>
                  </a:extLst>
                </a:gridCol>
                <a:gridCol w="2977702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Element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Written as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Reads as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Example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noun, past tense or passive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object is now in this condition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Paid · Preparing · Cancelled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verb, past tense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something happened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pay · accept · deliver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Guard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 square brackets on the transition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…but only if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[amount &gt; 0]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Entry action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do: inside the state box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 entering, run this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do: reserve stock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Exit action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after: inside the state box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 leaving, run this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after: notify kitchen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38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524000" y="6543675"/>
            <a:ext cx="914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If your state name contains a verb, it is an event. If your event name contains a state, it is a state. They are different boxes.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49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STATE MACHINES&lt;/Text&gt;&#10;  &lt;/Box&gt;&#10;  &lt;Box style={{ padding: '13px 40px 0 40px', flexDirection: 'row', alignItems: 'center', justifyContent: 'space-between' }}&gt;&#10;    &lt;Text style={{ fontSize: 29, fontWeight: 'bold', color: '#0E3F8C' }}&gt;The Canonical Order Lifecycle&lt;/Text&gt;&#10;    &lt;Text style={{ fontSize: 14, color: '#1E4FA8', fontWeight: 'bold' }}&gt;06 / 38&lt;/Text&gt;&#10;  &lt;/Box&gt;&#10;  &lt;Box style={{ flex: 1, padding: '10px 40px 0 40px', flexDirection: 'column' }}&gt;&#10;    &lt;Box style={{ justifyContent: 'center', alignItems: 'center' }}&gt;&#10;    &lt;svg width={1180} height={392} viewBox='0 0 1180 $h'&gt;&#10;&#10;      &lt;text x='10' y='16' fill='#8B97A8' fontSize='13'&gt;Created, Paid, Preparing, ReadyForPickup, Delivered — plus the two ways it can go wrong.&lt;/text&gt;&#10;      &lt;circle cx='40' cy='118' r='7' fill='#2B7A3D' /&gt;      &lt;rect x='70' y='90' width='140' height='56' rx='9' fill='#F7F9FC' stroke='#1E4FA8' strokeWidth='2' /&gt;&#10;      &lt;text x='140' y='123' textAnchor='middle' fill='#0E3F8C' fontSize='15' fontWeight='bold'&gt;Created&lt;/text&gt;      &lt;rect x='290' y='90' width='130' height='56' rx='9' fill='#F7F9FC' stroke='#1E4FA8' strokeWidth='2' /&gt;&#10;      &lt;text x='355' y='123' textAnchor='middle' fill='#0E3F8C' fontSize='15' fontWeight='bold'&gt;Paid&lt;/text&gt;      &lt;rect x='500' y='90' width='160' height='56' rx='9' fill='#F7F9FC' stroke='#1E4FA8' strokeWidth='2' /&gt;&#10;      &lt;text x='580' y='123' textAnchor='middle' fill='#0E3F8C' fontSize='15' fontWeight='bold'&gt;Preparing&lt;/text&gt;      &lt;rect x='740' y='90' width='200' height='56' rx='9' fill='#F7F9FC' stroke='#1E4FA8' strokeWidth='2' /&gt;&#10;      &lt;text x='840' y='123' textAnchor='middle' fill='#0E3F8C' fontSize='15' fontWeight='bold'&gt;ReadyForPickup&lt;/text&gt;      &lt;rect x='1010' y='90' width='150' height='56' rx='9' fill='#EAF6EC' stroke='#2B7A3D' strokeWidth='2' /&gt;&#10;      &lt;text x='1085' y='123' textAnchor='middle' fill='#0E3F8C' fontSize='15' fontWeight='bold'&gt;Delivered&lt;/text&gt;      &lt;line x1='53' y1='118' x2='58.0' y2='118.0' stroke='#0E3F8C' strokeWidth='2' /&gt;&#10;      &lt;polygon points='70.0,118.0 58.1,123.3 58.1,112.7' fill='#0E3F8C' /&gt;      &lt;line x1='210' y1='110' x2='278.0' y2='110.0' stroke='#0E3F8C' strokeWidth='2' /&gt;&#10;      &lt;polygon points='290.0,110.0 278.1,115.3 278.1,104.7' fill='#0E3F8C' /&gt;&#10;      &lt;text x='250' y='102' fill='#1A2230' fontSize='13'&gt;pay&lt;/text&gt;&#10;      &lt;text x='250' y='117' fill='#996F00' fontSize='11.5' fontStyle='italic'&gt;[card ok]&lt;/text&gt;      &lt;line x1='420' y1='110' x2='488.0' y2='110.0' stroke='#0E3F8C' strokeWidth='2' /&gt;&#10;      &lt;polygon points='500.0,110.0 488.1,115.3 488.1,104.7' fill='#0E3F8C' /&gt;&#10;      &lt;text x='460' y='102' fill='#1A2230' fontSize='13'&gt;accept&lt;/text&gt;      &lt;line x1='660' y1='110' x2='728.0' y2='110.0' stroke='#0E3F8C' strokeWidth='2' /&gt;&#10;      &lt;polygon points='740.0,110.0 728.1,115.3 728.1,104.7' fill='#0E3F8C' /&gt;&#10;      &lt;text x='700' y='102' fill='#1A2230' fontSize='13'&gt;finish&lt;/text&gt;      &lt;line x1='940' y1='110' x2='998.0' y2='110.0' stroke='#0E3F8C' strokeWidth='2' /&gt;&#10;      &lt;polygon points='1010.0,110.0 998.1,115.3 998.1,104.7' fill='#0E3F8C' /&gt;&#10;      &lt;text x='975' y='84' fill='#1A2230' fontSize='13'&gt;collect&lt;/text&gt;      &lt;rect x='330' y='250' width='170' height='56' rx='9' fill='#FCEBEB' stroke='#8B3230' strokeWidth='2' /&gt;&#10;      &lt;text x='415' y='283' textAnchor='middle' fill='#0E3F8C' fontSize='15' fontWeight='bold'&gt;Cancelled&lt;/text&gt;      &lt;rect x='760' y='250' width='180' height='56' rx='9' fill='#FCEBEB' stroke='#8B3230' strokeWidth='2' /&gt;&#10;      &lt;text x='850' y='283' textAnchor='middle' fill='#0E3F8C' fontSize='15' fontWeight='bold'&gt;Refunding&lt;/text&gt;      &lt;line x1='140' y1='146' x2='369.0' y2='245.2' stroke='#0E3F8C' strokeWidth='2' /&gt;&#10;      &lt;polygon points='380.0,250.0 367.0,250.1 371.2,240.4' fill='#0E3F8C' /&gt;&#10;      &lt;text x='260' y='190' fill='#1A2230' fontSize='13'&gt;cancel&lt;/text&gt;&#10;      &lt;text x='260' y='205' fill='#996F00' fontSize='11.5' fontStyle='italic'&gt;[before prep]&lt;/text&gt;      &lt;line x1='880' y1='146' x2='853.3' y2='238.5' stroke='#0E3F8C' strokeWidth='2' /&gt;&#10;      &lt;polygon points='850.0,250.0 848.2,237.1 858.4,240.1' fill='#0E3F8C' /&gt;&#10;      &lt;text x='865' y='190' fill='#1A2230' fontSize='13'&gt;refund&lt;/text&gt;&#10;      &lt;text x='865' y='205' fill='#996F00' fontSize='11.5' fontStyle='italic'&gt;[after payment]&lt;/text&gt;      &lt;line x1='500' y1='278' x2='748.0' y2='278.0' stroke='#8B3230' strokeWidth='2' strokeDasharray='6 4' /&gt;&#10;      &lt;polygon points='760.0,278.0 748.1,283.3 748.1,272.7' fill='#8B3230' /&gt;&#10;      &lt;text x='630' y='270' fill='#1A2230' fontSize='13'&gt;settle to payment provider&lt;/text&gt;&#10;      &lt;rect x='40' y='336' width='1100' height='46' rx='9' fill='#FFF6E0' /&gt;&#10;      &lt;text x='62' y='365' fill='#996F00' fontSize='14'&gt;Five states on the happy path, two failure states below. The guards are where the business argument lives — «before prep», «after payment»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153650" y="2571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STATE MACHINES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9814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Canonical Order Lifecycle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33800"/>
          </a:xfrm>
          <a:prstGeom prst="rect">
            <a:avLst/>
          </a:prstGeom>
          <a:ln/>
        </p:spPr>
      </p:pic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38</a:t>
            </a:r>
            <a:endParaRPr/>
          </a:p>
        </p:txBody>
      </p:sp>
    </p:spTree>
  </p:cSld>
</p:sld>
</file>

<file path=ppt/slides/slide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50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STATE MACHINES&lt;/Text&gt;&#10;  &lt;/Box&gt;&#10;  &lt;Box style={{ padding: '13px 40px 0 40px', flexDirection: 'row', alignItems: 'center', justifyContent: 'space-between' }}&gt;&#10;    &lt;Text style={{ fontSize: 29, fontWeight: 'bold', color: '#0E3F8C' }}&gt;Transitions You Must Not Draw&lt;/Text&gt;&#10;    &lt;Text style={{ fontSize: 14, color: '#1E4FA8', fontWeight: 'bold' }}&gt;07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80, 400, 320]}&#10;      cells={[&#10;        [&#10;          { text: 'Tempting transition', textStyle: {bold: true, color: '#FFFFFF', fontSize: 15}, cellStyle: {background: { color: '#0E3F8C' }} },&#10;          { text: 'Why it is wrong', textStyle: {bold: true, color: '#FFFFFF', fontSize: 15}, cellStyle: {background: { color: '#1E4FA8' }} },&#10;          { text: 'Draw it instead', textStyle: {bold: true, color: '#FFFFFF', fontSize: 15}, cellStyle: {background: { color: '#1E4FA8' }} }&#10;        ],&#10;        [&#10;          { text: 'Delivered → Paid', textStyle: {color: '#4A5568'}, cellStyle: {} },&#10;          { text: 'It un-delivers an order. States move forward or fail, never back to a satisfied state.', textStyle: {color: '#4A5568'}, cellStyle: {} },&#10;          { text: 'A separate Refund object with its own lifecycle', textStyle: {color: '#4A5568'}, cellStyle: {} }&#10;        ],&#10;        [&#10;          { text: 'Created → Delivered', textStyle: {color: '#4A5568'}, cellStyle: {background: { color: '#F7F9FC' }} },&#10;          { text: 'It skips the whole kitchen process — the states exist because that work takes time.', textStyle: {color: '#4A5568'}, cellStyle: {background: { color: '#F7F9FC' }} },&#10;          { text: 'Each state with its own entry action', textStyle: {color: '#4A5568'}, cellStyle: {background: { color: '#F7F9FC' }} }&#10;        ],&#10;        [&#10;          { text: 'Any → any, to be safe', textStyle: {color: '#4A5568'}, cellStyle: {} },&#10;          { text: '«Every state can go to every state» is a diagram with no information in it.', textStyle: {color: '#4A5568'}, cellStyle: {} },&#10;          { text: 'Only the transitions a client would actually describe', textStyle: {color: '#4A5568'}, cellStyle: {} }&#10;        ],&#10;        [&#10;          { text: 'Cancelled → anything', textStyle: {color: '#4A5568'}, cellStyle: {background: { color: '#F7F9FC' }} },&#10;          { text: 'A cancelled order is terminal. If it can be reopened, it was never cancelled.', textStyle: {color: '#4A5568'}, cellStyle: {background: { color: '#F7F9FC' }} },&#10;          { text: 'Reopen as an explicit event from Cancelled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7 / 38&lt;/Text&gt;&#10;  &lt;/Box&gt;&#10;  &lt;Box style={{ height: 46, background: '#0E3F8C', padding: '0 40px', flexDirection: 'row', alignItems: 'center', justifyContent: 'center' }}&gt;&#10;    &lt;Text style={{ fontSize: 16.5, color: '#FFFFFF', fontWeight: '600' }}&gt;Every transition you add is a claim that the business agrees with. When in doubt, leave it out and mention it in review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0153650" y="2571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STATE MACHINES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Transitions You Must Not Draw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  <p:graphicFrame>
        <p:nvGraphicFramePr>
          <p:cNvPr id="515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807297">
                  <a:extLst>
                    <a:ext uri="{9D8B030D-6E8A-4147-A177-3AD203B41FA5}">
                      <a16:colId val="1"/>
                    </a:ext>
                  </a:extLst>
                </a:gridCol>
                <a:gridCol w="5918108">
                  <a:extLst>
                    <a:ext uri="{9D8B030D-6E8A-4147-A177-3AD203B41FA5}">
                      <a16:colId val="2"/>
                    </a:ext>
                  </a:extLst>
                </a:gridCol>
                <a:gridCol w="370459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Tempting transition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it is wrong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Draw it instead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Delivered → Paid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un-delivers an order. States move forward or fail, never back to a satisfied state.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separate Refund object with its own lifecycle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Created → Delivered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skips the whole kitchen process — the states exist because that work takes time.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Each state with its own entry action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Any → any, to be safe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«Every state can go to every state» is a diagram with no information in it.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Only the transitions a client would actually describe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Cancelled → anything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cancelled order is terminal. If it can be reopened, it was never cancelled.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Reopen as an explicit event from Cancelled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38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704975" y="6543675"/>
            <a:ext cx="879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Every transition you add is a claim that the business agrees with. When in doubt, leave it out and mention it in review.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20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STATE MACHINES&lt;/Text&gt;&#10;  &lt;/Box&gt;&#10;  &lt;Box style={{ padding: '13px 40px 0 40px', flexDirection: 'row', alignItems: 'center', justifyContent: 'space-between' }}&gt;&#10;    &lt;Text style={{ fontSize: 29, fontWeight: 'bold', color: '#0E3F8C' }}&gt;Composite States — Grouping for Readability&lt;/Text&gt;&#10;    &lt;Text style={{ fontSize: 14, color: '#1E4FA8', fontWeight: 'bold' }}&gt;08 / 38&lt;/Text&gt;&#10;  &lt;/Box&gt;&#10;  &lt;Box style={{ flex: 1, padding: '10px 40px 0 40px', flexDirection: 'column' }}&gt;&#10;    &lt;Box style={{ flexDirection: 'row', gap: 26 }}&gt;&#10;      &lt;Box style={{ width: 560, justifyContent: 'center' }}&gt;&#10;      &lt;Box style={{ padding: '18px 20px', background: '#1E4FA8', borderRadius: 10, border: '1px solid #E5E7EB' }}&gt;&#10;        &lt;Text style={{ fontSize: 13, color: '#8B97A8', letterSpacing: 1, marginBottom: 12 }}&gt;WHAT THEY ARE FOR&lt;/Text&gt;&#10;&#10;          &lt;Box key=&quot;A composite state is a state tha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1&lt;/Text&gt;&#10;            &lt;/Box&gt;&#10;            &lt;Text style={{ flex: 1, fontSize: 13.5, color: '#1A2230', lineHeight: 1.45 }}&gt;A composite state is a state that contains other states.&lt;/Text&gt;&#10;          &lt;/Box&gt;&#10;          &lt;Box key=&quot;The inner machine runs whenever 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2&lt;/Text&gt;&#10;            &lt;/Box&gt;&#10;            &lt;Text style={{ flex: 1, fontSize: 13.5, color: '#1A2230', lineHeight: 1.45 }}&gt;The inner machine runs whenever the outer state is active.&lt;/Text&gt;&#10;          &lt;/Box&gt;&#10;          &lt;Box key=&quot;Entering and leaving the outer s&quot; style={{ flexDirection: 'row', gap: 12, marginBottom: 9 }}&gt;&#10;            &lt;Box style={{ width: 22, height: 22, borderRadius: 4, background: '#1E4FA8', justifyContent: 'center', alignItems: 'center' }}&gt;&#10;              &lt;Text style={{ fontSize: 11, fontWeight: 'bold', color: '#FFFFFF' }}&gt;3&lt;/Text&gt;&#10;            &lt;/Box&gt;&#10;            &lt;Text style={{ flex: 1, fontSize: 13.5, color: '#1A2230', lineHeight: 1.45 }}&gt;Entering and leaving the outer state fires its entry and exit actions.&lt;/Text&gt;&#10;          &lt;/Box&gt;&#10;      &lt;/Box&gt;&#10;      &lt;/Box&gt;&#10;      &lt;Box style={{ flex: 1, flexDirection: 'column', justifyContent: 'center', gap: 13 }}&gt;&#10;      &lt;Box style={{ padding: '15px 17px', background: '#F0F5FC', borderRadius: 9, borderLeft: '4px solid #1E4FA8' }}&gt;&#10;        &lt;Text style={{ fontSize: 16, fontWeight: 'bold', color: '#0E3F8C' }}&gt;When it genuinely helps&lt;/Text&gt;&#10;        &lt;Text style={{ fontSize: 13, color: '#4A5568', lineHeight: 1.6, marginTop: 5 }}&gt;&#10;          The Fulfilling composite holds Preparing and ReadyForPickup. Read it as one thing from outside, two steps from inside.&#10;        &lt;/Text&gt;&#10;      &lt;/Box&gt;&#10;      &lt;Box style={{ padding: '15px 17px', background: '#FFF6E0', borderRadius: 9, borderLeft: '4px solid #FFC107' }}&gt;&#10;        &lt;Text style={{ fontSize: 16, fontWeight: 'bold', color: '#996F00' }}&gt;When it is decoration&lt;/Text&gt;&#10;        &lt;Text style={{ fontSize: 13, color: '#4A5568', lineHeight: 1.6, marginTop: 5 }}&gt;&#10;          Wrapping a single state in a box with nothing inside. That is a diagram with more boxes and less meaning.&#10;        &lt;/Text&gt;&#10;      &lt;/Box&gt;&#10;      &lt;Box style={{ padding: '15px 17px', background: '#FFFFFF', borderRadius: 9, border: '1px solid #D6DCE5' }}&gt;&#10;        &lt;Text style={{ fontSize: 16, fontWeight: 'bold', color: '#0E3F8C' }}&gt;The honest test&lt;/Text&gt;&#10;        &lt;Text style={{ fontSize: 13, color: '#4A5568', lineHeight: 1.6, marginTop: 5 }}&gt;&#10;          If you cannot say what the inner states have in common that the outer state does not, do not draw the outer state.&#10;        &lt;/Text&gt;&#10;      &lt;/Box&gt;&#10;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0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0153650" y="2571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STATE MACHINES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0102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Composite States — Grouping for Readability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381000" y="2085975"/>
            <a:ext cx="5334000" cy="1552575"/>
          </a:xfrm>
          <a:prstGeom prst="roundRect">
            <a:avLst>
              <a:gd name="adj" fmla="val 6135"/>
            </a:avLst>
          </a:prstGeom>
          <a:solidFill>
            <a:srgbClr val="1E4FA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WHAT THEY ARE FOR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71500" y="252412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47700" y="2562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95350" y="25241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A composite state is a state that contains other states.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571500" y="2838450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47700" y="2876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The inner machine runs whenever the outer state is active.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71500" y="3152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47700" y="31908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95350" y="31527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13">
                <a:solidFill>
                  <a:srgbClr val="1A2230"/>
                </a:solidFill>
                <a:latin typeface="Microsoft YaHei"/>
                <a:ea typeface="Microsoft YaHei"/>
              </a:rPr>
              <a:t>Entering and leaving the outer state fires its entry and exit actions.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00750" y="12382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6000750" y="123825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162675" y="13811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When it genuinely helps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162675" y="161925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Fulfilling composite holds Preparing and ReadyForPickup. Read it as one thing from outside, two steps from inside.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00750" y="236220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6000750" y="2362200"/>
            <a:ext cx="5848350" cy="1000125"/>
          </a:xfrm>
          <a:custGeom>
            <a:pathLst>
              <a:path w="614" h="105">
                <a:moveTo>
                  <a:pt x="9" y="0"/>
                </a:moveTo>
                <a:cubicBezTo>
                  <a:pt x="6" y="0"/>
                  <a:pt x="4" y="2"/>
                  <a:pt x="4" y="5"/>
                </a:cubicBezTo>
                <a:lnTo>
                  <a:pt x="4" y="100"/>
                </a:lnTo>
                <a:cubicBezTo>
                  <a:pt x="4" y="102"/>
                  <a:pt x="6" y="104"/>
                  <a:pt x="8" y="105"/>
                </a:cubicBezTo>
                <a:cubicBezTo>
                  <a:pt x="4" y="105"/>
                  <a:pt x="0" y="101"/>
                  <a:pt x="0" y="96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162675" y="250507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996F00"/>
                </a:solidFill>
                <a:latin typeface="Microsoft YaHei"/>
                <a:ea typeface="Microsoft YaHei"/>
              </a:rPr>
              <a:t>When it is decoration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162675" y="2743200"/>
            <a:ext cx="54864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Wrapping a single state in a box with nothing inside. That is a diagram with more boxes and less meaning.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5962650" y="3486150"/>
            <a:ext cx="5848350" cy="1000125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124575" y="36290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The honest test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124575" y="3867150"/>
            <a:ext cx="5524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If you cannot say what the inner states have in common that the outer state does not, do not draw the outer state.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38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51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2&lt;/Text&gt;&#10;    &lt;/Box&gt;&#10;    &lt;Box style={{ flex: 1, padding: '70px 64px', flexDirection: 'column', justifyContent: 'center' }}&gt;&#10;      &lt;Text style={{ fontSize: 15, color: '#7FA2D6', letterSpacing: 2, marginBottom: 18 }}&gt;PART 2 · LECTURE · 15 MIN&lt;/Text&gt;&#10;      &lt;Text style={{ fontSize: 46, fontWeight: 'bold', color: '#FFFFFF', lineHeight: 1.18 }}&gt;Which Objects Deserve One&lt;/Text&gt;&#10;      &lt;Box style={{ width: 64, height: 4, background: '#FFC107', marginTop: 26, marginBottom: 26 }} /&gt;&#10;      &lt;Box style={{ flexDirection: 'column', gap: 12 }}&gt;&#10;          &lt;Box key=&quot;Most classes do not need a state machine&quot; style={{ flexDirection: 'row', alignItems: 'center', gap: 12 }}&gt;&#10;            &lt;Box style={{ width: 8, height: 8, borderRadius: 4, background: '#3D7BD9' }} /&gt;&#10;            &lt;Text style={{ fontSize: 20, color: '#C5D4EA' }}&gt;Most classes do not need a state machine — and drawing one anyway is the most common modelling mistake&lt;/Text&gt;&#10;          &lt;/Box&gt;&#10;          &lt;Box key=&quot;Two questions decide it: does it have a &quot; style={{ flexDirection: 'row', alignItems: 'center', gap: 12 }}&gt;&#10;            &lt;Box style={{ width: 8, height: 8, borderRadius: 4, background: '#3D7BD9' }} /&gt;&#10;            &lt;Text style={{ fontSize: 20, color: '#C5D4EA' }}&gt;Two questions decide it: does it have a lifecycle, and is that lifecycle event-driven?&lt;/Text&gt;&#10;          &lt;/Box&gt;&#10;          &lt;Box key=&quot;One machine per model is a good target. &quot; style={{ flexDirection: 'row', alignItems: 'center', gap: 12 }}&gt;&#10;            &lt;Box style={{ width: 8, height: 8, borderRadius: 4, background: '#3D7BD9' }} /&gt;&#10;            &lt;Text style={{ fontSize: 20, color: '#C5D4EA' }}&gt;One machine per model is a good target. Three is a warning sign.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28575" y="2171700"/>
            <a:ext cx="27908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467100" y="21050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2 · LECTURE · 15 MIN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3467100" y="24479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Which Objects Deserve One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467100" y="33242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3657600" y="3609975"/>
            <a:ext cx="79248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Most classes do not need a state machine — and drawing one anyway is the most common modelling mistake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3467100" y="4257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657600" y="4181475"/>
            <a:ext cx="693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Two questions decide it: does it have a lifecycle, and is that lifecycle event-driven?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3467100" y="4600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3657600" y="4524375"/>
            <a:ext cx="5534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One machine per model is a good target. Three is a warning sign.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HICH OBJECTS&lt;/Text&gt;&#10;  &lt;/Box&gt;&#10;  &lt;Box style={{ padding: '13px 40px 0 40px', flexDirection: 'row', alignItems: 'center', justifyContent: 'space-between' }}&gt;&#10;    &lt;Text style={{ fontSize: 29, fontWeight: 'bold', color: '#0E3F8C' }}&gt;The Two-Question Test&lt;/Text&gt;&#10;    &lt;Text style={{ fontSize: 14, color: '#1E4FA8', fontWeight: 'bold' }}&gt;10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400, 320, 280]}&#10;      cells={[&#10;        [&#10;          { text: 'Question', textStyle: {bold: true, color: '#FFFFFF', fontSize: 15}, cellStyle: {background: { color: '#0E3F8C' }} },&#10;          { text: 'If YES', textStyle: {bold: true, color: '#FFFFFF', fontSize: 15}, cellStyle: {background: { color: '#1E4FA8' }} },&#10;          { text: 'If NO', textStyle: {bold: true, color: '#FFFFFF', fontSize: 15}, cellStyle: {background: { color: '#1E4FA8' }} }&#10;        ],&#10;        [&#10;          { text: 'Does the object change state in a way somebody would notice?', textStyle: {color: '#4A5568'}, cellStyle: {} },&#10;          { text: 'Draw the machine — the states are the news', textStyle: {color: '#4A5568'}, cellStyle: {} },&#10;          { text: 'No machine. Draw it as a plain class', textStyle: {color: '#4A5568'}, cellStyle: {} }&#10;        ],&#10;        [&#10;          { text: 'Do external events drive those changes?', textStyle: {color: '#4A5568'}, cellStyle: {background: { color: '#F7F9FC' }} },&#10;          { text: 'Name the events — they become your transitions', textStyle: {color: '#4A5568'}, cellStyle: {background: { color: '#F7F9FC' }} },&#10;          { text: 'It is data, not behaviour. Stop here', textStyle: {color: '#4A5568'}, cellStyle: {background: { color: '#F7F9FC' }} }&#10;        ],&#10;        [&#10;          { text: 'Is there a lifecycle at all?', textStyle: {color: '#4A5568'}, cellStyle: {} },&#10;          { text: 'One machine is justified', textStyle: {color: '#4A5568'}, cellStyle: {} },&#10;          { text: 'A machine would be invented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0 / 38&lt;/Text&gt;&#10;  &lt;/Box&gt;&#10;  &lt;Box style={{ height: 46, background: '#0E3F8C', padding: '0 40px', flexDirection: 'row', alignItems: 'center', justifyContent: 'center' }}&gt;&#10;    &lt;Text style={{ fontSize: 16.5, color: '#FFFFFF', fontWeight: '600' }}&gt;Both questions must be yes. A state machine on an object with no lifecycle is a drawing exercise, not a model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201275" y="257175"/>
            <a:ext cx="1609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WHICH OBJECTS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0194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Two-Question Test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graphicFrame>
        <p:nvGraphicFramePr>
          <p:cNvPr id="2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832819">
                  <a:extLst>
                    <a:ext uri="{9D8B030D-6E8A-4147-A177-3AD203B41FA5}">
                      <a16:colId val="1"/>
                    </a:ext>
                  </a:extLst>
                </a:gridCol>
                <a:gridCol w="3781130">
                  <a:extLst>
                    <a:ext uri="{9D8B030D-6E8A-4147-A177-3AD203B41FA5}">
                      <a16:colId val="2"/>
                    </a:ext>
                  </a:extLst>
                </a:gridCol>
                <a:gridCol w="281605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If YES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If NO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Does the object change state in a way somebody would notice?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Draw the machine — the states are the news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machine. Draw it as a plain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 external events drive those changes?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Name the events — they become your transitions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is data, not behaviour. Stop here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Is there a lifecycle at all?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machine is justified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machine would be invented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38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971675" y="6543675"/>
            <a:ext cx="825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Both questions must be yes. A state machine on an object with no lifecycle is a drawing exercise, not a model.</a:t>
            </a:r>
            <a:endParaRPr/>
          </a:p>
        </p:txBody>
      </p:sp>
    </p:spTree>
  </p:cSld>
</p:sld>
</file>

<file path=ppt/slides/slide1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2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HICH OBJECTS&lt;/Text&gt;&#10;  &lt;/Box&gt;&#10;  &lt;Box style={{ padding: '13px 40px 0 40px', flexDirection: 'row', alignItems: 'center', justifyContent: 'space-between' }}&gt;&#10;    &lt;Text style={{ fontSize: 29, fontWeight: 'bold', color: '#0E3F8C' }}&gt;CampusBites, Judged by the Test&lt;/Text&gt;&#10;    &lt;Text style={{ fontSize: 14, color: '#1E4FA8', fontWeight: 'bold' }}&gt;11 / 38&lt;/Text&gt;&#10;  &lt;/Box&gt;&#10;  &lt;Box style={{ flex: 1, padding: '10px 40px 0 40px', flexDirection: 'column' }}&gt;&#10;    &lt;Table&#10;      style={{ width: '100%', height: '100%' }}&#10;      defaultTextStyle={{ fontSize: 12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70, 330, 330, 170]}&#10;      cells={[&#10;        [&#10;          { text: 'Class', textStyle: {bold: true, color: '#FFFFFF', fontSize: 15}, cellStyle: {background: { color: '#0E3F8C' }} },&#10;          { text: 'Lifecycle?', textStyle: {bold: true, color: '#FFFFFF', fontSize: 15}, cellStyle: {background: { color: '#1E4FA8' }} },&#10;          { text: 'Event-driven?', textStyle: {bold: true, color: '#FFFFFF', fontSize: 15}, cellStyle: {background: { color: '#1E4FA8' }} },&#10;          { text: 'Verdict', textStyle: {bold: true, color: '#FFFFFF', fontSize: 15}, cellStyle: {background: { color: '#1E4FA8' }} }&#10;        ],&#10;        [&#10;          { text: 'Order', textStyle: {color: '#4A5568'}, cellStyle: {} },&#10;          { text: 'Yes — five states plus two failures', textStyle: {color: '#4A5568'}, cellStyle: {} },&#10;          { text: 'Yes — pay, accept, finish, collect, cancel', textStyle: {color: '#4A5568'}, cellStyle: {} },&#10;          { text: 'Draw it', textStyle: {color: '#4A5568'}, cellStyle: {} }&#10;        ],&#10;        [&#10;          { text: 'Payment', textStyle: {color: '#4A5568'}, cellStyle: {background: { color: '#F7F9FC' }} },&#10;          { text: 'Yes — pending, authorised, captured, refunded', textStyle: {color: '#4A5568'}, cellStyle: {background: { color: '#F7F9FC' }} },&#10;          { text: 'Yes — the provider answers', textStyle: {color: '#4A5568'}, cellStyle: {background: { color: '#F7F9FC' }} },&#10;          { text: 'Draw it', textStyle: {color: '#4A5568'}, cellStyle: {background: { color: '#F7F9FC' }} }&#10;        ],&#10;        [&#10;          { text: 'Delivery', textStyle: {color: '#4A5568'}, cellStyle: {} },&#10;          { text: 'Yes — assigned, picked up, delivered', textStyle: {color: '#4A5568'}, cellStyle: {} },&#10;          { text: 'Yes — courier events', textStyle: {color: '#4A5568'}, cellStyle: {} },&#10;          { text: 'Draw it, if you have the states', textStyle: {color: '#4A5568'}, cellStyle: {} }&#10;        ],&#10;        [&#10;          { text: 'MenuItem', textStyle: {color: '#4A5568'}, cellStyle: {background: { color: '#F7F9FC' }} },&#10;          { text: 'No — it is available or sold out, and that is a flag', textStyle: {color: '#4A5568'}, cellStyle: {background: { color: '#F7F9FC' }} },&#10;          { text: 'Barely', textStyle: {color: '#4A5568'}, cellStyle: {background: { color: '#F7F9FC' }} },&#10;          { text: 'No machine. An attribute', textStyle: {color: '#4A5568'}, cellStyle: {background: { color: '#F7F9FC' }} }&#10;        ],&#10;        [&#10;          { text: 'Restaurant', textStyle: {color: '#4A5568'}, cellStyle: {} },&#10;          { text: 'No lifecycle worth naming', textStyle: {color: '#4A5568'}, cellStyle: {} },&#10;          { text: 'No', textStyle: {color: '#4A5568'}, cellStyle: {} },&#10;          { text: 'No machine', textStyle: {color: '#4A5568'}, cellStyle: {} }&#10;        ],&#10;        [&#10;          { text: 'Customer', textStyle: {color: '#4A5568'}, cellStyle: {background: { color: '#F7F9FC' }} },&#10;          { text: 'Registration only — not a business lifecycle', textStyle: {color: '#4A5568'}, cellStyle: {background: { color: '#F7F9FC' }} },&#10;          { text: 'No', textStyle: {color: '#4A5568'}, cellStyle: {background: { color: '#F7F9FC' }} },&#10;          { text: 'No machine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1 / 38&lt;/Text&gt;&#10;  &lt;/Box&gt;&#10;  &lt;Box style={{ height: 46, background: '#0E3F8C', padding: '0 40px', flexDirection: 'row', alignItems: 'center', justifyContent: 'center' }}&gt;&#10;    &lt;Text style={{ fontSize: 16.5, color: '#FFFFFF', fontWeight: '600' }}&gt;Two machines for ten classes. That ratio is normal, and it is what a reviewer expects to se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201275" y="257175"/>
            <a:ext cx="1609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WHICH OBJECTS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4196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CampusBites, Judged by the Test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graphicFrame>
        <p:nvGraphicFramePr>
          <p:cNvPr id="3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080523">
                  <a:extLst>
                    <a:ext uri="{9D8B030D-6E8A-4147-A177-3AD203B41FA5}">
                      <a16:colId val="1"/>
                    </a:ext>
                  </a:extLst>
                </a:gridCol>
                <a:gridCol w="4189290">
                  <a:extLst>
                    <a:ext uri="{9D8B030D-6E8A-4147-A177-3AD203B41FA5}">
                      <a16:colId val="2"/>
                    </a:ext>
                  </a:extLst>
                </a:gridCol>
                <a:gridCol w="3540372">
                  <a:extLst>
                    <a:ext uri="{9D8B030D-6E8A-4147-A177-3AD203B41FA5}">
                      <a16:colId val="3"/>
                    </a:ext>
                  </a:extLst>
                </a:gridCol>
                <a:gridCol w="2619815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7842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Lifecycle?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Event-driven?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Verdict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Order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five states plus two failures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pay, accept, finish, collect, cancel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Draw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Payment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pending, authorised, captured, refunded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the provider answers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Draw 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Delivery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assigned, picked up, delivered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Yes — courier events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Draw it, if you have the states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MenuItem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— it is available or sold out, and that is a flag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Barely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machine. An attribute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Restaurant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lifecycle worth naming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798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Customer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Registration only — not a business lifecycle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38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686050" y="6543675"/>
            <a:ext cx="6829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Two machines for ten classes. That ratio is normal, and it is what a reviewer expects to see.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HICH OBJECTS&lt;/Text&gt;&#10;  &lt;/Box&gt;&#10;  &lt;Box style={{ padding: '13px 40px 0 40px', flexDirection: 'row', alignItems: 'center', justifyContent: 'space-between' }}&gt;&#10;    &lt;Text style={{ fontSize: 29, fontWeight: 'bold', color: '#0E3F8C' }}&gt;Three Consequences of Drawing Too Many Machines&lt;/Text&gt;&#10;    &lt;Text style={{ fontSize: 14, color: '#1E4FA8', fontWeight: 'bold' }}&gt;12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1&lt;/Text&gt;&#10;          &lt;Text style={{ fontSize: 19, fontWeight: 'bold', color: '#0E3F8C', lineHeight: 1.25 }}&gt;The invented state&lt;/Text&gt;&#10;          &lt;Text style={{ fontSize: 13, color: '#4A5568', lineHeight: 1.55 }}&gt;«Draft», «New», «Old» — states nobody acts on. They add arrows and remove meaning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2&lt;/Text&gt;&#10;          &lt;Text style={{ fontSize: 19, fontWeight: 'bold', color: '#0E3F8C', lineHeight: 1.25 }}&gt;The duplicated machine&lt;/Text&gt;&#10;          &lt;Text style={{ fontSize: 13, color: '#4A5568', lineHeight: 1.55 }}&gt;Order and OrderLine end up with nearly the same states, so now you must keep two in sync forever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SYMPTOM 03&lt;/Text&gt;&#10;          &lt;Text style={{ fontSize: 19, fontWeight: 'bold', color: '#0E3F8C', lineHeight: 1.25 }}&gt;The unwritable spec&lt;/Text&gt;&#10;          &lt;Text style={{ fontSize: 13, color: '#4A5568', lineHeight: 1.55 }}&gt;A machine with fourteen states cannot be printed on the back of a receipt, so nobody checks it against reality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2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01275" y="257175"/>
            <a:ext cx="1609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WHICH OBJECTS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9818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Consequences of Drawing Too Many Machines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01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invented state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«Draft», «New», «Old» — states nobody acts on. They add arrows and remove meaning.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02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duplicated machine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Order and OrderLine end up with nearly the same states, so now you must keep two in sync forever.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SYMPTOM 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The unwritable spec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 machine with fourteen states cannot be printed on the back of a receipt, so nobody checks it against reality.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38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3&lt;/Text&gt;&#10;    &lt;/Box&gt;&#10;    &lt;Box style={{ flex: 1, padding: '70px 64px', flexDirection: 'column', justifyContent: 'center' }}&gt;&#10;      &lt;Text style={{ fontSize: 15, color: '#7FA2D6', letterSpacing: 2, marginBottom: 18 }}&gt;PART 3 · LECTURE · 35 MIN&lt;/Text&gt;&#10;      &lt;Text style={{ fontSize: 46, fontWeight: 'bold', color: '#FFFFFF', lineHeight: 1.18 }}&gt;Activity Diagrams&lt;/Text&gt;&#10;      &lt;Box style={{ width: 64, height: 4, background: '#FFC107', marginTop: 26, marginBottom: 26 }} /&gt;&#10;      &lt;Box style={{ flexDirection: 'column', gap: 12 }}&gt;&#10;          &lt;Box key=&quot;A state machine answers: what is this ob&quot; style={{ flexDirection: 'row', alignItems: 'center', gap: 12 }}&gt;&#10;            &lt;Box style={{ width: 8, height: 8, borderRadius: 4, background: '#3D7BD9' }} /&gt;&#10;            &lt;Text style={{ fontSize: 20, color: '#C5D4EA' }}&gt;A state machine answers: what is this object right now?&lt;/Text&gt;&#10;          &lt;/Box&gt;&#10;          &lt;Box key=&quot;An activity diagram answers: what is bei&quot; style={{ flexDirection: 'row', alignItems: 'center', gap: 12 }}&gt;&#10;            &lt;Box style={{ width: 8, height: 8, borderRadius: 4, background: '#3D7BD9' }} /&gt;&#10;            &lt;Text style={{ fontSize: 20, color: '#C5D4EA' }}&gt;An activity diagram answers: what is being done, and by whom?&lt;/Text&gt;&#10;          &lt;/Box&gt;&#10;          &lt;Box key=&quot;Use lanes for responsibility, diamonds f&quot; style={{ flexDirection: 'row', alignItems: 'center', gap: 12 }}&gt;&#10;            &lt;Box style={{ width: 8, height: 8, borderRadius: 4, background: '#3D7BD9' }} /&gt;&#10;            &lt;Text style={{ fontSize: 20, color: '#C5D4EA' }}&gt;Use lanes for responsibility, diamonds for decisions, forks for genuine parallelism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" y="2171700"/>
            <a:ext cx="27813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3 · LECTURE · 35 MIN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Activity Diagrams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67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state machine answers: what is this object right now?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419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An activity diagram answers: what is being done, and by whom?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6810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Use lanes for responsibility, diamonds for decisions, forks for genuine parallelism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4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7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Activity vs. State — The Only Distinction You Need&lt;/Text&gt;&#10;    &lt;Text style={{ fontSize: 14, color: '#1E4FA8', fontWeight: 'bold' }}&gt;14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20, 390, 390]}&#10;      cells={[&#10;        [&#10;          { text: '', textStyle: {bold: true, color: '#FFFFFF', fontSize: 15}, cellStyle: {background: { color: '#0E3F8C' }} },&#10;          { text: 'State machine diagram', textStyle: {bold: true, color: '#FFFFFF', fontSize: 15}, cellStyle: {background: { color: '#1E4FA8' }} },&#10;          { text: 'Activity diagram', textStyle: {bold: true, color: '#FFFFFF', fontSize: 15}, cellStyle: {background: { color: '#1E4FA8' }} }&#10;        ],&#10;        [&#10;          { text: 'Question it answers', textStyle: {color: '#4A5568'}, cellStyle: {} },&#10;          { text: 'What is this one object doing over time?', textStyle: {color: '#4A5568'}, cellStyle: {} },&#10;          { text: 'What is the whole process doing?', textStyle: {color: '#4A5568'}, cellStyle: {} }&#10;        ],&#10;        [&#10;          { text: 'Boxes mean', textStyle: {color: '#4A5568'}, cellStyle: {background: { color: '#F7F9FC' }} },&#10;          { text: 'states of a single object', textStyle: {color: '#4A5568'}, cellStyle: {background: { color: '#F7F9FC' }} },&#10;          { text: 'steps of work, possibly many objects', textStyle: {color: '#4A5568'}, cellStyle: {background: { color: '#F7F9FC' }} }&#10;        ],&#10;        [&#10;          { text: 'Transitions mean', textStyle: {color: '#4A5568'}, cellStyle: {} },&#10;          { text: 'an event changed the object', textStyle: {color: '#4A5568'}, cellStyle: {} },&#10;          { text: 'the next step may begin', textStyle: {color: '#4A5568'}, cellStyle: {} }&#10;        ],&#10;        [&#10;          { text: 'Rows / lanes', textStyle: {color: '#4A5568'}, cellStyle: {background: { color: '#F7F9FC' }} },&#10;          { text: 'not used', textStyle: {color: '#4A5568'}, cellStyle: {background: { color: '#F7F9FC' }} },&#10;          { text: 'responsibility zones', textStyle: {color: '#4A5568'}, cellStyle: {background: { color: '#F7F9FC' }} }&#10;        ],&#10;        [&#10;          { text: 'Use it for', textStyle: {color: '#4A5568'}, cellStyle: {} },&#10;          { text: 'Order, Payment, Delivery lifecycles', textStyle: {color: '#4A5568'}, cellStyle: {} },&#10;          { text: 'Place Order, Cancel Order, the mid-term itself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4 / 38&lt;/Text&gt;&#10;  &lt;/Box&gt;&#10;  &lt;Box style={{ height: 46, background: '#0E3F8C', padding: '0 40px', flexDirection: 'row', alignItems: 'center', justifyContent: 'center' }}&gt;&#10;    &lt;Text style={{ fontSize: 16.5, color: '#FFFFFF', fontWeight: '600' }}&gt;If the sentence you want to say starts with «the order», draw a state machine. If it starts with «we», draw an activity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6579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Activity vs. State — The Only Distinction You Need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  <p:graphicFrame>
        <p:nvGraphicFramePr>
          <p:cNvPr id="8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229458">
                  <a:extLst>
                    <a:ext uri="{9D8B030D-6E8A-4147-A177-3AD203B41FA5}">
                      <a16:colId val="1"/>
                    </a:ext>
                  </a:extLst>
                </a:gridCol>
                <a:gridCol w="4305038">
                  <a:extLst>
                    <a:ext uri="{9D8B030D-6E8A-4147-A177-3AD203B41FA5}">
                      <a16:colId val="2"/>
                    </a:ext>
                  </a:extLst>
                </a:gridCol>
                <a:gridCol w="489550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79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State machine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Activity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Question it answers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is this one object doing over time?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is the whole process doing?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Boxes mean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states of a single object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steps of work, possibly many objects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Transitions mean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event changed the object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next step may begin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Rows / lanes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not used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responsibility zones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9571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it 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Order, Payment, Delivery lifecycles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Place Order, Cancel Order, the mid-term itself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38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790700" y="6543675"/>
            <a:ext cx="861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If the sentence you want to say starts with «the order», draw a state machine. If it starts with «we», draw an activity.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8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An Activity Diagram With a Decision&lt;/Text&gt;&#10;    &lt;Text style={{ fontSize: 14, color: '#1E4FA8', fontWeight: 'bold' }}&gt;15 / 38&lt;/Text&gt;&#10;  &lt;/Box&gt;&#10;  &lt;Box style={{ flex: 1, padding: '10px 40px 0 40px', flexDirection: 'column' }}&gt;&#10;    &lt;Box style={{ justifyContent: 'center', alignItems: 'center' }}&gt;&#10;    &lt;svg width={1180} height={342} viewBox='0 0 1180 $h'&gt;&#10;&#10;      &lt;text x='10' y='16' fill='#8B97A8' fontSize='13'&gt;Same seven steps as the use case, now as work — with the branch made visible.&lt;/text&gt;&#10;      &lt;circle cx='56' cy='110' r='13' fill='#2B7A3D' stroke='#2B7A3D' strokeWidth='2' /&gt;      &lt;rect x='140' y='92' width='210' height='46' rx='9' fill='#F0F5FC' stroke='#1E4FA8' strokeWidth='1.8' /&gt;&#10;      &lt;text x='245' y='119' textAnchor='middle' fill='#0E3F8C' fontSize='12.5'&gt;Review cart&lt;/text&gt;      &lt;polygon points='475,82 550,115 475,148 400,115' fill='#FFF6E0' stroke='#FFC107' strokeWidth='2' /&gt;&#10;      &lt;text x='475' y='119' textAnchor='middle' fill='#996F00' fontSize='12' fontWeight='bold'&gt;Payable?&lt;/text&gt;      &lt;rect x='600' y='46' width='200' height='46' rx='9' fill='#F0F5FC' stroke='#1E4FA8' strokeWidth='1.8' /&gt;&#10;      &lt;text x='700' y='73' textAnchor='middle' fill='#0E3F8C' fontSize='12.5'&gt;Authorise payment&lt;/text&gt;      &lt;rect x='600' y='180' width='200' height='46' rx='9' fill='#FFF6E0' stroke='#FFC107' strokeWidth='1.8' /&gt;&#10;      &lt;text x='700' y='207' textAnchor='middle' fill='#0E3F8C' fontSize='12.5'&gt;Show payable amount&lt;/text&gt;      &lt;rect x='860' y='92' width='190' height='46' rx='9' fill='#F0F5FC' stroke='#1E4FA8' strokeWidth='1.8' /&gt;&#10;      &lt;text x='955' y='119' textAnchor='middle' fill='#0E3F8C' fontSize='12.5'&gt;Create order&lt;/text&gt;      &lt;circle cx='1010' cy='220' r='13' fill='#8B3230' stroke='#8B3230' strokeWidth='2' /&gt;      &lt;line x1='82' y1='123' x2='130.1' y2='116.4' stroke='#0E3F8C' strokeWidth='1.8' /&gt;&#10;      &lt;polygon points='140.0,115.0 129.8,121.3 128.5,111.6' fill='#0E3F8C' /&gt;      &lt;line x1='350' y1='115' x2='390.0' y2='115.0' stroke='#0E3F8C' strokeWidth='1.8' /&gt;&#10;      &lt;polygon points='400.0,115.0 389.0,119.9 389.0,110.1' fill='#0E3F8C' /&gt;      &lt;line x1='475' y1='82' x2='590.1' y2='70.0' stroke='#0E3F8C' strokeWidth='1.8' /&gt;&#10;      &lt;polygon points='600.0,69.0 589.6,75.0 588.6,65.3' fill='#0E3F8C' /&gt;&#10;      &lt;text x='541' y='67' fill='#4A5568' fontSize='11'&gt;yes&lt;/text&gt;      &lt;line x1='475' y1='148' x2='590.8' y2='199.0' stroke='#0E3F8C' strokeWidth='1.8' /&gt;&#10;      &lt;polygon points='600.0,203.0 588.0,203.1 591.9,194.1' fill='#0E3F8C' /&gt;&#10;      &lt;text x='541' y='167' fill='#4A5568' fontSize='11'&gt;no&lt;/text&gt;      &lt;line x1='800' y1='69' x2='851.7' y2='103.5' stroke='#0E3F8C' strokeWidth='1.8' /&gt;&#10;      &lt;polygon points='860.0,109.0 848.2,107.0 853.6,98.9' fill='#0E3F8C' /&gt;      &lt;line x1='800' y1='203' x2='990.1' y2='231.5' stroke='#0E3F8C' strokeWidth='1.8' /&gt;&#10;      &lt;polygon points='1000.0,233.0 988.4,236.2 989.9,226.5' fill='#0E3F8C' /&gt;      &lt;line x1='1050' y1='115' x2='1025.5' y2='210.3' stroke='#0E3F8C' strokeWidth='1.8' /&gt;&#10;      &lt;polygon points='1023.0,220.0 1021.0,208.2 1030.5,210.6' fill='#0E3F8C' /&gt;&#10;      &lt;rect x='40' y='286' width='1100' height='46' rx='9' fill='#F0F5FC' /&gt;&#10;      &lt;text x='62' y='315' fill='#4A5568' fontSize='14'&gt;The diamond does not branch the diagram visually — both branches continue to the same end. That is why the lines matter more than the boxes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5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An Activity Diagram With a Decision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25755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38</a:t>
            </a:r>
            <a:endParaRPr/>
          </a:p>
        </p:txBody>
      </p:sp>
    </p:spTree>
  </p:cSld>
</p:sld>
</file>

<file path=ppt/slides/slide1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9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Decision and Merge&lt;/Text&gt;&#10;    &lt;Text style={{ fontSize: 14, color: '#1E4FA8', fontWeight: 'bold' }}&gt;16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60, 300, 440]}&#10;      cells={[&#10;        [&#10;          { text: 'Element', textStyle: {bold: true, color: '#FFFFFF', fontSize: 15}, cellStyle: {background: { color: '#0E3F8C' }} },&#10;          { text: 'Means', textStyle: {bold: true, color: '#FFFFFF', fontSize: 15}, cellStyle: {background: { color: '#1E4FA8' }} },&#10;          { text: 'Rule', textStyle: {bold: true, color: '#FFFFFF', fontSize: 15}, cellStyle: {background: { color: '#1E4FA8' }} }&#10;        ],&#10;        [&#10;          { text: 'Decision diamond', textStyle: {color: '#4A5568'}, cellStyle: {} },&#10;          { text: 'One path is taken', textStyle: {color: '#4A5568'}, cellStyle: {} },&#10;          { text: 'Exactly one branch must leave it — label all of them', textStyle: {color: '#4A5568'}, cellStyle: {} }&#10;        ],&#10;        [&#10;          { text: 'Merge diamond', textStyle: {color: '#4A5568'}, cellStyle: {background: { color: '#F7F9FC' }} },&#10;          { text: 'Several paths arrive, one continues', textStyle: {color: '#4A5568'}, cellStyle: {background: { color: '#F7F9FC' }} },&#10;          { text: 'Only valid if you can prove all incoming paths really do converge', textStyle: {color: '#4A5568'}, cellStyle: {background: { color: '#F7F9FC' }} }&#10;        ],&#10;        [&#10;          { text: 'Both on one node', textStyle: {color: '#4A5568'}, cellStyle: {} },&#10;          { text: 'Branch and rejoin in a single shape', textStyle: {color: '#4A5568'}, cellStyle: {} },&#10;          { text: 'Use only when the branch is trivial', textStyle: {color: '#4A5568'}, cellStyle: {} }&#10;        ],&#10;        [&#10;          { text: 'Unlabelled branch', textStyle: {color: '#4A5568'}, cellStyle: {background: { color: '#F7F9FC' }} },&#10;          { text: 'A branch nobody can evaluate', textStyle: {color: '#4A5568'}, cellStyle: {background: { color: '#F7F9FC' }} },&#10;          { text: 'Always illegal. A reader cannot choose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6 / 38&lt;/Text&gt;&#10;  &lt;/Box&gt;&#10;  &lt;Box style={{ height: 46, background: '#0E3F8C', padding: '0 40px', flexDirection: 'row', alignItems: 'center', justifyContent: 'center' }}&gt;&#10;    &lt;Text style={{ fontSize: 16.5, color: '#FFFFFF', fontWeight: '600' }}&gt;The single most common activity diagram defect is a branch with no guard. It is not a shortcut, it is a hol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26098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Decision and Merge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graphicFrame>
        <p:nvGraphicFramePr>
          <p:cNvPr id="106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844853">
                  <a:extLst>
                    <a:ext uri="{9D8B030D-6E8A-4147-A177-3AD203B41FA5}">
                      <a16:colId val="1"/>
                    </a:ext>
                  </a:extLst>
                </a:gridCol>
                <a:gridCol w="3447044">
                  <a:extLst>
                    <a:ext uri="{9D8B030D-6E8A-4147-A177-3AD203B41FA5}">
                      <a16:colId val="2"/>
                    </a:ext>
                  </a:extLst>
                </a:gridCol>
                <a:gridCol w="613810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Element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Means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Rule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Decision diamond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path is taken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Exactly one branch must leave it — label all of them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Merge diamond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Several paths arrive, one continues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Only valid if you can prove all incoming paths really do converge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Both on one node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Branch and rejoin in a single shape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only when the branch is trivial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Unlabelled branch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branch nobody can evaluate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Always illegal. A reader cannot choose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16 / 38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124075" y="6543675"/>
            <a:ext cx="794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single most common activity diagram defect is a branch with no guard. It is not a shortcut, it is a hole.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1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Fork and Join — Only for Real Parallelism&lt;/Text&gt;&#10;    &lt;Text style={{ fontSize: 14, color: '#1E4FA8', fontWeight: 'bold' }}&gt;17 / 38&lt;/Text&gt;&#10;  &lt;/Box&gt;&#10;  &lt;Box style={{ flex: 1, padding: '10px 40px 0 40px', flexDirection: 'column' }}&gt;&#10;    &lt;Box style={{ justifyContent: 'center', alignItems: 'center' }}&gt;&#10;    &lt;svg width={1180} height={382} viewBox='0 0 1180 $h'&gt;&#10;&#10;      &lt;text x='10' y='16' fill='#8B97A8' fontSize='13'&gt;A thick bar forks into concurrent sections. Use it when two things genuinely happen at once — not when they merely both happen.&lt;/text&gt;&#10;      &lt;rect x='40' y='44' width='1100' height='226' rx='10' fill='#FFFFFF' stroke='#D6DCE5' /&gt;&#10;      &lt;rect x='70' y='120' width='200' height='46' rx='9' fill='#F0F5FC' stroke='#1E4FA8' strokeWidth='1.8' /&gt;&#10;      &lt;text x='170' y='147' textAnchor='middle' fill='#0E3F8C' fontSize='12.5'&gt;Validate order&lt;/text&gt;      &lt;rect x='320' y='92' width='11' height='120' fill='#0E3F8C' /&gt;      &lt;rect x='390' y='62' width='280' height='46' rx='9' fill='#EAF6EC' stroke='#2B7A3D' strokeWidth='1.8' /&gt;&#10;      &lt;text x='530' y='89' textAnchor='middle' fill='#0E3F8C' fontSize='12.5'&gt;Check stock with kitchen&lt;/text&gt;      &lt;rect x='390' y='132' width='280' height='46' rx='9' fill='#EAF6EC' stroke='#2B7A3D' strokeWidth='1.8' /&gt;&#10;      &lt;text x='530' y='159' textAnchor='middle' fill='#0E3F8C' fontSize='12.5'&gt;Validate coupon code&lt;/text&gt;      &lt;rect x='390' y='202' width='280' height='46' rx='9' fill='#EAF6EC' stroke='#2B7A3D' strokeWidth='1.8' /&gt;&#10;      &lt;text x='530' y='229' textAnchor='middle' fill='#0E3F8C' fontSize='12.5'&gt;Notify courier&lt;/text&gt;      &lt;rect x='720' y='92' width='11' height='120' fill='#0E3F8C' /&gt;      &lt;rect x='790' y='132' width='230' height='46' rx='9' fill='#F0F5FC' stroke='#1E4FA8' strokeWidth='1.8' /&gt;&#10;      &lt;text x='905' y='159' textAnchor='middle' fill='#0E3F8C' fontSize='12.5'&gt;Commit the order&lt;/text&gt;      &lt;line x1='270' y1='143' x2='310.0' y2='143.0' stroke='#0E3F8C' strokeWidth='1.8' /&gt;&#10;      &lt;polygon points='320.0,143.0 309.0,147.9 309.0,138.1' fill='#0E3F8C' /&gt;      &lt;line x1='331' y1='143' x2='382.9' y2='92.0' stroke='#0E3F8C' strokeWidth='1.8' /&gt;&#10;      &lt;polygon points='390.0,85.0 385.6,96.2 378.8,89.2' fill='#0E3F8C' /&gt;      &lt;line x1='331' y1='143' x2='380.2' y2='153.0' stroke='#0E3F8C' strokeWidth='1.8' /&gt;&#10;      &lt;polygon points='390.0,155.0 378.3,157.6 380.2,148.0' fill='#0E3F8C' /&gt;      &lt;line x1='331' y1='143' x2='384.2' y2='216.9' stroke='#0E3F8C' strokeWidth='1.8' /&gt;&#10;      &lt;polygon points='390.0,225.0 379.6,219.0 387.6,213.2' fill='#0E3F8C' /&gt;      &lt;line x1='670' y1='85' x2='713.5' y2='135.4' stroke='#0E3F8C' strokeWidth='1.8' /&gt;&#10;      &lt;polygon points='720.0,143.0 709.1,137.9 716.6,131.5' fill='#0E3F8C' /&gt;      &lt;line x1='670' y1='155' x2='710.1' y2='149.4' stroke='#0E3F8C' strokeWidth='1.8' /&gt;&#10;      &lt;polygon points='720.0,148.0 709.8,154.4 708.5,144.7' fill='#0E3F8C' /&gt;      &lt;line x1='670' y1='225' x2='714.0' y2='166.0' stroke='#0E3F8C' strokeWidth='1.8' /&gt;&#10;      &lt;polygon points='720.0,158.0 717.4,169.7 709.5,163.9' fill='#0E3F8C' /&gt;      &lt;line x1='731' y1='143' x2='780.2' y2='153.0' stroke='#0E3F8C' strokeWidth='1.8' /&gt;&#10;      &lt;polygon points='790.0,155.0 778.3,157.6 780.2,148.0' fill='#0E3F8C' /&gt;&#10;      &lt;rect x='40' y='288' width='530' height='82' rx='9' fill='#EAF6EC' stroke='#2B7A3D' /&gt;&#10;      &lt;text x='62' y='314' fill='#2B7A3D' fontSize='14' fontWeight='bold'&gt;Legitimate fork&lt;/text&gt;&#10;      &lt;text x='62' y='340' fill='#4A5568' fontSize='13'&gt;Checking stock and checking a coupon genuinely run while&lt;/text&gt;&#10;      &lt;text x='62' y='358' fill='#4A5568' fontSize='13'&gt;the user waits. Nothing depends on the other.&lt;/text&gt;&#10;&#10;      &lt;rect x='610' y='288' width='530' height='82' rx='9' fill='#FCEBEB' stroke='#8B3230' /&gt;&#10;      &lt;text x='632' y='314' fill='#8B3230' fontSize='14' fontWeight='bold'&gt;Not a fork&lt;/text&gt;&#10;      &lt;text x='632' y='340' fill='#4A5568' fontSize='13'&gt;Cook, pack, hand over. These are three steps in sequence,&lt;/text&gt;&#10;      &lt;text x='632' y='358' fill='#4A5568' fontSize='13'&gt;so they are three boxes, not three branches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7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4959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Fork and Join — Only for Real Parallelism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638550"/>
          </a:xfrm>
          <a:prstGeom prst="rect">
            <a:avLst/>
          </a:prstGeom>
          <a:ln/>
        </p:spPr>
      </p:pic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17 / 38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2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Swimlanes for Responsibility&lt;/Text&gt;&#10;    &lt;Text style={{ fontSize: 14, color: '#1E4FA8', fontWeight: 'bold' }}&gt;18 / 38&lt;/Text&gt;&#10;  &lt;/Box&gt;&#10;  &lt;Box style={{ flex: 1, padding: '10px 40px 0 40px', flexDirection: 'column' }}&gt;&#10;    &lt;Box style={{ justifyContent: 'center', alignItems: 'center' }}&gt;&#10;    &lt;svg width={1180} height={414} viewBox='0 0 1180 $h'&gt;&#10;&#10;      &lt;text x='10' y='16' fill='#8B97A8' fontSize='13'&gt;A lane is a person or a system, not a department chart. The point is to see who does what.&lt;/text&gt;&#10;      &lt;rect x='40' y='40' width='1100' height='300' rx='8' fill='#FFFFFF' stroke='#D6DCE5' strokeWidth='1.4' /&gt;&#10;      &lt;line x1='406' y1='40' x2='406' y2='340' stroke='#D6DCE5' strokeWidth='1.4' /&gt;&#10;      &lt;line x1='772' y1='40' x2='772' y2='340' stroke='#D6DCE5' strokeWidth='1.4' /&gt;&#10;      &lt;rect x='40' y='40' width='366' height='30' fill='#F7F9FC' /&gt;&#10;      &lt;text x='223' y='60' textAnchor='middle' fill='#0E3F8C' fontSize='13' fontWeight='bold'&gt;Student&lt;/text&gt;&#10;      &lt;rect x='406' y='40' width='366' height='30' fill='#F0F5FC' /&gt;&#10;      &lt;text x='589' y='60' textAnchor='middle' fill='#0E3F8C' fontSize='13' fontWeight='bold'&gt;CampusBites&lt;/text&gt;&#10;      &lt;rect x='772' y='40' width='366' height='30' fill='#FFF6E0' /&gt;&#10;      &lt;text x='955' y='60' textAnchor='middle' fill='#0E3F8C' fontSize='13' fontWeight='bold'&gt;Kitchen&lt;/text&gt;      &lt;rect x='70' y='110' width='150' height='42' rx='9' fill='#F0F5FC' stroke='#1E4FA8' strokeWidth='1.8' /&gt;&#10;      &lt;text x='145' y='135' textAnchor='middle' fill='#0E3F8C' fontSize='12.5'&gt;Place order&lt;/text&gt;      &lt;rect x='430' y='110' width='190' height='42' rx='9' fill='#F0F5FC' stroke='#1E4FA8' strokeWidth='1.8' /&gt;&#10;      &lt;text x='525' y='135' textAnchor='middle' fill='#0E3F8C' fontSize='12.5'&gt;Validate cart&lt;/text&gt;      &lt;rect x='800' y='110' width='190' height='42' rx='9' fill='#F0F5FC' stroke='#1E4FA8' strokeWidth='1.8' /&gt;&#10;      &lt;text x='895' y='135' textAnchor='middle' fill='#0E3F8C' fontSize='12.5'&gt;Accept ticket&lt;/text&gt;      &lt;rect x='430' y='210' width='190' height='42' rx='9' fill='#F0F5FC' stroke='#1E4FA8' strokeWidth='1.8' /&gt;&#10;      &lt;text x='525' y='235' textAnchor='middle' fill='#0E3F8C' fontSize='12.5'&gt;Create order&lt;/text&gt;      &lt;line x1='220' y1='131' x2='420.0' y2='131.0' stroke='#0E3F8C' strokeWidth='1.8' /&gt;&#10;      &lt;polygon points='430.0,131.0 419.0,135.9 419.0,126.1' fill='#0E3F8C' /&gt;      &lt;line x1='620' y1='131' x2='790.0' y2='131.0' stroke='#0E3F8C' strokeWidth='1.8' /&gt;&#10;      &lt;polygon points='800.0,131.0 789.0,135.9 789.0,126.1' fill='#0E3F8C' /&gt;      &lt;line x1='895' y1='152' x2='534.9' y2='208.5' stroke='#0E3F8C' strokeWidth='1.8' /&gt;&#10;      &lt;polygon points='525.0,210.0 535.1,203.5 536.6,213.1' fill='#0E3F8C' /&gt;&#10;      &lt;text x='714' y='173' fill='#4A5568' fontSize='11'&gt;accepted&lt;/text&gt;      &lt;line x1='430' y1='231' x2='229.4' y2='155.5' stroke='#0E3F8C' strokeWidth='1.8' /&gt;&#10;      &lt;polygon points='220.0,152.0 232.0,151.3 228.5,160.4' fill='#0E3F8C' /&gt;&#10;      &lt;text x='329' y='183' fill='#4A5568' fontSize='11'&gt;confirmation&lt;/text&gt;&#10;      &lt;rect x='40' y='358' width='1100' height='46' rx='9' fill='#F0F5FC' /&gt;&#10;      &lt;text x='62' y='387' fill='#4A5568' fontSize='14'&gt;Lanes are roles, not teams. «CampusBites» is the system; «Kitchen» is a person using a screen. One step per lane crossing is the usual granularity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8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8385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Swimlanes for Responsibility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9433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18 / 38</a:t>
            </a:r>
            <a:endParaRPr/>
          </a:p>
        </p:txBody>
      </p:sp>
    </p:spTree>
  </p:cSld>
</p:sld>
</file>

<file path=ppt/slides/slide19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3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ACTIVITY DIAGRAMS&lt;/Text&gt;&#10;  &lt;/Box&gt;&#10;  &lt;Box style={{ padding: '13px 40px 0 40px', flexDirection: 'row', alignItems: 'center', justifyContent: 'space-between' }}&gt;&#10;    &lt;Text style={{ fontSize: 29, fontWeight: 'bold', color: '#0E3F8C' }}&gt;When You Actually Need an Activity Diagram&lt;/Text&gt;&#10;    &lt;Text style={{ fontSize: 14, color: '#1E4FA8', fontWeight: 'bold' }}&gt;19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360, 320, 320]}&#10;      cells={[&#10;        [&#10;          { text: 'Situation', textStyle: {bold: true, color: '#FFFFFF', fontSize: 15}, cellStyle: {background: { color: '#0E3F8C' }} },&#10;          { text: 'Diagram', textStyle: {bold: true, color: '#FFFFFF', fontSize: 15}, cellStyle: {background: { color: '#1E4FA8' }} },&#10;          { text: 'Because', textStyle: {bold: true, color: '#FFFFFF', fontSize: 15}, cellStyle: {background: { color: '#1E4FA8' }} }&#10;        ],&#10;        [&#10;          { text: 'One object has a lifecycle', textStyle: {color: '#4A5568'}, cellStyle: {} },&#10;          { text: 'State machine', textStyle: {color: '#4A5568'}, cellStyle: {} },&#10;          { text: 'The story is that object changing', textStyle: {color: '#4A5568'}, cellStyle: {} }&#10;        ],&#10;        [&#10;          { text: 'A use case spans several objects', textStyle: {color: '#4A5568'}, cellStyle: {background: { color: '#F7F9FC' }} },&#10;          { text: 'Activity diagram with lanes', textStyle: {color: '#4A5568'}, cellStyle: {background: { color: '#F7F9FC' }} },&#10;          { text: 'The story is the hand-off between them', textStyle: {color: '#4A5568'}, cellStyle: {background: { color: '#F7F9FC' }} }&#10;        ],&#10;        [&#10;          { text: 'A process crosses systems you do not own', textStyle: {color: '#4A5568'}, cellStyle: {} },&#10;          { text: 'Activity diagram', textStyle: {color: '#4A5568'}, cellStyle: {} },&#10;          { text: 'You need the hand-off, not the internals', textStyle: {color: '#4A5568'}, cellStyle: {} }&#10;        ],&#10;        [&#10;          { text: 'Nothing crosses, nothing changes hands', textStyle: {color: '#4A5568'}, cellStyle: {background: { color: '#F7F9FC' }} },&#10;          { text: 'Neither — write the use case', textStyle: {color: '#4A5568'}, cellStyle: {background: { color: '#F7F9FC' }} },&#10;          { text: 'A diagram would be three boxes and an arrow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19 / 38&lt;/Text&gt;&#10;  &lt;/Box&gt;&#10;  &lt;Box style={{ height: 46, background: '#0E3F8C', padding: '0 40px', flexDirection: 'row', alignItems: 'center', justifyContent: 'center' }}&gt;&#10;    &lt;Text style={{ fontSize: 16.5, color: '#FFFFFF', fontWeight: '600' }}&gt;Every diagram you add costs a review conversation. Add one when the crossing itself is the thing worth reading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944100" y="257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ACTIVITY DIAGRAMS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8959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When You Actually Need an Activity Diagram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graphicFrame>
        <p:nvGraphicFramePr>
          <p:cNvPr id="138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168626">
                  <a:extLst>
                    <a:ext uri="{9D8B030D-6E8A-4147-A177-3AD203B41FA5}">
                      <a16:colId val="1"/>
                    </a:ext>
                  </a:extLst>
                </a:gridCol>
                <a:gridCol w="2835822">
                  <a:extLst>
                    <a:ext uri="{9D8B030D-6E8A-4147-A177-3AD203B41FA5}">
                      <a16:colId val="2"/>
                    </a:ext>
                  </a:extLst>
                </a:gridCol>
                <a:gridCol w="442555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Situation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Because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object has a lifecycle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story is that object changing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use case spans several objects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Activity diagram with lanes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story is the hand-off between them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process crosses systems you do not own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Activity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need the hand-off, not the internals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Nothing crosses, nothing changes hands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Neither — write the use case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diagram would be three boxes and an arrow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19 / 38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885950" y="6543675"/>
            <a:ext cx="842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Every diagram you add costs a review conversation. Add one when the crossing itself is the thing worth reading.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4&lt;/Text&gt;&#10;    &lt;/Box&gt;&#10;    &lt;Box style={{ flex: 1, padding: '70px 64px', flexDirection: 'column', justifyContent: 'center' }}&gt;&#10;      &lt;Text style={{ fontSize: 15, color: '#7FA2D6', letterSpacing: 2, marginBottom: 18 }}&gt;PART 4 · BRIEFING · 10 MIN&lt;/Text&gt;&#10;      &lt;Text style={{ fontSize: 46, fontWeight: 'bold', color: '#FFFFFF', lineHeight: 1.18 }}&gt;Mid-term Briefing&lt;/Text&gt;&#10;      &lt;Box style={{ width: 64, height: 4, background: '#FFC107', marginTop: 26, marginBottom: 26 }} /&gt;&#10;      &lt;Box style={{ flexDirection: 'column', gap: 12 }}&gt;&#10;          &lt;Box key=&quot;M1 and M2 are assessed today — this is t&quot; style={{ flexDirection: 'row', alignItems: 'center', gap: 12 }}&gt;&#10;            &lt;Box style={{ width: 8, height: 8, borderRadius: 4, background: '#3D7BD9' }} /&gt;&#10;            &lt;Text style={{ fontSize: 20, color: '#C5D4EA' }}&gt;M1 and M2 are assessed today — this is the first scored checkpoint&lt;/Text&gt;&#10;          &lt;/Box&gt;&#10;          &lt;Box key=&quot;Twenty minutes per team: eight to presen&quot; style={{ flexDirection: 'row', alignItems: 'center', gap: 12 }}&gt;&#10;            &lt;Box style={{ width: 8, height: 8, borderRadius: 4, background: '#3D7BD9' }} /&gt;&#10;            &lt;Text style={{ fontSize: 20, color: '#C5D4EA' }}&gt;Twenty minutes per team: eight to present, ten to answer, two to receive&lt;/Text&gt;&#10;          &lt;/Box&gt;&#10;          &lt;Box key=&quot;Every member is questioned. Prepare acco&quot; style={{ flexDirection: 'row', alignItems: 'center', gap: 12 }}&gt;&#10;            &lt;Box style={{ width: 8, height: 8, borderRadius: 4, background: '#3D7BD9' }} /&gt;&#10;            &lt;Text style={{ fontSize: 20, color: '#C5D4EA' }}&gt;Every member is questioned. Prepare accordingly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3845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4 · BRIEFING · 10 MIN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Mid-term Briefing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M1 and M2 are assessed today — this is the first scored checkpoint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606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Twenty minutes per team: eight to present, ten to answer, two to receive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4219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Every member is questioned. Prepare accordingly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94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BRIEFING&lt;/Text&gt;&#10;  &lt;/Box&gt;&#10;  &lt;Box style={{ padding: '13px 40px 0 40px', flexDirection: 'row', alignItems: 'center', justifyContent: 'space-between' }}&gt;&#10;    &lt;Text style={{ fontSize: 29, fontWeight: 'bold', color: '#0E3F8C' }}&gt;The Twenty Minutes, Broken Down&lt;/Text&gt;&#10;    &lt;Text style={{ fontSize: 14, color: '#1E4FA8', fontWeight: 'bold' }}&gt;21 / 38&lt;/Text&gt;&#10;  &lt;/Box&gt;&#10;  &lt;Box style={{ flex: 1, padding: '10px 40px 0 40px', flexDirection: 'column' }}&gt;&#10;    &lt;Table&#10;      style={{ width: '100%', height: '100%' }}&#10;      defaultTextStyle={{ fontSize: 13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30, 130, 230, 410]}&#10;      cells={[&#10;        [&#10;          { text: 'Segment', textStyle: {bold: true, color: '#FFFFFF', fontSize: 15}, cellStyle: {background: { color: '#0E3F8C' }} },&#10;          { text: 'Minutes', textStyle: {bold: true, color: '#FFFFFF', fontSize: 15}, cellStyle: {background: { color: '#1E4FA8' }} },&#10;          { text: 'Who', textStyle: {bold: true, color: '#FFFFFF', fontSize: 15}, cellStyle: {background: { color: '#1E4FA8' }} },&#10;          { text: 'What happens', textStyle: {bold: true, color: '#FFFFFF', fontSize: 15}, cellStyle: {background: { color: '#1E4FA8' }} }&#10;        ],&#10;        [&#10;          { text: 'Walkthrough', textStyle: {color: '#4A5568'}, cellStyle: {} },&#10;          { text: '8', textStyle: {color: '#4A5568'}, cellStyle: {} },&#10;          { text: 'Presenting team', textStyle: {color: '#4A5568'}, cellStyle: {} },&#10;          { text: 'M1 use cases and specs, then M2 domain model, sequence diagrams, one state machine', textStyle: {color: '#4A5568'}, cellStyle: {} }&#10;        ],&#10;        [&#10;          { text: 'Individual Q&amp;A', textStyle: {color: '#4A5568'}, cellStyle: {background: { color: '#F7F9FC' }} },&#10;          { text: '10', textStyle: {color: '#4A5568'}, cellStyle: {background: { color: '#F7F9FC' }} },&#10;          { text: 'Every member', textStyle: {color: '#4A5568'}, cellStyle: {background: { color: '#F7F9FC' }} },&#10;          { text: 'Questioned one at a time about their own part', textStyle: {color: '#4A5568'}, cellStyle: {background: { color: '#F7F9FC' }} }&#10;        ],&#10;        [&#10;          { text: 'Feedback', textStyle: {color: '#4A5568'}, cellStyle: {} },&#10;          { text: '2', textStyle: {color: '#4A5568'}, cellStyle: {} },&#10;          { text: 'Instructor', textStyle: {color: '#4A5568'}, cellStyle: {} },&#10;          { text: 'Three findings, spoken aloud, written down after', textStyle: {color: '#4A5568'}, cellStyle: {} }&#10;        ],&#10;        [&#10;          { text: 'Observer questions', textStyle: {color: '#4A5568'}, cellStyle: {background: { color: '#F7F9FC' }} },&#10;          { text: 'during', textStyle: {color: '#4A5568'}, cellStyle: {background: { color: '#F7F9FC' }} },&#10;          { text: 'Observing team', textStyle: {color: '#4A5568'}, cellStyle: {background: { color: '#F7F9FC' }} },&#10;          { text: 'May ask from the client perspective only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1 / 38&lt;/Text&gt;&#10;  &lt;/Box&gt;&#10;  &lt;Box style={{ height: 46, background: '#0E3F8C', padding: '0 40px', flexDirection: 'row', alignItems: 'center', justifyContent: 'center' }}&gt;&#10;    &lt;Text style={{ fontSize: 16.5, color: '#FFFFFF', fontWeight: '600' }}&gt;Eight minutes for four artefacts is roughly two each. Rehearse the order model and the state machine; they are what questions will targe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953625" y="2571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BRIEFING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5624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Twenty Minutes, Broken Down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  <p:graphicFrame>
        <p:nvGraphicFramePr>
          <p:cNvPr id="201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708091">
                  <a:extLst>
                    <a:ext uri="{9D8B030D-6E8A-4147-A177-3AD203B41FA5}">
                      <a16:colId val="1"/>
                    </a:ext>
                  </a:extLst>
                </a:gridCol>
                <a:gridCol w="927886">
                  <a:extLst>
                    <a:ext uri="{9D8B030D-6E8A-4147-A177-3AD203B41FA5}">
                      <a16:colId val="2"/>
                    </a:ext>
                  </a:extLst>
                </a:gridCol>
                <a:gridCol w="1457311">
                  <a:extLst>
                    <a:ext uri="{9D8B030D-6E8A-4147-A177-3AD203B41FA5}">
                      <a16:colId val="3"/>
                    </a:ext>
                  </a:extLst>
                </a:gridCol>
                <a:gridCol w="733671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1051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Segment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Minutes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happens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Walkthrough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Presenting team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M1 use cases and specs, then M2 domain model, sequence diagrams, one state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Individual Q&amp;A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member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Questioned one at a time about their own part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Feedback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Instructor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Three findings, spoken aloud, written down after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158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Observer questions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during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Observing team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May ask from the client perspective only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21 / 38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52500" y="6543675"/>
            <a:ext cx="1028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Eight minutes for four artefacts is roughly two each. Rehearse the order model and the state machine; they are what questions will target.</a:t>
            </a:r>
            <a:endParaRPr/>
          </a:p>
        </p:txBody>
      </p:sp>
    </p:spTree>
  </p:cSld>
</p:sld>
</file>

<file path=ppt/slides/slide22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206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BRIEFING&lt;/Text&gt;&#10;  &lt;/Box&gt;&#10;  &lt;Box style={{ padding: '13px 40px 0 40px', flexDirection: 'row', alignItems: 'center', justifyContent: 'space-between' }}&gt;&#10;    &lt;Text style={{ fontSize: 29, fontWeight: 'bold', color: '#0E3F8C' }}&gt;What Is Being Assessed&lt;/Text&gt;&#10;    &lt;Text style={{ fontSize: 14, color: '#1E4FA8', fontWeight: 'bold' }}&gt;22 / 38&lt;/Text&gt;&#10;  &lt;/Box&gt;&#10;  &lt;Box style={{ flex: 1, padding: '10px 40px 0 40px', flexDirection: 'column' }}&gt;&#10;    &lt;Table&#10;      style={{ width: '100%', height: '100%' }}&#10;      defaultTextStyle={{ fontSize: 12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50, 430, 320]}&#10;      cells={[&#10;        [&#10;          { text: 'Artefact', textStyle: {bold: true, color: '#FFFFFF', fontSize: 15}, cellStyle: {background: { color: '#0E3F8C' }} },&#10;          { text: 'Assessed for', textStyle: {bold: true, color: '#FFFFFF', fontSize: 15}, cellStyle: {background: { color: '#1E4FA8' }} },&#10;          { text: 'Common finding', textStyle: {bold: true, color: '#FFFFFF', fontSize: 15}, cellStyle: {background: { color: '#1E4FA8' }} }&#10;        ],&#10;        [&#10;          { text: 'Use case specifications', textStyle: {color: '#4A5568'}, cellStyle: {} },&#10;          { text: 'Steps that a person could follow; extensions in the right place', textStyle: {color: '#4A5568'}, cellStyle: {} },&#10;          { text: 'Extensions written as new main paths', textStyle: {color: '#4A5568'}, cellStyle: {} }&#10;        ],&#10;        [&#10;          { text: 'Domain model v2', textStyle: {color: '#4A5568'}, cellStyle: {background: { color: '#F7F9FC' }} },&#10;          { text: 'Named associations, multiplicity on every end, justified diamonds', textStyle: {color: '#4A5568'}, cellStyle: {background: { color: '#F7F9FC' }} },&#10;          { text: 'Missing multiplicities on optional links', textStyle: {color: '#4A5568'}, cellStyle: {background: { color: '#F7F9FC' }} }&#10;        ],&#10;        [&#10;          { text: 'Sequence diagrams', textStyle: {color: '#4A5568'}, cellStyle: {} },&#10;          { text: 'Correct layers, frames containing their own messages, justified operations', textStyle: {color: '#4A5568'}, cellStyle: {} },&#10;          { text: 'UI events modelled as business steps', textStyle: {color: '#4A5568'}, cellStyle: {} }&#10;        ],&#10;        [&#10;          { text: 'State machine', textStyle: {color: '#4A5568'}, cellStyle: {background: { color: '#F7F9FC' }} },&#10;          { text: 'Only where the two-question test passes; guards that name business conditions', textStyle: {color: '#4A5568'}, cellStyle: {background: { color: '#F7F9FC' }} },&#10;          { text: 'Machines on objects with no lifecycle', textStyle: {color: '#4A5568'}, cellStyle: {background: { color: '#F7F9FC' }} }&#10;        ],&#10;        [&#10;          { text: 'Traceability', textStyle: {color: '#4A5568'}, cellStyle: {} },&#10;          { text: 'Every method traceable to a message; every message to a scenario step', textStyle: {color: '#4A5568'}, cellStyle: {} },&#10;          { text: 'Operations nobody can trace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2 / 38&lt;/Text&gt;&#10;  &lt;/Box&gt;&#10;  &lt;Box style={{ height: 46, background: '#0E3F8C', padding: '0 40px', flexDirection: 'row', alignItems: 'center', justifyContent: 'center' }}&gt;&#10;    &lt;Text style={{ fontSize: 16.5, color: '#FFFFFF', fontWeight: '600' }}&gt;The right-hand column is not hypothetical — those are the findings from the last cohort. Check yours before you walk in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953625" y="2571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BRIEFING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What Is Being Assessed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graphicFrame>
        <p:nvGraphicFramePr>
          <p:cNvPr id="213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979623">
                  <a:extLst>
                    <a:ext uri="{9D8B030D-6E8A-4147-A177-3AD203B41FA5}">
                      <a16:colId val="1"/>
                    </a:ext>
                  </a:extLst>
                </a:gridCol>
                <a:gridCol w="6358448">
                  <a:extLst>
                    <a:ext uri="{9D8B030D-6E8A-4147-A177-3AD203B41FA5}">
                      <a16:colId val="2"/>
                    </a:ext>
                  </a:extLst>
                </a:gridCol>
                <a:gridCol w="309192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905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Artefact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Assessed for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Common finding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905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Use case specifications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Steps that a person could follow; extensions in the right place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Extensions written as new main paths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905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model v2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Named associations, multiplicity on every end, justified diamonds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Missing multiplicities on optional links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905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Sequence diagrams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Correct layers, frames containing their own messages, justified operations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UI events modelled as business steps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905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State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Only where the two-question test passes; guards that name business conditions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Machines on objects with no lifecycle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905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Traceability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method traceable to a message; every message to a scenario step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Operations nobody can trace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22 / 38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581150" y="6543675"/>
            <a:ext cx="902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right-hand column is not hypothetical — those are the findings from the last cohort. Check yours before you walk in.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BRIEFING&lt;/Text&gt;&#10;  &lt;/Box&gt;&#10;  &lt;Box style={{ padding: '13px 40px 0 40px', flexDirection: 'row', alignItems: 'center', justifyContent: 'space-between' }}&gt;&#10;    &lt;Text style={{ fontSize: 29, fontWeight: 'bold', color: '#0E3F8C' }}&gt;Preparing for Individual Q&amp;amp;A&lt;/Text&gt;&#10;    &lt;Text style={{ fontSize: 14, color: '#1E4FA8', fontWeight: 'bold' }}&gt;23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PREPARE 01&lt;/Text&gt;&#10;          &lt;Text style={{ fontSize: 19, fontWeight: 'bold', color: '#0E3F8C', lineHeight: 1.25 }}&gt;Your own sentences&lt;/Text&gt;&#10;          &lt;Text style={{ fontSize: 13, color: '#4A5568', lineHeight: 1.55 }}&gt;Be able to say which specification line produced each of your classes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PREPARE 02&lt;/Text&gt;&#10;          &lt;Text style={{ fontSize: 19, fontWeight: 'bold', color: '#0E3F8C', lineHeight: 1.25 }}&gt;Your own arrows&lt;/Text&gt;&#10;          &lt;Text style={{ fontSize: 13, color: '#4A5568', lineHeight: 1.55 }}&gt;Name the method behind any arrow in your diagram, and the class that owns it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PREPARE 03&lt;/Text&gt;&#10;          &lt;Text style={{ fontSize: 19, fontWeight: 'bold', color: '#0E3F8C', lineHeight: 1.25 }}&gt;Your weakest point&lt;/Text&gt;&#10;          &lt;Text style={{ fontSize: 13, color: '#4A5568', lineHeight: 1.55 }}&gt;Bring it up yourself. Naming a known gap is worth more than being caught by it.&lt;/Text&gt;&#10;        &lt;/Box&gt;&#10;        &lt;Box style={{ width: '31.5%', padding: '18px 18px', background: '#F7F9FC', borderRadius: 10, border: '1px solid #E5E7EB', borderTop: '4px solid #2B7A3D', flexDirection: 'column', gap: 8 }}&gt;&#10;          &lt;Text style={{ fontSize: 13, color: '#8B97A8', letterSpacing: 1 }}&gt;REMEMBER&lt;/Text&gt;&#10;          &lt;Text style={{ fontSize: 19, fontWeight: 'bold', color: '#0E3F8C', lineHeight: 1.25 }}&gt;«I do not know yet»&lt;/Text&gt;&#10;          &lt;Text style={{ fontSize: 13, color: '#4A5568', lineHeight: 1.55 }}&gt;An honest unknown scores better than an invented answer — and the rubric says so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953625" y="2571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BRIEFING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7909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Preparing for Individual Q&amp;A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PREPARE 01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Your own sentences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Be able to say which specification line produced each of your classes.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PREPARE 02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Your own arrows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Name the method behind any arrow in your diagram, and the class that owns it.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PREPARE 03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Your weakest point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Bring it up yourself. Naming a known gap is worth more than being caught by it.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81000" y="28765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381000" y="28765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2B7A3D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2450" y="30480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REMEMBER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52450" y="32766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«I do not know yet»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52450" y="36290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An honest unknown scores better than an invented answer — and the rubric says so.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23 / 38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BRIEFING&lt;/Text&gt;&#10;  &lt;/Box&gt;&#10;  &lt;Box style={{ padding: '13px 40px 0 40px', flexDirection: 'row', alignItems: 'center', justifyContent: 'space-between' }}&gt;&#10;    &lt;Text style={{ fontSize: 29, fontWeight: 'bold', color: '#0E3F8C' }}&gt;Three Findings That Repeat Every Year&lt;/Text&gt;&#10;    &lt;Text style={{ fontSize: 14, color: '#1E4FA8', fontWeight: 'bold' }}&gt;24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FINDING 01&lt;/Text&gt;&#10;          &lt;Text style={{ fontSize: 19, fontWeight: 'bold', color: '#0E3F8C', lineHeight: 1.25 }}&gt;Multiplicity left blank&lt;/Text&gt;&#10;          &lt;Text style={{ fontSize: 13, color: '#4A5568', lineHeight: 1.55 }}&gt;«We will decide the cardinality in design.» It cannot be decided later — it is a business fact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FINDING 02&lt;/Text&gt;&#10;          &lt;Text style={{ fontSize: 19, fontWeight: 'bold', color: '#0E3F8C', lineHeight: 1.25 }}&gt;Sequence diagram from the classes&lt;/Text&gt;&#10;          &lt;Text style={{ fontSize: 13, color: '#4A5568', lineHeight: 1.55 }}&gt;The diagram then describes the model instead of the conversation, and the use case is ignored.&lt;/Text&gt;&#10;        &lt;/Box&gt;&#10;        &lt;Box style={{ width: '31.5%', padding: '18px 18px', background: '#F7F9FC', borderRadius: 10, border: '1px solid #E5E7EB', borderTop: '4px solid #8B3230', flexDirection: 'column', gap: 8 }}&gt;&#10;          &lt;Text style={{ fontSize: 13, color: '#8B97A8', letterSpacing: 1 }}&gt;FINDING 03&lt;/Text&gt;&#10;          &lt;Text style={{ fontSize: 19, fontWeight: 'bold', color: '#0E3F8C', lineHeight: 1.25 }}&gt;A state machine on everything&lt;/Text&gt;&#10;          &lt;Text style={{ fontSize: 13, color: '#4A5568', lineHeight: 1.55 }}&gt;Every class has four states and none of them mean anything to a client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4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953625" y="2571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BRIEFING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1339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Three Findings That Repeat Every Year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FINDING 01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Multiplicity left blank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«We will decide the cardinality in design.» It cannot be decided later — it is a business fact.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FINDING 02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Sequence diagram from the classes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The diagram then describes the model instead of the conversation, and the use case is ignored.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8B3230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FINDING 03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A state machine on everything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Every class has four states and none of them mean anything to a client.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24 / 38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5&lt;/Text&gt;&#10;    &lt;/Box&gt;&#10;    &lt;Box style={{ flex: 1, padding: '70px 64px', flexDirection: 'column', justifyContent: 'center' }}&gt;&#10;      &lt;Text style={{ fontSize: 15, color: '#7FA2D6', letterSpacing: 2, marginBottom: 18 }}&gt;PART 5 · WORKED EXAMPLES&lt;/Text&gt;&#10;      &lt;Text style={{ fontSize: 46, fontWeight: 'bold', color: '#FFFFFF', lineHeight: 1.18 }}&gt;Two Diagrams, Two Purposes&lt;/Text&gt;&#10;      &lt;Box style={{ width: 64, height: 4, background: '#FFC107', marginTop: 26, marginBottom: 26 }} /&gt;&#10;      &lt;Box style={{ flexDirection: 'column', gap: 12 }}&gt;&#10;          &lt;Box key=&quot;A state machine for the Order lifecycle &quot; style={{ flexDirection: 'row', alignItems: 'center', gap: 12 }}&gt;&#10;            &lt;Box style={{ width: 8, height: 8, borderRadius: 4, background: '#3D7BD9' }} /&gt;&#10;            &lt;Text style={{ fontSize: 20, color: '#C5D4EA' }}&gt;A state machine for the Order lifecycle — the one you will defend in review&lt;/Text&gt;&#10;          &lt;/Box&gt;&#10;          &lt;Box key=&quot;An activity diagram for Place Order — th&quot; style={{ flexDirection: 'row', alignItems: 'center', gap: 12 }}&gt;&#10;            &lt;Box style={{ width: 8, height: 8, borderRadius: 4, background: '#3D7BD9' }} /&gt;&#10;            &lt;Text style={{ fontSize: 20, color: '#C5D4EA' }}&gt;An activity diagram for Place Order — the one that shows who does what&lt;/Text&gt;&#10;          &lt;/Box&gt;&#10;          &lt;Box key=&quot;Same scenario, two questions, two diagra&quot; style={{ flexDirection: 'row', alignItems: 'center', gap: 12 }}&gt;&#10;            &lt;Box style={{ width: 8, height: 8, borderRadius: 4, background: '#3D7BD9' }} /&gt;&#10;            &lt;Text style={{ fontSize: 20, color: '#C5D4EA' }}&gt;Same scenario, two questions, two diagrams. Never merge them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" y="2171700"/>
            <a:ext cx="27336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5 · WORKED EXAMPLES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Two Diagrams, Two Purposes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 state machine for the Order lifecycle — the one you will defend in review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6181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An activity diagram for Place Order — the one that shows who does what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546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Same scenario, two questions, two diagrams. Never merge them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8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ORKED EXAMPLES&lt;/Text&gt;&#10;  &lt;/Box&gt;&#10;  &lt;Box style={{ padding: '13px 40px 0 40px', flexDirection: 'row', alignItems: 'center', justifyContent: 'space-between' }}&gt;&#10;    &lt;Text style={{ fontSize: 29, fontWeight: 'bold', color: '#0E3F8C' }}&gt;Order — The Machine You Must Be Able to Draw&lt;/Text&gt;&#10;    &lt;Text style={{ fontSize: 14, color: '#1E4FA8', fontWeight: 'bold' }}&gt;26 / 38&lt;/Text&gt;&#10;  &lt;/Box&gt;&#10;  &lt;Box style={{ flex: 1, padding: '10px 40px 0 40px', flexDirection: 'column' }}&gt;&#10;    &lt;Box style={{ justifyContent: 'center', alignItems: 'center' }}&gt;&#10;    &lt;svg width={1180} height={356} viewBox='0 0 1180 $h'&gt;&#10;&#10;      &lt;text x='10' y='14' fill='#8B97A8' fontSize='12.5'&gt;Composite Fulfilling, two failure states, and guards that name real conditions.&lt;/text&gt;&#10;      &lt;circle cx='40' cy='84' r='7' fill='#2B7A3D' /&gt;      &lt;rect x='74' y='56' width='150' height='56' rx='9' fill='#F7F9FC' stroke='#1E4FA8' strokeWidth='2' /&gt;&#10;      &lt;text x='149' y='89' textAnchor='middle' fill='#0E3F8C' fontSize='15' fontWeight='bold'&gt;Created&lt;/text&gt;      &lt;rect x='300' y='40' width='470' height='120' rx='12' fill='#FFFFFF' stroke='#1E4FA8' strokeWidth='1.8' strokeDasharray='8 5' /&gt;&#10;      &lt;text x='318' y='64' fill='#0E3F8C' fontSize='14' fontWeight='bold'&gt;Fulfilling&lt;/text&gt;&#10;      &lt;text x='418' y='64' fill='#8B97A8' fontSize='11.5'&gt;do: reserve stock&lt;/text&gt;      &lt;rect x='330' y='78' width='160' height='56' rx='9' fill='#F7F9FC' stroke='#1E4FA8' strokeWidth='2' /&gt;&#10;      &lt;text x='410' y='111' textAnchor='middle' fill='#0E3F8C' fontSize='15' fontWeight='bold'&gt;Preparing&lt;/text&gt;      &lt;rect x='560' y='78' width='190' height='56' rx='9' fill='#F7F9FC' stroke='#1E4FA8' strokeWidth='2' /&gt;&#10;      &lt;text x='655' y='111' textAnchor='middle' fill='#0E3F8C' fontSize='15' fontWeight='bold'&gt;ReadyForPickup&lt;/text&gt;      &lt;rect x='330' y='200' width='190' height='56' rx='9' fill='#FCEBEB' stroke='#8B3230' strokeWidth='2' /&gt;&#10;      &lt;text x='425' y='233' textAnchor='middle' fill='#0E3F8C' fontSize='15' fontWeight='bold'&gt;Cancelled&lt;/text&gt;      &lt;rect x='700' y='200' width='190' height='56' rx='9' fill='#FCEBEB' stroke='#8B3230' strokeWidth='2' /&gt;&#10;      &lt;text x='795' y='233' textAnchor='middle' fill='#0E3F8C' fontSize='15' fontWeight='bold'&gt;Refunding&lt;/text&gt;      &lt;rect x='960' y='78' width='170' height='56' rx='9' fill='#EAF6EC' stroke='#2B7A3D' strokeWidth='2' /&gt;&#10;      &lt;text x='1045' y='111' textAnchor='middle' fill='#0E3F8C' fontSize='15' fontWeight='bold'&gt;Delivered&lt;/text&gt;      &lt;circle cx='1170' cy='106' r='12' fill='none' stroke='#8B3230' strokeWidth='2.4' /&gt;&#10;      &lt;circle cx='1170' cy='106' r='9' fill='#8B3230' /&gt;      &lt;line x1='67' y1='84' x2='62.0' y2='84.0' stroke='#0E3F8C' strokeWidth='2' /&gt;&#10;      &lt;polygon points='74.0,84.0 62.1,89.3 62.1,78.7' fill='#0E3F8C' /&gt;      &lt;line x1='224' y1='72' x2='318.3' y2='93.4' stroke='#0E3F8C' strokeWidth='2' /&gt;&#10;      &lt;polygon points='330.0,96.0 317.3,98.5 319.6,88.2' fill='#0E3F8C' /&gt;&#10;      &lt;text x='248' y='54' fill='#1A2230' fontSize='13'&gt;pay&lt;/text&gt;&#10;      &lt;text x='248' y='69' fill='#996F00' fontSize='11.5' fontStyle='italic'&gt;[card ok]&lt;/text&gt;      &lt;line x1='490' y1='106' x2='548.0' y2='106.0' stroke='#0E3F8C' strokeWidth='2' /&gt;&#10;      &lt;polygon points='560.0,106.0 548.1,111.3 548.1,100.7' fill='#0E3F8C' /&gt;&#10;      &lt;text x='525' y='98' fill='#1A2230' fontSize='13'&gt;finish&lt;/text&gt;      &lt;line x1='750' y1='92' x2='948.0' y2='95.8' stroke='#0E3F8C' strokeWidth='2' /&gt;&#10;      &lt;polygon points='960.0,96.0 948.0,101.1 948.2,90.5' fill='#0E3F8C' /&gt;&#10;      &lt;text x='855' y='86' fill='#1A2230' fontSize='13'&gt;collect&lt;/text&gt;      &lt;line x1='1130' y1='106' x2='1146.0' y2='106.0' stroke='#0E3F8C' strokeWidth='2' /&gt;&#10;      &lt;polygon points='1158.0,106.0 1146.1,111.3 1146.1,100.7' fill='#0E3F8C' /&gt;      &lt;line x1='150' y1='112' x2='368.8' y2='195.7' stroke='#0E3F8C' strokeWidth='2' /&gt;&#10;      &lt;polygon points='380.0,200.0 367.0,200.7 370.8,190.8' fill='#0E3F8C' /&gt;&#10;      &lt;text x='248' y='126' fill='#1A2230' fontSize='13'&gt;cancel&lt;/text&gt;&#10;      &lt;text x='248' y='141' fill='#996F00' fontSize='11.5' fontStyle='italic'&gt;[before prep]&lt;/text&gt;      &lt;line x1='410' y1='134' x2='768.2' y2='197.9' stroke='#0E3F8C' strokeWidth='2' /&gt;&#10;      &lt;polygon points='780.0,200.0 767.4,203.1 769.2,192.7' fill='#0E3F8C' /&gt;&#10;      &lt;text x='600' y='144' fill='#1A2230' fontSize='13'&gt;refund&lt;/text&gt;&#10;      &lt;text x='600' y='159' fill='#996F00' fontSize='11.5' fontStyle='italic'&gt;[payment taken]&lt;/text&gt;      &lt;circle cx='420' cy='256' r='11' fill='none' stroke='#8B3230' strokeWidth='2.4' /&gt;&#10;      &lt;circle cx='420' cy='256' r='8' fill='#8B3230' /&gt;      &lt;circle cx='890' cy='256' r='11' fill='none' stroke='#8B3230' strokeWidth='2.4' /&gt;&#10;      &lt;circle cx='890' cy='256' r='8' fill='#8B3230' /&gt;&#10;      &lt;rect x='40' y='300' width='1100' height='46' rx='9' fill='#EAF6EC' stroke='#2B7A3D' /&gt;&#10;      &lt;text x='62' y='329' fill='#2B7A3D' fontSize='14'&gt;Two ends, and both are honest: a cancelled order never completes, and a refund is its own small lifecycle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6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934575" y="25717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WORKED EXAMPLES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3531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Order — The Machine You Must Be Able to Draw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  <p:pic>
        <p:nvPicPr>
          <p:cNvPr id="2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390900"/>
          </a:xfrm>
          <a:prstGeom prst="rect">
            <a:avLst/>
          </a:prstGeom>
          <a:ln/>
        </p:spPr>
      </p:pic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26 / 38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29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ORKED EXAMPLES&lt;/Text&gt;&#10;  &lt;/Box&gt;&#10;  &lt;Box style={{ padding: '13px 40px 0 40px', flexDirection: 'row', alignItems: 'center', justifyContent: 'space-between' }}&gt;&#10;    &lt;Text style={{ fontSize: 29, fontWeight: 'bold', color: '#0E3F8C' }}&gt;Place Order — The Process, Not the Object&lt;/Text&gt;&#10;    &lt;Text style={{ fontSize: 14, color: '#1E4FA8', fontWeight: 'bold' }}&gt;27 / 38&lt;/Text&gt;&#10;  &lt;/Box&gt;&#10;  &lt;Box style={{ flex: 1, padding: '10px 40px 0 40px', flexDirection: 'column' }}&gt;&#10;    &lt;Box style={{ justifyContent: 'center', alignItems: 'center' }}&gt;&#10;    &lt;svg width={1180} height={394} viewBox='0 0 1180 $h'&gt;&#10;&#10;      &lt;text x='10' y='14' fill='#8B97A8' fontSize='12.5'&gt;Four lanes. Note that the order state machine does not appear anywhere here — this is work, not lifecycle.&lt;/text&gt;&#10;      &lt;rect x='40' y='34' width='1100' height='288' rx='8' fill='#FFFFFF' stroke='#D6DCE5' strokeWidth='1.4' /&gt;&#10;      &lt;line x1='315' y1='34' x2='315' y2='322' stroke='#D6DCE5' strokeWidth='1.4' /&gt;&#10;      &lt;line x1='590' y1='34' x2='590' y2='322' stroke='#D6DCE5' strokeWidth='1.4' /&gt;&#10;      &lt;line x1='865' y1='34' x2='865' y2='322' stroke='#D6DCE5' strokeWidth='1.4' /&gt;&#10;      &lt;rect x='40' y='34' width='275' height='30' fill='#F7F9FC' /&gt;&#10;      &lt;text x='177' y='54' textAnchor='middle' fill='#0E3F8C' fontSize='13' fontWeight='bold'&gt;Student&lt;/text&gt;&#10;      &lt;rect x='315' y='34' width='275' height='30' fill='#F0F5FC' /&gt;&#10;      &lt;text x='452' y='54' textAnchor='middle' fill='#0E3F8C' fontSize='13' fontWeight='bold'&gt;OrderUI&lt;/text&gt;&#10;      &lt;rect x='590' y='34' width='275' height='30' fill='#FFF6E0' /&gt;&#10;      &lt;text x='727' y='54' textAnchor='middle' fill='#0E3F8C' fontSize='13' fontWeight='bold'&gt;OrderController&lt;/text&gt;&#10;      &lt;rect x='865' y='34' width='275' height='30' fill='#EAF6EC' /&gt;&#10;      &lt;text x='1002' y='54' textAnchor='middle' fill='#0E3F8C' fontSize='13' fontWeight='bold'&gt;Kitchen&lt;/text&gt;      &lt;rect x='70' y='96' width='140' height='40' rx='9' fill='#F0F5FC' stroke='#1E4FA8' strokeWidth='1.8' /&gt;&#10;      &lt;text x='140' y='120' textAnchor='middle' fill='#0E3F8C' fontSize='12.5'&gt;Submit cart&lt;/text&gt;      &lt;rect x='330' y='96' width='130' height='40' rx='9' fill='#F0F5FC' stroke='#1E4FA8' strokeWidth='1.8' /&gt;&#10;      &lt;text x='395' y='120' textAnchor='middle' fill='#0E3F8C' fontSize='12.5'&gt;Show total&lt;/text&gt;      &lt;rect x='600' y='96' width='190' height='40' rx='9' fill='#F0F5FC' stroke='#1E4FA8' strokeWidth='1.8' /&gt;&#10;      &lt;text x='695' y='120' textAnchor='middle' fill='#0E3F8C' fontSize='12.5'&gt;Create order&lt;/text&gt;      &lt;rect x='900' y='96' width='160' height='40' rx='9' fill='#F0F5FC' stroke='#1E4FA8' strokeWidth='1.8' /&gt;&#10;      &lt;text x='980' y='120' textAnchor='middle' fill='#0E3F8C' fontSize='12.5'&gt;Print ticket&lt;/text&gt;      &lt;rect x='900' y='216' width='160' height='40' rx='9' fill='#F0F5FC' stroke='#1E4FA8' strokeWidth='1.8' /&gt;&#10;      &lt;text x='980' y='240' textAnchor='middle' fill='#0E3F8C' fontSize='12.5'&gt;Start cooking&lt;/text&gt;      &lt;rect x='600' y='216' width='190' height='40' rx='9' fill='#F0F5FC' stroke='#1E4FA8' strokeWidth='1.8' /&gt;&#10;      &lt;text x='695' y='240' textAnchor='middle' fill='#0E3F8C' fontSize='12.5'&gt;Confirm order&lt;/text&gt;      &lt;line x1='210' y1='116' x2='320.0' y2='116.0' stroke='#0E3F8C' strokeWidth='1.8' /&gt;&#10;      &lt;polygon points='330.0,116.0 319.0,120.9 319.0,111.1' fill='#0E3F8C' /&gt;      &lt;line x1='460' y1='116' x2='590.0' y2='116.0' stroke='#0E3F8C' strokeWidth='1.8' /&gt;&#10;      &lt;polygon points='600.0,116.0 589.0,120.9 589.0,111.1' fill='#0E3F8C' /&gt;      &lt;line x1='790' y1='116' x2='890.0' y2='116.0' stroke='#0E3F8C' strokeWidth='1.8' /&gt;&#10;      &lt;polygon points='900.0,116.0 889.0,120.9 889.0,111.1' fill='#0E3F8C' /&gt;      &lt;line x1='980' y1='136' x2='980.0' y2='206.0' stroke='#0E3F8C' strokeWidth='1.8' /&gt;&#10;      &lt;polygon points='980.0,216.0 975.1,205.0 984.9,205.0' fill='#0E3F8C' /&gt;      &lt;line x1='900' y1='236' x2='800.0' y2='236.0' stroke='#0E3F8C' strokeWidth='1.8' /&gt;&#10;      &lt;polygon points='790.0,236.0 801.0,231.1 801.0,240.9' fill='#0E3F8C' /&gt;      &lt;line x1='600' y1='236' x2='220.0' y2='236.0' stroke='#0E3F8C' strokeWidth='1.8' /&gt;&#10;      &lt;polygon points='210.0,236.0 221.0,231.1 221.0,240.9' fill='#0E3F8C' /&gt;&#10;      &lt;text x='409' y='228' fill='#4A5568' fontSize='11'&gt;notification&lt;/text&gt;&#10;      &lt;rect x='40' y='338' width='1100' height='46' rx='9' fill='#F0F5FC' /&gt;&#10;      &lt;text x='62' y='367' fill='#4A5568' fontSize='14'&gt;The kitchen is a lane, not a class. If «kitchen» appears on your domain model, you have modelled a screen as a concept.&lt;/text&gt;&#10;&#10;    &lt;/svg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7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934575" y="25717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WORKED EXAMPLES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6673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Place Order — The Process, Not the Object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  <p:pic>
        <p:nvPicPr>
          <p:cNvPr id="3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238250"/>
            <a:ext cx="11239500" cy="3752850"/>
          </a:xfrm>
          <a:prstGeom prst="rect">
            <a:avLst/>
          </a:prstGeom>
          <a:ln/>
        </p:spPr>
      </p:pic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27 / 38</a:t>
            </a:r>
            <a:endParaRPr/>
          </a:p>
        </p:txBody>
      </p:sp>
    </p:spTree>
  </p:cSld>
</p:sld>
</file>

<file path=ppt/slides/slide28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0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ORKED EXAMPLES&lt;/Text&gt;&#10;  &lt;/Box&gt;&#10;  &lt;Box style={{ padding: '13px 40px 0 40px', flexDirection: 'row', alignItems: 'center', justifyContent: 'space-between' }}&gt;&#10;    &lt;Text style={{ fontSize: 29, fontWeight: 'bold', color: '#0E3F8C' }}&gt;M1 + M2 — What Is on the Table Today&lt;/Text&gt;&#10;    &lt;Text style={{ fontSize: 14, color: '#1E4FA8', fontWeight: 'bold' }}&gt;28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50, 480, 370]}&#10;      cells={[&#10;        [&#10;          { text: 'Milestone', textStyle: {bold: true, color: '#FFFFFF', fontSize: 15}, cellStyle: {background: { color: '#0E3F8C' }} },&#10;          { text: 'Artefact', textStyle: {bold: true, color: '#FFFFFF', fontSize: 15}, cellStyle: {background: { color: '#1E4FA8' }} },&#10;          { text: 'Where it comes from', textStyle: {bold: true, color: '#FFFFFF', fontSize: 15}, cellStyle: {background: { color: '#1E4FA8' }} }&#10;        ],&#10;        [&#10;          { text: 'M1', textStyle: {color: '#4A5568'}, cellStyle: {} },&#10;          { text: 'Requirements and use case diagram', textStyle: {color: '#4A5568'}, cellStyle: {} },&#10;          { text: 'W04–W05', textStyle: {color: '#4A5568'}, cellStyle: {} }&#10;        ],&#10;        [&#10;          { text: 'M1', textStyle: {color: '#4A5568'}, cellStyle: {background: { color: '#F7F9FC' }} },&#10;          { text: 'Two complete use case specifications', textStyle: {color: '#4A5568'}, cellStyle: {background: { color: '#F7F9FC' }} },&#10;          { text: 'W05, extensions included', textStyle: {color: '#4A5568'}, cellStyle: {background: { color: '#F7F9FC' }} }&#10;        ],&#10;        [&#10;          { text: 'M2', textStyle: {color: '#4A5568'}, cellStyle: {} },&#10;          { text: 'Domain model v2 with full associations', textStyle: {color: '#4A5568'}, cellStyle: {} },&#10;          { text: 'W06–W07', textStyle: {color: '#4A5568'}, cellStyle: {} }&#10;        ],&#10;        [&#10;          { text: 'M2', textStyle: {color: '#4A5568'}, cellStyle: {background: { color: '#F7F9FC' }} },&#10;          { text: 'Two sequence diagrams with operation lists', textStyle: {color: '#4A5568'}, cellStyle: {background: { color: '#F7F9FC' }} },&#10;          { text: 'W08', textStyle: {color: '#4A5568'}, cellStyle: {background: { color: '#F7F9FC' }} }&#10;        ],&#10;        [&#10;          { text: 'M2', textStyle: {color: '#4A5568'}, cellStyle: {} },&#10;          { text: 'One state machine that passes the two-question test', textStyle: {color: '#4A5568'}, cellStyle: {} },&#10;          { text: 'W09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8 / 38&lt;/Text&gt;&#10;  &lt;/Box&gt;&#10;  &lt;Box style={{ height: 46, background: '#0E3F8C', padding: '0 40px', flexDirection: 'row', alignItems: 'center', justifyContent: 'center' }}&gt;&#10;    &lt;Text style={{ fontSize: 16.5, color: '#FFFFFF', fontWeight: '600' }}&gt;Six artefacts, four weeks. If any of them is not committed, say so in the first minute rather than at the question stage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934575" y="25717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WORKED EXAMPLES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50482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M1 + M2 — What Is on the Table Today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graphicFrame>
        <p:nvGraphicFramePr>
          <p:cNvPr id="31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602374">
                  <a:extLst>
                    <a:ext uri="{9D8B030D-6E8A-4147-A177-3AD203B41FA5}">
                      <a16:colId val="1"/>
                    </a:ext>
                  </a:extLst>
                </a:gridCol>
                <a:gridCol w="6534304">
                  <a:extLst>
                    <a:ext uri="{9D8B030D-6E8A-4147-A177-3AD203B41FA5}">
                      <a16:colId val="2"/>
                    </a:ext>
                  </a:extLst>
                </a:gridCol>
                <a:gridCol w="329332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Milestone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Artefact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Where it comes from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Requirements and use case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W04–W05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complete use case specifications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W05, extensions included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Domain model v2 with full associations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W06–W07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sequence diagrams with operation lists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M2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state machine that passes the two-question test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28 / 38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733550" y="6543675"/>
            <a:ext cx="872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Six artefacts, four weeks. If any of them is not committed, say so in the first minute rather than at the question stage.</a:t>
            </a:r>
            <a:endParaRPr/>
          </a:p>
        </p:txBody>
      </p:sp>
    </p:spTree>
  </p:cSld>
</p:sld>
</file>

<file path=ppt/slides/slide29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1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WORKED EXAMPLES&lt;/Text&gt;&#10;  &lt;/Box&gt;&#10;  &lt;Box style={{ padding: '13px 40px 0 40px', flexDirection: 'row', alignItems: 'center', justifyContent: 'space-between' }}&gt;&#10;    &lt;Text style={{ fontSize: 29, fontWeight: 'bold', color: '#0E3F8C' }}&gt;The Night-Before Check&lt;/Text&gt;&#10;    &lt;Text style={{ fontSize: 14, color: '#1E4FA8', fontWeight: 'bold' }}&gt;29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420, 580]}&#10;      cells={[&#10;        [&#10;          { text: 'Check', textStyle: {bold: true, color: '#FFFFFF', fontSize: 15}, cellStyle: {background: { color: '#0E3F8C' }} },&#10;          { text: 'Passing looks like', textStyle: {bold: true, color: '#FFFFFF', fontSize: 15}, cellStyle: {background: { color: '#1E4FA8' }} }&#10;        ],&#10;        [&#10;          { text: 'The walkthrough fits in eight minutes', textStyle: {color: '#4A5568'}, cellStyle: {} },&#10;          { text: 'You have rehearsed once, out loud, with a timer', textStyle: {color: '#4A5568'}, cellStyle: {} }&#10;        ],&#10;        [&#10;          { text: 'Every multiplicity is filled in', textStyle: {color: '#4A5568'}, cellStyle: {background: { color: '#F7F9FC' }} },&#10;          { text: 'No cell on the domain model says «later» or is simply blank', textStyle: {color: '#4A5568'}, cellStyle: {background: { color: '#F7F9FC' }} }&#10;        ],&#10;        [&#10;          { text: 'Every arrow has a method name', textStyle: {color: '#4A5568'}, cellStyle: {} },&#10;          { text: 'You can point at any arrow and say the method and its class', textStyle: {color: '#4A5568'}, cellStyle: {} }&#10;        ],&#10;        [&#10;          { text: 'The state machine has two ends', textStyle: {color: '#4A5568'}, cellStyle: {background: { color: '#F7F9FC' }} },&#10;          { text: 'And you can say what happens in each of them', textStyle: {color: '#4A5568'}, cellStyle: {background: { color: '#F7F9FC' }} }&#10;        ],&#10;        [&#10;          { text: 'Every member can answer', textStyle: {color: '#4A5568'}, cellStyle: {} },&#10;          { text: 'Including the person whose artefact is the weakest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29 / 38&lt;/Text&gt;&#10;  &lt;/Box&gt;&#10;  &lt;Box style={{ height: 46, background: '#0E3F8C', padding: '0 40px', flexDirection: 'row', alignItems: 'center', justifyContent: 'center' }}&gt;&#10;    &lt;Text style={{ fontSize: 16.5, color: '#FFFFFF', fontWeight: '600' }}&gt;Five checks. If any fails, you are fixing it tonight, not explaining it away tomorrow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934575" y="25717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WORKED EXAMPLES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15277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The Night-Before Check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graphicFrame>
        <p:nvGraphicFramePr>
          <p:cNvPr id="32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379720">
                  <a:extLst>
                    <a:ext uri="{9D8B030D-6E8A-4147-A177-3AD203B41FA5}">
                      <a16:colId val="1"/>
                    </a:ext>
                  </a:extLst>
                </a:gridCol>
                <a:gridCol w="705028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Check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Passing looks like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walkthrough fits in eight minutes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have rehearsed once, out loud, with a timer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multiplicity is filled 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No cell on the domain model says «later» or is simply blank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arrow has a method name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can point at any arrow and say the method and its class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state machine has two ends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And you can say what happens in each of them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member can answer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Including the person whose artefact is the weakest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29 / 38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048000" y="6543675"/>
            <a:ext cx="6105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Five checks. If any fails, you are fixing it tonight, not explaining it away tomorrow.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background: '#0E3F8C', padding: 0 }}&gt;&#10;  &lt;Box style={{ flexDirection: 'row', height: '100%', position: 'relative' }}&gt;&#10;    &lt;Box style={{ position: 'absolute', top: 0, left: 0, right: 0, height: 8, background: '#1E4FA8' }} /&gt;&#10;    &lt;Box style={{ width: 300, justifyContent: 'center', alignItems: 'center', borderRight: '1px solid #2B5793' }}&gt;&#10;      &lt;Text style={{ fontSize: 220, fontWeight: 'bold', color: '#3D7BD9', fontFamily: 'Georgia, serif', lineHeight: 1 }}&gt;06&lt;/Text&gt;&#10;    &lt;/Box&gt;&#10;    &lt;Box style={{ flex: 1, padding: '70px 64px', flexDirection: 'column', justifyContent: 'center' }}&gt;&#10;      &lt;Text style={{ fontSize: 15, color: '#7FA2D6', letterSpacing: 2, marginBottom: 18 }}&gt;PART 6 · MID-TERM REVIEW · 2 HOURS&lt;/Text&gt;&#10;      &lt;Text style={{ fontSize: 46, fontWeight: 'bold', color: '#FFFFFF', lineHeight: 1.18 }}&gt;The Review Itself&lt;/Text&gt;&#10;      &lt;Box style={{ width: 64, height: 4, background: '#FFC107', marginTop: 26, marginBottom: 26 }} /&gt;&#10;      &lt;Box style={{ flexDirection: 'column', gap: 12 }}&gt;&#10;          &lt;Box key=&quot;Ninety minutes of reviews, thirty minute&quot; style={{ flexDirection: 'row', alignItems: 'center', gap: 12 }}&gt;&#10;            &lt;Box style={{ width: 8, height: 8, borderRadius: 4, background: '#3D7BD9' }} /&gt;&#10;            &lt;Text style={{ fontSize: 20, color: '#C5D4EA' }}&gt;Ninety minutes of reviews, thirty minutes of debrief&lt;/Text&gt;&#10;          &lt;/Box&gt;&#10;          &lt;Box key=&quot;The observing team may ask questions — b&quot; style={{ flexDirection: 'row', alignItems: 'center', gap: 12 }}&gt;&#10;            &lt;Box style={{ width: 8, height: 8, borderRadius: 4, background: '#3D7BD9' }} /&gt;&#10;            &lt;Text style={{ fontSize: 20, color: '#C5D4EA' }}&gt;The observing team may ask questions — but only as a client would&lt;/Text&gt;&#10;          &lt;/Box&gt;&#10;          &lt;Box key=&quot;Everything said today becomes the fix li&quot; style={{ flexDirection: 'row', alignItems: 'center', gap: 12 }}&gt;&#10;            &lt;Box style={{ width: 8, height: 8, borderRadius: 4, background: '#3D7BD9' }} /&gt;&#10;            &lt;Text style={{ fontSize: 20, color: '#C5D4EA' }}&gt;Everything said today becomes the fix list you carry into W10&lt;/Text&gt;&#10;  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0" y="0"/>
            <a:ext cx="2857500" cy="6858000"/>
          </a:xfrm>
          <a:custGeom>
            <a:pathLst>
              <a:path w="300" h="720">
                <a:moveTo>
                  <a:pt x="299" y="0"/>
                </a:moveTo>
                <a:lnTo>
                  <a:pt x="300" y="0"/>
                </a:lnTo>
                <a:lnTo>
                  <a:pt x="300" y="720"/>
                </a:lnTo>
                <a:lnTo>
                  <a:pt x="299" y="720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9525" y="2171700"/>
            <a:ext cx="282892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3D7BD9"/>
                </a:solidFill>
                <a:latin typeface="Georgia"/>
                <a:ea typeface="Georgia"/>
              </a:rPr>
              <a:t>06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467100" y="2219325"/>
            <a:ext cx="811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PART 6 · MID-TERM REVIEW · 2 HOURS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467100" y="2562225"/>
            <a:ext cx="8115300" cy="6286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The Review Itself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3467100" y="34385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3467100" y="3800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4257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Ninety minutes of reviews, thirty minutes of debrief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34671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657600" y="4067175"/>
            <a:ext cx="574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The observing team may ask questions — but only as a client would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467100" y="4486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657600" y="441007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C5D4EA"/>
                </a:solidFill>
                <a:latin typeface="Microsoft YaHei"/>
                <a:ea typeface="Microsoft YaHei"/>
              </a:rPr>
              <a:t>Everything said today becomes the fix list you carry into W10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31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5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How the Session Runs&lt;/Text&gt;&#10;    &lt;Text style={{ fontSize: 14, color: '#1E4FA8', fontWeight: 'bold' }}&gt;31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30, 550, 320]}&#10;      cells={[&#10;        [&#10;          { text: 'Time', textStyle: {bold: true, color: '#FFFFFF', fontSize: 15}, cellStyle: {background: { color: '#0E3F8C' }} },&#10;          { text: 'Activity', textStyle: {bold: true, color: '#FFFFFF', fontSize: 15}, cellStyle: {background: { color: '#1E4FA8' }} },&#10;          { text: 'Who speaks', textStyle: {bold: true, color: '#FFFFFF', fontSize: 15}, cellStyle: {background: { color: '#1E4FA8' }} }&#10;        ],&#10;        [&#10;          { text: '0–20', textStyle: {color: '#4A5568'}, cellStyle: {} },&#10;          { text: 'Team A walkthrough and questions', textStyle: {color: '#4A5568'}, cellStyle: {} },&#10;          { text: 'Team A, then instructor', textStyle: {color: '#4A5568'}, cellStyle: {} }&#10;        ],&#10;        [&#10;          { text: '20–40', textStyle: {color: '#4A5568'}, cellStyle: {background: { color: '#F7F9FC' }} },&#10;          { text: 'Team B walkthrough and questions', textStyle: {color: '#4A5568'}, cellStyle: {background: { color: '#F7F9FC' }} },&#10;          { text: 'Team B, then instructor', textStyle: {color: '#4A5568'}, cellStyle: {background: { color: '#F7F9FC' }} }&#10;        ],&#10;        [&#10;          { text: '40–90', textStyle: {color: '#4A5568'}, cellStyle: {} },&#10;          { text: 'Remaining teams, same pattern, 20 minutes each', textStyle: {color: '#4A5568'}, cellStyle: {} },&#10;          { text: 'Each team in turn', textStyle: {color: '#4A5568'}, cellStyle: {} }&#10;        ],&#10;        [&#10;          { text: '90–120', textStyle: {color: '#4A5568'}, cellStyle: {background: { color: '#F7F9FC' }} },&#10;          { text: 'Debrief: findings across all teams, and the M3 preview', textStyle: {color: '#4A5568'}, cellStyle: {background: { color: '#F7F9FC' }} },&#10;          { text: 'Instructor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1 / 38&lt;/Text&gt;&#10;  &lt;/Box&gt;&#10;  &lt;Box style={{ height: 46, background: '#0E3F8C', padding: '0 40px', flexDirection: 'row', alignItems: 'center', justifyContent: 'center' }}&gt;&#10;    &lt;Text style={{ fontSize: 16.5, color: '#FFFFFF', fontWeight: '600' }}&gt;Observers may interrupt with a client-perspective question at any point during a walkthrough. Prepare one question of your own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29813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How the Session Runs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graphicFrame>
        <p:nvGraphicFramePr>
          <p:cNvPr id="36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1179488">
                  <a:extLst>
                    <a:ext uri="{9D8B030D-6E8A-4147-A177-3AD203B41FA5}">
                      <a16:colId val="1"/>
                    </a:ext>
                  </a:extLst>
                </a:gridCol>
                <a:gridCol w="7098140">
                  <a:extLst>
                    <a:ext uri="{9D8B030D-6E8A-4147-A177-3AD203B41FA5}">
                      <a16:colId val="2"/>
                    </a:ext>
                  </a:extLst>
                </a:gridCol>
                <a:gridCol w="315237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Time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Activity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Who speaks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0–20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Team A walkthrough and questions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Team A, then instructor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20–40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Team B walkthrough and questions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Team B, then instructor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40–90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Remaining teams, same pattern, 20 minutes each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Each team in turn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90–120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Debrief: findings across all teams, and the M3 preview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Instructor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31 / 38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276350" y="6543675"/>
            <a:ext cx="963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Observers may interrupt with a client-perspective question at any point during a walkthrough. Prepare one question of your own.</a:t>
            </a:r>
            <a:endParaRPr/>
          </a:p>
        </p:txBody>
      </p:sp>
    </p:spTree>
  </p:cSld>
</p:sld>
</file>

<file path=ppt/slides/slide32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6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Questions You Should Expect&lt;/Text&gt;&#10;    &lt;Text style={{ fontSize: 14, color: '#1E4FA8', fontWeight: 'bold' }}&gt;32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430, 570]}&#10;      cells={[&#10;        [&#10;          { text: 'Question', textStyle: {bold: true, color: '#FFFFFF', fontSize: 15}, cellStyle: {background: { color: '#0E3F8C' }} },&#10;          { text: 'What a good answer contains', textStyle: {bold: true, color: '#FFFFFF', fontSize: 15}, cellStyle: {background: { color: '#1E4FA8' }} }&#10;        ],&#10;        [&#10;          { text: 'Why is this a class and not an attribute?', textStyle: {color: '#4A5568'}, cellStyle: {} },&#10;          { text: 'The identity test — you can point at one', textStyle: {color: '#4A5568'}, cellStyle: {} }&#10;        ],&#10;        [&#10;          { text: 'Why is this end 1 and that end 0..*?', textStyle: {color: '#4A5568'}, cellStyle: {background: { color: '#F7F9FC' }} },&#10;          { text: 'The business rule, quoted or paraphrased', textStyle: {color: '#4A5568'}, cellStyle: {background: { color: '#F7F9FC' }} }&#10;        ],&#10;        [&#10;          { text: 'Why does this class have a state machine?', textStyle: {color: '#4A5568'}, cellStyle: {} },&#10;          { text: 'Both halves of the two-question test', textStyle: {color: '#4A5568'}, cellStyle: {} }&#10;        ],&#10;        [&#10;          { text: 'What happens if payment fails mid-order?', textStyle: {color: '#4A5568'}, cellStyle: {background: { color: '#F7F9FC' }} },&#10;          { text: 'The alt branch, and what state the order ends in', textStyle: {color: '#4A5568'}, cellStyle: {background: { color: '#F7F9FC' }} }&#10;        ],&#10;        [&#10;          { text: 'Who asked for this feature?', textStyle: {color: '#4A5568'}, cellStyle: {} },&#10;          { text: 'The use case it traces to, or an honest «nobody yet»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2 / 38&lt;/Text&gt;&#10;  &lt;/Box&gt;&#10;  &lt;Box style={{ height: 46, background: '#0E3F8C', padding: '0 40px', flexDirection: 'row', alignItems: 'center', justifyContent: 'center' }}&gt;&#10;    &lt;Text style={{ fontSize: 16.5, color: '#FFFFFF', fontWeight: '600' }}&gt;Every one of these has a one-sentence answer somewhere in your own documents. Find them before you find them on screen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9243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Questions You Should Expect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graphicFrame>
        <p:nvGraphicFramePr>
          <p:cNvPr id="376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5175486">
                  <a:extLst>
                    <a:ext uri="{9D8B030D-6E8A-4147-A177-3AD203B41FA5}">
                      <a16:colId val="1"/>
                    </a:ext>
                  </a:extLst>
                </a:gridCol>
                <a:gridCol w="6254514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Question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What a good answer contains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Why is this a class and not an attribute?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identity test — you can point at 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Why is this end 1 and that end 0..*?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business rule, quoted or paraphrased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Why does this class have a state machine?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Both halves of the two-question test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happens if payment fails mid-order?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alt branch, and what state the order ends 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Who asked for this feature?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use case it traces to, or an honest «nobody yet»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32 / 38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362075" y="6543675"/>
            <a:ext cx="946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Every one of these has a one-sentence answer somewhere in your own documents. Find them before you find them on screen.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38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As an Observer: Questions a Client Would Ask&lt;/Text&gt;&#10;    &lt;Text style={{ fontSize: 14, color: '#1E4FA8', fontWeight: 'bold' }}&gt;33 / 38&lt;/Text&gt;&#10;  &lt;/Box&gt;&#10;  &lt;Box style={{ flex: 1, padding: '10px 40px 0 40px', flexDirection: 'column' }}&gt;&#10;    &lt;Box style={{ flexDirection: 'row', flexWrap: 'wrap', gap: 18, alignContent: 'flex-start' }}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OBSERVER 01&lt;/Text&gt;&#10;          &lt;Text style={{ fontSize: 19, fontWeight: 'bold', color: '#0E3F8C', lineHeight: 1.25 }}&gt;«What happens when...»&lt;/Text&gt;&#10;          &lt;Text style={{ fontSize: 13, color: '#4A5568', lineHeight: 1.55 }}&gt;Pick the edge case the diagram does not cover. That is the most useful thing an observer can do.&lt;/Text&gt;&#10;        &lt;/Box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OBSERVER 02&lt;/Text&gt;&#10;          &lt;Text style={{ fontSize: 19, fontWeight: 'bold', color: '#0E3F8C', lineHeight: 1.25 }}&gt;«Why does it work this way...»&lt;/Text&gt;&#10;          &lt;Text style={{ fontSize: 13, color: '#4A5568', lineHeight: 1.55 }}&gt;Not a challenge — a genuine question. If the team cannot answer, that is a finding for the debrief.&lt;/Text&gt;&#10;        &lt;/Box&gt;&#10;        &lt;Box style={{ width: '31.5%', padding: '18px 18px', background: '#F7F9FC', borderRadius: 10, border: '1px solid #E5E7EB', borderTop: '4px solid #3D7BD9', flexDirection: 'column', gap: 8 }}&gt;&#10;          &lt;Text style={{ fontSize: 13, color: '#8B97A8', letterSpacing: 1 }}&gt;OBSERVER 03&lt;/Text&gt;&#10;          &lt;Text style={{ fontSize: 19, fontWeight: 'bold', color: '#0E3F8C', lineHeight: 1.25 }}&gt;«Who decided this...»&lt;/Text&gt;&#10;          &lt;Text style={{ fontSize: 13, color: '#4A5568', lineHeight: 1.55 }}&gt;Which requirement, which interview, which assumption. Assumptions must be labelled as assumptions.&lt;/Text&gt;&#10;        &lt;/Box&gt;&#10;    &lt;/Box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3 / 3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1436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As an Observer: Questions a Client Would Ask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810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3810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524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OBSERVER 01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«What happens when...»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524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Pick the edge case the diagram does not cover. That is the most useful thing an observer can do.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1529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41529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3243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OBSERVER 02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3243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«Why does it work this way...»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3243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Not a challenge — a genuine question. If the team cannot answer, that is a finding for the debrief.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7924800" y="1276350"/>
            <a:ext cx="36004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7924800" y="1276350"/>
            <a:ext cx="3600450" cy="1428750"/>
          </a:xfrm>
          <a:custGeom>
            <a:pathLst>
              <a:path w="378" h="15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096250" y="144780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OBSERVER 03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096250" y="1676400"/>
            <a:ext cx="3257550" cy="276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«Who decided this...»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096250" y="2028825"/>
            <a:ext cx="32575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Which requirement, which interview, which assumption. Assumptions must be labelled as assumptions.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381000" y="661987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401425" y="66198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33 / 38</a:t>
            </a:r>
            <a:endParaRPr/>
          </a:p>
        </p:txBody>
      </p:sp>
    </p:spTree>
  </p:cSld>
</p:sld>
</file>

<file path=ppt/slides/slide34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05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Debrief — The Three Fixes Everyone Should Make&lt;/Text&gt;&#10;    &lt;Text style={{ fontSize: 14, color: '#1E4FA8', fontWeight: 'bold' }}&gt;34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430, 610]}&#10;      cells={[&#10;        [&#10;          { text: '#', textStyle: {bold: true, color: '#FFFFFF', fontSize: 15}, cellStyle: {background: { color: '#0E3F8C' }} },&#10;          { text: 'Fix', textStyle: {bold: true, color: '#FFFFFF', fontSize: 15}, cellStyle: {background: { color: '#1E4FA8' }} },&#10;          { text: 'Why it matters', textStyle: {bold: true, color: '#FFFFFF', fontSize: 15}, cellStyle: {background: { color: '#1E4FA8' }} }&#10;        ],&#10;        [&#10;          { text: '1', textStyle: {color: '#4A5568'}, cellStyle: {} },&#10;          { text: 'Fill in every blank multiplicity', textStyle: {color: '#4A5568'}, cellStyle: {} },&#10;          { text: 'It is a business fact and it drives the schema', textStyle: {color: '#4A5568'}, cellStyle: {} }&#10;        ],&#10;        [&#10;          { text: '2', textStyle: {color: '#4A5568'}, cellStyle: {background: { color: '#F7F9FC' }} },&#10;          { text: 'Delete one state machine that does not earn its place', textStyle: {color: '#4A5568'}, cellStyle: {background: { color: '#F7F9FC' }} },&#10;          { text: 'A machine nobody acts on is noise in review', textStyle: {color: '#4A5568'}, cellStyle: {background: { color: '#F7F9FC' }} }&#10;        ],&#10;        [&#10;          { text: '3', textStyle: {color: '#4A5568'}, cellStyle: {} },&#10;          { text: 'Trace every method back to a message', textStyle: {color: '#4A5568'}, cellStyle: {} },&#10;          { text: 'Unexplained operations are design decisions you did not make consciously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4 / 38&lt;/Text&gt;&#10;  &lt;/Box&gt;&#10;  &lt;Box style={{ height: 46, background: '#0E3F8C', padding: '0 40px', flexDirection: 'row', alignItems: 'center', justifyContent: 'center' }}&gt;&#10;    &lt;Text style={{ fontSize: 16.5, color: '#FFFFFF', fontWeight: '600' }}&gt;These three come from every cohort so far. Doing them before W10 is the cheapest possible improvement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5913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Debrief — The Three Fixes Everyone Should Make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graphicFrame>
        <p:nvGraphicFramePr>
          <p:cNvPr id="412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263835">
                  <a:extLst>
                    <a:ext uri="{9D8B030D-6E8A-4147-A177-3AD203B41FA5}">
                      <a16:colId val="1"/>
                    </a:ext>
                  </a:extLst>
                </a:gridCol>
                <a:gridCol w="4661080">
                  <a:extLst>
                    <a:ext uri="{9D8B030D-6E8A-4147-A177-3AD203B41FA5}">
                      <a16:colId val="2"/>
                    </a:ext>
                  </a:extLst>
                </a:gridCol>
                <a:gridCol w="650508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Fix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it matters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Fill in every blank multiplicity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It is a business fact and it drives the schema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Delete one state machine that does not earn its place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 machine nobody acts on is noise in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Trace every method back to a message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Unexplained operations are design decisions you did not make consciously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34 / 38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2114550" y="6543675"/>
            <a:ext cx="796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These three come from every cohort so far. Doing them before W10 is the cheapest possible improvement.</a:t>
            </a:r>
            <a:endParaRPr/>
          </a:p>
        </p:txBody>
      </p:sp>
    </p:spTree>
  </p:cSld>
</p:sld>
</file>

<file path=ppt/slides/slide35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17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M3 Preview — Design Class Diagrams and GRASP&lt;/Text&gt;&#10;    &lt;Text style={{ fontSize: 14, color: '#1E4FA8', fontWeight: 'bold' }}&gt;35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110, 400, 490]}&#10;      cells={[&#10;        [&#10;          { text: 'Week', textStyle: {bold: true, color: '#FFFFFF', fontSize: 15}, cellStyle: {background: { color: '#0E3F8C' }} },&#10;          { text: 'Topic', textStyle: {bold: true, color: '#FFFFFF', fontSize: 15}, cellStyle: {background: { color: '#1E4FA8' }} },&#10;          { text: 'Why you need the fix list first', textStyle: {bold: true, color: '#FFFFFF', fontSize: 15}, cellStyle: {background: { color: '#1E4FA8' }} }&#10;        ],&#10;        [&#10;          { text: 'W10', textStyle: {color: '#4A5568'}, cellStyle: {} },&#10;          { text: 'From analysis to design class diagrams', textStyle: {color: '#4A5568'}, cellStyle: {} },&#10;          { text: 'Your operations become signatures here', textStyle: {color: '#4A5568'}, cellStyle: {} }&#10;        ],&#10;        [&#10;          { text: 'W11', textStyle: {color: '#4A5568'}, cellStyle: {background: { color: '#F7F9FC' }} },&#10;          { text: 'GRASP: responsibilities before patterns', textStyle: {color: '#4A5568'}, cellStyle: {background: { color: '#F7F9FC' }} },&#10;          { text: 'You need to know who does what before deciding how', textStyle: {color: '#4A5568'}, cellStyle: {background: { color: '#F7F9FC' }} }&#10;        ],&#10;        [&#10;          { text: 'W12', textStyle: {color: '#4A5568'}, cellStyle: {} },&#10;          { text: 'SOLID, and the mid-project checkpoint', textStyle: {color: '#4A5568'}, cellStyle: {} },&#10;          { text: 'The patterns only help if the responsibilities are right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5 / 38&lt;/Text&gt;&#10;  &lt;/Box&gt;&#10;  &lt;Box style={{ height: 46, background: '#0E3F8C', padding: '0 40px', flexDirection: 'row', alignItems: 'center', justifyContent: 'center' }}&gt;&#10;    &lt;Text style={{ fontSize: 16.5, color: '#FFFFFF', fontWeight: '600' }}&gt;Design modelling magnifies whatever you got wrong in analysis. That is why the fix list is the real deliverable of this week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6638925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M3 Preview — Design Class Diagrams and GRASP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graphicFrame>
        <p:nvGraphicFramePr>
          <p:cNvPr id="424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879231">
                  <a:extLst>
                    <a:ext uri="{9D8B030D-6E8A-4147-A177-3AD203B41FA5}">
                      <a16:colId val="1"/>
                    </a:ext>
                  </a:extLst>
                </a:gridCol>
                <a:gridCol w="4479373">
                  <a:extLst>
                    <a:ext uri="{9D8B030D-6E8A-4147-A177-3AD203B41FA5}">
                      <a16:colId val="2"/>
                    </a:ext>
                  </a:extLst>
                </a:gridCol>
                <a:gridCol w="607139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27495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Week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Topic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Why you need the fix list first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From analysis to design class diagrams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Your operations become signatures here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GRASP: responsibilities before patterns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You need to know who does what before deciding how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942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SOLID, and the mid-project checkpoint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patterns only help if the responsibilities are right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35 / 38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524000" y="6543675"/>
            <a:ext cx="914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Design modelling magnifies whatever you got wrong in analysis. That is why the fix list is the real deliverable of this week.</a:t>
            </a:r>
            <a:endParaRPr/>
          </a:p>
        </p:txBody>
      </p:sp>
    </p:spTree>
  </p:cSld>
</p:sld>
</file>

<file path=ppt/slides/slide36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29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After the Review — The Fix List&lt;/Text&gt;&#10;    &lt;Text style={{ fontSize: 14, color: '#1E4FA8', fontWeight: 'bold' }}&gt;36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250, 520, 230]}&#10;      cells={[&#10;        [&#10;          { text: 'Item', textStyle: {bold: true, color: '#FFFFFF', fontSize: 15}, cellStyle: {background: { color: '#0E3F8C' }} },&#10;          { text: 'Detail', textStyle: {bold: true, color: '#FFFFFF', fontSize: 15}, cellStyle: {background: { color: '#1E4FA8' }} },&#10;          { text: 'Due', textStyle: {bold: true, color: '#FFFFFF', fontSize: 15}, cellStyle: {background: { color: '#1E4FA8' }} }&#10;        ],&#10;        [&#10;          { text: 'Written findings', textStyle: {color: '#4A5568'}, cellStyle: {} },&#10;          { text: 'Three per artefact, copied from the review', textStyle: {color: '#4A5568'}, cellStyle: {} },&#10;          { text: 'end of session', textStyle: {color: '#4A5568'}, cellStyle: {} }&#10;        ],&#10;        [&#10;          { text: 'Post-midterm fixes', textStyle: {color: '#4A5568'}, cellStyle: {background: { color: '#F7F9FC' }} },&#10;          { text: 'Commit message: post-midterm fixes', textStyle: {color: '#4A5568'}, cellStyle: {background: { color: '#F7F9FC' }} },&#10;          { text: 'W10 lab', textStyle: {color: '#4A5568'}, cellStyle: {background: { color: '#F7F9FC' }} }&#10;        ],&#10;        [&#10;          { text: 'One paragraph reflection', textStyle: {color: '#4A5568'}, cellStyle: {} },&#10;          { text: 'What your model got wrong and why it happened', textStyle: {color: '#4A5568'}, cellStyle: {} },&#10;          { text: 'W10 lab', textStyle: {color: '#4A5568'}, cellStyle: {} }&#10;        ],&#10;        [&#10;          { text: 'Rubric scores', textStyle: {color: '#4A5568'}, cellStyle: {background: { color: '#F7F9FC' }} },&#10;          { text: 'Released with the feedback', textStyle: {color: '#4A5568'}, cellStyle: {background: { color: '#F7F9FC' }} },&#10;          { text: 'W10', textStyle: {color: '#4A5568'}, cellStyle: {background: { color: '#F7F9FC' }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6 / 38&lt;/Text&gt;&#10;  &lt;/Box&gt;&#10;  &lt;Box style={{ height: 46, background: '#0E3F8C', padding: '0 40px', flexDirection: 'row', alignItems: 'center', justifyContent: 'center' }}&gt;&#10;    &lt;Text style={{ fontSize: 16.5, color: '#FFFFFF', fontWeight: '600' }}&gt;The reflection is not padding. Writing «we drew the diagram from the classes instead of the scenario» is how the habit changes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41338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After the Review — The Fix List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graphicFrame>
        <p:nvGraphicFramePr>
          <p:cNvPr id="436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3252903">
                  <a:extLst>
                    <a:ext uri="{9D8B030D-6E8A-4147-A177-3AD203B41FA5}">
                      <a16:colId val="1"/>
                    </a:ext>
                  </a:extLst>
                </a:gridCol>
                <a:gridCol w="6187853">
                  <a:extLst>
                    <a:ext uri="{9D8B030D-6E8A-4147-A177-3AD203B41FA5}">
                      <a16:colId val="2"/>
                    </a:ext>
                  </a:extLst>
                </a:gridCol>
                <a:gridCol w="198924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02336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Item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Detail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Due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Written findings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Three per artefact, copied from the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end of session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Post-midterm fixes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Commit message: post-midterm fixes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W10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One paragraph reflection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What your model got wrong and why it happened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W10 lab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95859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Rubric scores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Released with the feedback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W10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36 / 38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323975" y="6543675"/>
            <a:ext cx="954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The reflection is not padding. Writing «we drew the diagram from the classes instead of the scenario» is how the habit changes.</a:t>
            </a:r>
            <a:endParaRPr/>
          </a:p>
        </p:txBody>
      </p:sp>
    </p:spTree>
  </p:cSld>
</p:sld>
</file>

<file path=ppt/slides/slide37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441" name="" descr="&lt;Slide style={{ background: '#FFFFFF', padding: 0 }}&gt;&#10;  &lt;Box style={{ height: 72, background: '#1E4FA8', padding: '0 40px', flexDirection: 'row', alignItems: 'center', justifyContent: 'space-between' }}&gt;&#10;    &lt;Text style={{ fontSize: 15, color: '#B9CDF0', letterSpacing: 1 }}&gt;ISAD · INFORMATION SYSTEMS ANALYSIS &amp;amp; DESIGN&lt;/Text&gt;&#10;    &lt;Text style={{ fontSize: 15, color: '#B9CDF0' }}&gt;W09 · MID-TERM REVIEW&lt;/Text&gt;&#10;  &lt;/Box&gt;&#10;  &lt;Box style={{ padding: '13px 40px 0 40px', flexDirection: 'row', alignItems: 'center', justifyContent: 'space-between' }}&gt;&#10;    &lt;Text style={{ fontSize: 29, fontWeight: 'bold', color: '#0E3F8C' }}&gt;Five Things To Take Home&lt;/Text&gt;&#10;    &lt;Text style={{ fontSize: 14, color: '#1E4FA8', fontWeight: 'bold' }}&gt;37 / 38&lt;/Text&gt;&#10;  &lt;/Box&gt;&#10;  &lt;Box style={{ flex: 1, padding: '10px 40px 0 40px', flexDirection: 'column' }}&gt;&#10;    &lt;Table&#10;      style={{ width: '100%', height: '100%' }}&#10;      defaultTextStyle={{ fontSize: 13.5, textAlign: 'left', color: '#1A2230' }}&#10;      defaultCellStyle={{&#10;        border: {&#10;          left: { width: 1, color: '#E5E7EB' },&#10;          right: { width: 1, color: '#E5E7EB' },&#10;          top: { width: 1, color: '#E5E7EB' },&#10;          bottom: { width: 1, color: '#E5E7EB' },&#10;        },&#10;      }}&#10;      widths={[60, 420, 570]}&#10;      cells={[&#10;        [&#10;          { text: '#', textStyle: {bold: true, color: '#FFFFFF', fontSize: 15}, cellStyle: {background: { color: '#0E3F8C' }} },&#10;          { text: 'Take-home', textStyle: {bold: true, color: '#FFFFFF', fontSize: 15}, cellStyle: {background: { color: '#1E4FA8' }} },&#10;          { text: 'Because', textStyle: {bold: true, color: '#FFFFFF', fontSize: 15}, cellStyle: {background: { color: '#1E4FA8' }} }&#10;        ],&#10;        [&#10;          { text: '01', textStyle: {color: '#4A5568'}, cellStyle: {} },&#10;          { text: 'Two questions decide a state machine', textStyle: {color: '#4A5568'}, cellStyle: {} },&#10;          { text: 'Lifecycle plus event-driven — both, or no diagram', textStyle: {color: '#4A5568'}, cellStyle: {} }&#10;        ],&#10;        [&#10;          { text: '02', textStyle: {color: '#4A5568'}, cellStyle: {background: { color: '#F7F9FC' }} },&#10;          { text: '«The order...» means state, «we...» means activity', textStyle: {color: '#4A5568'}, cellStyle: {background: { color: '#F7F9FC' }} },&#10;          { text: 'The sentence you want to say picks the diagram', textStyle: {color: '#4A5568'}, cellStyle: {background: { color: '#F7F9FC' }} }&#10;        ],&#10;        [&#10;          { text: '03', textStyle: {color: '#4A5568'}, cellStyle: {} },&#10;          { text: 'Every branch needs a guard', textStyle: {color: '#4A5568'}, cellStyle: {} },&#10;          { text: 'An unlabelled branch is a hole, not a shortcut', textStyle: {color: '#4A5568'}, cellStyle: {} }&#10;        ],&#10;        [&#10;          { text: '04', textStyle: {color: '#4A5568'}, cellStyle: {background: { color: '#F7F9FC' }} },&#10;          { text: 'Lanes are roles, not departments', textStyle: {color: '#4A5568'}, cellStyle: {background: { color: '#F7F9FC' }} },&#10;          { text: 'The point is seeing who does what, not an org chart', textStyle: {color: '#4A5568'}, cellStyle: {background: { color: '#F7F9FC' }} }&#10;        ],&#10;        [&#10;          { text: '05', textStyle: {color: '#4A5568'}, cellStyle: {} },&#10;          { text: 'Findings are the deliverable of a review', textStyle: {color: '#4A5568'}, cellStyle: {} },&#10;          { text: 'The fix list is worth more than the score', textStyle: {color: '#4A5568'}, cellStyle: {} }&#10;        ],&#10;      ]}&#10;    /&gt;&#10;  &lt;/Box&gt;&#10;  &lt;Box style={{ height: 34, padding: '0 40px', flexDirection: 'row', alignItems: 'center', justifyContent: 'space-between' }}&gt;&#10;    &lt;Text style={{ fontSize: 13, color: '#8B97A8' }}&gt;ISAD · Fall 2026 · CampusBites is a worked example — take the criterion, not the classes&lt;/Text&gt;&#10;    &lt;Text style={{ fontSize: 14, color: '#1E4FA8', fontWeight: 'bold' }}&gt;37 / 38&lt;/Text&gt;&#10;  &lt;/Box&gt;&#10;  &lt;Box style={{ height: 46, background: '#0E3F8C', padding: '0 40px', flexDirection: 'row', alignItems: 'center', justifyContent: 'center' }}&gt;&#10;    &lt;Text style={{ fontSize: 16.5, color: '#FFFFFF', fontWeight: '600' }}&gt;Next week the models you have defended become the drawings you will redesign.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81000" y="25717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F0"/>
                </a:solidFill>
                <a:latin typeface="Microsoft YaHei"/>
                <a:ea typeface="Microsoft YaHei"/>
              </a:rPr>
              <a:t>ISAD · INFORMATION SYSTEMS ANALYSIS &amp; DESIGN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0067925" y="2571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9CDF0"/>
                </a:solidFill>
                <a:latin typeface="Microsoft YaHei"/>
                <a:ea typeface="Microsoft YaHei"/>
              </a:rPr>
              <a:t>W09 · MID-TERM REVIEW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34671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0E3F8C"/>
                </a:solidFill>
                <a:latin typeface="Microsoft YaHei"/>
                <a:ea typeface="Microsoft YaHei"/>
              </a:rPr>
              <a:t>Five Things To Take Home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401425" y="8953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graphicFrame>
        <p:nvGraphicFramePr>
          <p:cNvPr id="448" name=""/>
          <p:cNvGraphicFramePr/>
          <p:nvPr/>
        </p:nvGraphicFramePr>
        <p:xfrm rot="0" flipH="0" flipV="0">
          <a:off x="381000" y="1238250"/>
          <a:ext cx="11430000" cy="4857750"/>
        </p:xfrm>
        <a:graphic>
          <a:graphicData uri="http://schemas.openxmlformats.org/drawingml/2006/table">
            <a:tbl>
              <a:tblGrid>
                <a:gridCol w="445505">
                  <a:extLst>
                    <a:ext uri="{9D8B030D-6E8A-4147-A177-3AD203B41FA5}">
                      <a16:colId val="1"/>
                    </a:ext>
                  </a:extLst>
                </a:gridCol>
                <a:gridCol w="5422637">
                  <a:extLst>
                    <a:ext uri="{9D8B030D-6E8A-4147-A177-3AD203B41FA5}">
                      <a16:colId val="2"/>
                    </a:ext>
                  </a:extLst>
                </a:gridCol>
                <a:gridCol w="556185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5470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Take-home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Because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Two questions decide a state machine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Lifecycle plus event-driven — both, or no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«The order...» means state, «we...» means activity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sentence you want to say picks the diagram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Every branch needs a guard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An unlabelled branch is a hole, not a shortcut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Lanes are roles, not departments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point is seeing who does what, not an org chart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0060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Findings are the deliverable of a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4A5568"/>
                          </a:solidFill>
                          <a:latin typeface="Microsoft YaHei"/>
                          <a:ea typeface="Microsoft YaHei"/>
                        </a:rPr>
                        <a:t>The fix list is worth more than the score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492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ISAD · Fall 2026 · CampusBites is a worked example — take the criterion, not the classes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401425" y="6181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37 / 38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0" y="6419850"/>
            <a:ext cx="12192000" cy="438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038475" y="6543675"/>
            <a:ext cx="6124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FFFFF"/>
                </a:solidFill>
                <a:latin typeface="Microsoft YaHei"/>
                <a:ea typeface="Microsoft YaHei"/>
              </a:rPr>
              <a:t>Next week the models you have defended become the drawings you will redesign.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453" name="" descr="&lt;Slide style={{ background: '#0E3F8C', padding: 0 }}&gt;&#10;  &lt;Box style={{ flexDirection: 'column', height: '100%', position: 'relative', padding: '0 80px', justifyContent: 'center' }}&gt;&#10;    &lt;Box style={{ position: 'absolute', top: 0, left: 0, right: 0, height: 8, background: '#1E4FA8' }} /&gt;&#10;    &lt;Text style={{ fontSize: 15, color: '#7FA2D6', letterSpacing: 2, marginBottom: 16 }}&gt;WEEK 09 · WHAT YOU TAKE AWAY&lt;/Text&gt;&#10;    &lt;Text style={{ fontSize: 44, fontWeight: 'bold', color: '#FFFFFF', fontFamily: 'Georgia, serif', lineHeight: 1.15 }}&gt;&#10;      One object changes.&lt;br /&gt;Work moves between them.&#10;    &lt;/Text&gt;&#10;    &lt;Box style={{ width: 88, height: 5, background: '#FFC107', marginTop: 24, marginBottom: 26 }} /&gt;&#10;    &lt;Box style={{ flexDirection: 'row', flexWrap: 'wrap', gap: '12px 28px', marginBottom: 30 }}&gt;&#10;        &lt;Box key=&quot;01 · Most classes do not need a stat&quot; style={{ flexDirection: 'row', alignItems: 'center', gap: 10, width: '48%' }}&gt;&#10;          &lt;Box style={{ width: 7, height: 7, borderRadius: 4, background: '#3D7BD9' }} /&gt;&#10;          &lt;Text style={{ fontSize: 15.5, color: '#C5D4EA' }}&gt;01 · Most classes do not need a state machine&lt;/Text&gt;&#10;        &lt;/Box&gt;&#10;        &lt;Box key=&quot;02 · States are conditions, events a&quot; style={{ flexDirection: 'row', alignItems: 'center', gap: 10, width: '48%' }}&gt;&#10;          &lt;Box style={{ width: 7, height: 7, borderRadius: 4, background: '#3D7BD9' }} /&gt;&#10;          &lt;Text style={{ fontSize: 15.5, color: '#C5D4EA' }}&gt;02 · States are conditions, events are things that happened&lt;/Text&gt;&#10;        &lt;/Box&gt;&#10;        &lt;Box key=&quot;03 · Activity answers the question t&quot; style={{ flexDirection: 'row', alignItems: 'center', gap: 10, width: '48%' }}&gt;&#10;          &lt;Box style={{ width: 7, height: 7, borderRadius: 4, background: '#3D7BD9' }} /&gt;&#10;          &lt;Text style={{ fontSize: 15.5, color: '#C5D4EA' }}&gt;03 · Activity answers the question the state machine cannot&lt;/Text&gt;&#10;        &lt;/Box&gt;&#10;        &lt;Box key=&quot;04 · A branch without a guard is a h&quot; style={{ flexDirection: 'row', alignItems: 'center', gap: 10, width: '48%' }}&gt;&#10;          &lt;Box style={{ width: 7, height: 7, borderRadius: 4, background: '#3D7BD9' }} /&gt;&#10;          &lt;Text style={{ fontSize: 15.5, color: '#C5D4EA' }}&gt;04 · A branch without a guard is a hole&lt;/Text&gt;&#10;        &lt;/Box&gt;&#10;        &lt;Box key=&quot;05 · M1 + M2 assessed today&quot; style={{ flexDirection: 'row', alignItems: 'center', gap: 10, width: '48%' }}&gt;&#10;          &lt;Box style={{ width: 7, height: 7, borderRadius: 4, background: '#3D7BD9' }} /&gt;&#10;          &lt;Text style={{ fontSize: 15.5, color: '#C5D4EA' }}&gt;05 · M1 + M2 assessed today&lt;/Text&gt;&#10;        &lt;/Box&gt;&#10;        &lt;Box key=&quot;06 · The fix list is the real delive&quot; style={{ flexDirection: 'row', alignItems: 'center', gap: 10, width: '48%' }}&gt;&#10;          &lt;Box style={{ width: 7, height: 7, borderRadius: 4, background: '#3D7BD9' }} /&gt;&#10;          &lt;Text style={{ fontSize: 15.5, color: '#C5D4EA' }}&gt;06 · The fix list is the real deliverable&lt;/Text&gt;&#10;        &lt;/Box&gt;&#10;    &lt;/Box&gt;&#10;    &lt;Box style={{ borderTop: '1px solid #2B5793', paddingTop: 20, flexDirection: 'row', justifyContent: 'space-between', alignItems: 'center' }}&gt;&#10;      &lt;Box style={{ flex: 1 }}&gt;&#10;        &lt;Text style={{ fontSize: 14, color: '#7FA2D6', letterSpacing: 1, marginBottom: 6 }}&gt;NEXT WEEK — W10&lt;/Text&gt;&#10;        &lt;Text style={{ fontSize: 19, color: '#FFFFFF', fontWeight: '600' }}&gt;&#10;          From analysis to design: the design class diagram, where your operations become signatures&#10;        &lt;/Text&gt;&#10;      &lt;/Box&gt;&#10;      &lt;Box style={{ padding: '10px 22px', background: '#1E4FA8', borderRadius: 22 }}&gt;&#10;        &lt;Text style={{ fontSize: 15, color: '#FFFFFF', fontWeight: 'bold' }}&gt;Questions?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7FA2D6"/>
                </a:solidFill>
                <a:latin typeface="Microsoft YaHei"/>
                <a:ea typeface="Microsoft YaHei"/>
              </a:rPr>
              <a:t>WEEK 09 · WHAT YOU TAKE AWAY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06680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One object changes.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Georgia"/>
                <a:ea typeface="Georgia"/>
              </a:rPr>
              <a:t>Work moves between them.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762000" y="3295650"/>
            <a:ext cx="838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76200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923925" y="3590925"/>
            <a:ext cx="30575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01 · Most classes do not need a state machine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00750" y="36480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162675" y="3590925"/>
            <a:ext cx="38671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02 · States are conditions, events are things that happened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76200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23925" y="3886200"/>
            <a:ext cx="3895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03 · Activity answers the question the state machine cannot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00750" y="3943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162675" y="3886200"/>
            <a:ext cx="25336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04 · A branch without a guard is a hole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76200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23925" y="4181475"/>
            <a:ext cx="1943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05 · M1 + M2 assessed today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00750" y="4238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162675" y="4181475"/>
            <a:ext cx="24003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C5D4EA"/>
                </a:solidFill>
                <a:latin typeface="Microsoft YaHei"/>
                <a:ea typeface="Microsoft YaHei"/>
              </a:rPr>
              <a:t>06 · The fix list is the real deliverable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62000" y="4648200"/>
            <a:ext cx="10668000" cy="647700"/>
          </a:xfrm>
          <a:custGeom>
            <a:pathLst>
              <a:path w="1120" h="68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2B5793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62000" y="4848225"/>
            <a:ext cx="945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2D6"/>
                </a:solidFill>
                <a:latin typeface="Microsoft YaHei"/>
                <a:ea typeface="Microsoft YaHei"/>
              </a:rPr>
              <a:t>NEXT WEEK — W10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62000" y="5067300"/>
            <a:ext cx="9458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From analysis to design: the design class diagram, where your operations become signatures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10220325" y="4886325"/>
            <a:ext cx="1209675" cy="361950"/>
          </a:xfrm>
          <a:prstGeom prst="roundRect">
            <a:avLst>
              <a:gd name="adj" fmla="val 5789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0429875" y="49815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Questions?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2026-10-15T10:03:20Z</dcterms:created>
  <dcterms:modified xsi:type="dcterms:W3CDTF">2026-10-15T10:03:20Z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{"AIGC":{"Label":"1","ContentProducer":"00119111010856365494821B355","ProduceID":"01a13d336074717894a44669972eb3e9","ReservedCode1":"","ContentPropagator":"00119111010856365494821B355","PropagateID":"01a13d336074717894a44669972eb3e9","ReservedCode2":""}}</vt:lpwstr>
  </property>
</Properties>
</file>
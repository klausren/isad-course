
<file path=[Content_Types].xml><?xml version="1.0" encoding="utf-8"?>
<Types xmlns="http://schemas.openxmlformats.org/package/2006/content-types">
  <Default Extension="svg" ContentType="image/svg+xml"/>
  <Default Extension="xml" ContentType="application/xml"/>
  <Default Extension="rels" ContentType="application/vnd.openxmlformats-package.relationships+xml"/>
  <Override PartName="/ppt/theme/theme2.xml" ContentType="application/vnd.openxmlformats-officedocument.theme+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Override PartName="/ppt/slides/slide31.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xml" ContentType="application/vnd.openxmlformats-officedocument.presentationml.slide+xml"/>
  <Override PartName="/ppt/slides/slide36.xml" ContentType="application/vnd.openxmlformats-officedocument.presentationml.slide+xml"/>
  <Override PartName="/ppt/viewProps.xml" ContentType="application/vnd.openxmlformats-officedocument.presentationml.viewProps+xml"/>
  <Override PartName="/ppt/slides/slide2.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19.xml" ContentType="application/vnd.openxmlformats-officedocument.presentationml.slide+xml"/>
  <Override PartName="/ppt/slides/slide17.xml" ContentType="application/vnd.openxmlformats-officedocument.presentationml.slide+xml"/>
  <Override PartName="/docProps/custom.xml" ContentType="application/vnd.openxmlformats-officedocument.custom-properties+xml"/>
  <Override PartName="/ppt/slides/slide3.xml" ContentType="application/vnd.openxmlformats-officedocument.presentationml.slide+xml"/>
  <Override PartName="/ppt/slides/slide38.xml" ContentType="application/vnd.openxmlformats-officedocument.presentationml.slide+xml"/>
  <Override PartName="/ppt/slides/slide18.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slides/slide25.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6.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slides/slide5.xml" ContentType="application/vnd.openxmlformats-officedocument.presentationml.slide+xml"/>
  <Override PartName="/ppt/slides/slide6.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3.xml" ContentType="application/vnd.openxmlformats-officedocument.presentationml.slide+xml"/>
  <Override PartName="/ppt/slides/slide37.xml" ContentType="application/vnd.openxmlformats-officedocument.presentationml.slide+xml"/>
  <Override PartName="/ppt/slides/slide24.xml" ContentType="application/vnd.openxmlformats-officedocument.presentationml.slide+xml"/>
  <Override PartName="/ppt/slides/slide15.xml" ContentType="application/vnd.openxmlformats-officedocument.presentationml.slide+xml"/>
  <Override PartName="/ppt/slides/slide34.xml" ContentType="application/vnd.openxmlformats-officedocument.presentationml.slide+xml"/>
  <Override PartName="/ppt/slides/slide9.xml" ContentType="application/vnd.openxmlformats-officedocument.presentationml.slide+xml"/>
  <Override PartName="/ppt/slides/slide32.xml" ContentType="application/vnd.openxmlformats-officedocument.presentationml.slide+xml"/>
  <Override PartName="/ppt/theme/theme1.xml" ContentType="application/vnd.openxmlformats-officedocument.them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slides/slide23.xml" ContentType="application/vnd.openxmlformats-officedocument.presentationml.slide+xml"/>
  <Override PartName="/ppt/slides/slide14.xml" ContentType="application/vnd.openxmlformats-officedocument.presentationml.slide+xml"/>
  <Override PartName="/ppt/slides/slide35.xml" ContentType="application/vnd.openxmlformats-officedocument.presentationml.slide+xml"/>
  <Override PartName="/ppt/slideLayouts/slideLayout1.xml" ContentType="application/vnd.openxmlformats-officedocument.presentationml.slideLayout+xml"/>
</Types>
</file>

<file path=_rels/.rels><?xml version="1.0" encoding="UTF-8" standalone="yes"?><Relationships xmlns="http://schemas.openxmlformats.org/package/2006/relationships"><Relationship Id="rId3" Type="http://schemas.openxmlformats.org/officeDocument/2006/relationships/custom-properties" Target="docProps/custom.xml" /><Relationship Id="rId2" Type="http://schemas.openxmlformats.org/officeDocument/2006/relationships/extended-properties" Target="docProps/app.xml" /><Relationship Id="rId1" Type="http://schemas.openxmlformats.org/package/2006/relationships/metadata/core-properties" Target="docProps/core.xml" /><Relationship Id="rId0" Type="http://schemas.openxmlformats.org/officeDocument/2006/relationships/officeDocument" Target="ppt/presentation.xml" /></Relationships>
</file>

<file path=ppt/presentation.xml><?xml version="1.0" encoding="utf-8"?>
<p:presentation xmlns:r="http://schemas.openxmlformats.org/officeDocument/2006/relationships" xmlns:p="http://schemas.openxmlformats.org/presentationml/2006/main" xmlns:a="http://schemas.openxmlformats.org/drawingml/2006/main" firstSlideNum="1">
  <p:sldMasterIdLst>
    <p:sldMasterId id="2147483648" r:id="rId0"/>
  </p:sldMasterIdLst>
  <p:notesMasterIdLst>
    <p:notesMasterId r:id="rId39"/>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6" Type="http://schemas.openxmlformats.org/officeDocument/2006/relationships/slide" Target="slides/slide6.xml" /><Relationship Id="rId39" Type="http://schemas.openxmlformats.org/officeDocument/2006/relationships/notesMaster" Target="notesMasters/notesMaster1.xml" /><Relationship Id="rId7" Type="http://schemas.openxmlformats.org/officeDocument/2006/relationships/slide" Target="slides/slide7.xml" /><Relationship Id="rId37" Type="http://schemas.openxmlformats.org/officeDocument/2006/relationships/slide" Target="slides/slide37.xml" /><Relationship Id="rId5" Type="http://schemas.openxmlformats.org/officeDocument/2006/relationships/slide" Target="slides/slide5.xml" /><Relationship Id="rId35" Type="http://schemas.openxmlformats.org/officeDocument/2006/relationships/slide" Target="slides/slide35.xml" /><Relationship Id="rId34" Type="http://schemas.openxmlformats.org/officeDocument/2006/relationships/slide" Target="slides/slide34.xml" /><Relationship Id="rId33" Type="http://schemas.openxmlformats.org/officeDocument/2006/relationships/slide" Target="slides/slide33.xml" /><Relationship Id="rId32" Type="http://schemas.openxmlformats.org/officeDocument/2006/relationships/slide" Target="slides/slide32.xml" /><Relationship Id="rId30" Type="http://schemas.openxmlformats.org/officeDocument/2006/relationships/slide" Target="slides/slide30.xml" /><Relationship Id="rId3" Type="http://schemas.openxmlformats.org/officeDocument/2006/relationships/slide" Target="slides/slide3.xml" /><Relationship Id="rId29" Type="http://schemas.openxmlformats.org/officeDocument/2006/relationships/slide" Target="slides/slide29.xml" /><Relationship Id="rId28" Type="http://schemas.openxmlformats.org/officeDocument/2006/relationships/slide" Target="slides/slide28.xml" /><Relationship Id="rId27" Type="http://schemas.openxmlformats.org/officeDocument/2006/relationships/slide" Target="slides/slide27.xml" /><Relationship Id="rId16" Type="http://schemas.openxmlformats.org/officeDocument/2006/relationships/slide" Target="slides/slide16.xml" /><Relationship Id="rId26" Type="http://schemas.openxmlformats.org/officeDocument/2006/relationships/slide" Target="slides/slide26.xml" /><Relationship Id="rId25" Type="http://schemas.openxmlformats.org/officeDocument/2006/relationships/slide" Target="slides/slide25.xml" /><Relationship Id="rId23" Type="http://schemas.openxmlformats.org/officeDocument/2006/relationships/slide" Target="slides/slide23.xml" /><Relationship Id="rId21" Type="http://schemas.openxmlformats.org/officeDocument/2006/relationships/slide" Target="slides/slide21.xml" /><Relationship Id="rId20" Type="http://schemas.openxmlformats.org/officeDocument/2006/relationships/slide" Target="slides/slide20.xml" /><Relationship Id="rId9" Type="http://schemas.openxmlformats.org/officeDocument/2006/relationships/slide" Target="slides/slide9.xml" /><Relationship Id="rId41" Type="http://schemas.openxmlformats.org/officeDocument/2006/relationships/tableStyles" Target="tableStyles.xml" /><Relationship Id="rId18" Type="http://schemas.openxmlformats.org/officeDocument/2006/relationships/slide" Target="slides/slide18.xml" /><Relationship Id="rId4" Type="http://schemas.openxmlformats.org/officeDocument/2006/relationships/slide" Target="slides/slide4.xml" /><Relationship Id="rId14" Type="http://schemas.openxmlformats.org/officeDocument/2006/relationships/slide" Target="slides/slide14.xml" /><Relationship Id="rId17" Type="http://schemas.openxmlformats.org/officeDocument/2006/relationships/slide" Target="slides/slide17.xml" /><Relationship Id="rId22" Type="http://schemas.openxmlformats.org/officeDocument/2006/relationships/slide" Target="slides/slide22.xml" /><Relationship Id="rId8" Type="http://schemas.openxmlformats.org/officeDocument/2006/relationships/slide" Target="slides/slide8.xml" /><Relationship Id="rId2" Type="http://schemas.openxmlformats.org/officeDocument/2006/relationships/slide" Target="slides/slide2.xml" /><Relationship Id="rId10" Type="http://schemas.openxmlformats.org/officeDocument/2006/relationships/slide" Target="slides/slide10.xml" /><Relationship Id="rId42" Type="http://schemas.openxmlformats.org/officeDocument/2006/relationships/viewProps" Target="viewProps.xml" /><Relationship Id="rId15" Type="http://schemas.openxmlformats.org/officeDocument/2006/relationships/slide" Target="slides/slide15.xml" /><Relationship Id="rId36" Type="http://schemas.openxmlformats.org/officeDocument/2006/relationships/slide" Target="slides/slide36.xml" /><Relationship Id="rId12" Type="http://schemas.openxmlformats.org/officeDocument/2006/relationships/slide" Target="slides/slide12.xml" /><Relationship Id="rId1" Type="http://schemas.openxmlformats.org/officeDocument/2006/relationships/slide" Target="slides/slide1.xml" /><Relationship Id="rId38" Type="http://schemas.openxmlformats.org/officeDocument/2006/relationships/slide" Target="slides/slide38.xml" /><Relationship Id="rId13" Type="http://schemas.openxmlformats.org/officeDocument/2006/relationships/slide" Target="slides/slide13.xml" /><Relationship Id="rId24" Type="http://schemas.openxmlformats.org/officeDocument/2006/relationships/slide" Target="slides/slide24.xml" /><Relationship Id="rId40" Type="http://schemas.openxmlformats.org/officeDocument/2006/relationships/presProps" Target="presProps.xml" /><Relationship Id="rId11" Type="http://schemas.openxmlformats.org/officeDocument/2006/relationships/slide" Target="slides/slide11.xml" /><Relationship Id="rId31" Type="http://schemas.openxmlformats.org/officeDocument/2006/relationships/slide" Target="slides/slide31.xml" /><Relationship Id="rId19" Type="http://schemas.openxmlformats.org/officeDocument/2006/relationships/slide" Target="slides/slide19.xml" /><Relationship Id="rId0" Type="http://schemas.openxmlformats.org/officeDocument/2006/relationships/slideMaster" Target="slideMasters/slideMaster1.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 /><Relationship Id="rId0" Type="http://schemas.openxmlformats.org/officeDocument/2006/relationships/slideLayout" Target="../slideLayouts/slideLayout1.xml" /></Relationships>
</file>

<file path=ppt/slideMasters/slideMaster1.xml><?xml version="1.0" encoding="utf-8"?>
<p:sldMaster xmlns:r="http://schemas.openxmlformats.org/officeDocument/2006/relationships"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4.xml.rels><?xml version="1.0" encoding="UTF-8" standalone="yes"?><Relationships xmlns="http://schemas.openxmlformats.org/package/2006/relationships"><Relationship Id="rId1" Type="http://schemas.openxmlformats.org/officeDocument/2006/relationships/image" Target="media/image7.svg" /><Relationship Id="rId0" Type="http://schemas.openxmlformats.org/officeDocument/2006/relationships/slideLayout" Target="../slideLayouts/slideLayout1.xml" /></Relationships>
</file>

<file path=ppt/slides/_rels/slide5.xml.rels><?xml version="1.0" encoding="UTF-8" standalone="yes"?><Relationships xmlns="http://schemas.openxmlformats.org/package/2006/relationships"><Relationship Id="rId1" Type="http://schemas.openxmlformats.org/officeDocument/2006/relationships/image" Target="media/image8.svg" /><Relationship Id="rId0" Type="http://schemas.openxmlformats.org/officeDocument/2006/relationships/slideLayout" Target="../slideLayouts/slideLayout1.xml" /></Relationships>
</file>

<file path=ppt/slides/_rels/slide6.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7.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9.xml.rels><?xml version="1.0" encoding="UTF-8" standalone="yes"?><Relationships xmlns="http://schemas.openxmlformats.org/package/2006/relationships"><Relationship Id="rId1" Type="http://schemas.openxmlformats.org/officeDocument/2006/relationships/image" Target="media/image9.svg" /><Relationship Id="rId0" Type="http://schemas.openxmlformats.org/officeDocument/2006/relationships/slideLayout" Target="../slideLayouts/slideLayout1.xml" /></Relationships>
</file>

<file path=ppt/slides/_rels/slide10.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2.xml.rels><?xml version="1.0" encoding="UTF-8" standalone="yes"?><Relationships xmlns="http://schemas.openxmlformats.org/package/2006/relationships"><Relationship Id="rId1" Type="http://schemas.openxmlformats.org/officeDocument/2006/relationships/image" Target="media/image1.svg" /><Relationship Id="rId0" Type="http://schemas.openxmlformats.org/officeDocument/2006/relationships/slideLayout" Target="../slideLayouts/slideLayout1.xml" /></Relationships>
</file>

<file path=ppt/slides/_rels/slide1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4.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5.xml.rels><?xml version="1.0" encoding="UTF-8" standalone="yes"?><Relationships xmlns="http://schemas.openxmlformats.org/package/2006/relationships"><Relationship Id="rId1" Type="http://schemas.openxmlformats.org/officeDocument/2006/relationships/image" Target="media/image2.svg" /><Relationship Id="rId0" Type="http://schemas.openxmlformats.org/officeDocument/2006/relationships/slideLayout" Target="../slideLayouts/slideLayout1.xml" /></Relationships>
</file>

<file path=ppt/slides/_rels/slide16.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7.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9.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0.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1.xml.rels><?xml version="1.0" encoding="UTF-8" standalone="yes"?><Relationships xmlns="http://schemas.openxmlformats.org/package/2006/relationships"><Relationship Id="rId1" Type="http://schemas.openxmlformats.org/officeDocument/2006/relationships/image" Target="media/image3.svg" /><Relationship Id="rId0" Type="http://schemas.openxmlformats.org/officeDocument/2006/relationships/slideLayout" Target="../slideLayouts/slideLayout1.xml" /></Relationships>
</file>

<file path=ppt/slides/_rels/slide2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4.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5.xml.rels><?xml version="1.0" encoding="UTF-8" standalone="yes"?><Relationships xmlns="http://schemas.openxmlformats.org/package/2006/relationships"><Relationship Id="rId1" Type="http://schemas.openxmlformats.org/officeDocument/2006/relationships/image" Target="media/image4.svg" /><Relationship Id="rId0" Type="http://schemas.openxmlformats.org/officeDocument/2006/relationships/slideLayout" Target="../slideLayouts/slideLayout1.xml" /></Relationships>
</file>

<file path=ppt/slides/_rels/slide26.xml.rels><?xml version="1.0" encoding="UTF-8" standalone="yes"?><Relationships xmlns="http://schemas.openxmlformats.org/package/2006/relationships"><Relationship Id="rId1" Type="http://schemas.openxmlformats.org/officeDocument/2006/relationships/image" Target="media/image5.svg" /><Relationship Id="rId0" Type="http://schemas.openxmlformats.org/officeDocument/2006/relationships/slideLayout" Target="../slideLayouts/slideLayout1.xml" /></Relationships>
</file>

<file path=ppt/slides/_rels/slide27.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9.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0.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4.xml.rels><?xml version="1.0" encoding="UTF-8" standalone="yes"?><Relationships xmlns="http://schemas.openxmlformats.org/package/2006/relationships"><Relationship Id="rId1" Type="http://schemas.openxmlformats.org/officeDocument/2006/relationships/image" Target="media/image6.svg" /><Relationship Id="rId0" Type="http://schemas.openxmlformats.org/officeDocument/2006/relationships/slideLayout" Target="../slideLayouts/slideLayout1.xml" /></Relationships>
</file>

<file path=ppt/slides/_rels/slide35.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6.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7.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p:cSld>
    <p:spTree>
      <p:nvGrpSpPr>
        <p:cNvPr id="1" name="" descr="&lt;Slide style={{ background: '#0E3F8C', padding: 0 }}&gt;&#10;  &lt;Box style={{ flexDirection: 'column', height: '100%', justifyContent: 'center', padding: '0 80px', position: 'relative' }}&gt;&#10;    &lt;Box style={{ position: 'absolute', top: 0, left: 0, right: 0, height: 8, background: '#1E4FA8' }} /&gt;&#10;    &lt;Box style={{ position: 'absolute', top: 8, left: 0, right: 0, height: 2, background: '#3D7BD9' }} /&gt;&#10;    &lt;Box style={{ flexDirection: 'row', alignItems: 'center', gap: 14, marginBottom: 30 }}&gt;&#10;      &lt;Box style={{ padding: '7px 18px', background: '#3D7BD9', borderRadius: 18 }}&gt;&#10;        &lt;Text style={{ fontSize: 16, color: '#FFFFFF', fontWeight: 'bold', letterSpacing: 2 }}&gt;ISAD · WEEK 05&lt;/Text&gt;&#10;      &lt;/Box&gt;&#10;      &lt;Box style={{ width: 56, height: 1, background: '#5B84C4' }} /&gt;&#10;      &lt;Text style={{ fontSize: 16, color: '#7FA2D6', letterSpacing: 1 }}&gt;MODULE B · OO ANALYSIS&lt;/Text&gt;&#10;    &lt;/Box&gt;&#10;    &lt;Text style={{ fontSize: 56, fontWeight: 'bold', color: '#FFFFFF', fontFamily: 'Georgia, serif', lineHeight: 1.12 }}&gt;&#10;      Use Case Specification&#10;      &lt;br /&gt;&#10;      &amp;amp; Scenarios&#10;    &lt;/Text&gt;&#10;    &lt;Box style={{ width: 88, height: 5, background: '#FFC107', marginTop: 28, marginBottom: 22 }} /&gt;&#10;    &lt;Text style={{ fontSize: 26, color: '#B9CDF0', lineHeight: 1.45 }}&gt;&#10;      The Week the Ellipses Become Sentences&#10;    &lt;/Text&gt;&#10;    &lt;Box style={{ position: 'absolute', bottom: 46, left: 80, right: 80, flexDirection: 'row', justifyContent: 'space-between', alignItems: 'center', borderTop: '1px solid #2B5793', paddingTop: 18 }}&gt;&#10;      &lt;Text style={{ fontSize: 17, color: '#C5D4EA' }}&gt;Ren Zheng · School of Software Engineering&lt;/Text&gt;&#10;      &lt;Text style={{ fontSize: 17, color: '#C5D4EA' }}&gt;Fall 2026&lt;/Text&gt;&#10;    &lt;/Box&gt;&#10;  &lt;/Box&gt;&#10;&lt;/Slide&gt;&#10;"/>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0E3F8C"/>
          </a:solidFill>
          <a:ln/>
        </p:spPr>
        <p:txBody>
          <a:bodyPr/>
          <a:p/>
        </p:txBody>
      </p:sp>
      <p:sp>
        <p:nvSpPr>
          <p:cNvPr id="3" name=""/>
          <p:cNvSpPr/>
          <p:nvPr/>
        </p:nvSpPr>
        <p:spPr>
          <a:xfrm rot="0" flipH="0" flipV="0">
            <a:off x="762000" y="1924050"/>
            <a:ext cx="1781175" cy="323850"/>
          </a:xfrm>
          <a:prstGeom prst="roundRect">
            <a:avLst>
              <a:gd name="adj" fmla="val 52941"/>
            </a:avLst>
          </a:prstGeom>
          <a:solidFill>
            <a:srgbClr val="3D7BD9"/>
          </a:solidFill>
          <a:ln/>
        </p:spPr>
        <p:txBody>
          <a:bodyPr/>
          <a:p/>
        </p:txBody>
      </p:sp>
      <p:sp>
        <p:nvSpPr>
          <p:cNvPr id="4" name="" descr="{&quot;isTemplate&quot;:true,&quot;type&quot;:&quot;text&quot;}"/>
          <p:cNvSpPr txBox="1"/>
          <p:nvPr/>
        </p:nvSpPr>
        <p:spPr>
          <a:xfrm rot="0" flipH="0" flipV="0">
            <a:off x="933450" y="1990725"/>
            <a:ext cx="1438275" cy="190500"/>
          </a:xfrm>
          <a:prstGeom prst="rect"/>
        </p:spPr>
        <p:txBody>
          <a:bodyPr wrap="none" lIns="0" tIns="0" rIns="0" bIns="0"/>
          <a:p>
            <a:pPr>
              <a:lnSpc>
                <a:spcPct val="100000"/>
              </a:lnSpc>
            </a:pPr>
            <a:r>
              <a:rPr lang="en-US" sz="1200" b="1" spc="150">
                <a:solidFill>
                  <a:srgbClr val="FFFFFF"/>
                </a:solidFill>
                <a:latin typeface="Microsoft YaHei"/>
                <a:ea typeface="Microsoft YaHei"/>
              </a:rPr>
              <a:t>ISAD · WEEK 05</a:t>
            </a:r>
            <a:endParaRPr/>
          </a:p>
        </p:txBody>
      </p:sp>
      <p:sp>
        <p:nvSpPr>
          <p:cNvPr id="5" name=""/>
          <p:cNvSpPr/>
          <p:nvPr/>
        </p:nvSpPr>
        <p:spPr>
          <a:xfrm rot="0" flipH="0" flipV="0">
            <a:off x="2676525" y="2085975"/>
            <a:ext cx="533400" cy="9525"/>
          </a:xfrm>
          <a:prstGeom prst="rect">
            <a:avLst/>
          </a:prstGeom>
          <a:solidFill>
            <a:srgbClr val="5B84C4"/>
          </a:solidFill>
          <a:ln/>
        </p:spPr>
        <p:txBody>
          <a:bodyPr/>
          <a:p/>
        </p:txBody>
      </p:sp>
      <p:sp>
        <p:nvSpPr>
          <p:cNvPr id="6" name="" descr="{&quot;isTemplate&quot;:true,&quot;type&quot;:&quot;text&quot;}"/>
          <p:cNvSpPr txBox="1"/>
          <p:nvPr/>
        </p:nvSpPr>
        <p:spPr>
          <a:xfrm rot="0" flipH="0" flipV="0">
            <a:off x="3343275" y="1990725"/>
            <a:ext cx="2171700" cy="190500"/>
          </a:xfrm>
          <a:prstGeom prst="rect"/>
        </p:spPr>
        <p:txBody>
          <a:bodyPr wrap="none" lIns="0" tIns="0" rIns="0" bIns="0"/>
          <a:p>
            <a:pPr>
              <a:lnSpc>
                <a:spcPct val="100000"/>
              </a:lnSpc>
            </a:pPr>
            <a:r>
              <a:rPr lang="en-US" sz="1200" spc="75">
                <a:solidFill>
                  <a:srgbClr val="7FA2D6"/>
                </a:solidFill>
                <a:latin typeface="Microsoft YaHei"/>
                <a:ea typeface="Microsoft YaHei"/>
              </a:rPr>
              <a:t>MODULE B · OO ANALYSIS</a:t>
            </a:r>
            <a:endParaRPr/>
          </a:p>
        </p:txBody>
      </p:sp>
      <p:sp>
        <p:nvSpPr>
          <p:cNvPr id="7" name="" descr="{&quot;isTemplate&quot;:true,&quot;type&quot;:&quot;text&quot;}"/>
          <p:cNvSpPr txBox="1"/>
          <p:nvPr/>
        </p:nvSpPr>
        <p:spPr>
          <a:xfrm rot="0" flipH="0" flipV="0">
            <a:off x="762000" y="2533650"/>
            <a:ext cx="10668000" cy="1438275"/>
          </a:xfrm>
          <a:prstGeom prst="rect"/>
        </p:spPr>
        <p:txBody>
          <a:bodyPr wrap="none" lIns="0" tIns="0" rIns="0" bIns="0"/>
          <a:p>
            <a:pPr>
              <a:lnSpc>
                <a:spcPct val="112000"/>
              </a:lnSpc>
            </a:pPr>
            <a:r>
              <a:rPr lang="en-US" sz="4200" b="1">
                <a:solidFill>
                  <a:srgbClr val="FFFFFF"/>
                </a:solidFill>
                <a:latin typeface="Georgia"/>
                <a:ea typeface="Georgia"/>
              </a:rPr>
              <a:t>Use Case Specification</a:t>
            </a:r>
            <a:endParaRPr/>
          </a:p>
          <a:p>
            <a:pPr>
              <a:lnSpc>
                <a:spcPct val="112000"/>
              </a:lnSpc>
            </a:pPr>
            <a:r>
              <a:rPr lang="en-US" sz="4200" b="1">
                <a:solidFill>
                  <a:srgbClr val="FFFFFF"/>
                </a:solidFill>
                <a:latin typeface="Georgia"/>
                <a:ea typeface="Georgia"/>
              </a:rPr>
              <a:t>&amp; Scenarios</a:t>
            </a:r>
            <a:endParaRPr/>
          </a:p>
        </p:txBody>
      </p:sp>
      <p:sp>
        <p:nvSpPr>
          <p:cNvPr id="8" name=""/>
          <p:cNvSpPr/>
          <p:nvPr/>
        </p:nvSpPr>
        <p:spPr>
          <a:xfrm rot="0" flipH="0" flipV="0">
            <a:off x="762000" y="4238625"/>
            <a:ext cx="838200" cy="47625"/>
          </a:xfrm>
          <a:prstGeom prst="rect">
            <a:avLst/>
          </a:prstGeom>
          <a:solidFill>
            <a:srgbClr val="FFC107"/>
          </a:solidFill>
          <a:ln/>
        </p:spPr>
        <p:txBody>
          <a:bodyPr/>
          <a:p/>
        </p:txBody>
      </p:sp>
      <p:sp>
        <p:nvSpPr>
          <p:cNvPr id="9" name="" descr="{&quot;isTemplate&quot;:true,&quot;type&quot;:&quot;text&quot;}"/>
          <p:cNvSpPr txBox="1"/>
          <p:nvPr/>
        </p:nvSpPr>
        <p:spPr>
          <a:xfrm rot="0" flipH="0" flipV="0">
            <a:off x="762000" y="4495800"/>
            <a:ext cx="10668000" cy="438150"/>
          </a:xfrm>
          <a:prstGeom prst="rect"/>
        </p:spPr>
        <p:txBody>
          <a:bodyPr wrap="none" lIns="0" tIns="0" rIns="0" bIns="0"/>
          <a:p>
            <a:pPr>
              <a:lnSpc>
                <a:spcPct val="145000"/>
              </a:lnSpc>
            </a:pPr>
            <a:r>
              <a:rPr lang="en-US" sz="1950">
                <a:solidFill>
                  <a:srgbClr val="B9CDF0"/>
                </a:solidFill>
                <a:latin typeface="Microsoft YaHei"/>
                <a:ea typeface="Microsoft YaHei"/>
              </a:rPr>
              <a:t>The Week the Ellipses Become Sentences</a:t>
            </a:r>
            <a:endParaRPr/>
          </a:p>
        </p:txBody>
      </p:sp>
      <p:sp>
        <p:nvSpPr>
          <p:cNvPr id="10" name=""/>
          <p:cNvSpPr/>
          <p:nvPr/>
        </p:nvSpPr>
        <p:spPr>
          <a:xfrm rot="0" flipH="0" flipV="0">
            <a:off x="0" y="0"/>
            <a:ext cx="12192000" cy="76200"/>
          </a:xfrm>
          <a:prstGeom prst="rect">
            <a:avLst/>
          </a:prstGeom>
          <a:solidFill>
            <a:srgbClr val="1E4FA8"/>
          </a:solidFill>
          <a:ln/>
        </p:spPr>
        <p:txBody>
          <a:bodyPr/>
          <a:p/>
        </p:txBody>
      </p:sp>
      <p:sp>
        <p:nvSpPr>
          <p:cNvPr id="11" name=""/>
          <p:cNvSpPr/>
          <p:nvPr/>
        </p:nvSpPr>
        <p:spPr>
          <a:xfrm rot="0" flipH="0" flipV="0">
            <a:off x="0" y="76200"/>
            <a:ext cx="12192000" cy="19050"/>
          </a:xfrm>
          <a:prstGeom prst="rect">
            <a:avLst/>
          </a:prstGeom>
          <a:solidFill>
            <a:srgbClr val="3D7BD9"/>
          </a:solidFill>
          <a:ln/>
        </p:spPr>
        <p:txBody>
          <a:bodyPr/>
          <a:p/>
        </p:txBody>
      </p:sp>
      <p:sp>
        <p:nvSpPr>
          <p:cNvPr id="12" name=""/>
          <p:cNvSpPr/>
          <p:nvPr/>
        </p:nvSpPr>
        <p:spPr>
          <a:xfrm rot="0" flipH="0" flipV="0">
            <a:off x="762000" y="6038850"/>
            <a:ext cx="10668000" cy="390525"/>
          </a:xfrm>
          <a:custGeom>
            <a:pathLst>
              <a:path w="1120" h="41">
                <a:moveTo>
                  <a:pt x="0" y="0"/>
                </a:moveTo>
                <a:lnTo>
                  <a:pt x="1120" y="0"/>
                </a:lnTo>
                <a:lnTo>
                  <a:pt x="1120" y="1"/>
                </a:lnTo>
                <a:lnTo>
                  <a:pt x="0" y="1"/>
                </a:lnTo>
                <a:close/>
              </a:path>
            </a:pathLst>
          </a:custGeom>
          <a:solidFill>
            <a:srgbClr val="2B5793"/>
          </a:solidFill>
          <a:ln/>
        </p:spPr>
        <p:txBody>
          <a:bodyPr/>
          <a:p/>
        </p:txBody>
      </p:sp>
      <p:sp>
        <p:nvSpPr>
          <p:cNvPr id="13" name="" descr="{&quot;isTemplate&quot;:true,&quot;type&quot;:&quot;text&quot;}"/>
          <p:cNvSpPr txBox="1"/>
          <p:nvPr/>
        </p:nvSpPr>
        <p:spPr>
          <a:xfrm rot="0" flipH="0" flipV="0">
            <a:off x="762000" y="6219825"/>
            <a:ext cx="3219450" cy="200025"/>
          </a:xfrm>
          <a:prstGeom prst="rect"/>
        </p:spPr>
        <p:txBody>
          <a:bodyPr wrap="none" lIns="0" tIns="0" rIns="0" bIns="0"/>
          <a:p>
            <a:pPr>
              <a:lnSpc>
                <a:spcPct val="100000"/>
              </a:lnSpc>
            </a:pPr>
            <a:r>
              <a:rPr lang="en-US" sz="1275">
                <a:solidFill>
                  <a:srgbClr val="C5D4EA"/>
                </a:solidFill>
                <a:latin typeface="Microsoft YaHei"/>
                <a:ea typeface="Microsoft YaHei"/>
              </a:rPr>
              <a:t>Ren Zheng · School of Software Engineering</a:t>
            </a:r>
            <a:endParaRPr/>
          </a:p>
        </p:txBody>
      </p:sp>
      <p:sp>
        <p:nvSpPr>
          <p:cNvPr id="14" name="" descr="{&quot;isTemplate&quot;:true,&quot;type&quot;:&quot;text&quot;}"/>
          <p:cNvSpPr txBox="1"/>
          <p:nvPr/>
        </p:nvSpPr>
        <p:spPr>
          <a:xfrm rot="0" flipH="0" flipV="0">
            <a:off x="10763250" y="6219825"/>
            <a:ext cx="666750" cy="200025"/>
          </a:xfrm>
          <a:prstGeom prst="rect"/>
        </p:spPr>
        <p:txBody>
          <a:bodyPr wrap="none" lIns="0" tIns="0" rIns="0" bIns="0"/>
          <a:p>
            <a:pPr>
              <a:lnSpc>
                <a:spcPct val="100000"/>
              </a:lnSpc>
            </a:pPr>
            <a:r>
              <a:rPr lang="en-US" sz="1275">
                <a:solidFill>
                  <a:srgbClr val="C5D4EA"/>
                </a:solidFill>
                <a:latin typeface="Microsoft YaHei"/>
                <a:ea typeface="Microsoft YaHei"/>
              </a:rPr>
              <a:t>Fall 2026</a:t>
            </a:r>
            <a:endParaRPr/>
          </a:p>
        </p:txBody>
      </p:sp>
    </p:spTree>
  </p:cSld>
</p:sld>
</file>

<file path=ppt/slides/slide2.xml><?xml version="1.0" encoding="utf-8"?>
<p:sld xmlns:p="http://schemas.openxmlformats.org/presentationml/2006/main" xmlns:a="http://schemas.openxmlformats.org/drawingml/2006/main">
  <p:cSld>
    <p:spTree>
      <p:nvGrpSpPr>
        <p:cNvPr id="194" name="" descr="&lt;Slide style={{ background: '#FFFFFF', padding: 0 }}&gt;&#10;  &lt;Box style={{ flexDirection: 'row', height: '100%' }}&gt;&#10;    &lt;Box style={{ width: 320, background: '#0E3F8C', padding: '60px 44px', flexDirection: 'column', justifyContent: 'space-between' }}&gt;&#10;      &lt;Box&gt;&#10;        &lt;Box style={{ width: 40, height: 4, background: '#FFC107', marginBottom: 24 }} /&gt;&#10;        &lt;Text style={{ fontSize: 46, fontWeight: 'bold', color: '#FFFFFF', fontFamily: 'Georgia, serif', lineHeight: 1.15 }}&gt;Contents&lt;/Text&gt;&#10;        &lt;Text style={{ fontSize: 16, color: '#7FA2D6', marginTop: 18, letterSpacing: 1 }}&gt;WEEK 05 · ROADMAP&lt;/Text&gt;&#10;      &lt;/Box&gt;&#10;      &lt;Text style={{ fontSize: 15, color: '#5B84C4', lineHeight: 1.5 }}&gt;Use Case&lt;br /&gt;Specification&lt;/Text&gt;&#10;    &lt;/Box&gt;&#10;    &lt;Box style={{ flex: 1, padding: '50px 56px', flexDirection: 'column', gap: 15 }}&gt;&#10;      {[&#10;        { n: '01', t: 'Anatomy of a Spec', p: '03' },&#10;        { n: '02', t: 'Writing Good Scenarios', p: '08' },&#10;        { n: '03', t: 'Extensions &amp; Exceptions', p: '14' },&#10;        { n: '04', t: 'From Use Case to SSD', p: '20' },&#10;        { n: '05', t: 'Reviewing a Spec', p: '24' },&#10;        { n: '06', t: 'Lab — Exercise 5.1, 5.2 &amp; M1', p: '28' },&#10;      ].map((item) =&gt; (&#10;        &lt;Box key={item.n} style={{ flexDirection: 'row', alignItems: 'center', gap: 20, padding: '14px 20px', background: '#F7F9FC', borderRadius: 10, border: '1px solid #E5E7EB' }}&gt;&#10;          &lt;Box style={{ width: 52, height: 52, borderRadius: 8, background: '#1E4FA8', justifyContent: 'center', alignItems: 'center' }}&gt;&#10;            &lt;Text style={{ fontSize: 22, fontWeight: 'bold', color: '#FFFFFF' }}&gt;{item.n}&lt;/Text&gt;&#10;          &lt;/Box&gt;&#10;          &lt;Text style={{ flex: 1, fontSize: 20, color: '#1A2230', fontWeight: '600' }}&gt;{item.t}&lt;/Text&gt;&#10;          &lt;Text style={{ fontSize: 20, color: '#8B97A8', fontWeight: 'bold' }}&gt;{item.p}&lt;/Text&gt;&#10;        &lt;/Box&gt;&#10;      ))}&#10;    &lt;/Box&gt;&#10;  &lt;/Box&gt;&#10;&lt;/Slide&gt;&#10;"/>
        <p:cNvGrpSpPr/>
        <p:nvPr/>
      </p:nvGrpSpPr>
      <p:grpSpPr>
        <a:xfrm>
          <a:off x="0" y="0"/>
          <a:ext cx="0" cy="0"/>
          <a:chOff x="0" y="0"/>
          <a:chExt cx="0" cy="0"/>
        </a:xfrm>
      </p:grpSpPr>
      <p:sp>
        <p:nvSpPr>
          <p:cNvPr id="195" name=""/>
          <p:cNvSpPr/>
          <p:nvPr/>
        </p:nvSpPr>
        <p:spPr>
          <a:xfrm rot="0" flipH="0" flipV="0">
            <a:off x="0" y="0"/>
            <a:ext cx="12192000" cy="6858000"/>
          </a:xfrm>
          <a:prstGeom prst="rect">
            <a:avLst/>
          </a:prstGeom>
          <a:solidFill>
            <a:srgbClr val="FFFFFF"/>
          </a:solidFill>
          <a:ln/>
        </p:spPr>
        <p:txBody>
          <a:bodyPr/>
          <a:p/>
        </p:txBody>
      </p:sp>
      <p:sp>
        <p:nvSpPr>
          <p:cNvPr id="196" name=""/>
          <p:cNvSpPr/>
          <p:nvPr/>
        </p:nvSpPr>
        <p:spPr>
          <a:xfrm rot="0" flipH="0" flipV="0">
            <a:off x="0" y="0"/>
            <a:ext cx="3048000" cy="6858000"/>
          </a:xfrm>
          <a:prstGeom prst="rect">
            <a:avLst/>
          </a:prstGeom>
          <a:solidFill>
            <a:srgbClr val="0E3F8C"/>
          </a:solidFill>
          <a:ln/>
        </p:spPr>
        <p:txBody>
          <a:bodyPr/>
          <a:p/>
        </p:txBody>
      </p:sp>
      <p:sp>
        <p:nvSpPr>
          <p:cNvPr id="197" name=""/>
          <p:cNvSpPr/>
          <p:nvPr/>
        </p:nvSpPr>
        <p:spPr>
          <a:xfrm rot="0" flipH="0" flipV="0">
            <a:off x="419100" y="571500"/>
            <a:ext cx="381000" cy="38100"/>
          </a:xfrm>
          <a:prstGeom prst="rect">
            <a:avLst/>
          </a:prstGeom>
          <a:solidFill>
            <a:srgbClr val="FFC107"/>
          </a:solidFill>
          <a:ln/>
        </p:spPr>
        <p:txBody>
          <a:bodyPr/>
          <a:p/>
        </p:txBody>
      </p:sp>
      <p:sp>
        <p:nvSpPr>
          <p:cNvPr id="198" name="" descr="{&quot;isTemplate&quot;:true,&quot;type&quot;:&quot;text&quot;}"/>
          <p:cNvSpPr txBox="1"/>
          <p:nvPr/>
        </p:nvSpPr>
        <p:spPr>
          <a:xfrm rot="0" flipH="0" flipV="0">
            <a:off x="419100" y="838200"/>
            <a:ext cx="2209800" cy="609600"/>
          </a:xfrm>
          <a:prstGeom prst="rect"/>
        </p:spPr>
        <p:txBody>
          <a:bodyPr wrap="none" lIns="0" tIns="0" rIns="0" bIns="0"/>
          <a:p>
            <a:pPr>
              <a:lnSpc>
                <a:spcPct val="114999"/>
              </a:lnSpc>
            </a:pPr>
            <a:r>
              <a:rPr lang="en-US" sz="3450" b="1">
                <a:solidFill>
                  <a:srgbClr val="FFFFFF"/>
                </a:solidFill>
                <a:latin typeface="Georgia"/>
                <a:ea typeface="Georgia"/>
              </a:rPr>
              <a:t>Contents</a:t>
            </a:r>
            <a:endParaRPr/>
          </a:p>
        </p:txBody>
      </p:sp>
      <p:sp>
        <p:nvSpPr>
          <p:cNvPr id="199" name="" descr="{&quot;isTemplate&quot;:true,&quot;type&quot;:&quot;text&quot;}"/>
          <p:cNvSpPr txBox="1"/>
          <p:nvPr/>
        </p:nvSpPr>
        <p:spPr>
          <a:xfrm rot="0" flipH="0" flipV="0">
            <a:off x="419100" y="1619250"/>
            <a:ext cx="2209800" cy="190500"/>
          </a:xfrm>
          <a:prstGeom prst="rect"/>
        </p:spPr>
        <p:txBody>
          <a:bodyPr wrap="none" lIns="0" tIns="0" rIns="0" bIns="0"/>
          <a:p>
            <a:pPr>
              <a:lnSpc>
                <a:spcPct val="100000"/>
              </a:lnSpc>
            </a:pPr>
            <a:r>
              <a:rPr lang="en-US" sz="1200" spc="75">
                <a:solidFill>
                  <a:srgbClr val="7FA2D6"/>
                </a:solidFill>
                <a:latin typeface="Microsoft YaHei"/>
                <a:ea typeface="Microsoft YaHei"/>
              </a:rPr>
              <a:t>WEEK 05 · ROADMAP</a:t>
            </a:r>
            <a:endParaRPr/>
          </a:p>
        </p:txBody>
      </p:sp>
      <p:sp>
        <p:nvSpPr>
          <p:cNvPr id="200" name="" descr="{&quot;isTemplate&quot;:true,&quot;type&quot;:&quot;text&quot;}"/>
          <p:cNvSpPr txBox="1"/>
          <p:nvPr/>
        </p:nvSpPr>
        <p:spPr>
          <a:xfrm rot="0" flipH="0" flipV="0">
            <a:off x="419100" y="5772150"/>
            <a:ext cx="2209800" cy="514350"/>
          </a:xfrm>
          <a:prstGeom prst="rect"/>
        </p:spPr>
        <p:txBody>
          <a:bodyPr wrap="none" lIns="0" tIns="0" rIns="0" bIns="0"/>
          <a:p>
            <a:pPr>
              <a:lnSpc>
                <a:spcPct val="150000"/>
              </a:lnSpc>
            </a:pPr>
            <a:r>
              <a:rPr lang="en-US" sz="1125">
                <a:solidFill>
                  <a:srgbClr val="5B84C4"/>
                </a:solidFill>
                <a:latin typeface="Microsoft YaHei"/>
                <a:ea typeface="Microsoft YaHei"/>
              </a:rPr>
              <a:t>Use Case</a:t>
            </a:r>
            <a:endParaRPr/>
          </a:p>
          <a:p>
            <a:pPr>
              <a:lnSpc>
                <a:spcPct val="150000"/>
              </a:lnSpc>
            </a:pPr>
            <a:r>
              <a:rPr lang="en-US" sz="1125">
                <a:solidFill>
                  <a:srgbClr val="5B84C4"/>
                </a:solidFill>
                <a:latin typeface="Microsoft YaHei"/>
                <a:ea typeface="Microsoft YaHei"/>
              </a:rPr>
              <a:t>Specification</a:t>
            </a:r>
            <a:endParaRPr/>
          </a:p>
        </p:txBody>
      </p:sp>
      <p:sp>
        <p:nvSpPr>
          <p:cNvPr id="201" name=""/>
          <p:cNvSpPr/>
          <p:nvPr/>
        </p:nvSpPr>
        <p:spPr>
          <a:xfrm rot="0" flipH="0" flipV="0">
            <a:off x="3581400" y="476250"/>
            <a:ext cx="8077200" cy="762000"/>
          </a:xfrm>
          <a:prstGeom prst="roundRect">
            <a:avLst>
              <a:gd name="adj" fmla="val 12500"/>
            </a:avLst>
          </a:prstGeom>
          <a:solidFill>
            <a:srgbClr val="F7F9FC"/>
          </a:solidFill>
          <a:ln w="12700">
            <a:solidFill>
              <a:srgbClr val="E5E7EB"/>
            </a:solidFill>
            <a:prstDash val="solid"/>
          </a:ln>
        </p:spPr>
        <p:txBody>
          <a:bodyPr/>
          <a:p/>
        </p:txBody>
      </p:sp>
      <p:sp>
        <p:nvSpPr>
          <p:cNvPr id="202" name=""/>
          <p:cNvSpPr/>
          <p:nvPr/>
        </p:nvSpPr>
        <p:spPr>
          <a:xfrm rot="0" flipH="0" flipV="0">
            <a:off x="3771900" y="609600"/>
            <a:ext cx="495300" cy="495300"/>
          </a:xfrm>
          <a:prstGeom prst="roundRect">
            <a:avLst>
              <a:gd name="adj" fmla="val 15385"/>
            </a:avLst>
          </a:prstGeom>
          <a:solidFill>
            <a:srgbClr val="1E4FA8"/>
          </a:solidFill>
          <a:ln/>
        </p:spPr>
        <p:txBody>
          <a:bodyPr/>
          <a:p/>
        </p:txBody>
      </p:sp>
      <p:sp>
        <p:nvSpPr>
          <p:cNvPr id="203" name="" descr="{&quot;isTemplate&quot;:true,&quot;type&quot;:&quot;text&quot;}"/>
          <p:cNvSpPr txBox="1"/>
          <p:nvPr/>
        </p:nvSpPr>
        <p:spPr>
          <a:xfrm rot="0" flipH="0" flipV="0">
            <a:off x="3905250" y="733425"/>
            <a:ext cx="238125" cy="257175"/>
          </a:xfrm>
          <a:prstGeom prst="rect"/>
        </p:spPr>
        <p:txBody>
          <a:bodyPr wrap="none" lIns="0" tIns="0" rIns="0" bIns="0"/>
          <a:p>
            <a:pPr>
              <a:lnSpc>
                <a:spcPct val="100000"/>
              </a:lnSpc>
            </a:pPr>
            <a:r>
              <a:rPr lang="en-US" sz="1650" b="1">
                <a:solidFill>
                  <a:srgbClr val="FFFFFF"/>
                </a:solidFill>
                <a:latin typeface="Microsoft YaHei"/>
                <a:ea typeface="Microsoft YaHei"/>
              </a:rPr>
              <a:t>01</a:t>
            </a:r>
            <a:endParaRPr/>
          </a:p>
        </p:txBody>
      </p:sp>
      <p:sp>
        <p:nvSpPr>
          <p:cNvPr id="204" name="" descr="{&quot;isTemplate&quot;:true,&quot;type&quot;:&quot;text&quot;}"/>
          <p:cNvSpPr txBox="1"/>
          <p:nvPr/>
        </p:nvSpPr>
        <p:spPr>
          <a:xfrm rot="0" flipH="0" flipV="0">
            <a:off x="4457700" y="742950"/>
            <a:ext cx="6600825" cy="228600"/>
          </a:xfrm>
          <a:prstGeom prst="rect"/>
        </p:spPr>
        <p:txBody>
          <a:bodyPr wrap="none" lIns="0" tIns="0" rIns="0" bIns="0"/>
          <a:p>
            <a:pPr>
              <a:lnSpc>
                <a:spcPct val="100000"/>
              </a:lnSpc>
            </a:pPr>
            <a:r>
              <a:rPr lang="en-US" sz="1500" b="1">
                <a:solidFill>
                  <a:srgbClr val="1A2230"/>
                </a:solidFill>
                <a:latin typeface="Microsoft YaHei"/>
                <a:ea typeface="Microsoft YaHei"/>
              </a:rPr>
              <a:t>Anatomy of a Spec</a:t>
            </a:r>
            <a:endParaRPr/>
          </a:p>
        </p:txBody>
      </p:sp>
      <p:sp>
        <p:nvSpPr>
          <p:cNvPr id="205" name="" descr="{&quot;isTemplate&quot;:true,&quot;type&quot;:&quot;text&quot;}"/>
          <p:cNvSpPr txBox="1"/>
          <p:nvPr/>
        </p:nvSpPr>
        <p:spPr>
          <a:xfrm rot="0" flipH="0" flipV="0">
            <a:off x="11249025" y="742950"/>
            <a:ext cx="219075" cy="228600"/>
          </a:xfrm>
          <a:prstGeom prst="rect"/>
        </p:spPr>
        <p:txBody>
          <a:bodyPr wrap="none" lIns="0" tIns="0" rIns="0" bIns="0"/>
          <a:p>
            <a:pPr>
              <a:lnSpc>
                <a:spcPct val="100000"/>
              </a:lnSpc>
            </a:pPr>
            <a:r>
              <a:rPr lang="en-US" sz="1500" b="1">
                <a:solidFill>
                  <a:srgbClr val="8B97A8"/>
                </a:solidFill>
                <a:latin typeface="Microsoft YaHei"/>
                <a:ea typeface="Microsoft YaHei"/>
              </a:rPr>
              <a:t>03</a:t>
            </a:r>
            <a:endParaRPr/>
          </a:p>
        </p:txBody>
      </p:sp>
      <p:sp>
        <p:nvSpPr>
          <p:cNvPr id="206" name=""/>
          <p:cNvSpPr/>
          <p:nvPr/>
        </p:nvSpPr>
        <p:spPr>
          <a:xfrm rot="0" flipH="0" flipV="0">
            <a:off x="3581400" y="1381125"/>
            <a:ext cx="8077200" cy="762000"/>
          </a:xfrm>
          <a:prstGeom prst="roundRect">
            <a:avLst>
              <a:gd name="adj" fmla="val 12500"/>
            </a:avLst>
          </a:prstGeom>
          <a:solidFill>
            <a:srgbClr val="F7F9FC"/>
          </a:solidFill>
          <a:ln w="12700">
            <a:solidFill>
              <a:srgbClr val="E5E7EB"/>
            </a:solidFill>
            <a:prstDash val="solid"/>
          </a:ln>
        </p:spPr>
        <p:txBody>
          <a:bodyPr/>
          <a:p/>
        </p:txBody>
      </p:sp>
      <p:sp>
        <p:nvSpPr>
          <p:cNvPr id="207" name=""/>
          <p:cNvSpPr/>
          <p:nvPr/>
        </p:nvSpPr>
        <p:spPr>
          <a:xfrm rot="0" flipH="0" flipV="0">
            <a:off x="3771900" y="1514475"/>
            <a:ext cx="495300" cy="495300"/>
          </a:xfrm>
          <a:prstGeom prst="roundRect">
            <a:avLst>
              <a:gd name="adj" fmla="val 15385"/>
            </a:avLst>
          </a:prstGeom>
          <a:solidFill>
            <a:srgbClr val="1E4FA8"/>
          </a:solidFill>
          <a:ln/>
        </p:spPr>
        <p:txBody>
          <a:bodyPr/>
          <a:p/>
        </p:txBody>
      </p:sp>
      <p:sp>
        <p:nvSpPr>
          <p:cNvPr id="208" name="" descr="{&quot;isTemplate&quot;:true,&quot;type&quot;:&quot;text&quot;}"/>
          <p:cNvSpPr txBox="1"/>
          <p:nvPr/>
        </p:nvSpPr>
        <p:spPr>
          <a:xfrm rot="0" flipH="0" flipV="0">
            <a:off x="3905250" y="1638300"/>
            <a:ext cx="238125" cy="257175"/>
          </a:xfrm>
          <a:prstGeom prst="rect"/>
        </p:spPr>
        <p:txBody>
          <a:bodyPr wrap="none" lIns="0" tIns="0" rIns="0" bIns="0"/>
          <a:p>
            <a:pPr>
              <a:lnSpc>
                <a:spcPct val="100000"/>
              </a:lnSpc>
            </a:pPr>
            <a:r>
              <a:rPr lang="en-US" sz="1650" b="1">
                <a:solidFill>
                  <a:srgbClr val="FFFFFF"/>
                </a:solidFill>
                <a:latin typeface="Microsoft YaHei"/>
                <a:ea typeface="Microsoft YaHei"/>
              </a:rPr>
              <a:t>02</a:t>
            </a:r>
            <a:endParaRPr/>
          </a:p>
        </p:txBody>
      </p:sp>
      <p:sp>
        <p:nvSpPr>
          <p:cNvPr id="209" name="" descr="{&quot;isTemplate&quot;:true,&quot;type&quot;:&quot;text&quot;}"/>
          <p:cNvSpPr txBox="1"/>
          <p:nvPr/>
        </p:nvSpPr>
        <p:spPr>
          <a:xfrm rot="0" flipH="0" flipV="0">
            <a:off x="4457700" y="1647825"/>
            <a:ext cx="6600825" cy="228600"/>
          </a:xfrm>
          <a:prstGeom prst="rect"/>
        </p:spPr>
        <p:txBody>
          <a:bodyPr wrap="none" lIns="0" tIns="0" rIns="0" bIns="0"/>
          <a:p>
            <a:pPr>
              <a:lnSpc>
                <a:spcPct val="100000"/>
              </a:lnSpc>
            </a:pPr>
            <a:r>
              <a:rPr lang="en-US" sz="1500" b="1">
                <a:solidFill>
                  <a:srgbClr val="1A2230"/>
                </a:solidFill>
                <a:latin typeface="Microsoft YaHei"/>
                <a:ea typeface="Microsoft YaHei"/>
              </a:rPr>
              <a:t>Writing Good Scenarios</a:t>
            </a:r>
            <a:endParaRPr/>
          </a:p>
        </p:txBody>
      </p:sp>
      <p:sp>
        <p:nvSpPr>
          <p:cNvPr id="210" name="" descr="{&quot;isTemplate&quot;:true,&quot;type&quot;:&quot;text&quot;}"/>
          <p:cNvSpPr txBox="1"/>
          <p:nvPr/>
        </p:nvSpPr>
        <p:spPr>
          <a:xfrm rot="0" flipH="0" flipV="0">
            <a:off x="11249025" y="1647825"/>
            <a:ext cx="219075" cy="228600"/>
          </a:xfrm>
          <a:prstGeom prst="rect"/>
        </p:spPr>
        <p:txBody>
          <a:bodyPr wrap="none" lIns="0" tIns="0" rIns="0" bIns="0"/>
          <a:p>
            <a:pPr>
              <a:lnSpc>
                <a:spcPct val="100000"/>
              </a:lnSpc>
            </a:pPr>
            <a:r>
              <a:rPr lang="en-US" sz="1500" b="1">
                <a:solidFill>
                  <a:srgbClr val="8B97A8"/>
                </a:solidFill>
                <a:latin typeface="Microsoft YaHei"/>
                <a:ea typeface="Microsoft YaHei"/>
              </a:rPr>
              <a:t>08</a:t>
            </a:r>
            <a:endParaRPr/>
          </a:p>
        </p:txBody>
      </p:sp>
      <p:sp>
        <p:nvSpPr>
          <p:cNvPr id="211" name=""/>
          <p:cNvSpPr/>
          <p:nvPr/>
        </p:nvSpPr>
        <p:spPr>
          <a:xfrm rot="0" flipH="0" flipV="0">
            <a:off x="3581400" y="2286000"/>
            <a:ext cx="8077200" cy="762000"/>
          </a:xfrm>
          <a:prstGeom prst="roundRect">
            <a:avLst>
              <a:gd name="adj" fmla="val 12500"/>
            </a:avLst>
          </a:prstGeom>
          <a:solidFill>
            <a:srgbClr val="F7F9FC"/>
          </a:solidFill>
          <a:ln w="12700">
            <a:solidFill>
              <a:srgbClr val="E5E7EB"/>
            </a:solidFill>
            <a:prstDash val="solid"/>
          </a:ln>
        </p:spPr>
        <p:txBody>
          <a:bodyPr/>
          <a:p/>
        </p:txBody>
      </p:sp>
      <p:sp>
        <p:nvSpPr>
          <p:cNvPr id="212" name=""/>
          <p:cNvSpPr/>
          <p:nvPr/>
        </p:nvSpPr>
        <p:spPr>
          <a:xfrm rot="0" flipH="0" flipV="0">
            <a:off x="3771900" y="2419350"/>
            <a:ext cx="495300" cy="495300"/>
          </a:xfrm>
          <a:prstGeom prst="roundRect">
            <a:avLst>
              <a:gd name="adj" fmla="val 15385"/>
            </a:avLst>
          </a:prstGeom>
          <a:solidFill>
            <a:srgbClr val="1E4FA8"/>
          </a:solidFill>
          <a:ln/>
        </p:spPr>
        <p:txBody>
          <a:bodyPr/>
          <a:p/>
        </p:txBody>
      </p:sp>
      <p:sp>
        <p:nvSpPr>
          <p:cNvPr id="213" name="" descr="{&quot;isTemplate&quot;:true,&quot;type&quot;:&quot;text&quot;}"/>
          <p:cNvSpPr txBox="1"/>
          <p:nvPr/>
        </p:nvSpPr>
        <p:spPr>
          <a:xfrm rot="0" flipH="0" flipV="0">
            <a:off x="3905250" y="2543175"/>
            <a:ext cx="238125" cy="257175"/>
          </a:xfrm>
          <a:prstGeom prst="rect"/>
        </p:spPr>
        <p:txBody>
          <a:bodyPr wrap="none" lIns="0" tIns="0" rIns="0" bIns="0"/>
          <a:p>
            <a:pPr>
              <a:lnSpc>
                <a:spcPct val="100000"/>
              </a:lnSpc>
            </a:pPr>
            <a:r>
              <a:rPr lang="en-US" sz="1650" b="1">
                <a:solidFill>
                  <a:srgbClr val="FFFFFF"/>
                </a:solidFill>
                <a:latin typeface="Microsoft YaHei"/>
                <a:ea typeface="Microsoft YaHei"/>
              </a:rPr>
              <a:t>03</a:t>
            </a:r>
            <a:endParaRPr/>
          </a:p>
        </p:txBody>
      </p:sp>
      <p:sp>
        <p:nvSpPr>
          <p:cNvPr id="214" name="" descr="{&quot;isTemplate&quot;:true,&quot;type&quot;:&quot;text&quot;}"/>
          <p:cNvSpPr txBox="1"/>
          <p:nvPr/>
        </p:nvSpPr>
        <p:spPr>
          <a:xfrm rot="0" flipH="0" flipV="0">
            <a:off x="4457700" y="2552700"/>
            <a:ext cx="6600825" cy="228600"/>
          </a:xfrm>
          <a:prstGeom prst="rect"/>
        </p:spPr>
        <p:txBody>
          <a:bodyPr wrap="none" lIns="0" tIns="0" rIns="0" bIns="0"/>
          <a:p>
            <a:pPr>
              <a:lnSpc>
                <a:spcPct val="100000"/>
              </a:lnSpc>
            </a:pPr>
            <a:r>
              <a:rPr lang="en-US" sz="1500" b="1">
                <a:solidFill>
                  <a:srgbClr val="1A2230"/>
                </a:solidFill>
                <a:latin typeface="Microsoft YaHei"/>
                <a:ea typeface="Microsoft YaHei"/>
              </a:rPr>
              <a:t>Extensions &amp; Exceptions</a:t>
            </a:r>
            <a:endParaRPr/>
          </a:p>
        </p:txBody>
      </p:sp>
      <p:sp>
        <p:nvSpPr>
          <p:cNvPr id="215" name="" descr="{&quot;isTemplate&quot;:true,&quot;type&quot;:&quot;text&quot;}"/>
          <p:cNvSpPr txBox="1"/>
          <p:nvPr/>
        </p:nvSpPr>
        <p:spPr>
          <a:xfrm rot="0" flipH="0" flipV="0">
            <a:off x="11249025" y="2552700"/>
            <a:ext cx="219075" cy="228600"/>
          </a:xfrm>
          <a:prstGeom prst="rect"/>
        </p:spPr>
        <p:txBody>
          <a:bodyPr wrap="none" lIns="0" tIns="0" rIns="0" bIns="0"/>
          <a:p>
            <a:pPr>
              <a:lnSpc>
                <a:spcPct val="100000"/>
              </a:lnSpc>
            </a:pPr>
            <a:r>
              <a:rPr lang="en-US" sz="1500" b="1">
                <a:solidFill>
                  <a:srgbClr val="8B97A8"/>
                </a:solidFill>
                <a:latin typeface="Microsoft YaHei"/>
                <a:ea typeface="Microsoft YaHei"/>
              </a:rPr>
              <a:t>14</a:t>
            </a:r>
            <a:endParaRPr/>
          </a:p>
        </p:txBody>
      </p:sp>
      <p:sp>
        <p:nvSpPr>
          <p:cNvPr id="216" name=""/>
          <p:cNvSpPr/>
          <p:nvPr/>
        </p:nvSpPr>
        <p:spPr>
          <a:xfrm rot="0" flipH="0" flipV="0">
            <a:off x="3581400" y="3190875"/>
            <a:ext cx="8077200" cy="762000"/>
          </a:xfrm>
          <a:prstGeom prst="roundRect">
            <a:avLst>
              <a:gd name="adj" fmla="val 12500"/>
            </a:avLst>
          </a:prstGeom>
          <a:solidFill>
            <a:srgbClr val="F7F9FC"/>
          </a:solidFill>
          <a:ln w="12700">
            <a:solidFill>
              <a:srgbClr val="E5E7EB"/>
            </a:solidFill>
            <a:prstDash val="solid"/>
          </a:ln>
        </p:spPr>
        <p:txBody>
          <a:bodyPr/>
          <a:p/>
        </p:txBody>
      </p:sp>
      <p:sp>
        <p:nvSpPr>
          <p:cNvPr id="217" name=""/>
          <p:cNvSpPr/>
          <p:nvPr/>
        </p:nvSpPr>
        <p:spPr>
          <a:xfrm rot="0" flipH="0" flipV="0">
            <a:off x="3771900" y="3324225"/>
            <a:ext cx="495300" cy="495300"/>
          </a:xfrm>
          <a:prstGeom prst="roundRect">
            <a:avLst>
              <a:gd name="adj" fmla="val 15385"/>
            </a:avLst>
          </a:prstGeom>
          <a:solidFill>
            <a:srgbClr val="1E4FA8"/>
          </a:solidFill>
          <a:ln/>
        </p:spPr>
        <p:txBody>
          <a:bodyPr/>
          <a:p/>
        </p:txBody>
      </p:sp>
      <p:sp>
        <p:nvSpPr>
          <p:cNvPr id="218" name="" descr="{&quot;isTemplate&quot;:true,&quot;type&quot;:&quot;text&quot;}"/>
          <p:cNvSpPr txBox="1"/>
          <p:nvPr/>
        </p:nvSpPr>
        <p:spPr>
          <a:xfrm rot="0" flipH="0" flipV="0">
            <a:off x="3905250" y="3448050"/>
            <a:ext cx="238125" cy="257175"/>
          </a:xfrm>
          <a:prstGeom prst="rect"/>
        </p:spPr>
        <p:txBody>
          <a:bodyPr wrap="none" lIns="0" tIns="0" rIns="0" bIns="0"/>
          <a:p>
            <a:pPr>
              <a:lnSpc>
                <a:spcPct val="100000"/>
              </a:lnSpc>
            </a:pPr>
            <a:r>
              <a:rPr lang="en-US" sz="1650" b="1">
                <a:solidFill>
                  <a:srgbClr val="FFFFFF"/>
                </a:solidFill>
                <a:latin typeface="Microsoft YaHei"/>
                <a:ea typeface="Microsoft YaHei"/>
              </a:rPr>
              <a:t>04</a:t>
            </a:r>
            <a:endParaRPr/>
          </a:p>
        </p:txBody>
      </p:sp>
      <p:sp>
        <p:nvSpPr>
          <p:cNvPr id="219" name="" descr="{&quot;isTemplate&quot;:true,&quot;type&quot;:&quot;text&quot;}"/>
          <p:cNvSpPr txBox="1"/>
          <p:nvPr/>
        </p:nvSpPr>
        <p:spPr>
          <a:xfrm rot="0" flipH="0" flipV="0">
            <a:off x="4457700" y="3457575"/>
            <a:ext cx="6600825" cy="228600"/>
          </a:xfrm>
          <a:prstGeom prst="rect"/>
        </p:spPr>
        <p:txBody>
          <a:bodyPr wrap="none" lIns="0" tIns="0" rIns="0" bIns="0"/>
          <a:p>
            <a:pPr>
              <a:lnSpc>
                <a:spcPct val="100000"/>
              </a:lnSpc>
            </a:pPr>
            <a:r>
              <a:rPr lang="en-US" sz="1500" b="1">
                <a:solidFill>
                  <a:srgbClr val="1A2230"/>
                </a:solidFill>
                <a:latin typeface="Microsoft YaHei"/>
                <a:ea typeface="Microsoft YaHei"/>
              </a:rPr>
              <a:t>From Use Case to SSD</a:t>
            </a:r>
            <a:endParaRPr/>
          </a:p>
        </p:txBody>
      </p:sp>
      <p:sp>
        <p:nvSpPr>
          <p:cNvPr id="220" name="" descr="{&quot;isTemplate&quot;:true,&quot;type&quot;:&quot;text&quot;}"/>
          <p:cNvSpPr txBox="1"/>
          <p:nvPr/>
        </p:nvSpPr>
        <p:spPr>
          <a:xfrm rot="0" flipH="0" flipV="0">
            <a:off x="11249025" y="3457575"/>
            <a:ext cx="219075" cy="228600"/>
          </a:xfrm>
          <a:prstGeom prst="rect"/>
        </p:spPr>
        <p:txBody>
          <a:bodyPr wrap="none" lIns="0" tIns="0" rIns="0" bIns="0"/>
          <a:p>
            <a:pPr>
              <a:lnSpc>
                <a:spcPct val="100000"/>
              </a:lnSpc>
            </a:pPr>
            <a:r>
              <a:rPr lang="en-US" sz="1500" b="1">
                <a:solidFill>
                  <a:srgbClr val="8B97A8"/>
                </a:solidFill>
                <a:latin typeface="Microsoft YaHei"/>
                <a:ea typeface="Microsoft YaHei"/>
              </a:rPr>
              <a:t>20</a:t>
            </a:r>
            <a:endParaRPr/>
          </a:p>
        </p:txBody>
      </p:sp>
      <p:sp>
        <p:nvSpPr>
          <p:cNvPr id="221" name=""/>
          <p:cNvSpPr/>
          <p:nvPr/>
        </p:nvSpPr>
        <p:spPr>
          <a:xfrm rot="0" flipH="0" flipV="0">
            <a:off x="3581400" y="4095750"/>
            <a:ext cx="8077200" cy="762000"/>
          </a:xfrm>
          <a:prstGeom prst="roundRect">
            <a:avLst>
              <a:gd name="adj" fmla="val 12500"/>
            </a:avLst>
          </a:prstGeom>
          <a:solidFill>
            <a:srgbClr val="F7F9FC"/>
          </a:solidFill>
          <a:ln w="12700">
            <a:solidFill>
              <a:srgbClr val="E5E7EB"/>
            </a:solidFill>
            <a:prstDash val="solid"/>
          </a:ln>
        </p:spPr>
        <p:txBody>
          <a:bodyPr/>
          <a:p/>
        </p:txBody>
      </p:sp>
      <p:sp>
        <p:nvSpPr>
          <p:cNvPr id="222" name=""/>
          <p:cNvSpPr/>
          <p:nvPr/>
        </p:nvSpPr>
        <p:spPr>
          <a:xfrm rot="0" flipH="0" flipV="0">
            <a:off x="3771900" y="4229100"/>
            <a:ext cx="495300" cy="495300"/>
          </a:xfrm>
          <a:prstGeom prst="roundRect">
            <a:avLst>
              <a:gd name="adj" fmla="val 15385"/>
            </a:avLst>
          </a:prstGeom>
          <a:solidFill>
            <a:srgbClr val="1E4FA8"/>
          </a:solidFill>
          <a:ln/>
        </p:spPr>
        <p:txBody>
          <a:bodyPr/>
          <a:p/>
        </p:txBody>
      </p:sp>
      <p:sp>
        <p:nvSpPr>
          <p:cNvPr id="223" name="" descr="{&quot;isTemplate&quot;:true,&quot;type&quot;:&quot;text&quot;}"/>
          <p:cNvSpPr txBox="1"/>
          <p:nvPr/>
        </p:nvSpPr>
        <p:spPr>
          <a:xfrm rot="0" flipH="0" flipV="0">
            <a:off x="3905250" y="4352925"/>
            <a:ext cx="238125" cy="257175"/>
          </a:xfrm>
          <a:prstGeom prst="rect"/>
        </p:spPr>
        <p:txBody>
          <a:bodyPr wrap="none" lIns="0" tIns="0" rIns="0" bIns="0"/>
          <a:p>
            <a:pPr>
              <a:lnSpc>
                <a:spcPct val="100000"/>
              </a:lnSpc>
            </a:pPr>
            <a:r>
              <a:rPr lang="en-US" sz="1650" b="1">
                <a:solidFill>
                  <a:srgbClr val="FFFFFF"/>
                </a:solidFill>
                <a:latin typeface="Microsoft YaHei"/>
                <a:ea typeface="Microsoft YaHei"/>
              </a:rPr>
              <a:t>05</a:t>
            </a:r>
            <a:endParaRPr/>
          </a:p>
        </p:txBody>
      </p:sp>
      <p:sp>
        <p:nvSpPr>
          <p:cNvPr id="224" name="" descr="{&quot;isTemplate&quot;:true,&quot;type&quot;:&quot;text&quot;}"/>
          <p:cNvSpPr txBox="1"/>
          <p:nvPr/>
        </p:nvSpPr>
        <p:spPr>
          <a:xfrm rot="0" flipH="0" flipV="0">
            <a:off x="4457700" y="4362450"/>
            <a:ext cx="6600825" cy="228600"/>
          </a:xfrm>
          <a:prstGeom prst="rect"/>
        </p:spPr>
        <p:txBody>
          <a:bodyPr wrap="none" lIns="0" tIns="0" rIns="0" bIns="0"/>
          <a:p>
            <a:pPr>
              <a:lnSpc>
                <a:spcPct val="100000"/>
              </a:lnSpc>
            </a:pPr>
            <a:r>
              <a:rPr lang="en-US" sz="1500" b="1">
                <a:solidFill>
                  <a:srgbClr val="1A2230"/>
                </a:solidFill>
                <a:latin typeface="Microsoft YaHei"/>
                <a:ea typeface="Microsoft YaHei"/>
              </a:rPr>
              <a:t>Reviewing a Spec</a:t>
            </a:r>
            <a:endParaRPr/>
          </a:p>
        </p:txBody>
      </p:sp>
      <p:sp>
        <p:nvSpPr>
          <p:cNvPr id="225" name="" descr="{&quot;isTemplate&quot;:true,&quot;type&quot;:&quot;text&quot;}"/>
          <p:cNvSpPr txBox="1"/>
          <p:nvPr/>
        </p:nvSpPr>
        <p:spPr>
          <a:xfrm rot="0" flipH="0" flipV="0">
            <a:off x="11249025" y="4362450"/>
            <a:ext cx="219075" cy="228600"/>
          </a:xfrm>
          <a:prstGeom prst="rect"/>
        </p:spPr>
        <p:txBody>
          <a:bodyPr wrap="none" lIns="0" tIns="0" rIns="0" bIns="0"/>
          <a:p>
            <a:pPr>
              <a:lnSpc>
                <a:spcPct val="100000"/>
              </a:lnSpc>
            </a:pPr>
            <a:r>
              <a:rPr lang="en-US" sz="1500" b="1">
                <a:solidFill>
                  <a:srgbClr val="8B97A8"/>
                </a:solidFill>
                <a:latin typeface="Microsoft YaHei"/>
                <a:ea typeface="Microsoft YaHei"/>
              </a:rPr>
              <a:t>24</a:t>
            </a:r>
            <a:endParaRPr/>
          </a:p>
        </p:txBody>
      </p:sp>
      <p:sp>
        <p:nvSpPr>
          <p:cNvPr id="226" name=""/>
          <p:cNvSpPr/>
          <p:nvPr/>
        </p:nvSpPr>
        <p:spPr>
          <a:xfrm rot="0" flipH="0" flipV="0">
            <a:off x="3581400" y="5000625"/>
            <a:ext cx="8077200" cy="762000"/>
          </a:xfrm>
          <a:prstGeom prst="roundRect">
            <a:avLst>
              <a:gd name="adj" fmla="val 12500"/>
            </a:avLst>
          </a:prstGeom>
          <a:solidFill>
            <a:srgbClr val="F7F9FC"/>
          </a:solidFill>
          <a:ln w="12700">
            <a:solidFill>
              <a:srgbClr val="E5E7EB"/>
            </a:solidFill>
            <a:prstDash val="solid"/>
          </a:ln>
        </p:spPr>
        <p:txBody>
          <a:bodyPr/>
          <a:p/>
        </p:txBody>
      </p:sp>
      <p:sp>
        <p:nvSpPr>
          <p:cNvPr id="227" name=""/>
          <p:cNvSpPr/>
          <p:nvPr/>
        </p:nvSpPr>
        <p:spPr>
          <a:xfrm rot="0" flipH="0" flipV="0">
            <a:off x="3771900" y="5133975"/>
            <a:ext cx="495300" cy="495300"/>
          </a:xfrm>
          <a:prstGeom prst="roundRect">
            <a:avLst>
              <a:gd name="adj" fmla="val 15385"/>
            </a:avLst>
          </a:prstGeom>
          <a:solidFill>
            <a:srgbClr val="1E4FA8"/>
          </a:solidFill>
          <a:ln/>
        </p:spPr>
        <p:txBody>
          <a:bodyPr/>
          <a:p/>
        </p:txBody>
      </p:sp>
      <p:sp>
        <p:nvSpPr>
          <p:cNvPr id="228" name="" descr="{&quot;isTemplate&quot;:true,&quot;type&quot;:&quot;text&quot;}"/>
          <p:cNvSpPr txBox="1"/>
          <p:nvPr/>
        </p:nvSpPr>
        <p:spPr>
          <a:xfrm rot="0" flipH="0" flipV="0">
            <a:off x="3905250" y="5257800"/>
            <a:ext cx="238125" cy="257175"/>
          </a:xfrm>
          <a:prstGeom prst="rect"/>
        </p:spPr>
        <p:txBody>
          <a:bodyPr wrap="none" lIns="0" tIns="0" rIns="0" bIns="0"/>
          <a:p>
            <a:pPr>
              <a:lnSpc>
                <a:spcPct val="100000"/>
              </a:lnSpc>
            </a:pPr>
            <a:r>
              <a:rPr lang="en-US" sz="1650" b="1">
                <a:solidFill>
                  <a:srgbClr val="FFFFFF"/>
                </a:solidFill>
                <a:latin typeface="Microsoft YaHei"/>
                <a:ea typeface="Microsoft YaHei"/>
              </a:rPr>
              <a:t>06</a:t>
            </a:r>
            <a:endParaRPr/>
          </a:p>
        </p:txBody>
      </p:sp>
      <p:sp>
        <p:nvSpPr>
          <p:cNvPr id="229" name="" descr="{&quot;isTemplate&quot;:true,&quot;type&quot;:&quot;text&quot;}"/>
          <p:cNvSpPr txBox="1"/>
          <p:nvPr/>
        </p:nvSpPr>
        <p:spPr>
          <a:xfrm rot="0" flipH="0" flipV="0">
            <a:off x="4457700" y="5267325"/>
            <a:ext cx="6600825" cy="228600"/>
          </a:xfrm>
          <a:prstGeom prst="rect"/>
        </p:spPr>
        <p:txBody>
          <a:bodyPr wrap="none" lIns="0" tIns="0" rIns="0" bIns="0"/>
          <a:p>
            <a:pPr>
              <a:lnSpc>
                <a:spcPct val="100000"/>
              </a:lnSpc>
            </a:pPr>
            <a:r>
              <a:rPr lang="en-US" sz="1500" b="1">
                <a:solidFill>
                  <a:srgbClr val="1A2230"/>
                </a:solidFill>
                <a:latin typeface="Microsoft YaHei"/>
                <a:ea typeface="Microsoft YaHei"/>
              </a:rPr>
              <a:t>Lab — Exercise 5.1, 5.2 &amp; M1</a:t>
            </a:r>
            <a:endParaRPr/>
          </a:p>
        </p:txBody>
      </p:sp>
      <p:sp>
        <p:nvSpPr>
          <p:cNvPr id="230" name="" descr="{&quot;isTemplate&quot;:true,&quot;type&quot;:&quot;text&quot;}"/>
          <p:cNvSpPr txBox="1"/>
          <p:nvPr/>
        </p:nvSpPr>
        <p:spPr>
          <a:xfrm rot="0" flipH="0" flipV="0">
            <a:off x="11249025" y="5267325"/>
            <a:ext cx="219075" cy="228600"/>
          </a:xfrm>
          <a:prstGeom prst="rect"/>
        </p:spPr>
        <p:txBody>
          <a:bodyPr wrap="none" lIns="0" tIns="0" rIns="0" bIns="0"/>
          <a:p>
            <a:pPr>
              <a:lnSpc>
                <a:spcPct val="100000"/>
              </a:lnSpc>
            </a:pPr>
            <a:r>
              <a:rPr lang="en-US" sz="1500" b="1">
                <a:solidFill>
                  <a:srgbClr val="8B97A8"/>
                </a:solidFill>
                <a:latin typeface="Microsoft YaHei"/>
                <a:ea typeface="Microsoft YaHei"/>
              </a:rPr>
              <a:t>28</a:t>
            </a:r>
            <a:endParaRPr/>
          </a:p>
        </p:txBody>
      </p:sp>
    </p:spTree>
  </p:cSld>
</p:sld>
</file>

<file path=ppt/slides/slide3.xml><?xml version="1.0" encoding="utf-8"?>
<p:sld xmlns:p="http://schemas.openxmlformats.org/presentationml/2006/main" xmlns:a="http://schemas.openxmlformats.org/drawingml/2006/main">
  <p:cSld>
    <p:spTree>
      <p:nvGrpSpPr>
        <p:cNvPr id="403" name="" descr="&lt;Slide style={{ background: '#0E3F8C', padding: 0 }}&gt;&#10;  &lt;Box style={{ flexDirection: 'row', height: '100%', position: 'relative' }}&gt;&#10;    &lt;Box style={{ position: 'absolute', top: 0, left: 0, right: 0, height: 8, background: '#1E4FA8' }} /&gt;&#10;    &lt;Box style={{ width: 300, justifyContent: 'center', alignItems: 'center', borderRight: '1px solid #2B5793' }}&gt;&#10;      &lt;Text style={{ fontSize: 220, fontWeight: 'bold', color: '#3D7BD9', fontFamily: 'Georgia, serif', lineHeight: 1 }}&gt;01&lt;/Text&gt;&#10;    &lt;/Box&gt;&#10;    &lt;Box style={{ flex: 1, padding: '70px 64px', flexDirection: 'column', justifyContent: 'center' }}&gt;&#10;      &lt;Text style={{ fontSize: 15, color: '#7FA2D6', letterSpacing: 2, marginBottom: 18 }}&gt;PART 1 · LECTURE&lt;/Text&gt;&#10;      &lt;Text style={{ fontSize: 46, fontWeight: 'bold', color: '#FFFFFF', lineHeight: 1.18 }}&gt;Anatomy of a&lt;br /&gt;Specification&lt;/Text&gt;&#10;      &lt;Box style={{ width: 64, height: 4, background: '#FFC107', marginTop: 26, marginBottom: 26 }} /&gt;&#10;      &lt;Box style={{ flexDirection: 'column', gap: 12 }}&gt;&#10;        {[&#10;          'A use case name is a label, not a document',&#10;          'Nine fields, and only three of them are compulsory',&#10;          'Preconditions and postconditions are the two that get skipped'&#10;        ].map((t) =&gt; (&#10;          &lt;Box key={t} style={{ flexDirection: 'row', alignItems: 'center', gap: 12 }}&gt;&#10;            &lt;Box style={{ width: 8, height: 8, borderRadius: 4, background: '#3D7BD9' }} /&gt;&#10;            &lt;Text style={{ fontSize: 20, color: '#C5D4EA' }}&gt;{t}&lt;/Text&gt;&#10;          &lt;/Box&gt;&#10;        ))}&#10;      &lt;/Box&gt;&#10;    &lt;/Box&gt;&#10;  &lt;/Box&gt;&#10;&lt;/Slide&gt;&#10;"/>
        <p:cNvGrpSpPr/>
        <p:nvPr/>
      </p:nvGrpSpPr>
      <p:grpSpPr>
        <a:xfrm>
          <a:off x="0" y="0"/>
          <a:ext cx="0" cy="0"/>
          <a:chOff x="0" y="0"/>
          <a:chExt cx="0" cy="0"/>
        </a:xfrm>
      </p:grpSpPr>
      <p:sp>
        <p:nvSpPr>
          <p:cNvPr id="404" name=""/>
          <p:cNvSpPr/>
          <p:nvPr/>
        </p:nvSpPr>
        <p:spPr>
          <a:xfrm rot="0" flipH="0" flipV="0">
            <a:off x="0" y="0"/>
            <a:ext cx="12192000" cy="6858000"/>
          </a:xfrm>
          <a:prstGeom prst="rect">
            <a:avLst/>
          </a:prstGeom>
          <a:solidFill>
            <a:srgbClr val="0E3F8C"/>
          </a:solidFill>
          <a:ln/>
        </p:spPr>
        <p:txBody>
          <a:bodyPr/>
          <a:p/>
        </p:txBody>
      </p:sp>
      <p:sp>
        <p:nvSpPr>
          <p:cNvPr id="405" name=""/>
          <p:cNvSpPr/>
          <p:nvPr/>
        </p:nvSpPr>
        <p:spPr>
          <a:xfrm rot="0" flipH="0" flipV="0">
            <a:off x="0" y="0"/>
            <a:ext cx="2857500" cy="6858000"/>
          </a:xfrm>
          <a:custGeom>
            <a:pathLst>
              <a:path w="300" h="720">
                <a:moveTo>
                  <a:pt x="299" y="0"/>
                </a:moveTo>
                <a:lnTo>
                  <a:pt x="300" y="0"/>
                </a:lnTo>
                <a:lnTo>
                  <a:pt x="300" y="720"/>
                </a:lnTo>
                <a:lnTo>
                  <a:pt x="299" y="720"/>
                </a:lnTo>
                <a:close/>
              </a:path>
            </a:pathLst>
          </a:custGeom>
          <a:solidFill>
            <a:srgbClr val="2B5793"/>
          </a:solidFill>
          <a:ln/>
        </p:spPr>
        <p:txBody>
          <a:bodyPr/>
          <a:p/>
        </p:txBody>
      </p:sp>
      <p:sp>
        <p:nvSpPr>
          <p:cNvPr id="406" name="" descr="{&quot;isTemplate&quot;:true,&quot;type&quot;:&quot;text&quot;}"/>
          <p:cNvSpPr txBox="1"/>
          <p:nvPr/>
        </p:nvSpPr>
        <p:spPr>
          <a:xfrm rot="0" flipH="0" flipV="0">
            <a:off x="171450" y="2171700"/>
            <a:ext cx="2505075" cy="2514600"/>
          </a:xfrm>
          <a:prstGeom prst="rect"/>
        </p:spPr>
        <p:txBody>
          <a:bodyPr wrap="none" lIns="0" tIns="0" rIns="0" bIns="0"/>
          <a:p>
            <a:pPr>
              <a:lnSpc>
                <a:spcPct val="100000"/>
              </a:lnSpc>
            </a:pPr>
            <a:r>
              <a:rPr lang="en-US" sz="16500" b="1">
                <a:solidFill>
                  <a:srgbClr val="3D7BD9"/>
                </a:solidFill>
                <a:latin typeface="Georgia"/>
                <a:ea typeface="Georgia"/>
              </a:rPr>
              <a:t>01</a:t>
            </a:r>
            <a:endParaRPr/>
          </a:p>
        </p:txBody>
      </p:sp>
      <p:sp>
        <p:nvSpPr>
          <p:cNvPr id="407" name="" descr="{&quot;isTemplate&quot;:true,&quot;type&quot;:&quot;text&quot;}"/>
          <p:cNvSpPr txBox="1"/>
          <p:nvPr/>
        </p:nvSpPr>
        <p:spPr>
          <a:xfrm rot="0" flipH="0" flipV="0">
            <a:off x="3467100" y="1914525"/>
            <a:ext cx="8115300" cy="171450"/>
          </a:xfrm>
          <a:prstGeom prst="rect"/>
        </p:spPr>
        <p:txBody>
          <a:bodyPr wrap="none" lIns="0" tIns="0" rIns="0" bIns="0"/>
          <a:p>
            <a:pPr>
              <a:lnSpc>
                <a:spcPct val="100000"/>
              </a:lnSpc>
            </a:pPr>
            <a:r>
              <a:rPr lang="en-US" sz="1125" spc="150">
                <a:solidFill>
                  <a:srgbClr val="7FA2D6"/>
                </a:solidFill>
                <a:latin typeface="Microsoft YaHei"/>
                <a:ea typeface="Microsoft YaHei"/>
              </a:rPr>
              <a:t>PART 1 · LECTURE</a:t>
            </a:r>
            <a:endParaRPr/>
          </a:p>
        </p:txBody>
      </p:sp>
      <p:sp>
        <p:nvSpPr>
          <p:cNvPr id="408" name="" descr="{&quot;isTemplate&quot;:true,&quot;type&quot;:&quot;text&quot;}"/>
          <p:cNvSpPr txBox="1"/>
          <p:nvPr/>
        </p:nvSpPr>
        <p:spPr>
          <a:xfrm rot="0" flipH="0" flipV="0">
            <a:off x="3467100" y="2257425"/>
            <a:ext cx="8115300" cy="1247775"/>
          </a:xfrm>
          <a:prstGeom prst="rect"/>
        </p:spPr>
        <p:txBody>
          <a:bodyPr wrap="none" lIns="0" tIns="0" rIns="0" bIns="0"/>
          <a:p>
            <a:pPr>
              <a:lnSpc>
                <a:spcPct val="118000"/>
              </a:lnSpc>
            </a:pPr>
            <a:r>
              <a:rPr lang="en-US" sz="3450" b="1">
                <a:solidFill>
                  <a:srgbClr val="FFFFFF"/>
                </a:solidFill>
                <a:latin typeface="Microsoft YaHei"/>
                <a:ea typeface="Microsoft YaHei"/>
              </a:rPr>
              <a:t>Anatomy of a</a:t>
            </a:r>
            <a:endParaRPr/>
          </a:p>
          <a:p>
            <a:pPr>
              <a:lnSpc>
                <a:spcPct val="118000"/>
              </a:lnSpc>
            </a:pPr>
            <a:r>
              <a:rPr lang="en-US" sz="3450" b="1">
                <a:solidFill>
                  <a:srgbClr val="FFFFFF"/>
                </a:solidFill>
                <a:latin typeface="Microsoft YaHei"/>
                <a:ea typeface="Microsoft YaHei"/>
              </a:rPr>
              <a:t>Specification</a:t>
            </a:r>
            <a:endParaRPr/>
          </a:p>
        </p:txBody>
      </p:sp>
      <p:sp>
        <p:nvSpPr>
          <p:cNvPr id="409" name=""/>
          <p:cNvSpPr/>
          <p:nvPr/>
        </p:nvSpPr>
        <p:spPr>
          <a:xfrm rot="0" flipH="0" flipV="0">
            <a:off x="3467100" y="3752850"/>
            <a:ext cx="609600" cy="38100"/>
          </a:xfrm>
          <a:prstGeom prst="rect">
            <a:avLst/>
          </a:prstGeom>
          <a:solidFill>
            <a:srgbClr val="FFC107"/>
          </a:solidFill>
          <a:ln/>
        </p:spPr>
        <p:txBody>
          <a:bodyPr/>
          <a:p/>
        </p:txBody>
      </p:sp>
      <p:sp>
        <p:nvSpPr>
          <p:cNvPr id="410" name=""/>
          <p:cNvSpPr/>
          <p:nvPr/>
        </p:nvSpPr>
        <p:spPr>
          <a:xfrm rot="0" flipH="0" flipV="0">
            <a:off x="3467100" y="4114800"/>
            <a:ext cx="76200" cy="76200"/>
          </a:xfrm>
          <a:prstGeom prst="roundRect">
            <a:avLst>
              <a:gd name="adj" fmla="val 50000"/>
            </a:avLst>
          </a:prstGeom>
          <a:solidFill>
            <a:srgbClr val="3D7BD9"/>
          </a:solidFill>
          <a:ln/>
        </p:spPr>
        <p:txBody>
          <a:bodyPr/>
          <a:p/>
        </p:txBody>
      </p:sp>
      <p:sp>
        <p:nvSpPr>
          <p:cNvPr id="411" name="" descr="{&quot;isTemplate&quot;:true,&quot;type&quot;:&quot;text&quot;}"/>
          <p:cNvSpPr txBox="1"/>
          <p:nvPr/>
        </p:nvSpPr>
        <p:spPr>
          <a:xfrm rot="0" flipH="0" flipV="0">
            <a:off x="3657600" y="4038600"/>
            <a:ext cx="3705225" cy="228600"/>
          </a:xfrm>
          <a:prstGeom prst="rect"/>
        </p:spPr>
        <p:txBody>
          <a:bodyPr wrap="none" lIns="0" tIns="0" rIns="0" bIns="0"/>
          <a:p>
            <a:pPr>
              <a:lnSpc>
                <a:spcPct val="100000"/>
              </a:lnSpc>
            </a:pPr>
            <a:r>
              <a:rPr lang="en-US" sz="1500">
                <a:solidFill>
                  <a:srgbClr val="C5D4EA"/>
                </a:solidFill>
                <a:latin typeface="Microsoft YaHei"/>
                <a:ea typeface="Microsoft YaHei"/>
              </a:rPr>
              <a:t>A use case name is a label, not a document</a:t>
            </a:r>
            <a:endParaRPr/>
          </a:p>
        </p:txBody>
      </p:sp>
      <p:sp>
        <p:nvSpPr>
          <p:cNvPr id="412" name=""/>
          <p:cNvSpPr/>
          <p:nvPr/>
        </p:nvSpPr>
        <p:spPr>
          <a:xfrm rot="0" flipH="0" flipV="0">
            <a:off x="3467100" y="4457700"/>
            <a:ext cx="76200" cy="76200"/>
          </a:xfrm>
          <a:prstGeom prst="roundRect">
            <a:avLst>
              <a:gd name="adj" fmla="val 50000"/>
            </a:avLst>
          </a:prstGeom>
          <a:solidFill>
            <a:srgbClr val="3D7BD9"/>
          </a:solidFill>
          <a:ln/>
        </p:spPr>
        <p:txBody>
          <a:bodyPr/>
          <a:p/>
        </p:txBody>
      </p:sp>
      <p:sp>
        <p:nvSpPr>
          <p:cNvPr id="413" name="" descr="{&quot;isTemplate&quot;:true,&quot;type&quot;:&quot;text&quot;}"/>
          <p:cNvSpPr txBox="1"/>
          <p:nvPr/>
        </p:nvSpPr>
        <p:spPr>
          <a:xfrm rot="0" flipH="0" flipV="0">
            <a:off x="3657600" y="4381500"/>
            <a:ext cx="4248150" cy="228600"/>
          </a:xfrm>
          <a:prstGeom prst="rect"/>
        </p:spPr>
        <p:txBody>
          <a:bodyPr wrap="none" lIns="0" tIns="0" rIns="0" bIns="0"/>
          <a:p>
            <a:pPr>
              <a:lnSpc>
                <a:spcPct val="100000"/>
              </a:lnSpc>
            </a:pPr>
            <a:r>
              <a:rPr lang="en-US" sz="1500">
                <a:solidFill>
                  <a:srgbClr val="C5D4EA"/>
                </a:solidFill>
                <a:latin typeface="Microsoft YaHei"/>
                <a:ea typeface="Microsoft YaHei"/>
              </a:rPr>
              <a:t>Nine fields, and only three of them are compulsory</a:t>
            </a:r>
            <a:endParaRPr/>
          </a:p>
        </p:txBody>
      </p:sp>
      <p:sp>
        <p:nvSpPr>
          <p:cNvPr id="414" name=""/>
          <p:cNvSpPr/>
          <p:nvPr/>
        </p:nvSpPr>
        <p:spPr>
          <a:xfrm rot="0" flipH="0" flipV="0">
            <a:off x="3467100" y="4800600"/>
            <a:ext cx="76200" cy="76200"/>
          </a:xfrm>
          <a:prstGeom prst="roundRect">
            <a:avLst>
              <a:gd name="adj" fmla="val 50000"/>
            </a:avLst>
          </a:prstGeom>
          <a:solidFill>
            <a:srgbClr val="3D7BD9"/>
          </a:solidFill>
          <a:ln/>
        </p:spPr>
        <p:txBody>
          <a:bodyPr/>
          <a:p/>
        </p:txBody>
      </p:sp>
      <p:sp>
        <p:nvSpPr>
          <p:cNvPr id="415" name="" descr="{&quot;isTemplate&quot;:true,&quot;type&quot;:&quot;text&quot;}"/>
          <p:cNvSpPr txBox="1"/>
          <p:nvPr/>
        </p:nvSpPr>
        <p:spPr>
          <a:xfrm rot="0" flipH="0" flipV="0">
            <a:off x="3657600" y="4724400"/>
            <a:ext cx="5191125" cy="228600"/>
          </a:xfrm>
          <a:prstGeom prst="rect"/>
        </p:spPr>
        <p:txBody>
          <a:bodyPr wrap="none" lIns="0" tIns="0" rIns="0" bIns="0"/>
          <a:p>
            <a:pPr>
              <a:lnSpc>
                <a:spcPct val="100000"/>
              </a:lnSpc>
            </a:pPr>
            <a:r>
              <a:rPr lang="en-US" sz="1500">
                <a:solidFill>
                  <a:srgbClr val="C5D4EA"/>
                </a:solidFill>
                <a:latin typeface="Microsoft YaHei"/>
                <a:ea typeface="Microsoft YaHei"/>
              </a:rPr>
              <a:t>Preconditions and postconditions are the two that get skipped</a:t>
            </a:r>
            <a:endParaRPr/>
          </a:p>
        </p:txBody>
      </p:sp>
      <p:sp>
        <p:nvSpPr>
          <p:cNvPr id="416" name=""/>
          <p:cNvSpPr/>
          <p:nvPr/>
        </p:nvSpPr>
        <p:spPr>
          <a:xfrm rot="0" flipH="0" flipV="0">
            <a:off x="0" y="0"/>
            <a:ext cx="12192000" cy="76200"/>
          </a:xfrm>
          <a:prstGeom prst="rect">
            <a:avLst/>
          </a:prstGeom>
          <a:solidFill>
            <a:srgbClr val="1E4FA8"/>
          </a:solidFill>
          <a:ln/>
        </p:spPr>
        <p:txBody>
          <a:bodyPr/>
          <a:p/>
        </p:txBody>
      </p:sp>
    </p:spTree>
  </p:cSld>
</p:sld>
</file>

<file path=ppt/slides/slide4.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588"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ANATOMY OF A SPEC&lt;/Text&gt;&#10;  &lt;/Box&gt;&#10;  &lt;Box style={{ padding: '13px 40px 0 40px', flexDirection: 'row', alignItems: 'center', justifyContent: 'space-between' }}&gt;&#10;    &lt;Text style={{ fontSize: 29, fontWeight: 'bold', color: '#0E3F8C' }}&gt;A Name Is Not a Specification&lt;/Text&gt;&#10;    &lt;Text style={{ fontSize: 14, color: '#1E4FA8', fontWeight: 'bold' }}&gt;04 / 38&lt;/Text&gt;&#10;  &lt;/Box&gt;&#10;  &lt;Box style={{ flex: 1, padding: '10px 40px 0 40px', flexDirection: 'row', gap: 26 }}&gt;&#10;    &lt;Box style={{ width: 470, justifyContent: 'center' }}&gt;&#10;      &lt;Box style={{ padding: '18px 20px', background: '#F7F9FC', borderRadius: 10, border: '1px solid #E5E7EB' }}&gt;&#10;        &lt;Text style={{ fontSize: 13, color: '#8B97A8', letterSpacing: 1, marginBottom: 12 }}&gt;WHAT LAST WEEK LEFT YOU&lt;/Text&gt;&#10;        &lt;svg width={430} height={104} viewBox='0 0 430 104'&gt;&#10;          &lt;rect x='0' y='0' width='430' height='104' rx='8' fill='#FFFFFF' stroke='#1E4FA8' strokeWidth='1.6' /&gt;&#10;          &lt;ellipse cx='118' cy='52' rx='104' ry='27' fill='#F0F5FC' stroke='#1E4FA8' strokeWidth='2' /&gt;&#10;          &lt;text x='118' y='58' textAnchor='middle' fill='#1A2230' fontSize='16' fontWeight='bold'&gt;Place Order&lt;/text&gt;&#10;          &lt;text x='248' y='46' fill='#8B97A8' fontSize='13'&gt;six ellipses on&lt;/text&gt;&#10;          &lt;text x='248' y='64' fill='#8B97A8' fontSize='13'&gt;a white canvas&lt;/text&gt;&#10;        &lt;/svg&gt;&#10;      &lt;/Box&gt;&#10;      &lt;Box style={{ padding: '16px 20px', background: '#FDF3F3', borderRadius: 10, borderLeft: '4px solid #D9534F', marginTop: 14 }}&gt;&#10;        &lt;Text style={{ fontSize: 15.5, fontWeight: 'bold', color: '#D9534F' }}&gt;Then the client asks&lt;/Text&gt;&#10;        &lt;Text style={{ fontSize: 16.5, color: '#4A5568', lineHeight: 1.55, marginTop: 7, fontFamily: 'Georgia, serif', fontStyle: 'italic' }}&gt;&#10;          “Good. Now show me what actually happens when she places an order.”&#10;        &lt;/Text&gt;&#10;      &lt;/Box&gt;&#10;    &lt;/Box&gt;&#10;    &lt;Box style={{ flex: 1, flexDirection: 'column', justifyContent: 'center', gap: 13 }}&gt;&#10;      &lt;Box style={{ padding: '15px 17px', background: '#F0F5FC', borderRadius: 9, borderLeft: '4px solid #1E4FA8' }}&gt;&#10;        &lt;Text style={{ fontSize: 16, fontWeight: 'bold', color: '#0E3F8C' }}&gt;The ellipse answers “which goal”&lt;/Text&gt;&#10;        &lt;Text style={{ fontSize: 13, color: '#4A5568', lineHeight: 1.6, marginTop: 5 }}&gt;&#10;          It is a scope marker. It keeps the boundary honest. That was its whole job and it did it well.&#10;        &lt;/Text&gt;&#10;      &lt;/Box&gt;&#10;      &lt;Box style={{ padding: '15px 17px', background: '#FFFFFF', borderRadius: 9, border: '1px solid #D6DCE5' }}&gt;&#10;        &lt;Text style={{ fontSize: 16, fontWeight: 'bold', color: '#0E3F8C' }}&gt;The specification answers “how”&lt;/Text&gt;&#10;        &lt;Text style={{ fontSize: 13, color: '#4A5568', lineHeight: 1.6, marginTop: 5 }}&gt;&#10;          A sequence of steps, each one an observable response of the system, plus what happens when things go wrong.&#10;        &lt;/Text&gt;&#10;      &lt;/Box&gt;&#10;      &lt;Box style={{ padding: '15px 17px', background: '#FFF6E0', borderRadius: 9, borderLeft: '4px solid #FFC107' }}&gt;&#10;        &lt;Text style={{ fontSize: 16, fontWeight: 'bold', color: '#996F00' }}&gt;Why this matters on M1&lt;/Text&gt;&#10;        &lt;Text style={{ fontSize: 13, color: '#4A5568', lineHeight: 1.6, marginTop: 5 }}&gt;&#10;          M1 asks for two fully-dressed specifications. The diagram alone is one third of that deliverable.&#10;        &lt;/Text&gt;&#10;      &lt;/Box&gt;&#10;      &lt;Box style={{ padding: '12px 16px', background: '#F7F9FC', borderRadius: 8, border: '1px dashed #D6DCE5' }}&gt;&#10;        &lt;Text style={{ fontSize: 12.5, color: '#8B97A8', lineHeight: 1.55 }}&gt;&#10;          Rule for the whole week: if a sentence could be pasted into any project on earth, it is not yet written for this one.&#10;        &lt;/Text&gt;&#10;      &lt;/Box&gt;&#10;    &lt;/Box&gt;&#10;  &lt;/Box&gt;&#10;  &lt;Box style={{ height: 34, padding: '0 40px', flexDirection: 'row', alignItems: 'center', justifyContent: 'space-between' }}&gt;&#10;    &lt;Text style={{ fontSize: 13, color: '#8B97A8' }}&gt;ISAD · Fall 2026 · The diagram sets the scope; the specification is what gets tested&lt;/Text&gt;&#10;    &lt;Text style={{ fontSize: 14, color: '#1E4FA8', fontWeight: 'bold' }}&gt;4 / 38&lt;/Text&gt;&#10;  &lt;/Box&gt;&#10;&lt;/Slide&gt;&#10;"/>
        <p:cNvGrpSpPr/>
        <p:nvPr/>
      </p:nvGrpSpPr>
      <p:grpSpPr>
        <a:xfrm>
          <a:off x="0" y="0"/>
          <a:ext cx="0" cy="0"/>
          <a:chOff x="0" y="0"/>
          <a:chExt cx="0" cy="0"/>
        </a:xfrm>
      </p:grpSpPr>
      <p:sp>
        <p:nvSpPr>
          <p:cNvPr id="589" name=""/>
          <p:cNvSpPr/>
          <p:nvPr/>
        </p:nvSpPr>
        <p:spPr>
          <a:xfrm rot="0" flipH="0" flipV="0">
            <a:off x="0" y="0"/>
            <a:ext cx="12192000" cy="6858000"/>
          </a:xfrm>
          <a:prstGeom prst="rect">
            <a:avLst/>
          </a:prstGeom>
          <a:solidFill>
            <a:srgbClr val="FFFFFF"/>
          </a:solidFill>
          <a:ln/>
        </p:spPr>
        <p:txBody>
          <a:bodyPr/>
          <a:p/>
        </p:txBody>
      </p:sp>
      <p:sp>
        <p:nvSpPr>
          <p:cNvPr id="590" name=""/>
          <p:cNvSpPr/>
          <p:nvPr/>
        </p:nvSpPr>
        <p:spPr>
          <a:xfrm rot="0" flipH="0" flipV="0">
            <a:off x="0" y="0"/>
            <a:ext cx="12192000" cy="685800"/>
          </a:xfrm>
          <a:prstGeom prst="rect">
            <a:avLst/>
          </a:prstGeom>
          <a:solidFill>
            <a:srgbClr val="1E4FA8"/>
          </a:solidFill>
          <a:ln/>
        </p:spPr>
        <p:txBody>
          <a:bodyPr/>
          <a:p/>
        </p:txBody>
      </p:sp>
      <p:sp>
        <p:nvSpPr>
          <p:cNvPr id="591"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592" name="" descr="{&quot;isTemplate&quot;:true,&quot;type&quot;:&quot;text&quot;}"/>
          <p:cNvSpPr txBox="1"/>
          <p:nvPr/>
        </p:nvSpPr>
        <p:spPr>
          <a:xfrm rot="0" flipH="0" flipV="0">
            <a:off x="9886950" y="257175"/>
            <a:ext cx="1924050" cy="171450"/>
          </a:xfrm>
          <a:prstGeom prst="rect"/>
        </p:spPr>
        <p:txBody>
          <a:bodyPr wrap="none" lIns="0" tIns="0" rIns="0" bIns="0"/>
          <a:p>
            <a:pPr>
              <a:lnSpc>
                <a:spcPct val="100000"/>
              </a:lnSpc>
            </a:pPr>
            <a:r>
              <a:rPr lang="en-US" sz="1125">
                <a:solidFill>
                  <a:srgbClr val="B9CDF0"/>
                </a:solidFill>
                <a:latin typeface="Microsoft YaHei"/>
                <a:ea typeface="Microsoft YaHei"/>
              </a:rPr>
              <a:t>W05 · ANATOMY OF A SPEC</a:t>
            </a:r>
            <a:endParaRPr/>
          </a:p>
        </p:txBody>
      </p:sp>
      <p:sp>
        <p:nvSpPr>
          <p:cNvPr id="593" name="" descr="{&quot;isTemplate&quot;:true,&quot;type&quot;:&quot;text&quot;}"/>
          <p:cNvSpPr txBox="1"/>
          <p:nvPr/>
        </p:nvSpPr>
        <p:spPr>
          <a:xfrm rot="0" flipH="0" flipV="0">
            <a:off x="381000" y="809625"/>
            <a:ext cx="3905250" cy="333375"/>
          </a:xfrm>
          <a:prstGeom prst="rect"/>
        </p:spPr>
        <p:txBody>
          <a:bodyPr wrap="none" lIns="0" tIns="0" rIns="0" bIns="0"/>
          <a:p>
            <a:pPr>
              <a:lnSpc>
                <a:spcPct val="100000"/>
              </a:lnSpc>
            </a:pPr>
            <a:r>
              <a:rPr lang="en-US" sz="2175" b="1">
                <a:solidFill>
                  <a:srgbClr val="0E3F8C"/>
                </a:solidFill>
                <a:latin typeface="Microsoft YaHei"/>
                <a:ea typeface="Microsoft YaHei"/>
              </a:rPr>
              <a:t>A Name Is Not a Specification</a:t>
            </a:r>
            <a:endParaRPr/>
          </a:p>
        </p:txBody>
      </p:sp>
      <p:sp>
        <p:nvSpPr>
          <p:cNvPr id="594"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04 / 38</a:t>
            </a:r>
            <a:endParaRPr/>
          </a:p>
        </p:txBody>
      </p:sp>
      <p:sp>
        <p:nvSpPr>
          <p:cNvPr id="595" name=""/>
          <p:cNvSpPr/>
          <p:nvPr/>
        </p:nvSpPr>
        <p:spPr>
          <a:xfrm rot="0" flipH="0" flipV="0">
            <a:off x="381000" y="2447925"/>
            <a:ext cx="4476750" cy="1600200"/>
          </a:xfrm>
          <a:prstGeom prst="roundRect">
            <a:avLst>
              <a:gd name="adj" fmla="val 5952"/>
            </a:avLst>
          </a:prstGeom>
          <a:solidFill>
            <a:srgbClr val="F7F9FC"/>
          </a:solidFill>
          <a:ln w="12700">
            <a:solidFill>
              <a:srgbClr val="E5E7EB"/>
            </a:solidFill>
            <a:prstDash val="solid"/>
          </a:ln>
        </p:spPr>
        <p:txBody>
          <a:bodyPr/>
          <a:p/>
        </p:txBody>
      </p:sp>
      <p:sp>
        <p:nvSpPr>
          <p:cNvPr id="596" name="" descr="{&quot;isTemplate&quot;:true,&quot;type&quot;:&quot;text&quot;}"/>
          <p:cNvSpPr txBox="1"/>
          <p:nvPr/>
        </p:nvSpPr>
        <p:spPr>
          <a:xfrm rot="0" flipH="0" flipV="0">
            <a:off x="571500" y="2619375"/>
            <a:ext cx="4095750" cy="152400"/>
          </a:xfrm>
          <a:prstGeom prst="rect"/>
        </p:spPr>
        <p:txBody>
          <a:bodyPr wrap="none" lIns="0" tIns="0" rIns="0" bIns="0"/>
          <a:p>
            <a:pPr>
              <a:lnSpc>
                <a:spcPct val="100000"/>
              </a:lnSpc>
            </a:pPr>
            <a:r>
              <a:rPr lang="en-US" sz="975" spc="75">
                <a:solidFill>
                  <a:srgbClr val="8B97A8"/>
                </a:solidFill>
                <a:latin typeface="Microsoft YaHei"/>
                <a:ea typeface="Microsoft YaHei"/>
              </a:rPr>
              <a:t>WHAT LAST WEEK LEFT YOU</a:t>
            </a:r>
            <a:endParaRPr/>
          </a:p>
        </p:txBody>
      </p:sp>
      <p:pic>
        <p:nvPicPr>
          <p:cNvPr id="597" name=""/>
          <p:cNvPicPr>
            <a:picLocks noChangeAspect="1"/>
          </p:cNvPicPr>
          <p:nvPr/>
        </p:nvPicPr>
        <p:blipFill>
          <a:blip>
            <a:extLst>
              <a:ext uri="{96DAC541-7B7A-43D3-8B79-37D633B846F1}">
                <asvg:svgBlip r:embed="rId1"/>
              </a:ext>
            </a:extLst>
          </a:blip>
          <a:stretch>
            <a:fillRect/>
          </a:stretch>
        </p:blipFill>
        <p:spPr>
          <a:xfrm rot="0" flipH="0" flipV="0">
            <a:off x="571500" y="2886075"/>
            <a:ext cx="4095750" cy="990600"/>
          </a:xfrm>
          <a:prstGeom prst="rect">
            <a:avLst/>
          </a:prstGeom>
          <a:ln/>
        </p:spPr>
      </p:pic>
      <p:sp>
        <p:nvSpPr>
          <p:cNvPr id="598" name=""/>
          <p:cNvSpPr/>
          <p:nvPr/>
        </p:nvSpPr>
        <p:spPr>
          <a:xfrm rot="0" flipH="0" flipV="0">
            <a:off x="419100" y="4181475"/>
            <a:ext cx="4476750" cy="1143000"/>
          </a:xfrm>
          <a:prstGeom prst="roundRect">
            <a:avLst>
              <a:gd name="adj" fmla="val 8333"/>
            </a:avLst>
          </a:prstGeom>
          <a:solidFill>
            <a:srgbClr val="FDF3F3"/>
          </a:solidFill>
          <a:ln/>
        </p:spPr>
        <p:txBody>
          <a:bodyPr/>
          <a:p/>
        </p:txBody>
      </p:sp>
      <p:sp>
        <p:nvSpPr>
          <p:cNvPr id="599" name=""/>
          <p:cNvSpPr/>
          <p:nvPr/>
        </p:nvSpPr>
        <p:spPr>
          <a:xfrm rot="0" flipH="0" flipV="0">
            <a:off x="419100" y="4181475"/>
            <a:ext cx="4476750" cy="1143000"/>
          </a:xfrm>
          <a:custGeom>
            <a:pathLst>
              <a:path w="470" h="120">
                <a:moveTo>
                  <a:pt x="9" y="0"/>
                </a:moveTo>
                <a:cubicBezTo>
                  <a:pt x="6" y="0"/>
                  <a:pt x="4" y="3"/>
                  <a:pt x="4" y="6"/>
                </a:cubicBezTo>
                <a:lnTo>
                  <a:pt x="4" y="114"/>
                </a:lnTo>
                <a:cubicBezTo>
                  <a:pt x="4" y="117"/>
                  <a:pt x="6" y="119"/>
                  <a:pt x="9" y="120"/>
                </a:cubicBezTo>
                <a:cubicBezTo>
                  <a:pt x="4" y="119"/>
                  <a:pt x="0" y="115"/>
                  <a:pt x="0" y="110"/>
                </a:cubicBezTo>
                <a:lnTo>
                  <a:pt x="0" y="10"/>
                </a:lnTo>
                <a:cubicBezTo>
                  <a:pt x="0" y="5"/>
                  <a:pt x="4" y="0"/>
                  <a:pt x="10" y="0"/>
                </a:cubicBezTo>
                <a:close/>
              </a:path>
            </a:pathLst>
          </a:custGeom>
          <a:solidFill>
            <a:srgbClr val="D9534F"/>
          </a:solidFill>
          <a:ln/>
        </p:spPr>
        <p:txBody>
          <a:bodyPr/>
          <a:p/>
        </p:txBody>
      </p:sp>
      <p:sp>
        <p:nvSpPr>
          <p:cNvPr id="600" name="" descr="{&quot;isTemplate&quot;:true,&quot;type&quot;:&quot;text&quot;}"/>
          <p:cNvSpPr txBox="1"/>
          <p:nvPr/>
        </p:nvSpPr>
        <p:spPr>
          <a:xfrm rot="0" flipH="0" flipV="0">
            <a:off x="609600" y="4333875"/>
            <a:ext cx="4057650" cy="180975"/>
          </a:xfrm>
          <a:prstGeom prst="rect"/>
        </p:spPr>
        <p:txBody>
          <a:bodyPr wrap="none" lIns="0" tIns="0" rIns="0" bIns="0"/>
          <a:p>
            <a:pPr>
              <a:lnSpc>
                <a:spcPct val="100000"/>
              </a:lnSpc>
            </a:pPr>
            <a:r>
              <a:rPr lang="en-US" sz="1163" b="1">
                <a:solidFill>
                  <a:srgbClr val="D9534F"/>
                </a:solidFill>
                <a:latin typeface="Microsoft YaHei"/>
                <a:ea typeface="Microsoft YaHei"/>
              </a:rPr>
              <a:t>Then the client asks</a:t>
            </a:r>
            <a:endParaRPr/>
          </a:p>
        </p:txBody>
      </p:sp>
      <p:sp>
        <p:nvSpPr>
          <p:cNvPr id="601" name="" descr="{&quot;isTemplate&quot;:true,&quot;type&quot;:&quot;text&quot;}"/>
          <p:cNvSpPr txBox="1"/>
          <p:nvPr/>
        </p:nvSpPr>
        <p:spPr>
          <a:xfrm rot="0" flipH="0" flipV="0">
            <a:off x="609600" y="4581525"/>
            <a:ext cx="4057650" cy="590550"/>
          </a:xfrm>
          <a:prstGeom prst="rect"/>
        </p:spPr>
        <p:txBody>
          <a:bodyPr wrap="square" lIns="0" tIns="0" rIns="0" bIns="0">
            <a:normAutofit/>
          </a:bodyPr>
          <a:p>
            <a:pPr>
              <a:lnSpc>
                <a:spcPct val="155000"/>
              </a:lnSpc>
            </a:pPr>
            <a:r>
              <a:rPr lang="en-US" sz="1238" i="1">
                <a:solidFill>
                  <a:srgbClr val="4A5568"/>
                </a:solidFill>
                <a:latin typeface="Georgia"/>
                <a:ea typeface="Georgia"/>
              </a:rPr>
              <a:t>“Good. Now show me what actually happens when she places an order.”</a:t>
            </a:r>
            <a:endParaRPr/>
          </a:p>
        </p:txBody>
      </p:sp>
      <p:sp>
        <p:nvSpPr>
          <p:cNvPr id="602" name=""/>
          <p:cNvSpPr/>
          <p:nvPr/>
        </p:nvSpPr>
        <p:spPr>
          <a:xfrm rot="0" flipH="0" flipV="0">
            <a:off x="5143500" y="2333625"/>
            <a:ext cx="6705600" cy="762000"/>
          </a:xfrm>
          <a:prstGeom prst="roundRect">
            <a:avLst>
              <a:gd name="adj" fmla="val 11250"/>
            </a:avLst>
          </a:prstGeom>
          <a:solidFill>
            <a:srgbClr val="F0F5FC"/>
          </a:solidFill>
          <a:ln/>
        </p:spPr>
        <p:txBody>
          <a:bodyPr/>
          <a:p/>
        </p:txBody>
      </p:sp>
      <p:sp>
        <p:nvSpPr>
          <p:cNvPr id="603" name=""/>
          <p:cNvSpPr/>
          <p:nvPr/>
        </p:nvSpPr>
        <p:spPr>
          <a:xfrm rot="0" flipH="0" flipV="0">
            <a:off x="5143500" y="2333625"/>
            <a:ext cx="6705600" cy="762000"/>
          </a:xfrm>
          <a:custGeom>
            <a:pathLst>
              <a:path w="704" h="80">
                <a:moveTo>
                  <a:pt x="9" y="0"/>
                </a:moveTo>
                <a:cubicBezTo>
                  <a:pt x="6" y="0"/>
                  <a:pt x="4" y="2"/>
                  <a:pt x="4" y="5"/>
                </a:cubicBezTo>
                <a:lnTo>
                  <a:pt x="4" y="75"/>
                </a:lnTo>
                <a:cubicBezTo>
                  <a:pt x="4" y="77"/>
                  <a:pt x="6" y="79"/>
                  <a:pt x="8" y="80"/>
                </a:cubicBezTo>
                <a:cubicBezTo>
                  <a:pt x="4" y="80"/>
                  <a:pt x="0" y="76"/>
                  <a:pt x="0" y="71"/>
                </a:cubicBezTo>
                <a:lnTo>
                  <a:pt x="0" y="9"/>
                </a:lnTo>
                <a:cubicBezTo>
                  <a:pt x="0" y="4"/>
                  <a:pt x="4" y="0"/>
                  <a:pt x="9" y="0"/>
                </a:cubicBezTo>
                <a:close/>
              </a:path>
            </a:pathLst>
          </a:custGeom>
          <a:solidFill>
            <a:srgbClr val="1E4FA8"/>
          </a:solidFill>
          <a:ln/>
        </p:spPr>
        <p:txBody>
          <a:bodyPr/>
          <a:p/>
        </p:txBody>
      </p:sp>
      <p:sp>
        <p:nvSpPr>
          <p:cNvPr id="604" name="" descr="{&quot;isTemplate&quot;:true,&quot;type&quot;:&quot;text&quot;}"/>
          <p:cNvSpPr txBox="1"/>
          <p:nvPr/>
        </p:nvSpPr>
        <p:spPr>
          <a:xfrm rot="0" flipH="0" flipV="0">
            <a:off x="5305425" y="2476500"/>
            <a:ext cx="6343650" cy="190500"/>
          </a:xfrm>
          <a:prstGeom prst="rect"/>
        </p:spPr>
        <p:txBody>
          <a:bodyPr wrap="none" lIns="0" tIns="0" rIns="0" bIns="0"/>
          <a:p>
            <a:pPr>
              <a:lnSpc>
                <a:spcPct val="100000"/>
              </a:lnSpc>
            </a:pPr>
            <a:r>
              <a:rPr lang="en-US" sz="1200" b="1">
                <a:solidFill>
                  <a:srgbClr val="0E3F8C"/>
                </a:solidFill>
                <a:latin typeface="Microsoft YaHei"/>
                <a:ea typeface="Microsoft YaHei"/>
              </a:rPr>
              <a:t>The ellipse answers “which goal”</a:t>
            </a:r>
            <a:endParaRPr/>
          </a:p>
        </p:txBody>
      </p:sp>
      <p:sp>
        <p:nvSpPr>
          <p:cNvPr id="605" name="" descr="{&quot;isTemplate&quot;:true,&quot;type&quot;:&quot;text&quot;}"/>
          <p:cNvSpPr txBox="1"/>
          <p:nvPr/>
        </p:nvSpPr>
        <p:spPr>
          <a:xfrm rot="0" flipH="0" flipV="0">
            <a:off x="5305425" y="2714625"/>
            <a:ext cx="6343650" cy="238125"/>
          </a:xfrm>
          <a:prstGeom prst="rect"/>
        </p:spPr>
        <p:txBody>
          <a:bodyPr wrap="none" lIns="0" tIns="0" rIns="0" bIns="0"/>
          <a:p>
            <a:pPr>
              <a:lnSpc>
                <a:spcPct val="160000"/>
              </a:lnSpc>
            </a:pPr>
            <a:r>
              <a:rPr lang="en-US" sz="975">
                <a:solidFill>
                  <a:srgbClr val="4A5568"/>
                </a:solidFill>
                <a:latin typeface="Microsoft YaHei"/>
                <a:ea typeface="Microsoft YaHei"/>
              </a:rPr>
              <a:t>It is a scope marker. It keeps the boundary honest. That was its whole job and it did it well.</a:t>
            </a:r>
            <a:endParaRPr/>
          </a:p>
        </p:txBody>
      </p:sp>
      <p:sp>
        <p:nvSpPr>
          <p:cNvPr id="606" name=""/>
          <p:cNvSpPr/>
          <p:nvPr/>
        </p:nvSpPr>
        <p:spPr>
          <a:xfrm rot="0" flipH="0" flipV="0">
            <a:off x="5105400" y="3219450"/>
            <a:ext cx="6705600" cy="762000"/>
          </a:xfrm>
          <a:prstGeom prst="roundRect">
            <a:avLst>
              <a:gd name="adj" fmla="val 11250"/>
            </a:avLst>
          </a:prstGeom>
          <a:solidFill>
            <a:srgbClr val="FFFFFF"/>
          </a:solidFill>
          <a:ln w="12700">
            <a:solidFill>
              <a:srgbClr val="D6DCE5"/>
            </a:solidFill>
            <a:prstDash val="solid"/>
          </a:ln>
        </p:spPr>
        <p:txBody>
          <a:bodyPr/>
          <a:p/>
        </p:txBody>
      </p:sp>
      <p:sp>
        <p:nvSpPr>
          <p:cNvPr id="607" name="" descr="{&quot;isTemplate&quot;:true,&quot;type&quot;:&quot;text&quot;}"/>
          <p:cNvSpPr txBox="1"/>
          <p:nvPr/>
        </p:nvSpPr>
        <p:spPr>
          <a:xfrm rot="0" flipH="0" flipV="0">
            <a:off x="5267325" y="3362325"/>
            <a:ext cx="6381750" cy="190500"/>
          </a:xfrm>
          <a:prstGeom prst="rect"/>
        </p:spPr>
        <p:txBody>
          <a:bodyPr wrap="none" lIns="0" tIns="0" rIns="0" bIns="0"/>
          <a:p>
            <a:pPr>
              <a:lnSpc>
                <a:spcPct val="100000"/>
              </a:lnSpc>
            </a:pPr>
            <a:r>
              <a:rPr lang="en-US" sz="1200" b="1">
                <a:solidFill>
                  <a:srgbClr val="0E3F8C"/>
                </a:solidFill>
                <a:latin typeface="Microsoft YaHei"/>
                <a:ea typeface="Microsoft YaHei"/>
              </a:rPr>
              <a:t>The specification answers “how”</a:t>
            </a:r>
            <a:endParaRPr/>
          </a:p>
        </p:txBody>
      </p:sp>
      <p:sp>
        <p:nvSpPr>
          <p:cNvPr id="608" name="" descr="{&quot;isTemplate&quot;:true,&quot;type&quot;:&quot;text&quot;}"/>
          <p:cNvSpPr txBox="1"/>
          <p:nvPr/>
        </p:nvSpPr>
        <p:spPr>
          <a:xfrm rot="0" flipH="0" flipV="0">
            <a:off x="5267325" y="3600450"/>
            <a:ext cx="6381750" cy="238125"/>
          </a:xfrm>
          <a:prstGeom prst="rect"/>
        </p:spPr>
        <p:txBody>
          <a:bodyPr wrap="none" lIns="0" tIns="0" rIns="0" bIns="0"/>
          <a:p>
            <a:pPr>
              <a:lnSpc>
                <a:spcPct val="160000"/>
              </a:lnSpc>
            </a:pPr>
            <a:r>
              <a:rPr lang="en-US" sz="975">
                <a:solidFill>
                  <a:srgbClr val="4A5568"/>
                </a:solidFill>
                <a:latin typeface="Microsoft YaHei"/>
                <a:ea typeface="Microsoft YaHei"/>
              </a:rPr>
              <a:t>A sequence of steps, each one an observable response of the system, plus what happens when things go wrong.</a:t>
            </a:r>
            <a:endParaRPr/>
          </a:p>
        </p:txBody>
      </p:sp>
      <p:sp>
        <p:nvSpPr>
          <p:cNvPr id="609" name=""/>
          <p:cNvSpPr/>
          <p:nvPr/>
        </p:nvSpPr>
        <p:spPr>
          <a:xfrm rot="0" flipH="0" flipV="0">
            <a:off x="5143500" y="4105275"/>
            <a:ext cx="6705600" cy="762000"/>
          </a:xfrm>
          <a:prstGeom prst="roundRect">
            <a:avLst>
              <a:gd name="adj" fmla="val 11250"/>
            </a:avLst>
          </a:prstGeom>
          <a:solidFill>
            <a:srgbClr val="FFF6E0"/>
          </a:solidFill>
          <a:ln/>
        </p:spPr>
        <p:txBody>
          <a:bodyPr/>
          <a:p/>
        </p:txBody>
      </p:sp>
      <p:sp>
        <p:nvSpPr>
          <p:cNvPr id="610" name=""/>
          <p:cNvSpPr/>
          <p:nvPr/>
        </p:nvSpPr>
        <p:spPr>
          <a:xfrm rot="0" flipH="0" flipV="0">
            <a:off x="5143500" y="4105275"/>
            <a:ext cx="6705600" cy="762000"/>
          </a:xfrm>
          <a:custGeom>
            <a:pathLst>
              <a:path w="704" h="80">
                <a:moveTo>
                  <a:pt x="9" y="0"/>
                </a:moveTo>
                <a:cubicBezTo>
                  <a:pt x="6" y="0"/>
                  <a:pt x="4" y="2"/>
                  <a:pt x="4" y="5"/>
                </a:cubicBezTo>
                <a:lnTo>
                  <a:pt x="4" y="75"/>
                </a:lnTo>
                <a:cubicBezTo>
                  <a:pt x="4" y="77"/>
                  <a:pt x="6" y="79"/>
                  <a:pt x="8" y="80"/>
                </a:cubicBezTo>
                <a:cubicBezTo>
                  <a:pt x="4" y="80"/>
                  <a:pt x="0" y="76"/>
                  <a:pt x="0" y="71"/>
                </a:cubicBezTo>
                <a:lnTo>
                  <a:pt x="0" y="9"/>
                </a:lnTo>
                <a:cubicBezTo>
                  <a:pt x="0" y="4"/>
                  <a:pt x="4" y="0"/>
                  <a:pt x="9" y="0"/>
                </a:cubicBezTo>
                <a:close/>
              </a:path>
            </a:pathLst>
          </a:custGeom>
          <a:solidFill>
            <a:srgbClr val="FFC107"/>
          </a:solidFill>
          <a:ln/>
        </p:spPr>
        <p:txBody>
          <a:bodyPr/>
          <a:p/>
        </p:txBody>
      </p:sp>
      <p:sp>
        <p:nvSpPr>
          <p:cNvPr id="611" name="" descr="{&quot;isTemplate&quot;:true,&quot;type&quot;:&quot;text&quot;}"/>
          <p:cNvSpPr txBox="1"/>
          <p:nvPr/>
        </p:nvSpPr>
        <p:spPr>
          <a:xfrm rot="0" flipH="0" flipV="0">
            <a:off x="5305425" y="4248150"/>
            <a:ext cx="6343650" cy="190500"/>
          </a:xfrm>
          <a:prstGeom prst="rect"/>
        </p:spPr>
        <p:txBody>
          <a:bodyPr wrap="none" lIns="0" tIns="0" rIns="0" bIns="0"/>
          <a:p>
            <a:pPr>
              <a:lnSpc>
                <a:spcPct val="100000"/>
              </a:lnSpc>
            </a:pPr>
            <a:r>
              <a:rPr lang="en-US" sz="1200" b="1">
                <a:solidFill>
                  <a:srgbClr val="996F00"/>
                </a:solidFill>
                <a:latin typeface="Microsoft YaHei"/>
                <a:ea typeface="Microsoft YaHei"/>
              </a:rPr>
              <a:t>Why this matters on M1</a:t>
            </a:r>
            <a:endParaRPr/>
          </a:p>
        </p:txBody>
      </p:sp>
      <p:sp>
        <p:nvSpPr>
          <p:cNvPr id="612" name="" descr="{&quot;isTemplate&quot;:true,&quot;type&quot;:&quot;text&quot;}"/>
          <p:cNvSpPr txBox="1"/>
          <p:nvPr/>
        </p:nvSpPr>
        <p:spPr>
          <a:xfrm rot="0" flipH="0" flipV="0">
            <a:off x="5305425" y="4486275"/>
            <a:ext cx="6343650" cy="238125"/>
          </a:xfrm>
          <a:prstGeom prst="rect"/>
        </p:spPr>
        <p:txBody>
          <a:bodyPr wrap="none" lIns="0" tIns="0" rIns="0" bIns="0"/>
          <a:p>
            <a:pPr>
              <a:lnSpc>
                <a:spcPct val="160000"/>
              </a:lnSpc>
            </a:pPr>
            <a:r>
              <a:rPr lang="en-US" sz="975">
                <a:solidFill>
                  <a:srgbClr val="4A5568"/>
                </a:solidFill>
                <a:latin typeface="Microsoft YaHei"/>
                <a:ea typeface="Microsoft YaHei"/>
              </a:rPr>
              <a:t>M1 asks for two fully-dressed specifications. The diagram alone is one third of that deliverable.</a:t>
            </a:r>
            <a:endParaRPr/>
          </a:p>
        </p:txBody>
      </p:sp>
      <p:sp>
        <p:nvSpPr>
          <p:cNvPr id="613" name=""/>
          <p:cNvSpPr/>
          <p:nvPr/>
        </p:nvSpPr>
        <p:spPr>
          <a:xfrm rot="0" flipH="0" flipV="0">
            <a:off x="5105400" y="4991100"/>
            <a:ext cx="6705600" cy="457200"/>
          </a:xfrm>
          <a:prstGeom prst="roundRect">
            <a:avLst>
              <a:gd name="adj" fmla="val 16667"/>
            </a:avLst>
          </a:prstGeom>
          <a:solidFill>
            <a:srgbClr val="F7F9FC"/>
          </a:solidFill>
          <a:ln w="12700">
            <a:solidFill>
              <a:srgbClr val="D6DCE5"/>
            </a:solidFill>
            <a:prstDash val="dash"/>
          </a:ln>
        </p:spPr>
        <p:txBody>
          <a:bodyPr/>
          <a:p/>
        </p:txBody>
      </p:sp>
      <p:sp>
        <p:nvSpPr>
          <p:cNvPr id="614" name="" descr="{&quot;isTemplate&quot;:true,&quot;type&quot;:&quot;text&quot;}"/>
          <p:cNvSpPr txBox="1"/>
          <p:nvPr/>
        </p:nvSpPr>
        <p:spPr>
          <a:xfrm rot="0" flipH="0" flipV="0">
            <a:off x="5257800" y="5105400"/>
            <a:ext cx="6400800" cy="228600"/>
          </a:xfrm>
          <a:prstGeom prst="rect"/>
        </p:spPr>
        <p:txBody>
          <a:bodyPr wrap="none" lIns="0" tIns="0" rIns="0" bIns="0"/>
          <a:p>
            <a:pPr>
              <a:lnSpc>
                <a:spcPct val="155000"/>
              </a:lnSpc>
            </a:pPr>
            <a:r>
              <a:rPr lang="en-US" sz="938">
                <a:solidFill>
                  <a:srgbClr val="8B97A8"/>
                </a:solidFill>
                <a:latin typeface="Microsoft YaHei"/>
                <a:ea typeface="Microsoft YaHei"/>
              </a:rPr>
              <a:t>Rule for the whole week: if a sentence could be pasted into any project on earth, it is not yet written for this one.</a:t>
            </a:r>
            <a:endParaRPr/>
          </a:p>
        </p:txBody>
      </p:sp>
      <p:sp>
        <p:nvSpPr>
          <p:cNvPr id="615" name="" descr="{&quot;isTemplate&quot;:true,&quot;type&quot;:&quot;text&quot;}"/>
          <p:cNvSpPr txBox="1"/>
          <p:nvPr/>
        </p:nvSpPr>
        <p:spPr>
          <a:xfrm rot="0" flipH="0" flipV="0">
            <a:off x="381000" y="6619875"/>
            <a:ext cx="4572000"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The diagram sets the scope; the specification is what gets tested</a:t>
            </a:r>
            <a:endParaRPr/>
          </a:p>
        </p:txBody>
      </p:sp>
      <p:sp>
        <p:nvSpPr>
          <p:cNvPr id="616" name="" descr="{&quot;isTemplate&quot;:true,&quot;type&quot;:&quot;text&quot;}"/>
          <p:cNvSpPr txBox="1"/>
          <p:nvPr/>
        </p:nvSpPr>
        <p:spPr>
          <a:xfrm rot="0" flipH="0" flipV="0">
            <a:off x="11468100" y="6619875"/>
            <a:ext cx="342900" cy="161925"/>
          </a:xfrm>
          <a:prstGeom prst="rect"/>
        </p:spPr>
        <p:txBody>
          <a:bodyPr wrap="none" lIns="0" tIns="0" rIns="0" bIns="0"/>
          <a:p>
            <a:pPr>
              <a:lnSpc>
                <a:spcPct val="100000"/>
              </a:lnSpc>
            </a:pPr>
            <a:r>
              <a:rPr lang="en-US" sz="1050" b="1">
                <a:solidFill>
                  <a:srgbClr val="1E4FA8"/>
                </a:solidFill>
                <a:latin typeface="Microsoft YaHei"/>
                <a:ea typeface="Microsoft YaHei"/>
              </a:rPr>
              <a:t>4 / 38</a:t>
            </a:r>
            <a:endParaRPr/>
          </a:p>
        </p:txBody>
      </p:sp>
    </p:spTree>
  </p:cSld>
</p:sld>
</file>

<file path=ppt/slides/slide5.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617"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ANATOMY OF A SPEC&lt;/Text&gt;&#10;  &lt;/Box&gt;&#10;  &lt;Box style={{ padding: '13px 40px 0 40px', flexDirection: 'row', alignItems: 'center', justifyContent: 'space-between' }}&gt;&#10;    &lt;Text style={{ fontSize: 29, fontWeight: 'bold', color: '#0E3F8C' }}&gt;The Fully-Dressed Template&lt;/Text&gt;&#10;    &lt;Text style={{ fontSize: 14, color: '#1E4FA8', fontWeight: 'bold' }}&gt;05 / 38&lt;/Text&gt;&#10;  &lt;/Box&gt;&#10;  &lt;Box style={{ flex: 1, padding: '6px 40px 0 40px', justifyContent: 'center', alignItems: 'center' }}&gt;&#10;    &lt;svg width={1180} height={392} viewBox='0 0 1180 392'&gt;&#10;      &lt;text x='10' y='16' fill='#8B97A8' fontSize='13'&gt;Nine fields of the Larman fully-dressed template. Three of them are compulsory; the rest earn their place.&lt;/text&gt;&#10;&#10;      &lt;rect x='0' y='32' width='300' height='344' rx='8' fill='#F0F5FC' stroke='#1E4FA8' strokeWidth='2' /&gt;&#10;      &lt;text x='18' y='58' fill='#0E3F8C' fontSize='15' fontWeight='bold'&gt;Header block&lt;/text&gt;&#10;      &lt;text x='18' y='84' fill='#1E4FA8' fontSize='11.5' fontWeight='bold'&gt;1  Use case name&lt;/text&gt;&#10;      &lt;text x='18' y='101' fill='#8B97A8' fontSize='11'&gt;verb + object, e.g. Place Order&lt;/text&gt;&#10;      &lt;text x='18' y='126' fill='#1E4FA8' fontSize='11.5' fontWeight='bold'&gt;2  Scope&lt;/text&gt;&#10;      &lt;text x='18' y='143' fill='#8B97A8' fontSize='11'&gt;the system, in one line&lt;/text&gt;&#10;      &lt;text x='18' y='168' fill='#1E4FA8' fontSize='11.5' fontWeight='bold'&gt;3  Level&lt;/text&gt;&#10;      &lt;text x='18' y='185' fill='#8B97A8' fontSize='11'&gt;user goal / summary / sub-goal&lt;/text&gt;&#10;      &lt;text x='18' y='210' fill='#1E4FA8' fontSize='11.5' fontWeight='bold'&gt;4  Primary actor&lt;/text&gt;&#10;      &lt;text x='18' y='227' fill='#8B97A8' fontSize='11'&gt;the one who starts it&lt;/text&gt;&#10;      &lt;text x='18' y='252' fill='#1E4FA8' fontSize='11.5' fontWeight='bold'&gt;5  Secondary actors&lt;/text&gt;&#10;      &lt;text x='18' y='269' fill='#8B97A8' fontSize='11'&gt;services the goal is found&lt;/text&gt;&#10;&#10;      &lt;rect x='316' y='32' width='300' height='344' rx='8' fill='#FFF6E0' stroke='#FFC107' strokeWidth='2' /&gt;&#10;      &lt;text x='334' y='58' fill='#996F00' fontSize='15' fontWeight='bold'&gt;Conditions&lt;/text&gt;&#10;      &lt;text x='334' y='84' fill='#996F00' fontSize='11.5' fontWeight='bold'&gt;6  Preconditions&lt;/text&gt;&#10;      &lt;text x='334' y='101' fill='#8B97A8' fontSize='11'&gt;true before the first step&lt;/text&gt;&#10;      &lt;text x='334' y='126' fill='#996F00' fontSize='11.5' fontWeight='bold'&gt;7  Postconditions&lt;/text&gt;&#10;      &lt;text x='334' y='143' fill='#8B97A8' fontSize='11'&gt;true when it finishes, either way&lt;/text&gt;&#10;      &lt;text x='334' y='168' fill='#996F00' fontSize='11.5' fontWeight='bold'&gt;8  Trigger&lt;/text&gt;&#10;      &lt;text x='334' y='185' fill='#8B97A8' fontSize='11'&gt;the event that starts it&lt;/text&gt;&#10;      &lt;rect x='334' y='202' width='264' height='158' rx='6' fill='#FFFFFF' stroke='#E0C88A' strokeWidth='1' /&gt;&#10;      &lt;text x='346' y='224' fill='#4A5568' fontSize='11'&gt;These three are where specs&lt;/text&gt;&#10;      &lt;text x='346' y='242' fill='#4A5568' fontSize='11'&gt;break. A postcondition that&lt;/text&gt;&#10;      &lt;text x='346' y='260' fill='#4A5568' fontSize='11'&gt;only describes the happy path&lt;/text&gt;&#10;      &lt;text x='346' y='278' fill='#4A5568' fontSize='11'&gt;is not a postcondition — it is&lt;/text&gt;&#10;      &lt;text x='346' y='296' fill='#4A5568' fontSize='11'&gt;an outcome. Write both&lt;/text&gt;&#10;      &lt;text x='346' y='314' fill='#4A5568' fontSize='11'&gt;branches.&lt;/text&gt;&#10;&#10;      &lt;rect x='632' y='32' width='300' height='344' rx='8' fill='#FFFFFF' stroke='#1E4FA8' strokeWidth='2' /&gt;&#10;      &lt;text x='650' y='58' fill='#0E3F8C' fontSize='15' fontWeight='bold'&gt;The body&lt;/text&gt;&#10;      &lt;text x='650' y='84' fill='#1E4FA8' fontSize='11.5' fontWeight='bold'&gt;9  Main success scenario&lt;/text&gt;&#10;      &lt;text x='650' y='101' fill='#8B97A8' fontSize='11'&gt;the straight-line happy path&lt;/text&gt;&#10;      &lt;text x='650' y='126' fill='#1E4FA8' fontSize='11.5' fontWeight='bold'&gt;   Extensions&lt;/text&gt;&#10;      &lt;text x='650' y='143' fill='#8B97A8' fontSize='11'&gt;alternate flows, 4a 4b 4c&lt;/text&gt;&#10;      &lt;text x='650' y='168' fill='#1E4FA8' fontSize='11.5' fontWeight='bold'&gt;   Exceptions&lt;/text&gt;&#10;      &lt;text x='650' y='185' fill='#8B97A8' fontSize='11'&gt;the failure branches&lt;/text&gt;&#10;      &lt;line x1='650' y1='200' x2='914' y2='200' stroke='#D6DCE5' strokeWidth='1' /&gt;&#10;      &lt;text x='650' y='222' fill='#0E3F8C' fontSize='11.5' fontWeight='bold'&gt;Compulsory: main scenario,&lt;/text&gt;&#10;      &lt;text x='650' y='240' fill='#0E3F8C' fontSize='11.5' fontWeight='bold'&gt;at least one extension,&lt;/text&gt;&#10;      &lt;text x='650' y='258' fill='#0E3F8C' fontSize='11.5' fontWeight='bold'&gt;name and primary actor.&lt;/text&gt;&#10;      &lt;text x='650' y='288' fill='#8B97A8' fontSize='11'&gt;Skip the other six and you&lt;/text&gt;&#10;      &lt;text x='650' y='306' fill='#8B97A8' fontSize='11'&gt;have saved twelve lines and&lt;/text&gt;&#10;      &lt;text x='650' y='324' fill='#8B97A8' fontSize='11'&gt;lost the argument.&lt;/text&gt;&#10;&#10;      &lt;g transform='translate(948,60)'&gt;&#10;        &lt;rect x='0' y='0' width='222' height='130' rx='8' fill='#FDF3F3' stroke='#D9534F' strokeWidth='1.6' /&gt;&#10;        &lt;text x='14' y='24' fill='#D9534F' fontSize='12.5' fontWeight='bold'&gt;The one-sentence test&lt;/text&gt;&#10;        &lt;text x='14' y='48' fill='#4A5568' fontSize='11'&gt;A field earns space only&lt;/text&gt;&#10;        &lt;text x='14' y='65' fill='#4A5568' fontSize='11'&gt;when a reviewer could&lt;/text&gt;&#10;        &lt;text x='14' y='82' fill='#4A5568' fontSize='11'&gt;write a test against it.&lt;/text&gt;&#10;        &lt;text x='14' y='108' fill='#D9534F' fontSize='11' fontWeight='bold'&gt;No test → cut the field.&lt;/text&gt;&#10;      &lt;/g&gt;&#10;    &lt;/svg&gt;&#10;  &lt;/Box&gt;&#10;  &lt;Box style={{ height: 34, padding: '0 40px', flexDirection: 'row', alignItems: 'center', justifyContent: 'space-between' }}&gt;&#10;    &lt;Text style={{ fontSize: 13, color: '#8B97A8' }}&gt;ISAD · Fall 2026 · Nine fields, three compulsory, and one sentence decides whether a field stays&lt;/Text&gt;&#10;    &lt;Text style={{ fontSize: 14, color: '#1E4FA8', fontWeight: 'bold' }}&gt;5 / 38&lt;/Text&gt;&#10;  &lt;/Box&gt;&#10;&lt;/Slide&gt;&#10;"/>
        <p:cNvGrpSpPr/>
        <p:nvPr/>
      </p:nvGrpSpPr>
      <p:grpSpPr>
        <a:xfrm>
          <a:off x="0" y="0"/>
          <a:ext cx="0" cy="0"/>
          <a:chOff x="0" y="0"/>
          <a:chExt cx="0" cy="0"/>
        </a:xfrm>
      </p:grpSpPr>
      <p:sp>
        <p:nvSpPr>
          <p:cNvPr id="618" name=""/>
          <p:cNvSpPr/>
          <p:nvPr/>
        </p:nvSpPr>
        <p:spPr>
          <a:xfrm rot="0" flipH="0" flipV="0">
            <a:off x="0" y="0"/>
            <a:ext cx="12192000" cy="6858000"/>
          </a:xfrm>
          <a:prstGeom prst="rect">
            <a:avLst/>
          </a:prstGeom>
          <a:solidFill>
            <a:srgbClr val="FFFFFF"/>
          </a:solidFill>
          <a:ln/>
        </p:spPr>
        <p:txBody>
          <a:bodyPr/>
          <a:p/>
        </p:txBody>
      </p:sp>
      <p:sp>
        <p:nvSpPr>
          <p:cNvPr id="619" name=""/>
          <p:cNvSpPr/>
          <p:nvPr/>
        </p:nvSpPr>
        <p:spPr>
          <a:xfrm rot="0" flipH="0" flipV="0">
            <a:off x="0" y="0"/>
            <a:ext cx="12192000" cy="685800"/>
          </a:xfrm>
          <a:prstGeom prst="rect">
            <a:avLst/>
          </a:prstGeom>
          <a:solidFill>
            <a:srgbClr val="1E4FA8"/>
          </a:solidFill>
          <a:ln/>
        </p:spPr>
        <p:txBody>
          <a:bodyPr/>
          <a:p/>
        </p:txBody>
      </p:sp>
      <p:sp>
        <p:nvSpPr>
          <p:cNvPr id="620"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621" name="" descr="{&quot;isTemplate&quot;:true,&quot;type&quot;:&quot;text&quot;}"/>
          <p:cNvSpPr txBox="1"/>
          <p:nvPr/>
        </p:nvSpPr>
        <p:spPr>
          <a:xfrm rot="0" flipH="0" flipV="0">
            <a:off x="9886950" y="257175"/>
            <a:ext cx="1924050" cy="171450"/>
          </a:xfrm>
          <a:prstGeom prst="rect"/>
        </p:spPr>
        <p:txBody>
          <a:bodyPr wrap="none" lIns="0" tIns="0" rIns="0" bIns="0"/>
          <a:p>
            <a:pPr>
              <a:lnSpc>
                <a:spcPct val="100000"/>
              </a:lnSpc>
            </a:pPr>
            <a:r>
              <a:rPr lang="en-US" sz="1125">
                <a:solidFill>
                  <a:srgbClr val="B9CDF0"/>
                </a:solidFill>
                <a:latin typeface="Microsoft YaHei"/>
                <a:ea typeface="Microsoft YaHei"/>
              </a:rPr>
              <a:t>W05 · ANATOMY OF A SPEC</a:t>
            </a:r>
            <a:endParaRPr/>
          </a:p>
        </p:txBody>
      </p:sp>
      <p:sp>
        <p:nvSpPr>
          <p:cNvPr id="622" name="" descr="{&quot;isTemplate&quot;:true,&quot;type&quot;:&quot;text&quot;}"/>
          <p:cNvSpPr txBox="1"/>
          <p:nvPr/>
        </p:nvSpPr>
        <p:spPr>
          <a:xfrm rot="0" flipH="0" flipV="0">
            <a:off x="381000" y="809625"/>
            <a:ext cx="3667125" cy="333375"/>
          </a:xfrm>
          <a:prstGeom prst="rect"/>
        </p:spPr>
        <p:txBody>
          <a:bodyPr wrap="none" lIns="0" tIns="0" rIns="0" bIns="0"/>
          <a:p>
            <a:pPr>
              <a:lnSpc>
                <a:spcPct val="100000"/>
              </a:lnSpc>
            </a:pPr>
            <a:r>
              <a:rPr lang="en-US" sz="2175" b="1">
                <a:solidFill>
                  <a:srgbClr val="0E3F8C"/>
                </a:solidFill>
                <a:latin typeface="Microsoft YaHei"/>
                <a:ea typeface="Microsoft YaHei"/>
              </a:rPr>
              <a:t>The Fully-Dressed Template</a:t>
            </a:r>
            <a:endParaRPr/>
          </a:p>
        </p:txBody>
      </p:sp>
      <p:sp>
        <p:nvSpPr>
          <p:cNvPr id="623"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05 / 38</a:t>
            </a:r>
            <a:endParaRPr/>
          </a:p>
        </p:txBody>
      </p:sp>
      <p:pic>
        <p:nvPicPr>
          <p:cNvPr id="624" name=""/>
          <p:cNvPicPr>
            <a:picLocks noChangeAspect="1"/>
          </p:cNvPicPr>
          <p:nvPr/>
        </p:nvPicPr>
        <p:blipFill>
          <a:blip>
            <a:extLst>
              <a:ext uri="{96DAC541-7B7A-43D3-8B79-37D633B846F1}">
                <asvg:svgBlip r:embed="rId1"/>
              </a:ext>
            </a:extLst>
          </a:blip>
          <a:stretch>
            <a:fillRect/>
          </a:stretch>
        </p:blipFill>
        <p:spPr>
          <a:xfrm rot="0" flipH="0" flipV="0">
            <a:off x="476250" y="2000250"/>
            <a:ext cx="11239500" cy="3733800"/>
          </a:xfrm>
          <a:prstGeom prst="rect">
            <a:avLst/>
          </a:prstGeom>
          <a:ln/>
        </p:spPr>
      </p:pic>
      <p:sp>
        <p:nvSpPr>
          <p:cNvPr id="625" name="" descr="{&quot;isTemplate&quot;:true,&quot;type&quot;:&quot;text&quot;}"/>
          <p:cNvSpPr txBox="1"/>
          <p:nvPr/>
        </p:nvSpPr>
        <p:spPr>
          <a:xfrm rot="0" flipH="0" flipV="0">
            <a:off x="381000" y="6619875"/>
            <a:ext cx="5286375"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Nine fields, three compulsory, and one sentence decides whether a field stays</a:t>
            </a:r>
            <a:endParaRPr/>
          </a:p>
        </p:txBody>
      </p:sp>
      <p:sp>
        <p:nvSpPr>
          <p:cNvPr id="626" name="" descr="{&quot;isTemplate&quot;:true,&quot;type&quot;:&quot;text&quot;}"/>
          <p:cNvSpPr txBox="1"/>
          <p:nvPr/>
        </p:nvSpPr>
        <p:spPr>
          <a:xfrm rot="0" flipH="0" flipV="0">
            <a:off x="11468100" y="6619875"/>
            <a:ext cx="342900" cy="161925"/>
          </a:xfrm>
          <a:prstGeom prst="rect"/>
        </p:spPr>
        <p:txBody>
          <a:bodyPr wrap="none" lIns="0" tIns="0" rIns="0" bIns="0"/>
          <a:p>
            <a:pPr>
              <a:lnSpc>
                <a:spcPct val="100000"/>
              </a:lnSpc>
            </a:pPr>
            <a:r>
              <a:rPr lang="en-US" sz="1050" b="1">
                <a:solidFill>
                  <a:srgbClr val="1E4FA8"/>
                </a:solidFill>
                <a:latin typeface="Microsoft YaHei"/>
                <a:ea typeface="Microsoft YaHei"/>
              </a:rPr>
              <a:t>5 / 38</a:t>
            </a:r>
            <a:endParaRPr/>
          </a:p>
        </p:txBody>
      </p:sp>
    </p:spTree>
  </p:cSld>
</p:sld>
</file>

<file path=ppt/slides/slide6.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627"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ANATOMY OF A SPEC&lt;/Text&gt;&#10;  &lt;/Box&gt;&#10;  &lt;Box style={{ padding: '13px 40px 0 40px', flexDirection: 'row', alignItems: 'center', justifyContent: 'space-between' }}&gt;&#10;    &lt;Text style={{ fontSize: 29, fontWeight: 'bold', color: '#0E3F8C' }}&gt;Preconditions &amp;amp; Postconditions&lt;/Text&gt;&#10;    &lt;Text style={{ fontSize: 14, color: '#1E4FA8', fontWeight: 'bold' }}&gt;06 / 38&lt;/Text&gt;&#10;  &lt;/Box&gt;&#10;  &lt;Box style={{ flex: 1, padding: '10px 40px 0 40px' }}&gt;&#10;    &lt;Table&#10;      style={{ width: '100%', height: '100%' }}&#10;      defaultTextStyle={{ fontSize: 13.5, textAlign: 'left', color: '#1A2230' }}&#10;      defaultCellStyle={{&#10;        border: {&#10;          left: { width: 1, color: '#E5E7EB' },&#10;          right: { width: 1, color: '#E5E7EB' },&#10;          top: { width: 1, color: '#E5E7EB' },&#10;          bottom: { width: 1, color: '#E5E7EB' },&#10;        },&#10;      }}&#10;      cells={[&#10;        [&#10;          { text: '', textStyle: { bold: true }, cellStyle: { background: { color: '#0E3F8C' } } },&#10;          { text: 'What it means', textStyle: { bold: true, color: '#FFFFFF', fontSize: 15 }, cellStyle: { background: { color: '#0E3F8C' } } },&#10;          { text: 'Broken version', textStyle: { bold: true, color: '#FFFFFF', fontSize: 15 }, cellStyle: { background: { color: '#8B3230' } } },&#10;          { text: 'Correct version', textStyle: { bold: true, color: '#FFFFFF', fontSize: 15 }, cellStyle: { background: { color: '#2B5793' } } },&#10;        ],&#10;        [&#10;          { text: 'Precondition', textStyle: { bold: true, color: '#0E3F8C' }, cellStyle: { background: { color: '#F7F9FC' } } },&#10;          { text: 'State that must already be true before the first step. It is not a step.', textStyle: { color: '#4A5568' }, cellStyle: { background: { color: '#F7F9FC' } } },&#10;          { text: 'The student is logged in.', textStyle: { color: '#4A5568' }, cellStyle: { background: { color: '#F7F9FC' } } },&#10;          { text: 'The student is authenticated and has an open campus menu for today.', textStyle: { color: '#4A5568' }, cellStyle: { background: { color: '#F7F9FC' } } },&#10;        ],&#10;        [&#10;          { text: 'Why the broken one fails', textStyle: { bold: true, color: '#0E3F8C' } },&#10;          { text: 'A tester reads it and asks: logged in since when? With which role? An unanswerable precondition creates an unrunnable test.', textStyle: { color: '#4A5568' } },&#10;          { text: 'Nothing tells the tester what to set up, so they test whatever they happen to have.', textStyle: { color: '#4A5568' } },&#10;          { text: 'Given: an authenticated session for a student with at least one restaurant open.', textStyle: { color: '#4A5568' } },&#10;        ],&#10;        [&#10;          { text: 'Postcondition', textStyle: { bold: true, color: '#0E3F8C' }, cellStyle: { background: { color: '#F7F9FC' } } },&#10;          { text: 'State that is guaranteed once the use case ends — whether it succeeded or failed.', textStyle: { color: '#4A5568' }, cellStyle: { background: { color: '#F7F9FC' } } },&#10;          { text: 'The order is created.', textStyle: { color: '#4A5568' }, cellStyle: { background: { color: '#F7F9FC' } } },&#10;          { text: 'An order exists in state Accepted or Cancelled, and the student holds exactly one open order per restaurant.', textStyle: { color: '#4A5568' }, cellStyle: { background: { color: '#F7F9FC' } } },&#10;        ],&#10;        [&#10;          { text: 'Why the broken one fails', textStyle: { bold: true, color: '#0E3F8C' } },&#10;          { text: 'It only describes success. When payment fails at step 6, this sentence is simply false — and nothing warns anyone.', textStyle: { color: '#4A5568' } },&#10;          { text: 'The unhappy branch leaves the system in a state nobody wrote down.', textStyle: { color: '#4A5568' } },&#10;          { text: 'Given: a failed payment, the order is Cancelled and no kitchen ticket was ever printed.', textStyle: { color: '#4A5568' } },&#10;        ],&#10;        [&#10;          { text: 'Trigger', textStyle: { bold: true, color: '#0E3F8C' }, cellStyle: { background: { color: '#F7F9FC' } } },&#10;          { text: 'The event that starts the use case. One line, in the actor’s language.', textStyle: { color: '#4A5568' }, cellStyle: { background: { color: '#F7F9FC' } } },&#10;          { text: '—', textStyle: { color: '#8B97A8' }, cellStyle: { background: { color: '#F7F9FC' } } },&#10;          { text: 'The student selects Confirm on the cart summary.', textStyle: { color: '#4A5568' }, cellStyle: { background: { color: '#F7F9FC' } } },&#10;        ],&#10;      ]}&#10;    /&gt;&#10;  &lt;/Box&gt;&#10;  &lt;Box style={{ height: 46, background: '#0E3F8C', padding: '0 40px', flexDirection: 'row', alignItems: 'center', justifyContent: 'center' }}&gt;&#10;    &lt;Text style={{ fontSize: 16.5, color: '#FFFFFF', fontWeight: '600' }}&gt;A postcondition that only covers success is not a postcondition — it is an outcome.&lt;/Text&gt;&#10;  &lt;/Box&gt;&#10;&lt;/Slide&gt;&#10;"/>
        <p:cNvGrpSpPr/>
        <p:nvPr/>
      </p:nvGrpSpPr>
      <p:grpSpPr>
        <a:xfrm>
          <a:off x="0" y="0"/>
          <a:ext cx="0" cy="0"/>
          <a:chOff x="0" y="0"/>
          <a:chExt cx="0" cy="0"/>
        </a:xfrm>
      </p:grpSpPr>
      <p:sp>
        <p:nvSpPr>
          <p:cNvPr id="628" name=""/>
          <p:cNvSpPr/>
          <p:nvPr/>
        </p:nvSpPr>
        <p:spPr>
          <a:xfrm rot="0" flipH="0" flipV="0">
            <a:off x="0" y="0"/>
            <a:ext cx="12192000" cy="6858000"/>
          </a:xfrm>
          <a:prstGeom prst="rect">
            <a:avLst/>
          </a:prstGeom>
          <a:solidFill>
            <a:srgbClr val="FFFFFF"/>
          </a:solidFill>
          <a:ln/>
        </p:spPr>
        <p:txBody>
          <a:bodyPr/>
          <a:p/>
        </p:txBody>
      </p:sp>
      <p:sp>
        <p:nvSpPr>
          <p:cNvPr id="629" name=""/>
          <p:cNvSpPr/>
          <p:nvPr/>
        </p:nvSpPr>
        <p:spPr>
          <a:xfrm rot="0" flipH="0" flipV="0">
            <a:off x="0" y="0"/>
            <a:ext cx="12192000" cy="685800"/>
          </a:xfrm>
          <a:prstGeom prst="rect">
            <a:avLst/>
          </a:prstGeom>
          <a:solidFill>
            <a:srgbClr val="1E4FA8"/>
          </a:solidFill>
          <a:ln/>
        </p:spPr>
        <p:txBody>
          <a:bodyPr/>
          <a:p/>
        </p:txBody>
      </p:sp>
      <p:sp>
        <p:nvSpPr>
          <p:cNvPr id="630"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631" name="" descr="{&quot;isTemplate&quot;:true,&quot;type&quot;:&quot;text&quot;}"/>
          <p:cNvSpPr txBox="1"/>
          <p:nvPr/>
        </p:nvSpPr>
        <p:spPr>
          <a:xfrm rot="0" flipH="0" flipV="0">
            <a:off x="9886950" y="257175"/>
            <a:ext cx="1924050" cy="171450"/>
          </a:xfrm>
          <a:prstGeom prst="rect"/>
        </p:spPr>
        <p:txBody>
          <a:bodyPr wrap="none" lIns="0" tIns="0" rIns="0" bIns="0"/>
          <a:p>
            <a:pPr>
              <a:lnSpc>
                <a:spcPct val="100000"/>
              </a:lnSpc>
            </a:pPr>
            <a:r>
              <a:rPr lang="en-US" sz="1125">
                <a:solidFill>
                  <a:srgbClr val="B9CDF0"/>
                </a:solidFill>
                <a:latin typeface="Microsoft YaHei"/>
                <a:ea typeface="Microsoft YaHei"/>
              </a:rPr>
              <a:t>W05 · ANATOMY OF A SPEC</a:t>
            </a:r>
            <a:endParaRPr/>
          </a:p>
        </p:txBody>
      </p:sp>
      <p:sp>
        <p:nvSpPr>
          <p:cNvPr id="632" name="" descr="{&quot;isTemplate&quot;:true,&quot;type&quot;:&quot;text&quot;}"/>
          <p:cNvSpPr txBox="1"/>
          <p:nvPr/>
        </p:nvSpPr>
        <p:spPr>
          <a:xfrm rot="0" flipH="0" flipV="0">
            <a:off x="381000" y="809625"/>
            <a:ext cx="4191000" cy="333375"/>
          </a:xfrm>
          <a:prstGeom prst="rect"/>
        </p:spPr>
        <p:txBody>
          <a:bodyPr wrap="none" lIns="0" tIns="0" rIns="0" bIns="0"/>
          <a:p>
            <a:pPr>
              <a:lnSpc>
                <a:spcPct val="100000"/>
              </a:lnSpc>
            </a:pPr>
            <a:r>
              <a:rPr lang="en-US" sz="2175" b="1">
                <a:solidFill>
                  <a:srgbClr val="0E3F8C"/>
                </a:solidFill>
                <a:latin typeface="Microsoft YaHei"/>
                <a:ea typeface="Microsoft YaHei"/>
              </a:rPr>
              <a:t>Preconditions &amp; Postconditions</a:t>
            </a:r>
            <a:endParaRPr/>
          </a:p>
        </p:txBody>
      </p:sp>
      <p:sp>
        <p:nvSpPr>
          <p:cNvPr id="633"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06 / 38</a:t>
            </a:r>
            <a:endParaRPr/>
          </a:p>
        </p:txBody>
      </p:sp>
      <p:graphicFrame>
        <p:nvGraphicFramePr>
          <p:cNvPr id="634" name=""/>
          <p:cNvGraphicFramePr/>
          <p:nvPr/>
        </p:nvGraphicFramePr>
        <p:xfrm rot="0" flipH="0" flipV="0">
          <a:off x="381000" y="1238250"/>
          <a:ext cx="11430000" cy="5181600"/>
        </p:xfrm>
        <a:graphic>
          <a:graphicData uri="http://schemas.openxmlformats.org/drawingml/2006/table">
            <a:tbl>
              <a:tblGrid>
                <a:gridCol w="930910">
                  <a:extLst>
                    <a:ext uri="{9D8B030D-6E8A-4147-A177-3AD203B41FA5}">
                      <a16:colId val="1"/>
                    </a:ext>
                  </a:extLst>
                </a:gridCol>
                <a:gridCol w="4163848">
                  <a:extLst>
                    <a:ext uri="{9D8B030D-6E8A-4147-A177-3AD203B41FA5}">
                      <a16:colId val="2"/>
                    </a:ext>
                  </a:extLst>
                </a:gridCol>
                <a:gridCol w="2731256">
                  <a:extLst>
                    <a:ext uri="{9D8B030D-6E8A-4147-A177-3AD203B41FA5}">
                      <a16:colId val="3"/>
                    </a:ext>
                  </a:extLst>
                </a:gridCol>
                <a:gridCol w="3603985">
                  <a:extLst>
                    <a:ext uri="{9D8B030D-6E8A-4147-A177-3AD203B41FA5}">
                      <a16:colId val="4"/>
                    </a:ext>
                  </a:extLst>
                </a:gridCol>
              </a:tblGrid>
              <a:tr h="553919">
                <a:tc>
                  <a:txBody>
                    <a:bodyPr wrap="square" lIns="0" tIns="0" rIns="0" bIns="0" anchor="ctr">
                      <a:normAutofit/>
                    </a:bodyPr>
                    <a:p>
                      <a:pPr marL="114300" marR="114300" algn="l">
                        <a:lnSpc>
                          <a:spcPct val="120000"/>
                        </a:lnSpc>
                      </a:pP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What it means</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Broken version</a:t>
                      </a:r>
                      <a:endParaRPr/>
                    </a:p>
                  </a:txBody>
                  <a:tcPr marL="45720" marR="45720" marT="45720" marB="45720" anchor="ctr">
                    <a:lnL>
                      <a:noFill/>
                    </a:lnL>
                    <a:lnR>
                      <a:noFill/>
                    </a:lnR>
                    <a:lnT>
                      <a:noFill/>
                    </a:lnT>
                    <a:lnB>
                      <a:noFill/>
                    </a:lnB>
                    <a:solidFill>
                      <a:srgbClr val="8B3230"/>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Correct version</a:t>
                      </a:r>
                      <a:endParaRPr/>
                    </a:p>
                  </a:txBody>
                  <a:tcPr marL="45720" marR="45720" marT="45720" marB="45720" anchor="ctr">
                    <a:lnL>
                      <a:noFill/>
                    </a:lnL>
                    <a:lnR>
                      <a:noFill/>
                    </a:lnR>
                    <a:lnT>
                      <a:noFill/>
                    </a:lnT>
                    <a:lnB>
                      <a:noFill/>
                    </a:lnB>
                    <a:solidFill>
                      <a:srgbClr val="2B5793"/>
                    </a:solidFill>
                  </a:tcPr>
                </a:tc>
                <a:extLst>
                  <a:ext uri="{0D108BD9-81ED-4DB2-BD59-A6C34878D82A}">
                    <a16:rowId val="1"/>
                  </a:ext>
                </a:extLst>
              </a:tr>
              <a:tr h="851914">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Precondition</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State that must already be true before the first step. It is not a step.</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student is logged in.</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student is authenticated and has an open campus menu for today.</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1202496">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Why the broken one fails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tester reads it and asks: logged in since when? With which role? An unanswerable precondition creates an unrunnable test.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Nothing tells the tester what to set up, so they test whatever they happen to have.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Given: an authenticated session for a student with at least one restaurant open.</a:t>
                      </a:r>
                      <a:endParaRPr/>
                    </a:p>
                  </a:txBody>
                  <a:tcPr marL="45720" marR="45720" marT="45720" marB="45720" anchor="ctr">
                    <a:lnL>
                      <a:noFill/>
                    </a:lnL>
                    <a:lnR>
                      <a:noFill/>
                    </a:lnR>
                    <a:lnT>
                      <a:noFill/>
                    </a:lnT>
                    <a:lnB>
                      <a:noFill/>
                    </a:lnB>
                  </a:tcPr>
                </a:tc>
                <a:extLst>
                  <a:ext uri="{0D108BD9-81ED-4DB2-BD59-A6C34878D82A}">
                    <a16:rowId val="3"/>
                  </a:ext>
                </a:extLst>
              </a:tr>
              <a:tr h="851914">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Postcondition</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State that is guaranteed once the use case ends — whether it succeeded or failed.</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order is created.</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An order exists in state Accepted or Cancelled, and the student holds exactly one open order per restaurant.</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1202496">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Why the broken one fails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It only describes success. When payment fails at step 6, this sentence is simply false — and nothing warns anyone.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unhappy branch leaves the system in a state nobody wrote down.</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Given: a failed payment, the order is Cancelled and no kitchen ticket was ever printed.</a:t>
                      </a:r>
                      <a:endParaRPr/>
                    </a:p>
                  </a:txBody>
                  <a:tcPr marL="45720" marR="45720" marT="45720" marB="45720" anchor="ctr">
                    <a:lnL>
                      <a:noFill/>
                    </a:lnL>
                    <a:lnR>
                      <a:noFill/>
                    </a:lnR>
                    <a:lnT>
                      <a:noFill/>
                    </a:lnT>
                    <a:lnB>
                      <a:noFill/>
                    </a:lnB>
                  </a:tcPr>
                </a:tc>
                <a:extLst>
                  <a:ext uri="{0D108BD9-81ED-4DB2-BD59-A6C34878D82A}">
                    <a16:rowId val="5"/>
                  </a:ext>
                </a:extLst>
              </a:tr>
              <a:tr h="518861">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Trigger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event that starts the use case. One line, in the actor’s language.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8B97A8"/>
                          </a:solidFill>
                          <a:latin typeface="Microsoft YaHei"/>
                          <a:ea typeface="Microsoft YaHei"/>
                        </a:rPr>
                        <a: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student selects Confirm on the cart summary.</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bl>
          </a:graphicData>
        </a:graphic>
      </p:graphicFrame>
      <p:sp>
        <p:nvSpPr>
          <p:cNvPr id="635" name=""/>
          <p:cNvSpPr/>
          <p:nvPr/>
        </p:nvSpPr>
        <p:spPr>
          <a:xfrm rot="0" flipH="0" flipV="0">
            <a:off x="0" y="6419850"/>
            <a:ext cx="12192000" cy="438150"/>
          </a:xfrm>
          <a:prstGeom prst="rect">
            <a:avLst/>
          </a:prstGeom>
          <a:solidFill>
            <a:srgbClr val="0E3F8C"/>
          </a:solidFill>
          <a:ln/>
        </p:spPr>
        <p:txBody>
          <a:bodyPr/>
          <a:p/>
        </p:txBody>
      </p:sp>
      <p:sp>
        <p:nvSpPr>
          <p:cNvPr id="636" name="" descr="{&quot;isTemplate&quot;:true,&quot;type&quot;:&quot;text&quot;}"/>
          <p:cNvSpPr txBox="1"/>
          <p:nvPr/>
        </p:nvSpPr>
        <p:spPr>
          <a:xfrm rot="0" flipH="0" flipV="0">
            <a:off x="2962275" y="6543675"/>
            <a:ext cx="6276975" cy="190500"/>
          </a:xfrm>
          <a:prstGeom prst="rect"/>
        </p:spPr>
        <p:txBody>
          <a:bodyPr wrap="none" lIns="0" tIns="0" rIns="0" bIns="0"/>
          <a:p>
            <a:pPr>
              <a:lnSpc>
                <a:spcPct val="100000"/>
              </a:lnSpc>
            </a:pPr>
            <a:r>
              <a:rPr lang="en-US" sz="1238" b="1">
                <a:solidFill>
                  <a:srgbClr val="FFFFFF"/>
                </a:solidFill>
                <a:latin typeface="Microsoft YaHei"/>
                <a:ea typeface="Microsoft YaHei"/>
              </a:rPr>
              <a:t>A postcondition that only covers success is not a postcondition — it is an outcome.</a:t>
            </a:r>
            <a:endParaRPr/>
          </a:p>
        </p:txBody>
      </p:sp>
    </p:spTree>
  </p:cSld>
</p:sld>
</file>

<file path=ppt/slides/slide7.xml><?xml version="1.0" encoding="utf-8"?>
<p:sld xmlns:p="http://schemas.openxmlformats.org/presentationml/2006/main" xmlns:a="http://schemas.openxmlformats.org/drawingml/2006/main">
  <p:cSld>
    <p:spTree>
      <p:nvGrpSpPr>
        <p:cNvPr id="637"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ANATOMY OF A SPEC&lt;/Text&gt;&#10;  &lt;/Box&gt;&#10;  &lt;Box style={{ padding: '13px 40px 0 40px', flexDirection: 'row', alignItems: 'center', justifyContent: 'space-between' }}&gt;&#10;    &lt;Text style={{ fontSize: 29, fontWeight: 'bold', color: '#0E3F8C' }}&gt;A Skeleton You Can Copy&lt;/Text&gt;&#10;    &lt;Text style={{ fontSize: 14, color: '#1E4FA8', fontWeight: 'bold' }}&gt;07 / 38&lt;/Text&gt;&#10;  &lt;/Box&gt;&#10;  &lt;Box style={{ flex: 1, padding: '10px 40px 0 40px', flexDirection: 'row', gap: 26 }}&gt;&#10;    &lt;Box style={{ flex: 5, justifyContent: 'center' }}&gt;&#10;      &lt;CodeBlock theme='one-dark-pro' code={`Use Case:      Place Order&#10;Scope:         CampusBites&#10;Level:         User goal&#10;Primary actor: Student&#10;Secondary:     Campus Card Centre, Payment Provider&#10;&#10;Preconditions:&#10;  - Student is authenticated for this campus.&#10;  - Today's menu is published; at least one item&#10;    is marked available.&#10;&#10;Trigger:       Student confirms the cart summary.&#10;&#10;Main success scenario:&#10;  1  Student reviews the cart total.&#10;  2  System displays the payable amount.&#10;  3  Student chooses a payment method.&#10;  4  System authorises the amount with the provider.&#10;  5  System creates the order in state Accepted.&#10;  6  System prints a kitchen ticket.&#10;  7  System notifies the student of the order time.&#10;&#10;Extensions:&#10;  4a Item became sold out:&#10;      System reports the item and offers an update.&#10;  4b Authorisation declined:&#10;      see Exceptions.&#10;&#10;Exceptions:&#10;  4c  Payment provider unavailable:&#10;      System creates the order in state Pending&#10;      Payment and notifies the student.&#10;      Order is not printed.&#10;&#10;Postconditions:&#10;  - Order exists in Accepted or Pending Payment.&#10;  - Student holds at most one open order per&#10;    restaurant.`} language='text' /&gt;&#10;    &lt;/Box&gt;&#10;    &lt;Box style={{ flex: 2, flexDirection: 'column', justifyContent: 'center', gap: 12 }}&gt;&#10;      &lt;Box style={{ padding: '15px 17px', background: '#F0F5FC', borderRadius: 9, borderLeft: '4px solid #1E4FA8' }}&gt;&#10;        &lt;Text style={{ fontSize: 15.5, fontWeight: 'bold', color: '#0E3F8C' }}&gt;Copy this shape&lt;/Text&gt;&#10;        &lt;Text style={{ fontSize: 12.8, color: '#4A5568', lineHeight: 1.6, marginTop: 5 }}&gt;&#10;          Same headings, same order, every time. Consistency is what makes two specs comparable in a review.&#10;        &lt;/Text&gt;&#10;      &lt;/Box&gt;&#10;      &lt;Box style={{ padding: '15px 17px', background: '#FFFFFF', borderRadius: 9, border: '1px solid #D6DCE5' }}&gt;&#10;        &lt;Text style={{ fontSize: 15.5, fontWeight: 'bold', color: '#0E3F8C' }}&gt;Note the numbering&lt;/Text&gt;&#10;        &lt;Text style={{ fontSize: 12.8, color: '#4A5568', lineHeight: 1.6, marginTop: 5 }}&gt;&#10;          Main steps are 1–7. Branches hang off the step they interrupt: 4a, 4b, 4c — never 7.5, never a second list.&#10;        &lt;/Text&gt;&#10;      &lt;/Box&gt;&#10;      &lt;Box style={{ padding: '15px 17px', background: '#FFF6E0', borderRadius: 9, borderLeft: '4px solid #FFC107' }}&gt;&#10;        &lt;Text style={{ fontSize: 15.5, fontWeight: 'bold', color: '#996F00' }}&gt;Two branches, one step&lt;/Text&gt;&#10;        &lt;Text style={{ fontSize: 12.8, color: '#4A5568', lineHeight: 1.6, marginTop: 5 }}&gt;&#10;          This spec branches at step 4 only. One interruption point with three outcomes is easier to test than three loose ones.&#10;        &lt;/Text&gt;&#10;      &lt;/Box&gt;&#10;      &lt;Box style={{ padding: '12px 16px', background: '#F7F9FC', borderRadius: 8, border: '1px dashed #D6DCE5' }}&gt;&#10;        &lt;Text style={{ fontSize: 12.8, color: '#8B97A8', lineHeight: 1.6 }}&gt;&#10;          Keep the template in your repo as `templates/use-case-spec.md`. Never retype it from memory.&#10;        &lt;/Text&gt;&#10;      &lt;/Box&gt;&#10;    &lt;/Box&gt;&#10;  &lt;/Box&gt;&#10;  &lt;Box style={{ height: 46, background: '#0E3F8C', padding: '0 40px', flexDirection: 'row', alignItems: 'center', justifyContent: 'center' }}&gt;&#10;    &lt;Text style={{ fontSize: 16.5, color: '#FFFFFF', fontWeight: '600' }}&gt;Write the skeleton once. After that you only fill it in.&lt;/Text&gt;&#10;  &lt;/Box&gt;&#10;&lt;/Slide&gt;&#10;"/>
        <p:cNvGrpSpPr/>
        <p:nvPr/>
      </p:nvGrpSpPr>
      <p:grpSpPr>
        <a:xfrm>
          <a:off x="0" y="0"/>
          <a:ext cx="0" cy="0"/>
          <a:chOff x="0" y="0"/>
          <a:chExt cx="0" cy="0"/>
        </a:xfrm>
      </p:grpSpPr>
      <p:sp>
        <p:nvSpPr>
          <p:cNvPr id="638" name=""/>
          <p:cNvSpPr/>
          <p:nvPr/>
        </p:nvSpPr>
        <p:spPr>
          <a:xfrm rot="0" flipH="0" flipV="0">
            <a:off x="0" y="0"/>
            <a:ext cx="12192000" cy="6858000"/>
          </a:xfrm>
          <a:prstGeom prst="rect">
            <a:avLst/>
          </a:prstGeom>
          <a:solidFill>
            <a:srgbClr val="FFFFFF"/>
          </a:solidFill>
          <a:ln/>
        </p:spPr>
        <p:txBody>
          <a:bodyPr/>
          <a:p/>
        </p:txBody>
      </p:sp>
      <p:sp>
        <p:nvSpPr>
          <p:cNvPr id="639" name=""/>
          <p:cNvSpPr/>
          <p:nvPr/>
        </p:nvSpPr>
        <p:spPr>
          <a:xfrm rot="0" flipH="0" flipV="0">
            <a:off x="0" y="0"/>
            <a:ext cx="12192000" cy="685800"/>
          </a:xfrm>
          <a:prstGeom prst="rect">
            <a:avLst/>
          </a:prstGeom>
          <a:solidFill>
            <a:srgbClr val="1E4FA8"/>
          </a:solidFill>
          <a:ln/>
        </p:spPr>
        <p:txBody>
          <a:bodyPr/>
          <a:p/>
        </p:txBody>
      </p:sp>
      <p:sp>
        <p:nvSpPr>
          <p:cNvPr id="640"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641" name="" descr="{&quot;isTemplate&quot;:true,&quot;type&quot;:&quot;text&quot;}"/>
          <p:cNvSpPr txBox="1"/>
          <p:nvPr/>
        </p:nvSpPr>
        <p:spPr>
          <a:xfrm rot="0" flipH="0" flipV="0">
            <a:off x="9886950" y="257175"/>
            <a:ext cx="1924050" cy="171450"/>
          </a:xfrm>
          <a:prstGeom prst="rect"/>
        </p:spPr>
        <p:txBody>
          <a:bodyPr wrap="none" lIns="0" tIns="0" rIns="0" bIns="0"/>
          <a:p>
            <a:pPr>
              <a:lnSpc>
                <a:spcPct val="100000"/>
              </a:lnSpc>
            </a:pPr>
            <a:r>
              <a:rPr lang="en-US" sz="1125">
                <a:solidFill>
                  <a:srgbClr val="B9CDF0"/>
                </a:solidFill>
                <a:latin typeface="Microsoft YaHei"/>
                <a:ea typeface="Microsoft YaHei"/>
              </a:rPr>
              <a:t>W05 · ANATOMY OF A SPEC</a:t>
            </a:r>
            <a:endParaRPr/>
          </a:p>
        </p:txBody>
      </p:sp>
      <p:sp>
        <p:nvSpPr>
          <p:cNvPr id="642" name="" descr="{&quot;isTemplate&quot;:true,&quot;type&quot;:&quot;text&quot;}"/>
          <p:cNvSpPr txBox="1"/>
          <p:nvPr/>
        </p:nvSpPr>
        <p:spPr>
          <a:xfrm rot="0" flipH="0" flipV="0">
            <a:off x="381000" y="809625"/>
            <a:ext cx="3371850" cy="333375"/>
          </a:xfrm>
          <a:prstGeom prst="rect"/>
        </p:spPr>
        <p:txBody>
          <a:bodyPr wrap="none" lIns="0" tIns="0" rIns="0" bIns="0"/>
          <a:p>
            <a:pPr>
              <a:lnSpc>
                <a:spcPct val="100000"/>
              </a:lnSpc>
            </a:pPr>
            <a:r>
              <a:rPr lang="en-US" sz="2175" b="1">
                <a:solidFill>
                  <a:srgbClr val="0E3F8C"/>
                </a:solidFill>
                <a:latin typeface="Microsoft YaHei"/>
                <a:ea typeface="Microsoft YaHei"/>
              </a:rPr>
              <a:t>A Skeleton You Can Copy</a:t>
            </a:r>
            <a:endParaRPr/>
          </a:p>
        </p:txBody>
      </p:sp>
      <p:sp>
        <p:nvSpPr>
          <p:cNvPr id="643"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07 / 38</a:t>
            </a:r>
            <a:endParaRPr/>
          </a:p>
        </p:txBody>
      </p:sp>
      <p:sp>
        <p:nvSpPr>
          <p:cNvPr id="644" name=""/>
          <p:cNvSpPr/>
          <p:nvPr/>
        </p:nvSpPr>
        <p:spPr>
          <a:xfrm rot="0" flipH="0" flipV="0">
            <a:off x="8658225" y="1743075"/>
            <a:ext cx="3190875" cy="1219200"/>
          </a:xfrm>
          <a:prstGeom prst="roundRect">
            <a:avLst>
              <a:gd name="adj" fmla="val 7031"/>
            </a:avLst>
          </a:prstGeom>
          <a:solidFill>
            <a:srgbClr val="F0F5FC"/>
          </a:solidFill>
          <a:ln/>
        </p:spPr>
        <p:txBody>
          <a:bodyPr/>
          <a:p/>
        </p:txBody>
      </p:sp>
      <p:sp>
        <p:nvSpPr>
          <p:cNvPr id="645" name=""/>
          <p:cNvSpPr/>
          <p:nvPr/>
        </p:nvSpPr>
        <p:spPr>
          <a:xfrm rot="0" flipH="0" flipV="0">
            <a:off x="8658225" y="1743075"/>
            <a:ext cx="3190875" cy="1219200"/>
          </a:xfrm>
          <a:custGeom>
            <a:pathLst>
              <a:path w="335" h="128">
                <a:moveTo>
                  <a:pt x="9" y="0"/>
                </a:moveTo>
                <a:cubicBezTo>
                  <a:pt x="6" y="0"/>
                  <a:pt x="4" y="2"/>
                  <a:pt x="4" y="5"/>
                </a:cubicBezTo>
                <a:lnTo>
                  <a:pt x="4" y="123"/>
                </a:lnTo>
                <a:cubicBezTo>
                  <a:pt x="4" y="125"/>
                  <a:pt x="6" y="127"/>
                  <a:pt x="8" y="128"/>
                </a:cubicBezTo>
                <a:cubicBezTo>
                  <a:pt x="4" y="128"/>
                  <a:pt x="0" y="124"/>
                  <a:pt x="0" y="119"/>
                </a:cubicBezTo>
                <a:lnTo>
                  <a:pt x="0" y="9"/>
                </a:lnTo>
                <a:cubicBezTo>
                  <a:pt x="0" y="4"/>
                  <a:pt x="4" y="0"/>
                  <a:pt x="9" y="0"/>
                </a:cubicBezTo>
                <a:close/>
              </a:path>
            </a:pathLst>
          </a:custGeom>
          <a:solidFill>
            <a:srgbClr val="1E4FA8"/>
          </a:solidFill>
          <a:ln/>
        </p:spPr>
        <p:txBody>
          <a:bodyPr/>
          <a:p/>
        </p:txBody>
      </p:sp>
      <p:sp>
        <p:nvSpPr>
          <p:cNvPr id="646" name="" descr="{&quot;isTemplate&quot;:true,&quot;type&quot;:&quot;text&quot;}"/>
          <p:cNvSpPr txBox="1"/>
          <p:nvPr/>
        </p:nvSpPr>
        <p:spPr>
          <a:xfrm rot="0" flipH="0" flipV="0">
            <a:off x="8820150" y="1885950"/>
            <a:ext cx="2828925" cy="180975"/>
          </a:xfrm>
          <a:prstGeom prst="rect"/>
        </p:spPr>
        <p:txBody>
          <a:bodyPr wrap="none" lIns="0" tIns="0" rIns="0" bIns="0"/>
          <a:p>
            <a:pPr>
              <a:lnSpc>
                <a:spcPct val="100000"/>
              </a:lnSpc>
            </a:pPr>
            <a:r>
              <a:rPr lang="en-US" sz="1163" b="1">
                <a:solidFill>
                  <a:srgbClr val="0E3F8C"/>
                </a:solidFill>
                <a:latin typeface="Microsoft YaHei"/>
                <a:ea typeface="Microsoft YaHei"/>
              </a:rPr>
              <a:t>Copy this shape</a:t>
            </a:r>
            <a:endParaRPr/>
          </a:p>
        </p:txBody>
      </p:sp>
      <p:sp>
        <p:nvSpPr>
          <p:cNvPr id="647" name="" descr="{&quot;isTemplate&quot;:true,&quot;type&quot;:&quot;text&quot;}"/>
          <p:cNvSpPr txBox="1"/>
          <p:nvPr/>
        </p:nvSpPr>
        <p:spPr>
          <a:xfrm rot="0" flipH="0" flipV="0">
            <a:off x="8820150" y="2114550"/>
            <a:ext cx="2828925" cy="7048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Same headings, same order, every time. Consistency is what makes two specs comparable in a review.</a:t>
            </a:r>
            <a:endParaRPr/>
          </a:p>
        </p:txBody>
      </p:sp>
      <p:sp>
        <p:nvSpPr>
          <p:cNvPr id="648" name=""/>
          <p:cNvSpPr/>
          <p:nvPr/>
        </p:nvSpPr>
        <p:spPr>
          <a:xfrm rot="0" flipH="0" flipV="0">
            <a:off x="8620125" y="3076575"/>
            <a:ext cx="3190875" cy="990600"/>
          </a:xfrm>
          <a:prstGeom prst="roundRect">
            <a:avLst>
              <a:gd name="adj" fmla="val 8654"/>
            </a:avLst>
          </a:prstGeom>
          <a:solidFill>
            <a:srgbClr val="FFFFFF"/>
          </a:solidFill>
          <a:ln w="12700">
            <a:solidFill>
              <a:srgbClr val="D6DCE5"/>
            </a:solidFill>
            <a:prstDash val="solid"/>
          </a:ln>
        </p:spPr>
        <p:txBody>
          <a:bodyPr/>
          <a:p/>
        </p:txBody>
      </p:sp>
      <p:sp>
        <p:nvSpPr>
          <p:cNvPr id="649" name="" descr="{&quot;isTemplate&quot;:true,&quot;type&quot;:&quot;text&quot;}"/>
          <p:cNvSpPr txBox="1"/>
          <p:nvPr/>
        </p:nvSpPr>
        <p:spPr>
          <a:xfrm rot="0" flipH="0" flipV="0">
            <a:off x="8782050" y="3219450"/>
            <a:ext cx="2867025" cy="180975"/>
          </a:xfrm>
          <a:prstGeom prst="rect"/>
        </p:spPr>
        <p:txBody>
          <a:bodyPr wrap="none" lIns="0" tIns="0" rIns="0" bIns="0"/>
          <a:p>
            <a:pPr>
              <a:lnSpc>
                <a:spcPct val="100000"/>
              </a:lnSpc>
            </a:pPr>
            <a:r>
              <a:rPr lang="en-US" sz="1163" b="1">
                <a:solidFill>
                  <a:srgbClr val="0E3F8C"/>
                </a:solidFill>
                <a:latin typeface="Microsoft YaHei"/>
                <a:ea typeface="Microsoft YaHei"/>
              </a:rPr>
              <a:t>Note the numbering</a:t>
            </a:r>
            <a:endParaRPr/>
          </a:p>
        </p:txBody>
      </p:sp>
      <p:sp>
        <p:nvSpPr>
          <p:cNvPr id="650" name="" descr="{&quot;isTemplate&quot;:true,&quot;type&quot;:&quot;text&quot;}"/>
          <p:cNvSpPr txBox="1"/>
          <p:nvPr/>
        </p:nvSpPr>
        <p:spPr>
          <a:xfrm rot="0" flipH="0" flipV="0">
            <a:off x="8782050" y="3448050"/>
            <a:ext cx="2867025" cy="4762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Main steps are 1–7. Branches hang off the step they interrupt: 4a, 4b, 4c — never 7.5, never a second list.</a:t>
            </a:r>
            <a:endParaRPr/>
          </a:p>
        </p:txBody>
      </p:sp>
      <p:sp>
        <p:nvSpPr>
          <p:cNvPr id="651" name=""/>
          <p:cNvSpPr/>
          <p:nvPr/>
        </p:nvSpPr>
        <p:spPr>
          <a:xfrm rot="0" flipH="0" flipV="0">
            <a:off x="8658225" y="4181475"/>
            <a:ext cx="3190875" cy="1219200"/>
          </a:xfrm>
          <a:prstGeom prst="roundRect">
            <a:avLst>
              <a:gd name="adj" fmla="val 7031"/>
            </a:avLst>
          </a:prstGeom>
          <a:solidFill>
            <a:srgbClr val="FFF6E0"/>
          </a:solidFill>
          <a:ln/>
        </p:spPr>
        <p:txBody>
          <a:bodyPr/>
          <a:p/>
        </p:txBody>
      </p:sp>
      <p:sp>
        <p:nvSpPr>
          <p:cNvPr id="652" name=""/>
          <p:cNvSpPr/>
          <p:nvPr/>
        </p:nvSpPr>
        <p:spPr>
          <a:xfrm rot="0" flipH="0" flipV="0">
            <a:off x="8658225" y="4181475"/>
            <a:ext cx="3190875" cy="1219200"/>
          </a:xfrm>
          <a:custGeom>
            <a:pathLst>
              <a:path w="335" h="128">
                <a:moveTo>
                  <a:pt x="9" y="0"/>
                </a:moveTo>
                <a:cubicBezTo>
                  <a:pt x="6" y="0"/>
                  <a:pt x="4" y="2"/>
                  <a:pt x="4" y="5"/>
                </a:cubicBezTo>
                <a:lnTo>
                  <a:pt x="4" y="123"/>
                </a:lnTo>
                <a:cubicBezTo>
                  <a:pt x="4" y="125"/>
                  <a:pt x="6" y="127"/>
                  <a:pt x="8" y="128"/>
                </a:cubicBezTo>
                <a:cubicBezTo>
                  <a:pt x="4" y="128"/>
                  <a:pt x="0" y="124"/>
                  <a:pt x="0" y="119"/>
                </a:cubicBezTo>
                <a:lnTo>
                  <a:pt x="0" y="9"/>
                </a:lnTo>
                <a:cubicBezTo>
                  <a:pt x="0" y="4"/>
                  <a:pt x="4" y="0"/>
                  <a:pt x="9" y="0"/>
                </a:cubicBezTo>
                <a:close/>
              </a:path>
            </a:pathLst>
          </a:custGeom>
          <a:solidFill>
            <a:srgbClr val="FFC107"/>
          </a:solidFill>
          <a:ln/>
        </p:spPr>
        <p:txBody>
          <a:bodyPr/>
          <a:p/>
        </p:txBody>
      </p:sp>
      <p:sp>
        <p:nvSpPr>
          <p:cNvPr id="653" name="" descr="{&quot;isTemplate&quot;:true,&quot;type&quot;:&quot;text&quot;}"/>
          <p:cNvSpPr txBox="1"/>
          <p:nvPr/>
        </p:nvSpPr>
        <p:spPr>
          <a:xfrm rot="0" flipH="0" flipV="0">
            <a:off x="8820150" y="4324350"/>
            <a:ext cx="2828925" cy="180975"/>
          </a:xfrm>
          <a:prstGeom prst="rect"/>
        </p:spPr>
        <p:txBody>
          <a:bodyPr wrap="none" lIns="0" tIns="0" rIns="0" bIns="0"/>
          <a:p>
            <a:pPr>
              <a:lnSpc>
                <a:spcPct val="100000"/>
              </a:lnSpc>
            </a:pPr>
            <a:r>
              <a:rPr lang="en-US" sz="1163" b="1">
                <a:solidFill>
                  <a:srgbClr val="996F00"/>
                </a:solidFill>
                <a:latin typeface="Microsoft YaHei"/>
                <a:ea typeface="Microsoft YaHei"/>
              </a:rPr>
              <a:t>Two branches, one step</a:t>
            </a:r>
            <a:endParaRPr/>
          </a:p>
        </p:txBody>
      </p:sp>
      <p:sp>
        <p:nvSpPr>
          <p:cNvPr id="654" name="" descr="{&quot;isTemplate&quot;:true,&quot;type&quot;:&quot;text&quot;}"/>
          <p:cNvSpPr txBox="1"/>
          <p:nvPr/>
        </p:nvSpPr>
        <p:spPr>
          <a:xfrm rot="0" flipH="0" flipV="0">
            <a:off x="8820150" y="4552950"/>
            <a:ext cx="2828925" cy="7048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This spec branches at step 4 only. One interruption point with three outcomes is easier to test than three loose ones.</a:t>
            </a:r>
            <a:endParaRPr/>
          </a:p>
        </p:txBody>
      </p:sp>
      <p:sp>
        <p:nvSpPr>
          <p:cNvPr id="655" name=""/>
          <p:cNvSpPr/>
          <p:nvPr/>
        </p:nvSpPr>
        <p:spPr>
          <a:xfrm rot="0" flipH="0" flipV="0">
            <a:off x="8620125" y="5514975"/>
            <a:ext cx="3190875" cy="704850"/>
          </a:xfrm>
          <a:prstGeom prst="roundRect">
            <a:avLst>
              <a:gd name="adj" fmla="val 10811"/>
            </a:avLst>
          </a:prstGeom>
          <a:solidFill>
            <a:srgbClr val="F7F9FC"/>
          </a:solidFill>
          <a:ln w="12700">
            <a:solidFill>
              <a:srgbClr val="D6DCE5"/>
            </a:solidFill>
            <a:prstDash val="dash"/>
          </a:ln>
        </p:spPr>
        <p:txBody>
          <a:bodyPr/>
          <a:p/>
        </p:txBody>
      </p:sp>
      <p:sp>
        <p:nvSpPr>
          <p:cNvPr id="656" name="" descr="{&quot;isTemplate&quot;:true,&quot;type&quot;:&quot;text&quot;}"/>
          <p:cNvSpPr txBox="1"/>
          <p:nvPr/>
        </p:nvSpPr>
        <p:spPr>
          <a:xfrm rot="0" flipH="0" flipV="0">
            <a:off x="8772525" y="5629275"/>
            <a:ext cx="2886075" cy="476250"/>
          </a:xfrm>
          <a:prstGeom prst="rect"/>
        </p:spPr>
        <p:txBody>
          <a:bodyPr wrap="square" lIns="0" tIns="0" rIns="0" bIns="0">
            <a:normAutofit/>
          </a:bodyPr>
          <a:p>
            <a:pPr>
              <a:lnSpc>
                <a:spcPct val="160000"/>
              </a:lnSpc>
            </a:pPr>
            <a:r>
              <a:rPr lang="en-US" sz="960">
                <a:solidFill>
                  <a:srgbClr val="8B97A8"/>
                </a:solidFill>
                <a:latin typeface="Microsoft YaHei"/>
                <a:ea typeface="Microsoft YaHei"/>
              </a:rPr>
              <a:t>Keep the template in your repo as `templates/use-case-spec.md`. Never retype it from memory.</a:t>
            </a:r>
            <a:endParaRPr/>
          </a:p>
        </p:txBody>
      </p:sp>
      <p:sp>
        <p:nvSpPr>
          <p:cNvPr id="657" name=""/>
          <p:cNvSpPr/>
          <p:nvPr/>
        </p:nvSpPr>
        <p:spPr>
          <a:xfrm rot="0" flipH="0" flipV="0">
            <a:off x="0" y="6724650"/>
            <a:ext cx="12192000" cy="438150"/>
          </a:xfrm>
          <a:prstGeom prst="rect">
            <a:avLst/>
          </a:prstGeom>
          <a:solidFill>
            <a:srgbClr val="0E3F8C"/>
          </a:solidFill>
          <a:ln/>
        </p:spPr>
        <p:txBody>
          <a:bodyPr/>
          <a:p/>
        </p:txBody>
      </p:sp>
      <p:sp>
        <p:nvSpPr>
          <p:cNvPr id="658" name="" descr="{&quot;isTemplate&quot;:true,&quot;type&quot;:&quot;text&quot;}"/>
          <p:cNvSpPr txBox="1"/>
          <p:nvPr/>
        </p:nvSpPr>
        <p:spPr>
          <a:xfrm rot="0" flipH="0" flipV="0">
            <a:off x="4181475" y="6848475"/>
            <a:ext cx="3838575" cy="190500"/>
          </a:xfrm>
          <a:prstGeom prst="rect"/>
        </p:spPr>
        <p:txBody>
          <a:bodyPr wrap="none" lIns="0" tIns="0" rIns="0" bIns="0"/>
          <a:p>
            <a:pPr>
              <a:lnSpc>
                <a:spcPct val="100000"/>
              </a:lnSpc>
            </a:pPr>
            <a:r>
              <a:rPr lang="en-US" sz="1238" b="1">
                <a:solidFill>
                  <a:srgbClr val="FFFFFF"/>
                </a:solidFill>
                <a:latin typeface="Microsoft YaHei"/>
                <a:ea typeface="Microsoft YaHei"/>
              </a:rPr>
              <a:t>Write the skeleton once. After that you only fill it in.</a:t>
            </a:r>
            <a:endParaRPr/>
          </a:p>
        </p:txBody>
      </p:sp>
      <p:sp>
        <p:nvSpPr>
          <p:cNvPr id="659" name=""/>
          <p:cNvSpPr/>
          <p:nvPr/>
        </p:nvSpPr>
        <p:spPr>
          <a:xfrm rot="0" flipH="0" flipV="0">
            <a:off x="381000" y="1238250"/>
            <a:ext cx="7991475" cy="5486400"/>
          </a:xfrm>
          <a:prstGeom prst="roundRect">
            <a:avLst>
              <a:gd name="adj" fmla="val 1389"/>
            </a:avLst>
          </a:prstGeom>
          <a:solidFill>
            <a:srgbClr val="0E1116"/>
          </a:solidFill>
          <a:ln/>
        </p:spPr>
        <p:txBody>
          <a:bodyPr/>
          <a:p/>
        </p:txBody>
      </p:sp>
      <p:sp>
        <p:nvSpPr>
          <p:cNvPr id="660" name=""/>
          <p:cNvSpPr txBox="1"/>
          <p:nvPr/>
        </p:nvSpPr>
        <p:spPr>
          <a:xfrm rot="0" flipH="0" flipV="0">
            <a:off x="533400" y="1371600"/>
            <a:ext cx="7686675" cy="5219700"/>
          </a:xfrm>
          <a:prstGeom prst="rect"/>
        </p:spPr>
        <p:txBody>
          <a:bodyPr wrap="square" lIns="0" tIns="0" rIns="0" bIns="0">
            <a:normAutofit/>
          </a:bodyPr>
          <a:p>
            <a:pPr/>
            <a:r>
              <a:rPr sz="900">
                <a:solidFill>
                  <a:srgbClr val="E5E7EB"/>
                </a:solidFill>
                <a:latin typeface="Menlo"/>
                <a:ea typeface="Menlo"/>
              </a:rPr>
              <a:t>Use Case:      Place Order
Scope:         CampusBites
Level:         User goal
Primary actor: Student
Secondary:     Campus Card Centre, Payment Provider
Preconditions:
  - Student is authenticated for this campus.
  - Today's menu is published; at least one item
    is marked available.
Trigger:       Student confirms the cart summary.
Main success scenario:
  1  Student reviews the cart total.
  2  System displays the payable amount.
  3  Student chooses a payment method.
  4  System authorises the amount with the provider.
  5  System creates the order in state Accepted.
  6  System prints a kitchen ticket.
  7  System notifies the student of the order time.
Extensions:
  4a Item became sold out:
      System reports the item and offers an update.
  4b Authorisation declined:
      see Exceptions.
Exceptions:
  4c  Payment provider unavailable:
      System creates the order in state Pending
      Payment and notifies the student.
      Order is not printed.
Postconditions:
  - Order exists in Accepted or Pending Payment.
  - Student holds at most one open order per
    restaurant.</a:t>
            </a:r>
            <a:endParaRPr/>
          </a:p>
        </p:txBody>
      </p:sp>
    </p:spTree>
  </p:cSld>
</p:sld>
</file>

<file path=ppt/slides/slide8.xml><?xml version="1.0" encoding="utf-8"?>
<p:sld xmlns:p="http://schemas.openxmlformats.org/presentationml/2006/main" xmlns:a="http://schemas.openxmlformats.org/drawingml/2006/main">
  <p:cSld>
    <p:spTree>
      <p:nvGrpSpPr>
        <p:cNvPr id="661" name="" descr="&lt;Slide style={{ background: '#0E3F8C', padding: 0 }}&gt;&#10;  &lt;Box style={{ flexDirection: 'row', height: '100%', position: 'relative' }}&gt;&#10;    &lt;Box style={{ position: 'absolute', top: 0, left: 0, right: 0, height: 8, background: '#1E4FA8' }} /&gt;&#10;    &lt;Box style={{ width: 300, justifyContent: 'center', alignItems: 'center', borderRight: '1px solid #2B5793' }}&gt;&#10;      &lt;Text style={{ fontSize: 220, fontWeight: 'bold', color: '#3D7BD9', fontFamily: 'Georgia, serif', lineHeight: 1 }}&gt;02&lt;/Text&gt;&#10;    &lt;/Box&gt;&#10;    &lt;Box style={{ flex: 1, padding: '70px 64px', flexDirection: 'column', justifyContent: 'center' }}&gt;&#10;      &lt;Text style={{ fontSize: 15, color: '#7FA2D6', letterSpacing: 2, marginBottom: 18 }}&gt;PART 2 · LECTURE&lt;/Text&gt;&#10;      &lt;Text style={{ fontSize: 46, fontWeight: 'bold', color: '#FFFFFF', lineHeight: 1.18 }}&gt;Writing Good&lt;br /&gt;Scenarios&lt;/Text&gt;&#10;      &lt;Box style={{ width: 64, height: 4, background: '#FFC107', marginTop: 26, marginBottom: 26 }} /&gt;&#10;      &lt;Box style={{ flexDirection: 'column', gap: 12 }}&gt;&#10;        {[&#10;          'One step is one observable response of the system',&#10;          'The subject is the actor, the verb belongs to the system',&#10;          'No buttons, no screens, no “the user clicks”'&#10;        ].map((t) =&gt; (&#10;          &lt;Box key={t} style={{ flexDirection: 'row', alignItems: 'center', gap: 12 }}&gt;&#10;            &lt;Box style={{ width: 8, height: 8, borderRadius: 4, background: '#3D7BD9' }} /&gt;&#10;            &lt;Text style={{ fontSize: 20, color: '#C5D4EA' }}&gt;{t}&lt;/Text&gt;&#10;          &lt;/Box&gt;&#10;        ))}&#10;      &lt;/Box&gt;&#10;    &lt;/Box&gt;&#10;  &lt;/Box&gt;&#10;&lt;/Slide&gt;&#10;"/>
        <p:cNvGrpSpPr/>
        <p:nvPr/>
      </p:nvGrpSpPr>
      <p:grpSpPr>
        <a:xfrm>
          <a:off x="0" y="0"/>
          <a:ext cx="0" cy="0"/>
          <a:chOff x="0" y="0"/>
          <a:chExt cx="0" cy="0"/>
        </a:xfrm>
      </p:grpSpPr>
      <p:sp>
        <p:nvSpPr>
          <p:cNvPr id="662" name=""/>
          <p:cNvSpPr/>
          <p:nvPr/>
        </p:nvSpPr>
        <p:spPr>
          <a:xfrm rot="0" flipH="0" flipV="0">
            <a:off x="0" y="0"/>
            <a:ext cx="12192000" cy="6858000"/>
          </a:xfrm>
          <a:prstGeom prst="rect">
            <a:avLst/>
          </a:prstGeom>
          <a:solidFill>
            <a:srgbClr val="0E3F8C"/>
          </a:solidFill>
          <a:ln/>
        </p:spPr>
        <p:txBody>
          <a:bodyPr/>
          <a:p/>
        </p:txBody>
      </p:sp>
      <p:sp>
        <p:nvSpPr>
          <p:cNvPr id="663" name=""/>
          <p:cNvSpPr/>
          <p:nvPr/>
        </p:nvSpPr>
        <p:spPr>
          <a:xfrm rot="0" flipH="0" flipV="0">
            <a:off x="0" y="0"/>
            <a:ext cx="2857500" cy="6858000"/>
          </a:xfrm>
          <a:custGeom>
            <a:pathLst>
              <a:path w="300" h="720">
                <a:moveTo>
                  <a:pt x="299" y="0"/>
                </a:moveTo>
                <a:lnTo>
                  <a:pt x="300" y="0"/>
                </a:lnTo>
                <a:lnTo>
                  <a:pt x="300" y="720"/>
                </a:lnTo>
                <a:lnTo>
                  <a:pt x="299" y="720"/>
                </a:lnTo>
                <a:close/>
              </a:path>
            </a:pathLst>
          </a:custGeom>
          <a:solidFill>
            <a:srgbClr val="2B5793"/>
          </a:solidFill>
          <a:ln/>
        </p:spPr>
        <p:txBody>
          <a:bodyPr/>
          <a:p/>
        </p:txBody>
      </p:sp>
      <p:sp>
        <p:nvSpPr>
          <p:cNvPr id="664" name="" descr="{&quot;isTemplate&quot;:true,&quot;type&quot;:&quot;text&quot;}"/>
          <p:cNvSpPr txBox="1"/>
          <p:nvPr/>
        </p:nvSpPr>
        <p:spPr>
          <a:xfrm rot="0" flipH="0" flipV="0">
            <a:off x="28575" y="2171700"/>
            <a:ext cx="2790825" cy="2514600"/>
          </a:xfrm>
          <a:prstGeom prst="rect"/>
        </p:spPr>
        <p:txBody>
          <a:bodyPr wrap="none" lIns="0" tIns="0" rIns="0" bIns="0"/>
          <a:p>
            <a:pPr>
              <a:lnSpc>
                <a:spcPct val="100000"/>
              </a:lnSpc>
            </a:pPr>
            <a:r>
              <a:rPr lang="en-US" sz="16500" b="1">
                <a:solidFill>
                  <a:srgbClr val="3D7BD9"/>
                </a:solidFill>
                <a:latin typeface="Georgia"/>
                <a:ea typeface="Georgia"/>
              </a:rPr>
              <a:t>02</a:t>
            </a:r>
            <a:endParaRPr/>
          </a:p>
        </p:txBody>
      </p:sp>
      <p:sp>
        <p:nvSpPr>
          <p:cNvPr id="665" name="" descr="{&quot;isTemplate&quot;:true,&quot;type&quot;:&quot;text&quot;}"/>
          <p:cNvSpPr txBox="1"/>
          <p:nvPr/>
        </p:nvSpPr>
        <p:spPr>
          <a:xfrm rot="0" flipH="0" flipV="0">
            <a:off x="3467100" y="1914525"/>
            <a:ext cx="8115300" cy="171450"/>
          </a:xfrm>
          <a:prstGeom prst="rect"/>
        </p:spPr>
        <p:txBody>
          <a:bodyPr wrap="none" lIns="0" tIns="0" rIns="0" bIns="0"/>
          <a:p>
            <a:pPr>
              <a:lnSpc>
                <a:spcPct val="100000"/>
              </a:lnSpc>
            </a:pPr>
            <a:r>
              <a:rPr lang="en-US" sz="1125" spc="150">
                <a:solidFill>
                  <a:srgbClr val="7FA2D6"/>
                </a:solidFill>
                <a:latin typeface="Microsoft YaHei"/>
                <a:ea typeface="Microsoft YaHei"/>
              </a:rPr>
              <a:t>PART 2 · LECTURE</a:t>
            </a:r>
            <a:endParaRPr/>
          </a:p>
        </p:txBody>
      </p:sp>
      <p:sp>
        <p:nvSpPr>
          <p:cNvPr id="666" name="" descr="{&quot;isTemplate&quot;:true,&quot;type&quot;:&quot;text&quot;}"/>
          <p:cNvSpPr txBox="1"/>
          <p:nvPr/>
        </p:nvSpPr>
        <p:spPr>
          <a:xfrm rot="0" flipH="0" flipV="0">
            <a:off x="3467100" y="2257425"/>
            <a:ext cx="8115300" cy="1247775"/>
          </a:xfrm>
          <a:prstGeom prst="rect"/>
        </p:spPr>
        <p:txBody>
          <a:bodyPr wrap="none" lIns="0" tIns="0" rIns="0" bIns="0"/>
          <a:p>
            <a:pPr>
              <a:lnSpc>
                <a:spcPct val="118000"/>
              </a:lnSpc>
            </a:pPr>
            <a:r>
              <a:rPr lang="en-US" sz="3450" b="1">
                <a:solidFill>
                  <a:srgbClr val="FFFFFF"/>
                </a:solidFill>
                <a:latin typeface="Microsoft YaHei"/>
                <a:ea typeface="Microsoft YaHei"/>
              </a:rPr>
              <a:t>Writing Good</a:t>
            </a:r>
            <a:endParaRPr/>
          </a:p>
          <a:p>
            <a:pPr>
              <a:lnSpc>
                <a:spcPct val="118000"/>
              </a:lnSpc>
            </a:pPr>
            <a:r>
              <a:rPr lang="en-US" sz="3450" b="1">
                <a:solidFill>
                  <a:srgbClr val="FFFFFF"/>
                </a:solidFill>
                <a:latin typeface="Microsoft YaHei"/>
                <a:ea typeface="Microsoft YaHei"/>
              </a:rPr>
              <a:t>Scenarios</a:t>
            </a:r>
            <a:endParaRPr/>
          </a:p>
        </p:txBody>
      </p:sp>
      <p:sp>
        <p:nvSpPr>
          <p:cNvPr id="667" name=""/>
          <p:cNvSpPr/>
          <p:nvPr/>
        </p:nvSpPr>
        <p:spPr>
          <a:xfrm rot="0" flipH="0" flipV="0">
            <a:off x="3467100" y="3752850"/>
            <a:ext cx="609600" cy="38100"/>
          </a:xfrm>
          <a:prstGeom prst="rect">
            <a:avLst/>
          </a:prstGeom>
          <a:solidFill>
            <a:srgbClr val="FFC107"/>
          </a:solidFill>
          <a:ln/>
        </p:spPr>
        <p:txBody>
          <a:bodyPr/>
          <a:p/>
        </p:txBody>
      </p:sp>
      <p:sp>
        <p:nvSpPr>
          <p:cNvPr id="668" name=""/>
          <p:cNvSpPr/>
          <p:nvPr/>
        </p:nvSpPr>
        <p:spPr>
          <a:xfrm rot="0" flipH="0" flipV="0">
            <a:off x="3467100" y="4114800"/>
            <a:ext cx="76200" cy="76200"/>
          </a:xfrm>
          <a:prstGeom prst="roundRect">
            <a:avLst>
              <a:gd name="adj" fmla="val 50000"/>
            </a:avLst>
          </a:prstGeom>
          <a:solidFill>
            <a:srgbClr val="3D7BD9"/>
          </a:solidFill>
          <a:ln/>
        </p:spPr>
        <p:txBody>
          <a:bodyPr/>
          <a:p/>
        </p:txBody>
      </p:sp>
      <p:sp>
        <p:nvSpPr>
          <p:cNvPr id="669" name="" descr="{&quot;isTemplate&quot;:true,&quot;type&quot;:&quot;text&quot;}"/>
          <p:cNvSpPr txBox="1"/>
          <p:nvPr/>
        </p:nvSpPr>
        <p:spPr>
          <a:xfrm rot="0" flipH="0" flipV="0">
            <a:off x="3657600" y="4038600"/>
            <a:ext cx="4343400" cy="228600"/>
          </a:xfrm>
          <a:prstGeom prst="rect"/>
        </p:spPr>
        <p:txBody>
          <a:bodyPr wrap="none" lIns="0" tIns="0" rIns="0" bIns="0"/>
          <a:p>
            <a:pPr>
              <a:lnSpc>
                <a:spcPct val="100000"/>
              </a:lnSpc>
            </a:pPr>
            <a:r>
              <a:rPr lang="en-US" sz="1500">
                <a:solidFill>
                  <a:srgbClr val="C5D4EA"/>
                </a:solidFill>
                <a:latin typeface="Microsoft YaHei"/>
                <a:ea typeface="Microsoft YaHei"/>
              </a:rPr>
              <a:t>One step is one observable response of the system</a:t>
            </a:r>
            <a:endParaRPr/>
          </a:p>
        </p:txBody>
      </p:sp>
      <p:sp>
        <p:nvSpPr>
          <p:cNvPr id="670" name=""/>
          <p:cNvSpPr/>
          <p:nvPr/>
        </p:nvSpPr>
        <p:spPr>
          <a:xfrm rot="0" flipH="0" flipV="0">
            <a:off x="3467100" y="4457700"/>
            <a:ext cx="76200" cy="76200"/>
          </a:xfrm>
          <a:prstGeom prst="roundRect">
            <a:avLst>
              <a:gd name="adj" fmla="val 50000"/>
            </a:avLst>
          </a:prstGeom>
          <a:solidFill>
            <a:srgbClr val="3D7BD9"/>
          </a:solidFill>
          <a:ln/>
        </p:spPr>
        <p:txBody>
          <a:bodyPr/>
          <a:p/>
        </p:txBody>
      </p:sp>
      <p:sp>
        <p:nvSpPr>
          <p:cNvPr id="671" name="" descr="{&quot;isTemplate&quot;:true,&quot;type&quot;:&quot;text&quot;}"/>
          <p:cNvSpPr txBox="1"/>
          <p:nvPr/>
        </p:nvSpPr>
        <p:spPr>
          <a:xfrm rot="0" flipH="0" flipV="0">
            <a:off x="3657600" y="4381500"/>
            <a:ext cx="4667250" cy="228600"/>
          </a:xfrm>
          <a:prstGeom prst="rect"/>
        </p:spPr>
        <p:txBody>
          <a:bodyPr wrap="none" lIns="0" tIns="0" rIns="0" bIns="0"/>
          <a:p>
            <a:pPr>
              <a:lnSpc>
                <a:spcPct val="100000"/>
              </a:lnSpc>
            </a:pPr>
            <a:r>
              <a:rPr lang="en-US" sz="1500">
                <a:solidFill>
                  <a:srgbClr val="C5D4EA"/>
                </a:solidFill>
                <a:latin typeface="Microsoft YaHei"/>
                <a:ea typeface="Microsoft YaHei"/>
              </a:rPr>
              <a:t>The subject is the actor, the verb belongs to the system</a:t>
            </a:r>
            <a:endParaRPr/>
          </a:p>
        </p:txBody>
      </p:sp>
      <p:sp>
        <p:nvSpPr>
          <p:cNvPr id="672" name=""/>
          <p:cNvSpPr/>
          <p:nvPr/>
        </p:nvSpPr>
        <p:spPr>
          <a:xfrm rot="0" flipH="0" flipV="0">
            <a:off x="3467100" y="4800600"/>
            <a:ext cx="76200" cy="76200"/>
          </a:xfrm>
          <a:prstGeom prst="roundRect">
            <a:avLst>
              <a:gd name="adj" fmla="val 50000"/>
            </a:avLst>
          </a:prstGeom>
          <a:solidFill>
            <a:srgbClr val="3D7BD9"/>
          </a:solidFill>
          <a:ln/>
        </p:spPr>
        <p:txBody>
          <a:bodyPr/>
          <a:p/>
        </p:txBody>
      </p:sp>
      <p:sp>
        <p:nvSpPr>
          <p:cNvPr id="673" name="" descr="{&quot;isTemplate&quot;:true,&quot;type&quot;:&quot;text&quot;}"/>
          <p:cNvSpPr txBox="1"/>
          <p:nvPr/>
        </p:nvSpPr>
        <p:spPr>
          <a:xfrm rot="0" flipH="0" flipV="0">
            <a:off x="3657600" y="4724400"/>
            <a:ext cx="3667125" cy="228600"/>
          </a:xfrm>
          <a:prstGeom prst="rect"/>
        </p:spPr>
        <p:txBody>
          <a:bodyPr wrap="none" lIns="0" tIns="0" rIns="0" bIns="0"/>
          <a:p>
            <a:pPr>
              <a:lnSpc>
                <a:spcPct val="100000"/>
              </a:lnSpc>
            </a:pPr>
            <a:r>
              <a:rPr lang="en-US" sz="1500">
                <a:solidFill>
                  <a:srgbClr val="C5D4EA"/>
                </a:solidFill>
                <a:latin typeface="Microsoft YaHei"/>
                <a:ea typeface="Microsoft YaHei"/>
              </a:rPr>
              <a:t>No buttons, no screens, no “the user clicks”</a:t>
            </a:r>
            <a:endParaRPr/>
          </a:p>
        </p:txBody>
      </p:sp>
      <p:sp>
        <p:nvSpPr>
          <p:cNvPr id="674" name=""/>
          <p:cNvSpPr/>
          <p:nvPr/>
        </p:nvSpPr>
        <p:spPr>
          <a:xfrm rot="0" flipH="0" flipV="0">
            <a:off x="0" y="0"/>
            <a:ext cx="12192000" cy="76200"/>
          </a:xfrm>
          <a:prstGeom prst="rect">
            <a:avLst/>
          </a:prstGeom>
          <a:solidFill>
            <a:srgbClr val="1E4FA8"/>
          </a:solidFill>
          <a:ln/>
        </p:spPr>
        <p:txBody>
          <a:bodyPr/>
          <a:p/>
        </p:txBody>
      </p:sp>
    </p:spTree>
  </p:cSld>
</p:sld>
</file>

<file path=ppt/slides/slide9.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675"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WRITING GOOD SCENARIOS&lt;/Text&gt;&#10;  &lt;/Box&gt;&#10;  &lt;Box style={{ padding: '13px 40px 0 40px', flexDirection: 'row', alignItems: 'center', justifyContent: 'space-between' }}&gt;&#10;    &lt;Text style={{ fontSize: 29, fontWeight: 'bold', color: '#0E3F8C' }}&gt;Actor–Verb–Object Sentences&lt;/Text&gt;&#10;    &lt;Text style={{ fontSize: 14, color: '#1E4FA8', fontWeight: 'bold' }}&gt;09 / 38&lt;/Text&gt;&#10;  &lt;/Box&gt;&#10;  &lt;Box style={{ flex: 1, padding: '6px 40px 0 40px', justifyContent: 'center', alignItems: 'center' }}&gt;&#10;    &lt;svg width={1180} height={392} viewBox='0 0 1180 392'&gt;&#10;      &lt;text x='10' y='16' fill='#8B97A8' fontSize='13'&gt;Every step of the main success scenario decomposes the same way. Three slots, three rules.&lt;/text&gt;&#10;&#10;      &lt;rect x='0' y='34' width='1180' height='96' rx='8' fill='#F7F9FC' stroke='#D6DCE5' strokeWidth='1.4' /&gt;&#10;      &lt;text x='24' y='64' fill='#0E3F8C' fontSize='12.5' fontWeight='bold'&gt;THE STEP&lt;/text&gt;&#10;      &lt;text x='24' y='96' fill='#1A2230' fontSize='21' fontWeight='bold'&gt;The system authorises the amount with the payment provider.&lt;/text&gt;&#10;&#10;      &lt;rect x='0' y='146' width='376' height='200' rx='8' fill='#FFFFFF' stroke='#1E4FA8' strokeWidth='2' /&gt;&#10;      &lt;text x='20' y='176' fill='#1E4FA8' fontSize='12.5' fontWeight='bold'&gt;SLOT 1 — THE SUBJECT&lt;/text&gt;&#10;      &lt;text x='20' y='206' fill='#1A2230' fontSize='18' fontWeight='bold'&gt;The system&lt;/text&gt;&#10;      &lt;line x1='20' y1='220' x2='356' y2='220' stroke='#E5E7EB' strokeWidth='1' /&gt;&#10;      &lt;text x='20' y='244' fill='#4A5568' fontSize='11.5'&gt;Either “the system” or the named&lt;/text&gt;&#10;      &lt;text x='20' y='261' fill='#4A5568' fontSize='11.5'&gt;actor. Never “the user”, never “we”.&lt;/text&gt;&#10;      &lt;text x='20' y='290' fill='#D9534F' fontSize='11.5'&gt;✕  User enters the card number&lt;/text&gt;&#10;      &lt;text x='20' y='316' fill='#2B7A3D' fontSize='11.5'&gt;✓  System requests authorisation&lt;/text&gt;&#10;&#10;      &lt;rect x='392' y='146' width='376' height='200' rx='8' fill='#FFFFFF' stroke='#1E4FA8' strokeWidth='2' /&gt;&#10;      &lt;text x='412' y='176' fill='#1E4FA8' fontSize='12.5' fontWeight='bold'&gt;SLOT 2 — THE VERB&lt;/text&gt;&#10;      &lt;text x='412' y='206' fill='#1A2230' fontSize='18' fontWeight='bold'&gt;authorises&lt;/text&gt;&#10;      &lt;line x1='412' y1='220' x2='748' y2='220' stroke='#E5E7EB' strokeWidth='1' /&gt;&#10;      &lt;text x='412' y='244' fill='#4A5568' fontSize='11.5'&gt;Something the outside world can see&lt;/text&gt;&#10;      &lt;text x='412' y='261' fill='#4A5568' fontSize='11.5'&gt;happened: a decision, a record, a reply.&lt;/text&gt;&#10;      &lt;text x='412' y='290' fill='#D9534F' fontSize='11.5'&gt;✕  System is nice about it&lt;/text&gt;&#10;      &lt;text x='412' y='316' fill='#2B7A3D' fontSize='11.5'&gt;✓  System confirms the reservation&lt;/text&gt;&#10;&#10;      &lt;rect x='784' y='146' width='396' height='200' rx='8' fill='#FFFFFF' stroke='#1E4FA8' strokeWidth='2' /&gt;&#10;      &lt;text x='804' y='176' fill='#1E4FA8' fontSize='12.5' fontWeight='bold'&gt;SLOT 3 — THE OBJECT&lt;/text&gt;&#10;      &lt;text x='804' y='206' fill='#1A2230' fontSize='18' fontWeight='bold'&gt;the amount&lt;/text&gt;&#10;      &lt;line x1='804' y1='220' x2='1160' y2='220' stroke='#E5E7EB' strokeWidth='1' /&gt;&#10;      &lt;text x='804' y='244' fill='#4A5568' fontSize='11.5'&gt;A thing from this project’s own nouns.&lt;/text&gt;&#10;      &lt;text x='804' y='261' fill='#4A5568' fontSize='11.5'&gt;It reappears in the domain model in W06.&lt;/text&gt;&#10;      &lt;text x='804' y='290' fill='#D9534F' fontSize='11.5'&gt;✕  the stuff&lt;/text&gt;&#10;      &lt;text x='804' y='316' fill='#2B7A3D' fontSize='11.5'&gt;✓  the delivery window&lt;/text&gt;&#10;    &lt;/svg&gt;&#10;  &lt;/Box&gt;&#10;  &lt;Box style={{ height: 34, padding: '0 40px', flexDirection: 'row', alignItems: 'center', justifyContent: 'space-between' }}&gt;&#10;    &lt;Text style={{ fontSize: 13, color: '#8B97A8' }}&gt;ISAD · Fall 2026 · Subject, verb, object. If a slot is empty, the step is not finished yet&lt;/Text&gt;&#10;    &lt;Text style={{ fontSize: 14, color: '#1E4FA8', fontWeight: 'bold' }}&gt;9 / 38&lt;/Text&gt;&#10;  &lt;/Box&gt;&#10;&lt;/Slide&gt;&#10;"/>
        <p:cNvGrpSpPr/>
        <p:nvPr/>
      </p:nvGrpSpPr>
      <p:grpSpPr>
        <a:xfrm>
          <a:off x="0" y="0"/>
          <a:ext cx="0" cy="0"/>
          <a:chOff x="0" y="0"/>
          <a:chExt cx="0" cy="0"/>
        </a:xfrm>
      </p:grpSpPr>
      <p:sp>
        <p:nvSpPr>
          <p:cNvPr id="676" name=""/>
          <p:cNvSpPr/>
          <p:nvPr/>
        </p:nvSpPr>
        <p:spPr>
          <a:xfrm rot="0" flipH="0" flipV="0">
            <a:off x="0" y="0"/>
            <a:ext cx="12192000" cy="6858000"/>
          </a:xfrm>
          <a:prstGeom prst="rect">
            <a:avLst/>
          </a:prstGeom>
          <a:solidFill>
            <a:srgbClr val="FFFFFF"/>
          </a:solidFill>
          <a:ln/>
        </p:spPr>
        <p:txBody>
          <a:bodyPr/>
          <a:p/>
        </p:txBody>
      </p:sp>
      <p:sp>
        <p:nvSpPr>
          <p:cNvPr id="677" name=""/>
          <p:cNvSpPr/>
          <p:nvPr/>
        </p:nvSpPr>
        <p:spPr>
          <a:xfrm rot="0" flipH="0" flipV="0">
            <a:off x="0" y="0"/>
            <a:ext cx="12192000" cy="685800"/>
          </a:xfrm>
          <a:prstGeom prst="rect">
            <a:avLst/>
          </a:prstGeom>
          <a:solidFill>
            <a:srgbClr val="1E4FA8"/>
          </a:solidFill>
          <a:ln/>
        </p:spPr>
        <p:txBody>
          <a:bodyPr/>
          <a:p/>
        </p:txBody>
      </p:sp>
      <p:sp>
        <p:nvSpPr>
          <p:cNvPr id="678"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679" name="" descr="{&quot;isTemplate&quot;:true,&quot;type&quot;:&quot;text&quot;}"/>
          <p:cNvSpPr txBox="1"/>
          <p:nvPr/>
        </p:nvSpPr>
        <p:spPr>
          <a:xfrm rot="0" flipH="0" flipV="0">
            <a:off x="9410700" y="257175"/>
            <a:ext cx="2400300" cy="171450"/>
          </a:xfrm>
          <a:prstGeom prst="rect"/>
        </p:spPr>
        <p:txBody>
          <a:bodyPr wrap="none" lIns="0" tIns="0" rIns="0" bIns="0"/>
          <a:p>
            <a:pPr>
              <a:lnSpc>
                <a:spcPct val="100000"/>
              </a:lnSpc>
            </a:pPr>
            <a:r>
              <a:rPr lang="en-US" sz="1125">
                <a:solidFill>
                  <a:srgbClr val="B9CDF0"/>
                </a:solidFill>
                <a:latin typeface="Microsoft YaHei"/>
                <a:ea typeface="Microsoft YaHei"/>
              </a:rPr>
              <a:t>W05 · WRITING GOOD SCENARIOS</a:t>
            </a:r>
            <a:endParaRPr/>
          </a:p>
        </p:txBody>
      </p:sp>
      <p:sp>
        <p:nvSpPr>
          <p:cNvPr id="680" name="" descr="{&quot;isTemplate&quot;:true,&quot;type&quot;:&quot;text&quot;}"/>
          <p:cNvSpPr txBox="1"/>
          <p:nvPr/>
        </p:nvSpPr>
        <p:spPr>
          <a:xfrm rot="0" flipH="0" flipV="0">
            <a:off x="381000" y="809625"/>
            <a:ext cx="3952875" cy="333375"/>
          </a:xfrm>
          <a:prstGeom prst="rect"/>
        </p:spPr>
        <p:txBody>
          <a:bodyPr wrap="none" lIns="0" tIns="0" rIns="0" bIns="0"/>
          <a:p>
            <a:pPr>
              <a:lnSpc>
                <a:spcPct val="100000"/>
              </a:lnSpc>
            </a:pPr>
            <a:r>
              <a:rPr lang="en-US" sz="2175" b="1">
                <a:solidFill>
                  <a:srgbClr val="0E3F8C"/>
                </a:solidFill>
                <a:latin typeface="Microsoft YaHei"/>
                <a:ea typeface="Microsoft YaHei"/>
              </a:rPr>
              <a:t>Actor–Verb–Object Sentences</a:t>
            </a:r>
            <a:endParaRPr/>
          </a:p>
        </p:txBody>
      </p:sp>
      <p:sp>
        <p:nvSpPr>
          <p:cNvPr id="681"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09 / 38</a:t>
            </a:r>
            <a:endParaRPr/>
          </a:p>
        </p:txBody>
      </p:sp>
      <p:pic>
        <p:nvPicPr>
          <p:cNvPr id="682" name=""/>
          <p:cNvPicPr>
            <a:picLocks noChangeAspect="1"/>
          </p:cNvPicPr>
          <p:nvPr/>
        </p:nvPicPr>
        <p:blipFill>
          <a:blip>
            <a:extLst>
              <a:ext uri="{96DAC541-7B7A-43D3-8B79-37D633B846F1}">
                <asvg:svgBlip r:embed="rId1"/>
              </a:ext>
            </a:extLst>
          </a:blip>
          <a:stretch>
            <a:fillRect/>
          </a:stretch>
        </p:blipFill>
        <p:spPr>
          <a:xfrm rot="0" flipH="0" flipV="0">
            <a:off x="476250" y="2000250"/>
            <a:ext cx="11239500" cy="3733800"/>
          </a:xfrm>
          <a:prstGeom prst="rect">
            <a:avLst/>
          </a:prstGeom>
          <a:ln/>
        </p:spPr>
      </p:pic>
      <p:sp>
        <p:nvSpPr>
          <p:cNvPr id="683" name="" descr="{&quot;isTemplate&quot;:true,&quot;type&quot;:&quot;text&quot;}"/>
          <p:cNvSpPr txBox="1"/>
          <p:nvPr/>
        </p:nvSpPr>
        <p:spPr>
          <a:xfrm rot="0" flipH="0" flipV="0">
            <a:off x="381000" y="6619875"/>
            <a:ext cx="4600575"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Subject, verb, object. If a slot is empty, the step is not finished yet</a:t>
            </a:r>
            <a:endParaRPr/>
          </a:p>
        </p:txBody>
      </p:sp>
      <p:sp>
        <p:nvSpPr>
          <p:cNvPr id="684" name="" descr="{&quot;isTemplate&quot;:true,&quot;type&quot;:&quot;text&quot;}"/>
          <p:cNvSpPr txBox="1"/>
          <p:nvPr/>
        </p:nvSpPr>
        <p:spPr>
          <a:xfrm rot="0" flipH="0" flipV="0">
            <a:off x="11468100" y="6619875"/>
            <a:ext cx="342900" cy="161925"/>
          </a:xfrm>
          <a:prstGeom prst="rect"/>
        </p:spPr>
        <p:txBody>
          <a:bodyPr wrap="none" lIns="0" tIns="0" rIns="0" bIns="0"/>
          <a:p>
            <a:pPr>
              <a:lnSpc>
                <a:spcPct val="100000"/>
              </a:lnSpc>
            </a:pPr>
            <a:r>
              <a:rPr lang="en-US" sz="1050" b="1">
                <a:solidFill>
                  <a:srgbClr val="1E4FA8"/>
                </a:solidFill>
                <a:latin typeface="Microsoft YaHei"/>
                <a:ea typeface="Microsoft YaHei"/>
              </a:rPr>
              <a:t>9 / 38</a:t>
            </a:r>
            <a:endParaRPr/>
          </a:p>
        </p:txBody>
      </p:sp>
    </p:spTree>
  </p:cSld>
</p:sld>
</file>

<file path=ppt/slides/slide10.xml><?xml version="1.0" encoding="utf-8"?>
<p:sld xmlns:p="http://schemas.openxmlformats.org/presentationml/2006/main" xmlns:a="http://schemas.openxmlformats.org/drawingml/2006/main">
  <p:cSld>
    <p:spTree>
      <p:nvGrpSpPr>
        <p:cNvPr id="15"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WRITING GOOD SCENARIOS&lt;/Text&gt;&#10;  &lt;/Box&gt;&#10;  &lt;Box style={{ padding: '13px 40px 0 40px', flexDirection: 'row', alignItems: 'center', justifyContent: 'space-between' }}&gt;&#10;    &lt;Text style={{ fontSize: 29, fontWeight: 'bold', color: '#0E3F8C' }}&gt;Observable, Not Clickable&lt;/Text&gt;&#10;    &lt;Text style={{ fontSize: 14, color: '#1E4FA8', fontWeight: 'bold' }}&gt;10 / 38&lt;/Text&gt;&#10;  &lt;/Box&gt;&#10;  &lt;Box style={{ flex: 1, padding: '10px 40px 0 40px', flexDirection: 'row', gap: 24 }}&gt;&#10;    &lt;Box style={{ flex: 1, flexDirection: 'column' }}&gt;&#10;      &lt;Box style={{ padding: '12px 18px', background: '#FDF3F3', borderRadius: 9 }}&gt;&#10;        &lt;Text style={{ fontSize: 16, fontWeight: 'bold', color: '#D9534F' }}&gt;Writes the interface&lt;/Text&gt;&#10;      &lt;/Box&gt;&#10;      &lt;Box style={{ flex: 1, padding: '16px 18px', gap: 12 }}&gt;&#10;        {[&#10;          'The user clicks the Submit button on the payment page.',&#10;          'The system validates the credit card number.',&#10;          'The user selects &quot;Credit Card&quot; from the dropdown.',&#10;          'The web page refreshes and shows the order number.',&#10;          'The user clicks OK in the alert dialog.',&#10;        ].map((t) =&gt; (&#10;          &lt;Box key={t} style={{ padding: '13px 15px', background: '#FFFFFF', borderRadius: 8, border: '1px solid #E5E7EB' }}&gt;&#10;            &lt;Text style={{ fontSize: 14, color: '#4A5568', lineHeight: 1.5 }}&gt;{t}&lt;/Text&gt;&#10;          &lt;/Box&gt;&#10;        ))}&#10;      &lt;/Box&gt;&#10;    &lt;/Box&gt;&#10;    &lt;Box style={{ width: 130, justifyContent: 'center', alignItems: 'center' }}&gt;&#10;      &lt;Box style={{ width: 54, height: 54, borderRadius: 27, background: '#1E4FA8', justifyContent: 'center', alignItems: 'center' }}&gt;&#10;        &lt;Text style={{ fontSize: 26, color: '#FFFFFF', fontWeight: 'bold' }}&gt;→&lt;/Text&gt;&#10;      &lt;/Box&gt;&#10;    &lt;/Box&gt;&#10;    &lt;Box style={{ flex: 1, flexDirection: 'column' }}&gt;&#10;      &lt;Box style={{ padding: '12px 18px', background: '#EAF6EC', borderRadius: 9 }}&gt;&#10;        &lt;Text style={{ fontSize: 16, fontWeight: 'bold', color: '#2B7A3D' }}&gt;Writes the system&lt;/Text&gt;&#10;      &lt;/Box&gt;&#10;      &lt;Box style={{ flex: 1, padding: '16px 18px', gap: 12 }}&gt;&#10;        {[&#10;          'The system accepts the order submission and requests payment authorisation for RMB 24.00.',&#10;          'The system confirms the amount with the payment provider.',&#10;          'The system records a campus card payment for the order.',&#10;          'The system issues order number CB-20419 and displays it.',&#10;          'The system acknowledges the cancellation and ends the interaction.',&#10;        ].map((t) =&gt; (&#10;          &lt;Box key={t} style={{ padding: '13px 15px', background: '#FFFFFF', borderRadius: 8, border: '1px solid #E5E7EB' }}&gt;&#10;            &lt;Text style={{ fontSize: 14, color: '#4A5568', lineHeight: 1.5 }}&gt;{t}&lt;/Text&gt;&#10;          &lt;/Box&gt;&#10;        ))}&#10;      &lt;/Box&gt;&#10;    &lt;/Box&gt;&#10;  &lt;/Box&gt;&#10;  &lt;Box style={{ height: 46, background: '#0E3F8C', padding: '0 40px', flexDirection: 'row', alignItems: 'center', justifyContent: 'center' }}&gt;&#10;    &lt;Text style={{ fontSize: 16.5, color: '#FFFFFF', fontWeight: '600' }}&gt;Buttons move. Every sentence you write about one will have to be rewritten in W16.&lt;/Text&gt;&#10;  &lt;/Box&gt;&#10;&lt;/Slide&gt;&#10;"/>
        <p:cNvGrpSpPr/>
        <p:nvPr/>
      </p:nvGrpSpPr>
      <p:grpSpPr>
        <a:xfrm>
          <a:off x="0" y="0"/>
          <a:ext cx="0" cy="0"/>
          <a:chOff x="0" y="0"/>
          <a:chExt cx="0" cy="0"/>
        </a:xfrm>
      </p:grpSpPr>
      <p:sp>
        <p:nvSpPr>
          <p:cNvPr id="16" name=""/>
          <p:cNvSpPr/>
          <p:nvPr/>
        </p:nvSpPr>
        <p:spPr>
          <a:xfrm rot="0" flipH="0" flipV="0">
            <a:off x="0" y="0"/>
            <a:ext cx="12192000" cy="6858000"/>
          </a:xfrm>
          <a:prstGeom prst="rect">
            <a:avLst/>
          </a:prstGeom>
          <a:solidFill>
            <a:srgbClr val="FFFFFF"/>
          </a:solidFill>
          <a:ln/>
        </p:spPr>
        <p:txBody>
          <a:bodyPr/>
          <a:p/>
        </p:txBody>
      </p:sp>
      <p:sp>
        <p:nvSpPr>
          <p:cNvPr id="17" name=""/>
          <p:cNvSpPr/>
          <p:nvPr/>
        </p:nvSpPr>
        <p:spPr>
          <a:xfrm rot="0" flipH="0" flipV="0">
            <a:off x="0" y="0"/>
            <a:ext cx="12192000" cy="685800"/>
          </a:xfrm>
          <a:prstGeom prst="rect">
            <a:avLst/>
          </a:prstGeom>
          <a:solidFill>
            <a:srgbClr val="1E4FA8"/>
          </a:solidFill>
          <a:ln/>
        </p:spPr>
        <p:txBody>
          <a:bodyPr/>
          <a:p/>
        </p:txBody>
      </p:sp>
      <p:sp>
        <p:nvSpPr>
          <p:cNvPr id="18"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19" name="" descr="{&quot;isTemplate&quot;:true,&quot;type&quot;:&quot;text&quot;}"/>
          <p:cNvSpPr txBox="1"/>
          <p:nvPr/>
        </p:nvSpPr>
        <p:spPr>
          <a:xfrm rot="0" flipH="0" flipV="0">
            <a:off x="9410700" y="257175"/>
            <a:ext cx="2400300" cy="171450"/>
          </a:xfrm>
          <a:prstGeom prst="rect"/>
        </p:spPr>
        <p:txBody>
          <a:bodyPr wrap="none" lIns="0" tIns="0" rIns="0" bIns="0"/>
          <a:p>
            <a:pPr>
              <a:lnSpc>
                <a:spcPct val="100000"/>
              </a:lnSpc>
            </a:pPr>
            <a:r>
              <a:rPr lang="en-US" sz="1125">
                <a:solidFill>
                  <a:srgbClr val="B9CDF0"/>
                </a:solidFill>
                <a:latin typeface="Microsoft YaHei"/>
                <a:ea typeface="Microsoft YaHei"/>
              </a:rPr>
              <a:t>W05 · WRITING GOOD SCENARIOS</a:t>
            </a:r>
            <a:endParaRPr/>
          </a:p>
        </p:txBody>
      </p:sp>
      <p:sp>
        <p:nvSpPr>
          <p:cNvPr id="20" name="" descr="{&quot;isTemplate&quot;:true,&quot;type&quot;:&quot;text&quot;}"/>
          <p:cNvSpPr txBox="1"/>
          <p:nvPr/>
        </p:nvSpPr>
        <p:spPr>
          <a:xfrm rot="0" flipH="0" flipV="0">
            <a:off x="381000" y="809625"/>
            <a:ext cx="3409950" cy="333375"/>
          </a:xfrm>
          <a:prstGeom prst="rect"/>
        </p:spPr>
        <p:txBody>
          <a:bodyPr wrap="none" lIns="0" tIns="0" rIns="0" bIns="0"/>
          <a:p>
            <a:pPr>
              <a:lnSpc>
                <a:spcPct val="100000"/>
              </a:lnSpc>
            </a:pPr>
            <a:r>
              <a:rPr lang="en-US" sz="2175" b="1">
                <a:solidFill>
                  <a:srgbClr val="0E3F8C"/>
                </a:solidFill>
                <a:latin typeface="Microsoft YaHei"/>
                <a:ea typeface="Microsoft YaHei"/>
              </a:rPr>
              <a:t>Observable, Not Clickable</a:t>
            </a:r>
            <a:endParaRPr/>
          </a:p>
        </p:txBody>
      </p:sp>
      <p:sp>
        <p:nvSpPr>
          <p:cNvPr id="21"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10 / 38</a:t>
            </a:r>
            <a:endParaRPr/>
          </a:p>
        </p:txBody>
      </p:sp>
      <p:sp>
        <p:nvSpPr>
          <p:cNvPr id="22" name=""/>
          <p:cNvSpPr/>
          <p:nvPr/>
        </p:nvSpPr>
        <p:spPr>
          <a:xfrm rot="0" flipH="0" flipV="0">
            <a:off x="381000" y="1238250"/>
            <a:ext cx="4867275" cy="419100"/>
          </a:xfrm>
          <a:prstGeom prst="roundRect">
            <a:avLst>
              <a:gd name="adj" fmla="val 20455"/>
            </a:avLst>
          </a:prstGeom>
          <a:solidFill>
            <a:srgbClr val="FDF3F3"/>
          </a:solidFill>
          <a:ln/>
        </p:spPr>
        <p:txBody>
          <a:bodyPr/>
          <a:p/>
        </p:txBody>
      </p:sp>
      <p:sp>
        <p:nvSpPr>
          <p:cNvPr id="23" name="" descr="{&quot;isTemplate&quot;:true,&quot;type&quot;:&quot;text&quot;}"/>
          <p:cNvSpPr txBox="1"/>
          <p:nvPr/>
        </p:nvSpPr>
        <p:spPr>
          <a:xfrm rot="0" flipH="0" flipV="0">
            <a:off x="552450" y="1352550"/>
            <a:ext cx="4524375" cy="190500"/>
          </a:xfrm>
          <a:prstGeom prst="rect"/>
        </p:spPr>
        <p:txBody>
          <a:bodyPr wrap="none" lIns="0" tIns="0" rIns="0" bIns="0"/>
          <a:p>
            <a:pPr>
              <a:lnSpc>
                <a:spcPct val="100000"/>
              </a:lnSpc>
            </a:pPr>
            <a:r>
              <a:rPr lang="en-US" sz="1200" b="1">
                <a:solidFill>
                  <a:srgbClr val="D9534F"/>
                </a:solidFill>
                <a:latin typeface="Microsoft YaHei"/>
                <a:ea typeface="Microsoft YaHei"/>
              </a:rPr>
              <a:t>Writes the interface</a:t>
            </a:r>
            <a:endParaRPr/>
          </a:p>
        </p:txBody>
      </p:sp>
      <p:sp>
        <p:nvSpPr>
          <p:cNvPr id="24" name=""/>
          <p:cNvSpPr/>
          <p:nvPr/>
        </p:nvSpPr>
        <p:spPr>
          <a:xfrm rot="0" flipH="0" flipV="0">
            <a:off x="552450" y="1809750"/>
            <a:ext cx="4524375" cy="495300"/>
          </a:xfrm>
          <a:prstGeom prst="roundRect">
            <a:avLst>
              <a:gd name="adj" fmla="val 15385"/>
            </a:avLst>
          </a:prstGeom>
          <a:solidFill>
            <a:srgbClr val="FFFFFF"/>
          </a:solidFill>
          <a:ln w="12700">
            <a:solidFill>
              <a:srgbClr val="E5E7EB"/>
            </a:solidFill>
            <a:prstDash val="solid"/>
          </a:ln>
        </p:spPr>
        <p:txBody>
          <a:bodyPr/>
          <a:p/>
        </p:txBody>
      </p:sp>
      <p:sp>
        <p:nvSpPr>
          <p:cNvPr id="25" name="" descr="{&quot;isTemplate&quot;:true,&quot;type&quot;:&quot;text&quot;}"/>
          <p:cNvSpPr txBox="1"/>
          <p:nvPr/>
        </p:nvSpPr>
        <p:spPr>
          <a:xfrm rot="0" flipH="0" flipV="0">
            <a:off x="695325" y="1933575"/>
            <a:ext cx="4238625" cy="247650"/>
          </a:xfrm>
          <a:prstGeom prst="rect"/>
        </p:spPr>
        <p:txBody>
          <a:bodyPr wrap="none" lIns="0" tIns="0" rIns="0" bIns="0"/>
          <a:p>
            <a:pPr>
              <a:lnSpc>
                <a:spcPct val="150000"/>
              </a:lnSpc>
            </a:pPr>
            <a:r>
              <a:rPr lang="en-US" sz="1050">
                <a:solidFill>
                  <a:srgbClr val="4A5568"/>
                </a:solidFill>
                <a:latin typeface="Microsoft YaHei"/>
                <a:ea typeface="Microsoft YaHei"/>
              </a:rPr>
              <a:t>The user clicks the Submit button on the payment page.</a:t>
            </a:r>
            <a:endParaRPr/>
          </a:p>
        </p:txBody>
      </p:sp>
      <p:sp>
        <p:nvSpPr>
          <p:cNvPr id="26" name=""/>
          <p:cNvSpPr/>
          <p:nvPr/>
        </p:nvSpPr>
        <p:spPr>
          <a:xfrm rot="0" flipH="0" flipV="0">
            <a:off x="552450" y="2419350"/>
            <a:ext cx="4524375" cy="495300"/>
          </a:xfrm>
          <a:prstGeom prst="roundRect">
            <a:avLst>
              <a:gd name="adj" fmla="val 15385"/>
            </a:avLst>
          </a:prstGeom>
          <a:solidFill>
            <a:srgbClr val="FFFFFF"/>
          </a:solidFill>
          <a:ln w="12700">
            <a:solidFill>
              <a:srgbClr val="E5E7EB"/>
            </a:solidFill>
            <a:prstDash val="solid"/>
          </a:ln>
        </p:spPr>
        <p:txBody>
          <a:bodyPr/>
          <a:p/>
        </p:txBody>
      </p:sp>
      <p:sp>
        <p:nvSpPr>
          <p:cNvPr id="27" name="" descr="{&quot;isTemplate&quot;:true,&quot;type&quot;:&quot;text&quot;}"/>
          <p:cNvSpPr txBox="1"/>
          <p:nvPr/>
        </p:nvSpPr>
        <p:spPr>
          <a:xfrm rot="0" flipH="0" flipV="0">
            <a:off x="695325" y="2543175"/>
            <a:ext cx="4238625" cy="247650"/>
          </a:xfrm>
          <a:prstGeom prst="rect"/>
        </p:spPr>
        <p:txBody>
          <a:bodyPr wrap="none" lIns="0" tIns="0" rIns="0" bIns="0"/>
          <a:p>
            <a:pPr>
              <a:lnSpc>
                <a:spcPct val="150000"/>
              </a:lnSpc>
            </a:pPr>
            <a:r>
              <a:rPr lang="en-US" sz="1050">
                <a:solidFill>
                  <a:srgbClr val="4A5568"/>
                </a:solidFill>
                <a:latin typeface="Microsoft YaHei"/>
                <a:ea typeface="Microsoft YaHei"/>
              </a:rPr>
              <a:t>The system validates the credit card number.</a:t>
            </a:r>
            <a:endParaRPr/>
          </a:p>
        </p:txBody>
      </p:sp>
      <p:sp>
        <p:nvSpPr>
          <p:cNvPr id="28" name=""/>
          <p:cNvSpPr/>
          <p:nvPr/>
        </p:nvSpPr>
        <p:spPr>
          <a:xfrm rot="0" flipH="0" flipV="0">
            <a:off x="552450" y="3028950"/>
            <a:ext cx="4524375" cy="495300"/>
          </a:xfrm>
          <a:prstGeom prst="roundRect">
            <a:avLst>
              <a:gd name="adj" fmla="val 15385"/>
            </a:avLst>
          </a:prstGeom>
          <a:solidFill>
            <a:srgbClr val="FFFFFF"/>
          </a:solidFill>
          <a:ln w="12700">
            <a:solidFill>
              <a:srgbClr val="E5E7EB"/>
            </a:solidFill>
            <a:prstDash val="solid"/>
          </a:ln>
        </p:spPr>
        <p:txBody>
          <a:bodyPr/>
          <a:p/>
        </p:txBody>
      </p:sp>
      <p:sp>
        <p:nvSpPr>
          <p:cNvPr id="29" name="" descr="{&quot;isTemplate&quot;:true,&quot;type&quot;:&quot;text&quot;}"/>
          <p:cNvSpPr txBox="1"/>
          <p:nvPr/>
        </p:nvSpPr>
        <p:spPr>
          <a:xfrm rot="0" flipH="0" flipV="0">
            <a:off x="695325" y="3152775"/>
            <a:ext cx="4238625" cy="247650"/>
          </a:xfrm>
          <a:prstGeom prst="rect"/>
        </p:spPr>
        <p:txBody>
          <a:bodyPr wrap="none" lIns="0" tIns="0" rIns="0" bIns="0"/>
          <a:p>
            <a:pPr>
              <a:lnSpc>
                <a:spcPct val="150000"/>
              </a:lnSpc>
            </a:pPr>
            <a:r>
              <a:rPr lang="en-US" sz="1050">
                <a:solidFill>
                  <a:srgbClr val="4A5568"/>
                </a:solidFill>
                <a:latin typeface="Microsoft YaHei"/>
                <a:ea typeface="Microsoft YaHei"/>
              </a:rPr>
              <a:t>The user selects "Credit Card" from the dropdown.</a:t>
            </a:r>
            <a:endParaRPr/>
          </a:p>
        </p:txBody>
      </p:sp>
      <p:sp>
        <p:nvSpPr>
          <p:cNvPr id="30" name=""/>
          <p:cNvSpPr/>
          <p:nvPr/>
        </p:nvSpPr>
        <p:spPr>
          <a:xfrm rot="0" flipH="0" flipV="0">
            <a:off x="552450" y="3638550"/>
            <a:ext cx="4524375" cy="495300"/>
          </a:xfrm>
          <a:prstGeom prst="roundRect">
            <a:avLst>
              <a:gd name="adj" fmla="val 15385"/>
            </a:avLst>
          </a:prstGeom>
          <a:solidFill>
            <a:srgbClr val="FFFFFF"/>
          </a:solidFill>
          <a:ln w="12700">
            <a:solidFill>
              <a:srgbClr val="E5E7EB"/>
            </a:solidFill>
            <a:prstDash val="solid"/>
          </a:ln>
        </p:spPr>
        <p:txBody>
          <a:bodyPr/>
          <a:p/>
        </p:txBody>
      </p:sp>
      <p:sp>
        <p:nvSpPr>
          <p:cNvPr id="31" name="" descr="{&quot;isTemplate&quot;:true,&quot;type&quot;:&quot;text&quot;}"/>
          <p:cNvSpPr txBox="1"/>
          <p:nvPr/>
        </p:nvSpPr>
        <p:spPr>
          <a:xfrm rot="0" flipH="0" flipV="0">
            <a:off x="695325" y="3762375"/>
            <a:ext cx="4238625" cy="247650"/>
          </a:xfrm>
          <a:prstGeom prst="rect"/>
        </p:spPr>
        <p:txBody>
          <a:bodyPr wrap="none" lIns="0" tIns="0" rIns="0" bIns="0"/>
          <a:p>
            <a:pPr>
              <a:lnSpc>
                <a:spcPct val="150000"/>
              </a:lnSpc>
            </a:pPr>
            <a:r>
              <a:rPr lang="en-US" sz="1050">
                <a:solidFill>
                  <a:srgbClr val="4A5568"/>
                </a:solidFill>
                <a:latin typeface="Microsoft YaHei"/>
                <a:ea typeface="Microsoft YaHei"/>
              </a:rPr>
              <a:t>The web page refreshes and shows the order number.</a:t>
            </a:r>
            <a:endParaRPr/>
          </a:p>
        </p:txBody>
      </p:sp>
      <p:sp>
        <p:nvSpPr>
          <p:cNvPr id="32" name=""/>
          <p:cNvSpPr/>
          <p:nvPr/>
        </p:nvSpPr>
        <p:spPr>
          <a:xfrm rot="0" flipH="0" flipV="0">
            <a:off x="552450" y="4248150"/>
            <a:ext cx="4524375" cy="495300"/>
          </a:xfrm>
          <a:prstGeom prst="roundRect">
            <a:avLst>
              <a:gd name="adj" fmla="val 15385"/>
            </a:avLst>
          </a:prstGeom>
          <a:solidFill>
            <a:srgbClr val="FFFFFF"/>
          </a:solidFill>
          <a:ln w="12700">
            <a:solidFill>
              <a:srgbClr val="E5E7EB"/>
            </a:solidFill>
            <a:prstDash val="solid"/>
          </a:ln>
        </p:spPr>
        <p:txBody>
          <a:bodyPr/>
          <a:p/>
        </p:txBody>
      </p:sp>
      <p:sp>
        <p:nvSpPr>
          <p:cNvPr id="33" name="" descr="{&quot;isTemplate&quot;:true,&quot;type&quot;:&quot;text&quot;}"/>
          <p:cNvSpPr txBox="1"/>
          <p:nvPr/>
        </p:nvSpPr>
        <p:spPr>
          <a:xfrm rot="0" flipH="0" flipV="0">
            <a:off x="695325" y="4371975"/>
            <a:ext cx="4238625" cy="247650"/>
          </a:xfrm>
          <a:prstGeom prst="rect"/>
        </p:spPr>
        <p:txBody>
          <a:bodyPr wrap="none" lIns="0" tIns="0" rIns="0" bIns="0"/>
          <a:p>
            <a:pPr>
              <a:lnSpc>
                <a:spcPct val="150000"/>
              </a:lnSpc>
            </a:pPr>
            <a:r>
              <a:rPr lang="en-US" sz="1050">
                <a:solidFill>
                  <a:srgbClr val="4A5568"/>
                </a:solidFill>
                <a:latin typeface="Microsoft YaHei"/>
                <a:ea typeface="Microsoft YaHei"/>
              </a:rPr>
              <a:t>The user clicks OK in the alert dialog.</a:t>
            </a:r>
            <a:endParaRPr/>
          </a:p>
        </p:txBody>
      </p:sp>
      <p:sp>
        <p:nvSpPr>
          <p:cNvPr id="34" name=""/>
          <p:cNvSpPr/>
          <p:nvPr/>
        </p:nvSpPr>
        <p:spPr>
          <a:xfrm rot="0" flipH="0" flipV="0">
            <a:off x="5838825" y="3571875"/>
            <a:ext cx="514350" cy="514350"/>
          </a:xfrm>
          <a:prstGeom prst="roundRect">
            <a:avLst>
              <a:gd name="adj" fmla="val 50000"/>
            </a:avLst>
          </a:prstGeom>
          <a:solidFill>
            <a:srgbClr val="1E4FA8"/>
          </a:solidFill>
          <a:ln/>
        </p:spPr>
        <p:txBody>
          <a:bodyPr/>
          <a:p/>
        </p:txBody>
      </p:sp>
      <p:sp>
        <p:nvSpPr>
          <p:cNvPr id="35" name="" descr="{&quot;isTemplate&quot;:true,&quot;type&quot;:&quot;text&quot;}"/>
          <p:cNvSpPr txBox="1"/>
          <p:nvPr/>
        </p:nvSpPr>
        <p:spPr>
          <a:xfrm rot="0" flipH="0" flipV="0">
            <a:off x="5972175" y="3676650"/>
            <a:ext cx="247650" cy="304800"/>
          </a:xfrm>
          <a:prstGeom prst="rect"/>
        </p:spPr>
        <p:txBody>
          <a:bodyPr wrap="none" lIns="0" tIns="0" rIns="0" bIns="0"/>
          <a:p>
            <a:pPr>
              <a:lnSpc>
                <a:spcPct val="100000"/>
              </a:lnSpc>
            </a:pPr>
            <a:r>
              <a:rPr sz="1950" b="1">
                <a:solidFill>
                  <a:srgbClr val="FFFFFF"/>
                </a:solidFill>
                <a:latin typeface="Microsoft YaHei"/>
                <a:ea typeface="Microsoft YaHei"/>
              </a:rPr>
              <a:t>→</a:t>
            </a:r>
            <a:endParaRPr/>
          </a:p>
        </p:txBody>
      </p:sp>
      <p:sp>
        <p:nvSpPr>
          <p:cNvPr id="36" name=""/>
          <p:cNvSpPr/>
          <p:nvPr/>
        </p:nvSpPr>
        <p:spPr>
          <a:xfrm rot="0" flipH="0" flipV="0">
            <a:off x="6943725" y="1238250"/>
            <a:ext cx="4867275" cy="419100"/>
          </a:xfrm>
          <a:prstGeom prst="roundRect">
            <a:avLst>
              <a:gd name="adj" fmla="val 20455"/>
            </a:avLst>
          </a:prstGeom>
          <a:solidFill>
            <a:srgbClr val="EAF6EC"/>
          </a:solidFill>
          <a:ln/>
        </p:spPr>
        <p:txBody>
          <a:bodyPr/>
          <a:p/>
        </p:txBody>
      </p:sp>
      <p:sp>
        <p:nvSpPr>
          <p:cNvPr id="37" name="" descr="{&quot;isTemplate&quot;:true,&quot;type&quot;:&quot;text&quot;}"/>
          <p:cNvSpPr txBox="1"/>
          <p:nvPr/>
        </p:nvSpPr>
        <p:spPr>
          <a:xfrm rot="0" flipH="0" flipV="0">
            <a:off x="7115175" y="1352550"/>
            <a:ext cx="4524375" cy="190500"/>
          </a:xfrm>
          <a:prstGeom prst="rect"/>
        </p:spPr>
        <p:txBody>
          <a:bodyPr wrap="none" lIns="0" tIns="0" rIns="0" bIns="0"/>
          <a:p>
            <a:pPr>
              <a:lnSpc>
                <a:spcPct val="100000"/>
              </a:lnSpc>
            </a:pPr>
            <a:r>
              <a:rPr lang="en-US" sz="1200" b="1">
                <a:solidFill>
                  <a:srgbClr val="2B7A3D"/>
                </a:solidFill>
                <a:latin typeface="Microsoft YaHei"/>
                <a:ea typeface="Microsoft YaHei"/>
              </a:rPr>
              <a:t>Writes the system</a:t>
            </a:r>
            <a:endParaRPr/>
          </a:p>
        </p:txBody>
      </p:sp>
      <p:sp>
        <p:nvSpPr>
          <p:cNvPr id="38" name=""/>
          <p:cNvSpPr/>
          <p:nvPr/>
        </p:nvSpPr>
        <p:spPr>
          <a:xfrm rot="0" flipH="0" flipV="0">
            <a:off x="7115175" y="1809750"/>
            <a:ext cx="4524375" cy="733425"/>
          </a:xfrm>
          <a:prstGeom prst="roundRect">
            <a:avLst>
              <a:gd name="adj" fmla="val 10390"/>
            </a:avLst>
          </a:prstGeom>
          <a:solidFill>
            <a:srgbClr val="FFFFFF"/>
          </a:solidFill>
          <a:ln w="12700">
            <a:solidFill>
              <a:srgbClr val="E5E7EB"/>
            </a:solidFill>
            <a:prstDash val="solid"/>
          </a:ln>
        </p:spPr>
        <p:txBody>
          <a:bodyPr/>
          <a:p/>
        </p:txBody>
      </p:sp>
      <p:sp>
        <p:nvSpPr>
          <p:cNvPr id="39" name="" descr="{&quot;isTemplate&quot;:true,&quot;type&quot;:&quot;text&quot;}"/>
          <p:cNvSpPr txBox="1"/>
          <p:nvPr/>
        </p:nvSpPr>
        <p:spPr>
          <a:xfrm rot="0" flipH="0" flipV="0">
            <a:off x="7258050" y="1933575"/>
            <a:ext cx="4238625" cy="485775"/>
          </a:xfrm>
          <a:prstGeom prst="rect"/>
        </p:spPr>
        <p:txBody>
          <a:bodyPr wrap="square" lIns="0" tIns="0" rIns="0" bIns="0">
            <a:normAutofit/>
          </a:bodyPr>
          <a:p>
            <a:pPr>
              <a:lnSpc>
                <a:spcPct val="150000"/>
              </a:lnSpc>
            </a:pPr>
            <a:r>
              <a:rPr lang="en-US" sz="1050">
                <a:solidFill>
                  <a:srgbClr val="4A5568"/>
                </a:solidFill>
                <a:latin typeface="Microsoft YaHei"/>
                <a:ea typeface="Microsoft YaHei"/>
              </a:rPr>
              <a:t>The system accepts the order submission and requests payment authorisation for RMB 24.00.</a:t>
            </a:r>
            <a:endParaRPr/>
          </a:p>
        </p:txBody>
      </p:sp>
      <p:sp>
        <p:nvSpPr>
          <p:cNvPr id="40" name=""/>
          <p:cNvSpPr/>
          <p:nvPr/>
        </p:nvSpPr>
        <p:spPr>
          <a:xfrm rot="0" flipH="0" flipV="0">
            <a:off x="7115175" y="2657475"/>
            <a:ext cx="4524375" cy="495300"/>
          </a:xfrm>
          <a:prstGeom prst="roundRect">
            <a:avLst>
              <a:gd name="adj" fmla="val 15385"/>
            </a:avLst>
          </a:prstGeom>
          <a:solidFill>
            <a:srgbClr val="FFFFFF"/>
          </a:solidFill>
          <a:ln w="12700">
            <a:solidFill>
              <a:srgbClr val="E5E7EB"/>
            </a:solidFill>
            <a:prstDash val="solid"/>
          </a:ln>
        </p:spPr>
        <p:txBody>
          <a:bodyPr/>
          <a:p/>
        </p:txBody>
      </p:sp>
      <p:sp>
        <p:nvSpPr>
          <p:cNvPr id="41" name="" descr="{&quot;isTemplate&quot;:true,&quot;type&quot;:&quot;text&quot;}"/>
          <p:cNvSpPr txBox="1"/>
          <p:nvPr/>
        </p:nvSpPr>
        <p:spPr>
          <a:xfrm rot="0" flipH="0" flipV="0">
            <a:off x="7258050" y="2781300"/>
            <a:ext cx="4238625" cy="247650"/>
          </a:xfrm>
          <a:prstGeom prst="rect"/>
        </p:spPr>
        <p:txBody>
          <a:bodyPr wrap="none" lIns="0" tIns="0" rIns="0" bIns="0"/>
          <a:p>
            <a:pPr>
              <a:lnSpc>
                <a:spcPct val="150000"/>
              </a:lnSpc>
            </a:pPr>
            <a:r>
              <a:rPr lang="en-US" sz="1050">
                <a:solidFill>
                  <a:srgbClr val="4A5568"/>
                </a:solidFill>
                <a:latin typeface="Microsoft YaHei"/>
                <a:ea typeface="Microsoft YaHei"/>
              </a:rPr>
              <a:t>The system confirms the amount with the payment provider.</a:t>
            </a:r>
            <a:endParaRPr/>
          </a:p>
        </p:txBody>
      </p:sp>
      <p:sp>
        <p:nvSpPr>
          <p:cNvPr id="42" name=""/>
          <p:cNvSpPr/>
          <p:nvPr/>
        </p:nvSpPr>
        <p:spPr>
          <a:xfrm rot="0" flipH="0" flipV="0">
            <a:off x="7115175" y="3267075"/>
            <a:ext cx="4524375" cy="495300"/>
          </a:xfrm>
          <a:prstGeom prst="roundRect">
            <a:avLst>
              <a:gd name="adj" fmla="val 15385"/>
            </a:avLst>
          </a:prstGeom>
          <a:solidFill>
            <a:srgbClr val="FFFFFF"/>
          </a:solidFill>
          <a:ln w="12700">
            <a:solidFill>
              <a:srgbClr val="E5E7EB"/>
            </a:solidFill>
            <a:prstDash val="solid"/>
          </a:ln>
        </p:spPr>
        <p:txBody>
          <a:bodyPr/>
          <a:p/>
        </p:txBody>
      </p:sp>
      <p:sp>
        <p:nvSpPr>
          <p:cNvPr id="43" name="" descr="{&quot;isTemplate&quot;:true,&quot;type&quot;:&quot;text&quot;}"/>
          <p:cNvSpPr txBox="1"/>
          <p:nvPr/>
        </p:nvSpPr>
        <p:spPr>
          <a:xfrm rot="0" flipH="0" flipV="0">
            <a:off x="7258050" y="3390900"/>
            <a:ext cx="4238625" cy="247650"/>
          </a:xfrm>
          <a:prstGeom prst="rect"/>
        </p:spPr>
        <p:txBody>
          <a:bodyPr wrap="none" lIns="0" tIns="0" rIns="0" bIns="0"/>
          <a:p>
            <a:pPr>
              <a:lnSpc>
                <a:spcPct val="150000"/>
              </a:lnSpc>
            </a:pPr>
            <a:r>
              <a:rPr lang="en-US" sz="1050">
                <a:solidFill>
                  <a:srgbClr val="4A5568"/>
                </a:solidFill>
                <a:latin typeface="Microsoft YaHei"/>
                <a:ea typeface="Microsoft YaHei"/>
              </a:rPr>
              <a:t>The system records a campus card payment for the order.</a:t>
            </a:r>
            <a:endParaRPr/>
          </a:p>
        </p:txBody>
      </p:sp>
      <p:sp>
        <p:nvSpPr>
          <p:cNvPr id="44" name=""/>
          <p:cNvSpPr/>
          <p:nvPr/>
        </p:nvSpPr>
        <p:spPr>
          <a:xfrm rot="0" flipH="0" flipV="0">
            <a:off x="7115175" y="3876675"/>
            <a:ext cx="4524375" cy="495300"/>
          </a:xfrm>
          <a:prstGeom prst="roundRect">
            <a:avLst>
              <a:gd name="adj" fmla="val 15385"/>
            </a:avLst>
          </a:prstGeom>
          <a:solidFill>
            <a:srgbClr val="FFFFFF"/>
          </a:solidFill>
          <a:ln w="12700">
            <a:solidFill>
              <a:srgbClr val="E5E7EB"/>
            </a:solidFill>
            <a:prstDash val="solid"/>
          </a:ln>
        </p:spPr>
        <p:txBody>
          <a:bodyPr/>
          <a:p/>
        </p:txBody>
      </p:sp>
      <p:sp>
        <p:nvSpPr>
          <p:cNvPr id="45" name="" descr="{&quot;isTemplate&quot;:true,&quot;type&quot;:&quot;text&quot;}"/>
          <p:cNvSpPr txBox="1"/>
          <p:nvPr/>
        </p:nvSpPr>
        <p:spPr>
          <a:xfrm rot="0" flipH="0" flipV="0">
            <a:off x="7258050" y="4000500"/>
            <a:ext cx="4238625" cy="247650"/>
          </a:xfrm>
          <a:prstGeom prst="rect"/>
        </p:spPr>
        <p:txBody>
          <a:bodyPr wrap="none" lIns="0" tIns="0" rIns="0" bIns="0"/>
          <a:p>
            <a:pPr>
              <a:lnSpc>
                <a:spcPct val="150000"/>
              </a:lnSpc>
            </a:pPr>
            <a:r>
              <a:rPr lang="en-US" sz="1050">
                <a:solidFill>
                  <a:srgbClr val="4A5568"/>
                </a:solidFill>
                <a:latin typeface="Microsoft YaHei"/>
                <a:ea typeface="Microsoft YaHei"/>
              </a:rPr>
              <a:t>The system issues order number CB-20419 and displays it.</a:t>
            </a:r>
            <a:endParaRPr/>
          </a:p>
        </p:txBody>
      </p:sp>
      <p:sp>
        <p:nvSpPr>
          <p:cNvPr id="46" name=""/>
          <p:cNvSpPr/>
          <p:nvPr/>
        </p:nvSpPr>
        <p:spPr>
          <a:xfrm rot="0" flipH="0" flipV="0">
            <a:off x="7115175" y="4486275"/>
            <a:ext cx="4524375" cy="495300"/>
          </a:xfrm>
          <a:prstGeom prst="roundRect">
            <a:avLst>
              <a:gd name="adj" fmla="val 15385"/>
            </a:avLst>
          </a:prstGeom>
          <a:solidFill>
            <a:srgbClr val="FFFFFF"/>
          </a:solidFill>
          <a:ln w="12700">
            <a:solidFill>
              <a:srgbClr val="E5E7EB"/>
            </a:solidFill>
            <a:prstDash val="solid"/>
          </a:ln>
        </p:spPr>
        <p:txBody>
          <a:bodyPr/>
          <a:p/>
        </p:txBody>
      </p:sp>
      <p:sp>
        <p:nvSpPr>
          <p:cNvPr id="47" name="" descr="{&quot;isTemplate&quot;:true,&quot;type&quot;:&quot;text&quot;}"/>
          <p:cNvSpPr txBox="1"/>
          <p:nvPr/>
        </p:nvSpPr>
        <p:spPr>
          <a:xfrm rot="0" flipH="0" flipV="0">
            <a:off x="7258050" y="4610100"/>
            <a:ext cx="4238625" cy="247650"/>
          </a:xfrm>
          <a:prstGeom prst="rect"/>
        </p:spPr>
        <p:txBody>
          <a:bodyPr wrap="none" lIns="0" tIns="0" rIns="0" bIns="0"/>
          <a:p>
            <a:pPr>
              <a:lnSpc>
                <a:spcPct val="150000"/>
              </a:lnSpc>
            </a:pPr>
            <a:r>
              <a:rPr lang="en-US" sz="1050">
                <a:solidFill>
                  <a:srgbClr val="4A5568"/>
                </a:solidFill>
                <a:latin typeface="Microsoft YaHei"/>
                <a:ea typeface="Microsoft YaHei"/>
              </a:rPr>
              <a:t>The system acknowledges the cancellation and ends the interaction.</a:t>
            </a:r>
            <a:endParaRPr/>
          </a:p>
        </p:txBody>
      </p:sp>
      <p:sp>
        <p:nvSpPr>
          <p:cNvPr id="48" name=""/>
          <p:cNvSpPr/>
          <p:nvPr/>
        </p:nvSpPr>
        <p:spPr>
          <a:xfrm rot="0" flipH="0" flipV="0">
            <a:off x="0" y="6419850"/>
            <a:ext cx="12192000" cy="438150"/>
          </a:xfrm>
          <a:prstGeom prst="rect">
            <a:avLst/>
          </a:prstGeom>
          <a:solidFill>
            <a:srgbClr val="0E3F8C"/>
          </a:solidFill>
          <a:ln/>
        </p:spPr>
        <p:txBody>
          <a:bodyPr/>
          <a:p/>
        </p:txBody>
      </p:sp>
      <p:sp>
        <p:nvSpPr>
          <p:cNvPr id="49" name="" descr="{&quot;isTemplate&quot;:true,&quot;type&quot;:&quot;text&quot;}"/>
          <p:cNvSpPr txBox="1"/>
          <p:nvPr/>
        </p:nvSpPr>
        <p:spPr>
          <a:xfrm rot="0" flipH="0" flipV="0">
            <a:off x="2981325" y="6543675"/>
            <a:ext cx="6238875" cy="190500"/>
          </a:xfrm>
          <a:prstGeom prst="rect"/>
        </p:spPr>
        <p:txBody>
          <a:bodyPr wrap="none" lIns="0" tIns="0" rIns="0" bIns="0"/>
          <a:p>
            <a:pPr>
              <a:lnSpc>
                <a:spcPct val="100000"/>
              </a:lnSpc>
            </a:pPr>
            <a:r>
              <a:rPr lang="en-US" sz="1238" b="1">
                <a:solidFill>
                  <a:srgbClr val="FFFFFF"/>
                </a:solidFill>
                <a:latin typeface="Microsoft YaHei"/>
                <a:ea typeface="Microsoft YaHei"/>
              </a:rPr>
              <a:t>Buttons move. Every sentence you write about one will have to be rewritten in W16.</a:t>
            </a:r>
            <a:endParaRPr/>
          </a:p>
        </p:txBody>
      </p:sp>
    </p:spTree>
  </p:cSld>
</p:sld>
</file>

<file path=ppt/slides/slide11.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50"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WRITING GOOD SCENARIOS&lt;/Text&gt;&#10;  &lt;/Box&gt;&#10;  &lt;Box style={{ padding: '13px 40px 0 40px', flexDirection: 'row', alignItems: 'center', justifyContent: 'space-between' }}&gt;&#10;    &lt;Text style={{ fontSize: 29, fontWeight: 'bold', color: '#0E3F8C' }}&gt;No UI in an Analysis Spec&lt;/Text&gt;&#10;    &lt;Text style={{ fontSize: 14, color: '#1E4FA8', fontWeight: 'bold' }}&gt;11 / 38&lt;/Text&gt;&#10;  &lt;/Box&gt;&#10;  &lt;Box style={{ flex: 1, padding: '10px 40px 0 40px' }}&gt;&#10;    &lt;Table&#10;      style={{ width: '100%', height: '100%' }}&#10;      defaultTextStyle={{ fontSize: 13.5, textAlign: 'left', color: '#1A2230' }}&#10;      defaultCellStyle={{&#10;        border: {&#10;          left: { width: 1, color: '#E5E7EB' },&#10;          right: { width: 1, color: '#E5E7EB' },&#10;          top: { width: 1, color: '#E5E7EB' },&#10;          bottom: { width: 1, color: '#E5E7EB' },&#10;        },&#10;      }}&#10;      cells={[&#10;        [&#10;          { text: '', textStyle: { bold: true }, cellStyle: { background: { color: '#0E3F8C' } } },&#10;          { text: 'Leaked from the interface', textStyle: { bold: true, color: '#FFFFFF', fontSize: 15 }, cellStyle: { background: { color: '#8B3230' } } },&#10;          { text: 'Written about the system', textStyle: { bold: true, color: '#FFFFFF', fontSize: 15 }, cellStyle: { background: { color: '#2B5793' } } },&#10;          { text: 'Why it matters', textStyle: { bold: true, color: '#FFFFFF', fontSize: 15 }, cellStyle: { background: { color: '#1E4FA8' } } },&#10;        ],&#10;        [&#10;          { text: 'Navigation', textStyle: { bold: true, color: '#0E3F8C' }, cellStyle: { background: { color: '#F7F9FC' } } },&#10;          { text: 'The user navigates to the cart page.', textStyle: { color: '#4A5568' }, cellStyle: { background: { color: '#F7F9FC' } } },&#10;          { text: 'The system displays the current cart contents and total.', textStyle: { color: '#4A5568' }, cellStyle: { background: { color: '#F7F9FC' } } },&#10;          { text: 'A mobile app has no cart page. The goal survives; the page does not.', textStyle: { color: '#4A5568' }, cellStyle: { background: { color: '#F7F9FC' } } },&#10;        ],&#10;        [&#10;          { text: 'Widgets', textStyle: { bold: true, color: '#0E3F8C' } },&#10;          { text: 'The student ticks the “express delivery” checkbox.', textStyle: { color: '#4A5568' } },&#10;          { text: 'The system records express delivery on the order.', textStyle: { color: '#4A5568' } },&#10;          { text: 'The delivery option is the requirement; the checkbox is one way to offer it.', textStyle: { color: '#4A5568' } },&#10;        ],&#10;        [&#10;          { text: 'Layout', textStyle: { bold: true, color: '#0E3F8C' }, cellStyle: { background: { color: '#F7F9FC' } } },&#10;          { text: 'The confirmation appears in a modal window.', textStyle: { color: '#4A5568' }, cellStyle: { background: { color: '#F7F9FC' } } },&#10;          { text: 'The system confirms the order and reports its number.', textStyle: { color: '#4A5568' }, cellStyle: { background: { color: '#F7F9FC' } } },&#10;          { text: 'A toast, a modal or an email all satisfy the same step.', textStyle: { color: '#4A5568' }, cellStyle: { background: { color: '#F7F9FC' } } },&#10;        ],&#10;        [&#10;          { text: 'Device', textStyle: { bold: true, color: '#0E3F8C' } },&#10;          { text: 'The kitchen staff see the order on the tablet screen.', textStyle: { color: '#4A5568' } },&#10;          { text: 'The system makes the accepted order available to kitchen staff.', textStyle: { color: '#4A5568' } },&#10;          { text: 'Next term it is a thermal printer. The spec should not notice.', textStyle: { color: '#4A5568' } },&#10;        ],&#10;        [&#10;          { text: 'Format', textStyle: { bold: true, color: '#0E3F8C' }, cellStyle: { background: { color: '#F7F9FC' } } },&#10;          { text: 'The system renders the total in red bold font.', textStyle: { color: '#4A5568' }, cellStyle: { background: { color: '#F7F9FC' } } },&#10;          { text: 'The system displays the payable amount and the payment deadline.', textStyle: { color: '#4A5568' }, cellStyle: { background: { color: '#F7F9FC' } } },&#10;          { text: 'A requirement about colour is a design decision, not an analysis one.', textStyle: { color: '#4A5568' }, cellStyle: { background: { color: '#F7F9FC' } } },&#10;        ],&#10;      ]}&#10;    /&gt;&#10;  &lt;/Box&gt;&#10;  &lt;Box style={{ height: 46, background: '#0E3F8C', padding: '0 40px', flexDirection: 'row', alignItems: 'center', justifyContent: 'center' }}&gt;&#10;    &lt;Text style={{ fontSize: 16.5, color: '#FFFFFF', fontWeight: '600' }}&gt;Write about the system, and the interface stays free to change until W10.&lt;/Text&gt;&#10;  &lt;/Box&gt;&#10;&lt;/Slide&gt;&#10;"/>
        <p:cNvGrpSpPr/>
        <p:nvPr/>
      </p:nvGrpSpPr>
      <p:grpSpPr>
        <a:xfrm>
          <a:off x="0" y="0"/>
          <a:ext cx="0" cy="0"/>
          <a:chOff x="0" y="0"/>
          <a:chExt cx="0" cy="0"/>
        </a:xfrm>
      </p:grpSpPr>
      <p:sp>
        <p:nvSpPr>
          <p:cNvPr id="51" name=""/>
          <p:cNvSpPr/>
          <p:nvPr/>
        </p:nvSpPr>
        <p:spPr>
          <a:xfrm rot="0" flipH="0" flipV="0">
            <a:off x="0" y="0"/>
            <a:ext cx="12192000" cy="6858000"/>
          </a:xfrm>
          <a:prstGeom prst="rect">
            <a:avLst/>
          </a:prstGeom>
          <a:solidFill>
            <a:srgbClr val="FFFFFF"/>
          </a:solidFill>
          <a:ln/>
        </p:spPr>
        <p:txBody>
          <a:bodyPr/>
          <a:p/>
        </p:txBody>
      </p:sp>
      <p:sp>
        <p:nvSpPr>
          <p:cNvPr id="52" name=""/>
          <p:cNvSpPr/>
          <p:nvPr/>
        </p:nvSpPr>
        <p:spPr>
          <a:xfrm rot="0" flipH="0" flipV="0">
            <a:off x="0" y="0"/>
            <a:ext cx="12192000" cy="685800"/>
          </a:xfrm>
          <a:prstGeom prst="rect">
            <a:avLst/>
          </a:prstGeom>
          <a:solidFill>
            <a:srgbClr val="1E4FA8"/>
          </a:solidFill>
          <a:ln/>
        </p:spPr>
        <p:txBody>
          <a:bodyPr/>
          <a:p/>
        </p:txBody>
      </p:sp>
      <p:sp>
        <p:nvSpPr>
          <p:cNvPr id="53"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54" name="" descr="{&quot;isTemplate&quot;:true,&quot;type&quot;:&quot;text&quot;}"/>
          <p:cNvSpPr txBox="1"/>
          <p:nvPr/>
        </p:nvSpPr>
        <p:spPr>
          <a:xfrm rot="0" flipH="0" flipV="0">
            <a:off x="9410700" y="257175"/>
            <a:ext cx="2400300" cy="171450"/>
          </a:xfrm>
          <a:prstGeom prst="rect"/>
        </p:spPr>
        <p:txBody>
          <a:bodyPr wrap="none" lIns="0" tIns="0" rIns="0" bIns="0"/>
          <a:p>
            <a:pPr>
              <a:lnSpc>
                <a:spcPct val="100000"/>
              </a:lnSpc>
            </a:pPr>
            <a:r>
              <a:rPr lang="en-US" sz="1125">
                <a:solidFill>
                  <a:srgbClr val="B9CDF0"/>
                </a:solidFill>
                <a:latin typeface="Microsoft YaHei"/>
                <a:ea typeface="Microsoft YaHei"/>
              </a:rPr>
              <a:t>W05 · WRITING GOOD SCENARIOS</a:t>
            </a:r>
            <a:endParaRPr/>
          </a:p>
        </p:txBody>
      </p:sp>
      <p:sp>
        <p:nvSpPr>
          <p:cNvPr id="55" name="" descr="{&quot;isTemplate&quot;:true,&quot;type&quot;:&quot;text&quot;}"/>
          <p:cNvSpPr txBox="1"/>
          <p:nvPr/>
        </p:nvSpPr>
        <p:spPr>
          <a:xfrm rot="0" flipH="0" flipV="0">
            <a:off x="381000" y="809625"/>
            <a:ext cx="3400425" cy="333375"/>
          </a:xfrm>
          <a:prstGeom prst="rect"/>
        </p:spPr>
        <p:txBody>
          <a:bodyPr wrap="none" lIns="0" tIns="0" rIns="0" bIns="0"/>
          <a:p>
            <a:pPr>
              <a:lnSpc>
                <a:spcPct val="100000"/>
              </a:lnSpc>
            </a:pPr>
            <a:r>
              <a:rPr lang="en-US" sz="2175" b="1">
                <a:solidFill>
                  <a:srgbClr val="0E3F8C"/>
                </a:solidFill>
                <a:latin typeface="Microsoft YaHei"/>
                <a:ea typeface="Microsoft YaHei"/>
              </a:rPr>
              <a:t>No UI in an Analysis Spec</a:t>
            </a:r>
            <a:endParaRPr/>
          </a:p>
        </p:txBody>
      </p:sp>
      <p:sp>
        <p:nvSpPr>
          <p:cNvPr id="56"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11 / 38</a:t>
            </a:r>
            <a:endParaRPr/>
          </a:p>
        </p:txBody>
      </p:sp>
      <p:graphicFrame>
        <p:nvGraphicFramePr>
          <p:cNvPr id="57" name=""/>
          <p:cNvGraphicFramePr/>
          <p:nvPr/>
        </p:nvGraphicFramePr>
        <p:xfrm rot="0" flipH="0" flipV="0">
          <a:off x="381000" y="1238250"/>
          <a:ext cx="11430000" cy="5181600"/>
        </p:xfrm>
        <a:graphic>
          <a:graphicData uri="http://schemas.openxmlformats.org/drawingml/2006/table">
            <a:tbl>
              <a:tblGrid>
                <a:gridCol w="718437">
                  <a:extLst>
                    <a:ext uri="{9D8B030D-6E8A-4147-A177-3AD203B41FA5}">
                      <a16:colId val="1"/>
                    </a:ext>
                  </a:extLst>
                </a:gridCol>
                <a:gridCol w="2875551">
                  <a:extLst>
                    <a:ext uri="{9D8B030D-6E8A-4147-A177-3AD203B41FA5}">
                      <a16:colId val="2"/>
                    </a:ext>
                  </a:extLst>
                </a:gridCol>
                <a:gridCol w="3769084">
                  <a:extLst>
                    <a:ext uri="{9D8B030D-6E8A-4147-A177-3AD203B41FA5}">
                      <a16:colId val="3"/>
                    </a:ext>
                  </a:extLst>
                </a:gridCol>
                <a:gridCol w="4066928">
                  <a:extLst>
                    <a:ext uri="{9D8B030D-6E8A-4147-A177-3AD203B41FA5}">
                      <a16:colId val="4"/>
                    </a:ext>
                  </a:extLst>
                </a:gridCol>
              </a:tblGrid>
              <a:tr h="692048">
                <a:tc>
                  <a:txBody>
                    <a:bodyPr wrap="square" lIns="0" tIns="0" rIns="0" bIns="0" anchor="ctr">
                      <a:normAutofit/>
                    </a:bodyPr>
                    <a:p>
                      <a:pPr marL="114300" marR="114300" algn="l">
                        <a:lnSpc>
                          <a:spcPct val="120000"/>
                        </a:lnSpc>
                      </a:pP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Leaked from the interface</a:t>
                      </a:r>
                      <a:endParaRPr/>
                    </a:p>
                  </a:txBody>
                  <a:tcPr marL="45720" marR="45720" marT="45720" marB="45720" anchor="ctr">
                    <a:lnL>
                      <a:noFill/>
                    </a:lnL>
                    <a:lnR>
                      <a:noFill/>
                    </a:lnR>
                    <a:lnT>
                      <a:noFill/>
                    </a:lnT>
                    <a:lnB>
                      <a:noFill/>
                    </a:lnB>
                    <a:solidFill>
                      <a:srgbClr val="8B3230"/>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Written about the system</a:t>
                      </a:r>
                      <a:endParaRPr/>
                    </a:p>
                  </a:txBody>
                  <a:tcPr marL="45720" marR="45720" marT="45720" marB="45720" anchor="ctr">
                    <a:lnL>
                      <a:noFill/>
                    </a:lnL>
                    <a:lnR>
                      <a:noFill/>
                    </a:lnR>
                    <a:lnT>
                      <a:noFill/>
                    </a:lnT>
                    <a:lnB>
                      <a:noFill/>
                    </a:lnB>
                    <a:solidFill>
                      <a:srgbClr val="2B5793"/>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Why it matters</a:t>
                      </a:r>
                      <a:endParaRPr/>
                    </a:p>
                  </a:txBody>
                  <a:tcPr marL="45720" marR="45720" marT="45720" marB="45720" anchor="ctr">
                    <a:lnL>
                      <a:noFill/>
                    </a:lnL>
                    <a:lnR>
                      <a:noFill/>
                    </a:lnR>
                    <a:lnT>
                      <a:noFill/>
                    </a:lnT>
                    <a:lnB>
                      <a:noFill/>
                    </a:lnB>
                    <a:solidFill>
                      <a:srgbClr val="1E4FA8"/>
                    </a:solidFill>
                  </a:tcPr>
                </a:tc>
                <a:extLst>
                  <a:ext uri="{0D108BD9-81ED-4DB2-BD59-A6C34878D82A}">
                    <a16:rowId val="1"/>
                  </a:ext>
                </a:extLst>
              </a:tr>
              <a:tr h="648248">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Navigation</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user navigates to the cart page.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system displays the current cart contents and total.</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mobile app has no cart page. The goal survives; the page does not.</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10643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Widgets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student ticks the “express delivery” checkbox.</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system records express delivery on the order.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delivery option is the requirement; the checkbox is one way to offer it.</a:t>
                      </a:r>
                      <a:endParaRPr/>
                    </a:p>
                  </a:txBody>
                  <a:tcPr marL="45720" marR="45720" marT="45720" marB="45720" anchor="ctr">
                    <a:lnL>
                      <a:noFill/>
                    </a:lnL>
                    <a:lnR>
                      <a:noFill/>
                    </a:lnR>
                    <a:lnT>
                      <a:noFill/>
                    </a:lnT>
                    <a:lnB>
                      <a:noFill/>
                    </a:lnB>
                  </a:tcPr>
                </a:tc>
                <a:extLst>
                  <a:ext uri="{0D108BD9-81ED-4DB2-BD59-A6C34878D82A}">
                    <a16:rowId val="3"/>
                  </a:ext>
                </a:extLst>
              </a:tr>
              <a:tr h="648248">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Layout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confirmation appears in a modal window.</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system confirms the order and reports its number.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toast, a modal or an email all satisfy the same step.</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10643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Device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kitchen staff see the order on the tablet screen.</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system makes the accepted order available to kitchen staff.</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Next term it is a thermal printer. The spec should not notice.</a:t>
                      </a:r>
                      <a:endParaRPr/>
                    </a:p>
                  </a:txBody>
                  <a:tcPr marL="45720" marR="45720" marT="45720" marB="45720" anchor="ctr">
                    <a:lnL>
                      <a:noFill/>
                    </a:lnL>
                    <a:lnR>
                      <a:noFill/>
                    </a:lnR>
                    <a:lnT>
                      <a:noFill/>
                    </a:lnT>
                    <a:lnB>
                      <a:noFill/>
                    </a:lnB>
                  </a:tcPr>
                </a:tc>
                <a:extLst>
                  <a:ext uri="{0D108BD9-81ED-4DB2-BD59-A6C34878D82A}">
                    <a16:rowId val="5"/>
                  </a:ext>
                </a:extLst>
              </a:tr>
              <a:tr h="10643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Format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system renders the total in red bold font.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system displays the payable amount and the payment deadline.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requirement about colour is a design decision, not an analysis one.</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bl>
          </a:graphicData>
        </a:graphic>
      </p:graphicFrame>
      <p:sp>
        <p:nvSpPr>
          <p:cNvPr id="58" name=""/>
          <p:cNvSpPr/>
          <p:nvPr/>
        </p:nvSpPr>
        <p:spPr>
          <a:xfrm rot="0" flipH="0" flipV="0">
            <a:off x="0" y="6419850"/>
            <a:ext cx="12192000" cy="438150"/>
          </a:xfrm>
          <a:prstGeom prst="rect">
            <a:avLst/>
          </a:prstGeom>
          <a:solidFill>
            <a:srgbClr val="0E3F8C"/>
          </a:solidFill>
          <a:ln/>
        </p:spPr>
        <p:txBody>
          <a:bodyPr/>
          <a:p/>
        </p:txBody>
      </p:sp>
      <p:sp>
        <p:nvSpPr>
          <p:cNvPr id="59" name="" descr="{&quot;isTemplate&quot;:true,&quot;type&quot;:&quot;text&quot;}"/>
          <p:cNvSpPr txBox="1"/>
          <p:nvPr/>
        </p:nvSpPr>
        <p:spPr>
          <a:xfrm rot="0" flipH="0" flipV="0">
            <a:off x="3381375" y="6543675"/>
            <a:ext cx="5429250" cy="190500"/>
          </a:xfrm>
          <a:prstGeom prst="rect"/>
        </p:spPr>
        <p:txBody>
          <a:bodyPr wrap="none" lIns="0" tIns="0" rIns="0" bIns="0"/>
          <a:p>
            <a:pPr>
              <a:lnSpc>
                <a:spcPct val="100000"/>
              </a:lnSpc>
            </a:pPr>
            <a:r>
              <a:rPr lang="en-US" sz="1238" b="1">
                <a:solidFill>
                  <a:srgbClr val="FFFFFF"/>
                </a:solidFill>
                <a:latin typeface="Microsoft YaHei"/>
                <a:ea typeface="Microsoft YaHei"/>
              </a:rPr>
              <a:t>Write about the system, and the interface stays free to change until W10.</a:t>
            </a:r>
            <a:endParaRPr/>
          </a:p>
        </p:txBody>
      </p:sp>
    </p:spTree>
  </p:cSld>
</p:sld>
</file>

<file path=ppt/slides/slide12.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60"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WRITING GOOD SCENARIOS&lt;/Text&gt;&#10;  &lt;/Box&gt;&#10;  &lt;Box style={{ padding: '13px 40px 0 40px', flexDirection: 'row', alignItems: 'center', justifyContent: 'space-between' }}&gt;&#10;    &lt;Text style={{ fontSize: 29, fontWeight: 'bold', color: '#0E3F8C' }}&gt;The Main Success Scenario&lt;/Text&gt;&#10;    &lt;Text style={{ fontSize: 14, color: '#1E4FA8', fontWeight: 'bold' }}&gt;12 / 38&lt;/Text&gt;&#10;  &lt;/Box&gt;&#10;  &lt;Box style={{ flex: 1, padding: '8px 40px 0 40px', flexDirection: 'row', gap: 26 }}&gt;&#10;    &lt;Box style={{ width: 620, justifyContent: 'center' }}&gt;&#10;      &lt;svg width={620} height={392} viewBox='0 0 620 392'&gt;&#10;        &lt;text x='4' y='14' fill='#8B97A8' fontSize='12'&gt;Place Order — the straight-line path. Every step changes something the outside world can see.&lt;/text&gt;&#10;&#10;        &lt;g transform='translate(4,28)'&gt;&#10;          &lt;rect x='0' y='0' width='56' height='26' rx='5' fill='#1E4FA8' /&gt;&#10;          &lt;text x='28' y='18' textAnchor='middle' fill='#FFFFFF' fontSize='12' fontWeight='bold'&gt;1&lt;/text&gt;&#10;          &lt;text x='68' y='18' fill='#1A2230' fontSize='12.5'&gt;Student reviews the cart and confirms.&lt;/text&gt;&#10;          &lt;rect x='0' y='34' width='56' height='26' rx='5' fill='#1E4FA8' /&gt;&#10;          &lt;text x='28' y='52' textAnchor='middle' fill='#FFFFFF' fontSize='12' fontWeight='bold'&gt;2&lt;/text&gt;&#10;          &lt;text x='68' y='52' fill='#1A2230' fontSize='12.5'&gt;System displays the payable amount.&lt;/text&gt;&#10;          &lt;rect x='0' y='68' width='56' height='26' rx='5' fill='#1E4FA8' /&gt;&#10;          &lt;text x='28' y='86' textAnchor='middle' fill='#FFFFFF' fontSize='12' fontWeight='bold'&gt;3&lt;/text&gt;&#10;          &lt;text x='68' y='86' fill='#1A2230' fontSize='12.5'&gt;System requests payment authorisation.&lt;/text&gt;&#10;          &lt;rect x='0' y='102' width='56' height='26' rx='5' fill='#1E4FA8' /&gt;&#10;          &lt;text x='28' y='120' textAnchor='middle' fill='#FFFFFF' fontSize='12' fontWeight='bold'&gt;4&lt;/text&gt;&#10;          &lt;text x='68' y='120' fill='#1A2230' fontSize='12.5'&gt;System confirms the amount with the provider.&lt;/text&gt;&#10;          &lt;rect x='0' y='136' width='56' height='26' rx='5' fill='#1E4FA8' /&gt;&#10;          &lt;text x='28' y='154' textAnchor='middle' fill='#FFFFFF' fontSize='12' fontWeight='bold'&gt;5&lt;/text&gt;&#10;          &lt;text x='68' y='154' fill='#1A2230' fontSize='12.5'&gt;System creates the order in state Accepted.&lt;/text&gt;&#10;          &lt;rect x='0' y='170' width='56' height='26' rx='5' fill='#1E4FA8' /&gt;&#10;          &lt;text x='28' y='188' textAnchor='middle' fill='#FFFFFF' fontSize='12' fontWeight='bold'&gt;6&lt;/text&gt;&#10;          &lt;text x='68' y='188' fill='#1A2230' fontSize='12.5'&gt;System prints the kitchen ticket.&lt;/text&gt;&#10;          &lt;rect x='0' y='204' width='56' height='26' rx='5' fill='#0E3F8C' /&gt;&#10;          &lt;text x='28' y='222' textAnchor='middle' fill='#FFFFFF' fontSize='12' fontWeight='bold'&gt;7&lt;/text&gt;&#10;          &lt;text x='68' y='222' fill='#1A2230' fontSize='12.5'&gt;System notifies the student of the order time.&lt;/text&gt;&#10;          &lt;rect x='0' y='238' width='56' height='26' rx='5' fill='#0E3F8C' /&gt;&#10;          &lt;text x='28' y='256' textAnchor='middle' fill='#FFFFFF' fontSize='12' fontWeight='bold'&gt;8&lt;/text&gt;&#10;          &lt;text x='68' y='256' fill='#1A2230' fontSize='12.5'&gt;System reports the order number to the student.&lt;/text&gt;&#10;&#10;          &lt;line x1='576' y1='13' x2='576' y2='251' stroke='#2B7A3D' strokeWidth='2' /&gt;&#10;          &lt;text x='596' y='40' fill='#2B7A3D' fontSize='11.5' textAnchor='middle'&gt;system&lt;/text&gt;&#10;          &lt;text x='596' y='58' fill='#2B7A3D' fontSize='11.5' textAnchor='middle'&gt;response&lt;/text&gt;&#10;        &lt;/g&gt;&#10;&#10;        &lt;g transform='translate(4,306)'&gt;&#10;          &lt;rect x='0' y='0' width='612' height='72' rx='7' fill='#EAF6EC' stroke='#2B7A3D' strokeWidth='1.4' /&gt;&#10;          &lt;text x='16' y='26' fill='#2B7A3D' fontSize='12.5' fontWeight='bold'&gt;Six of eight steps start with “the system”. That is normal and correct.&lt;/text&gt;&#10;          &lt;text x='16' y='48' fill='#4A5568' fontSize='11.5'&gt;Steps 1 is the actor’s intent. Step 3 is the system asking the outside world. Everything else is an observable effect.&lt;/text&gt;&#10;          &lt;text x='16' y='64' fill='#4A5568' fontSize='11.5'&gt;A main success scenario has no branching at all — that is what makes it the main one.&lt;/text&gt;&#10;        &lt;/g&gt;&#10;      &lt;/svg&gt;&#10;    &lt;/Box&gt;&#10;    &lt;Box style={{ flex: 1, flexDirection: 'column', justifyContent: 'center', gap: 13 }}&gt;&#10;      &lt;Box style={{ padding: '15px 17px', background: '#F0F5FC', borderRadius: 9, borderLeft: '4px solid #1E4FA8' }}&gt;&#10;        &lt;Text style={{ fontSize: 16, fontWeight: 'bold', color: '#0E3F8C' }}&gt;One straight line, no “if”&lt;/Text&gt;&#10;        &lt;Text style={{ fontSize: 13, color: '#4A5568', lineHeight: 1.6, marginTop: 5 }}&gt;&#10;          If your main scenario contains a conditional, that conditional belongs in an extension. Split it out.&#10;        &lt;/Text&gt;&#10;      &lt;/Box&gt;&#10;      &lt;Box style={{ padding: '15px 17px', background: '#FFFFFF', borderRadius: 9, border: '1px solid #D6DCE5' }}&gt;&#10;        &lt;Text style={{ fontSize: 16, fontWeight: 'bold', color: '#0E3F8C' }}&gt;Order the steps causally&lt;/Text&gt;&#10;        &lt;Text style={{ fontSize: 13, color: '#4A5568', lineHeight: 1.6, marginTop: 5 }}&gt;&#10;          Step n+1 needs something step n produced. If a step does not feed the next one, it belongs somewhere else.&#10;        &lt;/Text&gt;&#10;      &lt;/Box&gt;&#10;      &lt;Box style={{ padding: '15px 17px', background: '#FFF6E0', borderRadius: 9, borderLeft: '4px solid #FFC107' }}&gt;&#10;        &lt;Text style={{ fontSize: 16, fontWeight: 'bold', color: '#996F00' }}&gt;Five to nine steps&lt;/Text&gt;&#10;        &lt;Text style={{ fontSize: 13, color: '#4A5568', lineHeight: 1.6, marginTop: 5 }}&gt;&#10;          Under five means you wrote a summary. Over nine means you wrote a procedure — split it into sub-goals.&#10;        &lt;/Text&gt;&#10;      &lt;/Box&gt;&#10;      &lt;Box style={{ padding: '12px 16px', background: '#F7F9FC', borderRadius: 8, border: '1px dashed #D6DCE5' }}&gt;&#10;        &lt;Text style={{ fontSize: 12.5, color: '#8B97A8', lineHeight: 1.55 }}&gt;&#10;          The main path is the easiest part to write and the part nobody remembers. Reviewers spend their time on page two.&#10;        &lt;/Text&gt;&#10;      &lt;/Box&gt;&#10;    &lt;/Box&gt;&#10;  &lt;/Box&gt;&#10;  &lt;Box style={{ height: 34, padding: '0 40px', flexDirection: 'row', alignItems: 'center', justifyContent: 'space-between' }}&gt;&#10;    &lt;Text style={{ fontSize: 13, color: '#8B97A8' }}&gt;ISAD · Fall 2026 · The main path has no branches. Everything conditional moves to the extension list&lt;/Text&gt;&#10;    &lt;Text style={{ fontSize: 14, color: '#1E4FA8', fontWeight: 'bold' }}&gt;12 / 38&lt;/Text&gt;&#10;  &lt;/Box&gt;&#10;&lt;/Slide&gt;&#10;"/>
        <p:cNvGrpSpPr/>
        <p:nvPr/>
      </p:nvGrpSpPr>
      <p:grpSpPr>
        <a:xfrm>
          <a:off x="0" y="0"/>
          <a:ext cx="0" cy="0"/>
          <a:chOff x="0" y="0"/>
          <a:chExt cx="0" cy="0"/>
        </a:xfrm>
      </p:grpSpPr>
      <p:sp>
        <p:nvSpPr>
          <p:cNvPr id="61" name=""/>
          <p:cNvSpPr/>
          <p:nvPr/>
        </p:nvSpPr>
        <p:spPr>
          <a:xfrm rot="0" flipH="0" flipV="0">
            <a:off x="0" y="0"/>
            <a:ext cx="12192000" cy="6858000"/>
          </a:xfrm>
          <a:prstGeom prst="rect">
            <a:avLst/>
          </a:prstGeom>
          <a:solidFill>
            <a:srgbClr val="FFFFFF"/>
          </a:solidFill>
          <a:ln/>
        </p:spPr>
        <p:txBody>
          <a:bodyPr/>
          <a:p/>
        </p:txBody>
      </p:sp>
      <p:sp>
        <p:nvSpPr>
          <p:cNvPr id="62" name=""/>
          <p:cNvSpPr/>
          <p:nvPr/>
        </p:nvSpPr>
        <p:spPr>
          <a:xfrm rot="0" flipH="0" flipV="0">
            <a:off x="0" y="0"/>
            <a:ext cx="12192000" cy="685800"/>
          </a:xfrm>
          <a:prstGeom prst="rect">
            <a:avLst/>
          </a:prstGeom>
          <a:solidFill>
            <a:srgbClr val="1E4FA8"/>
          </a:solidFill>
          <a:ln/>
        </p:spPr>
        <p:txBody>
          <a:bodyPr/>
          <a:p/>
        </p:txBody>
      </p:sp>
      <p:sp>
        <p:nvSpPr>
          <p:cNvPr id="63"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64" name="" descr="{&quot;isTemplate&quot;:true,&quot;type&quot;:&quot;text&quot;}"/>
          <p:cNvSpPr txBox="1"/>
          <p:nvPr/>
        </p:nvSpPr>
        <p:spPr>
          <a:xfrm rot="0" flipH="0" flipV="0">
            <a:off x="9410700" y="257175"/>
            <a:ext cx="2400300" cy="171450"/>
          </a:xfrm>
          <a:prstGeom prst="rect"/>
        </p:spPr>
        <p:txBody>
          <a:bodyPr wrap="none" lIns="0" tIns="0" rIns="0" bIns="0"/>
          <a:p>
            <a:pPr>
              <a:lnSpc>
                <a:spcPct val="100000"/>
              </a:lnSpc>
            </a:pPr>
            <a:r>
              <a:rPr lang="en-US" sz="1125">
                <a:solidFill>
                  <a:srgbClr val="B9CDF0"/>
                </a:solidFill>
                <a:latin typeface="Microsoft YaHei"/>
                <a:ea typeface="Microsoft YaHei"/>
              </a:rPr>
              <a:t>W05 · WRITING GOOD SCENARIOS</a:t>
            </a:r>
            <a:endParaRPr/>
          </a:p>
        </p:txBody>
      </p:sp>
      <p:sp>
        <p:nvSpPr>
          <p:cNvPr id="65" name="" descr="{&quot;isTemplate&quot;:true,&quot;type&quot;:&quot;text&quot;}"/>
          <p:cNvSpPr txBox="1"/>
          <p:nvPr/>
        </p:nvSpPr>
        <p:spPr>
          <a:xfrm rot="0" flipH="0" flipV="0">
            <a:off x="381000" y="809625"/>
            <a:ext cx="3638550" cy="333375"/>
          </a:xfrm>
          <a:prstGeom prst="rect"/>
        </p:spPr>
        <p:txBody>
          <a:bodyPr wrap="none" lIns="0" tIns="0" rIns="0" bIns="0"/>
          <a:p>
            <a:pPr>
              <a:lnSpc>
                <a:spcPct val="100000"/>
              </a:lnSpc>
            </a:pPr>
            <a:r>
              <a:rPr lang="en-US" sz="2175" b="1">
                <a:solidFill>
                  <a:srgbClr val="0E3F8C"/>
                </a:solidFill>
                <a:latin typeface="Microsoft YaHei"/>
                <a:ea typeface="Microsoft YaHei"/>
              </a:rPr>
              <a:t>The Main Success Scenario</a:t>
            </a:r>
            <a:endParaRPr/>
          </a:p>
        </p:txBody>
      </p:sp>
      <p:sp>
        <p:nvSpPr>
          <p:cNvPr id="66"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12 / 38</a:t>
            </a:r>
            <a:endParaRPr/>
          </a:p>
        </p:txBody>
      </p:sp>
      <p:pic>
        <p:nvPicPr>
          <p:cNvPr id="67" name=""/>
          <p:cNvPicPr>
            <a:picLocks noChangeAspect="1"/>
          </p:cNvPicPr>
          <p:nvPr/>
        </p:nvPicPr>
        <p:blipFill>
          <a:blip>
            <a:extLst>
              <a:ext uri="{96DAC541-7B7A-43D3-8B79-37D633B846F1}">
                <asvg:svgBlip r:embed="rId1"/>
              </a:ext>
            </a:extLst>
          </a:blip>
          <a:stretch>
            <a:fillRect/>
          </a:stretch>
        </p:blipFill>
        <p:spPr>
          <a:xfrm rot="0" flipH="0" flipV="0">
            <a:off x="381000" y="2009775"/>
            <a:ext cx="5905500" cy="3733800"/>
          </a:xfrm>
          <a:prstGeom prst="rect">
            <a:avLst/>
          </a:prstGeom>
          <a:ln/>
        </p:spPr>
      </p:pic>
      <p:sp>
        <p:nvSpPr>
          <p:cNvPr id="68" name=""/>
          <p:cNvSpPr/>
          <p:nvPr/>
        </p:nvSpPr>
        <p:spPr>
          <a:xfrm rot="0" flipH="0" flipV="0">
            <a:off x="6572250" y="1857375"/>
            <a:ext cx="5276850" cy="1000125"/>
          </a:xfrm>
          <a:prstGeom prst="roundRect">
            <a:avLst>
              <a:gd name="adj" fmla="val 8571"/>
            </a:avLst>
          </a:prstGeom>
          <a:solidFill>
            <a:srgbClr val="F0F5FC"/>
          </a:solidFill>
          <a:ln/>
        </p:spPr>
        <p:txBody>
          <a:bodyPr/>
          <a:p/>
        </p:txBody>
      </p:sp>
      <p:sp>
        <p:nvSpPr>
          <p:cNvPr id="69" name=""/>
          <p:cNvSpPr/>
          <p:nvPr/>
        </p:nvSpPr>
        <p:spPr>
          <a:xfrm rot="0" flipH="0" flipV="0">
            <a:off x="6572250" y="1857375"/>
            <a:ext cx="5276850" cy="1000125"/>
          </a:xfrm>
          <a:custGeom>
            <a:pathLst>
              <a:path w="554" h="105">
                <a:moveTo>
                  <a:pt x="9" y="0"/>
                </a:moveTo>
                <a:cubicBezTo>
                  <a:pt x="6" y="0"/>
                  <a:pt x="4" y="2"/>
                  <a:pt x="4" y="5"/>
                </a:cubicBezTo>
                <a:lnTo>
                  <a:pt x="4" y="100"/>
                </a:lnTo>
                <a:cubicBezTo>
                  <a:pt x="4" y="102"/>
                  <a:pt x="6" y="104"/>
                  <a:pt x="8" y="105"/>
                </a:cubicBezTo>
                <a:cubicBezTo>
                  <a:pt x="4" y="105"/>
                  <a:pt x="0" y="101"/>
                  <a:pt x="0" y="96"/>
                </a:cubicBezTo>
                <a:lnTo>
                  <a:pt x="0" y="9"/>
                </a:lnTo>
                <a:cubicBezTo>
                  <a:pt x="0" y="4"/>
                  <a:pt x="4" y="0"/>
                  <a:pt x="9" y="0"/>
                </a:cubicBezTo>
                <a:close/>
              </a:path>
            </a:pathLst>
          </a:custGeom>
          <a:solidFill>
            <a:srgbClr val="1E4FA8"/>
          </a:solidFill>
          <a:ln/>
        </p:spPr>
        <p:txBody>
          <a:bodyPr/>
          <a:p/>
        </p:txBody>
      </p:sp>
      <p:sp>
        <p:nvSpPr>
          <p:cNvPr id="70" name="" descr="{&quot;isTemplate&quot;:true,&quot;type&quot;:&quot;text&quot;}"/>
          <p:cNvSpPr txBox="1"/>
          <p:nvPr/>
        </p:nvSpPr>
        <p:spPr>
          <a:xfrm rot="0" flipH="0" flipV="0">
            <a:off x="6734175" y="2000250"/>
            <a:ext cx="4914900" cy="190500"/>
          </a:xfrm>
          <a:prstGeom prst="rect"/>
        </p:spPr>
        <p:txBody>
          <a:bodyPr wrap="none" lIns="0" tIns="0" rIns="0" bIns="0"/>
          <a:p>
            <a:pPr>
              <a:lnSpc>
                <a:spcPct val="100000"/>
              </a:lnSpc>
            </a:pPr>
            <a:r>
              <a:rPr lang="en-US" sz="1200" b="1">
                <a:solidFill>
                  <a:srgbClr val="0E3F8C"/>
                </a:solidFill>
                <a:latin typeface="Microsoft YaHei"/>
                <a:ea typeface="Microsoft YaHei"/>
              </a:rPr>
              <a:t>One straight line, no “if”</a:t>
            </a:r>
            <a:endParaRPr/>
          </a:p>
        </p:txBody>
      </p:sp>
      <p:sp>
        <p:nvSpPr>
          <p:cNvPr id="71" name="" descr="{&quot;isTemplate&quot;:true,&quot;type&quot;:&quot;text&quot;}"/>
          <p:cNvSpPr txBox="1"/>
          <p:nvPr/>
        </p:nvSpPr>
        <p:spPr>
          <a:xfrm rot="0" flipH="0" flipV="0">
            <a:off x="6734175" y="2238375"/>
            <a:ext cx="49149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If your main scenario contains a conditional, that conditional belongs in an extension. Split it out.</a:t>
            </a:r>
            <a:endParaRPr/>
          </a:p>
        </p:txBody>
      </p:sp>
      <p:sp>
        <p:nvSpPr>
          <p:cNvPr id="72" name=""/>
          <p:cNvSpPr/>
          <p:nvPr/>
        </p:nvSpPr>
        <p:spPr>
          <a:xfrm rot="0" flipH="0" flipV="0">
            <a:off x="6534150" y="2981325"/>
            <a:ext cx="5276850" cy="1000125"/>
          </a:xfrm>
          <a:prstGeom prst="roundRect">
            <a:avLst>
              <a:gd name="adj" fmla="val 8571"/>
            </a:avLst>
          </a:prstGeom>
          <a:solidFill>
            <a:srgbClr val="FFFFFF"/>
          </a:solidFill>
          <a:ln w="12700">
            <a:solidFill>
              <a:srgbClr val="D6DCE5"/>
            </a:solidFill>
            <a:prstDash val="solid"/>
          </a:ln>
        </p:spPr>
        <p:txBody>
          <a:bodyPr/>
          <a:p/>
        </p:txBody>
      </p:sp>
      <p:sp>
        <p:nvSpPr>
          <p:cNvPr id="73" name="" descr="{&quot;isTemplate&quot;:true,&quot;type&quot;:&quot;text&quot;}"/>
          <p:cNvSpPr txBox="1"/>
          <p:nvPr/>
        </p:nvSpPr>
        <p:spPr>
          <a:xfrm rot="0" flipH="0" flipV="0">
            <a:off x="6696075" y="3124200"/>
            <a:ext cx="4953000" cy="190500"/>
          </a:xfrm>
          <a:prstGeom prst="rect"/>
        </p:spPr>
        <p:txBody>
          <a:bodyPr wrap="none" lIns="0" tIns="0" rIns="0" bIns="0"/>
          <a:p>
            <a:pPr>
              <a:lnSpc>
                <a:spcPct val="100000"/>
              </a:lnSpc>
            </a:pPr>
            <a:r>
              <a:rPr lang="en-US" sz="1200" b="1">
                <a:solidFill>
                  <a:srgbClr val="0E3F8C"/>
                </a:solidFill>
                <a:latin typeface="Microsoft YaHei"/>
                <a:ea typeface="Microsoft YaHei"/>
              </a:rPr>
              <a:t>Order the steps causally</a:t>
            </a:r>
            <a:endParaRPr/>
          </a:p>
        </p:txBody>
      </p:sp>
      <p:sp>
        <p:nvSpPr>
          <p:cNvPr id="74" name="" descr="{&quot;isTemplate&quot;:true,&quot;type&quot;:&quot;text&quot;}"/>
          <p:cNvSpPr txBox="1"/>
          <p:nvPr/>
        </p:nvSpPr>
        <p:spPr>
          <a:xfrm rot="0" flipH="0" flipV="0">
            <a:off x="6696075" y="3362325"/>
            <a:ext cx="49530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Step n+1 needs something step n produced. If a step does not feed the next one, it belongs somewhere else.</a:t>
            </a:r>
            <a:endParaRPr/>
          </a:p>
        </p:txBody>
      </p:sp>
      <p:sp>
        <p:nvSpPr>
          <p:cNvPr id="75" name=""/>
          <p:cNvSpPr/>
          <p:nvPr/>
        </p:nvSpPr>
        <p:spPr>
          <a:xfrm rot="0" flipH="0" flipV="0">
            <a:off x="6572250" y="4105275"/>
            <a:ext cx="5276850" cy="1000125"/>
          </a:xfrm>
          <a:prstGeom prst="roundRect">
            <a:avLst>
              <a:gd name="adj" fmla="val 8571"/>
            </a:avLst>
          </a:prstGeom>
          <a:solidFill>
            <a:srgbClr val="FFF6E0"/>
          </a:solidFill>
          <a:ln/>
        </p:spPr>
        <p:txBody>
          <a:bodyPr/>
          <a:p/>
        </p:txBody>
      </p:sp>
      <p:sp>
        <p:nvSpPr>
          <p:cNvPr id="76" name=""/>
          <p:cNvSpPr/>
          <p:nvPr/>
        </p:nvSpPr>
        <p:spPr>
          <a:xfrm rot="0" flipH="0" flipV="0">
            <a:off x="6572250" y="4105275"/>
            <a:ext cx="5276850" cy="1000125"/>
          </a:xfrm>
          <a:custGeom>
            <a:pathLst>
              <a:path w="554" h="105">
                <a:moveTo>
                  <a:pt x="9" y="0"/>
                </a:moveTo>
                <a:cubicBezTo>
                  <a:pt x="6" y="0"/>
                  <a:pt x="4" y="2"/>
                  <a:pt x="4" y="5"/>
                </a:cubicBezTo>
                <a:lnTo>
                  <a:pt x="4" y="100"/>
                </a:lnTo>
                <a:cubicBezTo>
                  <a:pt x="4" y="102"/>
                  <a:pt x="6" y="104"/>
                  <a:pt x="8" y="105"/>
                </a:cubicBezTo>
                <a:cubicBezTo>
                  <a:pt x="4" y="105"/>
                  <a:pt x="0" y="101"/>
                  <a:pt x="0" y="96"/>
                </a:cubicBezTo>
                <a:lnTo>
                  <a:pt x="0" y="9"/>
                </a:lnTo>
                <a:cubicBezTo>
                  <a:pt x="0" y="4"/>
                  <a:pt x="4" y="0"/>
                  <a:pt x="9" y="0"/>
                </a:cubicBezTo>
                <a:close/>
              </a:path>
            </a:pathLst>
          </a:custGeom>
          <a:solidFill>
            <a:srgbClr val="FFC107"/>
          </a:solidFill>
          <a:ln/>
        </p:spPr>
        <p:txBody>
          <a:bodyPr/>
          <a:p/>
        </p:txBody>
      </p:sp>
      <p:sp>
        <p:nvSpPr>
          <p:cNvPr id="77" name="" descr="{&quot;isTemplate&quot;:true,&quot;type&quot;:&quot;text&quot;}"/>
          <p:cNvSpPr txBox="1"/>
          <p:nvPr/>
        </p:nvSpPr>
        <p:spPr>
          <a:xfrm rot="0" flipH="0" flipV="0">
            <a:off x="6734175" y="4248150"/>
            <a:ext cx="4914900" cy="190500"/>
          </a:xfrm>
          <a:prstGeom prst="rect"/>
        </p:spPr>
        <p:txBody>
          <a:bodyPr wrap="none" lIns="0" tIns="0" rIns="0" bIns="0"/>
          <a:p>
            <a:pPr>
              <a:lnSpc>
                <a:spcPct val="100000"/>
              </a:lnSpc>
            </a:pPr>
            <a:r>
              <a:rPr lang="en-US" sz="1200" b="1">
                <a:solidFill>
                  <a:srgbClr val="996F00"/>
                </a:solidFill>
                <a:latin typeface="Microsoft YaHei"/>
                <a:ea typeface="Microsoft YaHei"/>
              </a:rPr>
              <a:t>Five to nine steps</a:t>
            </a:r>
            <a:endParaRPr/>
          </a:p>
        </p:txBody>
      </p:sp>
      <p:sp>
        <p:nvSpPr>
          <p:cNvPr id="78" name="" descr="{&quot;isTemplate&quot;:true,&quot;type&quot;:&quot;text&quot;}"/>
          <p:cNvSpPr txBox="1"/>
          <p:nvPr/>
        </p:nvSpPr>
        <p:spPr>
          <a:xfrm rot="0" flipH="0" flipV="0">
            <a:off x="6734175" y="4486275"/>
            <a:ext cx="49149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Under five means you wrote a summary. Over nine means you wrote a procedure — split it into sub-goals.</a:t>
            </a:r>
            <a:endParaRPr/>
          </a:p>
        </p:txBody>
      </p:sp>
      <p:sp>
        <p:nvSpPr>
          <p:cNvPr id="79" name=""/>
          <p:cNvSpPr/>
          <p:nvPr/>
        </p:nvSpPr>
        <p:spPr>
          <a:xfrm rot="0" flipH="0" flipV="0">
            <a:off x="6534150" y="5229225"/>
            <a:ext cx="5276850" cy="676275"/>
          </a:xfrm>
          <a:prstGeom prst="roundRect">
            <a:avLst>
              <a:gd name="adj" fmla="val 11268"/>
            </a:avLst>
          </a:prstGeom>
          <a:solidFill>
            <a:srgbClr val="F7F9FC"/>
          </a:solidFill>
          <a:ln w="12700">
            <a:solidFill>
              <a:srgbClr val="D6DCE5"/>
            </a:solidFill>
            <a:prstDash val="dash"/>
          </a:ln>
        </p:spPr>
        <p:txBody>
          <a:bodyPr/>
          <a:p/>
        </p:txBody>
      </p:sp>
      <p:sp>
        <p:nvSpPr>
          <p:cNvPr id="80" name="" descr="{&quot;isTemplate&quot;:true,&quot;type&quot;:&quot;text&quot;}"/>
          <p:cNvSpPr txBox="1"/>
          <p:nvPr/>
        </p:nvSpPr>
        <p:spPr>
          <a:xfrm rot="0" flipH="0" flipV="0">
            <a:off x="6686550" y="5343525"/>
            <a:ext cx="4972050" cy="447675"/>
          </a:xfrm>
          <a:prstGeom prst="rect"/>
        </p:spPr>
        <p:txBody>
          <a:bodyPr wrap="square" lIns="0" tIns="0" rIns="0" bIns="0">
            <a:normAutofit/>
          </a:bodyPr>
          <a:p>
            <a:pPr>
              <a:lnSpc>
                <a:spcPct val="155000"/>
              </a:lnSpc>
            </a:pPr>
            <a:r>
              <a:rPr lang="en-US" sz="938">
                <a:solidFill>
                  <a:srgbClr val="8B97A8"/>
                </a:solidFill>
                <a:latin typeface="Microsoft YaHei"/>
                <a:ea typeface="Microsoft YaHei"/>
              </a:rPr>
              <a:t>The main path is the easiest part to write and the part nobody remembers. Reviewers spend their time on page two.</a:t>
            </a:r>
            <a:endParaRPr/>
          </a:p>
        </p:txBody>
      </p:sp>
      <p:sp>
        <p:nvSpPr>
          <p:cNvPr id="81" name="" descr="{&quot;isTemplate&quot;:true,&quot;type&quot;:&quot;text&quot;}"/>
          <p:cNvSpPr txBox="1"/>
          <p:nvPr/>
        </p:nvSpPr>
        <p:spPr>
          <a:xfrm rot="0" flipH="0" flipV="0">
            <a:off x="381000" y="6619875"/>
            <a:ext cx="5543550"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The main path has no branches. Everything conditional moves to the extension list</a:t>
            </a:r>
            <a:endParaRPr/>
          </a:p>
        </p:txBody>
      </p:sp>
      <p:sp>
        <p:nvSpPr>
          <p:cNvPr id="82"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12 / 38</a:t>
            </a:r>
            <a:endParaRPr/>
          </a:p>
        </p:txBody>
      </p:sp>
    </p:spTree>
  </p:cSld>
</p:sld>
</file>

<file path=ppt/slides/slide13.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83"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WRITING GOOD SCENARIOS&lt;/Text&gt;&#10;  &lt;/Box&gt;&#10;  &lt;Box style={{ padding: '13px 40px 0 40px', flexDirection: 'row', alignItems: 'center', justifyContent: 'space-between' }}&gt;&#10;    &lt;Text style={{ fontSize: 29, fontWeight: 'bold', color: '#0E3F8C' }}&gt;One Actor, One Goal, One Ending&lt;/Text&gt;&#10;    &lt;Text style={{ fontSize: 14, color: '#1E4FA8', fontWeight: 'bold' }}&gt;13 / 38&lt;/Text&gt;&#10;  &lt;/Box&gt;&#10;  &lt;Box style={{ flex: 1, padding: '10px 40px 0 40px' }}&gt;&#10;    &lt;Table&#10;      style={{ width: '100%', height: '100%' }}&#10;      defaultTextStyle={{ fontSize: 13.5, textAlign: 'left', color: '#1A2230' }}&#10;      defaultCellStyle={{&#10;        border: {&#10;          left: { width: 1, color: '#E5E7EB' },&#10;          right: { width: 1, color: '#E5E7EB' },&#10;          top: { width: 1, color: '#E5E7EB' },&#10;          bottom: { width: 1, color: '#E5E7EB' },&#10;        },&#10;      }}&#10;      cells={[&#10;        [&#10;          { text: 'Criterion', textStyle: { bold: true, color: '#FFFFFF', fontSize: 15 }, cellStyle: { background: { color: '#0E3F8C' } } },&#10;          { text: 'Holds in this spec', textStyle: { bold: true, color: '#FFFFFF', fontSize: 15 }, cellStyle: { background: { color: '#2B5793' } } },&#10;          { text: 'Broken counter-example', textStyle: { bold: true, color: '#FFFFFF', fontSize: 15 }, cellStyle: { background: { color: '#8B3230' } } },&#10;        ],&#10;        [&#10;          { text: 'Exactly one primary actor', textStyle: { bold: true, color: '#0E3F8C' }, cellStyle: { background: { color: '#F7F9FC' } } },&#10;          { text: 'The Student starts it. Two secondary actors are called to help.', textStyle: { color: '#4A5568' }, cellStyle: { background: { color: '#F7F9FC' } } },&#10;          { text: 'Primary actors: Student and Kitchen Staff — two people must be present, so it is two use cases.', textStyle: { color: '#4A5568' }, cellStyle: { background: { color: '#F7F9FC' } } },&#10;        ],&#10;        [&#10;          { text: 'It serves one goal', textStyle: { bold: true, color: '#0E3F8C' } },&#10;          { text: 'The student obtains a confirmed order. Rating the food is a different goal.', textStyle: { color: '#4A5568' } },&#10;          { text: 'Place Order, Rate Restaurant and Print Ticket in one spec — three goals wearing a trench coat.', textStyle: { color: '#4A5568' } },&#10;        ],&#10;        [&#10;          { text: 'It ends, and it ends once', textStyle: { bold: true, color: '#0E3F8C' }, cellStyle: { background: { color: '#F7F9FC' } } },&#10;          { text: 'Order is Accepted or Cancelled. Both are terminal. The use case is over.', textStyle: { color: '#4A5568' }, cellStyle: { background: { color: '#F7F9FC' } } },&#10;          { text: 'The order stays open while the student waits, tracks and re-orders — that is a lifecycle, not a use case.', textStyle: { color: '#4A5568' }, cellStyle: { background: { color: '#F7F9FC' } } },&#10;        ],&#10;        [&#10;          { text: 'Failure is still success', textStyle: { bold: true, color: '#0E3F8C' } },&#10;          { text: 'A declined payment ends the use case with a Cancelled order. The actor got an answer.', textStyle: { color: '#4A5568' } },&#10;          { text: '“The use case fails if payment fails” — then the actor never learns the outcome and has to start again.', textStyle: { color: '#4A5568' } },&#10;        ],&#10;        [&#10;          { text: 'The trigger is an intent', textStyle: { bold: true, color: '#0E3F8C' }, cellStyle: { background: { color: '#F7F9FC' } } },&#10;          { text: 'The student confirms the cart — a decision, not a clock tick.', textStyle: { color: '#4A5568' }, cellStyle: { background: { color: '#F7F9FC' } } },&#10;          { text: 'Trigger: 11:30 — a time-based trigger usually means a scheduled job, which belongs to a time-triggered use case.', textStyle: { color: '#4A5568' }, cellStyle: { background: { color: '#F7F9FC' } } },&#10;        ],&#10;      ]}&#10;    /&gt;&#10;  &lt;/Box&gt;&#10;  &lt;Box style={{ height: 46, background: '#0E3F8C', padding: '0 40px', flexDirection: 'row', alignItems: 'center', justifyContent: 'center' }}&gt;&#10;    &lt;Text style={{ fontSize: 16.5, color: '#FFFFFF', fontWeight: '600' }}&gt;If two actors have to agree before the goal is met, you have written a protocol, not a use case.&lt;/Text&gt;&#10;  &lt;/Box&gt;&#10;&lt;/Slide&gt;&#10;"/>
        <p:cNvGrpSpPr/>
        <p:nvPr/>
      </p:nvGrpSpPr>
      <p:grpSpPr>
        <a:xfrm>
          <a:off x="0" y="0"/>
          <a:ext cx="0" cy="0"/>
          <a:chOff x="0" y="0"/>
          <a:chExt cx="0" cy="0"/>
        </a:xfrm>
      </p:grpSpPr>
      <p:sp>
        <p:nvSpPr>
          <p:cNvPr id="84" name=""/>
          <p:cNvSpPr/>
          <p:nvPr/>
        </p:nvSpPr>
        <p:spPr>
          <a:xfrm rot="0" flipH="0" flipV="0">
            <a:off x="0" y="0"/>
            <a:ext cx="12192000" cy="6858000"/>
          </a:xfrm>
          <a:prstGeom prst="rect">
            <a:avLst/>
          </a:prstGeom>
          <a:solidFill>
            <a:srgbClr val="FFFFFF"/>
          </a:solidFill>
          <a:ln/>
        </p:spPr>
        <p:txBody>
          <a:bodyPr/>
          <a:p/>
        </p:txBody>
      </p:sp>
      <p:sp>
        <p:nvSpPr>
          <p:cNvPr id="85" name=""/>
          <p:cNvSpPr/>
          <p:nvPr/>
        </p:nvSpPr>
        <p:spPr>
          <a:xfrm rot="0" flipH="0" flipV="0">
            <a:off x="0" y="0"/>
            <a:ext cx="12192000" cy="685800"/>
          </a:xfrm>
          <a:prstGeom prst="rect">
            <a:avLst/>
          </a:prstGeom>
          <a:solidFill>
            <a:srgbClr val="1E4FA8"/>
          </a:solidFill>
          <a:ln/>
        </p:spPr>
        <p:txBody>
          <a:bodyPr/>
          <a:p/>
        </p:txBody>
      </p:sp>
      <p:sp>
        <p:nvSpPr>
          <p:cNvPr id="86"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87" name="" descr="{&quot;isTemplate&quot;:true,&quot;type&quot;:&quot;text&quot;}"/>
          <p:cNvSpPr txBox="1"/>
          <p:nvPr/>
        </p:nvSpPr>
        <p:spPr>
          <a:xfrm rot="0" flipH="0" flipV="0">
            <a:off x="9410700" y="257175"/>
            <a:ext cx="2400300" cy="171450"/>
          </a:xfrm>
          <a:prstGeom prst="rect"/>
        </p:spPr>
        <p:txBody>
          <a:bodyPr wrap="none" lIns="0" tIns="0" rIns="0" bIns="0"/>
          <a:p>
            <a:pPr>
              <a:lnSpc>
                <a:spcPct val="100000"/>
              </a:lnSpc>
            </a:pPr>
            <a:r>
              <a:rPr lang="en-US" sz="1125">
                <a:solidFill>
                  <a:srgbClr val="B9CDF0"/>
                </a:solidFill>
                <a:latin typeface="Microsoft YaHei"/>
                <a:ea typeface="Microsoft YaHei"/>
              </a:rPr>
              <a:t>W05 · WRITING GOOD SCENARIOS</a:t>
            </a:r>
            <a:endParaRPr/>
          </a:p>
        </p:txBody>
      </p:sp>
      <p:sp>
        <p:nvSpPr>
          <p:cNvPr id="88" name="" descr="{&quot;isTemplate&quot;:true,&quot;type&quot;:&quot;text&quot;}"/>
          <p:cNvSpPr txBox="1"/>
          <p:nvPr/>
        </p:nvSpPr>
        <p:spPr>
          <a:xfrm rot="0" flipH="0" flipV="0">
            <a:off x="381000" y="809625"/>
            <a:ext cx="4410075" cy="333375"/>
          </a:xfrm>
          <a:prstGeom prst="rect"/>
        </p:spPr>
        <p:txBody>
          <a:bodyPr wrap="none" lIns="0" tIns="0" rIns="0" bIns="0"/>
          <a:p>
            <a:pPr>
              <a:lnSpc>
                <a:spcPct val="100000"/>
              </a:lnSpc>
            </a:pPr>
            <a:r>
              <a:rPr lang="en-US" sz="2175" b="1">
                <a:solidFill>
                  <a:srgbClr val="0E3F8C"/>
                </a:solidFill>
                <a:latin typeface="Microsoft YaHei"/>
                <a:ea typeface="Microsoft YaHei"/>
              </a:rPr>
              <a:t>One Actor, One Goal, One Ending</a:t>
            </a:r>
            <a:endParaRPr/>
          </a:p>
        </p:txBody>
      </p:sp>
      <p:sp>
        <p:nvSpPr>
          <p:cNvPr id="89"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13 / 38</a:t>
            </a:r>
            <a:endParaRPr/>
          </a:p>
        </p:txBody>
      </p:sp>
      <p:graphicFrame>
        <p:nvGraphicFramePr>
          <p:cNvPr id="90" name=""/>
          <p:cNvGraphicFramePr/>
          <p:nvPr/>
        </p:nvGraphicFramePr>
        <p:xfrm rot="0" flipH="0" flipV="0">
          <a:off x="381000" y="1238250"/>
          <a:ext cx="11430000" cy="5181600"/>
        </p:xfrm>
        <a:graphic>
          <a:graphicData uri="http://schemas.openxmlformats.org/drawingml/2006/table">
            <a:tbl>
              <a:tblGrid>
                <a:gridCol w="1432830">
                  <a:extLst>
                    <a:ext uri="{9D8B030D-6E8A-4147-A177-3AD203B41FA5}">
                      <a16:colId val="1"/>
                    </a:ext>
                  </a:extLst>
                </a:gridCol>
                <a:gridCol w="4370294">
                  <a:extLst>
                    <a:ext uri="{9D8B030D-6E8A-4147-A177-3AD203B41FA5}">
                      <a16:colId val="2"/>
                    </a:ext>
                  </a:extLst>
                </a:gridCol>
                <a:gridCol w="5626876">
                  <a:extLst>
                    <a:ext uri="{9D8B030D-6E8A-4147-A177-3AD203B41FA5}">
                      <a16:colId val="3"/>
                    </a:ext>
                  </a:extLst>
                </a:gridCol>
              </a:tblGrid>
              <a:tr h="640605">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Criterion</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Holds in this spec</a:t>
                      </a:r>
                      <a:endParaRPr/>
                    </a:p>
                  </a:txBody>
                  <a:tcPr marL="45720" marR="45720" marT="45720" marB="45720" anchor="ctr">
                    <a:lnL>
                      <a:noFill/>
                    </a:lnL>
                    <a:lnR>
                      <a:noFill/>
                    </a:lnR>
                    <a:lnT>
                      <a:noFill/>
                    </a:lnT>
                    <a:lnB>
                      <a:noFill/>
                    </a:lnB>
                    <a:solidFill>
                      <a:srgbClr val="2B5793"/>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Broken counter-example</a:t>
                      </a:r>
                      <a:endParaRPr/>
                    </a:p>
                  </a:txBody>
                  <a:tcPr marL="45720" marR="45720" marT="45720" marB="45720" anchor="ctr">
                    <a:lnL>
                      <a:noFill/>
                    </a:lnL>
                    <a:lnR>
                      <a:noFill/>
                    </a:lnR>
                    <a:lnT>
                      <a:noFill/>
                    </a:lnT>
                    <a:lnB>
                      <a:noFill/>
                    </a:lnB>
                    <a:solidFill>
                      <a:srgbClr val="8B3230"/>
                    </a:solidFill>
                  </a:tcPr>
                </a:tc>
                <a:extLst>
                  <a:ext uri="{0D108BD9-81ED-4DB2-BD59-A6C34878D82A}">
                    <a16:rowId val="1"/>
                  </a:ext>
                </a:extLst>
              </a:tr>
              <a:tr h="985234">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Exactly one primary actor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Student starts it. Two secondary actors are called to help.</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Primary actors: Student and Kitchen Staff — two people must be present, so it is two use cases.</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600060">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It serves one goal</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student obtains a confirmed order. Rating the food is a different goal.</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Place Order, Rate Restaurant and Print Ticket in one spec — three goals wearing a trench coat.</a:t>
                      </a:r>
                      <a:endParaRPr/>
                    </a:p>
                  </a:txBody>
                  <a:tcPr marL="45720" marR="45720" marT="45720" marB="45720" anchor="ctr">
                    <a:lnL>
                      <a:noFill/>
                    </a:lnL>
                    <a:lnR>
                      <a:noFill/>
                    </a:lnR>
                    <a:lnT>
                      <a:noFill/>
                    </a:lnT>
                    <a:lnB>
                      <a:noFill/>
                    </a:lnB>
                  </a:tcPr>
                </a:tc>
                <a:extLst>
                  <a:ext uri="{0D108BD9-81ED-4DB2-BD59-A6C34878D82A}">
                    <a16:rowId val="3"/>
                  </a:ext>
                </a:extLst>
              </a:tr>
              <a:tr h="985234">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It ends, and it ends once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Order is Accepted or Cancelled. Both are terminal. The use case is over.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order stays open while the student waits, tracks and re-orders — that is a lifecycle, not a use case.</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985234">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Failure is still success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declined payment ends the use case with a Cancelled order. The actor got an answer.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use case fails if payment fails” — then the actor never learns the outcome and has to start again.</a:t>
                      </a:r>
                      <a:endParaRPr/>
                    </a:p>
                  </a:txBody>
                  <a:tcPr marL="45720" marR="45720" marT="45720" marB="45720" anchor="ctr">
                    <a:lnL>
                      <a:noFill/>
                    </a:lnL>
                    <a:lnR>
                      <a:noFill/>
                    </a:lnR>
                    <a:lnT>
                      <a:noFill/>
                    </a:lnT>
                    <a:lnB>
                      <a:noFill/>
                    </a:lnB>
                  </a:tcPr>
                </a:tc>
                <a:extLst>
                  <a:ext uri="{0D108BD9-81ED-4DB2-BD59-A6C34878D82A}">
                    <a16:rowId val="5"/>
                  </a:ext>
                </a:extLst>
              </a:tr>
              <a:tr h="985234">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The trigger is an intent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student confirms the cart — a decision, not a clock tick.</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Trigger: 11:30 — a time-based trigger usually means a scheduled job, which belongs to a time-triggered use case.</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bl>
          </a:graphicData>
        </a:graphic>
      </p:graphicFrame>
      <p:sp>
        <p:nvSpPr>
          <p:cNvPr id="91" name=""/>
          <p:cNvSpPr/>
          <p:nvPr/>
        </p:nvSpPr>
        <p:spPr>
          <a:xfrm rot="0" flipH="0" flipV="0">
            <a:off x="0" y="6419850"/>
            <a:ext cx="12192000" cy="438150"/>
          </a:xfrm>
          <a:prstGeom prst="rect">
            <a:avLst/>
          </a:prstGeom>
          <a:solidFill>
            <a:srgbClr val="0E3F8C"/>
          </a:solidFill>
          <a:ln/>
        </p:spPr>
        <p:txBody>
          <a:bodyPr/>
          <a:p/>
        </p:txBody>
      </p:sp>
      <p:sp>
        <p:nvSpPr>
          <p:cNvPr id="92" name="" descr="{&quot;isTemplate&quot;:true,&quot;type&quot;:&quot;text&quot;}"/>
          <p:cNvSpPr txBox="1"/>
          <p:nvPr/>
        </p:nvSpPr>
        <p:spPr>
          <a:xfrm rot="0" flipH="0" flipV="0">
            <a:off x="2600325" y="6543675"/>
            <a:ext cx="7000875" cy="190500"/>
          </a:xfrm>
          <a:prstGeom prst="rect"/>
        </p:spPr>
        <p:txBody>
          <a:bodyPr wrap="none" lIns="0" tIns="0" rIns="0" bIns="0"/>
          <a:p>
            <a:pPr>
              <a:lnSpc>
                <a:spcPct val="100000"/>
              </a:lnSpc>
            </a:pPr>
            <a:r>
              <a:rPr lang="en-US" sz="1238" b="1">
                <a:solidFill>
                  <a:srgbClr val="FFFFFF"/>
                </a:solidFill>
                <a:latin typeface="Microsoft YaHei"/>
                <a:ea typeface="Microsoft YaHei"/>
              </a:rPr>
              <a:t>If two actors have to agree before the goal is met, you have written a protocol, not a use case.</a:t>
            </a:r>
            <a:endParaRPr/>
          </a:p>
        </p:txBody>
      </p:sp>
    </p:spTree>
  </p:cSld>
</p:sld>
</file>

<file path=ppt/slides/slide14.xml><?xml version="1.0" encoding="utf-8"?>
<p:sld xmlns:p="http://schemas.openxmlformats.org/presentationml/2006/main" xmlns:a="http://schemas.openxmlformats.org/drawingml/2006/main">
  <p:cSld>
    <p:spTree>
      <p:nvGrpSpPr>
        <p:cNvPr id="93" name="" descr="&lt;Slide style={{ background: '#0E3F8C', padding: 0 }}&gt;&#10;  &lt;Box style={{ flexDirection: 'row', height: '100%', position: 'relative' }}&gt;&#10;    &lt;Box style={{ position: 'absolute', top: 0, left: 0, right: 0, height: 8, background: '#1E4FA8' }} /&gt;&#10;    &lt;Box style={{ width: 300, justifyContent: 'center', alignItems: 'center', borderRight: '1px solid #2B5793' }}&gt;&#10;      &lt;Text style={{ fontSize: 220, fontWeight: 'bold', color: '#3D7BD9', fontFamily: 'Georgia, serif', lineHeight: 1 }}&gt;03&lt;/Text&gt;&#10;    &lt;/Box&gt;&#10;    &lt;Box style={{ flex: 1, padding: '70px 64px', flexDirection: 'column', justifyContent: 'center' }}&gt;&#10;      &lt;Text style={{ fontSize: 15, color: '#7FA2D6', letterSpacing: 2, marginBottom: 18 }}&gt;PART 3 · LECTURE&lt;/Text&gt;&#10;      &lt;Text style={{ fontSize: 46, fontWeight: 'bold', color: '#FFFFFF', lineHeight: 1.18 }}&gt;Extensions &amp;amp; Exceptions&lt;/Text&gt;&#10;      &lt;Box style={{ width: 64, height: 4, background: '#FFC107', marginTop: 26, marginBottom: 26 }} /&gt;&#10;      &lt;Box style={{ flexDirection: 'column', gap: 12 }}&gt;&#10;        {[&#10;          'The main path is the easy half',&#10;          'Four branches off step 4, not four extra use cases',&#10;          'An exception is a failure; an extension is a variation'&#10;        ].map((t) =&gt; (&#10;          &lt;Box key={t} style={{ flexDirection: 'row', alignItems: 'center', gap: 12 }}&gt;&#10;            &lt;Box style={{ width: 8, height: 8, borderRadius: 4, background: '#3D7BD9' }} /&gt;&#10;            &lt;Text style={{ fontSize: 20, color: '#C5D4EA' }}&gt;{t}&lt;/Text&gt;&#10;          &lt;/Box&gt;&#10;        ))}&#10;      &lt;/Box&gt;&#10;    &lt;/Box&gt;&#10;  &lt;/Box&gt;&#10;&lt;/Slide&gt;&#10;"/>
        <p:cNvGrpSpPr/>
        <p:nvPr/>
      </p:nvGrpSpPr>
      <p:grpSpPr>
        <a:xfrm>
          <a:off x="0" y="0"/>
          <a:ext cx="0" cy="0"/>
          <a:chOff x="0" y="0"/>
          <a:chExt cx="0" cy="0"/>
        </a:xfrm>
      </p:grpSpPr>
      <p:sp>
        <p:nvSpPr>
          <p:cNvPr id="94" name=""/>
          <p:cNvSpPr/>
          <p:nvPr/>
        </p:nvSpPr>
        <p:spPr>
          <a:xfrm rot="0" flipH="0" flipV="0">
            <a:off x="0" y="0"/>
            <a:ext cx="12192000" cy="6858000"/>
          </a:xfrm>
          <a:prstGeom prst="rect">
            <a:avLst/>
          </a:prstGeom>
          <a:solidFill>
            <a:srgbClr val="0E3F8C"/>
          </a:solidFill>
          <a:ln/>
        </p:spPr>
        <p:txBody>
          <a:bodyPr/>
          <a:p/>
        </p:txBody>
      </p:sp>
      <p:sp>
        <p:nvSpPr>
          <p:cNvPr id="95" name=""/>
          <p:cNvSpPr/>
          <p:nvPr/>
        </p:nvSpPr>
        <p:spPr>
          <a:xfrm rot="0" flipH="0" flipV="0">
            <a:off x="0" y="0"/>
            <a:ext cx="2857500" cy="6858000"/>
          </a:xfrm>
          <a:custGeom>
            <a:pathLst>
              <a:path w="300" h="720">
                <a:moveTo>
                  <a:pt x="299" y="0"/>
                </a:moveTo>
                <a:lnTo>
                  <a:pt x="300" y="0"/>
                </a:lnTo>
                <a:lnTo>
                  <a:pt x="300" y="720"/>
                </a:lnTo>
                <a:lnTo>
                  <a:pt x="299" y="720"/>
                </a:lnTo>
                <a:close/>
              </a:path>
            </a:pathLst>
          </a:custGeom>
          <a:solidFill>
            <a:srgbClr val="2B5793"/>
          </a:solidFill>
          <a:ln/>
        </p:spPr>
        <p:txBody>
          <a:bodyPr/>
          <a:p/>
        </p:txBody>
      </p:sp>
      <p:sp>
        <p:nvSpPr>
          <p:cNvPr id="96" name="" descr="{&quot;isTemplate&quot;:true,&quot;type&quot;:&quot;text&quot;}"/>
          <p:cNvSpPr txBox="1"/>
          <p:nvPr/>
        </p:nvSpPr>
        <p:spPr>
          <a:xfrm rot="0" flipH="0" flipV="0">
            <a:off x="38100" y="2171700"/>
            <a:ext cx="2781300" cy="2514600"/>
          </a:xfrm>
          <a:prstGeom prst="rect"/>
        </p:spPr>
        <p:txBody>
          <a:bodyPr wrap="none" lIns="0" tIns="0" rIns="0" bIns="0"/>
          <a:p>
            <a:pPr>
              <a:lnSpc>
                <a:spcPct val="100000"/>
              </a:lnSpc>
            </a:pPr>
            <a:r>
              <a:rPr lang="en-US" sz="16500" b="1">
                <a:solidFill>
                  <a:srgbClr val="3D7BD9"/>
                </a:solidFill>
                <a:latin typeface="Georgia"/>
                <a:ea typeface="Georgia"/>
              </a:rPr>
              <a:t>03</a:t>
            </a:r>
            <a:endParaRPr/>
          </a:p>
        </p:txBody>
      </p:sp>
      <p:sp>
        <p:nvSpPr>
          <p:cNvPr id="97" name="" descr="{&quot;isTemplate&quot;:true,&quot;type&quot;:&quot;text&quot;}"/>
          <p:cNvSpPr txBox="1"/>
          <p:nvPr/>
        </p:nvSpPr>
        <p:spPr>
          <a:xfrm rot="0" flipH="0" flipV="0">
            <a:off x="3467100" y="2219325"/>
            <a:ext cx="8115300" cy="171450"/>
          </a:xfrm>
          <a:prstGeom prst="rect"/>
        </p:spPr>
        <p:txBody>
          <a:bodyPr wrap="none" lIns="0" tIns="0" rIns="0" bIns="0"/>
          <a:p>
            <a:pPr>
              <a:lnSpc>
                <a:spcPct val="100000"/>
              </a:lnSpc>
            </a:pPr>
            <a:r>
              <a:rPr lang="en-US" sz="1125" spc="150">
                <a:solidFill>
                  <a:srgbClr val="7FA2D6"/>
                </a:solidFill>
                <a:latin typeface="Microsoft YaHei"/>
                <a:ea typeface="Microsoft YaHei"/>
              </a:rPr>
              <a:t>PART 3 · LECTURE</a:t>
            </a:r>
            <a:endParaRPr/>
          </a:p>
        </p:txBody>
      </p:sp>
      <p:sp>
        <p:nvSpPr>
          <p:cNvPr id="98" name="" descr="{&quot;isTemplate&quot;:true,&quot;type&quot;:&quot;text&quot;}"/>
          <p:cNvSpPr txBox="1"/>
          <p:nvPr/>
        </p:nvSpPr>
        <p:spPr>
          <a:xfrm rot="0" flipH="0" flipV="0">
            <a:off x="3467100" y="2562225"/>
            <a:ext cx="8115300" cy="628650"/>
          </a:xfrm>
          <a:prstGeom prst="rect"/>
        </p:spPr>
        <p:txBody>
          <a:bodyPr wrap="none" lIns="0" tIns="0" rIns="0" bIns="0"/>
          <a:p>
            <a:pPr>
              <a:lnSpc>
                <a:spcPct val="118000"/>
              </a:lnSpc>
            </a:pPr>
            <a:r>
              <a:rPr lang="en-US" sz="3450" b="1">
                <a:solidFill>
                  <a:srgbClr val="FFFFFF"/>
                </a:solidFill>
                <a:latin typeface="Microsoft YaHei"/>
                <a:ea typeface="Microsoft YaHei"/>
              </a:rPr>
              <a:t>Extensions &amp; Exceptions</a:t>
            </a:r>
            <a:endParaRPr/>
          </a:p>
        </p:txBody>
      </p:sp>
      <p:sp>
        <p:nvSpPr>
          <p:cNvPr id="99" name=""/>
          <p:cNvSpPr/>
          <p:nvPr/>
        </p:nvSpPr>
        <p:spPr>
          <a:xfrm rot="0" flipH="0" flipV="0">
            <a:off x="3467100" y="3438525"/>
            <a:ext cx="609600" cy="38100"/>
          </a:xfrm>
          <a:prstGeom prst="rect">
            <a:avLst/>
          </a:prstGeom>
          <a:solidFill>
            <a:srgbClr val="FFC107"/>
          </a:solidFill>
          <a:ln/>
        </p:spPr>
        <p:txBody>
          <a:bodyPr/>
          <a:p/>
        </p:txBody>
      </p:sp>
      <p:sp>
        <p:nvSpPr>
          <p:cNvPr id="100" name=""/>
          <p:cNvSpPr/>
          <p:nvPr/>
        </p:nvSpPr>
        <p:spPr>
          <a:xfrm rot="0" flipH="0" flipV="0">
            <a:off x="3467100" y="3800475"/>
            <a:ext cx="76200" cy="76200"/>
          </a:xfrm>
          <a:prstGeom prst="roundRect">
            <a:avLst>
              <a:gd name="adj" fmla="val 50000"/>
            </a:avLst>
          </a:prstGeom>
          <a:solidFill>
            <a:srgbClr val="3D7BD9"/>
          </a:solidFill>
          <a:ln/>
        </p:spPr>
        <p:txBody>
          <a:bodyPr/>
          <a:p/>
        </p:txBody>
      </p:sp>
      <p:sp>
        <p:nvSpPr>
          <p:cNvPr id="101" name="" descr="{&quot;isTemplate&quot;:true,&quot;type&quot;:&quot;text&quot;}"/>
          <p:cNvSpPr txBox="1"/>
          <p:nvPr/>
        </p:nvSpPr>
        <p:spPr>
          <a:xfrm rot="0" flipH="0" flipV="0">
            <a:off x="3657600" y="3724275"/>
            <a:ext cx="2543175" cy="228600"/>
          </a:xfrm>
          <a:prstGeom prst="rect"/>
        </p:spPr>
        <p:txBody>
          <a:bodyPr wrap="none" lIns="0" tIns="0" rIns="0" bIns="0"/>
          <a:p>
            <a:pPr>
              <a:lnSpc>
                <a:spcPct val="100000"/>
              </a:lnSpc>
            </a:pPr>
            <a:r>
              <a:rPr lang="en-US" sz="1500">
                <a:solidFill>
                  <a:srgbClr val="C5D4EA"/>
                </a:solidFill>
                <a:latin typeface="Microsoft YaHei"/>
                <a:ea typeface="Microsoft YaHei"/>
              </a:rPr>
              <a:t>The main path is the easy half</a:t>
            </a:r>
            <a:endParaRPr/>
          </a:p>
        </p:txBody>
      </p:sp>
      <p:sp>
        <p:nvSpPr>
          <p:cNvPr id="102" name=""/>
          <p:cNvSpPr/>
          <p:nvPr/>
        </p:nvSpPr>
        <p:spPr>
          <a:xfrm rot="0" flipH="0" flipV="0">
            <a:off x="3467100" y="4143375"/>
            <a:ext cx="76200" cy="76200"/>
          </a:xfrm>
          <a:prstGeom prst="roundRect">
            <a:avLst>
              <a:gd name="adj" fmla="val 50000"/>
            </a:avLst>
          </a:prstGeom>
          <a:solidFill>
            <a:srgbClr val="3D7BD9"/>
          </a:solidFill>
          <a:ln/>
        </p:spPr>
        <p:txBody>
          <a:bodyPr/>
          <a:p/>
        </p:txBody>
      </p:sp>
      <p:sp>
        <p:nvSpPr>
          <p:cNvPr id="103" name="" descr="{&quot;isTemplate&quot;:true,&quot;type&quot;:&quot;text&quot;}"/>
          <p:cNvSpPr txBox="1"/>
          <p:nvPr/>
        </p:nvSpPr>
        <p:spPr>
          <a:xfrm rot="0" flipH="0" flipV="0">
            <a:off x="3657600" y="4067175"/>
            <a:ext cx="4200525" cy="228600"/>
          </a:xfrm>
          <a:prstGeom prst="rect"/>
        </p:spPr>
        <p:txBody>
          <a:bodyPr wrap="none" lIns="0" tIns="0" rIns="0" bIns="0"/>
          <a:p>
            <a:pPr>
              <a:lnSpc>
                <a:spcPct val="100000"/>
              </a:lnSpc>
            </a:pPr>
            <a:r>
              <a:rPr lang="en-US" sz="1500">
                <a:solidFill>
                  <a:srgbClr val="C5D4EA"/>
                </a:solidFill>
                <a:latin typeface="Microsoft YaHei"/>
                <a:ea typeface="Microsoft YaHei"/>
              </a:rPr>
              <a:t>Four branches off step 4, not four extra use cases</a:t>
            </a:r>
            <a:endParaRPr/>
          </a:p>
        </p:txBody>
      </p:sp>
      <p:sp>
        <p:nvSpPr>
          <p:cNvPr id="104" name=""/>
          <p:cNvSpPr/>
          <p:nvPr/>
        </p:nvSpPr>
        <p:spPr>
          <a:xfrm rot="0" flipH="0" flipV="0">
            <a:off x="3467100" y="4486275"/>
            <a:ext cx="76200" cy="76200"/>
          </a:xfrm>
          <a:prstGeom prst="roundRect">
            <a:avLst>
              <a:gd name="adj" fmla="val 50000"/>
            </a:avLst>
          </a:prstGeom>
          <a:solidFill>
            <a:srgbClr val="3D7BD9"/>
          </a:solidFill>
          <a:ln/>
        </p:spPr>
        <p:txBody>
          <a:bodyPr/>
          <a:p/>
        </p:txBody>
      </p:sp>
      <p:sp>
        <p:nvSpPr>
          <p:cNvPr id="105" name="" descr="{&quot;isTemplate&quot;:true,&quot;type&quot;:&quot;text&quot;}"/>
          <p:cNvSpPr txBox="1"/>
          <p:nvPr/>
        </p:nvSpPr>
        <p:spPr>
          <a:xfrm rot="0" flipH="0" flipV="0">
            <a:off x="3657600" y="4410075"/>
            <a:ext cx="4333875" cy="228600"/>
          </a:xfrm>
          <a:prstGeom prst="rect"/>
        </p:spPr>
        <p:txBody>
          <a:bodyPr wrap="none" lIns="0" tIns="0" rIns="0" bIns="0"/>
          <a:p>
            <a:pPr>
              <a:lnSpc>
                <a:spcPct val="100000"/>
              </a:lnSpc>
            </a:pPr>
            <a:r>
              <a:rPr lang="en-US" sz="1500">
                <a:solidFill>
                  <a:srgbClr val="C5D4EA"/>
                </a:solidFill>
                <a:latin typeface="Microsoft YaHei"/>
                <a:ea typeface="Microsoft YaHei"/>
              </a:rPr>
              <a:t>An exception is a failure; an extension is a variation</a:t>
            </a:r>
            <a:endParaRPr/>
          </a:p>
        </p:txBody>
      </p:sp>
      <p:sp>
        <p:nvSpPr>
          <p:cNvPr id="106" name=""/>
          <p:cNvSpPr/>
          <p:nvPr/>
        </p:nvSpPr>
        <p:spPr>
          <a:xfrm rot="0" flipH="0" flipV="0">
            <a:off x="0" y="0"/>
            <a:ext cx="12192000" cy="76200"/>
          </a:xfrm>
          <a:prstGeom prst="rect">
            <a:avLst/>
          </a:prstGeom>
          <a:solidFill>
            <a:srgbClr val="1E4FA8"/>
          </a:solidFill>
          <a:ln/>
        </p:spPr>
        <p:txBody>
          <a:bodyPr/>
          <a:p/>
        </p:txBody>
      </p:sp>
    </p:spTree>
  </p:cSld>
</p:sld>
</file>

<file path=ppt/slides/slide15.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07"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EXTENSIONS &amp; EXCEPTIONS&lt;/Text&gt;&#10;  &lt;/Box&gt;&#10;  &lt;Box style={{ padding: '13px 40px 0 40px', flexDirection: 'row', alignItems: 'center', justifyContent: 'space-between' }}&gt;&#10;    &lt;Text style={{ fontSize: 29, fontWeight: 'bold', color: '#0E3F8C' }}&gt;Branching at a Step&lt;/Text&gt;&#10;    &lt;Text style={{ fontSize: 14, color: '#1E4FA8', fontWeight: 'bold' }}&gt;15 / 38&lt;/Text&gt;&#10;  &lt;/Box&gt;&#10;  &lt;Box style={{ flex: 1, padding: '6px 40px 0 40px', justifyContent: 'center', alignItems: 'center' }}&gt;&#10;    &lt;svg width={1180} height={392} viewBox='0 0 1180 392'&gt;&#10;      &lt;text x='10' y='16' fill='#8B97A8' fontSize='13'&gt;All four branches hang off step 4. The main line never restarts; it resumes or it ends.&lt;/text&gt;&#10;&#10;      &lt;g transform='translate(30,34)'&gt;&#10;        &lt;rect x='0' y='0' width='250' height='52' rx='7' fill='#1E4FA8' /&gt;&#10;        &lt;text x='16' y='22' fill='#FFFFFF' fontSize='13.5' fontWeight='bold'&gt;1  Student confirms cart&lt;/text&gt;&#10;        &lt;text x='16' y='41' fill='#B9CDF0' fontSize='11.5'&gt;the trigger&lt;/text&gt;&#10;        &lt;line x1='250' y1='26' x2='288' y2='26' stroke='#1E4FA8' strokeWidth='2' /&gt;&#10;&#10;        &lt;rect x='288' y='0' width='250' height='52' rx='7' fill='#1E4FA8' /&gt;&#10;        &lt;text x='304' y='22' fill='#FFFFFF' fontSize='13.5' fontWeight='bold'&gt;2  System shows amount&lt;/text&gt;&#10;        &lt;text x='304' y='41' fill='#B9CDF0' fontSize='11.5'&gt;observable&lt;/text&gt;&#10;        &lt;line x1='538' y1='26' x2='576' y2='26' stroke='#1E4FA8' strokeWidth='2' /&gt;&#10;&#10;        &lt;rect x='576' y='0' width='250' height='52' rx='7' fill='#1E4FA8' /&gt;&#10;        &lt;text x='592' y='22' fill='#FFFFFF' fontSize='13.5' fontWeight='bold'&gt;3  System requests payment&lt;/text&gt;&#10;        &lt;text x='592' y='41' fill='#B9CDF0' fontSize='11.5'&gt;asks the outside world&lt;/text&gt;&#10;        &lt;line x1='826' y1='26' x2='864' y2='26' stroke='#1E4FA8' strokeWidth='2' /&gt;&#10;&#10;        &lt;rect x='864' y='0' width='256' height='52' rx='7' fill='#0E3F8C' /&gt;&#10;        &lt;text x='880' y='22' fill='#FFFFFF' fontSize='13.5' fontWeight='bold'&gt;4  Provider confirms&lt;/text&gt;&#10;        &lt;text x='880' y='41' fill='#B9CDF0' fontSize='11.5'&gt;the branch point&lt;/text&gt;&#10;      &lt;/g&gt;&#10;&#10;      &lt;g transform='translate(864,96)'&gt;&#10;        &lt;line x1='128' y1='0' x2='128' y2='24' stroke='#2B7A3D' strokeWidth='2' /&gt;&#10;        &lt;rect x='0' y='24' width='256' height='44' rx='6' fill='#EAF6EC' stroke='#2B7A3D' strokeWidth='1.6' /&gt;&#10;        &lt;text x='14' y='45' fill='#2B7A3D' fontSize='12.5' fontWeight='bold'&gt;main — resume at step 5&lt;/text&gt;&#10;        &lt;text x='14' y='61' fill='#4A5568' fontSize='11'&gt;nothing went wrong&lt;/text&gt;&#10;      &lt;/g&gt;&#10;&#10;      &lt;g transform='translate(600,168)'&gt;&#10;        &lt;path d='M 128 -48 L 128 -12' stroke='#996F00' strokeWidth='2' fill='none' /&gt;&#10;        &lt;rect x='0' y='0' width='256' height='44' rx='6' fill='#FFF6E0' stroke='#FFC107' strokeWidth='1.6' /&gt;&#10;        &lt;text x='14' y='21' fill='#996F00' fontSize='12.5' fontWeight='bold'&gt;4a  item became sold out&lt;/text&gt;&#10;        &lt;text x='14' y='37' fill='#4A5568' fontSize='11'&gt;resume at step 1 with an update&lt;/text&gt;&#10;        &lt;path d='M 128 44 L 128 66 L -520 66' stroke='#FFC107' strokeWidth='1.6' fill='none' strokeDasharray='5 4' /&gt;&#10;      &lt;/g&gt;&#10;&#10;      &lt;g transform='translate(330,252)'&gt;&#10;        &lt;path d='M 128 -40 L 128 -8' stroke='#FFC107' strokeWidth='2' fill='none' /&gt;&#10;        &lt;rect x='0' y='0' width='256' height='44' rx='6' fill='#FFF6E0' stroke='#FFC107' strokeWidth='1.6' /&gt;&#10;        &lt;text x='14' y='21' fill='#996F00' fontSize='12.5' fontWeight='bold'&gt;4b  no courier available&lt;/text&gt;&#10;        &lt;text x='14' y='37' fill='#4A5568' fontSize='11'&gt;resume at step 5, delay the ticket&lt;/text&gt;&#10;      &lt;/g&gt;&#10;&#10;      &lt;g transform='translate(60,252)'&gt;&#10;        &lt;rect x='0' y='0' width='256' height='44' rx='6' fill='#FDF3F3' stroke='#D9534F' strokeWidth='1.6' /&gt;&#10;        &lt;text x='14' y='21' fill='#D9534F' fontSize='12.5' fontWeight='bold'&gt;4c  provider unavailable&lt;/text&gt;&#10;        &lt;text x='14' y='37' fill='#4A5568' fontSize='11'&gt;ends in Pending Payment, no ticket&lt;/text&gt;&#10;        &lt;line x1='256' y1='22' x2='330' y2='22' stroke='#D9534F' strokeWidth='1.6' strokeDasharray='5 4' /&gt;&#10;      &lt;/g&gt;&#10;&#10;      &lt;g transform='translate(30,336)'&gt;&#10;        &lt;rect x='0' y='0' width='1090' height='42' rx='7' fill='#F7F9FC' stroke='#D6DCE5' strokeWidth='1.2' /&gt;&#10;        &lt;text x='16' y='26' fill='#0E3F8C' fontSize='12.5' fontWeight='bold'&gt;Three branches resume the main line. One does not. That single difference is the whole distinction on the next page.&lt;/text&gt;&#10;      &lt;/g&gt;&#10;    &lt;/svg&gt;&#10;  &lt;/Box&gt;&#10;  &lt;Box style={{ height: 34, padding: '0 40px', flexDirection: 'row', alignItems: 'center', justifyContent: 'space-between' }}&gt;&#10;    &lt;Text style={{ fontSize: 13, color: '#8B97A8' }}&gt;ISAD · Fall 2026 · A branch either rejoins the main line or ends the use case. Decide which, before you write it&lt;/Text&gt;&#10;    &lt;Text style={{ fontSize: 14, color: '#1E4FA8', fontWeight: 'bold' }}&gt;15 / 38&lt;/Text&gt;&#10;  &lt;/Box&gt;&#10;&lt;/Slide&gt;&#10;"/>
        <p:cNvGrpSpPr/>
        <p:nvPr/>
      </p:nvGrpSpPr>
      <p:grpSpPr>
        <a:xfrm>
          <a:off x="0" y="0"/>
          <a:ext cx="0" cy="0"/>
          <a:chOff x="0" y="0"/>
          <a:chExt cx="0" cy="0"/>
        </a:xfrm>
      </p:grpSpPr>
      <p:sp>
        <p:nvSpPr>
          <p:cNvPr id="108" name=""/>
          <p:cNvSpPr/>
          <p:nvPr/>
        </p:nvSpPr>
        <p:spPr>
          <a:xfrm rot="0" flipH="0" flipV="0">
            <a:off x="0" y="0"/>
            <a:ext cx="12192000" cy="6858000"/>
          </a:xfrm>
          <a:prstGeom prst="rect">
            <a:avLst/>
          </a:prstGeom>
          <a:solidFill>
            <a:srgbClr val="FFFFFF"/>
          </a:solidFill>
          <a:ln/>
        </p:spPr>
        <p:txBody>
          <a:bodyPr/>
          <a:p/>
        </p:txBody>
      </p:sp>
      <p:sp>
        <p:nvSpPr>
          <p:cNvPr id="109" name=""/>
          <p:cNvSpPr/>
          <p:nvPr/>
        </p:nvSpPr>
        <p:spPr>
          <a:xfrm rot="0" flipH="0" flipV="0">
            <a:off x="0" y="0"/>
            <a:ext cx="12192000" cy="685800"/>
          </a:xfrm>
          <a:prstGeom prst="rect">
            <a:avLst/>
          </a:prstGeom>
          <a:solidFill>
            <a:srgbClr val="1E4FA8"/>
          </a:solidFill>
          <a:ln/>
        </p:spPr>
        <p:txBody>
          <a:bodyPr/>
          <a:p/>
        </p:txBody>
      </p:sp>
      <p:sp>
        <p:nvSpPr>
          <p:cNvPr id="110"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111" name="" descr="{&quot;isTemplate&quot;:true,&quot;type&quot;:&quot;text&quot;}"/>
          <p:cNvSpPr txBox="1"/>
          <p:nvPr/>
        </p:nvSpPr>
        <p:spPr>
          <a:xfrm rot="0" flipH="0" flipV="0">
            <a:off x="9372600" y="257175"/>
            <a:ext cx="2438400" cy="171450"/>
          </a:xfrm>
          <a:prstGeom prst="rect"/>
        </p:spPr>
        <p:txBody>
          <a:bodyPr wrap="none" lIns="0" tIns="0" rIns="0" bIns="0"/>
          <a:p>
            <a:pPr>
              <a:lnSpc>
                <a:spcPct val="100000"/>
              </a:lnSpc>
            </a:pPr>
            <a:r>
              <a:rPr lang="en-US" sz="1125">
                <a:solidFill>
                  <a:srgbClr val="B9CDF0"/>
                </a:solidFill>
                <a:latin typeface="Microsoft YaHei"/>
                <a:ea typeface="Microsoft YaHei"/>
              </a:rPr>
              <a:t>W05 · EXTENSIONS &amp; EXCEPTIONS</a:t>
            </a:r>
            <a:endParaRPr/>
          </a:p>
        </p:txBody>
      </p:sp>
      <p:sp>
        <p:nvSpPr>
          <p:cNvPr id="112" name="" descr="{&quot;isTemplate&quot;:true,&quot;type&quot;:&quot;text&quot;}"/>
          <p:cNvSpPr txBox="1"/>
          <p:nvPr/>
        </p:nvSpPr>
        <p:spPr>
          <a:xfrm rot="0" flipH="0" flipV="0">
            <a:off x="381000" y="809625"/>
            <a:ext cx="2600325" cy="333375"/>
          </a:xfrm>
          <a:prstGeom prst="rect"/>
        </p:spPr>
        <p:txBody>
          <a:bodyPr wrap="none" lIns="0" tIns="0" rIns="0" bIns="0"/>
          <a:p>
            <a:pPr>
              <a:lnSpc>
                <a:spcPct val="100000"/>
              </a:lnSpc>
            </a:pPr>
            <a:r>
              <a:rPr lang="en-US" sz="2175" b="1">
                <a:solidFill>
                  <a:srgbClr val="0E3F8C"/>
                </a:solidFill>
                <a:latin typeface="Microsoft YaHei"/>
                <a:ea typeface="Microsoft YaHei"/>
              </a:rPr>
              <a:t>Branching at a Step</a:t>
            </a:r>
            <a:endParaRPr/>
          </a:p>
        </p:txBody>
      </p:sp>
      <p:sp>
        <p:nvSpPr>
          <p:cNvPr id="113"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15 / 38</a:t>
            </a:r>
            <a:endParaRPr/>
          </a:p>
        </p:txBody>
      </p:sp>
      <p:pic>
        <p:nvPicPr>
          <p:cNvPr id="114" name=""/>
          <p:cNvPicPr>
            <a:picLocks noChangeAspect="1"/>
          </p:cNvPicPr>
          <p:nvPr/>
        </p:nvPicPr>
        <p:blipFill>
          <a:blip>
            <a:extLst>
              <a:ext uri="{96DAC541-7B7A-43D3-8B79-37D633B846F1}">
                <asvg:svgBlip r:embed="rId1"/>
              </a:ext>
            </a:extLst>
          </a:blip>
          <a:stretch>
            <a:fillRect/>
          </a:stretch>
        </p:blipFill>
        <p:spPr>
          <a:xfrm rot="0" flipH="0" flipV="0">
            <a:off x="476250" y="2000250"/>
            <a:ext cx="11239500" cy="3733800"/>
          </a:xfrm>
          <a:prstGeom prst="rect">
            <a:avLst/>
          </a:prstGeom>
          <a:ln/>
        </p:spPr>
      </p:pic>
      <p:sp>
        <p:nvSpPr>
          <p:cNvPr id="115" name="" descr="{&quot;isTemplate&quot;:true,&quot;type&quot;:&quot;text&quot;}"/>
          <p:cNvSpPr txBox="1"/>
          <p:nvPr/>
        </p:nvSpPr>
        <p:spPr>
          <a:xfrm rot="0" flipH="0" flipV="0">
            <a:off x="381000" y="6619875"/>
            <a:ext cx="6038850"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A branch either rejoins the main line or ends the use case. Decide which, before you write it</a:t>
            </a:r>
            <a:endParaRPr/>
          </a:p>
        </p:txBody>
      </p:sp>
      <p:sp>
        <p:nvSpPr>
          <p:cNvPr id="116"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15 / 38</a:t>
            </a:r>
            <a:endParaRPr/>
          </a:p>
        </p:txBody>
      </p:sp>
    </p:spTree>
  </p:cSld>
</p:sld>
</file>

<file path=ppt/slides/slide16.xml><?xml version="1.0" encoding="utf-8"?>
<p:sld xmlns:p="http://schemas.openxmlformats.org/presentationml/2006/main" xmlns:a="http://schemas.openxmlformats.org/drawingml/2006/main">
  <p:cSld>
    <p:spTree>
      <p:nvGrpSpPr>
        <p:cNvPr id="117"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EXTENSIONS &amp; EXCEPTIONS&lt;/Text&gt;&#10;  &lt;/Box&gt;&#10;  &lt;Box style={{ padding: '13px 40px 0 40px', flexDirection: 'row', alignItems: 'center', justifyContent: 'space-between' }}&gt;&#10;    &lt;Text style={{ fontSize: 29, fontWeight: 'bold', color: '#0E3F8C' }}&gt;Numbering: 3a, 3b, 3c&lt;/Text&gt;&#10;    &lt;Text style={{ fontSize: 14, color: '#1E4FA8', fontWeight: 'bold' }}&gt;16 / 38&lt;/Text&gt;&#10;  &lt;/Box&gt;&#10;  &lt;Box style={{ flex: 1, padding: '10px 40px 0 40px', flexDirection: 'row', gap: 26 }}&gt;&#10;    &lt;Box style={{ flex: 5, justifyContent: 'center' }}&gt;&#10;      &lt;CodeBlock theme='one-dark-pro' code={`Extensions:&#10;&#10;  3a  Item was sold out while the&#10;      student was choosing.&#10;      The system reports which item and&#10;      offers to update the cart.&#10;      -&gt; resume at step 1.&#10;&#10;  3b  Coupon code is not valid.&#10;      The system reports the code as&#10;      not applicable and shows the&#10;      amount without it.&#10;      -&gt; resume at step 2.&#10;&#10;  3c  Payment provider is&#10;      unreachable (exception).&#10;      The system creates the order in&#10;      state Pending Payment and&#10;      notifies the student.&#10;      -&gt; the use case ends here.&#10;&#10;  3d  Student has more than one&#10;      open order at one restaurant.&#10;      The system refuses and shows&#10;      the open order.&#10;      -&gt; the use case ends here.`} language='text' /&gt;&#10;    &lt;/Box&gt;&#10;    &lt;Box style={{ flex: 2, flexDirection: 'column', justifyContent: 'center', gap: 12 }}&gt;&#10;      &lt;Box style={{ padding: '15px 17px', background: '#F0F5FC', borderRadius: 9, borderLeft: '4px solid #1E4FA8' }}&gt;&#10;        &lt;Text style={{ fontSize: 15.5, fontWeight: 'bold', color: '#0E3F8C' }}&gt;The letter carries the step&lt;/Text&gt;&#10;        &lt;Text style={{ fontSize: 12.8, color: '#4A5568', lineHeight: 1.6, marginTop: 5 }}&gt;&#10;          3a branches off step 3. If you renumber the main line, the letters move with it and the meaning survives.&#10;        &lt;/Text&gt;&#10;      &lt;/Box&gt;&#10;      &lt;Box style={{ padding: '15px 17px', background: '#FDF3F3', borderRadius: 9, borderLeft: '4px solid #D9534F' }}&gt;&#10;        &lt;Text style={{ fontSize: 15.5, fontWeight: 'bold', color: '#D9534F' }}&gt;Never “step 7.5”&lt;/Text&gt;&#10;        &lt;Text style={{ fontSize: 12.8, color: '#4A5568', lineHeight: 1.6, marginTop: 5 }}&gt;&#10;          A decimal step means you reordered the main line to make room for a branch. That is how a five-step use case becomes a nine-step one nobody can follow.&#10;        &lt;/Text&gt;&#10;      &lt;/Box&gt;&#10;      &lt;Box style={{ padding: '15px 17px', background: '#FFFFFF', borderRadius: 9, border: '1px solid #D6DCE5' }}&gt;&#10;        &lt;Text style={{ fontSize: 15.5, fontWeight: 'bold', color: '#0E3F8C' }}&gt;Always say where it goes&lt;/Text&gt;&#10;        &lt;Text style={{ fontSize: 12.8, color: '#4A5568', lineHeight: 1.6, marginTop: 5 }}&gt;&#10;          End every branch with one of two lines: resume at step n, or the use case ends. Never leave the reader guessing.&#10;        &lt;/Text&gt;&#10;      &lt;/Box&gt;&#10;      &lt;Box style={{ padding: '12px 16px', background: '#F7F9FC', borderRadius: 8, border: '1px dashed #D6DCE5' }}&gt;&#10;        &lt;Text style={{ fontSize: 12.8, color: '#8B97A8', lineHeight: 1.6 }}&gt;&#10;          Four to seven extensions is normal. Zero means you only wrote the happy path; more than twelve means the use case is really two.&#10;        &lt;/Text&gt;&#10;      &lt;/Box&gt;&#10;    &lt;/Box&gt;&#10;  &lt;/Box&gt;&#10;  &lt;Box style={{ height: 46, background: '#0E3F8C', padding: '0 40px', flexDirection: 'row', alignItems: 'center', justifyContent: 'center' }}&gt;&#10;    &lt;Text style={{ fontSize: 16.5, color: '#FFFFFF', fontWeight: '600' }}&gt;The letter belongs to the step it interrupts, not to the order you happened to write them in.&lt;/Text&gt;&#10;  &lt;/Box&gt;&#10;&lt;/Slide&gt;&#10;"/>
        <p:cNvGrpSpPr/>
        <p:nvPr/>
      </p:nvGrpSpPr>
      <p:grpSpPr>
        <a:xfrm>
          <a:off x="0" y="0"/>
          <a:ext cx="0" cy="0"/>
          <a:chOff x="0" y="0"/>
          <a:chExt cx="0" cy="0"/>
        </a:xfrm>
      </p:grpSpPr>
      <p:sp>
        <p:nvSpPr>
          <p:cNvPr id="118" name=""/>
          <p:cNvSpPr/>
          <p:nvPr/>
        </p:nvSpPr>
        <p:spPr>
          <a:xfrm rot="0" flipH="0" flipV="0">
            <a:off x="0" y="0"/>
            <a:ext cx="12192000" cy="6858000"/>
          </a:xfrm>
          <a:prstGeom prst="rect">
            <a:avLst/>
          </a:prstGeom>
          <a:solidFill>
            <a:srgbClr val="FFFFFF"/>
          </a:solidFill>
          <a:ln/>
        </p:spPr>
        <p:txBody>
          <a:bodyPr/>
          <a:p/>
        </p:txBody>
      </p:sp>
      <p:sp>
        <p:nvSpPr>
          <p:cNvPr id="119" name=""/>
          <p:cNvSpPr/>
          <p:nvPr/>
        </p:nvSpPr>
        <p:spPr>
          <a:xfrm rot="0" flipH="0" flipV="0">
            <a:off x="0" y="0"/>
            <a:ext cx="12192000" cy="685800"/>
          </a:xfrm>
          <a:prstGeom prst="rect">
            <a:avLst/>
          </a:prstGeom>
          <a:solidFill>
            <a:srgbClr val="1E4FA8"/>
          </a:solidFill>
          <a:ln/>
        </p:spPr>
        <p:txBody>
          <a:bodyPr/>
          <a:p/>
        </p:txBody>
      </p:sp>
      <p:sp>
        <p:nvSpPr>
          <p:cNvPr id="120"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121" name="" descr="{&quot;isTemplate&quot;:true,&quot;type&quot;:&quot;text&quot;}"/>
          <p:cNvSpPr txBox="1"/>
          <p:nvPr/>
        </p:nvSpPr>
        <p:spPr>
          <a:xfrm rot="0" flipH="0" flipV="0">
            <a:off x="9372600" y="257175"/>
            <a:ext cx="2438400" cy="171450"/>
          </a:xfrm>
          <a:prstGeom prst="rect"/>
        </p:spPr>
        <p:txBody>
          <a:bodyPr wrap="none" lIns="0" tIns="0" rIns="0" bIns="0"/>
          <a:p>
            <a:pPr>
              <a:lnSpc>
                <a:spcPct val="100000"/>
              </a:lnSpc>
            </a:pPr>
            <a:r>
              <a:rPr lang="en-US" sz="1125">
                <a:solidFill>
                  <a:srgbClr val="B9CDF0"/>
                </a:solidFill>
                <a:latin typeface="Microsoft YaHei"/>
                <a:ea typeface="Microsoft YaHei"/>
              </a:rPr>
              <a:t>W05 · EXTENSIONS &amp; EXCEPTIONS</a:t>
            </a:r>
            <a:endParaRPr/>
          </a:p>
        </p:txBody>
      </p:sp>
      <p:sp>
        <p:nvSpPr>
          <p:cNvPr id="122" name="" descr="{&quot;isTemplate&quot;:true,&quot;type&quot;:&quot;text&quot;}"/>
          <p:cNvSpPr txBox="1"/>
          <p:nvPr/>
        </p:nvSpPr>
        <p:spPr>
          <a:xfrm rot="0" flipH="0" flipV="0">
            <a:off x="381000" y="809625"/>
            <a:ext cx="2876550" cy="333375"/>
          </a:xfrm>
          <a:prstGeom prst="rect"/>
        </p:spPr>
        <p:txBody>
          <a:bodyPr wrap="none" lIns="0" tIns="0" rIns="0" bIns="0"/>
          <a:p>
            <a:pPr>
              <a:lnSpc>
                <a:spcPct val="100000"/>
              </a:lnSpc>
            </a:pPr>
            <a:r>
              <a:rPr lang="en-US" sz="2175" b="1">
                <a:solidFill>
                  <a:srgbClr val="0E3F8C"/>
                </a:solidFill>
                <a:latin typeface="Microsoft YaHei"/>
                <a:ea typeface="Microsoft YaHei"/>
              </a:rPr>
              <a:t>Numbering: 3a, 3b, 3c</a:t>
            </a:r>
            <a:endParaRPr/>
          </a:p>
        </p:txBody>
      </p:sp>
      <p:sp>
        <p:nvSpPr>
          <p:cNvPr id="123"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16 / 38</a:t>
            </a:r>
            <a:endParaRPr/>
          </a:p>
        </p:txBody>
      </p:sp>
      <p:sp>
        <p:nvSpPr>
          <p:cNvPr id="124" name=""/>
          <p:cNvSpPr/>
          <p:nvPr/>
        </p:nvSpPr>
        <p:spPr>
          <a:xfrm rot="0" flipH="0" flipV="0">
            <a:off x="8658225" y="1247775"/>
            <a:ext cx="3190875" cy="1219200"/>
          </a:xfrm>
          <a:prstGeom prst="roundRect">
            <a:avLst>
              <a:gd name="adj" fmla="val 7031"/>
            </a:avLst>
          </a:prstGeom>
          <a:solidFill>
            <a:srgbClr val="F0F5FC"/>
          </a:solidFill>
          <a:ln/>
        </p:spPr>
        <p:txBody>
          <a:bodyPr/>
          <a:p/>
        </p:txBody>
      </p:sp>
      <p:sp>
        <p:nvSpPr>
          <p:cNvPr id="125" name=""/>
          <p:cNvSpPr/>
          <p:nvPr/>
        </p:nvSpPr>
        <p:spPr>
          <a:xfrm rot="0" flipH="0" flipV="0">
            <a:off x="8658225" y="1247775"/>
            <a:ext cx="3190875" cy="1219200"/>
          </a:xfrm>
          <a:custGeom>
            <a:pathLst>
              <a:path w="335" h="128">
                <a:moveTo>
                  <a:pt x="9" y="0"/>
                </a:moveTo>
                <a:cubicBezTo>
                  <a:pt x="6" y="0"/>
                  <a:pt x="4" y="2"/>
                  <a:pt x="4" y="5"/>
                </a:cubicBezTo>
                <a:lnTo>
                  <a:pt x="4" y="123"/>
                </a:lnTo>
                <a:cubicBezTo>
                  <a:pt x="4" y="125"/>
                  <a:pt x="6" y="127"/>
                  <a:pt x="8" y="128"/>
                </a:cubicBezTo>
                <a:cubicBezTo>
                  <a:pt x="4" y="128"/>
                  <a:pt x="0" y="124"/>
                  <a:pt x="0" y="119"/>
                </a:cubicBezTo>
                <a:lnTo>
                  <a:pt x="0" y="9"/>
                </a:lnTo>
                <a:cubicBezTo>
                  <a:pt x="0" y="4"/>
                  <a:pt x="4" y="0"/>
                  <a:pt x="9" y="0"/>
                </a:cubicBezTo>
                <a:close/>
              </a:path>
            </a:pathLst>
          </a:custGeom>
          <a:solidFill>
            <a:srgbClr val="1E4FA8"/>
          </a:solidFill>
          <a:ln/>
        </p:spPr>
        <p:txBody>
          <a:bodyPr/>
          <a:p/>
        </p:txBody>
      </p:sp>
      <p:sp>
        <p:nvSpPr>
          <p:cNvPr id="126" name="" descr="{&quot;isTemplate&quot;:true,&quot;type&quot;:&quot;text&quot;}"/>
          <p:cNvSpPr txBox="1"/>
          <p:nvPr/>
        </p:nvSpPr>
        <p:spPr>
          <a:xfrm rot="0" flipH="0" flipV="0">
            <a:off x="8820150" y="1390650"/>
            <a:ext cx="2828925" cy="180975"/>
          </a:xfrm>
          <a:prstGeom prst="rect"/>
        </p:spPr>
        <p:txBody>
          <a:bodyPr wrap="none" lIns="0" tIns="0" rIns="0" bIns="0"/>
          <a:p>
            <a:pPr>
              <a:lnSpc>
                <a:spcPct val="100000"/>
              </a:lnSpc>
            </a:pPr>
            <a:r>
              <a:rPr lang="en-US" sz="1163" b="1">
                <a:solidFill>
                  <a:srgbClr val="0E3F8C"/>
                </a:solidFill>
                <a:latin typeface="Microsoft YaHei"/>
                <a:ea typeface="Microsoft YaHei"/>
              </a:rPr>
              <a:t>The letter carries the step</a:t>
            </a:r>
            <a:endParaRPr/>
          </a:p>
        </p:txBody>
      </p:sp>
      <p:sp>
        <p:nvSpPr>
          <p:cNvPr id="127" name="" descr="{&quot;isTemplate&quot;:true,&quot;type&quot;:&quot;text&quot;}"/>
          <p:cNvSpPr txBox="1"/>
          <p:nvPr/>
        </p:nvSpPr>
        <p:spPr>
          <a:xfrm rot="0" flipH="0" flipV="0">
            <a:off x="8820150" y="1619250"/>
            <a:ext cx="2828925" cy="7048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3a branches off step 3. If you renumber the main line, the letters move with it and the meaning survives.</a:t>
            </a:r>
            <a:endParaRPr/>
          </a:p>
        </p:txBody>
      </p:sp>
      <p:sp>
        <p:nvSpPr>
          <p:cNvPr id="128" name=""/>
          <p:cNvSpPr/>
          <p:nvPr/>
        </p:nvSpPr>
        <p:spPr>
          <a:xfrm rot="0" flipH="0" flipV="0">
            <a:off x="8658225" y="2581275"/>
            <a:ext cx="3190875" cy="1457325"/>
          </a:xfrm>
          <a:prstGeom prst="roundRect">
            <a:avLst>
              <a:gd name="adj" fmla="val 5882"/>
            </a:avLst>
          </a:prstGeom>
          <a:solidFill>
            <a:srgbClr val="FDF3F3"/>
          </a:solidFill>
          <a:ln/>
        </p:spPr>
        <p:txBody>
          <a:bodyPr/>
          <a:p/>
        </p:txBody>
      </p:sp>
      <p:sp>
        <p:nvSpPr>
          <p:cNvPr id="129" name=""/>
          <p:cNvSpPr/>
          <p:nvPr/>
        </p:nvSpPr>
        <p:spPr>
          <a:xfrm rot="0" flipH="0" flipV="0">
            <a:off x="8658225" y="2581275"/>
            <a:ext cx="3190875" cy="1457325"/>
          </a:xfrm>
          <a:custGeom>
            <a:pathLst>
              <a:path w="335" h="153">
                <a:moveTo>
                  <a:pt x="9" y="0"/>
                </a:moveTo>
                <a:cubicBezTo>
                  <a:pt x="6" y="0"/>
                  <a:pt x="4" y="2"/>
                  <a:pt x="4" y="5"/>
                </a:cubicBezTo>
                <a:lnTo>
                  <a:pt x="4" y="148"/>
                </a:lnTo>
                <a:cubicBezTo>
                  <a:pt x="4" y="150"/>
                  <a:pt x="6" y="152"/>
                  <a:pt x="8" y="153"/>
                </a:cubicBezTo>
                <a:cubicBezTo>
                  <a:pt x="4" y="153"/>
                  <a:pt x="0" y="149"/>
                  <a:pt x="0" y="144"/>
                </a:cubicBezTo>
                <a:lnTo>
                  <a:pt x="0" y="9"/>
                </a:lnTo>
                <a:cubicBezTo>
                  <a:pt x="0" y="4"/>
                  <a:pt x="4" y="0"/>
                  <a:pt x="9" y="0"/>
                </a:cubicBezTo>
                <a:close/>
              </a:path>
            </a:pathLst>
          </a:custGeom>
          <a:solidFill>
            <a:srgbClr val="D9534F"/>
          </a:solidFill>
          <a:ln/>
        </p:spPr>
        <p:txBody>
          <a:bodyPr/>
          <a:p/>
        </p:txBody>
      </p:sp>
      <p:sp>
        <p:nvSpPr>
          <p:cNvPr id="130" name="" descr="{&quot;isTemplate&quot;:true,&quot;type&quot;:&quot;text&quot;}"/>
          <p:cNvSpPr txBox="1"/>
          <p:nvPr/>
        </p:nvSpPr>
        <p:spPr>
          <a:xfrm rot="0" flipH="0" flipV="0">
            <a:off x="8820150" y="2724150"/>
            <a:ext cx="2828925" cy="180975"/>
          </a:xfrm>
          <a:prstGeom prst="rect"/>
        </p:spPr>
        <p:txBody>
          <a:bodyPr wrap="none" lIns="0" tIns="0" rIns="0" bIns="0"/>
          <a:p>
            <a:pPr>
              <a:lnSpc>
                <a:spcPct val="100000"/>
              </a:lnSpc>
            </a:pPr>
            <a:r>
              <a:rPr lang="en-US" sz="1163" b="1">
                <a:solidFill>
                  <a:srgbClr val="D9534F"/>
                </a:solidFill>
                <a:latin typeface="Microsoft YaHei"/>
                <a:ea typeface="Microsoft YaHei"/>
              </a:rPr>
              <a:t>Never “step 7.5”</a:t>
            </a:r>
            <a:endParaRPr/>
          </a:p>
        </p:txBody>
      </p:sp>
      <p:sp>
        <p:nvSpPr>
          <p:cNvPr id="131" name="" descr="{&quot;isTemplate&quot;:true,&quot;type&quot;:&quot;text&quot;}"/>
          <p:cNvSpPr txBox="1"/>
          <p:nvPr/>
        </p:nvSpPr>
        <p:spPr>
          <a:xfrm rot="0" flipH="0" flipV="0">
            <a:off x="8820150" y="2952750"/>
            <a:ext cx="2828925" cy="942975"/>
          </a:xfrm>
          <a:prstGeom prst="rect"/>
        </p:spPr>
        <p:txBody>
          <a:bodyPr wrap="square" lIns="0" tIns="0" rIns="0" bIns="0">
            <a:normAutofit/>
          </a:bodyPr>
          <a:p>
            <a:pPr>
              <a:lnSpc>
                <a:spcPct val="160000"/>
              </a:lnSpc>
            </a:pPr>
            <a:r>
              <a:rPr lang="en-US" sz="960">
                <a:solidFill>
                  <a:srgbClr val="4A5568"/>
                </a:solidFill>
                <a:latin typeface="Microsoft YaHei"/>
                <a:ea typeface="Microsoft YaHei"/>
              </a:rPr>
              <a:t>A decimal step means you reordered the main line to make room for a branch. That is how a five-step use case becomes a nine-step one nobody can follow.</a:t>
            </a:r>
            <a:endParaRPr/>
          </a:p>
        </p:txBody>
      </p:sp>
      <p:sp>
        <p:nvSpPr>
          <p:cNvPr id="132" name=""/>
          <p:cNvSpPr/>
          <p:nvPr/>
        </p:nvSpPr>
        <p:spPr>
          <a:xfrm rot="0" flipH="0" flipV="0">
            <a:off x="8620125" y="4152900"/>
            <a:ext cx="3190875" cy="1219200"/>
          </a:xfrm>
          <a:prstGeom prst="roundRect">
            <a:avLst>
              <a:gd name="adj" fmla="val 7031"/>
            </a:avLst>
          </a:prstGeom>
          <a:solidFill>
            <a:srgbClr val="FFFFFF"/>
          </a:solidFill>
          <a:ln w="12700">
            <a:solidFill>
              <a:srgbClr val="D6DCE5"/>
            </a:solidFill>
            <a:prstDash val="solid"/>
          </a:ln>
        </p:spPr>
        <p:txBody>
          <a:bodyPr/>
          <a:p/>
        </p:txBody>
      </p:sp>
      <p:sp>
        <p:nvSpPr>
          <p:cNvPr id="133" name="" descr="{&quot;isTemplate&quot;:true,&quot;type&quot;:&quot;text&quot;}"/>
          <p:cNvSpPr txBox="1"/>
          <p:nvPr/>
        </p:nvSpPr>
        <p:spPr>
          <a:xfrm rot="0" flipH="0" flipV="0">
            <a:off x="8782050" y="4295775"/>
            <a:ext cx="2867025" cy="180975"/>
          </a:xfrm>
          <a:prstGeom prst="rect"/>
        </p:spPr>
        <p:txBody>
          <a:bodyPr wrap="none" lIns="0" tIns="0" rIns="0" bIns="0"/>
          <a:p>
            <a:pPr>
              <a:lnSpc>
                <a:spcPct val="100000"/>
              </a:lnSpc>
            </a:pPr>
            <a:r>
              <a:rPr lang="en-US" sz="1163" b="1">
                <a:solidFill>
                  <a:srgbClr val="0E3F8C"/>
                </a:solidFill>
                <a:latin typeface="Microsoft YaHei"/>
                <a:ea typeface="Microsoft YaHei"/>
              </a:rPr>
              <a:t>Always say where it goes</a:t>
            </a:r>
            <a:endParaRPr/>
          </a:p>
        </p:txBody>
      </p:sp>
      <p:sp>
        <p:nvSpPr>
          <p:cNvPr id="134" name="" descr="{&quot;isTemplate&quot;:true,&quot;type&quot;:&quot;text&quot;}"/>
          <p:cNvSpPr txBox="1"/>
          <p:nvPr/>
        </p:nvSpPr>
        <p:spPr>
          <a:xfrm rot="0" flipH="0" flipV="0">
            <a:off x="8782050" y="4524375"/>
            <a:ext cx="2867025" cy="7048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End every branch with one of two lines: resume at step n, or the use case ends. Never leave the reader guessing.</a:t>
            </a:r>
            <a:endParaRPr/>
          </a:p>
        </p:txBody>
      </p:sp>
      <p:sp>
        <p:nvSpPr>
          <p:cNvPr id="135" name=""/>
          <p:cNvSpPr/>
          <p:nvPr/>
        </p:nvSpPr>
        <p:spPr>
          <a:xfrm rot="0" flipH="0" flipV="0">
            <a:off x="8620125" y="5486400"/>
            <a:ext cx="3190875" cy="933450"/>
          </a:xfrm>
          <a:prstGeom prst="roundRect">
            <a:avLst>
              <a:gd name="adj" fmla="val 8163"/>
            </a:avLst>
          </a:prstGeom>
          <a:solidFill>
            <a:srgbClr val="F7F9FC"/>
          </a:solidFill>
          <a:ln w="12700">
            <a:solidFill>
              <a:srgbClr val="D6DCE5"/>
            </a:solidFill>
            <a:prstDash val="dash"/>
          </a:ln>
        </p:spPr>
        <p:txBody>
          <a:bodyPr/>
          <a:p/>
        </p:txBody>
      </p:sp>
      <p:sp>
        <p:nvSpPr>
          <p:cNvPr id="136" name="" descr="{&quot;isTemplate&quot;:true,&quot;type&quot;:&quot;text&quot;}"/>
          <p:cNvSpPr txBox="1"/>
          <p:nvPr/>
        </p:nvSpPr>
        <p:spPr>
          <a:xfrm rot="0" flipH="0" flipV="0">
            <a:off x="8772525" y="5600700"/>
            <a:ext cx="2886075" cy="704850"/>
          </a:xfrm>
          <a:prstGeom prst="rect"/>
        </p:spPr>
        <p:txBody>
          <a:bodyPr wrap="square" lIns="0" tIns="0" rIns="0" bIns="0">
            <a:normAutofit/>
          </a:bodyPr>
          <a:p>
            <a:pPr>
              <a:lnSpc>
                <a:spcPct val="160000"/>
              </a:lnSpc>
            </a:pPr>
            <a:r>
              <a:rPr lang="en-US" sz="960">
                <a:solidFill>
                  <a:srgbClr val="8B97A8"/>
                </a:solidFill>
                <a:latin typeface="Microsoft YaHei"/>
                <a:ea typeface="Microsoft YaHei"/>
              </a:rPr>
              <a:t>Four to seven extensions is normal. Zero means you only wrote the happy path; more than twelve means the use case is really two.</a:t>
            </a:r>
            <a:endParaRPr/>
          </a:p>
        </p:txBody>
      </p:sp>
      <p:sp>
        <p:nvSpPr>
          <p:cNvPr id="137" name=""/>
          <p:cNvSpPr/>
          <p:nvPr/>
        </p:nvSpPr>
        <p:spPr>
          <a:xfrm rot="0" flipH="0" flipV="0">
            <a:off x="0" y="6419850"/>
            <a:ext cx="12192000" cy="438150"/>
          </a:xfrm>
          <a:prstGeom prst="rect">
            <a:avLst/>
          </a:prstGeom>
          <a:solidFill>
            <a:srgbClr val="0E3F8C"/>
          </a:solidFill>
          <a:ln/>
        </p:spPr>
        <p:txBody>
          <a:bodyPr/>
          <a:p/>
        </p:txBody>
      </p:sp>
      <p:sp>
        <p:nvSpPr>
          <p:cNvPr id="138" name="" descr="{&quot;isTemplate&quot;:true,&quot;type&quot;:&quot;text&quot;}"/>
          <p:cNvSpPr txBox="1"/>
          <p:nvPr/>
        </p:nvSpPr>
        <p:spPr>
          <a:xfrm rot="0" flipH="0" flipV="0">
            <a:off x="2743200" y="6543675"/>
            <a:ext cx="6715125" cy="190500"/>
          </a:xfrm>
          <a:prstGeom prst="rect"/>
        </p:spPr>
        <p:txBody>
          <a:bodyPr wrap="none" lIns="0" tIns="0" rIns="0" bIns="0"/>
          <a:p>
            <a:pPr>
              <a:lnSpc>
                <a:spcPct val="100000"/>
              </a:lnSpc>
            </a:pPr>
            <a:r>
              <a:rPr lang="en-US" sz="1238" b="1">
                <a:solidFill>
                  <a:srgbClr val="FFFFFF"/>
                </a:solidFill>
                <a:latin typeface="Microsoft YaHei"/>
                <a:ea typeface="Microsoft YaHei"/>
              </a:rPr>
              <a:t>The letter belongs to the step it interrupts, not to the order you happened to write them in.</a:t>
            </a:r>
            <a:endParaRPr/>
          </a:p>
        </p:txBody>
      </p:sp>
      <p:sp>
        <p:nvSpPr>
          <p:cNvPr id="139" name=""/>
          <p:cNvSpPr/>
          <p:nvPr/>
        </p:nvSpPr>
        <p:spPr>
          <a:xfrm rot="0" flipH="0" flipV="0">
            <a:off x="381000" y="1914525"/>
            <a:ext cx="7991475" cy="3838575"/>
          </a:xfrm>
          <a:prstGeom prst="roundRect">
            <a:avLst>
              <a:gd name="adj" fmla="val 1985"/>
            </a:avLst>
          </a:prstGeom>
          <a:solidFill>
            <a:srgbClr val="0E1116"/>
          </a:solidFill>
          <a:ln/>
        </p:spPr>
        <p:txBody>
          <a:bodyPr/>
          <a:p/>
        </p:txBody>
      </p:sp>
      <p:sp>
        <p:nvSpPr>
          <p:cNvPr id="140" name=""/>
          <p:cNvSpPr txBox="1"/>
          <p:nvPr/>
        </p:nvSpPr>
        <p:spPr>
          <a:xfrm rot="0" flipH="0" flipV="0">
            <a:off x="533400" y="2047875"/>
            <a:ext cx="7686675" cy="3571875"/>
          </a:xfrm>
          <a:prstGeom prst="rect"/>
        </p:spPr>
        <p:txBody>
          <a:bodyPr wrap="square" lIns="0" tIns="0" rIns="0" bIns="0">
            <a:normAutofit/>
          </a:bodyPr>
          <a:p>
            <a:pPr/>
            <a:r>
              <a:rPr sz="900">
                <a:solidFill>
                  <a:srgbClr val="E5E7EB"/>
                </a:solidFill>
                <a:latin typeface="Menlo"/>
                <a:ea typeface="Menlo"/>
              </a:rPr>
              <a:t>Extensions:
  3a  Item was sold out while the
      student was choosing.
      The system reports which item and
      offers to update the cart.
      -&gt; resume at step 1.
  3b  Coupon code is not valid.
      The system reports the code as
      not applicable and shows the
      amount without it.
      -&gt; resume at step 2.
  3c  Payment provider is
      unreachable (exception).
      The system creates the order in
      state Pending Payment and
      notifies the student.
      -&gt; the use case ends here.
  3d  Student has more than one
      open order at one restaurant.
      The system refuses and shows
      the open order.
      -&gt; the use case ends here.</a:t>
            </a:r>
            <a:endParaRPr/>
          </a:p>
        </p:txBody>
      </p:sp>
    </p:spTree>
  </p:cSld>
</p:sld>
</file>

<file path=ppt/slides/slide17.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141"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EXTENSIONS &amp; EXCEPTIONS&lt;/Text&gt;&#10;  &lt;/Box&gt;&#10;  &lt;Box style={{ padding: '13px 40px 0 40px', flexDirection: 'row', alignItems: 'center', justifyContent: 'space-between' }}&gt;&#10;    &lt;Text style={{ fontSize: 29, fontWeight: 'bold', color: '#0E3F8C' }}&gt;Extension vs. Exception&lt;/Text&gt;&#10;    &lt;Text style={{ fontSize: 14, color: '#1E4FA8', fontWeight: 'bold' }}&gt;17 / 38&lt;/Text&gt;&#10;  &lt;/Box&gt;&#10;  &lt;Box style={{ flex: 1, padding: '10px 40px 0 40px' }}&gt;&#10;    &lt;Table&#10;      style={{ width: '100%', height: '100%' }}&#10;      defaultTextStyle={{ fontSize: 13.5, textAlign: 'left', color: '#1A2230' }}&#10;      defaultCellStyle={{&#10;        border: {&#10;          left: { width: 1, color: '#E5E7EB' },&#10;          right: { width: 1, color: '#E5E7EB' },&#10;          top: { width: 1, color: '#E5E7EB' },&#10;          bottom: { width: 1, color: '#E5E7EB' },&#10;        },&#10;      }}&#10;      cells={[&#10;        [&#10;          { text: '', textStyle: { bold: true }, cellStyle: { background: { color: '#0E3F8C' } } },&#10;          { text: 'Extension (alternate flow)', textStyle: { bold: true, color: '#FFFFFF', fontSize: 15 }, cellStyle: { background: { color: '#996F00' } } },&#10;          { text: 'Exception flow', textStyle: { bold: true, color: '#FFFFFF', fontSize: 15 }, cellStyle: { background: { color: '#8B3230' } } },&#10;        ],&#10;        [&#10;          { text: 'The test', textStyle: { bold: true, color: '#0E3F8C' }, cellStyle: { background: { color: '#F7F9FC' } } },&#10;          { text: 'The goal is still reached, by a different route.', textStyle: { color: '#4A5568' }, cellStyle: { background: { color: '#F7F9FC' } } },&#10;          { text: 'The goal is not reached. The system tells the actor and stops.', textStyle: { color: '#4A5568' }, cellStyle: { background: { color: '#F7F9FC' } } },&#10;        ],&#10;        [&#10;          { text: 'Where it ends', textStyle: { bold: true, color: '#0E3F8C' } },&#10;          { text: 'Resumes at a later step of the main scenario.', textStyle: { color: '#4A5568' } },&#10;          { text: 'Ends here. No “resume at step n”.', textStyle: { color: '#4A5568' } },&#10;        ],&#10;        [&#10;          { text: 'CampusBites example', textStyle: { bold: true, color: '#0E3F8C' }, cellStyle: { background: { color: '#F7F9FC' } } },&#10;          { text: 'The coupon is invalid — the order goes through at the full amount.', textStyle: { color: '#4A5568' }, cellStyle: { background: { color: '#F7F9FC' } } },&#10;          { text: 'The payment provider is unreachable — order sits in Pending Payment.', textStyle: { color: '#4A5568' }, cellStyle: { background: { color: '#F7F9FC' } } },&#10;        ],&#10;        [&#10;          { text: 'The postcondition', textStyle: { bold: true, color: '#0E3F8C' } },&#10;          { text: 'The same as the main scenario. The goal is met either way.', textStyle: { color: '#4A5568' } },&#10;          { text: 'Different. You need one postcondition per exception, not one for all.', textStyle: { color: '#4A5568' } },&#10;        ],&#10;        [&#10;          { text: 'What it costs to build', textStyle: { bold: true, color: '#0E3F8C' }, cellStyle: { background: { color: '#F7F9FC' } } },&#10;          { text: 'One extra path through the code you already wrote.', textStyle: { color: '#4A5568' }, cellStyle: { background: { color: '#F7F9FC' } } },&#10;          { text: 'New state, new message, possibly an operator alarm.', textStyle: { color: '#4A5568' }, cellStyle: { background: { color: '#F7F9FC' } } },&#10;        ],&#10;        [&#10;          { text: 'Typical cause', textStyle: { bold: true, color: '#0E3F8C' } },&#10;          { text: 'A legitimate variation the business already knows about.', textStyle: { color: '#4A5568' } },&#10;          { text: 'A failure nobody planned: timeout, crash, out of stock at the till.', textStyle: { color: '#4A5568' } },&#10;        ],&#10;      ]}&#10;    /&gt;&#10;  &lt;/Box&gt;&#10;  &lt;Box style={{ height: 46, background: '#0E3F8C', padding: '0 40px', flexDirection: 'row', alignItems: 'center', justifyContent: 'center' }}&gt;&#10;    &lt;Text style={{ fontSize: 16.5, color: '#FFFFFF', fontWeight: '600' }}&gt;If the actor does not get what they came for, it is an exception — however gracefully you write the message.&lt;/Text&gt;&#10;  &lt;/Box&gt;&#10;&lt;/Slide&gt;&#10;"/>
        <p:cNvGrpSpPr/>
        <p:nvPr/>
      </p:nvGrpSpPr>
      <p:grpSpPr>
        <a:xfrm>
          <a:off x="0" y="0"/>
          <a:ext cx="0" cy="0"/>
          <a:chOff x="0" y="0"/>
          <a:chExt cx="0" cy="0"/>
        </a:xfrm>
      </p:grpSpPr>
      <p:sp>
        <p:nvSpPr>
          <p:cNvPr id="142" name=""/>
          <p:cNvSpPr/>
          <p:nvPr/>
        </p:nvSpPr>
        <p:spPr>
          <a:xfrm rot="0" flipH="0" flipV="0">
            <a:off x="0" y="0"/>
            <a:ext cx="12192000" cy="6858000"/>
          </a:xfrm>
          <a:prstGeom prst="rect">
            <a:avLst/>
          </a:prstGeom>
          <a:solidFill>
            <a:srgbClr val="FFFFFF"/>
          </a:solidFill>
          <a:ln/>
        </p:spPr>
        <p:txBody>
          <a:bodyPr/>
          <a:p/>
        </p:txBody>
      </p:sp>
      <p:sp>
        <p:nvSpPr>
          <p:cNvPr id="143" name=""/>
          <p:cNvSpPr/>
          <p:nvPr/>
        </p:nvSpPr>
        <p:spPr>
          <a:xfrm rot="0" flipH="0" flipV="0">
            <a:off x="0" y="0"/>
            <a:ext cx="12192000" cy="685800"/>
          </a:xfrm>
          <a:prstGeom prst="rect">
            <a:avLst/>
          </a:prstGeom>
          <a:solidFill>
            <a:srgbClr val="1E4FA8"/>
          </a:solidFill>
          <a:ln/>
        </p:spPr>
        <p:txBody>
          <a:bodyPr/>
          <a:p/>
        </p:txBody>
      </p:sp>
      <p:sp>
        <p:nvSpPr>
          <p:cNvPr id="144"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145" name="" descr="{&quot;isTemplate&quot;:true,&quot;type&quot;:&quot;text&quot;}"/>
          <p:cNvSpPr txBox="1"/>
          <p:nvPr/>
        </p:nvSpPr>
        <p:spPr>
          <a:xfrm rot="0" flipH="0" flipV="0">
            <a:off x="9372600" y="257175"/>
            <a:ext cx="2438400" cy="171450"/>
          </a:xfrm>
          <a:prstGeom prst="rect"/>
        </p:spPr>
        <p:txBody>
          <a:bodyPr wrap="none" lIns="0" tIns="0" rIns="0" bIns="0"/>
          <a:p>
            <a:pPr>
              <a:lnSpc>
                <a:spcPct val="100000"/>
              </a:lnSpc>
            </a:pPr>
            <a:r>
              <a:rPr lang="en-US" sz="1125">
                <a:solidFill>
                  <a:srgbClr val="B9CDF0"/>
                </a:solidFill>
                <a:latin typeface="Microsoft YaHei"/>
                <a:ea typeface="Microsoft YaHei"/>
              </a:rPr>
              <a:t>W05 · EXTENSIONS &amp; EXCEPTIONS</a:t>
            </a:r>
            <a:endParaRPr/>
          </a:p>
        </p:txBody>
      </p:sp>
      <p:sp>
        <p:nvSpPr>
          <p:cNvPr id="146" name="" descr="{&quot;isTemplate&quot;:true,&quot;type&quot;:&quot;text&quot;}"/>
          <p:cNvSpPr txBox="1"/>
          <p:nvPr/>
        </p:nvSpPr>
        <p:spPr>
          <a:xfrm rot="0" flipH="0" flipV="0">
            <a:off x="381000" y="809625"/>
            <a:ext cx="3181350" cy="333375"/>
          </a:xfrm>
          <a:prstGeom prst="rect"/>
        </p:spPr>
        <p:txBody>
          <a:bodyPr wrap="none" lIns="0" tIns="0" rIns="0" bIns="0"/>
          <a:p>
            <a:pPr>
              <a:lnSpc>
                <a:spcPct val="100000"/>
              </a:lnSpc>
            </a:pPr>
            <a:r>
              <a:rPr lang="en-US" sz="2175" b="1">
                <a:solidFill>
                  <a:srgbClr val="0E3F8C"/>
                </a:solidFill>
                <a:latin typeface="Microsoft YaHei"/>
                <a:ea typeface="Microsoft YaHei"/>
              </a:rPr>
              <a:t>Extension vs. Exception</a:t>
            </a:r>
            <a:endParaRPr/>
          </a:p>
        </p:txBody>
      </p:sp>
      <p:sp>
        <p:nvSpPr>
          <p:cNvPr id="147"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17 / 38</a:t>
            </a:r>
            <a:endParaRPr/>
          </a:p>
        </p:txBody>
      </p:sp>
      <p:graphicFrame>
        <p:nvGraphicFramePr>
          <p:cNvPr id="148" name=""/>
          <p:cNvGraphicFramePr/>
          <p:nvPr/>
        </p:nvGraphicFramePr>
        <p:xfrm rot="0" flipH="0" flipV="0">
          <a:off x="381000" y="1238250"/>
          <a:ext cx="11430000" cy="5181600"/>
        </p:xfrm>
        <a:graphic>
          <a:graphicData uri="http://schemas.openxmlformats.org/drawingml/2006/table">
            <a:tbl>
              <a:tblGrid>
                <a:gridCol w="1770974">
                  <a:extLst>
                    <a:ext uri="{9D8B030D-6E8A-4147-A177-3AD203B41FA5}">
                      <a16:colId val="1"/>
                    </a:ext>
                  </a:extLst>
                </a:gridCol>
                <a:gridCol w="4646230">
                  <a:extLst>
                    <a:ext uri="{9D8B030D-6E8A-4147-A177-3AD203B41FA5}">
                      <a16:colId val="2"/>
                    </a:ext>
                  </a:extLst>
                </a:gridCol>
                <a:gridCol w="5012796">
                  <a:extLst>
                    <a:ext uri="{9D8B030D-6E8A-4147-A177-3AD203B41FA5}">
                      <a16:colId val="3"/>
                    </a:ext>
                  </a:extLst>
                </a:gridCol>
              </a:tblGrid>
              <a:tr h="782689">
                <a:tc>
                  <a:txBody>
                    <a:bodyPr wrap="square" lIns="0" tIns="0" rIns="0" bIns="0" anchor="ctr">
                      <a:normAutofit/>
                    </a:bodyPr>
                    <a:p>
                      <a:pPr marL="114300" marR="114300" algn="l">
                        <a:lnSpc>
                          <a:spcPct val="120000"/>
                        </a:lnSpc>
                      </a:pP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Extension (alternate flow)</a:t>
                      </a:r>
                      <a:endParaRPr/>
                    </a:p>
                  </a:txBody>
                  <a:tcPr marL="45720" marR="45720" marT="45720" marB="45720" anchor="ctr">
                    <a:lnL>
                      <a:noFill/>
                    </a:lnL>
                    <a:lnR>
                      <a:noFill/>
                    </a:lnR>
                    <a:lnT>
                      <a:noFill/>
                    </a:lnT>
                    <a:lnB>
                      <a:noFill/>
                    </a:lnB>
                    <a:solidFill>
                      <a:srgbClr val="996F00"/>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Exception flow</a:t>
                      </a:r>
                      <a:endParaRPr/>
                    </a:p>
                  </a:txBody>
                  <a:tcPr marL="45720" marR="45720" marT="45720" marB="45720" anchor="ctr">
                    <a:lnL>
                      <a:noFill/>
                    </a:lnL>
                    <a:lnR>
                      <a:noFill/>
                    </a:lnR>
                    <a:lnT>
                      <a:noFill/>
                    </a:lnT>
                    <a:lnB>
                      <a:noFill/>
                    </a:lnB>
                    <a:solidFill>
                      <a:srgbClr val="8B3230"/>
                    </a:solidFill>
                  </a:tcPr>
                </a:tc>
                <a:extLst>
                  <a:ext uri="{0D108BD9-81ED-4DB2-BD59-A6C34878D82A}">
                    <a16:rowId val="1"/>
                  </a:ext>
                </a:extLst>
              </a:tr>
              <a:tr h="7331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The test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goal is still reached, by a different route.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goal is not reached. The system tells the actor and stops.</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7331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Where it ends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Resumes at a later step of the main scenario.</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Ends here. No “resume at step n”.</a:t>
                      </a:r>
                      <a:endParaRPr/>
                    </a:p>
                  </a:txBody>
                  <a:tcPr marL="45720" marR="45720" marT="45720" marB="45720" anchor="ctr">
                    <a:lnL>
                      <a:noFill/>
                    </a:lnL>
                    <a:lnR>
                      <a:noFill/>
                    </a:lnR>
                    <a:lnT>
                      <a:noFill/>
                    </a:lnT>
                    <a:lnB>
                      <a:noFill/>
                    </a:lnB>
                  </a:tcPr>
                </a:tc>
                <a:extLst>
                  <a:ext uri="{0D108BD9-81ED-4DB2-BD59-A6C34878D82A}">
                    <a16:rowId val="3"/>
                  </a:ext>
                </a:extLst>
              </a:tr>
              <a:tr h="7331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CampusBites example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coupon is invalid — the order goes through at the full amount.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payment provider is unreachable — order sits in Pending Payment.</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7331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The postcondition</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same as the main scenario. The goal is met either way.</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Different. You need one postcondition per exception, not one for all.</a:t>
                      </a:r>
                      <a:endParaRPr/>
                    </a:p>
                  </a:txBody>
                  <a:tcPr marL="45720" marR="45720" marT="45720" marB="45720" anchor="ctr">
                    <a:lnL>
                      <a:noFill/>
                    </a:lnL>
                    <a:lnR>
                      <a:noFill/>
                    </a:lnR>
                    <a:lnT>
                      <a:noFill/>
                    </a:lnT>
                    <a:lnB>
                      <a:noFill/>
                    </a:lnB>
                  </a:tcPr>
                </a:tc>
                <a:extLst>
                  <a:ext uri="{0D108BD9-81ED-4DB2-BD59-A6C34878D82A}">
                    <a16:rowId val="5"/>
                  </a:ext>
                </a:extLst>
              </a:tr>
              <a:tr h="7331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What it costs to build</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One extra path through the code you already wrote.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New state, new message, possibly an operator alarm.</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r h="7331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Typical cause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legitimate variation the business already knows about.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failure nobody planned: timeout, crash, out of stock at the till.</a:t>
                      </a:r>
                      <a:endParaRPr/>
                    </a:p>
                  </a:txBody>
                  <a:tcPr marL="45720" marR="45720" marT="45720" marB="45720" anchor="ctr">
                    <a:lnL>
                      <a:noFill/>
                    </a:lnL>
                    <a:lnR>
                      <a:noFill/>
                    </a:lnR>
                    <a:lnT>
                      <a:noFill/>
                    </a:lnT>
                    <a:lnB>
                      <a:noFill/>
                    </a:lnB>
                  </a:tcPr>
                </a:tc>
                <a:extLst>
                  <a:ext uri="{0D108BD9-81ED-4DB2-BD59-A6C34878D82A}">
                    <a16:rowId val="7"/>
                  </a:ext>
                </a:extLst>
              </a:tr>
            </a:tbl>
          </a:graphicData>
        </a:graphic>
      </p:graphicFrame>
      <p:sp>
        <p:nvSpPr>
          <p:cNvPr id="149" name=""/>
          <p:cNvSpPr/>
          <p:nvPr/>
        </p:nvSpPr>
        <p:spPr>
          <a:xfrm rot="0" flipH="0" flipV="0">
            <a:off x="0" y="6419850"/>
            <a:ext cx="12192000" cy="438150"/>
          </a:xfrm>
          <a:prstGeom prst="rect">
            <a:avLst/>
          </a:prstGeom>
          <a:solidFill>
            <a:srgbClr val="0E3F8C"/>
          </a:solidFill>
          <a:ln/>
        </p:spPr>
        <p:txBody>
          <a:bodyPr/>
          <a:p/>
        </p:txBody>
      </p:sp>
      <p:sp>
        <p:nvSpPr>
          <p:cNvPr id="150" name="" descr="{&quot;isTemplate&quot;:true,&quot;type&quot;:&quot;text&quot;}"/>
          <p:cNvSpPr txBox="1"/>
          <p:nvPr/>
        </p:nvSpPr>
        <p:spPr>
          <a:xfrm rot="0" flipH="0" flipV="0">
            <a:off x="2076450" y="6543675"/>
            <a:ext cx="8048625" cy="190500"/>
          </a:xfrm>
          <a:prstGeom prst="rect"/>
        </p:spPr>
        <p:txBody>
          <a:bodyPr wrap="none" lIns="0" tIns="0" rIns="0" bIns="0"/>
          <a:p>
            <a:pPr>
              <a:lnSpc>
                <a:spcPct val="100000"/>
              </a:lnSpc>
            </a:pPr>
            <a:r>
              <a:rPr lang="en-US" sz="1238" b="1">
                <a:solidFill>
                  <a:srgbClr val="FFFFFF"/>
                </a:solidFill>
                <a:latin typeface="Microsoft YaHei"/>
                <a:ea typeface="Microsoft YaHei"/>
              </a:rPr>
              <a:t>If the actor does not get what they came for, it is an exception — however gracefully you write the message.</a:t>
            </a:r>
            <a:endParaRPr/>
          </a:p>
        </p:txBody>
      </p:sp>
    </p:spTree>
  </p:cSld>
</p:sld>
</file>

<file path=ppt/slides/slide18.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151"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EXTENSIONS &amp; EXCEPTIONS&lt;/Text&gt;&#10;  &lt;/Box&gt;&#10;  &lt;Box style={{ padding: '13px 40px 0 40px', flexDirection: 'row', alignItems: 'center', justifyContent: 'space-between' }}&gt;&#10;    &lt;Text style={{ fontSize: 29, fontWeight: 'bold', color: '#0E3F8C' }}&gt;Four Extensions of Place Order&lt;/Text&gt;&#10;    &lt;Text style={{ fontSize: 14, color: '#1E4FA8', fontWeight: 'bold' }}&gt;18 / 38&lt;/Text&gt;&#10;  &lt;/Box&gt;&#10;  &lt;Box style={{ flex: 1, padding: '10px 40px 0 40px' }}&gt;&#10;    &lt;Table&#10;      style={{ width: '100%', height: '100%' }}&#10;      defaultTextStyle={{ fontSize: 13, textAlign: 'left', color: '#1A2230' }}&#10;      defaultCellStyle={{&#10;        border: {&#10;          left: { width: 1, color: '#E5E7EB' },&#10;          right: { width: 1, color: '#E5E7EB' },&#10;          top: { width: 1, color: '#E5E7EB' },&#10;          bottom: { width: 1, color: '#E5E7EB' },&#10;        },&#10;      }}&#10;      cells={[&#10;        [&#10;          { text: 'ID', textStyle: { bold: true, color: '#FFFFFF', fontSize: 14 }, cellStyle: { background: { color: '#0E3F8C' } } },&#10;          { text: 'Condition at step 4', textStyle: { bold: true, color: '#FFFFFF', fontSize: 14 }, cellStyle: { background: { color: '#1E4FA8' } } },&#10;          { text: 'Kind', textStyle: { bold: true, color: '#FFFFFF', fontSize: 14 }, cellStyle: { background: { color: '#2B5793' } } },&#10;          { text: 'What the system does', textStyle: { bold: true, color: '#FFFFFF', fontSize: 14 }, cellStyle: { background: { color: '#1E4FA8' } } },&#10;          { text: 'Then', textStyle: { bold: true, color: '#FFFFFF', fontSize: 14 }, cellStyle: { background: { color: '#2B5793' } } },&#10;        ],&#10;        [&#10;          { text: '4a', textStyle: { bold: true, color: '#0E3F8C' }, cellStyle: { background: { color: '#F7F9FC' } } },&#10;          { text: 'The chosen item was marked sold out between browsing and paying.', textStyle: { color: '#4A5568' }, cellStyle: { background: { color: '#F7F9FC' } } },&#10;          { text: 'Extension', textStyle: { bold: true, color: '#996F00' }, cellStyle: { background: { color: '#F7F9FC' } } },&#10;          { text: 'Reports the item, keeps the rest of the cart, offers to update.', textStyle: { color: '#4A5568' }, cellStyle: { background: { color: '#F7F9FC' } } },&#10;          { text: 'Resume at 1', textStyle: { color: '#2B7A3D', fontWeight: 'bold' }, cellStyle: { background: { color: '#F7F9FC' } } },&#10;        ],&#10;        [&#10;          { text: '4b', textStyle: { bold: true, color: '#0E3F8C' } },&#10;          { text: 'No courier is assigned and the restaurant closes in under 20 minutes.', textStyle: { color: '#4A5568' } },&#10;          { text: 'Extension', textStyle: { bold: true, color: '#996F00' } },&#10;          { text: 'Accepts the order, sets Scheduled Delivery, tells the student the later time.', textStyle: { color: '#4A5568' } },&#10;          { text: 'Resume at 5', textStyle: { color: '#2B7A3D', fontWeight: 'bold' } },&#10;        ],&#10;        [&#10;          { text: '4c', textStyle: { bold: true, color: '#0E3F8C' }, cellStyle: { background: { color: '#F7F9FC' } } },&#10;          { text: 'The payment provider times out or returns an error.', textStyle: { color: '#4A5568' }, cellStyle: { background: { color: '#F7F9FC' } } },&#10;          { text: 'Exception', textStyle: { bold: true, color: '#D9534F' }, cellStyle: { background: { color: '#F7F9FC' } } },&#10;          { text: 'Creates the order in Pending Payment, queues one retry, notifies the student.', textStyle: { color: '#4A5568' }, cellStyle: { background: { color: '#F7F9FC' } } },&#10;          { text: 'Ends here', textStyle: { color: '#D9534F', fontWeight: 'bold' }, cellStyle: { background: { color: '#F7F9FC' } } },&#10;        ],&#10;        [&#10;          { text: '4d', textStyle: { bold: true, color: '#0E3F8C' } },&#10;          { text: 'The student already has an open order at this restaurant.', textStyle: { color: '#4A5568' } },&#10;          { text: 'Exception', textStyle: { bold: true, color: '#D9534F' } },&#10;          { text: 'Refuses the second order and displays the existing one.', textStyle: { color: '#4A5568' } },&#10;          { text: 'Ends here', textStyle: { color: '#D9534F', fontWeight: 'bold' } },&#10;        ],&#10;      ]}&#10;    /&gt;&#10;  &lt;/Box&gt;&#10;  &lt;Box style={{ height: 46, background: '#0E3F8C', padding: '0 40px', flexDirection: 'row', alignItems: 'center', justifyContent: 'center' }}&gt;&#10;    &lt;Text style={{ fontSize: 16.5, color: '#FFFFFF', fontWeight: '600' }}&gt;Note that 4c still creates an order. Whether an exception rolls back is a design decision, not a given.&lt;/Text&gt;&#10;  &lt;/Box&gt;&#10;&lt;/Slide&gt;&#10;"/>
        <p:cNvGrpSpPr/>
        <p:nvPr/>
      </p:nvGrpSpPr>
      <p:grpSpPr>
        <a:xfrm>
          <a:off x="0" y="0"/>
          <a:ext cx="0" cy="0"/>
          <a:chOff x="0" y="0"/>
          <a:chExt cx="0" cy="0"/>
        </a:xfrm>
      </p:grpSpPr>
      <p:sp>
        <p:nvSpPr>
          <p:cNvPr id="152" name=""/>
          <p:cNvSpPr/>
          <p:nvPr/>
        </p:nvSpPr>
        <p:spPr>
          <a:xfrm rot="0" flipH="0" flipV="0">
            <a:off x="0" y="0"/>
            <a:ext cx="12192000" cy="6858000"/>
          </a:xfrm>
          <a:prstGeom prst="rect">
            <a:avLst/>
          </a:prstGeom>
          <a:solidFill>
            <a:srgbClr val="FFFFFF"/>
          </a:solidFill>
          <a:ln/>
        </p:spPr>
        <p:txBody>
          <a:bodyPr/>
          <a:p/>
        </p:txBody>
      </p:sp>
      <p:sp>
        <p:nvSpPr>
          <p:cNvPr id="153" name=""/>
          <p:cNvSpPr/>
          <p:nvPr/>
        </p:nvSpPr>
        <p:spPr>
          <a:xfrm rot="0" flipH="0" flipV="0">
            <a:off x="0" y="0"/>
            <a:ext cx="12192000" cy="685800"/>
          </a:xfrm>
          <a:prstGeom prst="rect">
            <a:avLst/>
          </a:prstGeom>
          <a:solidFill>
            <a:srgbClr val="1E4FA8"/>
          </a:solidFill>
          <a:ln/>
        </p:spPr>
        <p:txBody>
          <a:bodyPr/>
          <a:p/>
        </p:txBody>
      </p:sp>
      <p:sp>
        <p:nvSpPr>
          <p:cNvPr id="154"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155" name="" descr="{&quot;isTemplate&quot;:true,&quot;type&quot;:&quot;text&quot;}"/>
          <p:cNvSpPr txBox="1"/>
          <p:nvPr/>
        </p:nvSpPr>
        <p:spPr>
          <a:xfrm rot="0" flipH="0" flipV="0">
            <a:off x="9372600" y="257175"/>
            <a:ext cx="2438400" cy="171450"/>
          </a:xfrm>
          <a:prstGeom prst="rect"/>
        </p:spPr>
        <p:txBody>
          <a:bodyPr wrap="none" lIns="0" tIns="0" rIns="0" bIns="0"/>
          <a:p>
            <a:pPr>
              <a:lnSpc>
                <a:spcPct val="100000"/>
              </a:lnSpc>
            </a:pPr>
            <a:r>
              <a:rPr lang="en-US" sz="1125">
                <a:solidFill>
                  <a:srgbClr val="B9CDF0"/>
                </a:solidFill>
                <a:latin typeface="Microsoft YaHei"/>
                <a:ea typeface="Microsoft YaHei"/>
              </a:rPr>
              <a:t>W05 · EXTENSIONS &amp; EXCEPTIONS</a:t>
            </a:r>
            <a:endParaRPr/>
          </a:p>
        </p:txBody>
      </p:sp>
      <p:sp>
        <p:nvSpPr>
          <p:cNvPr id="156" name="" descr="{&quot;isTemplate&quot;:true,&quot;type&quot;:&quot;text&quot;}"/>
          <p:cNvSpPr txBox="1"/>
          <p:nvPr/>
        </p:nvSpPr>
        <p:spPr>
          <a:xfrm rot="0" flipH="0" flipV="0">
            <a:off x="381000" y="809625"/>
            <a:ext cx="4133850" cy="333375"/>
          </a:xfrm>
          <a:prstGeom prst="rect"/>
        </p:spPr>
        <p:txBody>
          <a:bodyPr wrap="none" lIns="0" tIns="0" rIns="0" bIns="0"/>
          <a:p>
            <a:pPr>
              <a:lnSpc>
                <a:spcPct val="100000"/>
              </a:lnSpc>
            </a:pPr>
            <a:r>
              <a:rPr lang="en-US" sz="2175" b="1">
                <a:solidFill>
                  <a:srgbClr val="0E3F8C"/>
                </a:solidFill>
                <a:latin typeface="Microsoft YaHei"/>
                <a:ea typeface="Microsoft YaHei"/>
              </a:rPr>
              <a:t>Four Extensions of Place Order</a:t>
            </a:r>
            <a:endParaRPr/>
          </a:p>
        </p:txBody>
      </p:sp>
      <p:sp>
        <p:nvSpPr>
          <p:cNvPr id="157"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18 / 38</a:t>
            </a:r>
            <a:endParaRPr/>
          </a:p>
        </p:txBody>
      </p:sp>
      <p:graphicFrame>
        <p:nvGraphicFramePr>
          <p:cNvPr id="158" name=""/>
          <p:cNvGraphicFramePr/>
          <p:nvPr/>
        </p:nvGraphicFramePr>
        <p:xfrm rot="0" flipH="0" flipV="0">
          <a:off x="381000" y="1238250"/>
          <a:ext cx="11430000" cy="5181600"/>
        </p:xfrm>
        <a:graphic>
          <a:graphicData uri="http://schemas.openxmlformats.org/drawingml/2006/table">
            <a:tbl>
              <a:tblGrid>
                <a:gridCol w="279740">
                  <a:extLst>
                    <a:ext uri="{9D8B030D-6E8A-4147-A177-3AD203B41FA5}">
                      <a16:colId val="1"/>
                    </a:ext>
                  </a:extLst>
                </a:gridCol>
                <a:gridCol w="4475839">
                  <a:extLst>
                    <a:ext uri="{9D8B030D-6E8A-4147-A177-3AD203B41FA5}">
                      <a16:colId val="2"/>
                    </a:ext>
                  </a:extLst>
                </a:gridCol>
                <a:gridCol w="793325">
                  <a:extLst>
                    <a:ext uri="{9D8B030D-6E8A-4147-A177-3AD203B41FA5}">
                      <a16:colId val="3"/>
                    </a:ext>
                  </a:extLst>
                </a:gridCol>
                <a:gridCol w="4967570">
                  <a:extLst>
                    <a:ext uri="{9D8B030D-6E8A-4147-A177-3AD203B41FA5}">
                      <a16:colId val="4"/>
                    </a:ext>
                  </a:extLst>
                </a:gridCol>
                <a:gridCol w="913526">
                  <a:extLst>
                    <a:ext uri="{9D8B030D-6E8A-4147-A177-3AD203B41FA5}">
                      <a16:colId val="5"/>
                    </a:ext>
                  </a:extLst>
                </a:gridCol>
              </a:tblGrid>
              <a:tr h="1093496">
                <a:tc>
                  <a:txBody>
                    <a:bodyPr wrap="square" lIns="0" tIns="0" rIns="0" bIns="0" anchor="ctr">
                      <a:normAutofit/>
                    </a:bodyPr>
                    <a:p>
                      <a:pPr marL="114300" marR="114300" algn="l">
                        <a:lnSpc>
                          <a:spcPct val="120000"/>
                        </a:lnSpc>
                      </a:pPr>
                      <a:r>
                        <a:rPr sz="1050" b="1">
                          <a:solidFill>
                            <a:srgbClr val="FFFFFF"/>
                          </a:solidFill>
                          <a:latin typeface="Microsoft YaHei"/>
                          <a:ea typeface="Microsoft YaHei"/>
                        </a:rPr>
                        <a:t>ID</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050" b="1">
                          <a:solidFill>
                            <a:srgbClr val="FFFFFF"/>
                          </a:solidFill>
                          <a:latin typeface="Microsoft YaHei"/>
                          <a:ea typeface="Microsoft YaHei"/>
                        </a:rPr>
                        <a:t>Condition at step 4</a:t>
                      </a:r>
                      <a:endParaRPr/>
                    </a:p>
                  </a:txBody>
                  <a:tcPr marL="45720" marR="45720" marT="45720" marB="45720" anchor="ctr">
                    <a:lnL>
                      <a:noFill/>
                    </a:lnL>
                    <a:lnR>
                      <a:noFill/>
                    </a:lnR>
                    <a:lnT>
                      <a:noFill/>
                    </a:lnT>
                    <a:lnB>
                      <a:noFill/>
                    </a:lnB>
                    <a:solidFill>
                      <a:srgbClr val="1E4FA8"/>
                    </a:solidFill>
                  </a:tcPr>
                </a:tc>
                <a:tc>
                  <a:txBody>
                    <a:bodyPr wrap="square" lIns="0" tIns="0" rIns="0" bIns="0" anchor="ctr">
                      <a:normAutofit/>
                    </a:bodyPr>
                    <a:p>
                      <a:pPr marL="114300" marR="114300" algn="l">
                        <a:lnSpc>
                          <a:spcPct val="120000"/>
                        </a:lnSpc>
                      </a:pPr>
                      <a:r>
                        <a:rPr sz="1050" b="1">
                          <a:solidFill>
                            <a:srgbClr val="FFFFFF"/>
                          </a:solidFill>
                          <a:latin typeface="Microsoft YaHei"/>
                          <a:ea typeface="Microsoft YaHei"/>
                        </a:rPr>
                        <a:t>Kind</a:t>
                      </a:r>
                      <a:endParaRPr/>
                    </a:p>
                  </a:txBody>
                  <a:tcPr marL="45720" marR="45720" marT="45720" marB="45720" anchor="ctr">
                    <a:lnL>
                      <a:noFill/>
                    </a:lnL>
                    <a:lnR>
                      <a:noFill/>
                    </a:lnR>
                    <a:lnT>
                      <a:noFill/>
                    </a:lnT>
                    <a:lnB>
                      <a:noFill/>
                    </a:lnB>
                    <a:solidFill>
                      <a:srgbClr val="2B5793"/>
                    </a:solidFill>
                  </a:tcPr>
                </a:tc>
                <a:tc>
                  <a:txBody>
                    <a:bodyPr wrap="square" lIns="0" tIns="0" rIns="0" bIns="0" anchor="ctr">
                      <a:normAutofit/>
                    </a:bodyPr>
                    <a:p>
                      <a:pPr marL="114300" marR="114300" algn="l">
                        <a:lnSpc>
                          <a:spcPct val="120000"/>
                        </a:lnSpc>
                      </a:pPr>
                      <a:r>
                        <a:rPr sz="1050" b="1">
                          <a:solidFill>
                            <a:srgbClr val="FFFFFF"/>
                          </a:solidFill>
                          <a:latin typeface="Microsoft YaHei"/>
                          <a:ea typeface="Microsoft YaHei"/>
                        </a:rPr>
                        <a:t>What the system does</a:t>
                      </a:r>
                      <a:endParaRPr/>
                    </a:p>
                  </a:txBody>
                  <a:tcPr marL="45720" marR="45720" marT="45720" marB="45720" anchor="ctr">
                    <a:lnL>
                      <a:noFill/>
                    </a:lnL>
                    <a:lnR>
                      <a:noFill/>
                    </a:lnR>
                    <a:lnT>
                      <a:noFill/>
                    </a:lnT>
                    <a:lnB>
                      <a:noFill/>
                    </a:lnB>
                    <a:solidFill>
                      <a:srgbClr val="1E4FA8"/>
                    </a:solidFill>
                  </a:tcPr>
                </a:tc>
                <a:tc>
                  <a:txBody>
                    <a:bodyPr wrap="square" lIns="0" tIns="0" rIns="0" bIns="0" anchor="ctr">
                      <a:normAutofit/>
                    </a:bodyPr>
                    <a:p>
                      <a:pPr marL="114300" marR="114300" algn="l">
                        <a:lnSpc>
                          <a:spcPct val="120000"/>
                        </a:lnSpc>
                      </a:pPr>
                      <a:r>
                        <a:rPr sz="1050" b="1">
                          <a:solidFill>
                            <a:srgbClr val="FFFFFF"/>
                          </a:solidFill>
                          <a:latin typeface="Microsoft YaHei"/>
                          <a:ea typeface="Microsoft YaHei"/>
                        </a:rPr>
                        <a:t>Then</a:t>
                      </a:r>
                      <a:endParaRPr/>
                    </a:p>
                  </a:txBody>
                  <a:tcPr marL="45720" marR="45720" marT="45720" marB="45720" anchor="ctr">
                    <a:lnL>
                      <a:noFill/>
                    </a:lnL>
                    <a:lnR>
                      <a:noFill/>
                    </a:lnR>
                    <a:lnT>
                      <a:noFill/>
                    </a:lnT>
                    <a:lnB>
                      <a:noFill/>
                    </a:lnB>
                    <a:solidFill>
                      <a:srgbClr val="2B5793"/>
                    </a:solidFill>
                  </a:tcPr>
                </a:tc>
                <a:extLst>
                  <a:ext uri="{0D108BD9-81ED-4DB2-BD59-A6C34878D82A}">
                    <a16:rowId val="1"/>
                  </a:ext>
                </a:extLst>
              </a:tr>
              <a:tr h="1022026">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4a</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The chosen item was marked sold out between browsing and paying.</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b="1">
                          <a:solidFill>
                            <a:srgbClr val="996F00"/>
                          </a:solidFill>
                          <a:latin typeface="Microsoft YaHei"/>
                          <a:ea typeface="Microsoft YaHei"/>
                        </a:rPr>
                        <a:t>Extension</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Reports the item, keeps the rest of the cart, offers to update.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2B7A3D"/>
                          </a:solidFill>
                          <a:latin typeface="Microsoft YaHei"/>
                          <a:ea typeface="Microsoft YaHei"/>
                        </a:rPr>
                        <a:t>Resume at 1</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1022026">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4b</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No courier is assigned and the restaurant closes in under 20 minutes.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b="1">
                          <a:solidFill>
                            <a:srgbClr val="996F00"/>
                          </a:solidFill>
                          <a:latin typeface="Microsoft YaHei"/>
                          <a:ea typeface="Microsoft YaHei"/>
                        </a:rPr>
                        <a:t>Extension</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Accepts the order, sets Scheduled Delivery, tells the student the later time.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2B7A3D"/>
                          </a:solidFill>
                          <a:latin typeface="Microsoft YaHei"/>
                          <a:ea typeface="Microsoft YaHei"/>
                        </a:rPr>
                        <a:t>Resume at 5</a:t>
                      </a:r>
                      <a:endParaRPr/>
                    </a:p>
                  </a:txBody>
                  <a:tcPr marL="45720" marR="45720" marT="45720" marB="45720" anchor="ctr">
                    <a:lnL>
                      <a:noFill/>
                    </a:lnL>
                    <a:lnR>
                      <a:noFill/>
                    </a:lnR>
                    <a:lnT>
                      <a:noFill/>
                    </a:lnT>
                    <a:lnB>
                      <a:noFill/>
                    </a:lnB>
                  </a:tcPr>
                </a:tc>
                <a:extLst>
                  <a:ext uri="{0D108BD9-81ED-4DB2-BD59-A6C34878D82A}">
                    <a16:rowId val="3"/>
                  </a:ext>
                </a:extLst>
              </a:tr>
              <a:tr h="1022026">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4c</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The payment provider times out or returns an error.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b="1">
                          <a:solidFill>
                            <a:srgbClr val="D9534F"/>
                          </a:solidFill>
                          <a:latin typeface="Microsoft YaHei"/>
                          <a:ea typeface="Microsoft YaHei"/>
                        </a:rPr>
                        <a:t>Exception</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Creates the order in Pending Payment, queues one retry, notifies the student.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D9534F"/>
                          </a:solidFill>
                          <a:latin typeface="Microsoft YaHei"/>
                          <a:ea typeface="Microsoft YaHei"/>
                        </a:rPr>
                        <a:t>Ends here</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1022026">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4d</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The student already has an open order at this restaurant.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b="1">
                          <a:solidFill>
                            <a:srgbClr val="D9534F"/>
                          </a:solidFill>
                          <a:latin typeface="Microsoft YaHei"/>
                          <a:ea typeface="Microsoft YaHei"/>
                        </a:rPr>
                        <a:t>Exception</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Refuses the second order and displays the existing one.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D9534F"/>
                          </a:solidFill>
                          <a:latin typeface="Microsoft YaHei"/>
                          <a:ea typeface="Microsoft YaHei"/>
                        </a:rPr>
                        <a:t>Ends here</a:t>
                      </a:r>
                      <a:endParaRPr/>
                    </a:p>
                  </a:txBody>
                  <a:tcPr marL="45720" marR="45720" marT="45720" marB="45720" anchor="ctr">
                    <a:lnL>
                      <a:noFill/>
                    </a:lnL>
                    <a:lnR>
                      <a:noFill/>
                    </a:lnR>
                    <a:lnT>
                      <a:noFill/>
                    </a:lnT>
                    <a:lnB>
                      <a:noFill/>
                    </a:lnB>
                  </a:tcPr>
                </a:tc>
                <a:extLst>
                  <a:ext uri="{0D108BD9-81ED-4DB2-BD59-A6C34878D82A}">
                    <a16:rowId val="5"/>
                  </a:ext>
                </a:extLst>
              </a:tr>
            </a:tbl>
          </a:graphicData>
        </a:graphic>
      </p:graphicFrame>
      <p:sp>
        <p:nvSpPr>
          <p:cNvPr id="159" name=""/>
          <p:cNvSpPr/>
          <p:nvPr/>
        </p:nvSpPr>
        <p:spPr>
          <a:xfrm rot="0" flipH="0" flipV="0">
            <a:off x="0" y="6419850"/>
            <a:ext cx="12192000" cy="438150"/>
          </a:xfrm>
          <a:prstGeom prst="rect">
            <a:avLst/>
          </a:prstGeom>
          <a:solidFill>
            <a:srgbClr val="0E3F8C"/>
          </a:solidFill>
          <a:ln/>
        </p:spPr>
        <p:txBody>
          <a:bodyPr/>
          <a:p/>
        </p:txBody>
      </p:sp>
      <p:sp>
        <p:nvSpPr>
          <p:cNvPr id="160" name="" descr="{&quot;isTemplate&quot;:true,&quot;type&quot;:&quot;text&quot;}"/>
          <p:cNvSpPr txBox="1"/>
          <p:nvPr/>
        </p:nvSpPr>
        <p:spPr>
          <a:xfrm rot="0" flipH="0" flipV="0">
            <a:off x="2362200" y="6543675"/>
            <a:ext cx="7467600" cy="190500"/>
          </a:xfrm>
          <a:prstGeom prst="rect"/>
        </p:spPr>
        <p:txBody>
          <a:bodyPr wrap="none" lIns="0" tIns="0" rIns="0" bIns="0"/>
          <a:p>
            <a:pPr>
              <a:lnSpc>
                <a:spcPct val="100000"/>
              </a:lnSpc>
            </a:pPr>
            <a:r>
              <a:rPr lang="en-US" sz="1238" b="1">
                <a:solidFill>
                  <a:srgbClr val="FFFFFF"/>
                </a:solidFill>
                <a:latin typeface="Microsoft YaHei"/>
                <a:ea typeface="Microsoft YaHei"/>
              </a:rPr>
              <a:t>Note that 4c still creates an order. Whether an exception rolls back is a design decision, not a given.</a:t>
            </a:r>
            <a:endParaRPr/>
          </a:p>
        </p:txBody>
      </p:sp>
    </p:spTree>
  </p:cSld>
</p:sld>
</file>

<file path=ppt/slides/slide19.xml><?xml version="1.0" encoding="utf-8"?>
<p:sld xmlns:p="http://schemas.openxmlformats.org/presentationml/2006/main" xmlns:a="http://schemas.openxmlformats.org/drawingml/2006/main">
  <p:cSld>
    <p:spTree>
      <p:nvGrpSpPr>
        <p:cNvPr id="161"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EXTENSIONS &amp; EXCEPTIONS&lt;/Text&gt;&#10;  &lt;/Box&gt;&#10;  &lt;Box style={{ padding: '13px 40px 0 40px', flexDirection: 'row', alignItems: 'center', justifyContent: 'space-between' }}&gt;&#10;    &lt;Text style={{ fontSize: 29, fontWeight: 'bold', color: '#0E3F8C' }}&gt;Six Mistakes in Real Specs&lt;/Text&gt;&#10;    &lt;Text style={{ fontSize: 14, color: '#1E4FA8', fontWeight: 'bold' }}&gt;19 / 38&lt;/Text&gt;&#10;  &lt;/Box&gt;&#10;  &lt;Box style={{ flex: 1, padding: '10px 40px 0 40px', flexDirection: 'column', gap: 11 }}&gt;&#10;    {[&#10;      { k: 'Empty extensions', b: '“None.” means the author did not look. A system that takes payment always has an exception; find it before the client does.' },&#10;      { k: 'Branch with no destination', b: '4b describes what happens but never says where it goes. Add “resume at step n” or “the use case ends”.' },&#10;      { k: 'Interface in a step', b: '“The user clicks Pay on the third page.” Move it to W10 where the design lives.' },&#10;      { k: 'Exception that is really a goal', b: '“4c The student cancels the order” is a second use case, not a failure branch of this one.' },&#10;      { k: 'Postcondition for the happy path only', b: 'The most common defect on M1. After any exception, is the state still described? If not, it is not finished.' },&#10;      { k: 'Steps the actor cannot observe', b: '“System updates the internal order flag.” If no actor or outside system can tell, it is an implementation detail.' },&#10;    ].map((c) =&gt; (&#10;      &lt;Box key={c.k} style={{ flex: 1, flexDirection: 'row', alignItems: 'center', padding: '10px 18px', background: '#F7F9FC', borderRadius: 9, borderLeft: '4px solid #D9534F' }}&gt;&#10;        &lt;Text style={{ width: 330, fontSize: 15, fontWeight: 'bold', color: '#0E3F8C' }}&gt;{c.k}&lt;/Text&gt;&#10;        &lt;Text style={{ flex: 1, fontSize: 13, color: '#4A5568', lineHeight: 1.5 }}&gt;{c.b}&lt;/Text&gt;&#10;      &lt;/Box&gt;&#10;    ))}&#10;  &lt;/Box&gt;&#10;  &lt;Box style={{ height: 46, background: '#0E3F8C', padding: '0 40px', flexDirection: 'row', alignItems: 'center', justifyContent: 'center' }}&gt;&#10;    &lt;Text style={{ fontSize: 16.5, color: '#FFFFFF', fontWeight: '600' }}&gt;Five of these six are found in the first ten minutes of a review. That is not a coincidence.&lt;/Text&gt;&#10;  &lt;/Box&gt;&#10;&lt;/Slide&gt;&#10;"/>
        <p:cNvGrpSpPr/>
        <p:nvPr/>
      </p:nvGrpSpPr>
      <p:grpSpPr>
        <a:xfrm>
          <a:off x="0" y="0"/>
          <a:ext cx="0" cy="0"/>
          <a:chOff x="0" y="0"/>
          <a:chExt cx="0" cy="0"/>
        </a:xfrm>
      </p:grpSpPr>
      <p:sp>
        <p:nvSpPr>
          <p:cNvPr id="162" name=""/>
          <p:cNvSpPr/>
          <p:nvPr/>
        </p:nvSpPr>
        <p:spPr>
          <a:xfrm rot="0" flipH="0" flipV="0">
            <a:off x="0" y="0"/>
            <a:ext cx="12192000" cy="6858000"/>
          </a:xfrm>
          <a:prstGeom prst="rect">
            <a:avLst/>
          </a:prstGeom>
          <a:solidFill>
            <a:srgbClr val="FFFFFF"/>
          </a:solidFill>
          <a:ln/>
        </p:spPr>
        <p:txBody>
          <a:bodyPr/>
          <a:p/>
        </p:txBody>
      </p:sp>
      <p:sp>
        <p:nvSpPr>
          <p:cNvPr id="163" name=""/>
          <p:cNvSpPr/>
          <p:nvPr/>
        </p:nvSpPr>
        <p:spPr>
          <a:xfrm rot="0" flipH="0" flipV="0">
            <a:off x="0" y="0"/>
            <a:ext cx="12192000" cy="685800"/>
          </a:xfrm>
          <a:prstGeom prst="rect">
            <a:avLst/>
          </a:prstGeom>
          <a:solidFill>
            <a:srgbClr val="1E4FA8"/>
          </a:solidFill>
          <a:ln/>
        </p:spPr>
        <p:txBody>
          <a:bodyPr/>
          <a:p/>
        </p:txBody>
      </p:sp>
      <p:sp>
        <p:nvSpPr>
          <p:cNvPr id="164"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165" name="" descr="{&quot;isTemplate&quot;:true,&quot;type&quot;:&quot;text&quot;}"/>
          <p:cNvSpPr txBox="1"/>
          <p:nvPr/>
        </p:nvSpPr>
        <p:spPr>
          <a:xfrm rot="0" flipH="0" flipV="0">
            <a:off x="9372600" y="257175"/>
            <a:ext cx="2438400" cy="171450"/>
          </a:xfrm>
          <a:prstGeom prst="rect"/>
        </p:spPr>
        <p:txBody>
          <a:bodyPr wrap="none" lIns="0" tIns="0" rIns="0" bIns="0"/>
          <a:p>
            <a:pPr>
              <a:lnSpc>
                <a:spcPct val="100000"/>
              </a:lnSpc>
            </a:pPr>
            <a:r>
              <a:rPr lang="en-US" sz="1125">
                <a:solidFill>
                  <a:srgbClr val="B9CDF0"/>
                </a:solidFill>
                <a:latin typeface="Microsoft YaHei"/>
                <a:ea typeface="Microsoft YaHei"/>
              </a:rPr>
              <a:t>W05 · EXTENSIONS &amp; EXCEPTIONS</a:t>
            </a:r>
            <a:endParaRPr/>
          </a:p>
        </p:txBody>
      </p:sp>
      <p:sp>
        <p:nvSpPr>
          <p:cNvPr id="166" name="" descr="{&quot;isTemplate&quot;:true,&quot;type&quot;:&quot;text&quot;}"/>
          <p:cNvSpPr txBox="1"/>
          <p:nvPr/>
        </p:nvSpPr>
        <p:spPr>
          <a:xfrm rot="0" flipH="0" flipV="0">
            <a:off x="381000" y="809625"/>
            <a:ext cx="3533775" cy="333375"/>
          </a:xfrm>
          <a:prstGeom prst="rect"/>
        </p:spPr>
        <p:txBody>
          <a:bodyPr wrap="none" lIns="0" tIns="0" rIns="0" bIns="0"/>
          <a:p>
            <a:pPr>
              <a:lnSpc>
                <a:spcPct val="100000"/>
              </a:lnSpc>
            </a:pPr>
            <a:r>
              <a:rPr lang="en-US" sz="2175" b="1">
                <a:solidFill>
                  <a:srgbClr val="0E3F8C"/>
                </a:solidFill>
                <a:latin typeface="Microsoft YaHei"/>
                <a:ea typeface="Microsoft YaHei"/>
              </a:rPr>
              <a:t>Six Mistakes in Real Specs</a:t>
            </a:r>
            <a:endParaRPr/>
          </a:p>
        </p:txBody>
      </p:sp>
      <p:sp>
        <p:nvSpPr>
          <p:cNvPr id="167"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19 / 38</a:t>
            </a:r>
            <a:endParaRPr/>
          </a:p>
        </p:txBody>
      </p:sp>
      <p:sp>
        <p:nvSpPr>
          <p:cNvPr id="168" name=""/>
          <p:cNvSpPr/>
          <p:nvPr/>
        </p:nvSpPr>
        <p:spPr>
          <a:xfrm rot="0" flipH="0" flipV="0">
            <a:off x="419100" y="1238250"/>
            <a:ext cx="11430000" cy="781050"/>
          </a:xfrm>
          <a:prstGeom prst="roundRect">
            <a:avLst>
              <a:gd name="adj" fmla="val 10976"/>
            </a:avLst>
          </a:prstGeom>
          <a:solidFill>
            <a:srgbClr val="F7F9FC"/>
          </a:solidFill>
          <a:ln/>
        </p:spPr>
        <p:txBody>
          <a:bodyPr/>
          <a:p/>
        </p:txBody>
      </p:sp>
      <p:sp>
        <p:nvSpPr>
          <p:cNvPr id="169" name=""/>
          <p:cNvSpPr/>
          <p:nvPr/>
        </p:nvSpPr>
        <p:spPr>
          <a:xfrm rot="0" flipH="0" flipV="0">
            <a:off x="419100" y="1238250"/>
            <a:ext cx="11430000" cy="781050"/>
          </a:xfrm>
          <a:custGeom>
            <a:pathLst>
              <a:path w="1200" h="82">
                <a:moveTo>
                  <a:pt x="9" y="0"/>
                </a:moveTo>
                <a:cubicBezTo>
                  <a:pt x="6" y="0"/>
                  <a:pt x="4" y="2"/>
                  <a:pt x="4" y="5"/>
                </a:cubicBezTo>
                <a:lnTo>
                  <a:pt x="4" y="77"/>
                </a:lnTo>
                <a:cubicBezTo>
                  <a:pt x="4" y="79"/>
                  <a:pt x="6" y="81"/>
                  <a:pt x="8" y="82"/>
                </a:cubicBezTo>
                <a:cubicBezTo>
                  <a:pt x="4" y="82"/>
                  <a:pt x="0" y="78"/>
                  <a:pt x="0" y="73"/>
                </a:cubicBezTo>
                <a:lnTo>
                  <a:pt x="0" y="9"/>
                </a:lnTo>
                <a:cubicBezTo>
                  <a:pt x="0" y="4"/>
                  <a:pt x="4" y="0"/>
                  <a:pt x="9" y="0"/>
                </a:cubicBezTo>
                <a:close/>
              </a:path>
            </a:pathLst>
          </a:custGeom>
          <a:solidFill>
            <a:srgbClr val="D9534F"/>
          </a:solidFill>
          <a:ln/>
        </p:spPr>
        <p:txBody>
          <a:bodyPr/>
          <a:p/>
        </p:txBody>
      </p:sp>
      <p:sp>
        <p:nvSpPr>
          <p:cNvPr id="170" name="" descr="{&quot;isTemplate&quot;:true,&quot;type&quot;:&quot;text&quot;}"/>
          <p:cNvSpPr txBox="1"/>
          <p:nvPr/>
        </p:nvSpPr>
        <p:spPr>
          <a:xfrm rot="0" flipH="0" flipV="0">
            <a:off x="590550" y="1543050"/>
            <a:ext cx="3143250" cy="171450"/>
          </a:xfrm>
          <a:prstGeom prst="rect"/>
        </p:spPr>
        <p:txBody>
          <a:bodyPr wrap="none" lIns="0" tIns="0" rIns="0" bIns="0"/>
          <a:p>
            <a:pPr>
              <a:lnSpc>
                <a:spcPct val="100000"/>
              </a:lnSpc>
            </a:pPr>
            <a:r>
              <a:rPr lang="en-US" sz="1125" b="1">
                <a:solidFill>
                  <a:srgbClr val="0E3F8C"/>
                </a:solidFill>
                <a:latin typeface="Microsoft YaHei"/>
                <a:ea typeface="Microsoft YaHei"/>
              </a:rPr>
              <a:t>Empty extensions</a:t>
            </a:r>
            <a:endParaRPr/>
          </a:p>
        </p:txBody>
      </p:sp>
      <p:sp>
        <p:nvSpPr>
          <p:cNvPr id="171" name="" descr="{&quot;isTemplate&quot;:true,&quot;type&quot;:&quot;text&quot;}"/>
          <p:cNvSpPr txBox="1"/>
          <p:nvPr/>
        </p:nvSpPr>
        <p:spPr>
          <a:xfrm rot="0" flipH="0" flipV="0">
            <a:off x="3733800" y="1514475"/>
            <a:ext cx="7905750" cy="228600"/>
          </a:xfrm>
          <a:prstGeom prst="rect"/>
        </p:spPr>
        <p:txBody>
          <a:bodyPr wrap="none" lIns="0" tIns="0" rIns="0" bIns="0"/>
          <a:p>
            <a:pPr>
              <a:lnSpc>
                <a:spcPct val="150000"/>
              </a:lnSpc>
            </a:pPr>
            <a:r>
              <a:rPr lang="en-US" sz="975">
                <a:solidFill>
                  <a:srgbClr val="4A5568"/>
                </a:solidFill>
                <a:latin typeface="Microsoft YaHei"/>
                <a:ea typeface="Microsoft YaHei"/>
              </a:rPr>
              <a:t>“None.” means the author did not look. A system that takes payment always has an exception; find it before the client does.</a:t>
            </a:r>
            <a:endParaRPr/>
          </a:p>
        </p:txBody>
      </p:sp>
      <p:sp>
        <p:nvSpPr>
          <p:cNvPr id="172" name=""/>
          <p:cNvSpPr/>
          <p:nvPr/>
        </p:nvSpPr>
        <p:spPr>
          <a:xfrm rot="0" flipH="0" flipV="0">
            <a:off x="419100" y="2124075"/>
            <a:ext cx="11430000" cy="771525"/>
          </a:xfrm>
          <a:prstGeom prst="roundRect">
            <a:avLst>
              <a:gd name="adj" fmla="val 11111"/>
            </a:avLst>
          </a:prstGeom>
          <a:solidFill>
            <a:srgbClr val="F7F9FC"/>
          </a:solidFill>
          <a:ln/>
        </p:spPr>
        <p:txBody>
          <a:bodyPr/>
          <a:p/>
        </p:txBody>
      </p:sp>
      <p:sp>
        <p:nvSpPr>
          <p:cNvPr id="173" name=""/>
          <p:cNvSpPr/>
          <p:nvPr/>
        </p:nvSpPr>
        <p:spPr>
          <a:xfrm rot="0" flipH="0" flipV="0">
            <a:off x="419100" y="2124075"/>
            <a:ext cx="11430000" cy="771525"/>
          </a:xfrm>
          <a:custGeom>
            <a:pathLst>
              <a:path w="1200" h="81">
                <a:moveTo>
                  <a:pt x="9" y="0"/>
                </a:moveTo>
                <a:cubicBezTo>
                  <a:pt x="6" y="0"/>
                  <a:pt x="4" y="2"/>
                  <a:pt x="4" y="5"/>
                </a:cubicBezTo>
                <a:lnTo>
                  <a:pt x="4" y="76"/>
                </a:lnTo>
                <a:cubicBezTo>
                  <a:pt x="4" y="78"/>
                  <a:pt x="6" y="80"/>
                  <a:pt x="8" y="81"/>
                </a:cubicBezTo>
                <a:cubicBezTo>
                  <a:pt x="4" y="81"/>
                  <a:pt x="0" y="77"/>
                  <a:pt x="0" y="72"/>
                </a:cubicBezTo>
                <a:lnTo>
                  <a:pt x="0" y="9"/>
                </a:lnTo>
                <a:cubicBezTo>
                  <a:pt x="0" y="4"/>
                  <a:pt x="4" y="0"/>
                  <a:pt x="9" y="0"/>
                </a:cubicBezTo>
                <a:close/>
              </a:path>
            </a:pathLst>
          </a:custGeom>
          <a:solidFill>
            <a:srgbClr val="D9534F"/>
          </a:solidFill>
          <a:ln/>
        </p:spPr>
        <p:txBody>
          <a:bodyPr/>
          <a:p/>
        </p:txBody>
      </p:sp>
      <p:sp>
        <p:nvSpPr>
          <p:cNvPr id="174" name="" descr="{&quot;isTemplate&quot;:true,&quot;type&quot;:&quot;text&quot;}"/>
          <p:cNvSpPr txBox="1"/>
          <p:nvPr/>
        </p:nvSpPr>
        <p:spPr>
          <a:xfrm rot="0" flipH="0" flipV="0">
            <a:off x="590550" y="2428875"/>
            <a:ext cx="3143250" cy="171450"/>
          </a:xfrm>
          <a:prstGeom prst="rect"/>
        </p:spPr>
        <p:txBody>
          <a:bodyPr wrap="none" lIns="0" tIns="0" rIns="0" bIns="0"/>
          <a:p>
            <a:pPr>
              <a:lnSpc>
                <a:spcPct val="100000"/>
              </a:lnSpc>
            </a:pPr>
            <a:r>
              <a:rPr lang="en-US" sz="1125" b="1">
                <a:solidFill>
                  <a:srgbClr val="0E3F8C"/>
                </a:solidFill>
                <a:latin typeface="Microsoft YaHei"/>
                <a:ea typeface="Microsoft YaHei"/>
              </a:rPr>
              <a:t>Branch with no destination</a:t>
            </a:r>
            <a:endParaRPr/>
          </a:p>
        </p:txBody>
      </p:sp>
      <p:sp>
        <p:nvSpPr>
          <p:cNvPr id="175" name="" descr="{&quot;isTemplate&quot;:true,&quot;type&quot;:&quot;text&quot;}"/>
          <p:cNvSpPr txBox="1"/>
          <p:nvPr/>
        </p:nvSpPr>
        <p:spPr>
          <a:xfrm rot="0" flipH="0" flipV="0">
            <a:off x="3733800" y="2400300"/>
            <a:ext cx="7905750" cy="228600"/>
          </a:xfrm>
          <a:prstGeom prst="rect"/>
        </p:spPr>
        <p:txBody>
          <a:bodyPr wrap="none" lIns="0" tIns="0" rIns="0" bIns="0"/>
          <a:p>
            <a:pPr>
              <a:lnSpc>
                <a:spcPct val="150000"/>
              </a:lnSpc>
            </a:pPr>
            <a:r>
              <a:rPr lang="en-US" sz="975">
                <a:solidFill>
                  <a:srgbClr val="4A5568"/>
                </a:solidFill>
                <a:latin typeface="Microsoft YaHei"/>
                <a:ea typeface="Microsoft YaHei"/>
              </a:rPr>
              <a:t>4b describes what happens but never says where it goes. Add “resume at step n” or “the use case ends”.</a:t>
            </a:r>
            <a:endParaRPr/>
          </a:p>
        </p:txBody>
      </p:sp>
      <p:sp>
        <p:nvSpPr>
          <p:cNvPr id="176" name=""/>
          <p:cNvSpPr/>
          <p:nvPr/>
        </p:nvSpPr>
        <p:spPr>
          <a:xfrm rot="0" flipH="0" flipV="0">
            <a:off x="419100" y="3000375"/>
            <a:ext cx="11430000" cy="781050"/>
          </a:xfrm>
          <a:prstGeom prst="roundRect">
            <a:avLst>
              <a:gd name="adj" fmla="val 10976"/>
            </a:avLst>
          </a:prstGeom>
          <a:solidFill>
            <a:srgbClr val="F7F9FC"/>
          </a:solidFill>
          <a:ln/>
        </p:spPr>
        <p:txBody>
          <a:bodyPr/>
          <a:p/>
        </p:txBody>
      </p:sp>
      <p:sp>
        <p:nvSpPr>
          <p:cNvPr id="177" name=""/>
          <p:cNvSpPr/>
          <p:nvPr/>
        </p:nvSpPr>
        <p:spPr>
          <a:xfrm rot="0" flipH="0" flipV="0">
            <a:off x="419100" y="3000375"/>
            <a:ext cx="11430000" cy="781050"/>
          </a:xfrm>
          <a:custGeom>
            <a:pathLst>
              <a:path w="1200" h="82">
                <a:moveTo>
                  <a:pt x="9" y="0"/>
                </a:moveTo>
                <a:cubicBezTo>
                  <a:pt x="6" y="0"/>
                  <a:pt x="4" y="2"/>
                  <a:pt x="4" y="5"/>
                </a:cubicBezTo>
                <a:lnTo>
                  <a:pt x="4" y="77"/>
                </a:lnTo>
                <a:cubicBezTo>
                  <a:pt x="4" y="79"/>
                  <a:pt x="6" y="81"/>
                  <a:pt x="8" y="82"/>
                </a:cubicBezTo>
                <a:cubicBezTo>
                  <a:pt x="4" y="82"/>
                  <a:pt x="0" y="78"/>
                  <a:pt x="0" y="73"/>
                </a:cubicBezTo>
                <a:lnTo>
                  <a:pt x="0" y="9"/>
                </a:lnTo>
                <a:cubicBezTo>
                  <a:pt x="0" y="4"/>
                  <a:pt x="4" y="0"/>
                  <a:pt x="9" y="0"/>
                </a:cubicBezTo>
                <a:close/>
              </a:path>
            </a:pathLst>
          </a:custGeom>
          <a:solidFill>
            <a:srgbClr val="D9534F"/>
          </a:solidFill>
          <a:ln/>
        </p:spPr>
        <p:txBody>
          <a:bodyPr/>
          <a:p/>
        </p:txBody>
      </p:sp>
      <p:sp>
        <p:nvSpPr>
          <p:cNvPr id="178" name="" descr="{&quot;isTemplate&quot;:true,&quot;type&quot;:&quot;text&quot;}"/>
          <p:cNvSpPr txBox="1"/>
          <p:nvPr/>
        </p:nvSpPr>
        <p:spPr>
          <a:xfrm rot="0" flipH="0" flipV="0">
            <a:off x="590550" y="3305175"/>
            <a:ext cx="3143250" cy="171450"/>
          </a:xfrm>
          <a:prstGeom prst="rect"/>
        </p:spPr>
        <p:txBody>
          <a:bodyPr wrap="none" lIns="0" tIns="0" rIns="0" bIns="0"/>
          <a:p>
            <a:pPr>
              <a:lnSpc>
                <a:spcPct val="100000"/>
              </a:lnSpc>
            </a:pPr>
            <a:r>
              <a:rPr lang="en-US" sz="1125" b="1">
                <a:solidFill>
                  <a:srgbClr val="0E3F8C"/>
                </a:solidFill>
                <a:latin typeface="Microsoft YaHei"/>
                <a:ea typeface="Microsoft YaHei"/>
              </a:rPr>
              <a:t>Interface in a step</a:t>
            </a:r>
            <a:endParaRPr/>
          </a:p>
        </p:txBody>
      </p:sp>
      <p:sp>
        <p:nvSpPr>
          <p:cNvPr id="179" name="" descr="{&quot;isTemplate&quot;:true,&quot;type&quot;:&quot;text&quot;}"/>
          <p:cNvSpPr txBox="1"/>
          <p:nvPr/>
        </p:nvSpPr>
        <p:spPr>
          <a:xfrm rot="0" flipH="0" flipV="0">
            <a:off x="3733800" y="3276600"/>
            <a:ext cx="7905750" cy="228600"/>
          </a:xfrm>
          <a:prstGeom prst="rect"/>
        </p:spPr>
        <p:txBody>
          <a:bodyPr wrap="none" lIns="0" tIns="0" rIns="0" bIns="0"/>
          <a:p>
            <a:pPr>
              <a:lnSpc>
                <a:spcPct val="150000"/>
              </a:lnSpc>
            </a:pPr>
            <a:r>
              <a:rPr lang="en-US" sz="975">
                <a:solidFill>
                  <a:srgbClr val="4A5568"/>
                </a:solidFill>
                <a:latin typeface="Microsoft YaHei"/>
                <a:ea typeface="Microsoft YaHei"/>
              </a:rPr>
              <a:t>“The user clicks Pay on the third page.” Move it to W10 where the design lives.</a:t>
            </a:r>
            <a:endParaRPr/>
          </a:p>
        </p:txBody>
      </p:sp>
      <p:sp>
        <p:nvSpPr>
          <p:cNvPr id="180" name=""/>
          <p:cNvSpPr/>
          <p:nvPr/>
        </p:nvSpPr>
        <p:spPr>
          <a:xfrm rot="0" flipH="0" flipV="0">
            <a:off x="419100" y="3886200"/>
            <a:ext cx="11430000" cy="771525"/>
          </a:xfrm>
          <a:prstGeom prst="roundRect">
            <a:avLst>
              <a:gd name="adj" fmla="val 11111"/>
            </a:avLst>
          </a:prstGeom>
          <a:solidFill>
            <a:srgbClr val="F7F9FC"/>
          </a:solidFill>
          <a:ln/>
        </p:spPr>
        <p:txBody>
          <a:bodyPr/>
          <a:p/>
        </p:txBody>
      </p:sp>
      <p:sp>
        <p:nvSpPr>
          <p:cNvPr id="181" name=""/>
          <p:cNvSpPr/>
          <p:nvPr/>
        </p:nvSpPr>
        <p:spPr>
          <a:xfrm rot="0" flipH="0" flipV="0">
            <a:off x="419100" y="3886200"/>
            <a:ext cx="11430000" cy="771525"/>
          </a:xfrm>
          <a:custGeom>
            <a:pathLst>
              <a:path w="1200" h="81">
                <a:moveTo>
                  <a:pt x="9" y="0"/>
                </a:moveTo>
                <a:cubicBezTo>
                  <a:pt x="6" y="0"/>
                  <a:pt x="4" y="2"/>
                  <a:pt x="4" y="5"/>
                </a:cubicBezTo>
                <a:lnTo>
                  <a:pt x="4" y="76"/>
                </a:lnTo>
                <a:cubicBezTo>
                  <a:pt x="4" y="78"/>
                  <a:pt x="6" y="80"/>
                  <a:pt x="8" y="81"/>
                </a:cubicBezTo>
                <a:cubicBezTo>
                  <a:pt x="4" y="81"/>
                  <a:pt x="0" y="77"/>
                  <a:pt x="0" y="72"/>
                </a:cubicBezTo>
                <a:lnTo>
                  <a:pt x="0" y="9"/>
                </a:lnTo>
                <a:cubicBezTo>
                  <a:pt x="0" y="4"/>
                  <a:pt x="4" y="0"/>
                  <a:pt x="9" y="0"/>
                </a:cubicBezTo>
                <a:close/>
              </a:path>
            </a:pathLst>
          </a:custGeom>
          <a:solidFill>
            <a:srgbClr val="D9534F"/>
          </a:solidFill>
          <a:ln/>
        </p:spPr>
        <p:txBody>
          <a:bodyPr/>
          <a:p/>
        </p:txBody>
      </p:sp>
      <p:sp>
        <p:nvSpPr>
          <p:cNvPr id="182" name="" descr="{&quot;isTemplate&quot;:true,&quot;type&quot;:&quot;text&quot;}"/>
          <p:cNvSpPr txBox="1"/>
          <p:nvPr/>
        </p:nvSpPr>
        <p:spPr>
          <a:xfrm rot="0" flipH="0" flipV="0">
            <a:off x="590550" y="4191000"/>
            <a:ext cx="3143250" cy="171450"/>
          </a:xfrm>
          <a:prstGeom prst="rect"/>
        </p:spPr>
        <p:txBody>
          <a:bodyPr wrap="none" lIns="0" tIns="0" rIns="0" bIns="0"/>
          <a:p>
            <a:pPr>
              <a:lnSpc>
                <a:spcPct val="100000"/>
              </a:lnSpc>
            </a:pPr>
            <a:r>
              <a:rPr lang="en-US" sz="1125" b="1">
                <a:solidFill>
                  <a:srgbClr val="0E3F8C"/>
                </a:solidFill>
                <a:latin typeface="Microsoft YaHei"/>
                <a:ea typeface="Microsoft YaHei"/>
              </a:rPr>
              <a:t>Exception that is really a goal</a:t>
            </a:r>
            <a:endParaRPr/>
          </a:p>
        </p:txBody>
      </p:sp>
      <p:sp>
        <p:nvSpPr>
          <p:cNvPr id="183" name="" descr="{&quot;isTemplate&quot;:true,&quot;type&quot;:&quot;text&quot;}"/>
          <p:cNvSpPr txBox="1"/>
          <p:nvPr/>
        </p:nvSpPr>
        <p:spPr>
          <a:xfrm rot="0" flipH="0" flipV="0">
            <a:off x="3733800" y="4162425"/>
            <a:ext cx="7905750" cy="228600"/>
          </a:xfrm>
          <a:prstGeom prst="rect"/>
        </p:spPr>
        <p:txBody>
          <a:bodyPr wrap="none" lIns="0" tIns="0" rIns="0" bIns="0"/>
          <a:p>
            <a:pPr>
              <a:lnSpc>
                <a:spcPct val="150000"/>
              </a:lnSpc>
            </a:pPr>
            <a:r>
              <a:rPr lang="en-US" sz="975">
                <a:solidFill>
                  <a:srgbClr val="4A5568"/>
                </a:solidFill>
                <a:latin typeface="Microsoft YaHei"/>
                <a:ea typeface="Microsoft YaHei"/>
              </a:rPr>
              <a:t>“4c The student cancels the order” is a second use case, not a failure branch of this one.</a:t>
            </a:r>
            <a:endParaRPr/>
          </a:p>
        </p:txBody>
      </p:sp>
      <p:sp>
        <p:nvSpPr>
          <p:cNvPr id="184" name=""/>
          <p:cNvSpPr/>
          <p:nvPr/>
        </p:nvSpPr>
        <p:spPr>
          <a:xfrm rot="0" flipH="0" flipV="0">
            <a:off x="419100" y="4762500"/>
            <a:ext cx="11430000" cy="781050"/>
          </a:xfrm>
          <a:prstGeom prst="roundRect">
            <a:avLst>
              <a:gd name="adj" fmla="val 10976"/>
            </a:avLst>
          </a:prstGeom>
          <a:solidFill>
            <a:srgbClr val="F7F9FC"/>
          </a:solidFill>
          <a:ln/>
        </p:spPr>
        <p:txBody>
          <a:bodyPr/>
          <a:p/>
        </p:txBody>
      </p:sp>
      <p:sp>
        <p:nvSpPr>
          <p:cNvPr id="185" name=""/>
          <p:cNvSpPr/>
          <p:nvPr/>
        </p:nvSpPr>
        <p:spPr>
          <a:xfrm rot="0" flipH="0" flipV="0">
            <a:off x="419100" y="4762500"/>
            <a:ext cx="11430000" cy="781050"/>
          </a:xfrm>
          <a:custGeom>
            <a:pathLst>
              <a:path w="1200" h="82">
                <a:moveTo>
                  <a:pt x="9" y="0"/>
                </a:moveTo>
                <a:cubicBezTo>
                  <a:pt x="6" y="0"/>
                  <a:pt x="4" y="2"/>
                  <a:pt x="4" y="5"/>
                </a:cubicBezTo>
                <a:lnTo>
                  <a:pt x="4" y="77"/>
                </a:lnTo>
                <a:cubicBezTo>
                  <a:pt x="4" y="79"/>
                  <a:pt x="6" y="81"/>
                  <a:pt x="8" y="82"/>
                </a:cubicBezTo>
                <a:cubicBezTo>
                  <a:pt x="4" y="82"/>
                  <a:pt x="0" y="78"/>
                  <a:pt x="0" y="73"/>
                </a:cubicBezTo>
                <a:lnTo>
                  <a:pt x="0" y="9"/>
                </a:lnTo>
                <a:cubicBezTo>
                  <a:pt x="0" y="4"/>
                  <a:pt x="4" y="0"/>
                  <a:pt x="9" y="0"/>
                </a:cubicBezTo>
                <a:close/>
              </a:path>
            </a:pathLst>
          </a:custGeom>
          <a:solidFill>
            <a:srgbClr val="D9534F"/>
          </a:solidFill>
          <a:ln/>
        </p:spPr>
        <p:txBody>
          <a:bodyPr/>
          <a:p/>
        </p:txBody>
      </p:sp>
      <p:sp>
        <p:nvSpPr>
          <p:cNvPr id="186" name="" descr="{&quot;isTemplate&quot;:true,&quot;type&quot;:&quot;text&quot;}"/>
          <p:cNvSpPr txBox="1"/>
          <p:nvPr/>
        </p:nvSpPr>
        <p:spPr>
          <a:xfrm rot="0" flipH="0" flipV="0">
            <a:off x="590550" y="5067300"/>
            <a:ext cx="3143250" cy="171450"/>
          </a:xfrm>
          <a:prstGeom prst="rect"/>
        </p:spPr>
        <p:txBody>
          <a:bodyPr wrap="none" lIns="0" tIns="0" rIns="0" bIns="0"/>
          <a:p>
            <a:pPr>
              <a:lnSpc>
                <a:spcPct val="100000"/>
              </a:lnSpc>
            </a:pPr>
            <a:r>
              <a:rPr lang="en-US" sz="1125" b="1">
                <a:solidFill>
                  <a:srgbClr val="0E3F8C"/>
                </a:solidFill>
                <a:latin typeface="Microsoft YaHei"/>
                <a:ea typeface="Microsoft YaHei"/>
              </a:rPr>
              <a:t>Postcondition for the happy path only</a:t>
            </a:r>
            <a:endParaRPr/>
          </a:p>
        </p:txBody>
      </p:sp>
      <p:sp>
        <p:nvSpPr>
          <p:cNvPr id="187" name="" descr="{&quot;isTemplate&quot;:true,&quot;type&quot;:&quot;text&quot;}"/>
          <p:cNvSpPr txBox="1"/>
          <p:nvPr/>
        </p:nvSpPr>
        <p:spPr>
          <a:xfrm rot="0" flipH="0" flipV="0">
            <a:off x="3733800" y="5038725"/>
            <a:ext cx="7905750" cy="228600"/>
          </a:xfrm>
          <a:prstGeom prst="rect"/>
        </p:spPr>
        <p:txBody>
          <a:bodyPr wrap="none" lIns="0" tIns="0" rIns="0" bIns="0"/>
          <a:p>
            <a:pPr>
              <a:lnSpc>
                <a:spcPct val="150000"/>
              </a:lnSpc>
            </a:pPr>
            <a:r>
              <a:rPr lang="en-US" sz="975">
                <a:solidFill>
                  <a:srgbClr val="4A5568"/>
                </a:solidFill>
                <a:latin typeface="Microsoft YaHei"/>
                <a:ea typeface="Microsoft YaHei"/>
              </a:rPr>
              <a:t>The most common defect on M1. After any exception, is the state still described? If not, it is not finished.</a:t>
            </a:r>
            <a:endParaRPr/>
          </a:p>
        </p:txBody>
      </p:sp>
      <p:sp>
        <p:nvSpPr>
          <p:cNvPr id="188" name=""/>
          <p:cNvSpPr/>
          <p:nvPr/>
        </p:nvSpPr>
        <p:spPr>
          <a:xfrm rot="0" flipH="0" flipV="0">
            <a:off x="419100" y="5648325"/>
            <a:ext cx="11430000" cy="771525"/>
          </a:xfrm>
          <a:prstGeom prst="roundRect">
            <a:avLst>
              <a:gd name="adj" fmla="val 11111"/>
            </a:avLst>
          </a:prstGeom>
          <a:solidFill>
            <a:srgbClr val="F7F9FC"/>
          </a:solidFill>
          <a:ln/>
        </p:spPr>
        <p:txBody>
          <a:bodyPr/>
          <a:p/>
        </p:txBody>
      </p:sp>
      <p:sp>
        <p:nvSpPr>
          <p:cNvPr id="189" name=""/>
          <p:cNvSpPr/>
          <p:nvPr/>
        </p:nvSpPr>
        <p:spPr>
          <a:xfrm rot="0" flipH="0" flipV="0">
            <a:off x="419100" y="5648325"/>
            <a:ext cx="11430000" cy="771525"/>
          </a:xfrm>
          <a:custGeom>
            <a:pathLst>
              <a:path w="1200" h="81">
                <a:moveTo>
                  <a:pt x="9" y="0"/>
                </a:moveTo>
                <a:cubicBezTo>
                  <a:pt x="6" y="0"/>
                  <a:pt x="4" y="2"/>
                  <a:pt x="4" y="5"/>
                </a:cubicBezTo>
                <a:lnTo>
                  <a:pt x="4" y="76"/>
                </a:lnTo>
                <a:cubicBezTo>
                  <a:pt x="4" y="78"/>
                  <a:pt x="6" y="80"/>
                  <a:pt x="8" y="81"/>
                </a:cubicBezTo>
                <a:cubicBezTo>
                  <a:pt x="4" y="81"/>
                  <a:pt x="0" y="77"/>
                  <a:pt x="0" y="72"/>
                </a:cubicBezTo>
                <a:lnTo>
                  <a:pt x="0" y="9"/>
                </a:lnTo>
                <a:cubicBezTo>
                  <a:pt x="0" y="4"/>
                  <a:pt x="4" y="0"/>
                  <a:pt x="9" y="0"/>
                </a:cubicBezTo>
                <a:close/>
              </a:path>
            </a:pathLst>
          </a:custGeom>
          <a:solidFill>
            <a:srgbClr val="D9534F"/>
          </a:solidFill>
          <a:ln/>
        </p:spPr>
        <p:txBody>
          <a:bodyPr/>
          <a:p/>
        </p:txBody>
      </p:sp>
      <p:sp>
        <p:nvSpPr>
          <p:cNvPr id="190" name="" descr="{&quot;isTemplate&quot;:true,&quot;type&quot;:&quot;text&quot;}"/>
          <p:cNvSpPr txBox="1"/>
          <p:nvPr/>
        </p:nvSpPr>
        <p:spPr>
          <a:xfrm rot="0" flipH="0" flipV="0">
            <a:off x="590550" y="5953125"/>
            <a:ext cx="3143250" cy="171450"/>
          </a:xfrm>
          <a:prstGeom prst="rect"/>
        </p:spPr>
        <p:txBody>
          <a:bodyPr wrap="none" lIns="0" tIns="0" rIns="0" bIns="0"/>
          <a:p>
            <a:pPr>
              <a:lnSpc>
                <a:spcPct val="100000"/>
              </a:lnSpc>
            </a:pPr>
            <a:r>
              <a:rPr lang="en-US" sz="1125" b="1">
                <a:solidFill>
                  <a:srgbClr val="0E3F8C"/>
                </a:solidFill>
                <a:latin typeface="Microsoft YaHei"/>
                <a:ea typeface="Microsoft YaHei"/>
              </a:rPr>
              <a:t>Steps the actor cannot observe</a:t>
            </a:r>
            <a:endParaRPr/>
          </a:p>
        </p:txBody>
      </p:sp>
      <p:sp>
        <p:nvSpPr>
          <p:cNvPr id="191" name="" descr="{&quot;isTemplate&quot;:true,&quot;type&quot;:&quot;text&quot;}"/>
          <p:cNvSpPr txBox="1"/>
          <p:nvPr/>
        </p:nvSpPr>
        <p:spPr>
          <a:xfrm rot="0" flipH="0" flipV="0">
            <a:off x="3733800" y="5924550"/>
            <a:ext cx="7905750" cy="228600"/>
          </a:xfrm>
          <a:prstGeom prst="rect"/>
        </p:spPr>
        <p:txBody>
          <a:bodyPr wrap="none" lIns="0" tIns="0" rIns="0" bIns="0"/>
          <a:p>
            <a:pPr>
              <a:lnSpc>
                <a:spcPct val="150000"/>
              </a:lnSpc>
            </a:pPr>
            <a:r>
              <a:rPr lang="en-US" sz="975">
                <a:solidFill>
                  <a:srgbClr val="4A5568"/>
                </a:solidFill>
                <a:latin typeface="Microsoft YaHei"/>
                <a:ea typeface="Microsoft YaHei"/>
              </a:rPr>
              <a:t>“System updates the internal order flag.” If no actor or outside system can tell, it is an implementation detail.</a:t>
            </a:r>
            <a:endParaRPr/>
          </a:p>
        </p:txBody>
      </p:sp>
      <p:sp>
        <p:nvSpPr>
          <p:cNvPr id="192" name=""/>
          <p:cNvSpPr/>
          <p:nvPr/>
        </p:nvSpPr>
        <p:spPr>
          <a:xfrm rot="0" flipH="0" flipV="0">
            <a:off x="0" y="6419850"/>
            <a:ext cx="12192000" cy="438150"/>
          </a:xfrm>
          <a:prstGeom prst="rect">
            <a:avLst/>
          </a:prstGeom>
          <a:solidFill>
            <a:srgbClr val="0E3F8C"/>
          </a:solidFill>
          <a:ln/>
        </p:spPr>
        <p:txBody>
          <a:bodyPr/>
          <a:p/>
        </p:txBody>
      </p:sp>
      <p:sp>
        <p:nvSpPr>
          <p:cNvPr id="193" name="" descr="{&quot;isTemplate&quot;:true,&quot;type&quot;:&quot;text&quot;}"/>
          <p:cNvSpPr txBox="1"/>
          <p:nvPr/>
        </p:nvSpPr>
        <p:spPr>
          <a:xfrm rot="0" flipH="0" flipV="0">
            <a:off x="2809875" y="6543675"/>
            <a:ext cx="6572250" cy="190500"/>
          </a:xfrm>
          <a:prstGeom prst="rect"/>
        </p:spPr>
        <p:txBody>
          <a:bodyPr wrap="none" lIns="0" tIns="0" rIns="0" bIns="0"/>
          <a:p>
            <a:pPr>
              <a:lnSpc>
                <a:spcPct val="100000"/>
              </a:lnSpc>
            </a:pPr>
            <a:r>
              <a:rPr lang="en-US" sz="1238" b="1">
                <a:solidFill>
                  <a:srgbClr val="FFFFFF"/>
                </a:solidFill>
                <a:latin typeface="Microsoft YaHei"/>
                <a:ea typeface="Microsoft YaHei"/>
              </a:rPr>
              <a:t>Five of these six are found in the first ten minutes of a review. That is not a coincidence.</a:t>
            </a:r>
            <a:endParaRPr/>
          </a:p>
        </p:txBody>
      </p:sp>
    </p:spTree>
  </p:cSld>
</p:sld>
</file>

<file path=ppt/slides/slide20.xml><?xml version="1.0" encoding="utf-8"?>
<p:sld xmlns:p="http://schemas.openxmlformats.org/presentationml/2006/main" xmlns:a="http://schemas.openxmlformats.org/drawingml/2006/main">
  <p:cSld>
    <p:spTree>
      <p:nvGrpSpPr>
        <p:cNvPr id="231" name="" descr="&lt;Slide style={{ background: '#0E3F8C', padding: 0 }}&gt;&#10;  &lt;Box style={{ flexDirection: 'row', height: '100%', position: 'relative' }}&gt;&#10;    &lt;Box style={{ position: 'absolute', top: 0, left: 0, right: 0, height: 8, background: '#1E4FA8' }} /&gt;&#10;    &lt;Box style={{ width: 300, justifyContent: 'center', alignItems: 'center', borderRight: '1px solid #2B5793' }}&gt;&#10;      &lt;Text style={{ fontSize: 220, fontWeight: 'bold', color: '#3D7BD9', fontFamily: 'Georgia, serif', lineHeight: 1 }}&gt;04&lt;/Text&gt;&#10;    &lt;/Box&gt;&#10;    &lt;Box style={{ flex: 1, padding: '70px 64px', flexDirection: 'column', justifyContent: 'center' }}&gt;&#10;      &lt;Text style={{ fontSize: 15, color: '#7FA2D6', letterSpacing: 2, marginBottom: 18 }}&gt;PART 4 · LECTURE&lt;/Text&gt;&#10;      &lt;Text style={{ fontSize: 46, fontWeight: 'bold', color: '#FFFFFF', lineHeight: 1.18 }}&gt;From Use Case&lt;br /&gt;to SSD&lt;/Text&gt;&#10;      &lt;Box style={{ width: 64, height: 4, background: '#FFC107', marginTop: 26, marginBottom: 26 }} /&gt;&#10;      &lt;Box style={{ flexDirection: 'column', gap: 12 }}&gt;&#10;        {[&#10;          'One lifeline: the system as a black box',&#10;          'Every message is a request the actor can name',&#10;          'The skeleton you draw today becomes W08'&#10;        ].map((t) =&gt; (&#10;          &lt;Box key={t} style={{ flexDirection: 'row', alignItems: 'center', gap: 12 }}&gt;&#10;            &lt;Box style={{ width: 8, height: 8, borderRadius: 4, background: '#3D7BD9' }} /&gt;&#10;            &lt;Text style={{ fontSize: 20, color: '#C5D4EA' }}&gt;{t}&lt;/Text&gt;&#10;          &lt;/Box&gt;&#10;        ))}&#10;      &lt;/Box&gt;&#10;    &lt;/Box&gt;&#10;  &lt;/Box&gt;&#10;&lt;/Slide&gt;&#10;"/>
        <p:cNvGrpSpPr/>
        <p:nvPr/>
      </p:nvGrpSpPr>
      <p:grpSpPr>
        <a:xfrm>
          <a:off x="0" y="0"/>
          <a:ext cx="0" cy="0"/>
          <a:chOff x="0" y="0"/>
          <a:chExt cx="0" cy="0"/>
        </a:xfrm>
      </p:grpSpPr>
      <p:sp>
        <p:nvSpPr>
          <p:cNvPr id="232" name=""/>
          <p:cNvSpPr/>
          <p:nvPr/>
        </p:nvSpPr>
        <p:spPr>
          <a:xfrm rot="0" flipH="0" flipV="0">
            <a:off x="0" y="0"/>
            <a:ext cx="12192000" cy="6858000"/>
          </a:xfrm>
          <a:prstGeom prst="rect">
            <a:avLst/>
          </a:prstGeom>
          <a:solidFill>
            <a:srgbClr val="0E3F8C"/>
          </a:solidFill>
          <a:ln/>
        </p:spPr>
        <p:txBody>
          <a:bodyPr/>
          <a:p/>
        </p:txBody>
      </p:sp>
      <p:sp>
        <p:nvSpPr>
          <p:cNvPr id="233" name=""/>
          <p:cNvSpPr/>
          <p:nvPr/>
        </p:nvSpPr>
        <p:spPr>
          <a:xfrm rot="0" flipH="0" flipV="0">
            <a:off x="0" y="0"/>
            <a:ext cx="2857500" cy="6858000"/>
          </a:xfrm>
          <a:custGeom>
            <a:pathLst>
              <a:path w="300" h="720">
                <a:moveTo>
                  <a:pt x="299" y="0"/>
                </a:moveTo>
                <a:lnTo>
                  <a:pt x="300" y="0"/>
                </a:lnTo>
                <a:lnTo>
                  <a:pt x="300" y="720"/>
                </a:lnTo>
                <a:lnTo>
                  <a:pt x="299" y="720"/>
                </a:lnTo>
                <a:close/>
              </a:path>
            </a:pathLst>
          </a:custGeom>
          <a:solidFill>
            <a:srgbClr val="2B5793"/>
          </a:solidFill>
          <a:ln/>
        </p:spPr>
        <p:txBody>
          <a:bodyPr/>
          <a:p/>
        </p:txBody>
      </p:sp>
      <p:sp>
        <p:nvSpPr>
          <p:cNvPr id="234" name="" descr="{&quot;isTemplate&quot;:true,&quot;type&quot;:&quot;text&quot;}"/>
          <p:cNvSpPr txBox="1"/>
          <p:nvPr/>
        </p:nvSpPr>
        <p:spPr>
          <a:xfrm rot="0" flipH="0" flipV="0">
            <a:off x="9525" y="2171700"/>
            <a:ext cx="2838450" cy="2514600"/>
          </a:xfrm>
          <a:prstGeom prst="rect"/>
        </p:spPr>
        <p:txBody>
          <a:bodyPr wrap="none" lIns="0" tIns="0" rIns="0" bIns="0"/>
          <a:p>
            <a:pPr>
              <a:lnSpc>
                <a:spcPct val="100000"/>
              </a:lnSpc>
            </a:pPr>
            <a:r>
              <a:rPr lang="en-US" sz="16500" b="1">
                <a:solidFill>
                  <a:srgbClr val="3D7BD9"/>
                </a:solidFill>
                <a:latin typeface="Georgia"/>
                <a:ea typeface="Georgia"/>
              </a:rPr>
              <a:t>04</a:t>
            </a:r>
            <a:endParaRPr/>
          </a:p>
        </p:txBody>
      </p:sp>
      <p:sp>
        <p:nvSpPr>
          <p:cNvPr id="235" name="" descr="{&quot;isTemplate&quot;:true,&quot;type&quot;:&quot;text&quot;}"/>
          <p:cNvSpPr txBox="1"/>
          <p:nvPr/>
        </p:nvSpPr>
        <p:spPr>
          <a:xfrm rot="0" flipH="0" flipV="0">
            <a:off x="3467100" y="1914525"/>
            <a:ext cx="8115300" cy="171450"/>
          </a:xfrm>
          <a:prstGeom prst="rect"/>
        </p:spPr>
        <p:txBody>
          <a:bodyPr wrap="none" lIns="0" tIns="0" rIns="0" bIns="0"/>
          <a:p>
            <a:pPr>
              <a:lnSpc>
                <a:spcPct val="100000"/>
              </a:lnSpc>
            </a:pPr>
            <a:r>
              <a:rPr lang="en-US" sz="1125" spc="150">
                <a:solidFill>
                  <a:srgbClr val="7FA2D6"/>
                </a:solidFill>
                <a:latin typeface="Microsoft YaHei"/>
                <a:ea typeface="Microsoft YaHei"/>
              </a:rPr>
              <a:t>PART 4 · LECTURE</a:t>
            </a:r>
            <a:endParaRPr/>
          </a:p>
        </p:txBody>
      </p:sp>
      <p:sp>
        <p:nvSpPr>
          <p:cNvPr id="236" name="" descr="{&quot;isTemplate&quot;:true,&quot;type&quot;:&quot;text&quot;}"/>
          <p:cNvSpPr txBox="1"/>
          <p:nvPr/>
        </p:nvSpPr>
        <p:spPr>
          <a:xfrm rot="0" flipH="0" flipV="0">
            <a:off x="3467100" y="2257425"/>
            <a:ext cx="8115300" cy="1247775"/>
          </a:xfrm>
          <a:prstGeom prst="rect"/>
        </p:spPr>
        <p:txBody>
          <a:bodyPr wrap="none" lIns="0" tIns="0" rIns="0" bIns="0"/>
          <a:p>
            <a:pPr>
              <a:lnSpc>
                <a:spcPct val="118000"/>
              </a:lnSpc>
            </a:pPr>
            <a:r>
              <a:rPr lang="en-US" sz="3450" b="1">
                <a:solidFill>
                  <a:srgbClr val="FFFFFF"/>
                </a:solidFill>
                <a:latin typeface="Microsoft YaHei"/>
                <a:ea typeface="Microsoft YaHei"/>
              </a:rPr>
              <a:t>From Use Case</a:t>
            </a:r>
            <a:endParaRPr/>
          </a:p>
          <a:p>
            <a:pPr>
              <a:lnSpc>
                <a:spcPct val="118000"/>
              </a:lnSpc>
            </a:pPr>
            <a:r>
              <a:rPr lang="en-US" sz="3450" b="1">
                <a:solidFill>
                  <a:srgbClr val="FFFFFF"/>
                </a:solidFill>
                <a:latin typeface="Microsoft YaHei"/>
                <a:ea typeface="Microsoft YaHei"/>
              </a:rPr>
              <a:t>to SSD</a:t>
            </a:r>
            <a:endParaRPr/>
          </a:p>
        </p:txBody>
      </p:sp>
      <p:sp>
        <p:nvSpPr>
          <p:cNvPr id="237" name=""/>
          <p:cNvSpPr/>
          <p:nvPr/>
        </p:nvSpPr>
        <p:spPr>
          <a:xfrm rot="0" flipH="0" flipV="0">
            <a:off x="3467100" y="3752850"/>
            <a:ext cx="609600" cy="38100"/>
          </a:xfrm>
          <a:prstGeom prst="rect">
            <a:avLst/>
          </a:prstGeom>
          <a:solidFill>
            <a:srgbClr val="FFC107"/>
          </a:solidFill>
          <a:ln/>
        </p:spPr>
        <p:txBody>
          <a:bodyPr/>
          <a:p/>
        </p:txBody>
      </p:sp>
      <p:sp>
        <p:nvSpPr>
          <p:cNvPr id="238" name=""/>
          <p:cNvSpPr/>
          <p:nvPr/>
        </p:nvSpPr>
        <p:spPr>
          <a:xfrm rot="0" flipH="0" flipV="0">
            <a:off x="3467100" y="4114800"/>
            <a:ext cx="76200" cy="76200"/>
          </a:xfrm>
          <a:prstGeom prst="roundRect">
            <a:avLst>
              <a:gd name="adj" fmla="val 50000"/>
            </a:avLst>
          </a:prstGeom>
          <a:solidFill>
            <a:srgbClr val="3D7BD9"/>
          </a:solidFill>
          <a:ln/>
        </p:spPr>
        <p:txBody>
          <a:bodyPr/>
          <a:p/>
        </p:txBody>
      </p:sp>
      <p:sp>
        <p:nvSpPr>
          <p:cNvPr id="239" name="" descr="{&quot;isTemplate&quot;:true,&quot;type&quot;:&quot;text&quot;}"/>
          <p:cNvSpPr txBox="1"/>
          <p:nvPr/>
        </p:nvSpPr>
        <p:spPr>
          <a:xfrm rot="0" flipH="0" flipV="0">
            <a:off x="3657600" y="4038600"/>
            <a:ext cx="3257550" cy="228600"/>
          </a:xfrm>
          <a:prstGeom prst="rect"/>
        </p:spPr>
        <p:txBody>
          <a:bodyPr wrap="none" lIns="0" tIns="0" rIns="0" bIns="0"/>
          <a:p>
            <a:pPr>
              <a:lnSpc>
                <a:spcPct val="100000"/>
              </a:lnSpc>
            </a:pPr>
            <a:r>
              <a:rPr lang="en-US" sz="1500">
                <a:solidFill>
                  <a:srgbClr val="C5D4EA"/>
                </a:solidFill>
                <a:latin typeface="Microsoft YaHei"/>
                <a:ea typeface="Microsoft YaHei"/>
              </a:rPr>
              <a:t>One lifeline: the system as a black box</a:t>
            </a:r>
            <a:endParaRPr/>
          </a:p>
        </p:txBody>
      </p:sp>
      <p:sp>
        <p:nvSpPr>
          <p:cNvPr id="240" name=""/>
          <p:cNvSpPr/>
          <p:nvPr/>
        </p:nvSpPr>
        <p:spPr>
          <a:xfrm rot="0" flipH="0" flipV="0">
            <a:off x="3467100" y="4457700"/>
            <a:ext cx="76200" cy="76200"/>
          </a:xfrm>
          <a:prstGeom prst="roundRect">
            <a:avLst>
              <a:gd name="adj" fmla="val 50000"/>
            </a:avLst>
          </a:prstGeom>
          <a:solidFill>
            <a:srgbClr val="3D7BD9"/>
          </a:solidFill>
          <a:ln/>
        </p:spPr>
        <p:txBody>
          <a:bodyPr/>
          <a:p/>
        </p:txBody>
      </p:sp>
      <p:sp>
        <p:nvSpPr>
          <p:cNvPr id="241" name="" descr="{&quot;isTemplate&quot;:true,&quot;type&quot;:&quot;text&quot;}"/>
          <p:cNvSpPr txBox="1"/>
          <p:nvPr/>
        </p:nvSpPr>
        <p:spPr>
          <a:xfrm rot="0" flipH="0" flipV="0">
            <a:off x="3657600" y="4381500"/>
            <a:ext cx="4038600" cy="228600"/>
          </a:xfrm>
          <a:prstGeom prst="rect"/>
        </p:spPr>
        <p:txBody>
          <a:bodyPr wrap="none" lIns="0" tIns="0" rIns="0" bIns="0"/>
          <a:p>
            <a:pPr>
              <a:lnSpc>
                <a:spcPct val="100000"/>
              </a:lnSpc>
            </a:pPr>
            <a:r>
              <a:rPr lang="en-US" sz="1500">
                <a:solidFill>
                  <a:srgbClr val="C5D4EA"/>
                </a:solidFill>
                <a:latin typeface="Microsoft YaHei"/>
                <a:ea typeface="Microsoft YaHei"/>
              </a:rPr>
              <a:t>Every message is a request the actor can name</a:t>
            </a:r>
            <a:endParaRPr/>
          </a:p>
        </p:txBody>
      </p:sp>
      <p:sp>
        <p:nvSpPr>
          <p:cNvPr id="242" name=""/>
          <p:cNvSpPr/>
          <p:nvPr/>
        </p:nvSpPr>
        <p:spPr>
          <a:xfrm rot="0" flipH="0" flipV="0">
            <a:off x="3467100" y="4800600"/>
            <a:ext cx="76200" cy="76200"/>
          </a:xfrm>
          <a:prstGeom prst="roundRect">
            <a:avLst>
              <a:gd name="adj" fmla="val 50000"/>
            </a:avLst>
          </a:prstGeom>
          <a:solidFill>
            <a:srgbClr val="3D7BD9"/>
          </a:solidFill>
          <a:ln/>
        </p:spPr>
        <p:txBody>
          <a:bodyPr/>
          <a:p/>
        </p:txBody>
      </p:sp>
      <p:sp>
        <p:nvSpPr>
          <p:cNvPr id="243" name="" descr="{&quot;isTemplate&quot;:true,&quot;type&quot;:&quot;text&quot;}"/>
          <p:cNvSpPr txBox="1"/>
          <p:nvPr/>
        </p:nvSpPr>
        <p:spPr>
          <a:xfrm rot="0" flipH="0" flipV="0">
            <a:off x="3657600" y="4724400"/>
            <a:ext cx="3714750" cy="228600"/>
          </a:xfrm>
          <a:prstGeom prst="rect"/>
        </p:spPr>
        <p:txBody>
          <a:bodyPr wrap="none" lIns="0" tIns="0" rIns="0" bIns="0"/>
          <a:p>
            <a:pPr>
              <a:lnSpc>
                <a:spcPct val="100000"/>
              </a:lnSpc>
            </a:pPr>
            <a:r>
              <a:rPr lang="en-US" sz="1500">
                <a:solidFill>
                  <a:srgbClr val="C5D4EA"/>
                </a:solidFill>
                <a:latin typeface="Microsoft YaHei"/>
                <a:ea typeface="Microsoft YaHei"/>
              </a:rPr>
              <a:t>The skeleton you draw today becomes W08</a:t>
            </a:r>
            <a:endParaRPr/>
          </a:p>
        </p:txBody>
      </p:sp>
      <p:sp>
        <p:nvSpPr>
          <p:cNvPr id="244" name=""/>
          <p:cNvSpPr/>
          <p:nvPr/>
        </p:nvSpPr>
        <p:spPr>
          <a:xfrm rot="0" flipH="0" flipV="0">
            <a:off x="0" y="0"/>
            <a:ext cx="12192000" cy="76200"/>
          </a:xfrm>
          <a:prstGeom prst="rect">
            <a:avLst/>
          </a:prstGeom>
          <a:solidFill>
            <a:srgbClr val="1E4FA8"/>
          </a:solidFill>
          <a:ln/>
        </p:spPr>
        <p:txBody>
          <a:bodyPr/>
          <a:p/>
        </p:txBody>
      </p:sp>
    </p:spTree>
  </p:cSld>
</p:sld>
</file>

<file path=ppt/slides/slide21.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45"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FROM USE CASE TO SSD&lt;/Text&gt;&#10;  &lt;/Box&gt;&#10;  &lt;Box style={{ padding: '13px 40px 0 40px', flexDirection: 'row', alignItems: 'center', justifyContent: 'space-between' }}&gt;&#10;    &lt;Text style={{ fontSize: 29, fontWeight: 'bold', color: '#0E3F8C' }}&gt;The System as a Black Box&lt;/Text&gt;&#10;    &lt;Text style={{ fontSize: 14, color: '#1E4FA8', fontWeight: 'bold' }}&gt;21 / 38&lt;/Text&gt;&#10;  &lt;/Box&gt;&#10;  &lt;Box style={{ flex: 1, padding: '6px 40px 0 40px', justifyContent: 'center', alignItems: 'center' }}&gt;&#10;    &lt;svg width={1180} height={392} viewBox='0 0 1180 392'&gt;&#10;      &lt;text x='10' y='16' fill='#8B97A8' fontSize='13'&gt;A system sequence diagram shows only two lifelines: the actor, and the whole system treated as one box.&lt;/text&gt;&#10;&#10;      &lt;g transform='translate(120,40)'&gt;&#10;        &lt;line x1='30' y1='0' x2='30' y2='300' stroke='#0E3F8C' strokeWidth='2.4' strokeDasharray='8 5' /&gt;&#10;        &lt;rect x='-66' y='-4' width='192' height='38' rx='6' fill='#F0F5FC' stroke='#0E3F8C' strokeWidth='1.8' /&gt;&#10;        &lt;circle cx='30' cy='15' r='9' fill='none' stroke='#0E3F8C' strokeWidth='1.8' /&gt;&#10;        &lt;text x='30' y='58' textAnchor='middle' fill='#0E3F8C' fontSize='13' fontWeight='bold'&gt;Student&lt;/text&gt;&#10;        &lt;text x='30' y='76' textAnchor='middle' fill='#8B97A8' fontSize='11'&gt;one lifeline&lt;/text&gt;&#10;      &lt;/g&gt;&#10;&#10;      &lt;g transform='translate(520,40)'&gt;&#10;        &lt;line x1='30' y1='0' x2='30' y2='300' stroke='#1E4FA8' strokeWidth='2.4' strokeDasharray='8 5' /&gt;&#10;        &lt;rect x='-86' y='-4' width='232' height='38' rx='6' fill='#1E4FA8' /&gt;&#10;        &lt;text x='30' y='21' textAnchor='middle' fill='#FFFFFF' fontSize='13.5' fontWeight='bold'&gt;CampusBites (system)&lt;/text&gt;&#10;        &lt;text x='30' y='58' textAnchor='middle' fill='#0E3F8C' fontSize='13' fontWeight='bold'&gt;one lifeline&lt;/text&gt;&#10;        &lt;text x='30' y='76' textAnchor='middle' fill='#8B97A8' fontSize='11'&gt;everything inside is hidden&lt;/text&gt;&#10;      &lt;/g&gt;&#10;&#10;      &lt;g strokeWidth='1.6' fill='none'&gt;&#10;        &lt;line x1='150' y1='112' x2='520' y2='112' stroke='#0E3F8C' markerEnd='url(#ah)' /&gt;&#10;        &lt;line x1='550' y1='152' x2='180' y2='152' stroke='#1E4FA8' strokeDasharray='6 4' markerEnd='url(#ah2)' /&gt;&#10;        &lt;line x1='150' y1='192' x2='520' y2='192' stroke='#0E3F8C' markerEnd='url(#ah)' /&gt;&#10;        &lt;line x1='550' y1='232' x2='180' y2='232' stroke='#1E4FA8' strokeDasharray='6 4' markerEnd='url(#ah2)' /&gt;&#10;        &lt;line x1='150' y1='272' x2='520' y2='272' stroke='#0E3F8C' markerEnd='url(#ah)' /&gt;&#10;      &lt;/g&gt;&#10;&#10;      &lt;text x='335' y='104' textAnchor='middle' fill='#0E3F8C' fontSize='12.5' fontWeight='bold'&gt;placeOrder(cart, paymentMethod)&lt;/text&gt;&#10;      &lt;text x='365' y='144' textAnchor='middle' fill='#1E4FA8' fontSize='12'&gt;return: OrderSummary&lt;/text&gt;&#10;      &lt;text x='335' y='184' textAnchor='middle' fill='#0E3F8C' fontSize='12.5' fontWeight='bold'&gt;pay(orderId, method)&lt;/text&gt;&#10;      &lt;text x='365' y='224' textAnchor='middle' fill='#1E4FA8' fontSize='12'&gt;return: PaymentResult&lt;/text&gt;&#10;      &lt;text x='335' y='264' textAnchor='middle' fill='#0E3F8C' fontSize='12.5' fontWeight='bold'&gt;cancel(orderId, reason)&lt;/text&gt;&#10;&#10;      &lt;defs&gt;&#10;        &lt;marker id='ah' markerWidth='9' markerHeight='9' refX='8' refY='4.5' orient='auto'&gt;&#10;          &lt;path d='M 0 0 L 9 4.5 L 0 9 z' fill='#0E3F8C' /&gt;&#10;        &lt;/marker&gt;&#10;        &lt;marker id='ah2' markerWidth='9' markerHeight='9' refX='8' refY='4.5' orient='auto'&gt;&#10;          &lt;path d='M 0 0 L 9 4.5 L 0 9 z' fill='#1E4FA8' /&gt;&#10;        &lt;/marker&gt;&#10;      &lt;/defs&gt;&#10;&#10;      &lt;g transform='translate(690,44)'&gt;&#10;        &lt;rect x='0' y='0' width='470' height='118' rx='8' fill='#F0F5FC' stroke='#1E4FA8' strokeWidth='2' /&gt;&#10;        &lt;text x='18' y='28' fill='#0E3F8C' fontSize='14' fontWeight='bold'&gt;Why only two lifelines&lt;/text&gt;&#10;        &lt;text x='18' y='54' fill='#4A5568' fontSize='12'&gt;An SSD answers one question: what does the actor ask the system for,&lt;/text&gt;&#10;        &lt;text x='18' y='72' fill='#4A5568' fontSize='12'&gt;and what does the system promise back?&lt;/text&gt;&#10;        &lt;text x='18' y='98' fill='#1E4FA8' fontSize='12'&gt;The payment centre is inside that box this week — not a lifeline.&lt;/text&gt;&#10;&#10;        &lt;rect x='0' y='134' width='470' height='118' rx='8' fill='#FFFFFF' stroke='#D6DCE5' strokeWidth='1.4' /&gt;&#10;        &lt;text x='18' y='162' fill='#0E3F8C' fontSize='14' fontWeight='bold'&gt;What each message carries&lt;/text&gt;&#10;        &lt;text x='18' y='188' fill='#4A5568' fontSize='12'&gt;A name the actor would recognise, the data it needs,&lt;/text&gt;&#10;        &lt;text x='18' y='206' fill='#4A5568' fontSize='12'&gt;and what comes back.&lt;/text&gt;&#10;        &lt;text x='18' y='232' fill='#1E4FA8' fontSize='12'&gt;“placeOrder” yes. “doPostInsertOrderServlet” no.&lt;/text&gt;&#10;&#10;        &lt;rect x='0' y='268' width='470' height='104' rx='8' fill='#FFF6E0' stroke='#FFC107' strokeWidth='1.6' /&gt;&#10;        &lt;text x='18' y='296' fill='#996F00' fontSize='14' fontWeight='bold'&gt;This is a skeleton&lt;/text&gt;&#10;        &lt;text x='18' y='322' fill='#4A5568' fontSize='12'&gt;Messages only. No lifeline internals, no objects, no classes.&lt;/text&gt;&#10;        &lt;text x='18' y='348' fill='#4A5568' fontSize='12'&gt;W08 turns this into a full system operation diagram.&lt;/text&gt;&#10;      &lt;/g&gt;&#10;    &lt;/svg&gt;&#10;  &lt;/Box&gt;&#10;  &lt;Box style={{ height: 34, padding: '0 40px', flexDirection: 'row', alignItems: 'center', justifyContent: 'space-between' }}&gt;&#10;    &lt;Text style={{ fontSize: 13, color: '#8B97A8' }}&gt;ISAD · Fall 2026 · Two lifelines, one box. Everything you would like to show off stays inside the box for now&lt;/Text&gt;&#10;    &lt;Text style={{ fontSize: 14, color: '#1E4FA8', fontWeight: 'bold' }}&gt;21 / 38&lt;/Text&gt;&#10;  &lt;/Box&gt;&#10;&lt;/Slide&gt;&#10;"/>
        <p:cNvGrpSpPr/>
        <p:nvPr/>
      </p:nvGrpSpPr>
      <p:grpSpPr>
        <a:xfrm>
          <a:off x="0" y="0"/>
          <a:ext cx="0" cy="0"/>
          <a:chOff x="0" y="0"/>
          <a:chExt cx="0" cy="0"/>
        </a:xfrm>
      </p:grpSpPr>
      <p:sp>
        <p:nvSpPr>
          <p:cNvPr id="246" name=""/>
          <p:cNvSpPr/>
          <p:nvPr/>
        </p:nvSpPr>
        <p:spPr>
          <a:xfrm rot="0" flipH="0" flipV="0">
            <a:off x="0" y="0"/>
            <a:ext cx="12192000" cy="6858000"/>
          </a:xfrm>
          <a:prstGeom prst="rect">
            <a:avLst/>
          </a:prstGeom>
          <a:solidFill>
            <a:srgbClr val="FFFFFF"/>
          </a:solidFill>
          <a:ln/>
        </p:spPr>
        <p:txBody>
          <a:bodyPr/>
          <a:p/>
        </p:txBody>
      </p:sp>
      <p:sp>
        <p:nvSpPr>
          <p:cNvPr id="247" name=""/>
          <p:cNvSpPr/>
          <p:nvPr/>
        </p:nvSpPr>
        <p:spPr>
          <a:xfrm rot="0" flipH="0" flipV="0">
            <a:off x="0" y="0"/>
            <a:ext cx="12192000" cy="685800"/>
          </a:xfrm>
          <a:prstGeom prst="rect">
            <a:avLst/>
          </a:prstGeom>
          <a:solidFill>
            <a:srgbClr val="1E4FA8"/>
          </a:solidFill>
          <a:ln/>
        </p:spPr>
        <p:txBody>
          <a:bodyPr/>
          <a:p/>
        </p:txBody>
      </p:sp>
      <p:sp>
        <p:nvSpPr>
          <p:cNvPr id="248"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249" name="" descr="{&quot;isTemplate&quot;:true,&quot;type&quot;:&quot;text&quot;}"/>
          <p:cNvSpPr txBox="1"/>
          <p:nvPr/>
        </p:nvSpPr>
        <p:spPr>
          <a:xfrm rot="0" flipH="0" flipV="0">
            <a:off x="9629775" y="257175"/>
            <a:ext cx="2181225" cy="171450"/>
          </a:xfrm>
          <a:prstGeom prst="rect"/>
        </p:spPr>
        <p:txBody>
          <a:bodyPr wrap="none" lIns="0" tIns="0" rIns="0" bIns="0"/>
          <a:p>
            <a:pPr>
              <a:lnSpc>
                <a:spcPct val="100000"/>
              </a:lnSpc>
            </a:pPr>
            <a:r>
              <a:rPr lang="en-US" sz="1125">
                <a:solidFill>
                  <a:srgbClr val="B9CDF0"/>
                </a:solidFill>
                <a:latin typeface="Microsoft YaHei"/>
                <a:ea typeface="Microsoft YaHei"/>
              </a:rPr>
              <a:t>W05 · FROM USE CASE TO SSD</a:t>
            </a:r>
            <a:endParaRPr/>
          </a:p>
        </p:txBody>
      </p:sp>
      <p:sp>
        <p:nvSpPr>
          <p:cNvPr id="250" name="" descr="{&quot;isTemplate&quot;:true,&quot;type&quot;:&quot;text&quot;}"/>
          <p:cNvSpPr txBox="1"/>
          <p:nvPr/>
        </p:nvSpPr>
        <p:spPr>
          <a:xfrm rot="0" flipH="0" flipV="0">
            <a:off x="381000" y="809625"/>
            <a:ext cx="3581400" cy="333375"/>
          </a:xfrm>
          <a:prstGeom prst="rect"/>
        </p:spPr>
        <p:txBody>
          <a:bodyPr wrap="none" lIns="0" tIns="0" rIns="0" bIns="0"/>
          <a:p>
            <a:pPr>
              <a:lnSpc>
                <a:spcPct val="100000"/>
              </a:lnSpc>
            </a:pPr>
            <a:r>
              <a:rPr lang="en-US" sz="2175" b="1">
                <a:solidFill>
                  <a:srgbClr val="0E3F8C"/>
                </a:solidFill>
                <a:latin typeface="Microsoft YaHei"/>
                <a:ea typeface="Microsoft YaHei"/>
              </a:rPr>
              <a:t>The System as a Black Box</a:t>
            </a:r>
            <a:endParaRPr/>
          </a:p>
        </p:txBody>
      </p:sp>
      <p:sp>
        <p:nvSpPr>
          <p:cNvPr id="251"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21 / 38</a:t>
            </a:r>
            <a:endParaRPr/>
          </a:p>
        </p:txBody>
      </p:sp>
      <p:pic>
        <p:nvPicPr>
          <p:cNvPr id="252" name=""/>
          <p:cNvPicPr>
            <a:picLocks noChangeAspect="1"/>
          </p:cNvPicPr>
          <p:nvPr/>
        </p:nvPicPr>
        <p:blipFill>
          <a:blip>
            <a:extLst>
              <a:ext uri="{96DAC541-7B7A-43D3-8B79-37D633B846F1}">
                <asvg:svgBlip r:embed="rId1"/>
              </a:ext>
            </a:extLst>
          </a:blip>
          <a:stretch>
            <a:fillRect/>
          </a:stretch>
        </p:blipFill>
        <p:spPr>
          <a:xfrm rot="0" flipH="0" flipV="0">
            <a:off x="476250" y="2000250"/>
            <a:ext cx="11239500" cy="3733800"/>
          </a:xfrm>
          <a:prstGeom prst="rect">
            <a:avLst/>
          </a:prstGeom>
          <a:ln/>
        </p:spPr>
      </p:pic>
      <p:sp>
        <p:nvSpPr>
          <p:cNvPr id="253" name="" descr="{&quot;isTemplate&quot;:true,&quot;type&quot;:&quot;text&quot;}"/>
          <p:cNvSpPr txBox="1"/>
          <p:nvPr/>
        </p:nvSpPr>
        <p:spPr>
          <a:xfrm rot="0" flipH="0" flipV="0">
            <a:off x="381000" y="6619875"/>
            <a:ext cx="5867400"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Two lifelines, one box. Everything you would like to show off stays inside the box for now</a:t>
            </a:r>
            <a:endParaRPr/>
          </a:p>
        </p:txBody>
      </p:sp>
      <p:sp>
        <p:nvSpPr>
          <p:cNvPr id="254"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21 / 38</a:t>
            </a:r>
            <a:endParaRPr/>
          </a:p>
        </p:txBody>
      </p:sp>
    </p:spTree>
  </p:cSld>
</p:sld>
</file>

<file path=ppt/slides/slide22.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255"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FROM USE CASE TO SSD&lt;/Text&gt;&#10;  &lt;/Box&gt;&#10;  &lt;Box style={{ padding: '13px 40px 0 40px', flexDirection: 'row', alignItems: 'center', justifyContent: 'space-between' }}&gt;&#10;    &lt;Text style={{ fontSize: 29, fontWeight: 'bold', color: '#0E3F8C' }}&gt;Reading an SSD Skeleton&lt;/Text&gt;&#10;    &lt;Text style={{ fontSize: 14, color: '#1E4FA8', fontWeight: 'bold' }}&gt;22 / 38&lt;/Text&gt;&#10;  &lt;/Box&gt;&#10;  &lt;Box style={{ flex: 1, padding: '10px 40px 0 40px' }}&gt;&#10;    &lt;Table&#10;      style={{ width: '100%', height: '100%' }}&#10;      defaultTextStyle={{ fontSize: 13.5, textAlign: 'left', color: '#1A2230' }}&#10;      defaultCellStyle={{&#10;        border: {&#10;          left: { width: 1, color: '#E5E7EB' },&#10;          right: { width: 1, color: '#E5E7EB' },&#10;          top: { width: 1, color: '#E5E7EB' },&#10;          bottom: { width: 1, color: '#E5E7EB' },&#10;        },&#10;      }}&#10;      cells={[&#10;        [&#10;          { text: 'Message', textStyle: { bold: true, color: '#FFFFFF', fontSize: 15 }, cellStyle: { background: { color: '#0E3F8C' } } },&#10;          { text: 'Direction', textStyle: { bold: true, color: '#FFFFFF', fontSize: 15 }, cellStyle: { background: { color: '#1E4FA8' } } },&#10;          { text: 'Which spec step it came from', textStyle: { bold: true, color: '#FFFFFF', fontSize: 15 }, cellStyle: { background: { color: '#2B5793' } } },&#10;          { text: 'Notes', textStyle: { bold: true, color: '#FFFFFF', fontSize: 15 }, cellStyle: { background: { color: '#1E4FA8' } } },&#10;        ],&#10;        [&#10;          { text: 'placeOrder(cart, method)', textStyle: { bold: true, color: '#0E3F8C' }, cellStyle: { background: { color: '#F7F9FC' } } },&#10;          { text: 'Student → System', textStyle: { color: '#4A5568' }, cellStyle: { background: { color: '#F7F9FC' } } },&#10;          { text: 'Main steps 1–5', textStyle: { color: '#4A5568' }, cellStyle: { background: { color: '#F7F9FC' } } },&#10;          { text: 'Returns OrderSummary with the new order number.', textStyle: { color: '#4A5568' }, cellStyle: { background: { color: '#F7F9FC' } } },&#10;        ],&#10;        [&#10;          { text: 'pay(orderId, method)', textStyle: { bold: true, color: '#0E3F8C' } },&#10;          { text: 'Student → System', textStyle: { color: '#4A5568' } },&#10;          { text: 'Main step 6; also «include» Authenticate Student', textStyle: { color: '#4A5568' } },&#10;          { text: 'Returns PaymentResult; declined is a return value, not a crash.', textStyle: { color: '#4A5568' } },&#10;        ],&#10;        [&#10;          { text: 'cancel(orderId, reason)', textStyle: { bold: true, color: '#0E3F8C' }, cellStyle: { background: { color: '#F7F9FC' } } },&#10;          { text: 'Student → System', textStyle: { color: '#4A5568' }, cellStyle: { background: { color: '#F7F9FC' } } },&#10;          { text: 'Not in Place Order — it is its own use case', textStyle: { color: '#4A5568' }, cellStyle: { background: { color: '#F7F9FC' } } },&#10;          { text: 'Shows up on a second SSD, not as a branch here.', textStyle: { color: '#4A5568' }, cellStyle: { background: { color: '#F7F9FC' } } },&#10;        ],&#10;        [&#10;          { text: 'return: OrderSummary', textStyle: { bold: true, color: '#0E3F8C' } },&#10;          { text: 'System → Student', textStyle: { color: '#4A5568' } },&#10;          { text: 'Main step 8', textStyle: { color: '#4A5568' } },&#10;          { text: 'Dashed line. No new operation name, only the payload.', textStyle: { color: '#4A5568' } },&#10;        ],&#10;        [&#10;          { text: 'return: PaymentDeclined', textStyle: { bold: true, color: '#D9534F' }, cellStyle: { background: { color: '#F7F9FC' } } },&#10;          { text: 'System → Student', textStyle: { color: '#4A5568' }, cellStyle: { background: { color: '#F7F9FC' } } },&#10;          { text: 'Exception 4c', textStyle: { color: '#4A5568' }, cellStyle: { background: { color: '#F7F9FC' } } },&#10;          { text: 'The exception is a returned outcome. Model it as one.', textStyle: { color: '#4A5568' }, cellStyle: { background: { color: '#F7F9FC' } } },&#10;        ],&#10;      ]}&#10;    /&gt;&#10;  &lt;/Box&gt;&#10;  &lt;Box style={{ height: 46, background: '#0E3F8C', padding: '0 40px', flexDirection: 'row', alignItems: 'center', justifyContent: 'center' }}&gt;&#10;    &lt;Text style={{ fontSize: 16.5, color: '#FFFFFF', fontWeight: '600' }}&gt;Every message on the skeleton should be traceable to a numbered step in the specification.&lt;/Text&gt;&#10;  &lt;/Box&gt;&#10;&lt;/Slide&gt;&#10;"/>
        <p:cNvGrpSpPr/>
        <p:nvPr/>
      </p:nvGrpSpPr>
      <p:grpSpPr>
        <a:xfrm>
          <a:off x="0" y="0"/>
          <a:ext cx="0" cy="0"/>
          <a:chOff x="0" y="0"/>
          <a:chExt cx="0" cy="0"/>
        </a:xfrm>
      </p:grpSpPr>
      <p:sp>
        <p:nvSpPr>
          <p:cNvPr id="256" name=""/>
          <p:cNvSpPr/>
          <p:nvPr/>
        </p:nvSpPr>
        <p:spPr>
          <a:xfrm rot="0" flipH="0" flipV="0">
            <a:off x="0" y="0"/>
            <a:ext cx="12192000" cy="6858000"/>
          </a:xfrm>
          <a:prstGeom prst="rect">
            <a:avLst/>
          </a:prstGeom>
          <a:solidFill>
            <a:srgbClr val="FFFFFF"/>
          </a:solidFill>
          <a:ln/>
        </p:spPr>
        <p:txBody>
          <a:bodyPr/>
          <a:p/>
        </p:txBody>
      </p:sp>
      <p:sp>
        <p:nvSpPr>
          <p:cNvPr id="257" name=""/>
          <p:cNvSpPr/>
          <p:nvPr/>
        </p:nvSpPr>
        <p:spPr>
          <a:xfrm rot="0" flipH="0" flipV="0">
            <a:off x="0" y="0"/>
            <a:ext cx="12192000" cy="685800"/>
          </a:xfrm>
          <a:prstGeom prst="rect">
            <a:avLst/>
          </a:prstGeom>
          <a:solidFill>
            <a:srgbClr val="1E4FA8"/>
          </a:solidFill>
          <a:ln/>
        </p:spPr>
        <p:txBody>
          <a:bodyPr/>
          <a:p/>
        </p:txBody>
      </p:sp>
      <p:sp>
        <p:nvSpPr>
          <p:cNvPr id="258"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259" name="" descr="{&quot;isTemplate&quot;:true,&quot;type&quot;:&quot;text&quot;}"/>
          <p:cNvSpPr txBox="1"/>
          <p:nvPr/>
        </p:nvSpPr>
        <p:spPr>
          <a:xfrm rot="0" flipH="0" flipV="0">
            <a:off x="9629775" y="257175"/>
            <a:ext cx="2181225" cy="171450"/>
          </a:xfrm>
          <a:prstGeom prst="rect"/>
        </p:spPr>
        <p:txBody>
          <a:bodyPr wrap="none" lIns="0" tIns="0" rIns="0" bIns="0"/>
          <a:p>
            <a:pPr>
              <a:lnSpc>
                <a:spcPct val="100000"/>
              </a:lnSpc>
            </a:pPr>
            <a:r>
              <a:rPr lang="en-US" sz="1125">
                <a:solidFill>
                  <a:srgbClr val="B9CDF0"/>
                </a:solidFill>
                <a:latin typeface="Microsoft YaHei"/>
                <a:ea typeface="Microsoft YaHei"/>
              </a:rPr>
              <a:t>W05 · FROM USE CASE TO SSD</a:t>
            </a:r>
            <a:endParaRPr/>
          </a:p>
        </p:txBody>
      </p:sp>
      <p:sp>
        <p:nvSpPr>
          <p:cNvPr id="260" name="" descr="{&quot;isTemplate&quot;:true,&quot;type&quot;:&quot;text&quot;}"/>
          <p:cNvSpPr txBox="1"/>
          <p:nvPr/>
        </p:nvSpPr>
        <p:spPr>
          <a:xfrm rot="0" flipH="0" flipV="0">
            <a:off x="381000" y="809625"/>
            <a:ext cx="3362325" cy="333375"/>
          </a:xfrm>
          <a:prstGeom prst="rect"/>
        </p:spPr>
        <p:txBody>
          <a:bodyPr wrap="none" lIns="0" tIns="0" rIns="0" bIns="0"/>
          <a:p>
            <a:pPr>
              <a:lnSpc>
                <a:spcPct val="100000"/>
              </a:lnSpc>
            </a:pPr>
            <a:r>
              <a:rPr lang="en-US" sz="2175" b="1">
                <a:solidFill>
                  <a:srgbClr val="0E3F8C"/>
                </a:solidFill>
                <a:latin typeface="Microsoft YaHei"/>
                <a:ea typeface="Microsoft YaHei"/>
              </a:rPr>
              <a:t>Reading an SSD Skeleton</a:t>
            </a:r>
            <a:endParaRPr/>
          </a:p>
        </p:txBody>
      </p:sp>
      <p:sp>
        <p:nvSpPr>
          <p:cNvPr id="261"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22 / 38</a:t>
            </a:r>
            <a:endParaRPr/>
          </a:p>
        </p:txBody>
      </p:sp>
      <p:graphicFrame>
        <p:nvGraphicFramePr>
          <p:cNvPr id="262" name=""/>
          <p:cNvGraphicFramePr/>
          <p:nvPr/>
        </p:nvGraphicFramePr>
        <p:xfrm rot="0" flipH="0" flipV="0">
          <a:off x="381000" y="1238250"/>
          <a:ext cx="11430000" cy="5181600"/>
        </p:xfrm>
        <a:graphic>
          <a:graphicData uri="http://schemas.openxmlformats.org/drawingml/2006/table">
            <a:tbl>
              <a:tblGrid>
                <a:gridCol w="1990449">
                  <a:extLst>
                    <a:ext uri="{9D8B030D-6E8A-4147-A177-3AD203B41FA5}">
                      <a16:colId val="1"/>
                    </a:ext>
                  </a:extLst>
                </a:gridCol>
                <a:gridCol w="1422080">
                  <a:extLst>
                    <a:ext uri="{9D8B030D-6E8A-4147-A177-3AD203B41FA5}">
                      <a16:colId val="2"/>
                    </a:ext>
                  </a:extLst>
                </a:gridCol>
                <a:gridCol w="3509963">
                  <a:extLst>
                    <a:ext uri="{9D8B030D-6E8A-4147-A177-3AD203B41FA5}">
                      <a16:colId val="3"/>
                    </a:ext>
                  </a:extLst>
                </a:gridCol>
                <a:gridCol w="4507508">
                  <a:extLst>
                    <a:ext uri="{9D8B030D-6E8A-4147-A177-3AD203B41FA5}">
                      <a16:colId val="4"/>
                    </a:ext>
                  </a:extLst>
                </a:gridCol>
              </a:tblGrid>
              <a:tr h="911685">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Message</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Direction</a:t>
                      </a:r>
                      <a:endParaRPr/>
                    </a:p>
                  </a:txBody>
                  <a:tcPr marL="45720" marR="45720" marT="45720" marB="45720" anchor="ctr">
                    <a:lnL>
                      <a:noFill/>
                    </a:lnL>
                    <a:lnR>
                      <a:noFill/>
                    </a:lnR>
                    <a:lnT>
                      <a:noFill/>
                    </a:lnT>
                    <a:lnB>
                      <a:noFill/>
                    </a:lnB>
                    <a:solidFill>
                      <a:srgbClr val="1E4FA8"/>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Which spec step it came from</a:t>
                      </a:r>
                      <a:endParaRPr/>
                    </a:p>
                  </a:txBody>
                  <a:tcPr marL="45720" marR="45720" marT="45720" marB="45720" anchor="ctr">
                    <a:lnL>
                      <a:noFill/>
                    </a:lnL>
                    <a:lnR>
                      <a:noFill/>
                    </a:lnR>
                    <a:lnT>
                      <a:noFill/>
                    </a:lnT>
                    <a:lnB>
                      <a:noFill/>
                    </a:lnB>
                    <a:solidFill>
                      <a:srgbClr val="2B5793"/>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Notes</a:t>
                      </a:r>
                      <a:endParaRPr/>
                    </a:p>
                  </a:txBody>
                  <a:tcPr marL="45720" marR="45720" marT="45720" marB="45720" anchor="ctr">
                    <a:lnL>
                      <a:noFill/>
                    </a:lnL>
                    <a:lnR>
                      <a:noFill/>
                    </a:lnR>
                    <a:lnT>
                      <a:noFill/>
                    </a:lnT>
                    <a:lnB>
                      <a:noFill/>
                    </a:lnB>
                    <a:solidFill>
                      <a:srgbClr val="1E4FA8"/>
                    </a:solidFill>
                  </a:tcPr>
                </a:tc>
                <a:extLst>
                  <a:ext uri="{0D108BD9-81ED-4DB2-BD59-A6C34878D82A}">
                    <a16:rowId val="1"/>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placeOrder(cart, method)</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Student → System</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Main steps 1–5</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Returns OrderSummary with the new order number.</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pay(orderId, method)</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Student → System</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Main step 6; also «include» Authenticate Student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Returns PaymentResult; declined is a return value, not a crash.</a:t>
                      </a:r>
                      <a:endParaRPr/>
                    </a:p>
                  </a:txBody>
                  <a:tcPr marL="45720" marR="45720" marT="45720" marB="45720" anchor="ctr">
                    <a:lnL>
                      <a:noFill/>
                    </a:lnL>
                    <a:lnR>
                      <a:noFill/>
                    </a:lnR>
                    <a:lnT>
                      <a:noFill/>
                    </a:lnT>
                    <a:lnB>
                      <a:noFill/>
                    </a:lnB>
                  </a:tcPr>
                </a:tc>
                <a:extLst>
                  <a:ext uri="{0D108BD9-81ED-4DB2-BD59-A6C34878D82A}">
                    <a16:rowId val="3"/>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cancel(orderId, reason)</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Student → System</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Not in Place Order — it is its own use case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Shows up on a second SSD, not as a branch here.</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return: OrderSummary</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System → Student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Main step 8</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Dashed line. No new operation name, only the payload.</a:t>
                      </a:r>
                      <a:endParaRPr/>
                    </a:p>
                  </a:txBody>
                  <a:tcPr marL="45720" marR="45720" marT="45720" marB="45720" anchor="ctr">
                    <a:lnL>
                      <a:noFill/>
                    </a:lnL>
                    <a:lnR>
                      <a:noFill/>
                    </a:lnR>
                    <a:lnT>
                      <a:noFill/>
                    </a:lnT>
                    <a:lnB>
                      <a:noFill/>
                    </a:lnB>
                  </a:tcPr>
                </a:tc>
                <a:extLst>
                  <a:ext uri="{0D108BD9-81ED-4DB2-BD59-A6C34878D82A}">
                    <a16:rowId val="5"/>
                  </a:ext>
                </a:extLst>
              </a:tr>
              <a:tr h="853983">
                <a:tc>
                  <a:txBody>
                    <a:bodyPr wrap="square" lIns="0" tIns="0" rIns="0" bIns="0" anchor="ctr">
                      <a:normAutofit/>
                    </a:bodyPr>
                    <a:p>
                      <a:pPr marL="114300" marR="114300" algn="l">
                        <a:lnSpc>
                          <a:spcPct val="120000"/>
                        </a:lnSpc>
                      </a:pPr>
                      <a:r>
                        <a:rPr sz="1013" b="1">
                          <a:solidFill>
                            <a:srgbClr val="D9534F"/>
                          </a:solidFill>
                          <a:latin typeface="Microsoft YaHei"/>
                          <a:ea typeface="Microsoft YaHei"/>
                        </a:rPr>
                        <a:t>return: PaymentDeclined</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System → Student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Exception 4c</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exception is a returned outcome. Model it as one.</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bl>
          </a:graphicData>
        </a:graphic>
      </p:graphicFrame>
      <p:sp>
        <p:nvSpPr>
          <p:cNvPr id="263" name=""/>
          <p:cNvSpPr/>
          <p:nvPr/>
        </p:nvSpPr>
        <p:spPr>
          <a:xfrm rot="0" flipH="0" flipV="0">
            <a:off x="0" y="6419850"/>
            <a:ext cx="12192000" cy="438150"/>
          </a:xfrm>
          <a:prstGeom prst="rect">
            <a:avLst/>
          </a:prstGeom>
          <a:solidFill>
            <a:srgbClr val="0E3F8C"/>
          </a:solidFill>
          <a:ln/>
        </p:spPr>
        <p:txBody>
          <a:bodyPr/>
          <a:p/>
        </p:txBody>
      </p:sp>
      <p:sp>
        <p:nvSpPr>
          <p:cNvPr id="264" name="" descr="{&quot;isTemplate&quot;:true,&quot;type&quot;:&quot;text&quot;}"/>
          <p:cNvSpPr txBox="1"/>
          <p:nvPr/>
        </p:nvSpPr>
        <p:spPr>
          <a:xfrm rot="0" flipH="0" flipV="0">
            <a:off x="2667000" y="6543675"/>
            <a:ext cx="6867525" cy="190500"/>
          </a:xfrm>
          <a:prstGeom prst="rect"/>
        </p:spPr>
        <p:txBody>
          <a:bodyPr wrap="none" lIns="0" tIns="0" rIns="0" bIns="0"/>
          <a:p>
            <a:pPr>
              <a:lnSpc>
                <a:spcPct val="100000"/>
              </a:lnSpc>
            </a:pPr>
            <a:r>
              <a:rPr lang="en-US" sz="1238" b="1">
                <a:solidFill>
                  <a:srgbClr val="FFFFFF"/>
                </a:solidFill>
                <a:latin typeface="Microsoft YaHei"/>
                <a:ea typeface="Microsoft YaHei"/>
              </a:rPr>
              <a:t>Every message on the skeleton should be traceable to a numbered step in the specification.</a:t>
            </a:r>
            <a:endParaRPr/>
          </a:p>
        </p:txBody>
      </p:sp>
    </p:spTree>
  </p:cSld>
</p:sld>
</file>

<file path=ppt/slides/slide23.xml><?xml version="1.0" encoding="utf-8"?>
<p:sld xmlns:p="http://schemas.openxmlformats.org/presentationml/2006/main" xmlns:a="http://schemas.openxmlformats.org/drawingml/2006/main">
  <p:cSld>
    <p:spTree>
      <p:nvGrpSpPr>
        <p:cNvPr id="265"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FROM USE CASE TO SSD&lt;/Text&gt;&#10;  &lt;/Box&gt;&#10;  &lt;Box style={{ padding: '13px 40px 0 40px', flexDirection: 'row', alignItems: 'center', justifyContent: 'space-between' }}&gt;&#10;    &lt;Text style={{ fontSize: 29, fontWeight: 'bold', color: '#0E3F8C' }}&gt;What an SSD Is Not&lt;/Text&gt;&#10;    &lt;Text style={{ fontSize: 14, color: '#1E4FA8', fontWeight: 'bold' }}&gt;23 / 38&lt;/Text&gt;&#10;  &lt;/Box&gt;&#10;  &lt;Box style={{ flex: 1, padding: '10px 40px 0 40px', flexDirection: 'row', gap: 26 }}&gt;&#10;    &lt;Box style={{ flex: 1, flexDirection: 'column', gap: 12 }}&gt;&#10;      {[&#10;        { k: 'It is not a class diagram', b: 'No attributes, no operations, no associations. The system is one box; you do not see inside it.' },&#10;        { k: 'It is not a design sequence diagram', b: 'It carries no internal objects yet. “OrderService” arrives in W10, not today.' },&#10;        { k: 'It is not a user interface flow', b: 'No screens, no clicks, no page transitions. Screens are one implementation of these messages.' },&#10;        { k: 'It is not one diagram per step', b: 'One SSD per use case. Five steps do not become five diagrams; they become five arrows.' },&#10;      ].map((c) =&gt; (&#10;        &lt;Box key={c.k} style={{ flex: 1, padding: '13px 18px', background: '#FDF3F3', borderRadius: 9, borderLeft: '4px solid #D9534F' }}&gt;&#10;          &lt;Text style={{ fontSize: 16, fontWeight: 'bold', color: '#D9534F' }}&gt;{c.k}&lt;/Text&gt;&#10;          &lt;Text style={{ fontSize: 13, color: '#4A5568', lineHeight: 1.6, marginTop: 5 }}&gt;{c.b}&lt;/Text&gt;&#10;        &lt;/Box&gt;&#10;      ))}&#10;    &lt;/Box&gt;&#10;    &lt;Box style={{ width: 132, justifyContent: 'center', alignItems: 'center' }}&gt;&#10;      &lt;Box style={{ width: 54, height: 54, borderRadius: 27, background: '#1E4FA8', justifyContent: 'center', alignItems: 'center' }}&gt;&#10;        &lt;Text style={{ fontSize: 26, color: '#FFFFFF', fontWeight: 'bold' }}&gt;→&lt;/Text&gt;&#10;      &lt;/Box&gt;&#10;    &lt;/Box&gt;&#10;    &lt;Box style={{ flex: 1, flexDirection: 'column', gap: 12 }}&gt;&#10;      {[&#10;        { k: 'It is the contract of one use case', b: 'The actor’s view of the system: what can be asked, what comes back.' },&#10;        { k: 'It is the test case’s skeleton', b: 'Each arrow becomes a test. Each returned value becomes an assertion.' },&#10;        { k: 'It is the input to operation contracts', b: 'The message list becomes the pre/post conditions of each system operation.' },&#10;        { k: 'It is two weeks early for W08', b: 'You are drawing the spine. W08 adds the internals that satisfy it.' },&#10;      ].map((c) =&gt; (&#10;        &lt;Box key={c.k} style={{ flex: 1, padding: '13px 18px', background: '#EAF6EC', borderRadius: 9, borderLeft: '4px solid #2B7A3D' }}&gt;&#10;          &lt;Text style={{ fontSize: 16, fontWeight: 'bold', color: '#2B7A3D' }}&gt;{c.k}&lt;/Text&gt;&#10;          &lt;Text style={{ fontSize: 13, color: '#4A5568', lineHeight: 1.6, marginTop: 5 }}&gt;{c.b}&lt;/Text&gt;&#10;        &lt;/Box&gt;&#10;      ))}&#10;    &lt;/Box&gt;&#10;  &lt;/Box&gt;&#10;  &lt;Box style={{ height: 46, background: '#0E3F8C', padding: '0 40px', flexDirection: 'row', alignItems: 'center', justifyContent: 'center' }}&gt;&#10;    &lt;Text style={{ fontSize: 16.5, color: '#FFFFFF', fontWeight: '600' }}&gt;Keep it black. The moment you name a class inside the box, it stops being an SSD and starts being W08's homework.&lt;/Text&gt;&#10;  &lt;/Box&gt;&#10;&lt;/Slide&gt;&#10;"/>
        <p:cNvGrpSpPr/>
        <p:nvPr/>
      </p:nvGrpSpPr>
      <p:grpSpPr>
        <a:xfrm>
          <a:off x="0" y="0"/>
          <a:ext cx="0" cy="0"/>
          <a:chOff x="0" y="0"/>
          <a:chExt cx="0" cy="0"/>
        </a:xfrm>
      </p:grpSpPr>
      <p:sp>
        <p:nvSpPr>
          <p:cNvPr id="266" name=""/>
          <p:cNvSpPr/>
          <p:nvPr/>
        </p:nvSpPr>
        <p:spPr>
          <a:xfrm rot="0" flipH="0" flipV="0">
            <a:off x="0" y="0"/>
            <a:ext cx="12192000" cy="6858000"/>
          </a:xfrm>
          <a:prstGeom prst="rect">
            <a:avLst/>
          </a:prstGeom>
          <a:solidFill>
            <a:srgbClr val="FFFFFF"/>
          </a:solidFill>
          <a:ln/>
        </p:spPr>
        <p:txBody>
          <a:bodyPr/>
          <a:p/>
        </p:txBody>
      </p:sp>
      <p:sp>
        <p:nvSpPr>
          <p:cNvPr id="267" name=""/>
          <p:cNvSpPr/>
          <p:nvPr/>
        </p:nvSpPr>
        <p:spPr>
          <a:xfrm rot="0" flipH="0" flipV="0">
            <a:off x="0" y="0"/>
            <a:ext cx="12192000" cy="685800"/>
          </a:xfrm>
          <a:prstGeom prst="rect">
            <a:avLst/>
          </a:prstGeom>
          <a:solidFill>
            <a:srgbClr val="1E4FA8"/>
          </a:solidFill>
          <a:ln/>
        </p:spPr>
        <p:txBody>
          <a:bodyPr/>
          <a:p/>
        </p:txBody>
      </p:sp>
      <p:sp>
        <p:nvSpPr>
          <p:cNvPr id="268"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269" name="" descr="{&quot;isTemplate&quot;:true,&quot;type&quot;:&quot;text&quot;}"/>
          <p:cNvSpPr txBox="1"/>
          <p:nvPr/>
        </p:nvSpPr>
        <p:spPr>
          <a:xfrm rot="0" flipH="0" flipV="0">
            <a:off x="9629775" y="257175"/>
            <a:ext cx="2181225" cy="171450"/>
          </a:xfrm>
          <a:prstGeom prst="rect"/>
        </p:spPr>
        <p:txBody>
          <a:bodyPr wrap="none" lIns="0" tIns="0" rIns="0" bIns="0"/>
          <a:p>
            <a:pPr>
              <a:lnSpc>
                <a:spcPct val="100000"/>
              </a:lnSpc>
            </a:pPr>
            <a:r>
              <a:rPr lang="en-US" sz="1125">
                <a:solidFill>
                  <a:srgbClr val="B9CDF0"/>
                </a:solidFill>
                <a:latin typeface="Microsoft YaHei"/>
                <a:ea typeface="Microsoft YaHei"/>
              </a:rPr>
              <a:t>W05 · FROM USE CASE TO SSD</a:t>
            </a:r>
            <a:endParaRPr/>
          </a:p>
        </p:txBody>
      </p:sp>
      <p:sp>
        <p:nvSpPr>
          <p:cNvPr id="270" name="" descr="{&quot;isTemplate&quot;:true,&quot;type&quot;:&quot;text&quot;}"/>
          <p:cNvSpPr txBox="1"/>
          <p:nvPr/>
        </p:nvSpPr>
        <p:spPr>
          <a:xfrm rot="0" flipH="0" flipV="0">
            <a:off x="381000" y="809625"/>
            <a:ext cx="2571750" cy="333375"/>
          </a:xfrm>
          <a:prstGeom prst="rect"/>
        </p:spPr>
        <p:txBody>
          <a:bodyPr wrap="none" lIns="0" tIns="0" rIns="0" bIns="0"/>
          <a:p>
            <a:pPr>
              <a:lnSpc>
                <a:spcPct val="100000"/>
              </a:lnSpc>
            </a:pPr>
            <a:r>
              <a:rPr lang="en-US" sz="2175" b="1">
                <a:solidFill>
                  <a:srgbClr val="0E3F8C"/>
                </a:solidFill>
                <a:latin typeface="Microsoft YaHei"/>
                <a:ea typeface="Microsoft YaHei"/>
              </a:rPr>
              <a:t>What an SSD Is Not</a:t>
            </a:r>
            <a:endParaRPr/>
          </a:p>
        </p:txBody>
      </p:sp>
      <p:sp>
        <p:nvSpPr>
          <p:cNvPr id="271"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23 / 38</a:t>
            </a:r>
            <a:endParaRPr/>
          </a:p>
        </p:txBody>
      </p:sp>
      <p:sp>
        <p:nvSpPr>
          <p:cNvPr id="272" name=""/>
          <p:cNvSpPr/>
          <p:nvPr/>
        </p:nvSpPr>
        <p:spPr>
          <a:xfrm rot="0" flipH="0" flipV="0">
            <a:off x="419100" y="1238250"/>
            <a:ext cx="4838700" cy="1266825"/>
          </a:xfrm>
          <a:prstGeom prst="roundRect">
            <a:avLst>
              <a:gd name="adj" fmla="val 6767"/>
            </a:avLst>
          </a:prstGeom>
          <a:solidFill>
            <a:srgbClr val="FDF3F3"/>
          </a:solidFill>
          <a:ln/>
        </p:spPr>
        <p:txBody>
          <a:bodyPr/>
          <a:p/>
        </p:txBody>
      </p:sp>
      <p:sp>
        <p:nvSpPr>
          <p:cNvPr id="273" name=""/>
          <p:cNvSpPr/>
          <p:nvPr/>
        </p:nvSpPr>
        <p:spPr>
          <a:xfrm rot="0" flipH="0" flipV="0">
            <a:off x="419100" y="1238250"/>
            <a:ext cx="4838700" cy="1266825"/>
          </a:xfrm>
          <a:custGeom>
            <a:pathLst>
              <a:path w="508" h="133">
                <a:moveTo>
                  <a:pt x="9" y="0"/>
                </a:moveTo>
                <a:cubicBezTo>
                  <a:pt x="6" y="0"/>
                  <a:pt x="4" y="2"/>
                  <a:pt x="4" y="5"/>
                </a:cubicBezTo>
                <a:lnTo>
                  <a:pt x="4" y="128"/>
                </a:lnTo>
                <a:cubicBezTo>
                  <a:pt x="4" y="130"/>
                  <a:pt x="6" y="132"/>
                  <a:pt x="8" y="133"/>
                </a:cubicBezTo>
                <a:cubicBezTo>
                  <a:pt x="4" y="133"/>
                  <a:pt x="0" y="129"/>
                  <a:pt x="0" y="124"/>
                </a:cubicBezTo>
                <a:lnTo>
                  <a:pt x="0" y="9"/>
                </a:lnTo>
                <a:cubicBezTo>
                  <a:pt x="0" y="4"/>
                  <a:pt x="4" y="0"/>
                  <a:pt x="9" y="0"/>
                </a:cubicBezTo>
                <a:close/>
              </a:path>
            </a:pathLst>
          </a:custGeom>
          <a:solidFill>
            <a:srgbClr val="D9534F"/>
          </a:solidFill>
          <a:ln/>
        </p:spPr>
        <p:txBody>
          <a:bodyPr/>
          <a:p/>
        </p:txBody>
      </p:sp>
      <p:sp>
        <p:nvSpPr>
          <p:cNvPr id="274" name="" descr="{&quot;isTemplate&quot;:true,&quot;type&quot;:&quot;text&quot;}"/>
          <p:cNvSpPr txBox="1"/>
          <p:nvPr/>
        </p:nvSpPr>
        <p:spPr>
          <a:xfrm rot="0" flipH="0" flipV="0">
            <a:off x="590550" y="1362075"/>
            <a:ext cx="4457700" cy="190500"/>
          </a:xfrm>
          <a:prstGeom prst="rect"/>
        </p:spPr>
        <p:txBody>
          <a:bodyPr wrap="none" lIns="0" tIns="0" rIns="0" bIns="0"/>
          <a:p>
            <a:pPr>
              <a:lnSpc>
                <a:spcPct val="100000"/>
              </a:lnSpc>
            </a:pPr>
            <a:r>
              <a:rPr lang="en-US" sz="1200" b="1">
                <a:solidFill>
                  <a:srgbClr val="D9534F"/>
                </a:solidFill>
                <a:latin typeface="Microsoft YaHei"/>
                <a:ea typeface="Microsoft YaHei"/>
              </a:rPr>
              <a:t>It is not a class diagram</a:t>
            </a:r>
            <a:endParaRPr/>
          </a:p>
        </p:txBody>
      </p:sp>
      <p:sp>
        <p:nvSpPr>
          <p:cNvPr id="275" name="" descr="{&quot;isTemplate&quot;:true,&quot;type&quot;:&quot;text&quot;}"/>
          <p:cNvSpPr txBox="1"/>
          <p:nvPr/>
        </p:nvSpPr>
        <p:spPr>
          <a:xfrm rot="0" flipH="0" flipV="0">
            <a:off x="590550" y="1600200"/>
            <a:ext cx="44577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No attributes, no operations, no associations. The system is one box; you do not see inside it.</a:t>
            </a:r>
            <a:endParaRPr/>
          </a:p>
        </p:txBody>
      </p:sp>
      <p:sp>
        <p:nvSpPr>
          <p:cNvPr id="276" name=""/>
          <p:cNvSpPr/>
          <p:nvPr/>
        </p:nvSpPr>
        <p:spPr>
          <a:xfrm rot="0" flipH="0" flipV="0">
            <a:off x="419100" y="2619375"/>
            <a:ext cx="4838700" cy="1038225"/>
          </a:xfrm>
          <a:prstGeom prst="roundRect">
            <a:avLst>
              <a:gd name="adj" fmla="val 8257"/>
            </a:avLst>
          </a:prstGeom>
          <a:solidFill>
            <a:srgbClr val="FDF3F3"/>
          </a:solidFill>
          <a:ln/>
        </p:spPr>
        <p:txBody>
          <a:bodyPr/>
          <a:p/>
        </p:txBody>
      </p:sp>
      <p:sp>
        <p:nvSpPr>
          <p:cNvPr id="277" name=""/>
          <p:cNvSpPr/>
          <p:nvPr/>
        </p:nvSpPr>
        <p:spPr>
          <a:xfrm rot="0" flipH="0" flipV="0">
            <a:off x="419100" y="2619375"/>
            <a:ext cx="4838700" cy="1038225"/>
          </a:xfrm>
          <a:custGeom>
            <a:pathLst>
              <a:path w="508" h="109">
                <a:moveTo>
                  <a:pt x="9" y="0"/>
                </a:moveTo>
                <a:cubicBezTo>
                  <a:pt x="6" y="0"/>
                  <a:pt x="4" y="2"/>
                  <a:pt x="4" y="5"/>
                </a:cubicBezTo>
                <a:lnTo>
                  <a:pt x="4" y="104"/>
                </a:lnTo>
                <a:cubicBezTo>
                  <a:pt x="4" y="106"/>
                  <a:pt x="6" y="108"/>
                  <a:pt x="8" y="109"/>
                </a:cubicBezTo>
                <a:cubicBezTo>
                  <a:pt x="4" y="109"/>
                  <a:pt x="0" y="105"/>
                  <a:pt x="0" y="100"/>
                </a:cubicBezTo>
                <a:lnTo>
                  <a:pt x="0" y="9"/>
                </a:lnTo>
                <a:cubicBezTo>
                  <a:pt x="0" y="4"/>
                  <a:pt x="4" y="0"/>
                  <a:pt x="9" y="0"/>
                </a:cubicBezTo>
                <a:close/>
              </a:path>
            </a:pathLst>
          </a:custGeom>
          <a:solidFill>
            <a:srgbClr val="D9534F"/>
          </a:solidFill>
          <a:ln/>
        </p:spPr>
        <p:txBody>
          <a:bodyPr/>
          <a:p/>
        </p:txBody>
      </p:sp>
      <p:sp>
        <p:nvSpPr>
          <p:cNvPr id="278" name="" descr="{&quot;isTemplate&quot;:true,&quot;type&quot;:&quot;text&quot;}"/>
          <p:cNvSpPr txBox="1"/>
          <p:nvPr/>
        </p:nvSpPr>
        <p:spPr>
          <a:xfrm rot="0" flipH="0" flipV="0">
            <a:off x="590550" y="2743200"/>
            <a:ext cx="4457700" cy="190500"/>
          </a:xfrm>
          <a:prstGeom prst="rect"/>
        </p:spPr>
        <p:txBody>
          <a:bodyPr wrap="none" lIns="0" tIns="0" rIns="0" bIns="0"/>
          <a:p>
            <a:pPr>
              <a:lnSpc>
                <a:spcPct val="100000"/>
              </a:lnSpc>
            </a:pPr>
            <a:r>
              <a:rPr lang="en-US" sz="1200" b="1">
                <a:solidFill>
                  <a:srgbClr val="D9534F"/>
                </a:solidFill>
                <a:latin typeface="Microsoft YaHei"/>
                <a:ea typeface="Microsoft YaHei"/>
              </a:rPr>
              <a:t>It is not a design sequence diagram</a:t>
            </a:r>
            <a:endParaRPr/>
          </a:p>
        </p:txBody>
      </p:sp>
      <p:sp>
        <p:nvSpPr>
          <p:cNvPr id="279" name="" descr="{&quot;isTemplate&quot;:true,&quot;type&quot;:&quot;text&quot;}"/>
          <p:cNvSpPr txBox="1"/>
          <p:nvPr/>
        </p:nvSpPr>
        <p:spPr>
          <a:xfrm rot="0" flipH="0" flipV="0">
            <a:off x="590550" y="2981325"/>
            <a:ext cx="4457700" cy="238125"/>
          </a:xfrm>
          <a:prstGeom prst="rect"/>
        </p:spPr>
        <p:txBody>
          <a:bodyPr wrap="none" lIns="0" tIns="0" rIns="0" bIns="0"/>
          <a:p>
            <a:pPr>
              <a:lnSpc>
                <a:spcPct val="160000"/>
              </a:lnSpc>
            </a:pPr>
            <a:r>
              <a:rPr lang="en-US" sz="975">
                <a:solidFill>
                  <a:srgbClr val="4A5568"/>
                </a:solidFill>
                <a:latin typeface="Microsoft YaHei"/>
                <a:ea typeface="Microsoft YaHei"/>
              </a:rPr>
              <a:t>It carries no internal objects yet. “OrderService” arrives in W10, not today.</a:t>
            </a:r>
            <a:endParaRPr/>
          </a:p>
        </p:txBody>
      </p:sp>
      <p:sp>
        <p:nvSpPr>
          <p:cNvPr id="280" name=""/>
          <p:cNvSpPr/>
          <p:nvPr/>
        </p:nvSpPr>
        <p:spPr>
          <a:xfrm rot="0" flipH="0" flipV="0">
            <a:off x="419100" y="3771900"/>
            <a:ext cx="4838700" cy="1266825"/>
          </a:xfrm>
          <a:prstGeom prst="roundRect">
            <a:avLst>
              <a:gd name="adj" fmla="val 6767"/>
            </a:avLst>
          </a:prstGeom>
          <a:solidFill>
            <a:srgbClr val="FDF3F3"/>
          </a:solidFill>
          <a:ln/>
        </p:spPr>
        <p:txBody>
          <a:bodyPr/>
          <a:p/>
        </p:txBody>
      </p:sp>
      <p:sp>
        <p:nvSpPr>
          <p:cNvPr id="281" name=""/>
          <p:cNvSpPr/>
          <p:nvPr/>
        </p:nvSpPr>
        <p:spPr>
          <a:xfrm rot="0" flipH="0" flipV="0">
            <a:off x="419100" y="3771900"/>
            <a:ext cx="4838700" cy="1266825"/>
          </a:xfrm>
          <a:custGeom>
            <a:pathLst>
              <a:path w="508" h="133">
                <a:moveTo>
                  <a:pt x="9" y="0"/>
                </a:moveTo>
                <a:cubicBezTo>
                  <a:pt x="6" y="0"/>
                  <a:pt x="4" y="2"/>
                  <a:pt x="4" y="5"/>
                </a:cubicBezTo>
                <a:lnTo>
                  <a:pt x="4" y="128"/>
                </a:lnTo>
                <a:cubicBezTo>
                  <a:pt x="4" y="130"/>
                  <a:pt x="6" y="132"/>
                  <a:pt x="8" y="133"/>
                </a:cubicBezTo>
                <a:cubicBezTo>
                  <a:pt x="4" y="133"/>
                  <a:pt x="0" y="129"/>
                  <a:pt x="0" y="124"/>
                </a:cubicBezTo>
                <a:lnTo>
                  <a:pt x="0" y="9"/>
                </a:lnTo>
                <a:cubicBezTo>
                  <a:pt x="0" y="4"/>
                  <a:pt x="4" y="0"/>
                  <a:pt x="9" y="0"/>
                </a:cubicBezTo>
                <a:close/>
              </a:path>
            </a:pathLst>
          </a:custGeom>
          <a:solidFill>
            <a:srgbClr val="D9534F"/>
          </a:solidFill>
          <a:ln/>
        </p:spPr>
        <p:txBody>
          <a:bodyPr/>
          <a:p/>
        </p:txBody>
      </p:sp>
      <p:sp>
        <p:nvSpPr>
          <p:cNvPr id="282" name="" descr="{&quot;isTemplate&quot;:true,&quot;type&quot;:&quot;text&quot;}"/>
          <p:cNvSpPr txBox="1"/>
          <p:nvPr/>
        </p:nvSpPr>
        <p:spPr>
          <a:xfrm rot="0" flipH="0" flipV="0">
            <a:off x="590550" y="3895725"/>
            <a:ext cx="4457700" cy="190500"/>
          </a:xfrm>
          <a:prstGeom prst="rect"/>
        </p:spPr>
        <p:txBody>
          <a:bodyPr wrap="none" lIns="0" tIns="0" rIns="0" bIns="0"/>
          <a:p>
            <a:pPr>
              <a:lnSpc>
                <a:spcPct val="100000"/>
              </a:lnSpc>
            </a:pPr>
            <a:r>
              <a:rPr lang="en-US" sz="1200" b="1">
                <a:solidFill>
                  <a:srgbClr val="D9534F"/>
                </a:solidFill>
                <a:latin typeface="Microsoft YaHei"/>
                <a:ea typeface="Microsoft YaHei"/>
              </a:rPr>
              <a:t>It is not a user interface flow</a:t>
            </a:r>
            <a:endParaRPr/>
          </a:p>
        </p:txBody>
      </p:sp>
      <p:sp>
        <p:nvSpPr>
          <p:cNvPr id="283" name="" descr="{&quot;isTemplate&quot;:true,&quot;type&quot;:&quot;text&quot;}"/>
          <p:cNvSpPr txBox="1"/>
          <p:nvPr/>
        </p:nvSpPr>
        <p:spPr>
          <a:xfrm rot="0" flipH="0" flipV="0">
            <a:off x="590550" y="4133850"/>
            <a:ext cx="44577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No screens, no clicks, no page transitions. Screens are one implementation of these messages.</a:t>
            </a:r>
            <a:endParaRPr/>
          </a:p>
        </p:txBody>
      </p:sp>
      <p:sp>
        <p:nvSpPr>
          <p:cNvPr id="284" name=""/>
          <p:cNvSpPr/>
          <p:nvPr/>
        </p:nvSpPr>
        <p:spPr>
          <a:xfrm rot="0" flipH="0" flipV="0">
            <a:off x="419100" y="5153025"/>
            <a:ext cx="4838700" cy="1266825"/>
          </a:xfrm>
          <a:prstGeom prst="roundRect">
            <a:avLst>
              <a:gd name="adj" fmla="val 6767"/>
            </a:avLst>
          </a:prstGeom>
          <a:solidFill>
            <a:srgbClr val="FDF3F3"/>
          </a:solidFill>
          <a:ln/>
        </p:spPr>
        <p:txBody>
          <a:bodyPr/>
          <a:p/>
        </p:txBody>
      </p:sp>
      <p:sp>
        <p:nvSpPr>
          <p:cNvPr id="285" name=""/>
          <p:cNvSpPr/>
          <p:nvPr/>
        </p:nvSpPr>
        <p:spPr>
          <a:xfrm rot="0" flipH="0" flipV="0">
            <a:off x="419100" y="5153025"/>
            <a:ext cx="4838700" cy="1266825"/>
          </a:xfrm>
          <a:custGeom>
            <a:pathLst>
              <a:path w="508" h="133">
                <a:moveTo>
                  <a:pt x="9" y="0"/>
                </a:moveTo>
                <a:cubicBezTo>
                  <a:pt x="6" y="0"/>
                  <a:pt x="4" y="2"/>
                  <a:pt x="4" y="5"/>
                </a:cubicBezTo>
                <a:lnTo>
                  <a:pt x="4" y="128"/>
                </a:lnTo>
                <a:cubicBezTo>
                  <a:pt x="4" y="130"/>
                  <a:pt x="6" y="132"/>
                  <a:pt x="8" y="133"/>
                </a:cubicBezTo>
                <a:cubicBezTo>
                  <a:pt x="4" y="133"/>
                  <a:pt x="0" y="129"/>
                  <a:pt x="0" y="124"/>
                </a:cubicBezTo>
                <a:lnTo>
                  <a:pt x="0" y="9"/>
                </a:lnTo>
                <a:cubicBezTo>
                  <a:pt x="0" y="4"/>
                  <a:pt x="4" y="0"/>
                  <a:pt x="9" y="0"/>
                </a:cubicBezTo>
                <a:close/>
              </a:path>
            </a:pathLst>
          </a:custGeom>
          <a:solidFill>
            <a:srgbClr val="D9534F"/>
          </a:solidFill>
          <a:ln/>
        </p:spPr>
        <p:txBody>
          <a:bodyPr/>
          <a:p/>
        </p:txBody>
      </p:sp>
      <p:sp>
        <p:nvSpPr>
          <p:cNvPr id="286" name="" descr="{&quot;isTemplate&quot;:true,&quot;type&quot;:&quot;text&quot;}"/>
          <p:cNvSpPr txBox="1"/>
          <p:nvPr/>
        </p:nvSpPr>
        <p:spPr>
          <a:xfrm rot="0" flipH="0" flipV="0">
            <a:off x="590550" y="5276850"/>
            <a:ext cx="4457700" cy="190500"/>
          </a:xfrm>
          <a:prstGeom prst="rect"/>
        </p:spPr>
        <p:txBody>
          <a:bodyPr wrap="none" lIns="0" tIns="0" rIns="0" bIns="0"/>
          <a:p>
            <a:pPr>
              <a:lnSpc>
                <a:spcPct val="100000"/>
              </a:lnSpc>
            </a:pPr>
            <a:r>
              <a:rPr lang="en-US" sz="1200" b="1">
                <a:solidFill>
                  <a:srgbClr val="D9534F"/>
                </a:solidFill>
                <a:latin typeface="Microsoft YaHei"/>
                <a:ea typeface="Microsoft YaHei"/>
              </a:rPr>
              <a:t>It is not one diagram per step</a:t>
            </a:r>
            <a:endParaRPr/>
          </a:p>
        </p:txBody>
      </p:sp>
      <p:sp>
        <p:nvSpPr>
          <p:cNvPr id="287" name="" descr="{&quot;isTemplate&quot;:true,&quot;type&quot;:&quot;text&quot;}"/>
          <p:cNvSpPr txBox="1"/>
          <p:nvPr/>
        </p:nvSpPr>
        <p:spPr>
          <a:xfrm rot="0" flipH="0" flipV="0">
            <a:off x="590550" y="5514975"/>
            <a:ext cx="44577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One SSD per use case. Five steps do not become five diagrams; they become five arrows.</a:t>
            </a:r>
            <a:endParaRPr/>
          </a:p>
        </p:txBody>
      </p:sp>
      <p:sp>
        <p:nvSpPr>
          <p:cNvPr id="288" name=""/>
          <p:cNvSpPr/>
          <p:nvPr/>
        </p:nvSpPr>
        <p:spPr>
          <a:xfrm rot="0" flipH="0" flipV="0">
            <a:off x="5838825" y="3571875"/>
            <a:ext cx="514350" cy="514350"/>
          </a:xfrm>
          <a:prstGeom prst="roundRect">
            <a:avLst>
              <a:gd name="adj" fmla="val 50000"/>
            </a:avLst>
          </a:prstGeom>
          <a:solidFill>
            <a:srgbClr val="1E4FA8"/>
          </a:solidFill>
          <a:ln/>
        </p:spPr>
        <p:txBody>
          <a:bodyPr/>
          <a:p/>
        </p:txBody>
      </p:sp>
      <p:sp>
        <p:nvSpPr>
          <p:cNvPr id="289" name="" descr="{&quot;isTemplate&quot;:true,&quot;type&quot;:&quot;text&quot;}"/>
          <p:cNvSpPr txBox="1"/>
          <p:nvPr/>
        </p:nvSpPr>
        <p:spPr>
          <a:xfrm rot="0" flipH="0" flipV="0">
            <a:off x="5972175" y="3676650"/>
            <a:ext cx="247650" cy="304800"/>
          </a:xfrm>
          <a:prstGeom prst="rect"/>
        </p:spPr>
        <p:txBody>
          <a:bodyPr wrap="none" lIns="0" tIns="0" rIns="0" bIns="0"/>
          <a:p>
            <a:pPr>
              <a:lnSpc>
                <a:spcPct val="100000"/>
              </a:lnSpc>
            </a:pPr>
            <a:r>
              <a:rPr sz="1950" b="1">
                <a:solidFill>
                  <a:srgbClr val="FFFFFF"/>
                </a:solidFill>
                <a:latin typeface="Microsoft YaHei"/>
                <a:ea typeface="Microsoft YaHei"/>
              </a:rPr>
              <a:t>→</a:t>
            </a:r>
            <a:endParaRPr/>
          </a:p>
        </p:txBody>
      </p:sp>
      <p:sp>
        <p:nvSpPr>
          <p:cNvPr id="290" name=""/>
          <p:cNvSpPr/>
          <p:nvPr/>
        </p:nvSpPr>
        <p:spPr>
          <a:xfrm rot="0" flipH="0" flipV="0">
            <a:off x="7010400" y="1238250"/>
            <a:ext cx="4838700" cy="1209675"/>
          </a:xfrm>
          <a:prstGeom prst="roundRect">
            <a:avLst>
              <a:gd name="adj" fmla="val 7087"/>
            </a:avLst>
          </a:prstGeom>
          <a:solidFill>
            <a:srgbClr val="EAF6EC"/>
          </a:solidFill>
          <a:ln/>
        </p:spPr>
        <p:txBody>
          <a:bodyPr/>
          <a:p/>
        </p:txBody>
      </p:sp>
      <p:sp>
        <p:nvSpPr>
          <p:cNvPr id="291" name=""/>
          <p:cNvSpPr/>
          <p:nvPr/>
        </p:nvSpPr>
        <p:spPr>
          <a:xfrm rot="0" flipH="0" flipV="0">
            <a:off x="7010400" y="1238250"/>
            <a:ext cx="4838700" cy="1209675"/>
          </a:xfrm>
          <a:custGeom>
            <a:pathLst>
              <a:path w="508" h="127">
                <a:moveTo>
                  <a:pt x="9" y="0"/>
                </a:moveTo>
                <a:cubicBezTo>
                  <a:pt x="6" y="0"/>
                  <a:pt x="4" y="2"/>
                  <a:pt x="4" y="5"/>
                </a:cubicBezTo>
                <a:lnTo>
                  <a:pt x="4" y="122"/>
                </a:lnTo>
                <a:cubicBezTo>
                  <a:pt x="4" y="124"/>
                  <a:pt x="6" y="126"/>
                  <a:pt x="8" y="127"/>
                </a:cubicBezTo>
                <a:cubicBezTo>
                  <a:pt x="4" y="127"/>
                  <a:pt x="0" y="123"/>
                  <a:pt x="0" y="118"/>
                </a:cubicBezTo>
                <a:lnTo>
                  <a:pt x="0" y="9"/>
                </a:lnTo>
                <a:cubicBezTo>
                  <a:pt x="0" y="4"/>
                  <a:pt x="4" y="0"/>
                  <a:pt x="9" y="0"/>
                </a:cubicBezTo>
                <a:close/>
              </a:path>
            </a:pathLst>
          </a:custGeom>
          <a:solidFill>
            <a:srgbClr val="2B7A3D"/>
          </a:solidFill>
          <a:ln/>
        </p:spPr>
        <p:txBody>
          <a:bodyPr/>
          <a:p/>
        </p:txBody>
      </p:sp>
      <p:sp>
        <p:nvSpPr>
          <p:cNvPr id="292" name="" descr="{&quot;isTemplate&quot;:true,&quot;type&quot;:&quot;text&quot;}"/>
          <p:cNvSpPr txBox="1"/>
          <p:nvPr/>
        </p:nvSpPr>
        <p:spPr>
          <a:xfrm rot="0" flipH="0" flipV="0">
            <a:off x="7181850" y="1362075"/>
            <a:ext cx="4457700" cy="190500"/>
          </a:xfrm>
          <a:prstGeom prst="rect"/>
        </p:spPr>
        <p:txBody>
          <a:bodyPr wrap="none" lIns="0" tIns="0" rIns="0" bIns="0"/>
          <a:p>
            <a:pPr>
              <a:lnSpc>
                <a:spcPct val="100000"/>
              </a:lnSpc>
            </a:pPr>
            <a:r>
              <a:rPr lang="en-US" sz="1200" b="1">
                <a:solidFill>
                  <a:srgbClr val="2B7A3D"/>
                </a:solidFill>
                <a:latin typeface="Microsoft YaHei"/>
                <a:ea typeface="Microsoft YaHei"/>
              </a:rPr>
              <a:t>It is the contract of one use case</a:t>
            </a:r>
            <a:endParaRPr/>
          </a:p>
        </p:txBody>
      </p:sp>
      <p:sp>
        <p:nvSpPr>
          <p:cNvPr id="293" name="" descr="{&quot;isTemplate&quot;:true,&quot;type&quot;:&quot;text&quot;}"/>
          <p:cNvSpPr txBox="1"/>
          <p:nvPr/>
        </p:nvSpPr>
        <p:spPr>
          <a:xfrm rot="0" flipH="0" flipV="0">
            <a:off x="7181850" y="1600200"/>
            <a:ext cx="4457700" cy="238125"/>
          </a:xfrm>
          <a:prstGeom prst="rect"/>
        </p:spPr>
        <p:txBody>
          <a:bodyPr wrap="none" lIns="0" tIns="0" rIns="0" bIns="0"/>
          <a:p>
            <a:pPr>
              <a:lnSpc>
                <a:spcPct val="160000"/>
              </a:lnSpc>
            </a:pPr>
            <a:r>
              <a:rPr lang="en-US" sz="975">
                <a:solidFill>
                  <a:srgbClr val="4A5568"/>
                </a:solidFill>
                <a:latin typeface="Microsoft YaHei"/>
                <a:ea typeface="Microsoft YaHei"/>
              </a:rPr>
              <a:t>The actor’s view of the system: what can be asked, what comes back.</a:t>
            </a:r>
            <a:endParaRPr/>
          </a:p>
        </p:txBody>
      </p:sp>
      <p:sp>
        <p:nvSpPr>
          <p:cNvPr id="294" name=""/>
          <p:cNvSpPr/>
          <p:nvPr/>
        </p:nvSpPr>
        <p:spPr>
          <a:xfrm rot="0" flipH="0" flipV="0">
            <a:off x="7010400" y="2562225"/>
            <a:ext cx="4838700" cy="1209675"/>
          </a:xfrm>
          <a:prstGeom prst="roundRect">
            <a:avLst>
              <a:gd name="adj" fmla="val 7087"/>
            </a:avLst>
          </a:prstGeom>
          <a:solidFill>
            <a:srgbClr val="EAF6EC"/>
          </a:solidFill>
          <a:ln/>
        </p:spPr>
        <p:txBody>
          <a:bodyPr/>
          <a:p/>
        </p:txBody>
      </p:sp>
      <p:sp>
        <p:nvSpPr>
          <p:cNvPr id="295" name=""/>
          <p:cNvSpPr/>
          <p:nvPr/>
        </p:nvSpPr>
        <p:spPr>
          <a:xfrm rot="0" flipH="0" flipV="0">
            <a:off x="7010400" y="2562225"/>
            <a:ext cx="4838700" cy="1209675"/>
          </a:xfrm>
          <a:custGeom>
            <a:pathLst>
              <a:path w="508" h="127">
                <a:moveTo>
                  <a:pt x="9" y="0"/>
                </a:moveTo>
                <a:cubicBezTo>
                  <a:pt x="6" y="0"/>
                  <a:pt x="4" y="2"/>
                  <a:pt x="4" y="5"/>
                </a:cubicBezTo>
                <a:lnTo>
                  <a:pt x="4" y="122"/>
                </a:lnTo>
                <a:cubicBezTo>
                  <a:pt x="4" y="124"/>
                  <a:pt x="6" y="126"/>
                  <a:pt x="8" y="127"/>
                </a:cubicBezTo>
                <a:cubicBezTo>
                  <a:pt x="4" y="127"/>
                  <a:pt x="0" y="123"/>
                  <a:pt x="0" y="118"/>
                </a:cubicBezTo>
                <a:lnTo>
                  <a:pt x="0" y="9"/>
                </a:lnTo>
                <a:cubicBezTo>
                  <a:pt x="0" y="4"/>
                  <a:pt x="4" y="0"/>
                  <a:pt x="9" y="0"/>
                </a:cubicBezTo>
                <a:close/>
              </a:path>
            </a:pathLst>
          </a:custGeom>
          <a:solidFill>
            <a:srgbClr val="2B7A3D"/>
          </a:solidFill>
          <a:ln/>
        </p:spPr>
        <p:txBody>
          <a:bodyPr/>
          <a:p/>
        </p:txBody>
      </p:sp>
      <p:sp>
        <p:nvSpPr>
          <p:cNvPr id="296" name="" descr="{&quot;isTemplate&quot;:true,&quot;type&quot;:&quot;text&quot;}"/>
          <p:cNvSpPr txBox="1"/>
          <p:nvPr/>
        </p:nvSpPr>
        <p:spPr>
          <a:xfrm rot="0" flipH="0" flipV="0">
            <a:off x="7181850" y="2686050"/>
            <a:ext cx="4457700" cy="190500"/>
          </a:xfrm>
          <a:prstGeom prst="rect"/>
        </p:spPr>
        <p:txBody>
          <a:bodyPr wrap="none" lIns="0" tIns="0" rIns="0" bIns="0"/>
          <a:p>
            <a:pPr>
              <a:lnSpc>
                <a:spcPct val="100000"/>
              </a:lnSpc>
            </a:pPr>
            <a:r>
              <a:rPr lang="en-US" sz="1200" b="1">
                <a:solidFill>
                  <a:srgbClr val="2B7A3D"/>
                </a:solidFill>
                <a:latin typeface="Microsoft YaHei"/>
                <a:ea typeface="Microsoft YaHei"/>
              </a:rPr>
              <a:t>It is the test case’s skeleton</a:t>
            </a:r>
            <a:endParaRPr/>
          </a:p>
        </p:txBody>
      </p:sp>
      <p:sp>
        <p:nvSpPr>
          <p:cNvPr id="297" name="" descr="{&quot;isTemplate&quot;:true,&quot;type&quot;:&quot;text&quot;}"/>
          <p:cNvSpPr txBox="1"/>
          <p:nvPr/>
        </p:nvSpPr>
        <p:spPr>
          <a:xfrm rot="0" flipH="0" flipV="0">
            <a:off x="7181850" y="2924175"/>
            <a:ext cx="4457700" cy="238125"/>
          </a:xfrm>
          <a:prstGeom prst="rect"/>
        </p:spPr>
        <p:txBody>
          <a:bodyPr wrap="none" lIns="0" tIns="0" rIns="0" bIns="0"/>
          <a:p>
            <a:pPr>
              <a:lnSpc>
                <a:spcPct val="160000"/>
              </a:lnSpc>
            </a:pPr>
            <a:r>
              <a:rPr lang="en-US" sz="975">
                <a:solidFill>
                  <a:srgbClr val="4A5568"/>
                </a:solidFill>
                <a:latin typeface="Microsoft YaHei"/>
                <a:ea typeface="Microsoft YaHei"/>
              </a:rPr>
              <a:t>Each arrow becomes a test. Each returned value becomes an assertion.</a:t>
            </a:r>
            <a:endParaRPr/>
          </a:p>
        </p:txBody>
      </p:sp>
      <p:sp>
        <p:nvSpPr>
          <p:cNvPr id="298" name=""/>
          <p:cNvSpPr/>
          <p:nvPr/>
        </p:nvSpPr>
        <p:spPr>
          <a:xfrm rot="0" flipH="0" flipV="0">
            <a:off x="7010400" y="3886200"/>
            <a:ext cx="4838700" cy="1209675"/>
          </a:xfrm>
          <a:prstGeom prst="roundRect">
            <a:avLst>
              <a:gd name="adj" fmla="val 7087"/>
            </a:avLst>
          </a:prstGeom>
          <a:solidFill>
            <a:srgbClr val="EAF6EC"/>
          </a:solidFill>
          <a:ln/>
        </p:spPr>
        <p:txBody>
          <a:bodyPr/>
          <a:p/>
        </p:txBody>
      </p:sp>
      <p:sp>
        <p:nvSpPr>
          <p:cNvPr id="299" name=""/>
          <p:cNvSpPr/>
          <p:nvPr/>
        </p:nvSpPr>
        <p:spPr>
          <a:xfrm rot="0" flipH="0" flipV="0">
            <a:off x="7010400" y="3886200"/>
            <a:ext cx="4838700" cy="1209675"/>
          </a:xfrm>
          <a:custGeom>
            <a:pathLst>
              <a:path w="508" h="127">
                <a:moveTo>
                  <a:pt x="9" y="0"/>
                </a:moveTo>
                <a:cubicBezTo>
                  <a:pt x="6" y="0"/>
                  <a:pt x="4" y="2"/>
                  <a:pt x="4" y="5"/>
                </a:cubicBezTo>
                <a:lnTo>
                  <a:pt x="4" y="122"/>
                </a:lnTo>
                <a:cubicBezTo>
                  <a:pt x="4" y="124"/>
                  <a:pt x="6" y="126"/>
                  <a:pt x="8" y="127"/>
                </a:cubicBezTo>
                <a:cubicBezTo>
                  <a:pt x="4" y="127"/>
                  <a:pt x="0" y="123"/>
                  <a:pt x="0" y="118"/>
                </a:cubicBezTo>
                <a:lnTo>
                  <a:pt x="0" y="9"/>
                </a:lnTo>
                <a:cubicBezTo>
                  <a:pt x="0" y="4"/>
                  <a:pt x="4" y="0"/>
                  <a:pt x="9" y="0"/>
                </a:cubicBezTo>
                <a:close/>
              </a:path>
            </a:pathLst>
          </a:custGeom>
          <a:solidFill>
            <a:srgbClr val="2B7A3D"/>
          </a:solidFill>
          <a:ln/>
        </p:spPr>
        <p:txBody>
          <a:bodyPr/>
          <a:p/>
        </p:txBody>
      </p:sp>
      <p:sp>
        <p:nvSpPr>
          <p:cNvPr id="300" name="" descr="{&quot;isTemplate&quot;:true,&quot;type&quot;:&quot;text&quot;}"/>
          <p:cNvSpPr txBox="1"/>
          <p:nvPr/>
        </p:nvSpPr>
        <p:spPr>
          <a:xfrm rot="0" flipH="0" flipV="0">
            <a:off x="7181850" y="4010025"/>
            <a:ext cx="4457700" cy="190500"/>
          </a:xfrm>
          <a:prstGeom prst="rect"/>
        </p:spPr>
        <p:txBody>
          <a:bodyPr wrap="none" lIns="0" tIns="0" rIns="0" bIns="0"/>
          <a:p>
            <a:pPr>
              <a:lnSpc>
                <a:spcPct val="100000"/>
              </a:lnSpc>
            </a:pPr>
            <a:r>
              <a:rPr lang="en-US" sz="1200" b="1">
                <a:solidFill>
                  <a:srgbClr val="2B7A3D"/>
                </a:solidFill>
                <a:latin typeface="Microsoft YaHei"/>
                <a:ea typeface="Microsoft YaHei"/>
              </a:rPr>
              <a:t>It is the input to operation contracts</a:t>
            </a:r>
            <a:endParaRPr/>
          </a:p>
        </p:txBody>
      </p:sp>
      <p:sp>
        <p:nvSpPr>
          <p:cNvPr id="301" name="" descr="{&quot;isTemplate&quot;:true,&quot;type&quot;:&quot;text&quot;}"/>
          <p:cNvSpPr txBox="1"/>
          <p:nvPr/>
        </p:nvSpPr>
        <p:spPr>
          <a:xfrm rot="0" flipH="0" flipV="0">
            <a:off x="7181850" y="4248150"/>
            <a:ext cx="4457700" cy="238125"/>
          </a:xfrm>
          <a:prstGeom prst="rect"/>
        </p:spPr>
        <p:txBody>
          <a:bodyPr wrap="none" lIns="0" tIns="0" rIns="0" bIns="0"/>
          <a:p>
            <a:pPr>
              <a:lnSpc>
                <a:spcPct val="160000"/>
              </a:lnSpc>
            </a:pPr>
            <a:r>
              <a:rPr lang="en-US" sz="975">
                <a:solidFill>
                  <a:srgbClr val="4A5568"/>
                </a:solidFill>
                <a:latin typeface="Microsoft YaHei"/>
                <a:ea typeface="Microsoft YaHei"/>
              </a:rPr>
              <a:t>The message list becomes the pre/post conditions of each system operation.</a:t>
            </a:r>
            <a:endParaRPr/>
          </a:p>
        </p:txBody>
      </p:sp>
      <p:sp>
        <p:nvSpPr>
          <p:cNvPr id="302" name=""/>
          <p:cNvSpPr/>
          <p:nvPr/>
        </p:nvSpPr>
        <p:spPr>
          <a:xfrm rot="0" flipH="0" flipV="0">
            <a:off x="7010400" y="5210175"/>
            <a:ext cx="4838700" cy="1209675"/>
          </a:xfrm>
          <a:prstGeom prst="roundRect">
            <a:avLst>
              <a:gd name="adj" fmla="val 7087"/>
            </a:avLst>
          </a:prstGeom>
          <a:solidFill>
            <a:srgbClr val="EAF6EC"/>
          </a:solidFill>
          <a:ln/>
        </p:spPr>
        <p:txBody>
          <a:bodyPr/>
          <a:p/>
        </p:txBody>
      </p:sp>
      <p:sp>
        <p:nvSpPr>
          <p:cNvPr id="303" name=""/>
          <p:cNvSpPr/>
          <p:nvPr/>
        </p:nvSpPr>
        <p:spPr>
          <a:xfrm rot="0" flipH="0" flipV="0">
            <a:off x="7010400" y="5210175"/>
            <a:ext cx="4838700" cy="1209675"/>
          </a:xfrm>
          <a:custGeom>
            <a:pathLst>
              <a:path w="508" h="127">
                <a:moveTo>
                  <a:pt x="9" y="0"/>
                </a:moveTo>
                <a:cubicBezTo>
                  <a:pt x="6" y="0"/>
                  <a:pt x="4" y="2"/>
                  <a:pt x="4" y="5"/>
                </a:cubicBezTo>
                <a:lnTo>
                  <a:pt x="4" y="122"/>
                </a:lnTo>
                <a:cubicBezTo>
                  <a:pt x="4" y="124"/>
                  <a:pt x="6" y="126"/>
                  <a:pt x="8" y="127"/>
                </a:cubicBezTo>
                <a:cubicBezTo>
                  <a:pt x="4" y="127"/>
                  <a:pt x="0" y="123"/>
                  <a:pt x="0" y="118"/>
                </a:cubicBezTo>
                <a:lnTo>
                  <a:pt x="0" y="9"/>
                </a:lnTo>
                <a:cubicBezTo>
                  <a:pt x="0" y="4"/>
                  <a:pt x="4" y="0"/>
                  <a:pt x="9" y="0"/>
                </a:cubicBezTo>
                <a:close/>
              </a:path>
            </a:pathLst>
          </a:custGeom>
          <a:solidFill>
            <a:srgbClr val="2B7A3D"/>
          </a:solidFill>
          <a:ln/>
        </p:spPr>
        <p:txBody>
          <a:bodyPr/>
          <a:p/>
        </p:txBody>
      </p:sp>
      <p:sp>
        <p:nvSpPr>
          <p:cNvPr id="304" name="" descr="{&quot;isTemplate&quot;:true,&quot;type&quot;:&quot;text&quot;}"/>
          <p:cNvSpPr txBox="1"/>
          <p:nvPr/>
        </p:nvSpPr>
        <p:spPr>
          <a:xfrm rot="0" flipH="0" flipV="0">
            <a:off x="7181850" y="5334000"/>
            <a:ext cx="4457700" cy="190500"/>
          </a:xfrm>
          <a:prstGeom prst="rect"/>
        </p:spPr>
        <p:txBody>
          <a:bodyPr wrap="none" lIns="0" tIns="0" rIns="0" bIns="0"/>
          <a:p>
            <a:pPr>
              <a:lnSpc>
                <a:spcPct val="100000"/>
              </a:lnSpc>
            </a:pPr>
            <a:r>
              <a:rPr lang="en-US" sz="1200" b="1">
                <a:solidFill>
                  <a:srgbClr val="2B7A3D"/>
                </a:solidFill>
                <a:latin typeface="Microsoft YaHei"/>
                <a:ea typeface="Microsoft YaHei"/>
              </a:rPr>
              <a:t>It is two weeks early for W08</a:t>
            </a:r>
            <a:endParaRPr/>
          </a:p>
        </p:txBody>
      </p:sp>
      <p:sp>
        <p:nvSpPr>
          <p:cNvPr id="305" name="" descr="{&quot;isTemplate&quot;:true,&quot;type&quot;:&quot;text&quot;}"/>
          <p:cNvSpPr txBox="1"/>
          <p:nvPr/>
        </p:nvSpPr>
        <p:spPr>
          <a:xfrm rot="0" flipH="0" flipV="0">
            <a:off x="7181850" y="5572125"/>
            <a:ext cx="4457700" cy="238125"/>
          </a:xfrm>
          <a:prstGeom prst="rect"/>
        </p:spPr>
        <p:txBody>
          <a:bodyPr wrap="none" lIns="0" tIns="0" rIns="0" bIns="0"/>
          <a:p>
            <a:pPr>
              <a:lnSpc>
                <a:spcPct val="160000"/>
              </a:lnSpc>
            </a:pPr>
            <a:r>
              <a:rPr lang="en-US" sz="975">
                <a:solidFill>
                  <a:srgbClr val="4A5568"/>
                </a:solidFill>
                <a:latin typeface="Microsoft YaHei"/>
                <a:ea typeface="Microsoft YaHei"/>
              </a:rPr>
              <a:t>You are drawing the spine. W08 adds the internals that satisfy it.</a:t>
            </a:r>
            <a:endParaRPr/>
          </a:p>
        </p:txBody>
      </p:sp>
      <p:sp>
        <p:nvSpPr>
          <p:cNvPr id="306" name=""/>
          <p:cNvSpPr/>
          <p:nvPr/>
        </p:nvSpPr>
        <p:spPr>
          <a:xfrm rot="0" flipH="0" flipV="0">
            <a:off x="0" y="6419850"/>
            <a:ext cx="12192000" cy="438150"/>
          </a:xfrm>
          <a:prstGeom prst="rect">
            <a:avLst/>
          </a:prstGeom>
          <a:solidFill>
            <a:srgbClr val="0E3F8C"/>
          </a:solidFill>
          <a:ln/>
        </p:spPr>
        <p:txBody>
          <a:bodyPr/>
          <a:p/>
        </p:txBody>
      </p:sp>
      <p:sp>
        <p:nvSpPr>
          <p:cNvPr id="307" name="" descr="{&quot;isTemplate&quot;:true,&quot;type&quot;:&quot;text&quot;}"/>
          <p:cNvSpPr txBox="1"/>
          <p:nvPr/>
        </p:nvSpPr>
        <p:spPr>
          <a:xfrm rot="0" flipH="0" flipV="0">
            <a:off x="1714500" y="6543675"/>
            <a:ext cx="8763000" cy="190500"/>
          </a:xfrm>
          <a:prstGeom prst="rect"/>
        </p:spPr>
        <p:txBody>
          <a:bodyPr wrap="none" lIns="0" tIns="0" rIns="0" bIns="0"/>
          <a:p>
            <a:pPr>
              <a:lnSpc>
                <a:spcPct val="100000"/>
              </a:lnSpc>
            </a:pPr>
            <a:r>
              <a:rPr lang="en-US" sz="1238" b="1">
                <a:solidFill>
                  <a:srgbClr val="FFFFFF"/>
                </a:solidFill>
                <a:latin typeface="Microsoft YaHei"/>
                <a:ea typeface="Microsoft YaHei"/>
              </a:rPr>
              <a:t>Keep it black. The moment you name a class inside the box, it stops being an SSD and starts being W08's homework.</a:t>
            </a:r>
            <a:endParaRPr/>
          </a:p>
        </p:txBody>
      </p:sp>
    </p:spTree>
  </p:cSld>
</p:sld>
</file>

<file path=ppt/slides/slide24.xml><?xml version="1.0" encoding="utf-8"?>
<p:sld xmlns:p="http://schemas.openxmlformats.org/presentationml/2006/main" xmlns:a="http://schemas.openxmlformats.org/drawingml/2006/main">
  <p:cSld>
    <p:spTree>
      <p:nvGrpSpPr>
        <p:cNvPr id="308" name="" descr="&lt;Slide style={{ background: '#0E3F8C', padding: 0 }}&gt;&#10;  &lt;Box style={{ flexDirection: 'row', height: '100%', position: 'relative' }}&gt;&#10;    &lt;Box style={{ position: 'absolute', top: 0, left: 0, right: 0, height: 8, background: '#1E4FA8' }} /&gt;&#10;    &lt;Box style={{ width: 300, justifyContent: 'center', alignItems: 'center', borderRight: '1px solid #2B5793' }}&gt;&#10;      &lt;Text style={{ fontSize: 220, fontWeight: 'bold', color: '#3D7BD9', fontFamily: 'Georgia, serif', lineHeight: 1 }}&gt;05&lt;/Text&gt;&#10;    &lt;/Box&gt;&#10;    &lt;Box style={{ flex: 1, padding: '70px 64px', flexDirection: 'column', justifyContent: 'center' }}&gt;&#10;      &lt;Text style={{ fontSize: 15, color: '#7FA2D6', letterSpacing: 2, marginBottom: 18 }}&gt;PART 5 · LECTURE&lt;/Text&gt;&#10;      &lt;Text style={{ fontSize: 46, fontWeight: 'bold', color: '#FFFFFF', lineHeight: 1.18 }}&gt;Reviewing a Spec&lt;/Text&gt;&#10;      &lt;Box style={{ width: 64, height: 4, background: '#FFC107', marginTop: 26, marginBottom: 26 }} /&gt;&#10;      &lt;Box style={{ flexDirection: 'column', gap: 12 }}&gt;&#10;        {[&#10;          'Twelve questions, and none of them is “is it nice”',&#10;          'Four people, one team — the instructor is the client',&#10;          'Next week you will be asked these out loud'&#10;        ].map((t) =&gt; (&#10;          &lt;Box key={t} style={{ flexDirection: 'row', alignItems: 'center', gap: 12 }}&gt;&#10;            &lt;Box style={{ width: 8, height: 8, borderRadius: 4, background: '#3D7BD9' }} /&gt;&#10;            &lt;Text style={{ fontSize: 20, color: '#C5D4EA' }}&gt;{t}&lt;/Text&gt;&#10;          &lt;/Box&gt;&#10;        ))}&#10;      &lt;/Box&gt;&#10;    &lt;/Box&gt;&#10;  &lt;/Box&gt;&#10;&lt;/Slide&gt;&#10;"/>
        <p:cNvGrpSpPr/>
        <p:nvPr/>
      </p:nvGrpSpPr>
      <p:grpSpPr>
        <a:xfrm>
          <a:off x="0" y="0"/>
          <a:ext cx="0" cy="0"/>
          <a:chOff x="0" y="0"/>
          <a:chExt cx="0" cy="0"/>
        </a:xfrm>
      </p:grpSpPr>
      <p:sp>
        <p:nvSpPr>
          <p:cNvPr id="309" name=""/>
          <p:cNvSpPr/>
          <p:nvPr/>
        </p:nvSpPr>
        <p:spPr>
          <a:xfrm rot="0" flipH="0" flipV="0">
            <a:off x="0" y="0"/>
            <a:ext cx="12192000" cy="6858000"/>
          </a:xfrm>
          <a:prstGeom prst="rect">
            <a:avLst/>
          </a:prstGeom>
          <a:solidFill>
            <a:srgbClr val="0E3F8C"/>
          </a:solidFill>
          <a:ln/>
        </p:spPr>
        <p:txBody>
          <a:bodyPr/>
          <a:p/>
        </p:txBody>
      </p:sp>
      <p:sp>
        <p:nvSpPr>
          <p:cNvPr id="310" name=""/>
          <p:cNvSpPr/>
          <p:nvPr/>
        </p:nvSpPr>
        <p:spPr>
          <a:xfrm rot="0" flipH="0" flipV="0">
            <a:off x="0" y="0"/>
            <a:ext cx="2857500" cy="6858000"/>
          </a:xfrm>
          <a:custGeom>
            <a:pathLst>
              <a:path w="300" h="720">
                <a:moveTo>
                  <a:pt x="299" y="0"/>
                </a:moveTo>
                <a:lnTo>
                  <a:pt x="300" y="0"/>
                </a:lnTo>
                <a:lnTo>
                  <a:pt x="300" y="720"/>
                </a:lnTo>
                <a:lnTo>
                  <a:pt x="299" y="720"/>
                </a:lnTo>
                <a:close/>
              </a:path>
            </a:pathLst>
          </a:custGeom>
          <a:solidFill>
            <a:srgbClr val="2B5793"/>
          </a:solidFill>
          <a:ln/>
        </p:spPr>
        <p:txBody>
          <a:bodyPr/>
          <a:p/>
        </p:txBody>
      </p:sp>
      <p:sp>
        <p:nvSpPr>
          <p:cNvPr id="311" name="" descr="{&quot;isTemplate&quot;:true,&quot;type&quot;:&quot;text&quot;}"/>
          <p:cNvSpPr txBox="1"/>
          <p:nvPr/>
        </p:nvSpPr>
        <p:spPr>
          <a:xfrm rot="0" flipH="0" flipV="0">
            <a:off x="57150" y="2171700"/>
            <a:ext cx="2733675" cy="2514600"/>
          </a:xfrm>
          <a:prstGeom prst="rect"/>
        </p:spPr>
        <p:txBody>
          <a:bodyPr wrap="none" lIns="0" tIns="0" rIns="0" bIns="0"/>
          <a:p>
            <a:pPr>
              <a:lnSpc>
                <a:spcPct val="100000"/>
              </a:lnSpc>
            </a:pPr>
            <a:r>
              <a:rPr lang="en-US" sz="16500" b="1">
                <a:solidFill>
                  <a:srgbClr val="3D7BD9"/>
                </a:solidFill>
                <a:latin typeface="Georgia"/>
                <a:ea typeface="Georgia"/>
              </a:rPr>
              <a:t>05</a:t>
            </a:r>
            <a:endParaRPr/>
          </a:p>
        </p:txBody>
      </p:sp>
      <p:sp>
        <p:nvSpPr>
          <p:cNvPr id="312" name="" descr="{&quot;isTemplate&quot;:true,&quot;type&quot;:&quot;text&quot;}"/>
          <p:cNvSpPr txBox="1"/>
          <p:nvPr/>
        </p:nvSpPr>
        <p:spPr>
          <a:xfrm rot="0" flipH="0" flipV="0">
            <a:off x="3467100" y="2219325"/>
            <a:ext cx="8115300" cy="171450"/>
          </a:xfrm>
          <a:prstGeom prst="rect"/>
        </p:spPr>
        <p:txBody>
          <a:bodyPr wrap="none" lIns="0" tIns="0" rIns="0" bIns="0"/>
          <a:p>
            <a:pPr>
              <a:lnSpc>
                <a:spcPct val="100000"/>
              </a:lnSpc>
            </a:pPr>
            <a:r>
              <a:rPr lang="en-US" sz="1125" spc="150">
                <a:solidFill>
                  <a:srgbClr val="7FA2D6"/>
                </a:solidFill>
                <a:latin typeface="Microsoft YaHei"/>
                <a:ea typeface="Microsoft YaHei"/>
              </a:rPr>
              <a:t>PART 5 · LECTURE</a:t>
            </a:r>
            <a:endParaRPr/>
          </a:p>
        </p:txBody>
      </p:sp>
      <p:sp>
        <p:nvSpPr>
          <p:cNvPr id="313" name="" descr="{&quot;isTemplate&quot;:true,&quot;type&quot;:&quot;text&quot;}"/>
          <p:cNvSpPr txBox="1"/>
          <p:nvPr/>
        </p:nvSpPr>
        <p:spPr>
          <a:xfrm rot="0" flipH="0" flipV="0">
            <a:off x="3467100" y="2562225"/>
            <a:ext cx="8115300" cy="628650"/>
          </a:xfrm>
          <a:prstGeom prst="rect"/>
        </p:spPr>
        <p:txBody>
          <a:bodyPr wrap="none" lIns="0" tIns="0" rIns="0" bIns="0"/>
          <a:p>
            <a:pPr>
              <a:lnSpc>
                <a:spcPct val="118000"/>
              </a:lnSpc>
            </a:pPr>
            <a:r>
              <a:rPr lang="en-US" sz="3450" b="1">
                <a:solidFill>
                  <a:srgbClr val="FFFFFF"/>
                </a:solidFill>
                <a:latin typeface="Microsoft YaHei"/>
                <a:ea typeface="Microsoft YaHei"/>
              </a:rPr>
              <a:t>Reviewing a Spec</a:t>
            </a:r>
            <a:endParaRPr/>
          </a:p>
        </p:txBody>
      </p:sp>
      <p:sp>
        <p:nvSpPr>
          <p:cNvPr id="314" name=""/>
          <p:cNvSpPr/>
          <p:nvPr/>
        </p:nvSpPr>
        <p:spPr>
          <a:xfrm rot="0" flipH="0" flipV="0">
            <a:off x="3467100" y="3438525"/>
            <a:ext cx="609600" cy="38100"/>
          </a:xfrm>
          <a:prstGeom prst="rect">
            <a:avLst/>
          </a:prstGeom>
          <a:solidFill>
            <a:srgbClr val="FFC107"/>
          </a:solidFill>
          <a:ln/>
        </p:spPr>
        <p:txBody>
          <a:bodyPr/>
          <a:p/>
        </p:txBody>
      </p:sp>
      <p:sp>
        <p:nvSpPr>
          <p:cNvPr id="315" name=""/>
          <p:cNvSpPr/>
          <p:nvPr/>
        </p:nvSpPr>
        <p:spPr>
          <a:xfrm rot="0" flipH="0" flipV="0">
            <a:off x="3467100" y="3800475"/>
            <a:ext cx="76200" cy="76200"/>
          </a:xfrm>
          <a:prstGeom prst="roundRect">
            <a:avLst>
              <a:gd name="adj" fmla="val 50000"/>
            </a:avLst>
          </a:prstGeom>
          <a:solidFill>
            <a:srgbClr val="3D7BD9"/>
          </a:solidFill>
          <a:ln/>
        </p:spPr>
        <p:txBody>
          <a:bodyPr/>
          <a:p/>
        </p:txBody>
      </p:sp>
      <p:sp>
        <p:nvSpPr>
          <p:cNvPr id="316" name="" descr="{&quot;isTemplate&quot;:true,&quot;type&quot;:&quot;text&quot;}"/>
          <p:cNvSpPr txBox="1"/>
          <p:nvPr/>
        </p:nvSpPr>
        <p:spPr>
          <a:xfrm rot="0" flipH="0" flipV="0">
            <a:off x="3657600" y="3724275"/>
            <a:ext cx="4114800" cy="228600"/>
          </a:xfrm>
          <a:prstGeom prst="rect"/>
        </p:spPr>
        <p:txBody>
          <a:bodyPr wrap="none" lIns="0" tIns="0" rIns="0" bIns="0"/>
          <a:p>
            <a:pPr>
              <a:lnSpc>
                <a:spcPct val="100000"/>
              </a:lnSpc>
            </a:pPr>
            <a:r>
              <a:rPr lang="en-US" sz="1500">
                <a:solidFill>
                  <a:srgbClr val="C5D4EA"/>
                </a:solidFill>
                <a:latin typeface="Microsoft YaHei"/>
                <a:ea typeface="Microsoft YaHei"/>
              </a:rPr>
              <a:t>Twelve questions, and none of them is “is it nice”</a:t>
            </a:r>
            <a:endParaRPr/>
          </a:p>
        </p:txBody>
      </p:sp>
      <p:sp>
        <p:nvSpPr>
          <p:cNvPr id="317" name=""/>
          <p:cNvSpPr/>
          <p:nvPr/>
        </p:nvSpPr>
        <p:spPr>
          <a:xfrm rot="0" flipH="0" flipV="0">
            <a:off x="3467100" y="4143375"/>
            <a:ext cx="76200" cy="76200"/>
          </a:xfrm>
          <a:prstGeom prst="roundRect">
            <a:avLst>
              <a:gd name="adj" fmla="val 50000"/>
            </a:avLst>
          </a:prstGeom>
          <a:solidFill>
            <a:srgbClr val="3D7BD9"/>
          </a:solidFill>
          <a:ln/>
        </p:spPr>
        <p:txBody>
          <a:bodyPr/>
          <a:p/>
        </p:txBody>
      </p:sp>
      <p:sp>
        <p:nvSpPr>
          <p:cNvPr id="318" name="" descr="{&quot;isTemplate&quot;:true,&quot;type&quot;:&quot;text&quot;}"/>
          <p:cNvSpPr txBox="1"/>
          <p:nvPr/>
        </p:nvSpPr>
        <p:spPr>
          <a:xfrm rot="0" flipH="0" flipV="0">
            <a:off x="3657600" y="4067175"/>
            <a:ext cx="4324350" cy="228600"/>
          </a:xfrm>
          <a:prstGeom prst="rect"/>
        </p:spPr>
        <p:txBody>
          <a:bodyPr wrap="none" lIns="0" tIns="0" rIns="0" bIns="0"/>
          <a:p>
            <a:pPr>
              <a:lnSpc>
                <a:spcPct val="100000"/>
              </a:lnSpc>
            </a:pPr>
            <a:r>
              <a:rPr lang="en-US" sz="1500">
                <a:solidFill>
                  <a:srgbClr val="C5D4EA"/>
                </a:solidFill>
                <a:latin typeface="Microsoft YaHei"/>
                <a:ea typeface="Microsoft YaHei"/>
              </a:rPr>
              <a:t>Four people, one team — the instructor is the client</a:t>
            </a:r>
            <a:endParaRPr/>
          </a:p>
        </p:txBody>
      </p:sp>
      <p:sp>
        <p:nvSpPr>
          <p:cNvPr id="319" name=""/>
          <p:cNvSpPr/>
          <p:nvPr/>
        </p:nvSpPr>
        <p:spPr>
          <a:xfrm rot="0" flipH="0" flipV="0">
            <a:off x="3467100" y="4486275"/>
            <a:ext cx="76200" cy="76200"/>
          </a:xfrm>
          <a:prstGeom prst="roundRect">
            <a:avLst>
              <a:gd name="adj" fmla="val 50000"/>
            </a:avLst>
          </a:prstGeom>
          <a:solidFill>
            <a:srgbClr val="3D7BD9"/>
          </a:solidFill>
          <a:ln/>
        </p:spPr>
        <p:txBody>
          <a:bodyPr/>
          <a:p/>
        </p:txBody>
      </p:sp>
      <p:sp>
        <p:nvSpPr>
          <p:cNvPr id="320" name="" descr="{&quot;isTemplate&quot;:true,&quot;type&quot;:&quot;text&quot;}"/>
          <p:cNvSpPr txBox="1"/>
          <p:nvPr/>
        </p:nvSpPr>
        <p:spPr>
          <a:xfrm rot="0" flipH="0" flipV="0">
            <a:off x="3657600" y="4410075"/>
            <a:ext cx="3648075" cy="228600"/>
          </a:xfrm>
          <a:prstGeom prst="rect"/>
        </p:spPr>
        <p:txBody>
          <a:bodyPr wrap="none" lIns="0" tIns="0" rIns="0" bIns="0"/>
          <a:p>
            <a:pPr>
              <a:lnSpc>
                <a:spcPct val="100000"/>
              </a:lnSpc>
            </a:pPr>
            <a:r>
              <a:rPr lang="en-US" sz="1500">
                <a:solidFill>
                  <a:srgbClr val="C5D4EA"/>
                </a:solidFill>
                <a:latin typeface="Microsoft YaHei"/>
                <a:ea typeface="Microsoft YaHei"/>
              </a:rPr>
              <a:t>Next week you will be asked these out loud</a:t>
            </a:r>
            <a:endParaRPr/>
          </a:p>
        </p:txBody>
      </p:sp>
      <p:sp>
        <p:nvSpPr>
          <p:cNvPr id="321" name=""/>
          <p:cNvSpPr/>
          <p:nvPr/>
        </p:nvSpPr>
        <p:spPr>
          <a:xfrm rot="0" flipH="0" flipV="0">
            <a:off x="0" y="0"/>
            <a:ext cx="12192000" cy="76200"/>
          </a:xfrm>
          <a:prstGeom prst="rect">
            <a:avLst/>
          </a:prstGeom>
          <a:solidFill>
            <a:srgbClr val="1E4FA8"/>
          </a:solidFill>
          <a:ln/>
        </p:spPr>
        <p:txBody>
          <a:bodyPr/>
          <a:p/>
        </p:txBody>
      </p:sp>
    </p:spTree>
  </p:cSld>
</p:sld>
</file>

<file path=ppt/slides/slide25.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322"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REVIEWING A SPEC&lt;/Text&gt;&#10;  &lt;/Box&gt;&#10;  &lt;Box style={{ padding: '13px 40px 0 40px', flexDirection: 'row', alignItems: 'center', justifyContent: 'space-between' }}&gt;&#10;    &lt;Text style={{ fontSize: 29, fontWeight: 'bold', color: '#0E3F8C' }}&gt;The Quality Checklist&lt;/Text&gt;&#10;    &lt;Text style={{ fontSize: 14, color: '#1E4FA8', fontWeight: 'bold' }}&gt;25 / 38&lt;/Text&gt;&#10;  &lt;/Box&gt;&#10;  &lt;Box style={{ flex: 1, padding: '6px 40px 0 40px', justifyContent: 'center', alignItems: 'center' }}&gt;&#10;    &lt;svg width={1180} height={392} viewBox='0 0 1180 392'&gt;&#10;      &lt;text x='10' y='16' fill='#8B97A8' fontSize='13'&gt;Twelve questions in three groups. A reviewer who asks only these will still find the real defects.&lt;/text&gt;&#10;&#10;      &lt;g transform='translate(0,32)'&gt;&#10;        &lt;rect x='0' y='0' width='380' height='344' rx='8' fill='#F0F5FC' stroke='#1E4FA8' strokeWidth='2' /&gt;&#10;        &lt;text x='20' y='30' fill='#0E3F8C' fontSize='15' fontWeight='bold'&gt;A · Structure&lt;/text&gt;&#10;        &lt;text x='20' y='52' fill='#8B97A8' fontSize='11.5'&gt;Can I navigate it in thirty seconds?&lt;/text&gt;&#10;        {[&#10;          '1Is the name a verb + object?',&#10;          '2Is there exactly one primary actor?',&#10;          '3Are scope and level stated?',&#10;          '4Are all nine fields present, in order?',&#10;        ].map((t, i) =&gt; (&#10;          &lt;g transform={`translate(20,${72 + i * 34})`}&gt;&#10;            &lt;rect x='0' y='0' width='22' height='22' rx='4' fill='#FFFFFF' stroke='#1E4FA8' strokeWidth='1.6' /&gt;&#10;            &lt;text x='34' y='16' fill='#4A5568' fontSize='12.5'&gt;{t.slice(1)}&lt;/text&gt;&#10;          &lt;/g&gt;&#10;        ))}&#10;        &lt;g transform='translate(20,216)'&gt;&#10;          &lt;line x1='0' y1='0' x2='340' y2='0' stroke='#D6DCE5' strokeWidth='1' /&gt;&#10;          &lt;text x='0' y='26' fill='#8B97A8' fontSize='11.5'&gt;Missing one field is a formatting note.&lt;/text&gt;&#10;          &lt;text x='0' y='44' fill='#8B97A8' fontSize='11.5'&gt;Missing the scope is a design note.&lt;/text&gt;&#10;          &lt;text x='0' y='72' fill='#0E3F8C' fontSize='12' fontWeight='bold'&gt;The reviewer must be able to say what&lt;/text&gt;&#10;          &lt;text x='0' y='90' fill='#0E3F8C' fontSize='12' fontWeight='bold'&gt;this use case is before reading it.&lt;/text&gt;&#10;        &lt;/g&gt;&#10;      &lt;/g&gt;&#10;&#10;      &lt;g transform='translate(400,32)'&gt;&#10;        &lt;rect x='0' y='0' width='380' height='344' rx='8' fill='#EAF6EC' stroke='#2B7A3D' strokeWidth='2' /&gt;&#10;        &lt;text x='20' y='30' fill='#2B7A3D' fontSize='15' fontWeight='bold'&gt;B · Content&lt;/text&gt;&#10;        &lt;text x='20' y='52' fill='#8B97A8' fontSize='11.5'&gt;Would a tester know what to run?&lt;/text&gt;&#10;        {[&#10;          'Is the main scenario 5–9 steps, no if?',&#10;          'Is every step an observable response?',&#10;          'Is there at least one extension?',&#10;          'Does every branch say where it goes?',&#10;        ].map((t, i) =&gt; (&#10;          &lt;g transform={`translate(20,${72 + i * 34})`}&gt;&#10;            &lt;rect x='0' y='0' width='22' height='22' rx='4' fill='#FFFFFF' stroke='#2B7A3D' strokeWidth='1.6' /&gt;&#10;            &lt;text x='34' y='16' fill='#4A5568' fontSize='12.5'&gt;{t}&lt;/text&gt;&#10;          &lt;/g&gt;&#10;        ))}&#10;        &lt;g transform='translate(20,216)'&gt;&#10;          &lt;line x1='0' y1='0' x2='340' y2='0' stroke='#C9E0CD' strokeWidth='1' /&gt;&#10;          &lt;text x='0' y='26' fill='#8B97A8' fontSize='11.5'&gt;This group is where M1 is won or lost.&lt;/text&gt;&#10;          &lt;text x='0' y='54' fill='#2B7A3D' fontSize='12' fontWeight='bold'&gt;One sentence per step. No buttons,&lt;/text&gt;&#10;          &lt;text x='0' y='72' fill='#2B7A3D' fontSize='12' fontWeight='bold'&gt; no dropdowns, no alert dialogs.&lt;/text&gt;&#10;        &lt;/g&gt;&#10;      &lt;/g&gt;&#10;&#10;      &lt;g transform='translate(800,32)'&gt;&#10;        &lt;rect x='0' y='0' width='380' height='344' rx='8' fill='#FFF6E0' stroke='#FFC107' strokeWidth='2' /&gt;&#10;        &lt;text x='20' y='30' fill='#996F00' fontSize='15' fontWeight='bold'&gt;C · Consequences&lt;/text&gt;&#10;        &lt;text x='20' y='52' fill='#8B97A8' fontSize='11.5'&gt;Does anyone know the end state?&lt;/text&gt;&#10;        {[&#10;          'Do preconditions set up the test?',&#10;          'Is there a postcondition per exit?',&#10;          'Is the exception end state written?',&#10;          'Can I trace a step to a test?',&#10;        ].map((t, i) =&gt; (&#10;          &lt;g transform={`translate(20,${72 + i * 34})`}&gt;&#10;            &lt;rect x='0' y='0' width='22' height='22' rx='4' fill='#FFFFFF' stroke='#FFC107' strokeWidth='1.6' /&gt;&#10;            &lt;text x='34' y='16' fill='#4A5568' fontSize='12.5'&gt;{t}&lt;/text&gt;&#10;          &lt;/g&gt;&#10;        ))}&#10;        &lt;g transform='translate(20,216)'&gt;&#10;          &lt;line x1='0' y1='0' x2='340' y2='0' stroke='#E8D9A8' strokeWidth='1' /&gt;&#10;          &lt;text x='0' y='26' fill='#8B97A8' fontSize='11.5'&gt;Most teams skip group C entirely.&lt;/text&gt;&#10;          &lt;text x='0' y='54' fill='#996F00' fontSize='12' fontWeight='bold'&gt;It is also the only group that&lt;/text&gt;&#10;          &lt;text x='0' y='72' fill='#996F00' fontSize='12' fontWeight='bold'&gt;survives contact with the code.&lt;/text&gt;&#10;        &lt;/g&gt;&#10;      &lt;/g&gt;&#10;    &lt;/svg&gt;&#10;  &lt;/Box&gt;&#10;  &lt;Box style={{ height: 34, padding: '0 40px', flexDirection: 'row', alignItems: 'center', justifyContent: 'space-between' }}&gt;&#10;    &lt;Text style={{ fontSize: 13, color: '#8B97A8' }}&gt;ISAD · Fall 2026 · Twelve questions. If a spec passes all of them, the client has nothing left to ask but price&lt;/Text&gt;&#10;    &lt;Text style={{ fontSize: 14, color: '#1E4FA8', fontWeight: 'bold' }}&gt;25 / 38&lt;/Text&gt;&#10;  &lt;/Box&gt;&#10;&lt;/Slide&gt;&#10;"/>
        <p:cNvGrpSpPr/>
        <p:nvPr/>
      </p:nvGrpSpPr>
      <p:grpSpPr>
        <a:xfrm>
          <a:off x="0" y="0"/>
          <a:ext cx="0" cy="0"/>
          <a:chOff x="0" y="0"/>
          <a:chExt cx="0" cy="0"/>
        </a:xfrm>
      </p:grpSpPr>
      <p:sp>
        <p:nvSpPr>
          <p:cNvPr id="323" name=""/>
          <p:cNvSpPr/>
          <p:nvPr/>
        </p:nvSpPr>
        <p:spPr>
          <a:xfrm rot="0" flipH="0" flipV="0">
            <a:off x="0" y="0"/>
            <a:ext cx="12192000" cy="6858000"/>
          </a:xfrm>
          <a:prstGeom prst="rect">
            <a:avLst/>
          </a:prstGeom>
          <a:solidFill>
            <a:srgbClr val="FFFFFF"/>
          </a:solidFill>
          <a:ln/>
        </p:spPr>
        <p:txBody>
          <a:bodyPr/>
          <a:p/>
        </p:txBody>
      </p:sp>
      <p:sp>
        <p:nvSpPr>
          <p:cNvPr id="324" name=""/>
          <p:cNvSpPr/>
          <p:nvPr/>
        </p:nvSpPr>
        <p:spPr>
          <a:xfrm rot="0" flipH="0" flipV="0">
            <a:off x="0" y="0"/>
            <a:ext cx="12192000" cy="685800"/>
          </a:xfrm>
          <a:prstGeom prst="rect">
            <a:avLst/>
          </a:prstGeom>
          <a:solidFill>
            <a:srgbClr val="1E4FA8"/>
          </a:solidFill>
          <a:ln/>
        </p:spPr>
        <p:txBody>
          <a:bodyPr/>
          <a:p/>
        </p:txBody>
      </p:sp>
      <p:sp>
        <p:nvSpPr>
          <p:cNvPr id="325"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326" name="" descr="{&quot;isTemplate&quot;:true,&quot;type&quot;:&quot;text&quot;}"/>
          <p:cNvSpPr txBox="1"/>
          <p:nvPr/>
        </p:nvSpPr>
        <p:spPr>
          <a:xfrm rot="0" flipH="0" flipV="0">
            <a:off x="10001250" y="257175"/>
            <a:ext cx="1809750" cy="171450"/>
          </a:xfrm>
          <a:prstGeom prst="rect"/>
        </p:spPr>
        <p:txBody>
          <a:bodyPr wrap="none" lIns="0" tIns="0" rIns="0" bIns="0"/>
          <a:p>
            <a:pPr>
              <a:lnSpc>
                <a:spcPct val="100000"/>
              </a:lnSpc>
            </a:pPr>
            <a:r>
              <a:rPr lang="en-US" sz="1125">
                <a:solidFill>
                  <a:srgbClr val="B9CDF0"/>
                </a:solidFill>
                <a:latin typeface="Microsoft YaHei"/>
                <a:ea typeface="Microsoft YaHei"/>
              </a:rPr>
              <a:t>W05 · REVIEWING A SPEC</a:t>
            </a:r>
            <a:endParaRPr/>
          </a:p>
        </p:txBody>
      </p:sp>
      <p:sp>
        <p:nvSpPr>
          <p:cNvPr id="327" name="" descr="{&quot;isTemplate&quot;:true,&quot;type&quot;:&quot;text&quot;}"/>
          <p:cNvSpPr txBox="1"/>
          <p:nvPr/>
        </p:nvSpPr>
        <p:spPr>
          <a:xfrm rot="0" flipH="0" flipV="0">
            <a:off x="381000" y="809625"/>
            <a:ext cx="2809875" cy="333375"/>
          </a:xfrm>
          <a:prstGeom prst="rect"/>
        </p:spPr>
        <p:txBody>
          <a:bodyPr wrap="none" lIns="0" tIns="0" rIns="0" bIns="0"/>
          <a:p>
            <a:pPr>
              <a:lnSpc>
                <a:spcPct val="100000"/>
              </a:lnSpc>
            </a:pPr>
            <a:r>
              <a:rPr lang="en-US" sz="2175" b="1">
                <a:solidFill>
                  <a:srgbClr val="0E3F8C"/>
                </a:solidFill>
                <a:latin typeface="Microsoft YaHei"/>
                <a:ea typeface="Microsoft YaHei"/>
              </a:rPr>
              <a:t>The Quality Checklist</a:t>
            </a:r>
            <a:endParaRPr/>
          </a:p>
        </p:txBody>
      </p:sp>
      <p:sp>
        <p:nvSpPr>
          <p:cNvPr id="328"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25 / 38</a:t>
            </a:r>
            <a:endParaRPr/>
          </a:p>
        </p:txBody>
      </p:sp>
      <p:pic>
        <p:nvPicPr>
          <p:cNvPr id="329" name=""/>
          <p:cNvPicPr>
            <a:picLocks noChangeAspect="1"/>
          </p:cNvPicPr>
          <p:nvPr/>
        </p:nvPicPr>
        <p:blipFill>
          <a:blip>
            <a:extLst>
              <a:ext uri="{96DAC541-7B7A-43D3-8B79-37D633B846F1}">
                <asvg:svgBlip r:embed="rId1"/>
              </a:ext>
            </a:extLst>
          </a:blip>
          <a:stretch>
            <a:fillRect/>
          </a:stretch>
        </p:blipFill>
        <p:spPr>
          <a:xfrm rot="0" flipH="0" flipV="0">
            <a:off x="476250" y="2000250"/>
            <a:ext cx="11239500" cy="3733800"/>
          </a:xfrm>
          <a:prstGeom prst="rect">
            <a:avLst/>
          </a:prstGeom>
          <a:ln/>
        </p:spPr>
      </p:pic>
      <p:sp>
        <p:nvSpPr>
          <p:cNvPr id="330" name="" descr="{&quot;isTemplate&quot;:true,&quot;type&quot;:&quot;text&quot;}"/>
          <p:cNvSpPr txBox="1"/>
          <p:nvPr/>
        </p:nvSpPr>
        <p:spPr>
          <a:xfrm rot="0" flipH="0" flipV="0">
            <a:off x="381000" y="6619875"/>
            <a:ext cx="5857875"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Twelve questions. If a spec passes all of them, the client has nothing left to ask but price</a:t>
            </a:r>
            <a:endParaRPr/>
          </a:p>
        </p:txBody>
      </p:sp>
      <p:sp>
        <p:nvSpPr>
          <p:cNvPr id="331"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25 / 38</a:t>
            </a:r>
            <a:endParaRPr/>
          </a:p>
        </p:txBody>
      </p:sp>
    </p:spTree>
  </p:cSld>
</p:sld>
</file>

<file path=ppt/slides/slide26.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332"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REVIEWING A SPEC&lt;/Text&gt;&#10;  &lt;/Box&gt;&#10;  &lt;Box style={{ padding: '13px 40px 0 40px', flexDirection: 'row', alignItems: 'center', justifyContent: 'space-between' }}&gt;&#10;    &lt;Text style={{ fontSize: 29, fontWeight: 'bold', color: '#0E3F8C' }}&gt;Peer Review in Pairs&lt;/Text&gt;&#10;    &lt;Text style={{ fontSize: 14, color: '#1E4FA8', fontWeight: 'bold' }}&gt;26 / 38&lt;/Text&gt;&#10;  &lt;/Box&gt;&#10;  &lt;Box style={{ flex: 1, padding: '10px 40px 0 40px', flexDirection: 'row', gap: 26 }}&gt;&#10;    &lt;Box style={{ width: 500, justifyContent: 'center' }}&gt;&#10;      &lt;svg width={500} height={330} viewBox='0 0 500 330'&gt;&#10;        &lt;text x='4' y='14' fill='#8B97A8' fontSize='12'&gt;One team of four. Two reviewers, then one round of criticism by all four.&lt;/text&gt;&#10;        &lt;g transform='translate(10,30)'&gt;&#10;          &lt;rect x='0' y='0' width='150' height='46' rx='7' fill='#F0F5FC' stroke='#1E4FA8' strokeWidth='1.8' /&gt;&#10;          &lt;text x='75' y='20' textAnchor='middle' fill='#0E3F8C' fontSize='12.5' fontWeight='bold'&gt;Reviewer A&lt;/text&gt;&#10;          &lt;text x='75' y='37' textAnchor='middle' fill='#8B97A8' fontSize='11'&gt;reads B’s and D’s spec&lt;/text&gt;&#10;&#10;          &lt;rect x='330' y='0' width='150' height='46' rx='7' fill='#F0F5FC' stroke='#1E4FA8' strokeWidth='1.8' /&gt;&#10;          &lt;text x='405' y='20' textAnchor='middle' fill='#0E3F8C' fontSize='12.5' fontWeight='bold'&gt;Reviewer B&lt;/text&gt;&#10;          &lt;text x='405' y='37' textAnchor='middle' fill='#8B97A8' fontSize='11'&gt;reads A’s and C’s spec&lt;/text&gt;&#10;&#10;          &lt;line x1='150' y1='23' x2='330' y2='23' stroke='#1E4FA8' strokeWidth='1.4' strokeDasharray='5 4' /&gt;&#10;          &lt;text x='240' y='15' textAnchor='middle' fill='#1E4FA8' fontSize='11'&gt;swap&lt;/text&gt;&#10;&#10;          &lt;rect x='0' y='84' width='480' height='52' rx='7' fill='#FFFFFF' stroke='#D6DCE5' strokeWidth='1.4' /&gt;&#10;          &lt;text x='16' y='106' fill='#0E3F8C' fontSize='12.5' fontWeight='bold'&gt;Step 1 — read alone, 5 minutes, in silence&lt;/text&gt;&#10;          &lt;text x='16' y='126' fill='#4A5568' fontSize='11.5'&gt;Mark the checklist on the author’s copy. Do not discuss yet.&lt;/text&gt;&#10;&#10;          &lt;rect x='0' y='148' width='480' height='52' rx='7' fill='#FFFFFF' stroke='#D6DCE5' strokeWidth='1.4' /&gt;&#10;          &lt;text x='16' y='170' fill='#0E3F8C' fontSize='12.5' fontWeight='bold'&gt;Step 2 — 10 minutes, author defends&lt;/text&gt;&#10;          &lt;text x='16' y='190' fill='#4A5568' fontSize='11.5'&gt;The author answers. The reviewer records, not argues.&lt;/text&gt;&#10;&#10;          &lt;rect x='0' y='212' width='480' height='52' rx='7' fill='#FFF6E0' stroke='#FFC107' strokeWidth='1.6' /&gt;&#10;          &lt;text x='16' y='234' fill='#996F00' fontSize='12.5' fontWeight='bold'&gt;Step 3 — whole team, 10 minutes&lt;/text&gt;&#10;          &lt;text x='16' y='254' fill='#4A5568' fontSize='11.5'&gt;Keep the rows you disagreed on. Those become questions for the client.&lt;/text&gt;&#10;        &lt;/g&gt;&#10;      &lt;/svg&gt;&#10;    &lt;/Box&gt;&#10;    &lt;Box style={{ flex: 1, flexDirection: 'column', justifyContent: 'center', gap: 13 }}&gt;&#10;      &lt;Box style={{ padding: '15px 17px', background: '#F0F5FC', borderRadius: 9, borderLeft: '4px solid #1E4FA8' }}&gt;&#10;        &lt;Text style={{ fontSize: 16, fontWeight: 'bold', color: '#0E3F8C' }}&gt;There is no other team&lt;/Text&gt;&#10;        &lt;Text style={{ fontSize: 13, color: '#4A5568', lineHeight: 1.6, marginTop: 5 }}&gt;&#10;          This class is four people: one group. So peer review happens inside the group, and from W05 the client is the instructor.&#10;        &lt;/Text&gt;&#10;      &lt;/Box&gt;&#10;      &lt;Box style={{ padding: '15px 17px', background: '#FFFFFF', borderRadius: 9, border: '1px solid #D6DCE5' }}&gt;&#10;        &lt;Text style={{ fontSize: 16, fontWeight: 'bold', color: '#0E3F8C' }}&gt;Record, do not argue&lt;/Text&gt;&#10;        &lt;Text style={{ fontSize: 13, color: '#4A5568', lineHeight: 1.6, marginTop: 5 }}&gt;&#10;          A reviewer who wins the argument has destroyed the review. Write the finding down and hand it to the author.&#10;        &lt;/Text&gt;&#10;      &lt;/Box&gt;&#10;      &lt;Box style={{ padding: '15px 17px', background: '#FFF6E0', borderRadius: 9, borderLeft: '4px solid #FFC107' }}&gt;&#10;        &lt;Text style={{ fontSize: 16, fontWeight: 'bold', color: '#996F00' }}&gt;Keep the disagreements&lt;/Text&gt;&#10;        &lt;Text style={{ fontSize: 13, color: '#4A5568', lineHeight: 1.6, marginTop: 5 }}&gt;&#10;          Two readers seeing different use cases is information about the spec, not about the readers. Do not smooth it away.&#10;        &lt;/Text&gt;&#10;      &lt;/Box&gt;&#10;      &lt;Box style={{ padding: '12px 16px', background: '#F7F9FC', borderRadius: 8, border: '1px dashed #D6DCE5' }}&gt;&#10;        &lt;Text style={{ fontSize: 12.5, color: '#8B97A8', lineHeight: 1.55 }}&gt;&#10;          Commit the review form to the repo as `docs/reviews/m1-spec-review.md`. It counts towards individual evidence.&#10;        &lt;/Text&gt;&#10;      &lt;/Box&gt;&#10;    &lt;/Box&gt;&#10;  &lt;/Box&gt;&#10;  &lt;Box style={{ height: 34, padding: '0 40px', flexDirection: 'row', alignItems: 'center', justifyContent: 'space-between' }}&gt;&#10;    &lt;Text style={{ fontSize: 13, color: '#8B97A8' }}&gt;ISAD · Fall 2026 · Review is not a favour between friends. It is the rehearsal for the client.&lt;/Text&gt;&#10;    &lt;Text style={{ fontSize: 14, color: '#1E4FA8', fontWeight: 'bold' }}&gt;26 / 38&lt;/Text&gt;&#10;  &lt;/Box&gt;&#10;&lt;/Slide&gt;&#10;"/>
        <p:cNvGrpSpPr/>
        <p:nvPr/>
      </p:nvGrpSpPr>
      <p:grpSpPr>
        <a:xfrm>
          <a:off x="0" y="0"/>
          <a:ext cx="0" cy="0"/>
          <a:chOff x="0" y="0"/>
          <a:chExt cx="0" cy="0"/>
        </a:xfrm>
      </p:grpSpPr>
      <p:sp>
        <p:nvSpPr>
          <p:cNvPr id="333" name=""/>
          <p:cNvSpPr/>
          <p:nvPr/>
        </p:nvSpPr>
        <p:spPr>
          <a:xfrm rot="0" flipH="0" flipV="0">
            <a:off x="0" y="0"/>
            <a:ext cx="12192000" cy="6858000"/>
          </a:xfrm>
          <a:prstGeom prst="rect">
            <a:avLst/>
          </a:prstGeom>
          <a:solidFill>
            <a:srgbClr val="FFFFFF"/>
          </a:solidFill>
          <a:ln/>
        </p:spPr>
        <p:txBody>
          <a:bodyPr/>
          <a:p/>
        </p:txBody>
      </p:sp>
      <p:sp>
        <p:nvSpPr>
          <p:cNvPr id="334" name=""/>
          <p:cNvSpPr/>
          <p:nvPr/>
        </p:nvSpPr>
        <p:spPr>
          <a:xfrm rot="0" flipH="0" flipV="0">
            <a:off x="0" y="0"/>
            <a:ext cx="12192000" cy="685800"/>
          </a:xfrm>
          <a:prstGeom prst="rect">
            <a:avLst/>
          </a:prstGeom>
          <a:solidFill>
            <a:srgbClr val="1E4FA8"/>
          </a:solidFill>
          <a:ln/>
        </p:spPr>
        <p:txBody>
          <a:bodyPr/>
          <a:p/>
        </p:txBody>
      </p:sp>
      <p:sp>
        <p:nvSpPr>
          <p:cNvPr id="335"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336" name="" descr="{&quot;isTemplate&quot;:true,&quot;type&quot;:&quot;text&quot;}"/>
          <p:cNvSpPr txBox="1"/>
          <p:nvPr/>
        </p:nvSpPr>
        <p:spPr>
          <a:xfrm rot="0" flipH="0" flipV="0">
            <a:off x="10001250" y="257175"/>
            <a:ext cx="1809750" cy="171450"/>
          </a:xfrm>
          <a:prstGeom prst="rect"/>
        </p:spPr>
        <p:txBody>
          <a:bodyPr wrap="none" lIns="0" tIns="0" rIns="0" bIns="0"/>
          <a:p>
            <a:pPr>
              <a:lnSpc>
                <a:spcPct val="100000"/>
              </a:lnSpc>
            </a:pPr>
            <a:r>
              <a:rPr lang="en-US" sz="1125">
                <a:solidFill>
                  <a:srgbClr val="B9CDF0"/>
                </a:solidFill>
                <a:latin typeface="Microsoft YaHei"/>
                <a:ea typeface="Microsoft YaHei"/>
              </a:rPr>
              <a:t>W05 · REVIEWING A SPEC</a:t>
            </a:r>
            <a:endParaRPr/>
          </a:p>
        </p:txBody>
      </p:sp>
      <p:sp>
        <p:nvSpPr>
          <p:cNvPr id="337" name="" descr="{&quot;isTemplate&quot;:true,&quot;type&quot;:&quot;text&quot;}"/>
          <p:cNvSpPr txBox="1"/>
          <p:nvPr/>
        </p:nvSpPr>
        <p:spPr>
          <a:xfrm rot="0" flipH="0" flipV="0">
            <a:off x="381000" y="809625"/>
            <a:ext cx="2705100" cy="333375"/>
          </a:xfrm>
          <a:prstGeom prst="rect"/>
        </p:spPr>
        <p:txBody>
          <a:bodyPr wrap="none" lIns="0" tIns="0" rIns="0" bIns="0"/>
          <a:p>
            <a:pPr>
              <a:lnSpc>
                <a:spcPct val="100000"/>
              </a:lnSpc>
            </a:pPr>
            <a:r>
              <a:rPr lang="en-US" sz="2175" b="1">
                <a:solidFill>
                  <a:srgbClr val="0E3F8C"/>
                </a:solidFill>
                <a:latin typeface="Microsoft YaHei"/>
                <a:ea typeface="Microsoft YaHei"/>
              </a:rPr>
              <a:t>Peer Review in Pairs</a:t>
            </a:r>
            <a:endParaRPr/>
          </a:p>
        </p:txBody>
      </p:sp>
      <p:sp>
        <p:nvSpPr>
          <p:cNvPr id="338"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26 / 38</a:t>
            </a:r>
            <a:endParaRPr/>
          </a:p>
        </p:txBody>
      </p:sp>
      <p:pic>
        <p:nvPicPr>
          <p:cNvPr id="339" name=""/>
          <p:cNvPicPr>
            <a:picLocks noChangeAspect="1"/>
          </p:cNvPicPr>
          <p:nvPr/>
        </p:nvPicPr>
        <p:blipFill>
          <a:blip>
            <a:extLst>
              <a:ext uri="{96DAC541-7B7A-43D3-8B79-37D633B846F1}">
                <asvg:svgBlip r:embed="rId1"/>
              </a:ext>
            </a:extLst>
          </a:blip>
          <a:stretch>
            <a:fillRect/>
          </a:stretch>
        </p:blipFill>
        <p:spPr>
          <a:xfrm rot="0" flipH="0" flipV="0">
            <a:off x="381000" y="2314575"/>
            <a:ext cx="4762500" cy="3143250"/>
          </a:xfrm>
          <a:prstGeom prst="rect">
            <a:avLst/>
          </a:prstGeom>
          <a:ln/>
        </p:spPr>
      </p:pic>
      <p:sp>
        <p:nvSpPr>
          <p:cNvPr id="340" name=""/>
          <p:cNvSpPr/>
          <p:nvPr/>
        </p:nvSpPr>
        <p:spPr>
          <a:xfrm rot="0" flipH="0" flipV="0">
            <a:off x="5429250" y="2095500"/>
            <a:ext cx="6419850" cy="1000125"/>
          </a:xfrm>
          <a:prstGeom prst="roundRect">
            <a:avLst>
              <a:gd name="adj" fmla="val 8571"/>
            </a:avLst>
          </a:prstGeom>
          <a:solidFill>
            <a:srgbClr val="F0F5FC"/>
          </a:solidFill>
          <a:ln/>
        </p:spPr>
        <p:txBody>
          <a:bodyPr/>
          <a:p/>
        </p:txBody>
      </p:sp>
      <p:sp>
        <p:nvSpPr>
          <p:cNvPr id="341" name=""/>
          <p:cNvSpPr/>
          <p:nvPr/>
        </p:nvSpPr>
        <p:spPr>
          <a:xfrm rot="0" flipH="0" flipV="0">
            <a:off x="5429250" y="2095500"/>
            <a:ext cx="6419850" cy="1000125"/>
          </a:xfrm>
          <a:custGeom>
            <a:pathLst>
              <a:path w="674" h="105">
                <a:moveTo>
                  <a:pt x="9" y="0"/>
                </a:moveTo>
                <a:cubicBezTo>
                  <a:pt x="6" y="0"/>
                  <a:pt x="4" y="2"/>
                  <a:pt x="4" y="5"/>
                </a:cubicBezTo>
                <a:lnTo>
                  <a:pt x="4" y="100"/>
                </a:lnTo>
                <a:cubicBezTo>
                  <a:pt x="4" y="102"/>
                  <a:pt x="6" y="104"/>
                  <a:pt x="8" y="105"/>
                </a:cubicBezTo>
                <a:cubicBezTo>
                  <a:pt x="4" y="105"/>
                  <a:pt x="0" y="101"/>
                  <a:pt x="0" y="96"/>
                </a:cubicBezTo>
                <a:lnTo>
                  <a:pt x="0" y="9"/>
                </a:lnTo>
                <a:cubicBezTo>
                  <a:pt x="0" y="4"/>
                  <a:pt x="4" y="0"/>
                  <a:pt x="9" y="0"/>
                </a:cubicBezTo>
                <a:close/>
              </a:path>
            </a:pathLst>
          </a:custGeom>
          <a:solidFill>
            <a:srgbClr val="1E4FA8"/>
          </a:solidFill>
          <a:ln/>
        </p:spPr>
        <p:txBody>
          <a:bodyPr/>
          <a:p/>
        </p:txBody>
      </p:sp>
      <p:sp>
        <p:nvSpPr>
          <p:cNvPr id="342" name="" descr="{&quot;isTemplate&quot;:true,&quot;type&quot;:&quot;text&quot;}"/>
          <p:cNvSpPr txBox="1"/>
          <p:nvPr/>
        </p:nvSpPr>
        <p:spPr>
          <a:xfrm rot="0" flipH="0" flipV="0">
            <a:off x="5591175" y="2238375"/>
            <a:ext cx="6057900" cy="190500"/>
          </a:xfrm>
          <a:prstGeom prst="rect"/>
        </p:spPr>
        <p:txBody>
          <a:bodyPr wrap="none" lIns="0" tIns="0" rIns="0" bIns="0"/>
          <a:p>
            <a:pPr>
              <a:lnSpc>
                <a:spcPct val="100000"/>
              </a:lnSpc>
            </a:pPr>
            <a:r>
              <a:rPr lang="en-US" sz="1200" b="1">
                <a:solidFill>
                  <a:srgbClr val="0E3F8C"/>
                </a:solidFill>
                <a:latin typeface="Microsoft YaHei"/>
                <a:ea typeface="Microsoft YaHei"/>
              </a:rPr>
              <a:t>There is no other team</a:t>
            </a:r>
            <a:endParaRPr/>
          </a:p>
        </p:txBody>
      </p:sp>
      <p:sp>
        <p:nvSpPr>
          <p:cNvPr id="343" name="" descr="{&quot;isTemplate&quot;:true,&quot;type&quot;:&quot;text&quot;}"/>
          <p:cNvSpPr txBox="1"/>
          <p:nvPr/>
        </p:nvSpPr>
        <p:spPr>
          <a:xfrm rot="0" flipH="0" flipV="0">
            <a:off x="5591175" y="2476500"/>
            <a:ext cx="60579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This class is four people: one group. So peer review happens inside the group, and from W05 the client is the instructor.</a:t>
            </a:r>
            <a:endParaRPr/>
          </a:p>
        </p:txBody>
      </p:sp>
      <p:sp>
        <p:nvSpPr>
          <p:cNvPr id="344" name=""/>
          <p:cNvSpPr/>
          <p:nvPr/>
        </p:nvSpPr>
        <p:spPr>
          <a:xfrm rot="0" flipH="0" flipV="0">
            <a:off x="5391150" y="3219450"/>
            <a:ext cx="6419850" cy="762000"/>
          </a:xfrm>
          <a:prstGeom prst="roundRect">
            <a:avLst>
              <a:gd name="adj" fmla="val 11250"/>
            </a:avLst>
          </a:prstGeom>
          <a:solidFill>
            <a:srgbClr val="FFFFFF"/>
          </a:solidFill>
          <a:ln w="12700">
            <a:solidFill>
              <a:srgbClr val="D6DCE5"/>
            </a:solidFill>
            <a:prstDash val="solid"/>
          </a:ln>
        </p:spPr>
        <p:txBody>
          <a:bodyPr/>
          <a:p/>
        </p:txBody>
      </p:sp>
      <p:sp>
        <p:nvSpPr>
          <p:cNvPr id="345" name="" descr="{&quot;isTemplate&quot;:true,&quot;type&quot;:&quot;text&quot;}"/>
          <p:cNvSpPr txBox="1"/>
          <p:nvPr/>
        </p:nvSpPr>
        <p:spPr>
          <a:xfrm rot="0" flipH="0" flipV="0">
            <a:off x="5553075" y="3362325"/>
            <a:ext cx="6096000" cy="190500"/>
          </a:xfrm>
          <a:prstGeom prst="rect"/>
        </p:spPr>
        <p:txBody>
          <a:bodyPr wrap="none" lIns="0" tIns="0" rIns="0" bIns="0"/>
          <a:p>
            <a:pPr>
              <a:lnSpc>
                <a:spcPct val="100000"/>
              </a:lnSpc>
            </a:pPr>
            <a:r>
              <a:rPr lang="en-US" sz="1200" b="1">
                <a:solidFill>
                  <a:srgbClr val="0E3F8C"/>
                </a:solidFill>
                <a:latin typeface="Microsoft YaHei"/>
                <a:ea typeface="Microsoft YaHei"/>
              </a:rPr>
              <a:t>Record, do not argue</a:t>
            </a:r>
            <a:endParaRPr/>
          </a:p>
        </p:txBody>
      </p:sp>
      <p:sp>
        <p:nvSpPr>
          <p:cNvPr id="346" name="" descr="{&quot;isTemplate&quot;:true,&quot;type&quot;:&quot;text&quot;}"/>
          <p:cNvSpPr txBox="1"/>
          <p:nvPr/>
        </p:nvSpPr>
        <p:spPr>
          <a:xfrm rot="0" flipH="0" flipV="0">
            <a:off x="5553075" y="3600450"/>
            <a:ext cx="6096000" cy="238125"/>
          </a:xfrm>
          <a:prstGeom prst="rect"/>
        </p:spPr>
        <p:txBody>
          <a:bodyPr wrap="none" lIns="0" tIns="0" rIns="0" bIns="0"/>
          <a:p>
            <a:pPr>
              <a:lnSpc>
                <a:spcPct val="160000"/>
              </a:lnSpc>
            </a:pPr>
            <a:r>
              <a:rPr lang="en-US" sz="975">
                <a:solidFill>
                  <a:srgbClr val="4A5568"/>
                </a:solidFill>
                <a:latin typeface="Microsoft YaHei"/>
                <a:ea typeface="Microsoft YaHei"/>
              </a:rPr>
              <a:t>A reviewer who wins the argument has destroyed the review. Write the finding down and hand it to the author.</a:t>
            </a:r>
            <a:endParaRPr/>
          </a:p>
        </p:txBody>
      </p:sp>
      <p:sp>
        <p:nvSpPr>
          <p:cNvPr id="347" name=""/>
          <p:cNvSpPr/>
          <p:nvPr/>
        </p:nvSpPr>
        <p:spPr>
          <a:xfrm rot="0" flipH="0" flipV="0">
            <a:off x="5429250" y="4105275"/>
            <a:ext cx="6419850" cy="1000125"/>
          </a:xfrm>
          <a:prstGeom prst="roundRect">
            <a:avLst>
              <a:gd name="adj" fmla="val 8571"/>
            </a:avLst>
          </a:prstGeom>
          <a:solidFill>
            <a:srgbClr val="FFF6E0"/>
          </a:solidFill>
          <a:ln/>
        </p:spPr>
        <p:txBody>
          <a:bodyPr/>
          <a:p/>
        </p:txBody>
      </p:sp>
      <p:sp>
        <p:nvSpPr>
          <p:cNvPr id="348" name=""/>
          <p:cNvSpPr/>
          <p:nvPr/>
        </p:nvSpPr>
        <p:spPr>
          <a:xfrm rot="0" flipH="0" flipV="0">
            <a:off x="5429250" y="4105275"/>
            <a:ext cx="6419850" cy="1000125"/>
          </a:xfrm>
          <a:custGeom>
            <a:pathLst>
              <a:path w="674" h="105">
                <a:moveTo>
                  <a:pt x="9" y="0"/>
                </a:moveTo>
                <a:cubicBezTo>
                  <a:pt x="6" y="0"/>
                  <a:pt x="4" y="2"/>
                  <a:pt x="4" y="5"/>
                </a:cubicBezTo>
                <a:lnTo>
                  <a:pt x="4" y="100"/>
                </a:lnTo>
                <a:cubicBezTo>
                  <a:pt x="4" y="102"/>
                  <a:pt x="6" y="104"/>
                  <a:pt x="8" y="105"/>
                </a:cubicBezTo>
                <a:cubicBezTo>
                  <a:pt x="4" y="105"/>
                  <a:pt x="0" y="101"/>
                  <a:pt x="0" y="96"/>
                </a:cubicBezTo>
                <a:lnTo>
                  <a:pt x="0" y="9"/>
                </a:lnTo>
                <a:cubicBezTo>
                  <a:pt x="0" y="4"/>
                  <a:pt x="4" y="0"/>
                  <a:pt x="9" y="0"/>
                </a:cubicBezTo>
                <a:close/>
              </a:path>
            </a:pathLst>
          </a:custGeom>
          <a:solidFill>
            <a:srgbClr val="FFC107"/>
          </a:solidFill>
          <a:ln/>
        </p:spPr>
        <p:txBody>
          <a:bodyPr/>
          <a:p/>
        </p:txBody>
      </p:sp>
      <p:sp>
        <p:nvSpPr>
          <p:cNvPr id="349" name="" descr="{&quot;isTemplate&quot;:true,&quot;type&quot;:&quot;text&quot;}"/>
          <p:cNvSpPr txBox="1"/>
          <p:nvPr/>
        </p:nvSpPr>
        <p:spPr>
          <a:xfrm rot="0" flipH="0" flipV="0">
            <a:off x="5591175" y="4248150"/>
            <a:ext cx="6057900" cy="190500"/>
          </a:xfrm>
          <a:prstGeom prst="rect"/>
        </p:spPr>
        <p:txBody>
          <a:bodyPr wrap="none" lIns="0" tIns="0" rIns="0" bIns="0"/>
          <a:p>
            <a:pPr>
              <a:lnSpc>
                <a:spcPct val="100000"/>
              </a:lnSpc>
            </a:pPr>
            <a:r>
              <a:rPr lang="en-US" sz="1200" b="1">
                <a:solidFill>
                  <a:srgbClr val="996F00"/>
                </a:solidFill>
                <a:latin typeface="Microsoft YaHei"/>
                <a:ea typeface="Microsoft YaHei"/>
              </a:rPr>
              <a:t>Keep the disagreements</a:t>
            </a:r>
            <a:endParaRPr/>
          </a:p>
        </p:txBody>
      </p:sp>
      <p:sp>
        <p:nvSpPr>
          <p:cNvPr id="350" name="" descr="{&quot;isTemplate&quot;:true,&quot;type&quot;:&quot;text&quot;}"/>
          <p:cNvSpPr txBox="1"/>
          <p:nvPr/>
        </p:nvSpPr>
        <p:spPr>
          <a:xfrm rot="0" flipH="0" flipV="0">
            <a:off x="5591175" y="4486275"/>
            <a:ext cx="60579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Two readers seeing different use cases is information about the spec, not about the readers. Do not smooth it away.</a:t>
            </a:r>
            <a:endParaRPr/>
          </a:p>
        </p:txBody>
      </p:sp>
      <p:sp>
        <p:nvSpPr>
          <p:cNvPr id="351" name=""/>
          <p:cNvSpPr/>
          <p:nvPr/>
        </p:nvSpPr>
        <p:spPr>
          <a:xfrm rot="0" flipH="0" flipV="0">
            <a:off x="5391150" y="5229225"/>
            <a:ext cx="6419850" cy="457200"/>
          </a:xfrm>
          <a:prstGeom prst="roundRect">
            <a:avLst>
              <a:gd name="adj" fmla="val 16667"/>
            </a:avLst>
          </a:prstGeom>
          <a:solidFill>
            <a:srgbClr val="F7F9FC"/>
          </a:solidFill>
          <a:ln w="12700">
            <a:solidFill>
              <a:srgbClr val="D6DCE5"/>
            </a:solidFill>
            <a:prstDash val="dash"/>
          </a:ln>
        </p:spPr>
        <p:txBody>
          <a:bodyPr/>
          <a:p/>
        </p:txBody>
      </p:sp>
      <p:sp>
        <p:nvSpPr>
          <p:cNvPr id="352" name="" descr="{&quot;isTemplate&quot;:true,&quot;type&quot;:&quot;text&quot;}"/>
          <p:cNvSpPr txBox="1"/>
          <p:nvPr/>
        </p:nvSpPr>
        <p:spPr>
          <a:xfrm rot="0" flipH="0" flipV="0">
            <a:off x="5543550" y="5343525"/>
            <a:ext cx="6115050" cy="228600"/>
          </a:xfrm>
          <a:prstGeom prst="rect"/>
        </p:spPr>
        <p:txBody>
          <a:bodyPr wrap="none" lIns="0" tIns="0" rIns="0" bIns="0"/>
          <a:p>
            <a:pPr>
              <a:lnSpc>
                <a:spcPct val="155000"/>
              </a:lnSpc>
            </a:pPr>
            <a:r>
              <a:rPr lang="en-US" sz="938">
                <a:solidFill>
                  <a:srgbClr val="8B97A8"/>
                </a:solidFill>
                <a:latin typeface="Microsoft YaHei"/>
                <a:ea typeface="Microsoft YaHei"/>
              </a:rPr>
              <a:t>Commit the review form to the repo as `docs/reviews/m1-spec-review.md`. It counts towards individual evidence.</a:t>
            </a:r>
            <a:endParaRPr/>
          </a:p>
        </p:txBody>
      </p:sp>
      <p:sp>
        <p:nvSpPr>
          <p:cNvPr id="353" name="" descr="{&quot;isTemplate&quot;:true,&quot;type&quot;:&quot;text&quot;}"/>
          <p:cNvSpPr txBox="1"/>
          <p:nvPr/>
        </p:nvSpPr>
        <p:spPr>
          <a:xfrm rot="0" flipH="0" flipV="0">
            <a:off x="381000" y="6619875"/>
            <a:ext cx="4914900"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Review is not a favour between friends. It is the rehearsal for the client.</a:t>
            </a:r>
            <a:endParaRPr/>
          </a:p>
        </p:txBody>
      </p:sp>
      <p:sp>
        <p:nvSpPr>
          <p:cNvPr id="354"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26 / 38</a:t>
            </a:r>
            <a:endParaRPr/>
          </a:p>
        </p:txBody>
      </p:sp>
    </p:spTree>
  </p:cSld>
</p:sld>
</file>

<file path=ppt/slides/slide27.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355"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REVIEWING A SPEC&lt;/Text&gt;&#10;  &lt;/Box&gt;&#10;  &lt;Box style={{ padding: '13px 40px 0 40px', flexDirection: 'row', alignItems: 'center', justifyContent: 'space-between' }}&gt;&#10;    &lt;Text style={{ fontSize: 29, fontWeight: 'bold', color: '#0E3F8C' }}&gt;What a Reviewer Is For&lt;/Text&gt;&#10;    &lt;Text style={{ fontSize: 14, color: '#1E4FA8', fontWeight: 'bold' }}&gt;27 / 38&lt;/Text&gt;&#10;  &lt;/Box&gt;&#10;  &lt;Box style={{ flex: 1, padding: '10px 40px 0 40px' }}&gt;&#10;    &lt;Table&#10;      style={{ width: '100%', height: '100%' }}&#10;      defaultTextStyle={{ fontSize: 13.5, textAlign: 'left', color: '#1A2230' }}&#10;      defaultCellStyle={{&#10;        border: {&#10;          left: { width: 1, color: '#E5E7EB' },&#10;          right: { width: 1, color: '#E5E7EB' },&#10;          top: { width: 1, color: '#E5E7EB' },&#10;          bottom: { width: 1, color: '#E5E7EB' },&#10;        },&#10;      }}&#10;      cells={[&#10;        [&#10;          { text: 'Finding', textStyle: { bold: true, color: '#FFFFFF', fontSize: 15 }, cellStyle: { background: { color: '#0E3F8C' } } },&#10;          { text: 'May the author just fix it?', textStyle: { bold: true, color: '#FFFFFF', fontSize: 15 }, cellStyle: { background: { color: '#2B5793' } } },&#10;          { text: 'What the reviewer must do instead', textStyle: { bold: true, color: '#FFFFFF', fontSize: 15 }, cellStyle: { background: { color: '#1E4FA8' } } },&#10;        ],&#10;        [&#10;          { text: 'Wording and formatting', textStyle: { bold: true, color: '#0E3F8C' }, cellStyle: { background: { color: '#F7F9FC' } } },&#10;          { text: 'Yes — silently.', textStyle: { color: '#2B7A3D', fontWeight: 'bold' }, cellStyle: { background: { color: '#F7F9FC' } } },&#10;          { text: 'Nothing. Fix the hyphen, keep the argument.', textStyle: { color: '#4A5568' }, cellStyle: { background: { color: '#F7F9FC' } } },&#10;        ],&#10;        [&#10;          { text: 'A step that is not observable', textStyle: { bold: true, color: '#0E3F8C' } },&#10;          { text: 'No.', textStyle: { color: '#D9534F', fontWeight: 'bold' } },&#10;          { text: 'Write the sentence you would run as a test. Hand it over; the author decides the wording.', textStyle: { color: '#4A5568' } },&#10;        ],&#10;        [&#10;          { text: 'A missing exception', textStyle: { bold: true, color: '#0E3F8C' }, cellStyle: { background: { color: '#F7F9FC' } } },&#10;          { text: 'No.', textStyle: { color: '#D9534F', fontWeight: 'bold' }, cellStyle: { background: { color: '#F7F9FC' } } },&#10;          { text: 'Describe the situation concretely: “provider times out at 12:05 and no retry is defined”.', textStyle: { color: '#4A5568' }, cellStyle: { background: { color: '#F7F9FC' } } },&#10;        ],&#10;        [&#10;          { text: 'A postcondition covering only success', textStyle: { bold: true, color: '#0E3F8C' } },&#10;          { text: 'No.', textStyle: { color: '#D9534F', fontWeight: 'bold' } },&#10;          { text: 'Write the postcondition for the failure end state. That is the reviewer’s real job.', textStyle: { color: '#4A5568' } },&#10;        ],&#10;        [&#10;          { text: 'The goal itself looks wrong', textStyle: { bold: true, color: '#0E3F8C' }, cellStyle: { background: { color: '#F7F9FC' } } },&#10;          { text: 'Never.', textStyle: { color: '#D9534F', fontWeight: 'bold' }, cellStyle: { background: { color: '#F7F9FC' } } },&#10;          { text: 'Ask a question and record it. Only the client may change what the system is for.', textStyle: { color: '#4A5568' }, cellStyle: { background: { color: '#F7F9FC' } } },&#10;        ],&#10;        [&#10;          { text: 'What the client wants that is missing', textStyle: { bold: true, color: '#0E3F8C' } },&#10;          { text: 'No.', textStyle: { color: '#D9534F', fontWeight: 'bold' } },&#10;          { text: 'Record it verbatim in the “questions for the client” box. This is the M1 review agenda.', textStyle: { color: '#4A5568' } },&#10;        ],&#10;      ]}&#10;    /&gt;&#10;  &lt;/Box&gt;&#10;  &lt;Box style={{ height: 46, background: '#0E3F8C', padding: '0 40px', flexDirection: 'row', alignItems: 'center', justifyContent: 'center' }}&gt;&#10;    &lt;Text style={{ fontSize: 16.5, color: '#FFFFFF', fontWeight: '600' }}&gt;A reviewer who rewrites the specification has taken the author’s work and told them nothing.&lt;/Text&gt;&#10;  &lt;/Box&gt;&#10;&lt;/Slide&gt;&#10;"/>
        <p:cNvGrpSpPr/>
        <p:nvPr/>
      </p:nvGrpSpPr>
      <p:grpSpPr>
        <a:xfrm>
          <a:off x="0" y="0"/>
          <a:ext cx="0" cy="0"/>
          <a:chOff x="0" y="0"/>
          <a:chExt cx="0" cy="0"/>
        </a:xfrm>
      </p:grpSpPr>
      <p:sp>
        <p:nvSpPr>
          <p:cNvPr id="356" name=""/>
          <p:cNvSpPr/>
          <p:nvPr/>
        </p:nvSpPr>
        <p:spPr>
          <a:xfrm rot="0" flipH="0" flipV="0">
            <a:off x="0" y="0"/>
            <a:ext cx="12192000" cy="6858000"/>
          </a:xfrm>
          <a:prstGeom prst="rect">
            <a:avLst/>
          </a:prstGeom>
          <a:solidFill>
            <a:srgbClr val="FFFFFF"/>
          </a:solidFill>
          <a:ln/>
        </p:spPr>
        <p:txBody>
          <a:bodyPr/>
          <a:p/>
        </p:txBody>
      </p:sp>
      <p:sp>
        <p:nvSpPr>
          <p:cNvPr id="357" name=""/>
          <p:cNvSpPr/>
          <p:nvPr/>
        </p:nvSpPr>
        <p:spPr>
          <a:xfrm rot="0" flipH="0" flipV="0">
            <a:off x="0" y="0"/>
            <a:ext cx="12192000" cy="685800"/>
          </a:xfrm>
          <a:prstGeom prst="rect">
            <a:avLst/>
          </a:prstGeom>
          <a:solidFill>
            <a:srgbClr val="1E4FA8"/>
          </a:solidFill>
          <a:ln/>
        </p:spPr>
        <p:txBody>
          <a:bodyPr/>
          <a:p/>
        </p:txBody>
      </p:sp>
      <p:sp>
        <p:nvSpPr>
          <p:cNvPr id="358"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359" name="" descr="{&quot;isTemplate&quot;:true,&quot;type&quot;:&quot;text&quot;}"/>
          <p:cNvSpPr txBox="1"/>
          <p:nvPr/>
        </p:nvSpPr>
        <p:spPr>
          <a:xfrm rot="0" flipH="0" flipV="0">
            <a:off x="10001250" y="257175"/>
            <a:ext cx="1809750" cy="171450"/>
          </a:xfrm>
          <a:prstGeom prst="rect"/>
        </p:spPr>
        <p:txBody>
          <a:bodyPr wrap="none" lIns="0" tIns="0" rIns="0" bIns="0"/>
          <a:p>
            <a:pPr>
              <a:lnSpc>
                <a:spcPct val="100000"/>
              </a:lnSpc>
            </a:pPr>
            <a:r>
              <a:rPr lang="en-US" sz="1125">
                <a:solidFill>
                  <a:srgbClr val="B9CDF0"/>
                </a:solidFill>
                <a:latin typeface="Microsoft YaHei"/>
                <a:ea typeface="Microsoft YaHei"/>
              </a:rPr>
              <a:t>W05 · REVIEWING A SPEC</a:t>
            </a:r>
            <a:endParaRPr/>
          </a:p>
        </p:txBody>
      </p:sp>
      <p:sp>
        <p:nvSpPr>
          <p:cNvPr id="360" name="" descr="{&quot;isTemplate&quot;:true,&quot;type&quot;:&quot;text&quot;}"/>
          <p:cNvSpPr txBox="1"/>
          <p:nvPr/>
        </p:nvSpPr>
        <p:spPr>
          <a:xfrm rot="0" flipH="0" flipV="0">
            <a:off x="381000" y="809625"/>
            <a:ext cx="3028950" cy="333375"/>
          </a:xfrm>
          <a:prstGeom prst="rect"/>
        </p:spPr>
        <p:txBody>
          <a:bodyPr wrap="none" lIns="0" tIns="0" rIns="0" bIns="0"/>
          <a:p>
            <a:pPr>
              <a:lnSpc>
                <a:spcPct val="100000"/>
              </a:lnSpc>
            </a:pPr>
            <a:r>
              <a:rPr lang="en-US" sz="2175" b="1">
                <a:solidFill>
                  <a:srgbClr val="0E3F8C"/>
                </a:solidFill>
                <a:latin typeface="Microsoft YaHei"/>
                <a:ea typeface="Microsoft YaHei"/>
              </a:rPr>
              <a:t>What a Reviewer Is For</a:t>
            </a:r>
            <a:endParaRPr/>
          </a:p>
        </p:txBody>
      </p:sp>
      <p:sp>
        <p:nvSpPr>
          <p:cNvPr id="361"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27 / 38</a:t>
            </a:r>
            <a:endParaRPr/>
          </a:p>
        </p:txBody>
      </p:sp>
      <p:graphicFrame>
        <p:nvGraphicFramePr>
          <p:cNvPr id="362" name=""/>
          <p:cNvGraphicFramePr/>
          <p:nvPr/>
        </p:nvGraphicFramePr>
        <p:xfrm rot="0" flipH="0" flipV="0">
          <a:off x="381000" y="1238250"/>
          <a:ext cx="11430000" cy="5181600"/>
        </p:xfrm>
        <a:graphic>
          <a:graphicData uri="http://schemas.openxmlformats.org/drawingml/2006/table">
            <a:tbl>
              <a:tblGrid>
                <a:gridCol w="3005718">
                  <a:extLst>
                    <a:ext uri="{9D8B030D-6E8A-4147-A177-3AD203B41FA5}">
                      <a16:colId val="1"/>
                    </a:ext>
                  </a:extLst>
                </a:gridCol>
                <a:gridCol w="2201435">
                  <a:extLst>
                    <a:ext uri="{9D8B030D-6E8A-4147-A177-3AD203B41FA5}">
                      <a16:colId val="2"/>
                    </a:ext>
                  </a:extLst>
                </a:gridCol>
                <a:gridCol w="6222847">
                  <a:extLst>
                    <a:ext uri="{9D8B030D-6E8A-4147-A177-3AD203B41FA5}">
                      <a16:colId val="3"/>
                    </a:ext>
                  </a:extLst>
                </a:gridCol>
              </a:tblGrid>
              <a:tr h="782689">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Finding</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May the author just fix it?</a:t>
                      </a:r>
                      <a:endParaRPr/>
                    </a:p>
                  </a:txBody>
                  <a:tcPr marL="45720" marR="45720" marT="45720" marB="45720" anchor="ctr">
                    <a:lnL>
                      <a:noFill/>
                    </a:lnL>
                    <a:lnR>
                      <a:noFill/>
                    </a:lnR>
                    <a:lnT>
                      <a:noFill/>
                    </a:lnT>
                    <a:lnB>
                      <a:noFill/>
                    </a:lnB>
                    <a:solidFill>
                      <a:srgbClr val="2B5793"/>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What the reviewer must do instead</a:t>
                      </a:r>
                      <a:endParaRPr/>
                    </a:p>
                  </a:txBody>
                  <a:tcPr marL="45720" marR="45720" marT="45720" marB="45720" anchor="ctr">
                    <a:lnL>
                      <a:noFill/>
                    </a:lnL>
                    <a:lnR>
                      <a:noFill/>
                    </a:lnR>
                    <a:lnT>
                      <a:noFill/>
                    </a:lnT>
                    <a:lnB>
                      <a:noFill/>
                    </a:lnB>
                    <a:solidFill>
                      <a:srgbClr val="1E4FA8"/>
                    </a:solidFill>
                  </a:tcPr>
                </a:tc>
                <a:extLst>
                  <a:ext uri="{0D108BD9-81ED-4DB2-BD59-A6C34878D82A}">
                    <a16:rowId val="1"/>
                  </a:ext>
                </a:extLst>
              </a:tr>
              <a:tr h="7331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Wording and formatting</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2B7A3D"/>
                          </a:solidFill>
                          <a:latin typeface="Microsoft YaHei"/>
                          <a:ea typeface="Microsoft YaHei"/>
                        </a:rPr>
                        <a:t>Yes — silently.</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Nothing. Fix the hyphen, keep the argument.</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7331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A step that is not observable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D9534F"/>
                          </a:solidFill>
                          <a:latin typeface="Microsoft YaHei"/>
                          <a:ea typeface="Microsoft YaHei"/>
                        </a:rPr>
                        <a:t>No.</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Write the sentence you would run as a test. Hand it over; the author decides the wording.</a:t>
                      </a:r>
                      <a:endParaRPr/>
                    </a:p>
                  </a:txBody>
                  <a:tcPr marL="45720" marR="45720" marT="45720" marB="45720" anchor="ctr">
                    <a:lnL>
                      <a:noFill/>
                    </a:lnL>
                    <a:lnR>
                      <a:noFill/>
                    </a:lnR>
                    <a:lnT>
                      <a:noFill/>
                    </a:lnT>
                    <a:lnB>
                      <a:noFill/>
                    </a:lnB>
                  </a:tcPr>
                </a:tc>
                <a:extLst>
                  <a:ext uri="{0D108BD9-81ED-4DB2-BD59-A6C34878D82A}">
                    <a16:rowId val="3"/>
                  </a:ext>
                </a:extLst>
              </a:tr>
              <a:tr h="7331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A missing exception</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D9534F"/>
                          </a:solidFill>
                          <a:latin typeface="Microsoft YaHei"/>
                          <a:ea typeface="Microsoft YaHei"/>
                        </a:rPr>
                        <a:t>No.</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Describe the situation concretely: “provider times out at 12:05 and no retry is defined”.</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7331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A postcondition covering only success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D9534F"/>
                          </a:solidFill>
                          <a:latin typeface="Microsoft YaHei"/>
                          <a:ea typeface="Microsoft YaHei"/>
                        </a:rPr>
                        <a:t>No.</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Write the postcondition for the failure end state. That is the reviewer’s real job.</a:t>
                      </a:r>
                      <a:endParaRPr/>
                    </a:p>
                  </a:txBody>
                  <a:tcPr marL="45720" marR="45720" marT="45720" marB="45720" anchor="ctr">
                    <a:lnL>
                      <a:noFill/>
                    </a:lnL>
                    <a:lnR>
                      <a:noFill/>
                    </a:lnR>
                    <a:lnT>
                      <a:noFill/>
                    </a:lnT>
                    <a:lnB>
                      <a:noFill/>
                    </a:lnB>
                  </a:tcPr>
                </a:tc>
                <a:extLst>
                  <a:ext uri="{0D108BD9-81ED-4DB2-BD59-A6C34878D82A}">
                    <a16:rowId val="5"/>
                  </a:ext>
                </a:extLst>
              </a:tr>
              <a:tr h="7331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The goal itself looks wrong</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D9534F"/>
                          </a:solidFill>
                          <a:latin typeface="Microsoft YaHei"/>
                          <a:ea typeface="Microsoft YaHei"/>
                        </a:rPr>
                        <a:t>Never.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Ask a question and record it. Only the client may change what the system is for.</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r h="7331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What the client wants that is missing</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D9534F"/>
                          </a:solidFill>
                          <a:latin typeface="Microsoft YaHei"/>
                          <a:ea typeface="Microsoft YaHei"/>
                        </a:rPr>
                        <a:t>No.</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Record it verbatim in the “questions for the client” box. This is the M1 review agenda.</a:t>
                      </a:r>
                      <a:endParaRPr/>
                    </a:p>
                  </a:txBody>
                  <a:tcPr marL="45720" marR="45720" marT="45720" marB="45720" anchor="ctr">
                    <a:lnL>
                      <a:noFill/>
                    </a:lnL>
                    <a:lnR>
                      <a:noFill/>
                    </a:lnR>
                    <a:lnT>
                      <a:noFill/>
                    </a:lnT>
                    <a:lnB>
                      <a:noFill/>
                    </a:lnB>
                  </a:tcPr>
                </a:tc>
                <a:extLst>
                  <a:ext uri="{0D108BD9-81ED-4DB2-BD59-A6C34878D82A}">
                    <a16:rowId val="7"/>
                  </a:ext>
                </a:extLst>
              </a:tr>
            </a:tbl>
          </a:graphicData>
        </a:graphic>
      </p:graphicFrame>
      <p:sp>
        <p:nvSpPr>
          <p:cNvPr id="363" name=""/>
          <p:cNvSpPr/>
          <p:nvPr/>
        </p:nvSpPr>
        <p:spPr>
          <a:xfrm rot="0" flipH="0" flipV="0">
            <a:off x="0" y="6419850"/>
            <a:ext cx="12192000" cy="438150"/>
          </a:xfrm>
          <a:prstGeom prst="rect">
            <a:avLst/>
          </a:prstGeom>
          <a:solidFill>
            <a:srgbClr val="0E3F8C"/>
          </a:solidFill>
          <a:ln/>
        </p:spPr>
        <p:txBody>
          <a:bodyPr/>
          <a:p/>
        </p:txBody>
      </p:sp>
      <p:sp>
        <p:nvSpPr>
          <p:cNvPr id="364" name="" descr="{&quot;isTemplate&quot;:true,&quot;type&quot;:&quot;text&quot;}"/>
          <p:cNvSpPr txBox="1"/>
          <p:nvPr/>
        </p:nvSpPr>
        <p:spPr>
          <a:xfrm rot="0" flipH="0" flipV="0">
            <a:off x="2628900" y="6543675"/>
            <a:ext cx="6943725" cy="190500"/>
          </a:xfrm>
          <a:prstGeom prst="rect"/>
        </p:spPr>
        <p:txBody>
          <a:bodyPr wrap="none" lIns="0" tIns="0" rIns="0" bIns="0"/>
          <a:p>
            <a:pPr>
              <a:lnSpc>
                <a:spcPct val="100000"/>
              </a:lnSpc>
            </a:pPr>
            <a:r>
              <a:rPr lang="en-US" sz="1238" b="1">
                <a:solidFill>
                  <a:srgbClr val="FFFFFF"/>
                </a:solidFill>
                <a:latin typeface="Microsoft YaHei"/>
                <a:ea typeface="Microsoft YaHei"/>
              </a:rPr>
              <a:t>A reviewer who rewrites the specification has taken the author’s work and told them nothing.</a:t>
            </a:r>
            <a:endParaRPr/>
          </a:p>
        </p:txBody>
      </p:sp>
    </p:spTree>
  </p:cSld>
</p:sld>
</file>

<file path=ppt/slides/slide28.xml><?xml version="1.0" encoding="utf-8"?>
<p:sld xmlns:p="http://schemas.openxmlformats.org/presentationml/2006/main" xmlns:a="http://schemas.openxmlformats.org/drawingml/2006/main">
  <p:cSld>
    <p:spTree>
      <p:nvGrpSpPr>
        <p:cNvPr id="365" name="" descr="&lt;Slide style={{ background: '#0E3F8C', padding: 0 }}&gt;&#10;  &lt;Box style={{ flexDirection: 'row', height: '100%', position: 'relative' }}&gt;&#10;    &lt;Box style={{ position: 'absolute', top: 0, left: 0, right: 0, height: 8, background: '#1E4FA8' }} /&gt;&#10;    &lt;Box style={{ width: 300, justifyContent: 'center', alignItems: 'center', borderRight: '1px solid #2B5793' }}&gt;&#10;      &lt;Text style={{ fontSize: 220, fontWeight: 'bold', color: '#3D7BD9', fontFamily: 'Georgia, serif', lineHeight: 1 }}&gt;06&lt;/Text&gt;&#10;    &lt;/Box&gt;&#10;    &lt;Box style={{ flex: 1, padding: '70px 64px', flexDirection: 'column', justifyContent: 'center' }}&gt;&#10;      &lt;Text style={{ fontSize: 15, color: '#7FA2D6', letterSpacing: 2, marginBottom: 18 }}&gt;PART 6 · LAB · 2 HOURS&lt;/Text&gt;&#10;      &lt;Text style={{ fontSize: 46, fontWeight: 'bold', color: '#FFFFFF', lineHeight: 1.18 }}&gt;Exercise 5.1, 5.2&lt;br /&gt;&amp;amp; Milestone M1&lt;/Text&gt;&#10;      &lt;Box style={{ width: 64, height: 4, background: '#FFC107', marginTop: 26, marginBottom: 26 }} /&gt;&#10;      &lt;Box style={{ flexDirection: 'column', gap: 12 }}&gt;&#10;        {[&#10;          'Find five defects in a broken specification',&#10;          'Review each other’s work against the checklist',&#10;          'M1 is tagged m1 before you leave the room'&#10;        ].map((t) =&gt; (&#10;          &lt;Box key={t} style={{ flexDirection: 'row', alignItems: 'center', gap: 12 }}&gt;&#10;            &lt;Box style={{ width: 8, height: 8, borderRadius: 4, background: '#3D7BD9' }} /&gt;&#10;            &lt;Text style={{ fontSize: 20, color: '#C5D4EA' }}&gt;{t}&lt;/Text&gt;&#10;          &lt;/Box&gt;&#10;        ))}&#10;      &lt;/Box&gt;&#10;    &lt;/Box&gt;&#10;  &lt;/Box&gt;&#10;&lt;/Slide&gt;&#10;"/>
        <p:cNvGrpSpPr/>
        <p:nvPr/>
      </p:nvGrpSpPr>
      <p:grpSpPr>
        <a:xfrm>
          <a:off x="0" y="0"/>
          <a:ext cx="0" cy="0"/>
          <a:chOff x="0" y="0"/>
          <a:chExt cx="0" cy="0"/>
        </a:xfrm>
      </p:grpSpPr>
      <p:sp>
        <p:nvSpPr>
          <p:cNvPr id="366" name=""/>
          <p:cNvSpPr/>
          <p:nvPr/>
        </p:nvSpPr>
        <p:spPr>
          <a:xfrm rot="0" flipH="0" flipV="0">
            <a:off x="0" y="0"/>
            <a:ext cx="12192000" cy="6858000"/>
          </a:xfrm>
          <a:prstGeom prst="rect">
            <a:avLst/>
          </a:prstGeom>
          <a:solidFill>
            <a:srgbClr val="0E3F8C"/>
          </a:solidFill>
          <a:ln/>
        </p:spPr>
        <p:txBody>
          <a:bodyPr/>
          <a:p/>
        </p:txBody>
      </p:sp>
      <p:sp>
        <p:nvSpPr>
          <p:cNvPr id="367" name=""/>
          <p:cNvSpPr/>
          <p:nvPr/>
        </p:nvSpPr>
        <p:spPr>
          <a:xfrm rot="0" flipH="0" flipV="0">
            <a:off x="0" y="0"/>
            <a:ext cx="2857500" cy="6858000"/>
          </a:xfrm>
          <a:custGeom>
            <a:pathLst>
              <a:path w="300" h="720">
                <a:moveTo>
                  <a:pt x="299" y="0"/>
                </a:moveTo>
                <a:lnTo>
                  <a:pt x="300" y="0"/>
                </a:lnTo>
                <a:lnTo>
                  <a:pt x="300" y="720"/>
                </a:lnTo>
                <a:lnTo>
                  <a:pt x="299" y="720"/>
                </a:lnTo>
                <a:close/>
              </a:path>
            </a:pathLst>
          </a:custGeom>
          <a:solidFill>
            <a:srgbClr val="2B5793"/>
          </a:solidFill>
          <a:ln/>
        </p:spPr>
        <p:txBody>
          <a:bodyPr/>
          <a:p/>
        </p:txBody>
      </p:sp>
      <p:sp>
        <p:nvSpPr>
          <p:cNvPr id="368" name="" descr="{&quot;isTemplate&quot;:true,&quot;type&quot;:&quot;text&quot;}"/>
          <p:cNvSpPr txBox="1"/>
          <p:nvPr/>
        </p:nvSpPr>
        <p:spPr>
          <a:xfrm rot="0" flipH="0" flipV="0">
            <a:off x="9525" y="2171700"/>
            <a:ext cx="2828925" cy="2514600"/>
          </a:xfrm>
          <a:prstGeom prst="rect"/>
        </p:spPr>
        <p:txBody>
          <a:bodyPr wrap="none" lIns="0" tIns="0" rIns="0" bIns="0"/>
          <a:p>
            <a:pPr>
              <a:lnSpc>
                <a:spcPct val="100000"/>
              </a:lnSpc>
            </a:pPr>
            <a:r>
              <a:rPr lang="en-US" sz="16500" b="1">
                <a:solidFill>
                  <a:srgbClr val="3D7BD9"/>
                </a:solidFill>
                <a:latin typeface="Georgia"/>
                <a:ea typeface="Georgia"/>
              </a:rPr>
              <a:t>06</a:t>
            </a:r>
            <a:endParaRPr/>
          </a:p>
        </p:txBody>
      </p:sp>
      <p:sp>
        <p:nvSpPr>
          <p:cNvPr id="369" name="" descr="{&quot;isTemplate&quot;:true,&quot;type&quot;:&quot;text&quot;}"/>
          <p:cNvSpPr txBox="1"/>
          <p:nvPr/>
        </p:nvSpPr>
        <p:spPr>
          <a:xfrm rot="0" flipH="0" flipV="0">
            <a:off x="3467100" y="1914525"/>
            <a:ext cx="8115300" cy="171450"/>
          </a:xfrm>
          <a:prstGeom prst="rect"/>
        </p:spPr>
        <p:txBody>
          <a:bodyPr wrap="none" lIns="0" tIns="0" rIns="0" bIns="0"/>
          <a:p>
            <a:pPr>
              <a:lnSpc>
                <a:spcPct val="100000"/>
              </a:lnSpc>
            </a:pPr>
            <a:r>
              <a:rPr lang="en-US" sz="1125" spc="150">
                <a:solidFill>
                  <a:srgbClr val="7FA2D6"/>
                </a:solidFill>
                <a:latin typeface="Microsoft YaHei"/>
                <a:ea typeface="Microsoft YaHei"/>
              </a:rPr>
              <a:t>PART 6 · LAB · 2 HOURS</a:t>
            </a:r>
            <a:endParaRPr/>
          </a:p>
        </p:txBody>
      </p:sp>
      <p:sp>
        <p:nvSpPr>
          <p:cNvPr id="370" name="" descr="{&quot;isTemplate&quot;:true,&quot;type&quot;:&quot;text&quot;}"/>
          <p:cNvSpPr txBox="1"/>
          <p:nvPr/>
        </p:nvSpPr>
        <p:spPr>
          <a:xfrm rot="0" flipH="0" flipV="0">
            <a:off x="3467100" y="2257425"/>
            <a:ext cx="8115300" cy="1247775"/>
          </a:xfrm>
          <a:prstGeom prst="rect"/>
        </p:spPr>
        <p:txBody>
          <a:bodyPr wrap="none" lIns="0" tIns="0" rIns="0" bIns="0"/>
          <a:p>
            <a:pPr>
              <a:lnSpc>
                <a:spcPct val="118000"/>
              </a:lnSpc>
            </a:pPr>
            <a:r>
              <a:rPr lang="en-US" sz="3450" b="1">
                <a:solidFill>
                  <a:srgbClr val="FFFFFF"/>
                </a:solidFill>
                <a:latin typeface="Microsoft YaHei"/>
                <a:ea typeface="Microsoft YaHei"/>
              </a:rPr>
              <a:t>Exercise 5.1, 5.2</a:t>
            </a:r>
            <a:endParaRPr/>
          </a:p>
          <a:p>
            <a:pPr>
              <a:lnSpc>
                <a:spcPct val="118000"/>
              </a:lnSpc>
            </a:pPr>
            <a:r>
              <a:rPr lang="en-US" sz="3450" b="1">
                <a:solidFill>
                  <a:srgbClr val="FFFFFF"/>
                </a:solidFill>
                <a:latin typeface="Microsoft YaHei"/>
                <a:ea typeface="Microsoft YaHei"/>
              </a:rPr>
              <a:t>&amp; Milestone M1</a:t>
            </a:r>
            <a:endParaRPr/>
          </a:p>
        </p:txBody>
      </p:sp>
      <p:sp>
        <p:nvSpPr>
          <p:cNvPr id="371" name=""/>
          <p:cNvSpPr/>
          <p:nvPr/>
        </p:nvSpPr>
        <p:spPr>
          <a:xfrm rot="0" flipH="0" flipV="0">
            <a:off x="3467100" y="3752850"/>
            <a:ext cx="609600" cy="38100"/>
          </a:xfrm>
          <a:prstGeom prst="rect">
            <a:avLst/>
          </a:prstGeom>
          <a:solidFill>
            <a:srgbClr val="FFC107"/>
          </a:solidFill>
          <a:ln/>
        </p:spPr>
        <p:txBody>
          <a:bodyPr/>
          <a:p/>
        </p:txBody>
      </p:sp>
      <p:sp>
        <p:nvSpPr>
          <p:cNvPr id="372" name=""/>
          <p:cNvSpPr/>
          <p:nvPr/>
        </p:nvSpPr>
        <p:spPr>
          <a:xfrm rot="0" flipH="0" flipV="0">
            <a:off x="3467100" y="4114800"/>
            <a:ext cx="76200" cy="76200"/>
          </a:xfrm>
          <a:prstGeom prst="roundRect">
            <a:avLst>
              <a:gd name="adj" fmla="val 50000"/>
            </a:avLst>
          </a:prstGeom>
          <a:solidFill>
            <a:srgbClr val="3D7BD9"/>
          </a:solidFill>
          <a:ln/>
        </p:spPr>
        <p:txBody>
          <a:bodyPr/>
          <a:p/>
        </p:txBody>
      </p:sp>
      <p:sp>
        <p:nvSpPr>
          <p:cNvPr id="373" name="" descr="{&quot;isTemplate&quot;:true,&quot;type&quot;:&quot;text&quot;}"/>
          <p:cNvSpPr txBox="1"/>
          <p:nvPr/>
        </p:nvSpPr>
        <p:spPr>
          <a:xfrm rot="0" flipH="0" flipV="0">
            <a:off x="3657600" y="4038600"/>
            <a:ext cx="3486150" cy="228600"/>
          </a:xfrm>
          <a:prstGeom prst="rect"/>
        </p:spPr>
        <p:txBody>
          <a:bodyPr wrap="none" lIns="0" tIns="0" rIns="0" bIns="0"/>
          <a:p>
            <a:pPr>
              <a:lnSpc>
                <a:spcPct val="100000"/>
              </a:lnSpc>
            </a:pPr>
            <a:r>
              <a:rPr lang="en-US" sz="1500">
                <a:solidFill>
                  <a:srgbClr val="C5D4EA"/>
                </a:solidFill>
                <a:latin typeface="Microsoft YaHei"/>
                <a:ea typeface="Microsoft YaHei"/>
              </a:rPr>
              <a:t>Find five defects in a broken specification</a:t>
            </a:r>
            <a:endParaRPr/>
          </a:p>
        </p:txBody>
      </p:sp>
      <p:sp>
        <p:nvSpPr>
          <p:cNvPr id="374" name=""/>
          <p:cNvSpPr/>
          <p:nvPr/>
        </p:nvSpPr>
        <p:spPr>
          <a:xfrm rot="0" flipH="0" flipV="0">
            <a:off x="3467100" y="4457700"/>
            <a:ext cx="76200" cy="76200"/>
          </a:xfrm>
          <a:prstGeom prst="roundRect">
            <a:avLst>
              <a:gd name="adj" fmla="val 50000"/>
            </a:avLst>
          </a:prstGeom>
          <a:solidFill>
            <a:srgbClr val="3D7BD9"/>
          </a:solidFill>
          <a:ln/>
        </p:spPr>
        <p:txBody>
          <a:bodyPr/>
          <a:p/>
        </p:txBody>
      </p:sp>
      <p:sp>
        <p:nvSpPr>
          <p:cNvPr id="375" name="" descr="{&quot;isTemplate&quot;:true,&quot;type&quot;:&quot;text&quot;}"/>
          <p:cNvSpPr txBox="1"/>
          <p:nvPr/>
        </p:nvSpPr>
        <p:spPr>
          <a:xfrm rot="0" flipH="0" flipV="0">
            <a:off x="3657600" y="4381500"/>
            <a:ext cx="3943350" cy="228600"/>
          </a:xfrm>
          <a:prstGeom prst="rect"/>
        </p:spPr>
        <p:txBody>
          <a:bodyPr wrap="none" lIns="0" tIns="0" rIns="0" bIns="0"/>
          <a:p>
            <a:pPr>
              <a:lnSpc>
                <a:spcPct val="100000"/>
              </a:lnSpc>
            </a:pPr>
            <a:r>
              <a:rPr lang="en-US" sz="1500">
                <a:solidFill>
                  <a:srgbClr val="C5D4EA"/>
                </a:solidFill>
                <a:latin typeface="Microsoft YaHei"/>
                <a:ea typeface="Microsoft YaHei"/>
              </a:rPr>
              <a:t>Review each other’s work against the checklist</a:t>
            </a:r>
            <a:endParaRPr/>
          </a:p>
        </p:txBody>
      </p:sp>
      <p:sp>
        <p:nvSpPr>
          <p:cNvPr id="376" name=""/>
          <p:cNvSpPr/>
          <p:nvPr/>
        </p:nvSpPr>
        <p:spPr>
          <a:xfrm rot="0" flipH="0" flipV="0">
            <a:off x="3467100" y="4800600"/>
            <a:ext cx="76200" cy="76200"/>
          </a:xfrm>
          <a:prstGeom prst="roundRect">
            <a:avLst>
              <a:gd name="adj" fmla="val 50000"/>
            </a:avLst>
          </a:prstGeom>
          <a:solidFill>
            <a:srgbClr val="3D7BD9"/>
          </a:solidFill>
          <a:ln/>
        </p:spPr>
        <p:txBody>
          <a:bodyPr/>
          <a:p/>
        </p:txBody>
      </p:sp>
      <p:sp>
        <p:nvSpPr>
          <p:cNvPr id="377" name="" descr="{&quot;isTemplate&quot;:true,&quot;type&quot;:&quot;text&quot;}"/>
          <p:cNvSpPr txBox="1"/>
          <p:nvPr/>
        </p:nvSpPr>
        <p:spPr>
          <a:xfrm rot="0" flipH="0" flipV="0">
            <a:off x="3657600" y="4724400"/>
            <a:ext cx="3676650" cy="228600"/>
          </a:xfrm>
          <a:prstGeom prst="rect"/>
        </p:spPr>
        <p:txBody>
          <a:bodyPr wrap="none" lIns="0" tIns="0" rIns="0" bIns="0"/>
          <a:p>
            <a:pPr>
              <a:lnSpc>
                <a:spcPct val="100000"/>
              </a:lnSpc>
            </a:pPr>
            <a:r>
              <a:rPr lang="en-US" sz="1500">
                <a:solidFill>
                  <a:srgbClr val="C5D4EA"/>
                </a:solidFill>
                <a:latin typeface="Microsoft YaHei"/>
                <a:ea typeface="Microsoft YaHei"/>
              </a:rPr>
              <a:t>M1 is tagged m1 before you leave the room</a:t>
            </a:r>
            <a:endParaRPr/>
          </a:p>
        </p:txBody>
      </p:sp>
      <p:sp>
        <p:nvSpPr>
          <p:cNvPr id="378" name=""/>
          <p:cNvSpPr/>
          <p:nvPr/>
        </p:nvSpPr>
        <p:spPr>
          <a:xfrm rot="0" flipH="0" flipV="0">
            <a:off x="0" y="0"/>
            <a:ext cx="12192000" cy="76200"/>
          </a:xfrm>
          <a:prstGeom prst="rect">
            <a:avLst/>
          </a:prstGeom>
          <a:solidFill>
            <a:srgbClr val="1E4FA8"/>
          </a:solidFill>
          <a:ln/>
        </p:spPr>
        <p:txBody>
          <a:bodyPr/>
          <a:p/>
        </p:txBody>
      </p:sp>
    </p:spTree>
  </p:cSld>
</p:sld>
</file>

<file path=ppt/slides/slide29.xml><?xml version="1.0" encoding="utf-8"?>
<p:sld xmlns:p="http://schemas.openxmlformats.org/presentationml/2006/main" xmlns:a="http://schemas.openxmlformats.org/drawingml/2006/main">
  <p:cSld>
    <p:spTree>
      <p:nvGrpSpPr>
        <p:cNvPr id="379"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LAB · EXERCISE 5.1&lt;/Text&gt;&#10;  &lt;/Box&gt;&#10;  &lt;Box style={{ padding: '13px 40px 0 40px', flexDirection: 'row', alignItems: 'center', justifyContent: 'space-between' }}&gt;&#10;    &lt;Text style={{ fontSize: 29, fontWeight: 'bold', color: '#0E3F8C' }}&gt;Exercise 5.1 — The Broken Spec&lt;/Text&gt;&#10;    &lt;Text style={{ fontSize: 14, color: '#1E4FA8', fontWeight: 'bold' }}&gt;29 / 38&lt;/Text&gt;&#10;  &lt;/Box&gt;&#10;  &lt;Box style={{ flex: 1, padding: '10px 40px 0 40px', flexDirection: 'row', gap: 26 }}&gt;&#10;    &lt;Box style={{ flex: 5, justifyContent: 'center' }}&gt;&#10;      &lt;CodeBlock theme='one-dark-pro' code={`Use Case:      Process the order&#10;Scope:         CampusBites&#10;Level:         User goal&#10;Primary actor: Student and Kitchen Staff&#10;&#10;Preconditions:&#10;  The student is logged in.&#10;&#10;Main success scenario:&#10;  1  User navigates to the cart page.&#10;  2  User clicks the Pay button.&#10;  3  System validates the payment.&#10;  4  Order is created.&#10;&#10;Extensions: None.&#10;&#10;Postconditions:&#10;  The order is created successfully.`} language='text' /&gt;&#10;    &lt;/Box&gt;&#10;    &lt;Box style={{ flex: 2, flexDirection: 'column', justifyContent: 'center', gap: 12 }}&gt;&#10;      &lt;Box style={{ padding: '15px 17px', background: '#F0F5FC', borderRadius: 9, borderLeft: '4px solid #1E4FA8' }}&gt;&#10;        &lt;Text style={{ fontSize: 15.5, fontWeight: 'bold', color: '#0E3F8C' }}&gt;This is the exercise&lt;/Text&gt;&#10;        &lt;Text style={{ fontSize: 12.8, color: '#4A5568', lineHeight: 1.6, marginTop: 5 }}&gt;&#10;          A real submitted draft, lightly trimmed. Five defects are planted in it. Your job is to name all five.&#10;        &lt;/Text&gt;&#10;      &lt;/Box&gt;&#10;      &lt;Box style={{ padding: '15px 17px', background: '#FFF6E0', borderRadius: 9, borderLeft: '4px solid #FFC107' }}&gt;&#10;        &lt;Text style={{ fontSize: 15.5, fontWeight: 'bold', color: '#996F00' }}&gt;Work in fours, not four&lt;/Text&gt;&#10;        &lt;Text style={{ fontSize: 12.8, color: '#4A5568', lineHeight: 1.6, marginTop: 5 }}&gt;&#10;          Five minutes each reading alone, then merge onto the Recorder’s page. Keep the rows you disagreed on.&#10;        &lt;/Text&gt;&#10;      &lt;/Box&gt;&#10;      &lt;Box style={{ padding: '15px 17px', background: '#FFFFFF', borderRadius: 9, border: '1px solid #D6DCE5' }}&gt;&#10;        &lt;Text style={{ fontSize: 15.5, fontWeight: 'bold', color: '#0E3F8C' }}&gt;Answer on paper first&lt;/Text&gt;&#10;        &lt;Text style={{ fontSize: 12.8, color: '#4A5568', lineHeight: 1.6, marginTop: 5 }}&gt;&#10;          Write the corrected sentence, not just the complaint. “Step 2 is wrong” is a finding; “step 2 should read …” is a fix.&#10;        &lt;/Text&gt;&#10;      &lt;/Box&gt;&#10;      &lt;Box style={{ padding: '12px 16px', background: '#F7F9FC', borderRadius: 8, border: '1px dashed #D6DCE5' }}&gt;&#10;        &lt;Text style={{ fontSize: 12.8, color: '#8B97A8', lineHeight: 1.6 }}&gt;&#10;          Answers on the next two pages. Do not look ahead — the exercise only works if you commit before checking.&#10;        &lt;/Text&gt;&#10;      &lt;/Box&gt;&#10;    &lt;/Box&gt;&#10;  &lt;/Box&gt;&#10;  &lt;Box style={{ height: 46, background: '#0E3F8C', padding: '0 40px', flexDirection: 'row', alignItems: 'center', justifyContent: 'center' }}&gt;&#10;    &lt;Text style={{ fontSize: 16.5, color: '#FFFFFF', fontWeight: '600' }}&gt;Five defects. If you find four, you found the easy four.&lt;/Text&gt;&#10;  &lt;/Box&gt;&#10;&lt;/Slide&gt;&#10;"/>
        <p:cNvGrpSpPr/>
        <p:nvPr/>
      </p:nvGrpSpPr>
      <p:grpSpPr>
        <a:xfrm>
          <a:off x="0" y="0"/>
          <a:ext cx="0" cy="0"/>
          <a:chOff x="0" y="0"/>
          <a:chExt cx="0" cy="0"/>
        </a:xfrm>
      </p:grpSpPr>
      <p:sp>
        <p:nvSpPr>
          <p:cNvPr id="380" name=""/>
          <p:cNvSpPr/>
          <p:nvPr/>
        </p:nvSpPr>
        <p:spPr>
          <a:xfrm rot="0" flipH="0" flipV="0">
            <a:off x="0" y="0"/>
            <a:ext cx="12192000" cy="6858000"/>
          </a:xfrm>
          <a:prstGeom prst="rect">
            <a:avLst/>
          </a:prstGeom>
          <a:solidFill>
            <a:srgbClr val="FFFFFF"/>
          </a:solidFill>
          <a:ln/>
        </p:spPr>
        <p:txBody>
          <a:bodyPr/>
          <a:p/>
        </p:txBody>
      </p:sp>
      <p:sp>
        <p:nvSpPr>
          <p:cNvPr id="381" name=""/>
          <p:cNvSpPr/>
          <p:nvPr/>
        </p:nvSpPr>
        <p:spPr>
          <a:xfrm rot="0" flipH="0" flipV="0">
            <a:off x="0" y="0"/>
            <a:ext cx="12192000" cy="685800"/>
          </a:xfrm>
          <a:prstGeom prst="rect">
            <a:avLst/>
          </a:prstGeom>
          <a:solidFill>
            <a:srgbClr val="1E4FA8"/>
          </a:solidFill>
          <a:ln/>
        </p:spPr>
        <p:txBody>
          <a:bodyPr/>
          <a:p/>
        </p:txBody>
      </p:sp>
      <p:sp>
        <p:nvSpPr>
          <p:cNvPr id="382"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383" name="" descr="{&quot;isTemplate&quot;:true,&quot;type&quot;:&quot;text&quot;}"/>
          <p:cNvSpPr txBox="1"/>
          <p:nvPr/>
        </p:nvSpPr>
        <p:spPr>
          <a:xfrm rot="0" flipH="0" flipV="0">
            <a:off x="10029825" y="257175"/>
            <a:ext cx="1781175" cy="171450"/>
          </a:xfrm>
          <a:prstGeom prst="rect"/>
        </p:spPr>
        <p:txBody>
          <a:bodyPr wrap="none" lIns="0" tIns="0" rIns="0" bIns="0"/>
          <a:p>
            <a:pPr>
              <a:lnSpc>
                <a:spcPct val="100000"/>
              </a:lnSpc>
            </a:pPr>
            <a:r>
              <a:rPr lang="en-US" sz="1125">
                <a:solidFill>
                  <a:srgbClr val="B9CDF0"/>
                </a:solidFill>
                <a:latin typeface="Microsoft YaHei"/>
                <a:ea typeface="Microsoft YaHei"/>
              </a:rPr>
              <a:t>W05 · LAB · EXERCISE 5.1</a:t>
            </a:r>
            <a:endParaRPr/>
          </a:p>
        </p:txBody>
      </p:sp>
      <p:sp>
        <p:nvSpPr>
          <p:cNvPr id="384" name="" descr="{&quot;isTemplate&quot;:true,&quot;type&quot;:&quot;text&quot;}"/>
          <p:cNvSpPr txBox="1"/>
          <p:nvPr/>
        </p:nvSpPr>
        <p:spPr>
          <a:xfrm rot="0" flipH="0" flipV="0">
            <a:off x="381000" y="809625"/>
            <a:ext cx="4286250" cy="333375"/>
          </a:xfrm>
          <a:prstGeom prst="rect"/>
        </p:spPr>
        <p:txBody>
          <a:bodyPr wrap="none" lIns="0" tIns="0" rIns="0" bIns="0"/>
          <a:p>
            <a:pPr>
              <a:lnSpc>
                <a:spcPct val="100000"/>
              </a:lnSpc>
            </a:pPr>
            <a:r>
              <a:rPr lang="en-US" sz="2175" b="1">
                <a:solidFill>
                  <a:srgbClr val="0E3F8C"/>
                </a:solidFill>
                <a:latin typeface="Microsoft YaHei"/>
                <a:ea typeface="Microsoft YaHei"/>
              </a:rPr>
              <a:t>Exercise 5.1 — The Broken Spec</a:t>
            </a:r>
            <a:endParaRPr/>
          </a:p>
        </p:txBody>
      </p:sp>
      <p:sp>
        <p:nvSpPr>
          <p:cNvPr id="385"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29 / 38</a:t>
            </a:r>
            <a:endParaRPr/>
          </a:p>
        </p:txBody>
      </p:sp>
      <p:sp>
        <p:nvSpPr>
          <p:cNvPr id="386" name=""/>
          <p:cNvSpPr/>
          <p:nvPr/>
        </p:nvSpPr>
        <p:spPr>
          <a:xfrm rot="0" flipH="0" flipV="0">
            <a:off x="8658225" y="1476375"/>
            <a:ext cx="3190875" cy="990600"/>
          </a:xfrm>
          <a:prstGeom prst="roundRect">
            <a:avLst>
              <a:gd name="adj" fmla="val 8654"/>
            </a:avLst>
          </a:prstGeom>
          <a:solidFill>
            <a:srgbClr val="F0F5FC"/>
          </a:solidFill>
          <a:ln/>
        </p:spPr>
        <p:txBody>
          <a:bodyPr/>
          <a:p/>
        </p:txBody>
      </p:sp>
      <p:sp>
        <p:nvSpPr>
          <p:cNvPr id="387" name=""/>
          <p:cNvSpPr/>
          <p:nvPr/>
        </p:nvSpPr>
        <p:spPr>
          <a:xfrm rot="0" flipH="0" flipV="0">
            <a:off x="8658225" y="1476375"/>
            <a:ext cx="3190875" cy="990600"/>
          </a:xfrm>
          <a:custGeom>
            <a:pathLst>
              <a:path w="335" h="104">
                <a:moveTo>
                  <a:pt x="9" y="0"/>
                </a:moveTo>
                <a:cubicBezTo>
                  <a:pt x="6" y="0"/>
                  <a:pt x="4" y="2"/>
                  <a:pt x="4" y="5"/>
                </a:cubicBezTo>
                <a:lnTo>
                  <a:pt x="4" y="99"/>
                </a:lnTo>
                <a:cubicBezTo>
                  <a:pt x="4" y="101"/>
                  <a:pt x="6" y="103"/>
                  <a:pt x="8" y="104"/>
                </a:cubicBezTo>
                <a:cubicBezTo>
                  <a:pt x="4" y="104"/>
                  <a:pt x="0" y="100"/>
                  <a:pt x="0" y="95"/>
                </a:cubicBezTo>
                <a:lnTo>
                  <a:pt x="0" y="9"/>
                </a:lnTo>
                <a:cubicBezTo>
                  <a:pt x="0" y="4"/>
                  <a:pt x="4" y="0"/>
                  <a:pt x="9" y="0"/>
                </a:cubicBezTo>
                <a:close/>
              </a:path>
            </a:pathLst>
          </a:custGeom>
          <a:solidFill>
            <a:srgbClr val="1E4FA8"/>
          </a:solidFill>
          <a:ln/>
        </p:spPr>
        <p:txBody>
          <a:bodyPr/>
          <a:p/>
        </p:txBody>
      </p:sp>
      <p:sp>
        <p:nvSpPr>
          <p:cNvPr id="388" name="" descr="{&quot;isTemplate&quot;:true,&quot;type&quot;:&quot;text&quot;}"/>
          <p:cNvSpPr txBox="1"/>
          <p:nvPr/>
        </p:nvSpPr>
        <p:spPr>
          <a:xfrm rot="0" flipH="0" flipV="0">
            <a:off x="8820150" y="1619250"/>
            <a:ext cx="2828925" cy="180975"/>
          </a:xfrm>
          <a:prstGeom prst="rect"/>
        </p:spPr>
        <p:txBody>
          <a:bodyPr wrap="none" lIns="0" tIns="0" rIns="0" bIns="0"/>
          <a:p>
            <a:pPr>
              <a:lnSpc>
                <a:spcPct val="100000"/>
              </a:lnSpc>
            </a:pPr>
            <a:r>
              <a:rPr lang="en-US" sz="1163" b="1">
                <a:solidFill>
                  <a:srgbClr val="0E3F8C"/>
                </a:solidFill>
                <a:latin typeface="Microsoft YaHei"/>
                <a:ea typeface="Microsoft YaHei"/>
              </a:rPr>
              <a:t>This is the exercise</a:t>
            </a:r>
            <a:endParaRPr/>
          </a:p>
        </p:txBody>
      </p:sp>
      <p:sp>
        <p:nvSpPr>
          <p:cNvPr id="389" name="" descr="{&quot;isTemplate&quot;:true,&quot;type&quot;:&quot;text&quot;}"/>
          <p:cNvSpPr txBox="1"/>
          <p:nvPr/>
        </p:nvSpPr>
        <p:spPr>
          <a:xfrm rot="0" flipH="0" flipV="0">
            <a:off x="8820150" y="1847850"/>
            <a:ext cx="2828925" cy="4762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A real submitted draft, lightly trimmed. Five defects are planted in it. Your job is to name all five.</a:t>
            </a:r>
            <a:endParaRPr/>
          </a:p>
        </p:txBody>
      </p:sp>
      <p:sp>
        <p:nvSpPr>
          <p:cNvPr id="390" name=""/>
          <p:cNvSpPr/>
          <p:nvPr/>
        </p:nvSpPr>
        <p:spPr>
          <a:xfrm rot="0" flipH="0" flipV="0">
            <a:off x="8658225" y="2581275"/>
            <a:ext cx="3190875" cy="1219200"/>
          </a:xfrm>
          <a:prstGeom prst="roundRect">
            <a:avLst>
              <a:gd name="adj" fmla="val 7031"/>
            </a:avLst>
          </a:prstGeom>
          <a:solidFill>
            <a:srgbClr val="FFF6E0"/>
          </a:solidFill>
          <a:ln/>
        </p:spPr>
        <p:txBody>
          <a:bodyPr/>
          <a:p/>
        </p:txBody>
      </p:sp>
      <p:sp>
        <p:nvSpPr>
          <p:cNvPr id="391" name=""/>
          <p:cNvSpPr/>
          <p:nvPr/>
        </p:nvSpPr>
        <p:spPr>
          <a:xfrm rot="0" flipH="0" flipV="0">
            <a:off x="8658225" y="2581275"/>
            <a:ext cx="3190875" cy="1219200"/>
          </a:xfrm>
          <a:custGeom>
            <a:pathLst>
              <a:path w="335" h="128">
                <a:moveTo>
                  <a:pt x="9" y="0"/>
                </a:moveTo>
                <a:cubicBezTo>
                  <a:pt x="6" y="0"/>
                  <a:pt x="4" y="2"/>
                  <a:pt x="4" y="5"/>
                </a:cubicBezTo>
                <a:lnTo>
                  <a:pt x="4" y="123"/>
                </a:lnTo>
                <a:cubicBezTo>
                  <a:pt x="4" y="125"/>
                  <a:pt x="6" y="127"/>
                  <a:pt x="8" y="128"/>
                </a:cubicBezTo>
                <a:cubicBezTo>
                  <a:pt x="4" y="128"/>
                  <a:pt x="0" y="124"/>
                  <a:pt x="0" y="119"/>
                </a:cubicBezTo>
                <a:lnTo>
                  <a:pt x="0" y="9"/>
                </a:lnTo>
                <a:cubicBezTo>
                  <a:pt x="0" y="4"/>
                  <a:pt x="4" y="0"/>
                  <a:pt x="9" y="0"/>
                </a:cubicBezTo>
                <a:close/>
              </a:path>
            </a:pathLst>
          </a:custGeom>
          <a:solidFill>
            <a:srgbClr val="FFC107"/>
          </a:solidFill>
          <a:ln/>
        </p:spPr>
        <p:txBody>
          <a:bodyPr/>
          <a:p/>
        </p:txBody>
      </p:sp>
      <p:sp>
        <p:nvSpPr>
          <p:cNvPr id="392" name="" descr="{&quot;isTemplate&quot;:true,&quot;type&quot;:&quot;text&quot;}"/>
          <p:cNvSpPr txBox="1"/>
          <p:nvPr/>
        </p:nvSpPr>
        <p:spPr>
          <a:xfrm rot="0" flipH="0" flipV="0">
            <a:off x="8820150" y="2724150"/>
            <a:ext cx="2828925" cy="180975"/>
          </a:xfrm>
          <a:prstGeom prst="rect"/>
        </p:spPr>
        <p:txBody>
          <a:bodyPr wrap="none" lIns="0" tIns="0" rIns="0" bIns="0"/>
          <a:p>
            <a:pPr>
              <a:lnSpc>
                <a:spcPct val="100000"/>
              </a:lnSpc>
            </a:pPr>
            <a:r>
              <a:rPr lang="en-US" sz="1163" b="1">
                <a:solidFill>
                  <a:srgbClr val="996F00"/>
                </a:solidFill>
                <a:latin typeface="Microsoft YaHei"/>
                <a:ea typeface="Microsoft YaHei"/>
              </a:rPr>
              <a:t>Work in fours, not four</a:t>
            </a:r>
            <a:endParaRPr/>
          </a:p>
        </p:txBody>
      </p:sp>
      <p:sp>
        <p:nvSpPr>
          <p:cNvPr id="393" name="" descr="{&quot;isTemplate&quot;:true,&quot;type&quot;:&quot;text&quot;}"/>
          <p:cNvSpPr txBox="1"/>
          <p:nvPr/>
        </p:nvSpPr>
        <p:spPr>
          <a:xfrm rot="0" flipH="0" flipV="0">
            <a:off x="8820150" y="2952750"/>
            <a:ext cx="2828925" cy="7048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Five minutes each reading alone, then merge onto the Recorder’s page. Keep the rows you disagreed on.</a:t>
            </a:r>
            <a:endParaRPr/>
          </a:p>
        </p:txBody>
      </p:sp>
      <p:sp>
        <p:nvSpPr>
          <p:cNvPr id="394" name=""/>
          <p:cNvSpPr/>
          <p:nvPr/>
        </p:nvSpPr>
        <p:spPr>
          <a:xfrm rot="0" flipH="0" flipV="0">
            <a:off x="8620125" y="3914775"/>
            <a:ext cx="3190875" cy="1219200"/>
          </a:xfrm>
          <a:prstGeom prst="roundRect">
            <a:avLst>
              <a:gd name="adj" fmla="val 7031"/>
            </a:avLst>
          </a:prstGeom>
          <a:solidFill>
            <a:srgbClr val="FFFFFF"/>
          </a:solidFill>
          <a:ln w="12700">
            <a:solidFill>
              <a:srgbClr val="D6DCE5"/>
            </a:solidFill>
            <a:prstDash val="solid"/>
          </a:ln>
        </p:spPr>
        <p:txBody>
          <a:bodyPr/>
          <a:p/>
        </p:txBody>
      </p:sp>
      <p:sp>
        <p:nvSpPr>
          <p:cNvPr id="395" name="" descr="{&quot;isTemplate&quot;:true,&quot;type&quot;:&quot;text&quot;}"/>
          <p:cNvSpPr txBox="1"/>
          <p:nvPr/>
        </p:nvSpPr>
        <p:spPr>
          <a:xfrm rot="0" flipH="0" flipV="0">
            <a:off x="8782050" y="4057650"/>
            <a:ext cx="2867025" cy="180975"/>
          </a:xfrm>
          <a:prstGeom prst="rect"/>
        </p:spPr>
        <p:txBody>
          <a:bodyPr wrap="none" lIns="0" tIns="0" rIns="0" bIns="0"/>
          <a:p>
            <a:pPr>
              <a:lnSpc>
                <a:spcPct val="100000"/>
              </a:lnSpc>
            </a:pPr>
            <a:r>
              <a:rPr lang="en-US" sz="1163" b="1">
                <a:solidFill>
                  <a:srgbClr val="0E3F8C"/>
                </a:solidFill>
                <a:latin typeface="Microsoft YaHei"/>
                <a:ea typeface="Microsoft YaHei"/>
              </a:rPr>
              <a:t>Answer on paper first</a:t>
            </a:r>
            <a:endParaRPr/>
          </a:p>
        </p:txBody>
      </p:sp>
      <p:sp>
        <p:nvSpPr>
          <p:cNvPr id="396" name="" descr="{&quot;isTemplate&quot;:true,&quot;type&quot;:&quot;text&quot;}"/>
          <p:cNvSpPr txBox="1"/>
          <p:nvPr/>
        </p:nvSpPr>
        <p:spPr>
          <a:xfrm rot="0" flipH="0" flipV="0">
            <a:off x="8782050" y="4286250"/>
            <a:ext cx="2867025" cy="7048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Write the corrected sentence, not just the complaint. “Step 2 is wrong” is a finding; “step 2 should read …” is a fix.</a:t>
            </a:r>
            <a:endParaRPr/>
          </a:p>
        </p:txBody>
      </p:sp>
      <p:sp>
        <p:nvSpPr>
          <p:cNvPr id="397" name=""/>
          <p:cNvSpPr/>
          <p:nvPr/>
        </p:nvSpPr>
        <p:spPr>
          <a:xfrm rot="0" flipH="0" flipV="0">
            <a:off x="8620125" y="5248275"/>
            <a:ext cx="3190875" cy="933450"/>
          </a:xfrm>
          <a:prstGeom prst="roundRect">
            <a:avLst>
              <a:gd name="adj" fmla="val 8163"/>
            </a:avLst>
          </a:prstGeom>
          <a:solidFill>
            <a:srgbClr val="F7F9FC"/>
          </a:solidFill>
          <a:ln w="12700">
            <a:solidFill>
              <a:srgbClr val="D6DCE5"/>
            </a:solidFill>
            <a:prstDash val="dash"/>
          </a:ln>
        </p:spPr>
        <p:txBody>
          <a:bodyPr/>
          <a:p/>
        </p:txBody>
      </p:sp>
      <p:sp>
        <p:nvSpPr>
          <p:cNvPr id="398" name="" descr="{&quot;isTemplate&quot;:true,&quot;type&quot;:&quot;text&quot;}"/>
          <p:cNvSpPr txBox="1"/>
          <p:nvPr/>
        </p:nvSpPr>
        <p:spPr>
          <a:xfrm rot="0" flipH="0" flipV="0">
            <a:off x="8772525" y="5362575"/>
            <a:ext cx="2886075" cy="704850"/>
          </a:xfrm>
          <a:prstGeom prst="rect"/>
        </p:spPr>
        <p:txBody>
          <a:bodyPr wrap="square" lIns="0" tIns="0" rIns="0" bIns="0">
            <a:normAutofit/>
          </a:bodyPr>
          <a:p>
            <a:pPr>
              <a:lnSpc>
                <a:spcPct val="160000"/>
              </a:lnSpc>
            </a:pPr>
            <a:r>
              <a:rPr lang="en-US" sz="960">
                <a:solidFill>
                  <a:srgbClr val="8B97A8"/>
                </a:solidFill>
                <a:latin typeface="Microsoft YaHei"/>
                <a:ea typeface="Microsoft YaHei"/>
              </a:rPr>
              <a:t>Answers on the next two pages. Do not look ahead — the exercise only works if you commit before checking.</a:t>
            </a:r>
            <a:endParaRPr/>
          </a:p>
        </p:txBody>
      </p:sp>
      <p:sp>
        <p:nvSpPr>
          <p:cNvPr id="399" name=""/>
          <p:cNvSpPr/>
          <p:nvPr/>
        </p:nvSpPr>
        <p:spPr>
          <a:xfrm rot="0" flipH="0" flipV="0">
            <a:off x="0" y="6419850"/>
            <a:ext cx="12192000" cy="438150"/>
          </a:xfrm>
          <a:prstGeom prst="rect">
            <a:avLst/>
          </a:prstGeom>
          <a:solidFill>
            <a:srgbClr val="0E3F8C"/>
          </a:solidFill>
          <a:ln/>
        </p:spPr>
        <p:txBody>
          <a:bodyPr/>
          <a:p/>
        </p:txBody>
      </p:sp>
      <p:sp>
        <p:nvSpPr>
          <p:cNvPr id="400" name="" descr="{&quot;isTemplate&quot;:true,&quot;type&quot;:&quot;text&quot;}"/>
          <p:cNvSpPr txBox="1"/>
          <p:nvPr/>
        </p:nvSpPr>
        <p:spPr>
          <a:xfrm rot="0" flipH="0" flipV="0">
            <a:off x="4105275" y="6543675"/>
            <a:ext cx="3990975" cy="190500"/>
          </a:xfrm>
          <a:prstGeom prst="rect"/>
        </p:spPr>
        <p:txBody>
          <a:bodyPr wrap="none" lIns="0" tIns="0" rIns="0" bIns="0"/>
          <a:p>
            <a:pPr>
              <a:lnSpc>
                <a:spcPct val="100000"/>
              </a:lnSpc>
            </a:pPr>
            <a:r>
              <a:rPr lang="en-US" sz="1238" b="1">
                <a:solidFill>
                  <a:srgbClr val="FFFFFF"/>
                </a:solidFill>
                <a:latin typeface="Microsoft YaHei"/>
                <a:ea typeface="Microsoft YaHei"/>
              </a:rPr>
              <a:t>Five defects. If you find four, you found the easy four.</a:t>
            </a:r>
            <a:endParaRPr/>
          </a:p>
        </p:txBody>
      </p:sp>
      <p:sp>
        <p:nvSpPr>
          <p:cNvPr id="401" name=""/>
          <p:cNvSpPr/>
          <p:nvPr/>
        </p:nvSpPr>
        <p:spPr>
          <a:xfrm rot="0" flipH="0" flipV="0">
            <a:off x="381000" y="2457450"/>
            <a:ext cx="7991475" cy="2743200"/>
          </a:xfrm>
          <a:prstGeom prst="roundRect">
            <a:avLst>
              <a:gd name="adj" fmla="val 2778"/>
            </a:avLst>
          </a:prstGeom>
          <a:solidFill>
            <a:srgbClr val="0E1116"/>
          </a:solidFill>
          <a:ln/>
        </p:spPr>
        <p:txBody>
          <a:bodyPr/>
          <a:p/>
        </p:txBody>
      </p:sp>
      <p:sp>
        <p:nvSpPr>
          <p:cNvPr id="402" name=""/>
          <p:cNvSpPr txBox="1"/>
          <p:nvPr/>
        </p:nvSpPr>
        <p:spPr>
          <a:xfrm rot="0" flipH="0" flipV="0">
            <a:off x="533400" y="2590800"/>
            <a:ext cx="7686675" cy="2476500"/>
          </a:xfrm>
          <a:prstGeom prst="rect"/>
        </p:spPr>
        <p:txBody>
          <a:bodyPr wrap="square" lIns="0" tIns="0" rIns="0" bIns="0">
            <a:normAutofit/>
          </a:bodyPr>
          <a:p>
            <a:pPr/>
            <a:r>
              <a:rPr sz="900">
                <a:solidFill>
                  <a:srgbClr val="E5E7EB"/>
                </a:solidFill>
                <a:latin typeface="Menlo"/>
                <a:ea typeface="Menlo"/>
              </a:rPr>
              <a:t>Use Case:      Process the order
Scope:         CampusBites
Level:         User goal
Primary actor: Student and Kitchen Staff
Preconditions:
  The student is logged in.
Main success scenario:
  1  User navigates to the cart page.
  2  User clicks the Pay button.
  3  System validates the payment.
  4  Order is created.
Extensions: None.
Postconditions:
  The order is created successfully.</a:t>
            </a:r>
            <a:endParaRPr/>
          </a:p>
        </p:txBody>
      </p:sp>
    </p:spTree>
  </p:cSld>
</p:sld>
</file>

<file path=ppt/slides/slide30.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417"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LAB · EXERCISE 5.1&lt;/Text&gt;&#10;  &lt;/Box&gt;&#10;  &lt;Box style={{ padding: '13px 40px 0 40px', flexDirection: 'row', alignItems: 'center', justifyContent: 'space-between' }}&gt;&#10;    &lt;Text style={{ fontSize: 29, fontWeight: 'bold', color: '#0E3F8C' }}&gt;Exercise 5.1 — Five Defects&lt;/Text&gt;&#10;    &lt;Text style={{ fontSize: 14, color: '#1E4FA8', fontWeight: 'bold' }}&gt;30 / 38&lt;/Text&gt;&#10;  &lt;/Box&gt;&#10;  &lt;Box style={{ flex: 1, padding: '10px 40px 0 40px' }}&gt;&#10;    &lt;Table&#10;      style={{ width: '100%', height: '100%' }}&#10;      defaultTextStyle={{ fontSize: 13.5, textAlign: 'left', color: '#1A2230' }}&#10;      defaultCellStyle={{&#10;        border: {&#10;          left: { width: 1, color: '#E5E7EB' },&#10;          right: { width: 1, color: '#E5E7EB' },&#10;          top: { width: 1, color: '#E5E7EB' },&#10;          bottom: { width: 1, color: '#E5E7EB' },&#10;        },&#10;      }}&#10;      cells={[&#10;        [&#10;          { text: 'Where', textStyle: { bold: true, color: '#FFFFFF', fontSize: 15 }, cellStyle: { background: { color: '#0E3F8C' } } },&#10;          { text: 'What is wrong', textStyle: { bold: true, color: '#FFFFFF', fontSize: 15 }, cellStyle: { background: { color: '#8B3230' } } },&#10;          { text: 'Which criterion it breaks', textStyle: { bold: true, color: '#FFFFFF', fontSize: 15 }, cellStyle: { background: { color: '#1E4FA8' } } },&#10;        ],&#10;        [&#10;          { text: 'Name + primary actor', textStyle: { bold: true, color: '#0E3F8C' }, cellStyle: { background: { color: '#F7F9FC' } } },&#10;          { text: '“Process the order” is not verb + object, and it lists two primary actors.', textStyle: { color: '#4A5568' }, cellStyle: { background: { color: '#F7F9FC' } } },&#10;          { text: 'Name check + one-actor rule', textStyle: { color: '#4A5568' }, cellStyle: { background: { color: '#F7F9FC' } } },&#10;        ],&#10;        [&#10;          { text: 'Preconditions', textStyle: { bold: true, color: '#0E3F8C' } },&#10;          { text: '“The student is logged in” does not set up a test. What role? Which restaurant? Today’s menu?', textStyle: { color: '#4A5568' } },&#10;          { text: 'Checklist C1 — preconditions set up the test', textStyle: { color: '#4A5568' } },&#10;        ],&#10;        [&#10;          { text: 'Steps 1–2', textStyle: { bold: true, color: '#0E3F8C' }, cellStyle: { background: { color: '#F7F9FC' } } },&#10;          { text: '“Navigates to the cart page” and “clicks the Pay button” describe the interface, not the system.', textStyle: { color: '#4A5568' }, cellStyle: { background: { color: '#F7F9FC' } } },&#10;          { text: 'Observable-response rule', textStyle: { color: '#4A5568' }, cellStyle: { background: { color: '#F7F9FC' } } },&#10;        ],&#10;        [&#10;          { text: 'Step 4', textStyle: { bold: true, color: '#0E3F8C' } },&#10;          { text: '“Order is created” has no subject and no observable result. What is the system doing?', textStyle: { color: '#4A5568' } },&#10;          { text: 'Actor–verb–object sentence', textStyle: { color: '#4A5568' } },&#10;        ],&#10;        [&#10;          { text: 'Extensions + postconditions', textStyle: { bold: true, color: '#0E3F8C' }, cellStyle: { background: { color: '#F7F9FC' } } },&#10;          { text: '“None”, and the postcondition says “created successfully” — so the failure path is undescribed.', textStyle: { color: '#4A5568' }, cellStyle: { background: { color: '#F7F9FC' } } },&#10;          { text: 'Postcondition must cover every exit', textStyle: { color: '#4A5568' }, cellStyle: { background: { color: '#F7F9FC' } } },&#10;        ],&#10;      ]}&#10;    /&gt;&#10;  &lt;/Box&gt;&#10;  &lt;Box style={{ height: 46, background: '#0E3F8C', padding: '0 40px', flexDirection: 'row', alignItems: 'center', justifyContent: 'center' }}&gt;&#10;    &lt;Text style={{ fontSize: 16.5, color: '#FFFFFF', fontWeight: '600' }}&gt;Check your five against this list before you leave. The list is not the exam; it is the floor.&lt;/Text&gt;&#10;  &lt;/Box&gt;&#10;&lt;/Slide&gt;&#10;"/>
        <p:cNvGrpSpPr/>
        <p:nvPr/>
      </p:nvGrpSpPr>
      <p:grpSpPr>
        <a:xfrm>
          <a:off x="0" y="0"/>
          <a:ext cx="0" cy="0"/>
          <a:chOff x="0" y="0"/>
          <a:chExt cx="0" cy="0"/>
        </a:xfrm>
      </p:grpSpPr>
      <p:sp>
        <p:nvSpPr>
          <p:cNvPr id="418" name=""/>
          <p:cNvSpPr/>
          <p:nvPr/>
        </p:nvSpPr>
        <p:spPr>
          <a:xfrm rot="0" flipH="0" flipV="0">
            <a:off x="0" y="0"/>
            <a:ext cx="12192000" cy="6858000"/>
          </a:xfrm>
          <a:prstGeom prst="rect">
            <a:avLst/>
          </a:prstGeom>
          <a:solidFill>
            <a:srgbClr val="FFFFFF"/>
          </a:solidFill>
          <a:ln/>
        </p:spPr>
        <p:txBody>
          <a:bodyPr/>
          <a:p/>
        </p:txBody>
      </p:sp>
      <p:sp>
        <p:nvSpPr>
          <p:cNvPr id="419" name=""/>
          <p:cNvSpPr/>
          <p:nvPr/>
        </p:nvSpPr>
        <p:spPr>
          <a:xfrm rot="0" flipH="0" flipV="0">
            <a:off x="0" y="0"/>
            <a:ext cx="12192000" cy="685800"/>
          </a:xfrm>
          <a:prstGeom prst="rect">
            <a:avLst/>
          </a:prstGeom>
          <a:solidFill>
            <a:srgbClr val="1E4FA8"/>
          </a:solidFill>
          <a:ln/>
        </p:spPr>
        <p:txBody>
          <a:bodyPr/>
          <a:p/>
        </p:txBody>
      </p:sp>
      <p:sp>
        <p:nvSpPr>
          <p:cNvPr id="420"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421" name="" descr="{&quot;isTemplate&quot;:true,&quot;type&quot;:&quot;text&quot;}"/>
          <p:cNvSpPr txBox="1"/>
          <p:nvPr/>
        </p:nvSpPr>
        <p:spPr>
          <a:xfrm rot="0" flipH="0" flipV="0">
            <a:off x="10029825" y="257175"/>
            <a:ext cx="1781175" cy="171450"/>
          </a:xfrm>
          <a:prstGeom prst="rect"/>
        </p:spPr>
        <p:txBody>
          <a:bodyPr wrap="none" lIns="0" tIns="0" rIns="0" bIns="0"/>
          <a:p>
            <a:pPr>
              <a:lnSpc>
                <a:spcPct val="100000"/>
              </a:lnSpc>
            </a:pPr>
            <a:r>
              <a:rPr lang="en-US" sz="1125">
                <a:solidFill>
                  <a:srgbClr val="B9CDF0"/>
                </a:solidFill>
                <a:latin typeface="Microsoft YaHei"/>
                <a:ea typeface="Microsoft YaHei"/>
              </a:rPr>
              <a:t>W05 · LAB · EXERCISE 5.1</a:t>
            </a:r>
            <a:endParaRPr/>
          </a:p>
        </p:txBody>
      </p:sp>
      <p:sp>
        <p:nvSpPr>
          <p:cNvPr id="422" name="" descr="{&quot;isTemplate&quot;:true,&quot;type&quot;:&quot;text&quot;}"/>
          <p:cNvSpPr txBox="1"/>
          <p:nvPr/>
        </p:nvSpPr>
        <p:spPr>
          <a:xfrm rot="0" flipH="0" flipV="0">
            <a:off x="381000" y="809625"/>
            <a:ext cx="3657600" cy="333375"/>
          </a:xfrm>
          <a:prstGeom prst="rect"/>
        </p:spPr>
        <p:txBody>
          <a:bodyPr wrap="none" lIns="0" tIns="0" rIns="0" bIns="0"/>
          <a:p>
            <a:pPr>
              <a:lnSpc>
                <a:spcPct val="100000"/>
              </a:lnSpc>
            </a:pPr>
            <a:r>
              <a:rPr lang="en-US" sz="2175" b="1">
                <a:solidFill>
                  <a:srgbClr val="0E3F8C"/>
                </a:solidFill>
                <a:latin typeface="Microsoft YaHei"/>
                <a:ea typeface="Microsoft YaHei"/>
              </a:rPr>
              <a:t>Exercise 5.1 — Five Defects</a:t>
            </a:r>
            <a:endParaRPr/>
          </a:p>
        </p:txBody>
      </p:sp>
      <p:sp>
        <p:nvSpPr>
          <p:cNvPr id="423"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30 / 38</a:t>
            </a:r>
            <a:endParaRPr/>
          </a:p>
        </p:txBody>
      </p:sp>
      <p:graphicFrame>
        <p:nvGraphicFramePr>
          <p:cNvPr id="424" name=""/>
          <p:cNvGraphicFramePr/>
          <p:nvPr/>
        </p:nvGraphicFramePr>
        <p:xfrm rot="0" flipH="0" flipV="0">
          <a:off x="381000" y="1238250"/>
          <a:ext cx="11430000" cy="5181600"/>
        </p:xfrm>
        <a:graphic>
          <a:graphicData uri="http://schemas.openxmlformats.org/drawingml/2006/table">
            <a:tbl>
              <a:tblGrid>
                <a:gridCol w="2126867">
                  <a:extLst>
                    <a:ext uri="{9D8B030D-6E8A-4147-A177-3AD203B41FA5}">
                      <a16:colId val="1"/>
                    </a:ext>
                  </a:extLst>
                </a:gridCol>
                <a:gridCol w="6290981">
                  <a:extLst>
                    <a:ext uri="{9D8B030D-6E8A-4147-A177-3AD203B41FA5}">
                      <a16:colId val="2"/>
                    </a:ext>
                  </a:extLst>
                </a:gridCol>
                <a:gridCol w="3012151">
                  <a:extLst>
                    <a:ext uri="{9D8B030D-6E8A-4147-A177-3AD203B41FA5}">
                      <a16:colId val="3"/>
                    </a:ext>
                  </a:extLst>
                </a:gridCol>
              </a:tblGrid>
              <a:tr h="911685">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Where</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What is wrong</a:t>
                      </a:r>
                      <a:endParaRPr/>
                    </a:p>
                  </a:txBody>
                  <a:tcPr marL="45720" marR="45720" marT="45720" marB="45720" anchor="ctr">
                    <a:lnL>
                      <a:noFill/>
                    </a:lnL>
                    <a:lnR>
                      <a:noFill/>
                    </a:lnR>
                    <a:lnT>
                      <a:noFill/>
                    </a:lnT>
                    <a:lnB>
                      <a:noFill/>
                    </a:lnB>
                    <a:solidFill>
                      <a:srgbClr val="8B3230"/>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Which criterion it breaks</a:t>
                      </a:r>
                      <a:endParaRPr/>
                    </a:p>
                  </a:txBody>
                  <a:tcPr marL="45720" marR="45720" marT="45720" marB="45720" anchor="ctr">
                    <a:lnL>
                      <a:noFill/>
                    </a:lnL>
                    <a:lnR>
                      <a:noFill/>
                    </a:lnR>
                    <a:lnT>
                      <a:noFill/>
                    </a:lnT>
                    <a:lnB>
                      <a:noFill/>
                    </a:lnB>
                    <a:solidFill>
                      <a:srgbClr val="1E4FA8"/>
                    </a:solidFill>
                  </a:tcPr>
                </a:tc>
                <a:extLst>
                  <a:ext uri="{0D108BD9-81ED-4DB2-BD59-A6C34878D82A}">
                    <a16:rowId val="1"/>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Name + primary actor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“Process the order” is not verb + object, and it lists two primary actors.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Name check + one-actor rule</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Preconditions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student is logged in” does not set up a test. What role? Which restaurant? Today’s menu?</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Checklist C1 — preconditions set up the test</a:t>
                      </a:r>
                      <a:endParaRPr/>
                    </a:p>
                  </a:txBody>
                  <a:tcPr marL="45720" marR="45720" marT="45720" marB="45720" anchor="ctr">
                    <a:lnL>
                      <a:noFill/>
                    </a:lnL>
                    <a:lnR>
                      <a:noFill/>
                    </a:lnR>
                    <a:lnT>
                      <a:noFill/>
                    </a:lnT>
                    <a:lnB>
                      <a:noFill/>
                    </a:lnB>
                  </a:tcPr>
                </a:tc>
                <a:extLst>
                  <a:ext uri="{0D108BD9-81ED-4DB2-BD59-A6C34878D82A}">
                    <a16:rowId val="3"/>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Steps 1–2</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“Navigates to the cart page” and “clicks the Pay button” describe the interface, not the system.</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Observable-response rule</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Step 4</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“Order is created” has no subject and no observable result. What is the system doing?</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Actor–verb–object sentence</a:t>
                      </a:r>
                      <a:endParaRPr/>
                    </a:p>
                  </a:txBody>
                  <a:tcPr marL="45720" marR="45720" marT="45720" marB="45720" anchor="ctr">
                    <a:lnL>
                      <a:noFill/>
                    </a:lnL>
                    <a:lnR>
                      <a:noFill/>
                    </a:lnR>
                    <a:lnT>
                      <a:noFill/>
                    </a:lnT>
                    <a:lnB>
                      <a:noFill/>
                    </a:lnB>
                  </a:tcPr>
                </a:tc>
                <a:extLst>
                  <a:ext uri="{0D108BD9-81ED-4DB2-BD59-A6C34878D82A}">
                    <a16:rowId val="5"/>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Extensions + postconditions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“None”, and the postcondition says “created successfully” — so the failure path is undescribed.</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Postcondition must cover every exit</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bl>
          </a:graphicData>
        </a:graphic>
      </p:graphicFrame>
      <p:sp>
        <p:nvSpPr>
          <p:cNvPr id="425" name=""/>
          <p:cNvSpPr/>
          <p:nvPr/>
        </p:nvSpPr>
        <p:spPr>
          <a:xfrm rot="0" flipH="0" flipV="0">
            <a:off x="0" y="6419850"/>
            <a:ext cx="12192000" cy="438150"/>
          </a:xfrm>
          <a:prstGeom prst="rect">
            <a:avLst/>
          </a:prstGeom>
          <a:solidFill>
            <a:srgbClr val="0E3F8C"/>
          </a:solidFill>
          <a:ln/>
        </p:spPr>
        <p:txBody>
          <a:bodyPr/>
          <a:p/>
        </p:txBody>
      </p:sp>
      <p:sp>
        <p:nvSpPr>
          <p:cNvPr id="426" name="" descr="{&quot;isTemplate&quot;:true,&quot;type&quot;:&quot;text&quot;}"/>
          <p:cNvSpPr txBox="1"/>
          <p:nvPr/>
        </p:nvSpPr>
        <p:spPr>
          <a:xfrm rot="0" flipH="0" flipV="0">
            <a:off x="2828925" y="6543675"/>
            <a:ext cx="6543675" cy="190500"/>
          </a:xfrm>
          <a:prstGeom prst="rect"/>
        </p:spPr>
        <p:txBody>
          <a:bodyPr wrap="none" lIns="0" tIns="0" rIns="0" bIns="0"/>
          <a:p>
            <a:pPr>
              <a:lnSpc>
                <a:spcPct val="100000"/>
              </a:lnSpc>
            </a:pPr>
            <a:r>
              <a:rPr lang="en-US" sz="1238" b="1">
                <a:solidFill>
                  <a:srgbClr val="FFFFFF"/>
                </a:solidFill>
                <a:latin typeface="Microsoft YaHei"/>
                <a:ea typeface="Microsoft YaHei"/>
              </a:rPr>
              <a:t>Check your five against this list before you leave. The list is not the exam; it is the floor.</a:t>
            </a:r>
            <a:endParaRPr/>
          </a:p>
        </p:txBody>
      </p:sp>
    </p:spTree>
  </p:cSld>
</p:sld>
</file>

<file path=ppt/slides/slide31.xml><?xml version="1.0" encoding="utf-8"?>
<p:sld xmlns:p="http://schemas.openxmlformats.org/presentationml/2006/main" xmlns:a="http://schemas.openxmlformats.org/drawingml/2006/main">
  <p:cSld>
    <p:spTree>
      <p:nvGrpSpPr>
        <p:cNvPr id="427"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LAB · EXERCISE 5.1&lt;/Text&gt;&#10;  &lt;/Box&gt;&#10;  &lt;Box style={{ padding: '13px 40px 0 40px', flexDirection: 'row', alignItems: 'center', justifyContent: 'space-between' }}&gt;&#10;    &lt;Text style={{ fontSize: 29, fontWeight: 'bold', color: '#0E3F8C' }}&gt;Exercise 5.1 — Rewritten&lt;/Text&gt;&#10;    &lt;Text style={{ fontSize: 14, color: '#1E4FA8', fontWeight: 'bold' }}&gt;31 / 38&lt;/Text&gt;&#10;  &lt;/Box&gt;&#10;  &lt;Box style={{ flex: 1, padding: '10px 40px 0 40px', flexDirection: 'row', gap: 26 }}&gt;&#10;    &lt;Box style={{ flex: 5, justifyContent: 'center' }}&gt;&#10;      &lt;CodeBlock theme='one-dark-pro' code={`Use Case:      Place Order&#10;Scope:         CampusBites&#10;Level:         User goal&#10;Primary actor: Student&#10;Secondary:     Campus Card Centre&#10;&#10;Preconditions:&#10;  - Student is authenticated for this campus.&#10;  - Today's menu is published.&#10;&#10;Main success scenario:&#10;  1  Student reviews the cart and confirms.&#10;  2  System displays the payable amount.&#10;  3  System requests payment authorisation.&#10;  4  System confirms the amount with the&#10;     provider.&#10;  5  System creates the order in state&#10;     Accepted.&#10;  6  System prints the kitchen ticket.&#10;  7  System reports the order number.&#10;&#10;Extensions:&#10;  4a Item sold out: the system reports it&#10;     and offers to update the cart.&#10;     -&gt; resume at 1.&#10;  4b No courier: the system sets Scheduled&#10;     Delivery and shows the later time.&#10;     -&gt; resume at 5.&#10;&#10;Exceptions:&#10;  4c Provider unreachable: the order is&#10;     created in Pending Payment, no ticket.&#10;     -&gt; ends here.&#10;&#10;Postconditions:&#10;  - Order is Accepted, Scheduled, or&#10;    Pending Payment.&#10;  - No kitchen ticket exists unless the&#10;    order is Accepted.`} language='text' /&gt;&#10;    &lt;/Box&gt;&#10;    &lt;Box style={{ flex: 2, flexDirection: 'column', justifyContent: 'center', gap: 12 }}&gt;&#10;      &lt;Box style={{ padding: '15px 17px', background: '#EAF6EC', borderRadius: 9, borderLeft: '4px solid #2B7A3D' }}&gt;&#10;        &lt;Text style={{ fontSize: 15.5, fontWeight: 'bold', color: '#2B7A3D' }}&gt;Same project, twice the length&lt;/Text&gt;&#10;        &lt;Text style={{ fontSize: 12.8, color: '#4A5568', lineHeight: 1.6, marginTop: 5 }}&gt;&#10;          Nothing about CampusBites changed. What changed is that a tester could now run it.&#10;        &lt;/Text&gt;&#10;      &lt;/Box&gt;&#10;      &lt;Box style={{ padding: '15px 17px', background: '#F0F5FC', borderRadius: 9, borderLeft: '4px solid #1E4FA8' }}&gt;&#10;        &lt;Text style={{ fontSize: 15.5, fontWeight: 'bold', color: '#0E3F8C' }}&gt;Count the branches&lt;/Text&gt;&#10;        &lt;Text style={{ fontSize: 12.8, color: '#4A5568', lineHeight: 1.6, marginTop: 5 }}&gt;&#10;          Two extensions, one exception. That is a realistic number for an order with a payment step — not a target to hit.&#10;        &lt;/Text&gt;&#10;      &lt;/Box&gt;&#10;      &lt;Box style={{ padding: '15px 17px', background: '#FFF6E0', borderRadius: 9, borderLeft: '4px solid #FFC107' }}&gt;&#10;        &lt;Text style={{ fontSize: 15.5, fontWeight: 'bold', color: '#996F00' }}&gt;The last line earns its place&lt;/Text&gt;&#10;        &lt;Text style={{ fontSize: 12.8, color: '#4A5568', lineHeight: 1.6, marginTop: 5 }}&gt;&#10;          “No ticket unless Accepted” is the postcondition that the kitchen would otherwise have to discover by accident.&#10;        &lt;/Text&gt;&#10;      &lt;/Box&gt;&#10;      &lt;Box style={{ padding: '12px 16px', background: '#F7F9FC', borderRadius: 8, border: '1px dashed #D6DCE5' }}&gt;&#10;        &lt;Text style={{ fontSize: 12.8, color: '#8B97A8', lineHeight: 1.6 }}&gt;&#10;          Do not copy this spec. Copy its shape and write your own — the second one you write is where the learning lands.&#10;        &lt;/Text&gt;&#10;      &lt;/Box&gt;&#10;    &lt;/Box&gt;&#10;  &lt;/Box&gt;&#10;  &lt;Box style={{ height: 46, background: '#0E3F8C', padding: '0 40px', flexDirection: 'row', alignItems: 'center', justifyContent: 'center' }}&gt;&#10;    &lt;Text style={{ fontSize: 16.5, color: '#FFFFFF', fontWeight: '600' }}&gt;The fix is not more words. It is more states somebody had to name.&lt;/Text&gt;&#10;  &lt;/Box&gt;&#10;&lt;/Slide&gt;&#10;"/>
        <p:cNvGrpSpPr/>
        <p:nvPr/>
      </p:nvGrpSpPr>
      <p:grpSpPr>
        <a:xfrm>
          <a:off x="0" y="0"/>
          <a:ext cx="0" cy="0"/>
          <a:chOff x="0" y="0"/>
          <a:chExt cx="0" cy="0"/>
        </a:xfrm>
      </p:grpSpPr>
      <p:sp>
        <p:nvSpPr>
          <p:cNvPr id="428" name=""/>
          <p:cNvSpPr/>
          <p:nvPr/>
        </p:nvSpPr>
        <p:spPr>
          <a:xfrm rot="0" flipH="0" flipV="0">
            <a:off x="0" y="0"/>
            <a:ext cx="12192000" cy="6858000"/>
          </a:xfrm>
          <a:prstGeom prst="rect">
            <a:avLst/>
          </a:prstGeom>
          <a:solidFill>
            <a:srgbClr val="FFFFFF"/>
          </a:solidFill>
          <a:ln/>
        </p:spPr>
        <p:txBody>
          <a:bodyPr/>
          <a:p/>
        </p:txBody>
      </p:sp>
      <p:sp>
        <p:nvSpPr>
          <p:cNvPr id="429" name=""/>
          <p:cNvSpPr/>
          <p:nvPr/>
        </p:nvSpPr>
        <p:spPr>
          <a:xfrm rot="0" flipH="0" flipV="0">
            <a:off x="0" y="0"/>
            <a:ext cx="12192000" cy="685800"/>
          </a:xfrm>
          <a:prstGeom prst="rect">
            <a:avLst/>
          </a:prstGeom>
          <a:solidFill>
            <a:srgbClr val="1E4FA8"/>
          </a:solidFill>
          <a:ln/>
        </p:spPr>
        <p:txBody>
          <a:bodyPr/>
          <a:p/>
        </p:txBody>
      </p:sp>
      <p:sp>
        <p:nvSpPr>
          <p:cNvPr id="430"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431" name="" descr="{&quot;isTemplate&quot;:true,&quot;type&quot;:&quot;text&quot;}"/>
          <p:cNvSpPr txBox="1"/>
          <p:nvPr/>
        </p:nvSpPr>
        <p:spPr>
          <a:xfrm rot="0" flipH="0" flipV="0">
            <a:off x="10029825" y="257175"/>
            <a:ext cx="1781175" cy="171450"/>
          </a:xfrm>
          <a:prstGeom prst="rect"/>
        </p:spPr>
        <p:txBody>
          <a:bodyPr wrap="none" lIns="0" tIns="0" rIns="0" bIns="0"/>
          <a:p>
            <a:pPr>
              <a:lnSpc>
                <a:spcPct val="100000"/>
              </a:lnSpc>
            </a:pPr>
            <a:r>
              <a:rPr lang="en-US" sz="1125">
                <a:solidFill>
                  <a:srgbClr val="B9CDF0"/>
                </a:solidFill>
                <a:latin typeface="Microsoft YaHei"/>
                <a:ea typeface="Microsoft YaHei"/>
              </a:rPr>
              <a:t>W05 · LAB · EXERCISE 5.1</a:t>
            </a:r>
            <a:endParaRPr/>
          </a:p>
        </p:txBody>
      </p:sp>
      <p:sp>
        <p:nvSpPr>
          <p:cNvPr id="432" name="" descr="{&quot;isTemplate&quot;:true,&quot;type&quot;:&quot;text&quot;}"/>
          <p:cNvSpPr txBox="1"/>
          <p:nvPr/>
        </p:nvSpPr>
        <p:spPr>
          <a:xfrm rot="0" flipH="0" flipV="0">
            <a:off x="381000" y="809625"/>
            <a:ext cx="3286125" cy="333375"/>
          </a:xfrm>
          <a:prstGeom prst="rect"/>
        </p:spPr>
        <p:txBody>
          <a:bodyPr wrap="none" lIns="0" tIns="0" rIns="0" bIns="0"/>
          <a:p>
            <a:pPr>
              <a:lnSpc>
                <a:spcPct val="100000"/>
              </a:lnSpc>
            </a:pPr>
            <a:r>
              <a:rPr lang="en-US" sz="2175" b="1">
                <a:solidFill>
                  <a:srgbClr val="0E3F8C"/>
                </a:solidFill>
                <a:latin typeface="Microsoft YaHei"/>
                <a:ea typeface="Microsoft YaHei"/>
              </a:rPr>
              <a:t>Exercise 5.1 — Rewritten</a:t>
            </a:r>
            <a:endParaRPr/>
          </a:p>
        </p:txBody>
      </p:sp>
      <p:sp>
        <p:nvSpPr>
          <p:cNvPr id="433"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31 / 38</a:t>
            </a:r>
            <a:endParaRPr/>
          </a:p>
        </p:txBody>
      </p:sp>
      <p:sp>
        <p:nvSpPr>
          <p:cNvPr id="434" name=""/>
          <p:cNvSpPr/>
          <p:nvPr/>
        </p:nvSpPr>
        <p:spPr>
          <a:xfrm rot="0" flipH="0" flipV="0">
            <a:off x="8658225" y="1695450"/>
            <a:ext cx="3190875" cy="990600"/>
          </a:xfrm>
          <a:prstGeom prst="roundRect">
            <a:avLst>
              <a:gd name="adj" fmla="val 8654"/>
            </a:avLst>
          </a:prstGeom>
          <a:solidFill>
            <a:srgbClr val="EAF6EC"/>
          </a:solidFill>
          <a:ln/>
        </p:spPr>
        <p:txBody>
          <a:bodyPr/>
          <a:p/>
        </p:txBody>
      </p:sp>
      <p:sp>
        <p:nvSpPr>
          <p:cNvPr id="435" name=""/>
          <p:cNvSpPr/>
          <p:nvPr/>
        </p:nvSpPr>
        <p:spPr>
          <a:xfrm rot="0" flipH="0" flipV="0">
            <a:off x="8658225" y="1695450"/>
            <a:ext cx="3190875" cy="990600"/>
          </a:xfrm>
          <a:custGeom>
            <a:pathLst>
              <a:path w="335" h="104">
                <a:moveTo>
                  <a:pt x="9" y="0"/>
                </a:moveTo>
                <a:cubicBezTo>
                  <a:pt x="6" y="0"/>
                  <a:pt x="4" y="2"/>
                  <a:pt x="4" y="5"/>
                </a:cubicBezTo>
                <a:lnTo>
                  <a:pt x="4" y="99"/>
                </a:lnTo>
                <a:cubicBezTo>
                  <a:pt x="4" y="101"/>
                  <a:pt x="6" y="103"/>
                  <a:pt x="8" y="104"/>
                </a:cubicBezTo>
                <a:cubicBezTo>
                  <a:pt x="4" y="104"/>
                  <a:pt x="0" y="100"/>
                  <a:pt x="0" y="95"/>
                </a:cubicBezTo>
                <a:lnTo>
                  <a:pt x="0" y="9"/>
                </a:lnTo>
                <a:cubicBezTo>
                  <a:pt x="0" y="4"/>
                  <a:pt x="4" y="0"/>
                  <a:pt x="9" y="0"/>
                </a:cubicBezTo>
                <a:close/>
              </a:path>
            </a:pathLst>
          </a:custGeom>
          <a:solidFill>
            <a:srgbClr val="2B7A3D"/>
          </a:solidFill>
          <a:ln/>
        </p:spPr>
        <p:txBody>
          <a:bodyPr/>
          <a:p/>
        </p:txBody>
      </p:sp>
      <p:sp>
        <p:nvSpPr>
          <p:cNvPr id="436" name="" descr="{&quot;isTemplate&quot;:true,&quot;type&quot;:&quot;text&quot;}"/>
          <p:cNvSpPr txBox="1"/>
          <p:nvPr/>
        </p:nvSpPr>
        <p:spPr>
          <a:xfrm rot="0" flipH="0" flipV="0">
            <a:off x="8820150" y="1838325"/>
            <a:ext cx="2828925" cy="180975"/>
          </a:xfrm>
          <a:prstGeom prst="rect"/>
        </p:spPr>
        <p:txBody>
          <a:bodyPr wrap="none" lIns="0" tIns="0" rIns="0" bIns="0"/>
          <a:p>
            <a:pPr>
              <a:lnSpc>
                <a:spcPct val="100000"/>
              </a:lnSpc>
            </a:pPr>
            <a:r>
              <a:rPr lang="en-US" sz="1163" b="1">
                <a:solidFill>
                  <a:srgbClr val="2B7A3D"/>
                </a:solidFill>
                <a:latin typeface="Microsoft YaHei"/>
                <a:ea typeface="Microsoft YaHei"/>
              </a:rPr>
              <a:t>Same project, twice the length</a:t>
            </a:r>
            <a:endParaRPr/>
          </a:p>
        </p:txBody>
      </p:sp>
      <p:sp>
        <p:nvSpPr>
          <p:cNvPr id="437" name="" descr="{&quot;isTemplate&quot;:true,&quot;type&quot;:&quot;text&quot;}"/>
          <p:cNvSpPr txBox="1"/>
          <p:nvPr/>
        </p:nvSpPr>
        <p:spPr>
          <a:xfrm rot="0" flipH="0" flipV="0">
            <a:off x="8820150" y="2066925"/>
            <a:ext cx="2828925" cy="4762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Nothing about CampusBites changed. What changed is that a tester could now run it.</a:t>
            </a:r>
            <a:endParaRPr/>
          </a:p>
        </p:txBody>
      </p:sp>
      <p:sp>
        <p:nvSpPr>
          <p:cNvPr id="438" name=""/>
          <p:cNvSpPr/>
          <p:nvPr/>
        </p:nvSpPr>
        <p:spPr>
          <a:xfrm rot="0" flipH="0" flipV="0">
            <a:off x="8658225" y="2800350"/>
            <a:ext cx="3190875" cy="1219200"/>
          </a:xfrm>
          <a:prstGeom prst="roundRect">
            <a:avLst>
              <a:gd name="adj" fmla="val 7031"/>
            </a:avLst>
          </a:prstGeom>
          <a:solidFill>
            <a:srgbClr val="F0F5FC"/>
          </a:solidFill>
          <a:ln/>
        </p:spPr>
        <p:txBody>
          <a:bodyPr/>
          <a:p/>
        </p:txBody>
      </p:sp>
      <p:sp>
        <p:nvSpPr>
          <p:cNvPr id="439" name=""/>
          <p:cNvSpPr/>
          <p:nvPr/>
        </p:nvSpPr>
        <p:spPr>
          <a:xfrm rot="0" flipH="0" flipV="0">
            <a:off x="8658225" y="2800350"/>
            <a:ext cx="3190875" cy="1219200"/>
          </a:xfrm>
          <a:custGeom>
            <a:pathLst>
              <a:path w="335" h="128">
                <a:moveTo>
                  <a:pt x="9" y="0"/>
                </a:moveTo>
                <a:cubicBezTo>
                  <a:pt x="6" y="0"/>
                  <a:pt x="4" y="2"/>
                  <a:pt x="4" y="5"/>
                </a:cubicBezTo>
                <a:lnTo>
                  <a:pt x="4" y="123"/>
                </a:lnTo>
                <a:cubicBezTo>
                  <a:pt x="4" y="125"/>
                  <a:pt x="6" y="127"/>
                  <a:pt x="8" y="128"/>
                </a:cubicBezTo>
                <a:cubicBezTo>
                  <a:pt x="4" y="128"/>
                  <a:pt x="0" y="124"/>
                  <a:pt x="0" y="119"/>
                </a:cubicBezTo>
                <a:lnTo>
                  <a:pt x="0" y="9"/>
                </a:lnTo>
                <a:cubicBezTo>
                  <a:pt x="0" y="4"/>
                  <a:pt x="4" y="0"/>
                  <a:pt x="9" y="0"/>
                </a:cubicBezTo>
                <a:close/>
              </a:path>
            </a:pathLst>
          </a:custGeom>
          <a:solidFill>
            <a:srgbClr val="1E4FA8"/>
          </a:solidFill>
          <a:ln/>
        </p:spPr>
        <p:txBody>
          <a:bodyPr/>
          <a:p/>
        </p:txBody>
      </p:sp>
      <p:sp>
        <p:nvSpPr>
          <p:cNvPr id="440" name="" descr="{&quot;isTemplate&quot;:true,&quot;type&quot;:&quot;text&quot;}"/>
          <p:cNvSpPr txBox="1"/>
          <p:nvPr/>
        </p:nvSpPr>
        <p:spPr>
          <a:xfrm rot="0" flipH="0" flipV="0">
            <a:off x="8820150" y="2943225"/>
            <a:ext cx="2828925" cy="180975"/>
          </a:xfrm>
          <a:prstGeom prst="rect"/>
        </p:spPr>
        <p:txBody>
          <a:bodyPr wrap="none" lIns="0" tIns="0" rIns="0" bIns="0"/>
          <a:p>
            <a:pPr>
              <a:lnSpc>
                <a:spcPct val="100000"/>
              </a:lnSpc>
            </a:pPr>
            <a:r>
              <a:rPr lang="en-US" sz="1163" b="1">
                <a:solidFill>
                  <a:srgbClr val="0E3F8C"/>
                </a:solidFill>
                <a:latin typeface="Microsoft YaHei"/>
                <a:ea typeface="Microsoft YaHei"/>
              </a:rPr>
              <a:t>Count the branches</a:t>
            </a:r>
            <a:endParaRPr/>
          </a:p>
        </p:txBody>
      </p:sp>
      <p:sp>
        <p:nvSpPr>
          <p:cNvPr id="441" name="" descr="{&quot;isTemplate&quot;:true,&quot;type&quot;:&quot;text&quot;}"/>
          <p:cNvSpPr txBox="1"/>
          <p:nvPr/>
        </p:nvSpPr>
        <p:spPr>
          <a:xfrm rot="0" flipH="0" flipV="0">
            <a:off x="8820150" y="3171825"/>
            <a:ext cx="2828925" cy="7048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Two extensions, one exception. That is a realistic number for an order with a payment step — not a target to hit.</a:t>
            </a:r>
            <a:endParaRPr/>
          </a:p>
        </p:txBody>
      </p:sp>
      <p:sp>
        <p:nvSpPr>
          <p:cNvPr id="442" name=""/>
          <p:cNvSpPr/>
          <p:nvPr/>
        </p:nvSpPr>
        <p:spPr>
          <a:xfrm rot="0" flipH="0" flipV="0">
            <a:off x="8658225" y="4133850"/>
            <a:ext cx="3190875" cy="1219200"/>
          </a:xfrm>
          <a:prstGeom prst="roundRect">
            <a:avLst>
              <a:gd name="adj" fmla="val 7031"/>
            </a:avLst>
          </a:prstGeom>
          <a:solidFill>
            <a:srgbClr val="FFF6E0"/>
          </a:solidFill>
          <a:ln/>
        </p:spPr>
        <p:txBody>
          <a:bodyPr/>
          <a:p/>
        </p:txBody>
      </p:sp>
      <p:sp>
        <p:nvSpPr>
          <p:cNvPr id="443" name=""/>
          <p:cNvSpPr/>
          <p:nvPr/>
        </p:nvSpPr>
        <p:spPr>
          <a:xfrm rot="0" flipH="0" flipV="0">
            <a:off x="8658225" y="4133850"/>
            <a:ext cx="3190875" cy="1219200"/>
          </a:xfrm>
          <a:custGeom>
            <a:pathLst>
              <a:path w="335" h="128">
                <a:moveTo>
                  <a:pt x="9" y="0"/>
                </a:moveTo>
                <a:cubicBezTo>
                  <a:pt x="6" y="0"/>
                  <a:pt x="4" y="2"/>
                  <a:pt x="4" y="5"/>
                </a:cubicBezTo>
                <a:lnTo>
                  <a:pt x="4" y="123"/>
                </a:lnTo>
                <a:cubicBezTo>
                  <a:pt x="4" y="125"/>
                  <a:pt x="6" y="127"/>
                  <a:pt x="8" y="128"/>
                </a:cubicBezTo>
                <a:cubicBezTo>
                  <a:pt x="4" y="128"/>
                  <a:pt x="0" y="124"/>
                  <a:pt x="0" y="119"/>
                </a:cubicBezTo>
                <a:lnTo>
                  <a:pt x="0" y="9"/>
                </a:lnTo>
                <a:cubicBezTo>
                  <a:pt x="0" y="4"/>
                  <a:pt x="4" y="0"/>
                  <a:pt x="9" y="0"/>
                </a:cubicBezTo>
                <a:close/>
              </a:path>
            </a:pathLst>
          </a:custGeom>
          <a:solidFill>
            <a:srgbClr val="FFC107"/>
          </a:solidFill>
          <a:ln/>
        </p:spPr>
        <p:txBody>
          <a:bodyPr/>
          <a:p/>
        </p:txBody>
      </p:sp>
      <p:sp>
        <p:nvSpPr>
          <p:cNvPr id="444" name="" descr="{&quot;isTemplate&quot;:true,&quot;type&quot;:&quot;text&quot;}"/>
          <p:cNvSpPr txBox="1"/>
          <p:nvPr/>
        </p:nvSpPr>
        <p:spPr>
          <a:xfrm rot="0" flipH="0" flipV="0">
            <a:off x="8820150" y="4276725"/>
            <a:ext cx="2828925" cy="180975"/>
          </a:xfrm>
          <a:prstGeom prst="rect"/>
        </p:spPr>
        <p:txBody>
          <a:bodyPr wrap="none" lIns="0" tIns="0" rIns="0" bIns="0"/>
          <a:p>
            <a:pPr>
              <a:lnSpc>
                <a:spcPct val="100000"/>
              </a:lnSpc>
            </a:pPr>
            <a:r>
              <a:rPr lang="en-US" sz="1163" b="1">
                <a:solidFill>
                  <a:srgbClr val="996F00"/>
                </a:solidFill>
                <a:latin typeface="Microsoft YaHei"/>
                <a:ea typeface="Microsoft YaHei"/>
              </a:rPr>
              <a:t>The last line earns its place</a:t>
            </a:r>
            <a:endParaRPr/>
          </a:p>
        </p:txBody>
      </p:sp>
      <p:sp>
        <p:nvSpPr>
          <p:cNvPr id="445" name="" descr="{&quot;isTemplate&quot;:true,&quot;type&quot;:&quot;text&quot;}"/>
          <p:cNvSpPr txBox="1"/>
          <p:nvPr/>
        </p:nvSpPr>
        <p:spPr>
          <a:xfrm rot="0" flipH="0" flipV="0">
            <a:off x="8820150" y="4505325"/>
            <a:ext cx="2828925" cy="7048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“No ticket unless Accepted” is the postcondition that the kitchen would otherwise have to discover by accident.</a:t>
            </a:r>
            <a:endParaRPr/>
          </a:p>
        </p:txBody>
      </p:sp>
      <p:sp>
        <p:nvSpPr>
          <p:cNvPr id="446" name=""/>
          <p:cNvSpPr/>
          <p:nvPr/>
        </p:nvSpPr>
        <p:spPr>
          <a:xfrm rot="0" flipH="0" flipV="0">
            <a:off x="8620125" y="5467350"/>
            <a:ext cx="3190875" cy="933450"/>
          </a:xfrm>
          <a:prstGeom prst="roundRect">
            <a:avLst>
              <a:gd name="adj" fmla="val 8163"/>
            </a:avLst>
          </a:prstGeom>
          <a:solidFill>
            <a:srgbClr val="F7F9FC"/>
          </a:solidFill>
          <a:ln w="12700">
            <a:solidFill>
              <a:srgbClr val="D6DCE5"/>
            </a:solidFill>
            <a:prstDash val="dash"/>
          </a:ln>
        </p:spPr>
        <p:txBody>
          <a:bodyPr/>
          <a:p/>
        </p:txBody>
      </p:sp>
      <p:sp>
        <p:nvSpPr>
          <p:cNvPr id="447" name="" descr="{&quot;isTemplate&quot;:true,&quot;type&quot;:&quot;text&quot;}"/>
          <p:cNvSpPr txBox="1"/>
          <p:nvPr/>
        </p:nvSpPr>
        <p:spPr>
          <a:xfrm rot="0" flipH="0" flipV="0">
            <a:off x="8772525" y="5581650"/>
            <a:ext cx="2886075" cy="704850"/>
          </a:xfrm>
          <a:prstGeom prst="rect"/>
        </p:spPr>
        <p:txBody>
          <a:bodyPr wrap="square" lIns="0" tIns="0" rIns="0" bIns="0">
            <a:normAutofit/>
          </a:bodyPr>
          <a:p>
            <a:pPr>
              <a:lnSpc>
                <a:spcPct val="160000"/>
              </a:lnSpc>
            </a:pPr>
            <a:r>
              <a:rPr lang="en-US" sz="960">
                <a:solidFill>
                  <a:srgbClr val="8B97A8"/>
                </a:solidFill>
                <a:latin typeface="Microsoft YaHei"/>
                <a:ea typeface="Microsoft YaHei"/>
              </a:rPr>
              <a:t>Do not copy this spec. Copy its shape and write your own — the second one you write is where the learning lands.</a:t>
            </a:r>
            <a:endParaRPr/>
          </a:p>
        </p:txBody>
      </p:sp>
      <p:sp>
        <p:nvSpPr>
          <p:cNvPr id="448" name=""/>
          <p:cNvSpPr/>
          <p:nvPr/>
        </p:nvSpPr>
        <p:spPr>
          <a:xfrm rot="0" flipH="0" flipV="0">
            <a:off x="0" y="6858000"/>
            <a:ext cx="12192000" cy="438150"/>
          </a:xfrm>
          <a:prstGeom prst="rect">
            <a:avLst/>
          </a:prstGeom>
          <a:solidFill>
            <a:srgbClr val="0E3F8C"/>
          </a:solidFill>
          <a:ln/>
        </p:spPr>
        <p:txBody>
          <a:bodyPr/>
          <a:p/>
        </p:txBody>
      </p:sp>
      <p:sp>
        <p:nvSpPr>
          <p:cNvPr id="449" name="" descr="{&quot;isTemplate&quot;:true,&quot;type&quot;:&quot;text&quot;}"/>
          <p:cNvSpPr txBox="1"/>
          <p:nvPr/>
        </p:nvSpPr>
        <p:spPr>
          <a:xfrm rot="0" flipH="0" flipV="0">
            <a:off x="3581400" y="6981825"/>
            <a:ext cx="5038725" cy="190500"/>
          </a:xfrm>
          <a:prstGeom prst="rect"/>
        </p:spPr>
        <p:txBody>
          <a:bodyPr wrap="none" lIns="0" tIns="0" rIns="0" bIns="0"/>
          <a:p>
            <a:pPr>
              <a:lnSpc>
                <a:spcPct val="100000"/>
              </a:lnSpc>
            </a:pPr>
            <a:r>
              <a:rPr lang="en-US" sz="1238" b="1">
                <a:solidFill>
                  <a:srgbClr val="FFFFFF"/>
                </a:solidFill>
                <a:latin typeface="Microsoft YaHei"/>
                <a:ea typeface="Microsoft YaHei"/>
              </a:rPr>
              <a:t>The fix is not more words. It is more states somebody had to name.</a:t>
            </a:r>
            <a:endParaRPr/>
          </a:p>
        </p:txBody>
      </p:sp>
      <p:sp>
        <p:nvSpPr>
          <p:cNvPr id="450" name=""/>
          <p:cNvSpPr/>
          <p:nvPr/>
        </p:nvSpPr>
        <p:spPr>
          <a:xfrm rot="0" flipH="0" flipV="0">
            <a:off x="381000" y="1238250"/>
            <a:ext cx="7991475" cy="5619750"/>
          </a:xfrm>
          <a:prstGeom prst="roundRect">
            <a:avLst>
              <a:gd name="adj" fmla="val 1356"/>
            </a:avLst>
          </a:prstGeom>
          <a:solidFill>
            <a:srgbClr val="0E1116"/>
          </a:solidFill>
          <a:ln/>
        </p:spPr>
        <p:txBody>
          <a:bodyPr/>
          <a:p/>
        </p:txBody>
      </p:sp>
      <p:sp>
        <p:nvSpPr>
          <p:cNvPr id="451" name=""/>
          <p:cNvSpPr txBox="1"/>
          <p:nvPr/>
        </p:nvSpPr>
        <p:spPr>
          <a:xfrm rot="0" flipH="0" flipV="0">
            <a:off x="533400" y="1371600"/>
            <a:ext cx="7686675" cy="5353050"/>
          </a:xfrm>
          <a:prstGeom prst="rect"/>
        </p:spPr>
        <p:txBody>
          <a:bodyPr wrap="square" lIns="0" tIns="0" rIns="0" bIns="0">
            <a:normAutofit/>
          </a:bodyPr>
          <a:p>
            <a:pPr/>
            <a:r>
              <a:rPr sz="900">
                <a:solidFill>
                  <a:srgbClr val="E5E7EB"/>
                </a:solidFill>
                <a:latin typeface="Menlo"/>
                <a:ea typeface="Menlo"/>
              </a:rPr>
              <a:t>Use Case:      Place Order
Scope:         CampusBites
Level:         User goal
Primary actor: Student
Secondary:     Campus Card Centre
Preconditions:
  - Student is authenticated for this campus.
  - Today's menu is published.
Main success scenario:
  1  Student reviews the cart and confirms.
  2  System displays the payable amount.
  3  System requests payment authorisation.
  4  System confirms the amount with the
     provider.
  5  System creates the order in state
     Accepted.
  6  System prints the kitchen ticket.
  7  System reports the order number.
Extensions:
  4a Item sold out: the system reports it
     and offers to update the cart.
     -&gt; resume at 1.
  4b No courier: the system sets Scheduled
     Delivery and shows the later time.
     -&gt; resume at 5.
Exceptions:
  4c Provider unreachable: the order is
     created in Pending Payment, no ticket.
     -&gt; ends here.
Postconditions:
  - Order is Accepted, Scheduled, or
    Pending Payment.
  - No kitchen ticket exists unless the
    order is Accepted.</a:t>
            </a:r>
            <a:endParaRPr/>
          </a:p>
        </p:txBody>
      </p:sp>
    </p:spTree>
  </p:cSld>
</p:sld>
</file>

<file path=ppt/slides/slide32.xml><?xml version="1.0" encoding="utf-8"?>
<p:sld xmlns:p="http://schemas.openxmlformats.org/presentationml/2006/main" xmlns:a="http://schemas.openxmlformats.org/drawingml/2006/main">
  <p:cSld>
    <p:spTree>
      <p:nvGrpSpPr>
        <p:cNvPr id="452"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LAB · EXERCISE 5.2&lt;/Text&gt;&#10;  &lt;/Box&gt;&#10;  &lt;Box style={{ padding: '13px 40px 0 40px', flexDirection: 'row', alignItems: 'center', justifyContent: 'space-between' }}&gt;&#10;    &lt;Text style={{ fontSize: 29, fontWeight: 'bold', color: '#0E3F8C' }}&gt;Exercise 5.2 — The Review Form&lt;/Text&gt;&#10;    &lt;Text style={{ fontSize: 14, color: '#1E4FA8', fontWeight: 'bold' }}&gt;32 / 38&lt;/Text&gt;&#10;  &lt;/Box&gt;&#10;  &lt;Box style={{ flex: 1, padding: '10px 40px 0 40px', flexDirection: 'row', gap: 24 }}&gt;&#10;    &lt;Box style={{ flex: 1, flexDirection: 'column', gap: 11 }}&gt;&#10;      {[&#10;        { k: '1', t: 'Spec name and author', b: 'Which file, whose name, how many words. If you cannot find the file, the review is blocked.' },&#10;        { k: '2', t: 'Checklist group A — structure', b: 'Nine fields present? One primary actor? Name is verb + object? Tick or write the sentence you would run as a test.' },&#10;        { k: '3', t: 'Checklist group B — content', b: 'Count the main steps. Any conditional in the main scenario? Any button, page or dropdown named?' },&#10;        { k: '4', t: 'Checklist group C — consequences', b: 'Precondition that sets up a test? A postcondition for the failure end state? Branch destinations named?' },&#10;        { k: '5', t: 'Questions for the client', b: 'Verbatim, not paraphrased. Anything you would not decide on your own goes here — this becomes the M1 review agenda.' },&#10;      ].map((c) =&gt; (&#10;        &lt;Box key={c.k} style={{ flexDirection: 'row', gap: 14, padding: '12px 16px', background: '#F7F9FC', borderRadius: 9, border: '1px solid #E5E7EB' }}&gt;&#10;          &lt;Box style={{ width: 30, height: 30, borderRadius: 6, background: '#1E4FA8', justifyContent: 'center', alignItems: 'center' }}&gt;&#10;            &lt;Text style={{ fontSize: 14, fontWeight: 'bold', color: '#FFFFFF' }}&gt;{c.k}&lt;/Text&gt;&#10;          &lt;/Box&gt;&#10;          &lt;Box style={{ flex: 1 }}&gt;&#10;            &lt;Text style={{ fontSize: 14.5, fontWeight: 'bold', color: '#0E3F8C' }}&gt;{c.t}&lt;/Text&gt;&#10;            &lt;Text style={{ fontSize: 12.5, color: '#4A5568', lineHeight: 1.55, marginTop: 4 }}&gt;{c.b}&lt;/Text&gt;&#10;          &lt;/Box&gt;&#10;        &lt;/Box&gt;&#10;      ))}&#10;    &lt;/Box&gt;&#10;    &lt;Box style={{ width: 400, justifyContent: 'center' }}&gt;&#10;      &lt;Box style={{ padding: '18px 20px', background: '#FFFFFF', borderRadius: 10, border: '1px solid #D6DCE5' }}&gt;&#10;        &lt;Text style={{ fontSize: 15, fontWeight: 'bold', color: '#0E3F8C', marginBottom: 12 }}&gt;Where it goes&lt;/Text&gt;&#10;        &lt;Box style={{ padding: '11px 13px', background: '#F0F5FC', borderRadius: 7 }}&gt;&#10;          &lt;Text style={{ fontSize: 13, color: '#0E3F8C', fontFamily: 'Menlo, monospace' }}&gt;docs/reviews/m1-spec-review.md&lt;/Text&gt;&#10;        &lt;/Box&gt;&#10;        &lt;Text style={{ fontSize: 12.8, color: '#4A5568', lineHeight: 1.6, marginTop: 14 }}&gt;&#10;          One file per review, both directions, in the same commit as the fix if you can manage it. The diff then shows the&#10;          spec improving, which is worth more than the review itself.&#10;        &lt;/Text&gt;&#10;        &lt;Box style={{ padding: '12px 14px', background: '#FFF6E0', borderRadius: 7, marginTop: 14, border: '1px solid #F0DCA8' }}&gt;&#10;          &lt;Text style={{ fontSize: 12.8, color: '#996F00', lineHeight: 1.55 }}&gt;&#10;            Individual evidence: each member’s review file counts towards the individual contribution grade. Write your own&#10;            section; do not let the Recorder write all four.&#10;          &lt;/Text&gt;&#10;        &lt;/Box&gt;&#10;      &lt;/Box&gt;&#10;    &lt;/Box&gt;&#10;  &lt;/Box&gt;&#10;  &lt;Box style={{ height: 46, background: '#0E3F8C', padding: '0 40px', flexDirection: 'row', alignItems: 'center', justifyContent: 'center' }}&gt;&#10;    &lt;Text style={{ fontSize: 16.5, color: '#FFFFFF', fontWeight: '600' }}&gt;A review you cannot paste into the repository is a conversation you had and forgot.&lt;/Text&gt;&#10;  &lt;/Box&gt;&#10;&lt;/Slide&gt;&#10;"/>
        <p:cNvGrpSpPr/>
        <p:nvPr/>
      </p:nvGrpSpPr>
      <p:grpSpPr>
        <a:xfrm>
          <a:off x="0" y="0"/>
          <a:ext cx="0" cy="0"/>
          <a:chOff x="0" y="0"/>
          <a:chExt cx="0" cy="0"/>
        </a:xfrm>
      </p:grpSpPr>
      <p:sp>
        <p:nvSpPr>
          <p:cNvPr id="453" name=""/>
          <p:cNvSpPr/>
          <p:nvPr/>
        </p:nvSpPr>
        <p:spPr>
          <a:xfrm rot="0" flipH="0" flipV="0">
            <a:off x="0" y="0"/>
            <a:ext cx="12192000" cy="6858000"/>
          </a:xfrm>
          <a:prstGeom prst="rect">
            <a:avLst/>
          </a:prstGeom>
          <a:solidFill>
            <a:srgbClr val="FFFFFF"/>
          </a:solidFill>
          <a:ln/>
        </p:spPr>
        <p:txBody>
          <a:bodyPr/>
          <a:p/>
        </p:txBody>
      </p:sp>
      <p:sp>
        <p:nvSpPr>
          <p:cNvPr id="454" name=""/>
          <p:cNvSpPr/>
          <p:nvPr/>
        </p:nvSpPr>
        <p:spPr>
          <a:xfrm rot="0" flipH="0" flipV="0">
            <a:off x="0" y="0"/>
            <a:ext cx="12192000" cy="685800"/>
          </a:xfrm>
          <a:prstGeom prst="rect">
            <a:avLst/>
          </a:prstGeom>
          <a:solidFill>
            <a:srgbClr val="1E4FA8"/>
          </a:solidFill>
          <a:ln/>
        </p:spPr>
        <p:txBody>
          <a:bodyPr/>
          <a:p/>
        </p:txBody>
      </p:sp>
      <p:sp>
        <p:nvSpPr>
          <p:cNvPr id="455"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456" name="" descr="{&quot;isTemplate&quot;:true,&quot;type&quot;:&quot;text&quot;}"/>
          <p:cNvSpPr txBox="1"/>
          <p:nvPr/>
        </p:nvSpPr>
        <p:spPr>
          <a:xfrm rot="0" flipH="0" flipV="0">
            <a:off x="10029825" y="257175"/>
            <a:ext cx="1781175" cy="171450"/>
          </a:xfrm>
          <a:prstGeom prst="rect"/>
        </p:spPr>
        <p:txBody>
          <a:bodyPr wrap="none" lIns="0" tIns="0" rIns="0" bIns="0"/>
          <a:p>
            <a:pPr>
              <a:lnSpc>
                <a:spcPct val="100000"/>
              </a:lnSpc>
            </a:pPr>
            <a:r>
              <a:rPr lang="en-US" sz="1125">
                <a:solidFill>
                  <a:srgbClr val="B9CDF0"/>
                </a:solidFill>
                <a:latin typeface="Microsoft YaHei"/>
                <a:ea typeface="Microsoft YaHei"/>
              </a:rPr>
              <a:t>W05 · LAB · EXERCISE 5.2</a:t>
            </a:r>
            <a:endParaRPr/>
          </a:p>
        </p:txBody>
      </p:sp>
      <p:sp>
        <p:nvSpPr>
          <p:cNvPr id="457" name="" descr="{&quot;isTemplate&quot;:true,&quot;type&quot;:&quot;text&quot;}"/>
          <p:cNvSpPr txBox="1"/>
          <p:nvPr/>
        </p:nvSpPr>
        <p:spPr>
          <a:xfrm rot="0" flipH="0" flipV="0">
            <a:off x="381000" y="809625"/>
            <a:ext cx="4314825" cy="333375"/>
          </a:xfrm>
          <a:prstGeom prst="rect"/>
        </p:spPr>
        <p:txBody>
          <a:bodyPr wrap="none" lIns="0" tIns="0" rIns="0" bIns="0"/>
          <a:p>
            <a:pPr>
              <a:lnSpc>
                <a:spcPct val="100000"/>
              </a:lnSpc>
            </a:pPr>
            <a:r>
              <a:rPr lang="en-US" sz="2175" b="1">
                <a:solidFill>
                  <a:srgbClr val="0E3F8C"/>
                </a:solidFill>
                <a:latin typeface="Microsoft YaHei"/>
                <a:ea typeface="Microsoft YaHei"/>
              </a:rPr>
              <a:t>Exercise 5.2 — The Review Form</a:t>
            </a:r>
            <a:endParaRPr/>
          </a:p>
        </p:txBody>
      </p:sp>
      <p:sp>
        <p:nvSpPr>
          <p:cNvPr id="458"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32 / 38</a:t>
            </a:r>
            <a:endParaRPr/>
          </a:p>
        </p:txBody>
      </p:sp>
      <p:sp>
        <p:nvSpPr>
          <p:cNvPr id="459" name=""/>
          <p:cNvSpPr/>
          <p:nvPr/>
        </p:nvSpPr>
        <p:spPr>
          <a:xfrm rot="0" flipH="0" flipV="0">
            <a:off x="381000" y="1238250"/>
            <a:ext cx="7391400" cy="666750"/>
          </a:xfrm>
          <a:prstGeom prst="roundRect">
            <a:avLst>
              <a:gd name="adj" fmla="val 12857"/>
            </a:avLst>
          </a:prstGeom>
          <a:solidFill>
            <a:srgbClr val="F7F9FC"/>
          </a:solidFill>
          <a:ln w="12700">
            <a:solidFill>
              <a:srgbClr val="E5E7EB"/>
            </a:solidFill>
            <a:prstDash val="solid"/>
          </a:ln>
        </p:spPr>
        <p:txBody>
          <a:bodyPr/>
          <a:p/>
        </p:txBody>
      </p:sp>
      <p:sp>
        <p:nvSpPr>
          <p:cNvPr id="460" name=""/>
          <p:cNvSpPr/>
          <p:nvPr/>
        </p:nvSpPr>
        <p:spPr>
          <a:xfrm rot="0" flipH="0" flipV="0">
            <a:off x="533400" y="1352550"/>
            <a:ext cx="285750" cy="285750"/>
          </a:xfrm>
          <a:prstGeom prst="roundRect">
            <a:avLst>
              <a:gd name="adj" fmla="val 20000"/>
            </a:avLst>
          </a:prstGeom>
          <a:solidFill>
            <a:srgbClr val="1E4FA8"/>
          </a:solidFill>
          <a:ln/>
        </p:spPr>
        <p:txBody>
          <a:bodyPr/>
          <a:p/>
        </p:txBody>
      </p:sp>
      <p:sp>
        <p:nvSpPr>
          <p:cNvPr id="461" name="" descr="{&quot;isTemplate&quot;:true,&quot;type&quot;:&quot;text&quot;}"/>
          <p:cNvSpPr txBox="1"/>
          <p:nvPr/>
        </p:nvSpPr>
        <p:spPr>
          <a:xfrm rot="0" flipH="0" flipV="0">
            <a:off x="638175" y="1419225"/>
            <a:ext cx="76200" cy="161925"/>
          </a:xfrm>
          <a:prstGeom prst="rect"/>
        </p:spPr>
        <p:txBody>
          <a:bodyPr wrap="none" lIns="0" tIns="0" rIns="0" bIns="0"/>
          <a:p>
            <a:pPr>
              <a:lnSpc>
                <a:spcPct val="100000"/>
              </a:lnSpc>
            </a:pPr>
            <a:r>
              <a:rPr lang="en-US" sz="1050" b="1">
                <a:solidFill>
                  <a:srgbClr val="FFFFFF"/>
                </a:solidFill>
                <a:latin typeface="Microsoft YaHei"/>
                <a:ea typeface="Microsoft YaHei"/>
              </a:rPr>
              <a:t>1</a:t>
            </a:r>
            <a:endParaRPr/>
          </a:p>
        </p:txBody>
      </p:sp>
      <p:sp>
        <p:nvSpPr>
          <p:cNvPr id="462" name="" descr="{&quot;isTemplate&quot;:true,&quot;type&quot;:&quot;text&quot;}"/>
          <p:cNvSpPr txBox="1"/>
          <p:nvPr/>
        </p:nvSpPr>
        <p:spPr>
          <a:xfrm rot="0" flipH="0" flipV="0">
            <a:off x="952500" y="1352550"/>
            <a:ext cx="6667500" cy="171450"/>
          </a:xfrm>
          <a:prstGeom prst="rect"/>
        </p:spPr>
        <p:txBody>
          <a:bodyPr wrap="none" lIns="0" tIns="0" rIns="0" bIns="0"/>
          <a:p>
            <a:pPr>
              <a:lnSpc>
                <a:spcPct val="100000"/>
              </a:lnSpc>
            </a:pPr>
            <a:r>
              <a:rPr lang="en-US" sz="1088" b="1">
                <a:solidFill>
                  <a:srgbClr val="0E3F8C"/>
                </a:solidFill>
                <a:latin typeface="Microsoft YaHei"/>
                <a:ea typeface="Microsoft YaHei"/>
              </a:rPr>
              <a:t>Spec name and author</a:t>
            </a:r>
            <a:endParaRPr/>
          </a:p>
        </p:txBody>
      </p:sp>
      <p:sp>
        <p:nvSpPr>
          <p:cNvPr id="463" name="" descr="{&quot;isTemplate&quot;:true,&quot;type&quot;:&quot;text&quot;}"/>
          <p:cNvSpPr txBox="1"/>
          <p:nvPr/>
        </p:nvSpPr>
        <p:spPr>
          <a:xfrm rot="0" flipH="0" flipV="0">
            <a:off x="952500" y="1562100"/>
            <a:ext cx="6667500" cy="228600"/>
          </a:xfrm>
          <a:prstGeom prst="rect"/>
        </p:spPr>
        <p:txBody>
          <a:bodyPr wrap="none" lIns="0" tIns="0" rIns="0" bIns="0"/>
          <a:p>
            <a:pPr>
              <a:lnSpc>
                <a:spcPct val="155000"/>
              </a:lnSpc>
            </a:pPr>
            <a:r>
              <a:rPr lang="en-US" sz="938">
                <a:solidFill>
                  <a:srgbClr val="4A5568"/>
                </a:solidFill>
                <a:latin typeface="Microsoft YaHei"/>
                <a:ea typeface="Microsoft YaHei"/>
              </a:rPr>
              <a:t>Which file, whose name, how many words. If you cannot find the file, the review is blocked.</a:t>
            </a:r>
            <a:endParaRPr/>
          </a:p>
        </p:txBody>
      </p:sp>
      <p:sp>
        <p:nvSpPr>
          <p:cNvPr id="464" name=""/>
          <p:cNvSpPr/>
          <p:nvPr/>
        </p:nvSpPr>
        <p:spPr>
          <a:xfrm rot="0" flipH="0" flipV="0">
            <a:off x="381000" y="2009775"/>
            <a:ext cx="7391400" cy="666750"/>
          </a:xfrm>
          <a:prstGeom prst="roundRect">
            <a:avLst>
              <a:gd name="adj" fmla="val 12857"/>
            </a:avLst>
          </a:prstGeom>
          <a:solidFill>
            <a:srgbClr val="F7F9FC"/>
          </a:solidFill>
          <a:ln w="12700">
            <a:solidFill>
              <a:srgbClr val="E5E7EB"/>
            </a:solidFill>
            <a:prstDash val="solid"/>
          </a:ln>
        </p:spPr>
        <p:txBody>
          <a:bodyPr/>
          <a:p/>
        </p:txBody>
      </p:sp>
      <p:sp>
        <p:nvSpPr>
          <p:cNvPr id="465" name=""/>
          <p:cNvSpPr/>
          <p:nvPr/>
        </p:nvSpPr>
        <p:spPr>
          <a:xfrm rot="0" flipH="0" flipV="0">
            <a:off x="533400" y="2124075"/>
            <a:ext cx="285750" cy="285750"/>
          </a:xfrm>
          <a:prstGeom prst="roundRect">
            <a:avLst>
              <a:gd name="adj" fmla="val 20000"/>
            </a:avLst>
          </a:prstGeom>
          <a:solidFill>
            <a:srgbClr val="1E4FA8"/>
          </a:solidFill>
          <a:ln/>
        </p:spPr>
        <p:txBody>
          <a:bodyPr/>
          <a:p/>
        </p:txBody>
      </p:sp>
      <p:sp>
        <p:nvSpPr>
          <p:cNvPr id="466" name="" descr="{&quot;isTemplate&quot;:true,&quot;type&quot;:&quot;text&quot;}"/>
          <p:cNvSpPr txBox="1"/>
          <p:nvPr/>
        </p:nvSpPr>
        <p:spPr>
          <a:xfrm rot="0" flipH="0" flipV="0">
            <a:off x="638175" y="2190750"/>
            <a:ext cx="76200" cy="161925"/>
          </a:xfrm>
          <a:prstGeom prst="rect"/>
        </p:spPr>
        <p:txBody>
          <a:bodyPr wrap="none" lIns="0" tIns="0" rIns="0" bIns="0"/>
          <a:p>
            <a:pPr>
              <a:lnSpc>
                <a:spcPct val="100000"/>
              </a:lnSpc>
            </a:pPr>
            <a:r>
              <a:rPr lang="en-US" sz="1050" b="1">
                <a:solidFill>
                  <a:srgbClr val="FFFFFF"/>
                </a:solidFill>
                <a:latin typeface="Microsoft YaHei"/>
                <a:ea typeface="Microsoft YaHei"/>
              </a:rPr>
              <a:t>2</a:t>
            </a:r>
            <a:endParaRPr/>
          </a:p>
        </p:txBody>
      </p:sp>
      <p:sp>
        <p:nvSpPr>
          <p:cNvPr id="467" name="" descr="{&quot;isTemplate&quot;:true,&quot;type&quot;:&quot;text&quot;}"/>
          <p:cNvSpPr txBox="1"/>
          <p:nvPr/>
        </p:nvSpPr>
        <p:spPr>
          <a:xfrm rot="0" flipH="0" flipV="0">
            <a:off x="952500" y="2124075"/>
            <a:ext cx="6667500" cy="171450"/>
          </a:xfrm>
          <a:prstGeom prst="rect"/>
        </p:spPr>
        <p:txBody>
          <a:bodyPr wrap="none" lIns="0" tIns="0" rIns="0" bIns="0"/>
          <a:p>
            <a:pPr>
              <a:lnSpc>
                <a:spcPct val="100000"/>
              </a:lnSpc>
            </a:pPr>
            <a:r>
              <a:rPr lang="en-US" sz="1088" b="1">
                <a:solidFill>
                  <a:srgbClr val="0E3F8C"/>
                </a:solidFill>
                <a:latin typeface="Microsoft YaHei"/>
                <a:ea typeface="Microsoft YaHei"/>
              </a:rPr>
              <a:t>Checklist group A — structure</a:t>
            </a:r>
            <a:endParaRPr/>
          </a:p>
        </p:txBody>
      </p:sp>
      <p:sp>
        <p:nvSpPr>
          <p:cNvPr id="468" name="" descr="{&quot;isTemplate&quot;:true,&quot;type&quot;:&quot;text&quot;}"/>
          <p:cNvSpPr txBox="1"/>
          <p:nvPr/>
        </p:nvSpPr>
        <p:spPr>
          <a:xfrm rot="0" flipH="0" flipV="0">
            <a:off x="952500" y="2333625"/>
            <a:ext cx="6667500" cy="228600"/>
          </a:xfrm>
          <a:prstGeom prst="rect"/>
        </p:spPr>
        <p:txBody>
          <a:bodyPr wrap="none" lIns="0" tIns="0" rIns="0" bIns="0"/>
          <a:p>
            <a:pPr>
              <a:lnSpc>
                <a:spcPct val="155000"/>
              </a:lnSpc>
            </a:pPr>
            <a:r>
              <a:rPr lang="en-US" sz="938">
                <a:solidFill>
                  <a:srgbClr val="4A5568"/>
                </a:solidFill>
                <a:latin typeface="Microsoft YaHei"/>
                <a:ea typeface="Microsoft YaHei"/>
              </a:rPr>
              <a:t>Nine fields present? One primary actor? Name is verb + object? Tick or write the sentence you would run as a test.</a:t>
            </a:r>
            <a:endParaRPr/>
          </a:p>
        </p:txBody>
      </p:sp>
      <p:sp>
        <p:nvSpPr>
          <p:cNvPr id="469" name=""/>
          <p:cNvSpPr/>
          <p:nvPr/>
        </p:nvSpPr>
        <p:spPr>
          <a:xfrm rot="0" flipH="0" flipV="0">
            <a:off x="381000" y="2781300"/>
            <a:ext cx="7391400" cy="666750"/>
          </a:xfrm>
          <a:prstGeom prst="roundRect">
            <a:avLst>
              <a:gd name="adj" fmla="val 12857"/>
            </a:avLst>
          </a:prstGeom>
          <a:solidFill>
            <a:srgbClr val="F7F9FC"/>
          </a:solidFill>
          <a:ln w="12700">
            <a:solidFill>
              <a:srgbClr val="E5E7EB"/>
            </a:solidFill>
            <a:prstDash val="solid"/>
          </a:ln>
        </p:spPr>
        <p:txBody>
          <a:bodyPr/>
          <a:p/>
        </p:txBody>
      </p:sp>
      <p:sp>
        <p:nvSpPr>
          <p:cNvPr id="470" name=""/>
          <p:cNvSpPr/>
          <p:nvPr/>
        </p:nvSpPr>
        <p:spPr>
          <a:xfrm rot="0" flipH="0" flipV="0">
            <a:off x="533400" y="2895600"/>
            <a:ext cx="285750" cy="285750"/>
          </a:xfrm>
          <a:prstGeom prst="roundRect">
            <a:avLst>
              <a:gd name="adj" fmla="val 20000"/>
            </a:avLst>
          </a:prstGeom>
          <a:solidFill>
            <a:srgbClr val="1E4FA8"/>
          </a:solidFill>
          <a:ln/>
        </p:spPr>
        <p:txBody>
          <a:bodyPr/>
          <a:p/>
        </p:txBody>
      </p:sp>
      <p:sp>
        <p:nvSpPr>
          <p:cNvPr id="471" name="" descr="{&quot;isTemplate&quot;:true,&quot;type&quot;:&quot;text&quot;}"/>
          <p:cNvSpPr txBox="1"/>
          <p:nvPr/>
        </p:nvSpPr>
        <p:spPr>
          <a:xfrm rot="0" flipH="0" flipV="0">
            <a:off x="638175" y="2962275"/>
            <a:ext cx="76200" cy="161925"/>
          </a:xfrm>
          <a:prstGeom prst="rect"/>
        </p:spPr>
        <p:txBody>
          <a:bodyPr wrap="none" lIns="0" tIns="0" rIns="0" bIns="0"/>
          <a:p>
            <a:pPr>
              <a:lnSpc>
                <a:spcPct val="100000"/>
              </a:lnSpc>
            </a:pPr>
            <a:r>
              <a:rPr lang="en-US" sz="1050" b="1">
                <a:solidFill>
                  <a:srgbClr val="FFFFFF"/>
                </a:solidFill>
                <a:latin typeface="Microsoft YaHei"/>
                <a:ea typeface="Microsoft YaHei"/>
              </a:rPr>
              <a:t>3</a:t>
            </a:r>
            <a:endParaRPr/>
          </a:p>
        </p:txBody>
      </p:sp>
      <p:sp>
        <p:nvSpPr>
          <p:cNvPr id="472" name="" descr="{&quot;isTemplate&quot;:true,&quot;type&quot;:&quot;text&quot;}"/>
          <p:cNvSpPr txBox="1"/>
          <p:nvPr/>
        </p:nvSpPr>
        <p:spPr>
          <a:xfrm rot="0" flipH="0" flipV="0">
            <a:off x="952500" y="2895600"/>
            <a:ext cx="6667500" cy="171450"/>
          </a:xfrm>
          <a:prstGeom prst="rect"/>
        </p:spPr>
        <p:txBody>
          <a:bodyPr wrap="none" lIns="0" tIns="0" rIns="0" bIns="0"/>
          <a:p>
            <a:pPr>
              <a:lnSpc>
                <a:spcPct val="100000"/>
              </a:lnSpc>
            </a:pPr>
            <a:r>
              <a:rPr lang="en-US" sz="1088" b="1">
                <a:solidFill>
                  <a:srgbClr val="0E3F8C"/>
                </a:solidFill>
                <a:latin typeface="Microsoft YaHei"/>
                <a:ea typeface="Microsoft YaHei"/>
              </a:rPr>
              <a:t>Checklist group B — content</a:t>
            </a:r>
            <a:endParaRPr/>
          </a:p>
        </p:txBody>
      </p:sp>
      <p:sp>
        <p:nvSpPr>
          <p:cNvPr id="473" name="" descr="{&quot;isTemplate&quot;:true,&quot;type&quot;:&quot;text&quot;}"/>
          <p:cNvSpPr txBox="1"/>
          <p:nvPr/>
        </p:nvSpPr>
        <p:spPr>
          <a:xfrm rot="0" flipH="0" flipV="0">
            <a:off x="952500" y="3105150"/>
            <a:ext cx="6667500" cy="228600"/>
          </a:xfrm>
          <a:prstGeom prst="rect"/>
        </p:spPr>
        <p:txBody>
          <a:bodyPr wrap="none" lIns="0" tIns="0" rIns="0" bIns="0"/>
          <a:p>
            <a:pPr>
              <a:lnSpc>
                <a:spcPct val="155000"/>
              </a:lnSpc>
            </a:pPr>
            <a:r>
              <a:rPr lang="en-US" sz="938">
                <a:solidFill>
                  <a:srgbClr val="4A5568"/>
                </a:solidFill>
                <a:latin typeface="Microsoft YaHei"/>
                <a:ea typeface="Microsoft YaHei"/>
              </a:rPr>
              <a:t>Count the main steps. Any conditional in the main scenario? Any button, page or dropdown named?</a:t>
            </a:r>
            <a:endParaRPr/>
          </a:p>
        </p:txBody>
      </p:sp>
      <p:sp>
        <p:nvSpPr>
          <p:cNvPr id="474" name=""/>
          <p:cNvSpPr/>
          <p:nvPr/>
        </p:nvSpPr>
        <p:spPr>
          <a:xfrm rot="0" flipH="0" flipV="0">
            <a:off x="381000" y="3552825"/>
            <a:ext cx="7391400" cy="666750"/>
          </a:xfrm>
          <a:prstGeom prst="roundRect">
            <a:avLst>
              <a:gd name="adj" fmla="val 12857"/>
            </a:avLst>
          </a:prstGeom>
          <a:solidFill>
            <a:srgbClr val="F7F9FC"/>
          </a:solidFill>
          <a:ln w="12700">
            <a:solidFill>
              <a:srgbClr val="E5E7EB"/>
            </a:solidFill>
            <a:prstDash val="solid"/>
          </a:ln>
        </p:spPr>
        <p:txBody>
          <a:bodyPr/>
          <a:p/>
        </p:txBody>
      </p:sp>
      <p:sp>
        <p:nvSpPr>
          <p:cNvPr id="475" name=""/>
          <p:cNvSpPr/>
          <p:nvPr/>
        </p:nvSpPr>
        <p:spPr>
          <a:xfrm rot="0" flipH="0" flipV="0">
            <a:off x="533400" y="3667125"/>
            <a:ext cx="285750" cy="285750"/>
          </a:xfrm>
          <a:prstGeom prst="roundRect">
            <a:avLst>
              <a:gd name="adj" fmla="val 20000"/>
            </a:avLst>
          </a:prstGeom>
          <a:solidFill>
            <a:srgbClr val="1E4FA8"/>
          </a:solidFill>
          <a:ln/>
        </p:spPr>
        <p:txBody>
          <a:bodyPr/>
          <a:p/>
        </p:txBody>
      </p:sp>
      <p:sp>
        <p:nvSpPr>
          <p:cNvPr id="476" name="" descr="{&quot;isTemplate&quot;:true,&quot;type&quot;:&quot;text&quot;}"/>
          <p:cNvSpPr txBox="1"/>
          <p:nvPr/>
        </p:nvSpPr>
        <p:spPr>
          <a:xfrm rot="0" flipH="0" flipV="0">
            <a:off x="638175" y="3733800"/>
            <a:ext cx="76200" cy="161925"/>
          </a:xfrm>
          <a:prstGeom prst="rect"/>
        </p:spPr>
        <p:txBody>
          <a:bodyPr wrap="none" lIns="0" tIns="0" rIns="0" bIns="0"/>
          <a:p>
            <a:pPr>
              <a:lnSpc>
                <a:spcPct val="100000"/>
              </a:lnSpc>
            </a:pPr>
            <a:r>
              <a:rPr lang="en-US" sz="1050" b="1">
                <a:solidFill>
                  <a:srgbClr val="FFFFFF"/>
                </a:solidFill>
                <a:latin typeface="Microsoft YaHei"/>
                <a:ea typeface="Microsoft YaHei"/>
              </a:rPr>
              <a:t>4</a:t>
            </a:r>
            <a:endParaRPr/>
          </a:p>
        </p:txBody>
      </p:sp>
      <p:sp>
        <p:nvSpPr>
          <p:cNvPr id="477" name="" descr="{&quot;isTemplate&quot;:true,&quot;type&quot;:&quot;text&quot;}"/>
          <p:cNvSpPr txBox="1"/>
          <p:nvPr/>
        </p:nvSpPr>
        <p:spPr>
          <a:xfrm rot="0" flipH="0" flipV="0">
            <a:off x="952500" y="3667125"/>
            <a:ext cx="6667500" cy="171450"/>
          </a:xfrm>
          <a:prstGeom prst="rect"/>
        </p:spPr>
        <p:txBody>
          <a:bodyPr wrap="none" lIns="0" tIns="0" rIns="0" bIns="0"/>
          <a:p>
            <a:pPr>
              <a:lnSpc>
                <a:spcPct val="100000"/>
              </a:lnSpc>
            </a:pPr>
            <a:r>
              <a:rPr lang="en-US" sz="1088" b="1">
                <a:solidFill>
                  <a:srgbClr val="0E3F8C"/>
                </a:solidFill>
                <a:latin typeface="Microsoft YaHei"/>
                <a:ea typeface="Microsoft YaHei"/>
              </a:rPr>
              <a:t>Checklist group C — consequences</a:t>
            </a:r>
            <a:endParaRPr/>
          </a:p>
        </p:txBody>
      </p:sp>
      <p:sp>
        <p:nvSpPr>
          <p:cNvPr id="478" name="" descr="{&quot;isTemplate&quot;:true,&quot;type&quot;:&quot;text&quot;}"/>
          <p:cNvSpPr txBox="1"/>
          <p:nvPr/>
        </p:nvSpPr>
        <p:spPr>
          <a:xfrm rot="0" flipH="0" flipV="0">
            <a:off x="952500" y="3876675"/>
            <a:ext cx="6667500" cy="228600"/>
          </a:xfrm>
          <a:prstGeom prst="rect"/>
        </p:spPr>
        <p:txBody>
          <a:bodyPr wrap="none" lIns="0" tIns="0" rIns="0" bIns="0"/>
          <a:p>
            <a:pPr>
              <a:lnSpc>
                <a:spcPct val="155000"/>
              </a:lnSpc>
            </a:pPr>
            <a:r>
              <a:rPr lang="en-US" sz="938">
                <a:solidFill>
                  <a:srgbClr val="4A5568"/>
                </a:solidFill>
                <a:latin typeface="Microsoft YaHei"/>
                <a:ea typeface="Microsoft YaHei"/>
              </a:rPr>
              <a:t>Precondition that sets up a test? A postcondition for the failure end state? Branch destinations named?</a:t>
            </a:r>
            <a:endParaRPr/>
          </a:p>
        </p:txBody>
      </p:sp>
      <p:sp>
        <p:nvSpPr>
          <p:cNvPr id="479" name=""/>
          <p:cNvSpPr/>
          <p:nvPr/>
        </p:nvSpPr>
        <p:spPr>
          <a:xfrm rot="0" flipH="0" flipV="0">
            <a:off x="381000" y="4324350"/>
            <a:ext cx="7391400" cy="666750"/>
          </a:xfrm>
          <a:prstGeom prst="roundRect">
            <a:avLst>
              <a:gd name="adj" fmla="val 12857"/>
            </a:avLst>
          </a:prstGeom>
          <a:solidFill>
            <a:srgbClr val="F7F9FC"/>
          </a:solidFill>
          <a:ln w="12700">
            <a:solidFill>
              <a:srgbClr val="E5E7EB"/>
            </a:solidFill>
            <a:prstDash val="solid"/>
          </a:ln>
        </p:spPr>
        <p:txBody>
          <a:bodyPr/>
          <a:p/>
        </p:txBody>
      </p:sp>
      <p:sp>
        <p:nvSpPr>
          <p:cNvPr id="480" name=""/>
          <p:cNvSpPr/>
          <p:nvPr/>
        </p:nvSpPr>
        <p:spPr>
          <a:xfrm rot="0" flipH="0" flipV="0">
            <a:off x="533400" y="4438650"/>
            <a:ext cx="285750" cy="285750"/>
          </a:xfrm>
          <a:prstGeom prst="roundRect">
            <a:avLst>
              <a:gd name="adj" fmla="val 20000"/>
            </a:avLst>
          </a:prstGeom>
          <a:solidFill>
            <a:srgbClr val="1E4FA8"/>
          </a:solidFill>
          <a:ln/>
        </p:spPr>
        <p:txBody>
          <a:bodyPr/>
          <a:p/>
        </p:txBody>
      </p:sp>
      <p:sp>
        <p:nvSpPr>
          <p:cNvPr id="481" name="" descr="{&quot;isTemplate&quot;:true,&quot;type&quot;:&quot;text&quot;}"/>
          <p:cNvSpPr txBox="1"/>
          <p:nvPr/>
        </p:nvSpPr>
        <p:spPr>
          <a:xfrm rot="0" flipH="0" flipV="0">
            <a:off x="638175" y="4505325"/>
            <a:ext cx="76200" cy="161925"/>
          </a:xfrm>
          <a:prstGeom prst="rect"/>
        </p:spPr>
        <p:txBody>
          <a:bodyPr wrap="none" lIns="0" tIns="0" rIns="0" bIns="0"/>
          <a:p>
            <a:pPr>
              <a:lnSpc>
                <a:spcPct val="100000"/>
              </a:lnSpc>
            </a:pPr>
            <a:r>
              <a:rPr lang="en-US" sz="1050" b="1">
                <a:solidFill>
                  <a:srgbClr val="FFFFFF"/>
                </a:solidFill>
                <a:latin typeface="Microsoft YaHei"/>
                <a:ea typeface="Microsoft YaHei"/>
              </a:rPr>
              <a:t>5</a:t>
            </a:r>
            <a:endParaRPr/>
          </a:p>
        </p:txBody>
      </p:sp>
      <p:sp>
        <p:nvSpPr>
          <p:cNvPr id="482" name="" descr="{&quot;isTemplate&quot;:true,&quot;type&quot;:&quot;text&quot;}"/>
          <p:cNvSpPr txBox="1"/>
          <p:nvPr/>
        </p:nvSpPr>
        <p:spPr>
          <a:xfrm rot="0" flipH="0" flipV="0">
            <a:off x="952500" y="4438650"/>
            <a:ext cx="6667500" cy="171450"/>
          </a:xfrm>
          <a:prstGeom prst="rect"/>
        </p:spPr>
        <p:txBody>
          <a:bodyPr wrap="none" lIns="0" tIns="0" rIns="0" bIns="0"/>
          <a:p>
            <a:pPr>
              <a:lnSpc>
                <a:spcPct val="100000"/>
              </a:lnSpc>
            </a:pPr>
            <a:r>
              <a:rPr lang="en-US" sz="1088" b="1">
                <a:solidFill>
                  <a:srgbClr val="0E3F8C"/>
                </a:solidFill>
                <a:latin typeface="Microsoft YaHei"/>
                <a:ea typeface="Microsoft YaHei"/>
              </a:rPr>
              <a:t>Questions for the client</a:t>
            </a:r>
            <a:endParaRPr/>
          </a:p>
        </p:txBody>
      </p:sp>
      <p:sp>
        <p:nvSpPr>
          <p:cNvPr id="483" name="" descr="{&quot;isTemplate&quot;:true,&quot;type&quot;:&quot;text&quot;}"/>
          <p:cNvSpPr txBox="1"/>
          <p:nvPr/>
        </p:nvSpPr>
        <p:spPr>
          <a:xfrm rot="0" flipH="0" flipV="0">
            <a:off x="952500" y="4648200"/>
            <a:ext cx="6667500" cy="228600"/>
          </a:xfrm>
          <a:prstGeom prst="rect"/>
        </p:spPr>
        <p:txBody>
          <a:bodyPr wrap="none" lIns="0" tIns="0" rIns="0" bIns="0"/>
          <a:p>
            <a:pPr>
              <a:lnSpc>
                <a:spcPct val="155000"/>
              </a:lnSpc>
            </a:pPr>
            <a:r>
              <a:rPr lang="en-US" sz="938">
                <a:solidFill>
                  <a:srgbClr val="4A5568"/>
                </a:solidFill>
                <a:latin typeface="Microsoft YaHei"/>
                <a:ea typeface="Microsoft YaHei"/>
              </a:rPr>
              <a:t>Verbatim, not paraphrased. Anything you would not decide on your own goes here — this becomes the M1 review agenda.</a:t>
            </a:r>
            <a:endParaRPr/>
          </a:p>
        </p:txBody>
      </p:sp>
      <p:sp>
        <p:nvSpPr>
          <p:cNvPr id="484" name=""/>
          <p:cNvSpPr/>
          <p:nvPr/>
        </p:nvSpPr>
        <p:spPr>
          <a:xfrm rot="0" flipH="0" flipV="0">
            <a:off x="8001000" y="2390775"/>
            <a:ext cx="3810000" cy="2876550"/>
          </a:xfrm>
          <a:prstGeom prst="roundRect">
            <a:avLst>
              <a:gd name="adj" fmla="val 3311"/>
            </a:avLst>
          </a:prstGeom>
          <a:solidFill>
            <a:srgbClr val="FFFFFF"/>
          </a:solidFill>
          <a:ln w="12700">
            <a:solidFill>
              <a:srgbClr val="D6DCE5"/>
            </a:solidFill>
            <a:prstDash val="solid"/>
          </a:ln>
        </p:spPr>
        <p:txBody>
          <a:bodyPr/>
          <a:p/>
        </p:txBody>
      </p:sp>
      <p:sp>
        <p:nvSpPr>
          <p:cNvPr id="485" name="" descr="{&quot;isTemplate&quot;:true,&quot;type&quot;:&quot;text&quot;}"/>
          <p:cNvSpPr txBox="1"/>
          <p:nvPr/>
        </p:nvSpPr>
        <p:spPr>
          <a:xfrm rot="0" flipH="0" flipV="0">
            <a:off x="8191500" y="2562225"/>
            <a:ext cx="3429000" cy="171450"/>
          </a:xfrm>
          <a:prstGeom prst="rect"/>
        </p:spPr>
        <p:txBody>
          <a:bodyPr wrap="none" lIns="0" tIns="0" rIns="0" bIns="0"/>
          <a:p>
            <a:pPr>
              <a:lnSpc>
                <a:spcPct val="100000"/>
              </a:lnSpc>
            </a:pPr>
            <a:r>
              <a:rPr lang="en-US" sz="1125" b="1">
                <a:solidFill>
                  <a:srgbClr val="0E3F8C"/>
                </a:solidFill>
                <a:latin typeface="Microsoft YaHei"/>
                <a:ea typeface="Microsoft YaHei"/>
              </a:rPr>
              <a:t>Where it goes</a:t>
            </a:r>
            <a:endParaRPr/>
          </a:p>
        </p:txBody>
      </p:sp>
      <p:sp>
        <p:nvSpPr>
          <p:cNvPr id="486" name=""/>
          <p:cNvSpPr/>
          <p:nvPr/>
        </p:nvSpPr>
        <p:spPr>
          <a:xfrm rot="0" flipH="0" flipV="0">
            <a:off x="8191500" y="2847975"/>
            <a:ext cx="3429000" cy="361950"/>
          </a:xfrm>
          <a:prstGeom prst="roundRect">
            <a:avLst>
              <a:gd name="adj" fmla="val 18421"/>
            </a:avLst>
          </a:prstGeom>
          <a:solidFill>
            <a:srgbClr val="F0F5FC"/>
          </a:solidFill>
          <a:ln/>
        </p:spPr>
        <p:txBody>
          <a:bodyPr/>
          <a:p/>
        </p:txBody>
      </p:sp>
      <p:sp>
        <p:nvSpPr>
          <p:cNvPr id="487" name="" descr="{&quot;isTemplate&quot;:true,&quot;type&quot;:&quot;text&quot;}"/>
          <p:cNvSpPr txBox="1"/>
          <p:nvPr/>
        </p:nvSpPr>
        <p:spPr>
          <a:xfrm rot="0" flipH="0" flipV="0">
            <a:off x="8315325" y="2952750"/>
            <a:ext cx="3181350" cy="152400"/>
          </a:xfrm>
          <a:prstGeom prst="rect"/>
        </p:spPr>
        <p:txBody>
          <a:bodyPr wrap="none" lIns="0" tIns="0" rIns="0" bIns="0"/>
          <a:p>
            <a:pPr>
              <a:lnSpc>
                <a:spcPct val="100000"/>
              </a:lnSpc>
            </a:pPr>
            <a:r>
              <a:rPr lang="en-US" sz="975">
                <a:solidFill>
                  <a:srgbClr val="0E3F8C"/>
                </a:solidFill>
                <a:latin typeface="Menlo"/>
                <a:ea typeface="Menlo"/>
              </a:rPr>
              <a:t>docs/reviews/m1-spec-review.md</a:t>
            </a:r>
            <a:endParaRPr/>
          </a:p>
        </p:txBody>
      </p:sp>
      <p:sp>
        <p:nvSpPr>
          <p:cNvPr id="488" name="" descr="{&quot;isTemplate&quot;:true,&quot;type&quot;:&quot;text&quot;}"/>
          <p:cNvSpPr txBox="1"/>
          <p:nvPr/>
        </p:nvSpPr>
        <p:spPr>
          <a:xfrm rot="0" flipH="0" flipV="0">
            <a:off x="8191500" y="3343275"/>
            <a:ext cx="3429000" cy="7048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One file per review, both directions, in the same commit as the fix if you can manage it. The diff then shows the spec improving, which is worth more than the review itself.</a:t>
            </a:r>
            <a:endParaRPr/>
          </a:p>
        </p:txBody>
      </p:sp>
      <p:sp>
        <p:nvSpPr>
          <p:cNvPr id="489" name=""/>
          <p:cNvSpPr/>
          <p:nvPr/>
        </p:nvSpPr>
        <p:spPr>
          <a:xfrm rot="0" flipH="0" flipV="0">
            <a:off x="8191500" y="4181475"/>
            <a:ext cx="3429000" cy="914400"/>
          </a:xfrm>
          <a:prstGeom prst="roundRect">
            <a:avLst>
              <a:gd name="adj" fmla="val 7292"/>
            </a:avLst>
          </a:prstGeom>
          <a:solidFill>
            <a:srgbClr val="FFF6E0"/>
          </a:solidFill>
          <a:ln w="12700">
            <a:solidFill>
              <a:srgbClr val="F0DCA8"/>
            </a:solidFill>
            <a:prstDash val="solid"/>
          </a:ln>
        </p:spPr>
        <p:txBody>
          <a:bodyPr/>
          <a:p/>
        </p:txBody>
      </p:sp>
      <p:sp>
        <p:nvSpPr>
          <p:cNvPr id="490" name="" descr="{&quot;isTemplate&quot;:true,&quot;type&quot;:&quot;text&quot;}"/>
          <p:cNvSpPr txBox="1"/>
          <p:nvPr/>
        </p:nvSpPr>
        <p:spPr>
          <a:xfrm rot="0" flipH="0" flipV="0">
            <a:off x="8324850" y="4295775"/>
            <a:ext cx="3162300" cy="685800"/>
          </a:xfrm>
          <a:prstGeom prst="rect"/>
        </p:spPr>
        <p:txBody>
          <a:bodyPr wrap="square" lIns="0" tIns="0" rIns="0" bIns="0">
            <a:normAutofit/>
          </a:bodyPr>
          <a:p>
            <a:pPr>
              <a:lnSpc>
                <a:spcPct val="155000"/>
              </a:lnSpc>
            </a:pPr>
            <a:r>
              <a:rPr lang="en-US" sz="960">
                <a:solidFill>
                  <a:srgbClr val="996F00"/>
                </a:solidFill>
                <a:latin typeface="Microsoft YaHei"/>
                <a:ea typeface="Microsoft YaHei"/>
              </a:rPr>
              <a:t>Individual evidence: each member’s review file counts towards the individual contribution grade. Write your own section; do not let the Recorder write all four.</a:t>
            </a:r>
            <a:endParaRPr/>
          </a:p>
        </p:txBody>
      </p:sp>
      <p:sp>
        <p:nvSpPr>
          <p:cNvPr id="491" name=""/>
          <p:cNvSpPr/>
          <p:nvPr/>
        </p:nvSpPr>
        <p:spPr>
          <a:xfrm rot="0" flipH="0" flipV="0">
            <a:off x="0" y="6419850"/>
            <a:ext cx="12192000" cy="438150"/>
          </a:xfrm>
          <a:prstGeom prst="rect">
            <a:avLst/>
          </a:prstGeom>
          <a:solidFill>
            <a:srgbClr val="0E3F8C"/>
          </a:solidFill>
          <a:ln/>
        </p:spPr>
        <p:txBody>
          <a:bodyPr/>
          <a:p/>
        </p:txBody>
      </p:sp>
      <p:sp>
        <p:nvSpPr>
          <p:cNvPr id="492" name="" descr="{&quot;isTemplate&quot;:true,&quot;type&quot;:&quot;text&quot;}"/>
          <p:cNvSpPr txBox="1"/>
          <p:nvPr/>
        </p:nvSpPr>
        <p:spPr>
          <a:xfrm rot="0" flipH="0" flipV="0">
            <a:off x="2971800" y="6543675"/>
            <a:ext cx="6248400" cy="190500"/>
          </a:xfrm>
          <a:prstGeom prst="rect"/>
        </p:spPr>
        <p:txBody>
          <a:bodyPr wrap="none" lIns="0" tIns="0" rIns="0" bIns="0"/>
          <a:p>
            <a:pPr>
              <a:lnSpc>
                <a:spcPct val="100000"/>
              </a:lnSpc>
            </a:pPr>
            <a:r>
              <a:rPr lang="en-US" sz="1238" b="1">
                <a:solidFill>
                  <a:srgbClr val="FFFFFF"/>
                </a:solidFill>
                <a:latin typeface="Microsoft YaHei"/>
                <a:ea typeface="Microsoft YaHei"/>
              </a:rPr>
              <a:t>A review you cannot paste into the repository is a conversation you had and forgot.</a:t>
            </a:r>
            <a:endParaRPr/>
          </a:p>
        </p:txBody>
      </p:sp>
    </p:spTree>
  </p:cSld>
</p:sld>
</file>

<file path=ppt/slides/slide33.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493"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LAB · EXERCISE 5.2&lt;/Text&gt;&#10;  &lt;/Box&gt;&#10;  &lt;Box style={{ padding: '13px 40px 0 40px', flexDirection: 'row', alignItems: 'center', justifyContent: 'space-between' }}&gt;&#10;    &lt;Text style={{ fontSize: 29, fontWeight: 'bold', color: '#0E3F8C' }}&gt;Exercise 5.2 — Rating a Spec&lt;/Text&gt;&#10;    &lt;Text style={{ fontSize: 14, color: '#1E4FA8', fontWeight: 'bold' }}&gt;33 / 38&lt;/Text&gt;&#10;  &lt;/Box&gt;&#10;  &lt;Box style={{ flex: 1, padding: '10px 40px 0 40px' }}&gt;&#10;    &lt;Table&#10;      style={{ width: '100%', height: '100%' }}&#10;      defaultTextStyle={{ fontSize: 13.5, textAlign: 'left', color: '#1A2230' }}&#10;      defaultCellStyle={{&#10;        border: {&#10;          left: { width: 1, color: '#E5E7EB' },&#10;          right: { width: 1, color: '#E5E7EB' },&#10;          top: { width: 1, color: '#E5E7EB' },&#10;          bottom: { width: 1, color: '#E5E7EB' },&#10;        },&#10;      }}&#10;      cells={[&#10;        [&#10;          { text: 'Score', textStyle: { bold: true, color: '#FFFFFF', fontSize: 15 }, cellStyle: { background: { color: '#0E3F8C' } } },&#10;          { text: 'What it looks like', textStyle: { bold: true, color: '#FFFFFF', fontSize: 15 }, cellStyle: { background: { color: '#1E4FA8' } } },&#10;          { text: 'What you write', textStyle: { bold: true, color: '#FFFFFF', fontSize: 15 }, cellStyle: { background: { color: '#2B5793' } } },&#10;          { text: 'Next action', textStyle: { bold: true, color: '#FFFFFF', fontSize: 15 }, cellStyle: { background: { color: '#1E4FA8' } } },&#10;        ],&#10;        [&#10;          { text: '3 — sound', textStyle: { bold: true, color: '#2B7A3D' }, cellStyle: { background: { color: '#EAF6EC' } } },&#10;          { text: 'A tester could run it today without asking a question.', textStyle: { color: '#4A5568' }, cellStyle: { background: { color: '#EAF6EC' } } },&#10;          { text: '“Groups A–C all pass. One note on wording.”', textStyle: { color: '#4A5568' }, cellStyle: { background: { color: '#EAF6EC' } } },&#10;          { text: 'Move on to the client review.', textStyle: { color: '#4A5568' }, cellStyle: { background: { color: '#EAF6EC' } } },&#10;        ],&#10;        [&#10;          { text: '2 — fixable', textStyle: { bold: true, color: '#996F00' }, cellStyle: { background: { color: '#FFF6E0' } } },&#10;          { text: 'The goal is clear and the main path works; a group or two is missing.', textStyle: { color: '#4A5568' }, cellStyle: { background: { color: '#FFF6E0' } } },&#10;          { text: 'Write the corrected sentences. Two or three, not ten.', textStyle: { color: '#4A5568' }, cellStyle: { background: { color: '#FFF6E0' } } },&#10;          { text: 'Author applies, then re-runs the review.', textStyle: { color: '#4A5568' }, cellStyle: { background: { color: '#FFF6E0' } } },&#10;        ],&#10;        [&#10;          { text: '1 — rewrite', textStyle: { bold: true, color: '#D9534F' }, cellStyle: { background: { color: '#FDF3F3' } } },&#10;          { text: 'The goal is unclear, or two goals are fused, or there are no exceptions at all.', textStyle: { color: '#4A5568' }, cellStyle: { background: { color: '#FDF3F3' } } },&#10;          { text: 'Say which criterion fails. One sentence.', textStyle: { color: '#4A5568' }, cellStyle: { background: { color: '#FDF3F3' } } },&#10;          { text: 'Author rewrites; the reviewer does not touch the file.', textStyle: { color: '#4A5568' }, cellStyle: { background: { color: '#FDF3F3' } } },&#10;        ],&#10;        [&#10;          { text: 'Calibration', textStyle: { bold: true, color: '#0E3F8C' } },&#10;          { text: 'Rate the spec, never the person.', textStyle: { color: '#4A5568' } },&#10;          { text: '“This needs a rewrite” is not an insult; it is the most useful sentence in a review.', textStyle: { color: '#4A5568' } },&#10;          { text: 'A review where everything scores 3 is a review nobody did.', textStyle: { color: '#4A5568' } },&#10;        ],&#10;      ]}&#10;    /&gt;&#10;  &lt;/Box&gt;&#10;  &lt;Box style={{ height: 46, background: '#0E3F8C', padding: '0 40px', flexDirection: 'row', alignItems: 'center', justifyContent: 'center' }}&gt;&#10;    &lt;Text style={{ fontSize: 16.5, color: '#FFFFFF', fontWeight: '600' }}&gt;If your partner’s spec scores 3 everywhere, you did not read it. Go back and look for group C.&lt;/Text&gt;&#10;  &lt;/Box&gt;&#10;&lt;/Slide&gt;&#10;"/>
        <p:cNvGrpSpPr/>
        <p:nvPr/>
      </p:nvGrpSpPr>
      <p:grpSpPr>
        <a:xfrm>
          <a:off x="0" y="0"/>
          <a:ext cx="0" cy="0"/>
          <a:chOff x="0" y="0"/>
          <a:chExt cx="0" cy="0"/>
        </a:xfrm>
      </p:grpSpPr>
      <p:sp>
        <p:nvSpPr>
          <p:cNvPr id="494" name=""/>
          <p:cNvSpPr/>
          <p:nvPr/>
        </p:nvSpPr>
        <p:spPr>
          <a:xfrm rot="0" flipH="0" flipV="0">
            <a:off x="0" y="0"/>
            <a:ext cx="12192000" cy="6858000"/>
          </a:xfrm>
          <a:prstGeom prst="rect">
            <a:avLst/>
          </a:prstGeom>
          <a:solidFill>
            <a:srgbClr val="FFFFFF"/>
          </a:solidFill>
          <a:ln/>
        </p:spPr>
        <p:txBody>
          <a:bodyPr/>
          <a:p/>
        </p:txBody>
      </p:sp>
      <p:sp>
        <p:nvSpPr>
          <p:cNvPr id="495" name=""/>
          <p:cNvSpPr/>
          <p:nvPr/>
        </p:nvSpPr>
        <p:spPr>
          <a:xfrm rot="0" flipH="0" flipV="0">
            <a:off x="0" y="0"/>
            <a:ext cx="12192000" cy="685800"/>
          </a:xfrm>
          <a:prstGeom prst="rect">
            <a:avLst/>
          </a:prstGeom>
          <a:solidFill>
            <a:srgbClr val="1E4FA8"/>
          </a:solidFill>
          <a:ln/>
        </p:spPr>
        <p:txBody>
          <a:bodyPr/>
          <a:p/>
        </p:txBody>
      </p:sp>
      <p:sp>
        <p:nvSpPr>
          <p:cNvPr id="496"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497" name="" descr="{&quot;isTemplate&quot;:true,&quot;type&quot;:&quot;text&quot;}"/>
          <p:cNvSpPr txBox="1"/>
          <p:nvPr/>
        </p:nvSpPr>
        <p:spPr>
          <a:xfrm rot="0" flipH="0" flipV="0">
            <a:off x="10029825" y="257175"/>
            <a:ext cx="1781175" cy="171450"/>
          </a:xfrm>
          <a:prstGeom prst="rect"/>
        </p:spPr>
        <p:txBody>
          <a:bodyPr wrap="none" lIns="0" tIns="0" rIns="0" bIns="0"/>
          <a:p>
            <a:pPr>
              <a:lnSpc>
                <a:spcPct val="100000"/>
              </a:lnSpc>
            </a:pPr>
            <a:r>
              <a:rPr lang="en-US" sz="1125">
                <a:solidFill>
                  <a:srgbClr val="B9CDF0"/>
                </a:solidFill>
                <a:latin typeface="Microsoft YaHei"/>
                <a:ea typeface="Microsoft YaHei"/>
              </a:rPr>
              <a:t>W05 · LAB · EXERCISE 5.2</a:t>
            </a:r>
            <a:endParaRPr/>
          </a:p>
        </p:txBody>
      </p:sp>
      <p:sp>
        <p:nvSpPr>
          <p:cNvPr id="498" name="" descr="{&quot;isTemplate&quot;:true,&quot;type&quot;:&quot;text&quot;}"/>
          <p:cNvSpPr txBox="1"/>
          <p:nvPr/>
        </p:nvSpPr>
        <p:spPr>
          <a:xfrm rot="0" flipH="0" flipV="0">
            <a:off x="381000" y="809625"/>
            <a:ext cx="3857625" cy="333375"/>
          </a:xfrm>
          <a:prstGeom prst="rect"/>
        </p:spPr>
        <p:txBody>
          <a:bodyPr wrap="none" lIns="0" tIns="0" rIns="0" bIns="0"/>
          <a:p>
            <a:pPr>
              <a:lnSpc>
                <a:spcPct val="100000"/>
              </a:lnSpc>
            </a:pPr>
            <a:r>
              <a:rPr lang="en-US" sz="2175" b="1">
                <a:solidFill>
                  <a:srgbClr val="0E3F8C"/>
                </a:solidFill>
                <a:latin typeface="Microsoft YaHei"/>
                <a:ea typeface="Microsoft YaHei"/>
              </a:rPr>
              <a:t>Exercise 5.2 — Rating a Spec</a:t>
            </a:r>
            <a:endParaRPr/>
          </a:p>
        </p:txBody>
      </p:sp>
      <p:sp>
        <p:nvSpPr>
          <p:cNvPr id="499"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33 / 38</a:t>
            </a:r>
            <a:endParaRPr/>
          </a:p>
        </p:txBody>
      </p:sp>
      <p:graphicFrame>
        <p:nvGraphicFramePr>
          <p:cNvPr id="500" name=""/>
          <p:cNvGraphicFramePr/>
          <p:nvPr/>
        </p:nvGraphicFramePr>
        <p:xfrm rot="0" flipH="0" flipV="0">
          <a:off x="381000" y="1238250"/>
          <a:ext cx="11430000" cy="5181600"/>
        </p:xfrm>
        <a:graphic>
          <a:graphicData uri="http://schemas.openxmlformats.org/drawingml/2006/table">
            <a:tbl>
              <a:tblGrid>
                <a:gridCol w="676593">
                  <a:extLst>
                    <a:ext uri="{9D8B030D-6E8A-4147-A177-3AD203B41FA5}">
                      <a16:colId val="1"/>
                    </a:ext>
                  </a:extLst>
                </a:gridCol>
                <a:gridCol w="3805631">
                  <a:extLst>
                    <a:ext uri="{9D8B030D-6E8A-4147-A177-3AD203B41FA5}">
                      <a16:colId val="2"/>
                    </a:ext>
                  </a:extLst>
                </a:gridCol>
                <a:gridCol w="3961264">
                  <a:extLst>
                    <a:ext uri="{9D8B030D-6E8A-4147-A177-3AD203B41FA5}">
                      <a16:colId val="3"/>
                    </a:ext>
                  </a:extLst>
                </a:gridCol>
                <a:gridCol w="2986511">
                  <a:extLst>
                    <a:ext uri="{9D8B030D-6E8A-4147-A177-3AD203B41FA5}">
                      <a16:colId val="4"/>
                    </a:ext>
                  </a:extLst>
                </a:gridCol>
              </a:tblGrid>
              <a:tr h="724507">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Score</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What it looks like</a:t>
                      </a:r>
                      <a:endParaRPr/>
                    </a:p>
                  </a:txBody>
                  <a:tcPr marL="45720" marR="45720" marT="45720" marB="45720" anchor="ctr">
                    <a:lnL>
                      <a:noFill/>
                    </a:lnL>
                    <a:lnR>
                      <a:noFill/>
                    </a:lnR>
                    <a:lnT>
                      <a:noFill/>
                    </a:lnT>
                    <a:lnB>
                      <a:noFill/>
                    </a:lnB>
                    <a:solidFill>
                      <a:srgbClr val="1E4FA8"/>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What you write</a:t>
                      </a:r>
                      <a:endParaRPr/>
                    </a:p>
                  </a:txBody>
                  <a:tcPr marL="45720" marR="45720" marT="45720" marB="45720" anchor="ctr">
                    <a:lnL>
                      <a:noFill/>
                    </a:lnL>
                    <a:lnR>
                      <a:noFill/>
                    </a:lnR>
                    <a:lnT>
                      <a:noFill/>
                    </a:lnT>
                    <a:lnB>
                      <a:noFill/>
                    </a:lnB>
                    <a:solidFill>
                      <a:srgbClr val="2B5793"/>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Next action</a:t>
                      </a:r>
                      <a:endParaRPr/>
                    </a:p>
                  </a:txBody>
                  <a:tcPr marL="45720" marR="45720" marT="45720" marB="45720" anchor="ctr">
                    <a:lnL>
                      <a:noFill/>
                    </a:lnL>
                    <a:lnR>
                      <a:noFill/>
                    </a:lnR>
                    <a:lnT>
                      <a:noFill/>
                    </a:lnT>
                    <a:lnB>
                      <a:noFill/>
                    </a:lnB>
                    <a:solidFill>
                      <a:srgbClr val="1E4FA8"/>
                    </a:solidFill>
                  </a:tcPr>
                </a:tc>
                <a:extLst>
                  <a:ext uri="{0D108BD9-81ED-4DB2-BD59-A6C34878D82A}">
                    <a16:rowId val="1"/>
                  </a:ext>
                </a:extLst>
              </a:tr>
              <a:tr h="1114273">
                <a:tc>
                  <a:txBody>
                    <a:bodyPr wrap="square" lIns="0" tIns="0" rIns="0" bIns="0" anchor="ctr">
                      <a:normAutofit/>
                    </a:bodyPr>
                    <a:p>
                      <a:pPr marL="114300" marR="114300" algn="l">
                        <a:lnSpc>
                          <a:spcPct val="120000"/>
                        </a:lnSpc>
                      </a:pPr>
                      <a:r>
                        <a:rPr sz="1013" b="1">
                          <a:solidFill>
                            <a:srgbClr val="2B7A3D"/>
                          </a:solidFill>
                          <a:latin typeface="Microsoft YaHei"/>
                          <a:ea typeface="Microsoft YaHei"/>
                        </a:rPr>
                        <a:t>3 — sound</a:t>
                      </a:r>
                      <a:endParaRPr/>
                    </a:p>
                  </a:txBody>
                  <a:tcPr marL="45720" marR="45720" marT="45720" marB="45720" anchor="ctr">
                    <a:lnL>
                      <a:noFill/>
                    </a:lnL>
                    <a:lnR>
                      <a:noFill/>
                    </a:lnR>
                    <a:lnT>
                      <a:noFill/>
                    </a:lnT>
                    <a:lnB>
                      <a:noFill/>
                    </a:lnB>
                    <a:solidFill>
                      <a:srgbClr val="EAF6E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tester could run it today without asking a question.</a:t>
                      </a:r>
                      <a:endParaRPr/>
                    </a:p>
                  </a:txBody>
                  <a:tcPr marL="45720" marR="45720" marT="45720" marB="45720" anchor="ctr">
                    <a:lnL>
                      <a:noFill/>
                    </a:lnL>
                    <a:lnR>
                      <a:noFill/>
                    </a:lnR>
                    <a:lnT>
                      <a:noFill/>
                    </a:lnT>
                    <a:lnB>
                      <a:noFill/>
                    </a:lnB>
                    <a:solidFill>
                      <a:srgbClr val="EAF6E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“Groups A–C all pass. One note on wording.”</a:t>
                      </a:r>
                      <a:endParaRPr/>
                    </a:p>
                  </a:txBody>
                  <a:tcPr marL="45720" marR="45720" marT="45720" marB="45720" anchor="ctr">
                    <a:lnL>
                      <a:noFill/>
                    </a:lnL>
                    <a:lnR>
                      <a:noFill/>
                    </a:lnR>
                    <a:lnT>
                      <a:noFill/>
                    </a:lnT>
                    <a:lnB>
                      <a:noFill/>
                    </a:lnB>
                    <a:solidFill>
                      <a:srgbClr val="EAF6E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Move on to the client review.</a:t>
                      </a:r>
                      <a:endParaRPr/>
                    </a:p>
                  </a:txBody>
                  <a:tcPr marL="45720" marR="45720" marT="45720" marB="45720" anchor="ctr">
                    <a:lnL>
                      <a:noFill/>
                    </a:lnL>
                    <a:lnR>
                      <a:noFill/>
                    </a:lnR>
                    <a:lnT>
                      <a:noFill/>
                    </a:lnT>
                    <a:lnB>
                      <a:noFill/>
                    </a:lnB>
                    <a:solidFill>
                      <a:srgbClr val="EAF6EC"/>
                    </a:solidFill>
                  </a:tcPr>
                </a:tc>
                <a:extLst>
                  <a:ext uri="{0D108BD9-81ED-4DB2-BD59-A6C34878D82A}">
                    <a16:rowId val="2"/>
                  </a:ext>
                </a:extLst>
              </a:tr>
              <a:tr h="1114273">
                <a:tc>
                  <a:txBody>
                    <a:bodyPr wrap="square" lIns="0" tIns="0" rIns="0" bIns="0" anchor="ctr">
                      <a:normAutofit/>
                    </a:bodyPr>
                    <a:p>
                      <a:pPr marL="114300" marR="114300" algn="l">
                        <a:lnSpc>
                          <a:spcPct val="120000"/>
                        </a:lnSpc>
                      </a:pPr>
                      <a:r>
                        <a:rPr sz="1013" b="1">
                          <a:solidFill>
                            <a:srgbClr val="996F00"/>
                          </a:solidFill>
                          <a:latin typeface="Microsoft YaHei"/>
                          <a:ea typeface="Microsoft YaHei"/>
                        </a:rPr>
                        <a:t>2 — fixable</a:t>
                      </a:r>
                      <a:endParaRPr/>
                    </a:p>
                  </a:txBody>
                  <a:tcPr marL="45720" marR="45720" marT="45720" marB="45720" anchor="ctr">
                    <a:lnL>
                      <a:noFill/>
                    </a:lnL>
                    <a:lnR>
                      <a:noFill/>
                    </a:lnR>
                    <a:lnT>
                      <a:noFill/>
                    </a:lnT>
                    <a:lnB>
                      <a:noFill/>
                    </a:lnB>
                    <a:solidFill>
                      <a:srgbClr val="FFF6E0"/>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goal is clear and the main path works; a group or two is missing.</a:t>
                      </a:r>
                      <a:endParaRPr/>
                    </a:p>
                  </a:txBody>
                  <a:tcPr marL="45720" marR="45720" marT="45720" marB="45720" anchor="ctr">
                    <a:lnL>
                      <a:noFill/>
                    </a:lnL>
                    <a:lnR>
                      <a:noFill/>
                    </a:lnR>
                    <a:lnT>
                      <a:noFill/>
                    </a:lnT>
                    <a:lnB>
                      <a:noFill/>
                    </a:lnB>
                    <a:solidFill>
                      <a:srgbClr val="FFF6E0"/>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Write the corrected sentences. Two or three, not ten.</a:t>
                      </a:r>
                      <a:endParaRPr/>
                    </a:p>
                  </a:txBody>
                  <a:tcPr marL="45720" marR="45720" marT="45720" marB="45720" anchor="ctr">
                    <a:lnL>
                      <a:noFill/>
                    </a:lnL>
                    <a:lnR>
                      <a:noFill/>
                    </a:lnR>
                    <a:lnT>
                      <a:noFill/>
                    </a:lnT>
                    <a:lnB>
                      <a:noFill/>
                    </a:lnB>
                    <a:solidFill>
                      <a:srgbClr val="FFF6E0"/>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Author applies, then re-runs the review.</a:t>
                      </a:r>
                      <a:endParaRPr/>
                    </a:p>
                  </a:txBody>
                  <a:tcPr marL="45720" marR="45720" marT="45720" marB="45720" anchor="ctr">
                    <a:lnL>
                      <a:noFill/>
                    </a:lnL>
                    <a:lnR>
                      <a:noFill/>
                    </a:lnR>
                    <a:lnT>
                      <a:noFill/>
                    </a:lnT>
                    <a:lnB>
                      <a:noFill/>
                    </a:lnB>
                    <a:solidFill>
                      <a:srgbClr val="FFF6E0"/>
                    </a:solidFill>
                  </a:tcPr>
                </a:tc>
                <a:extLst>
                  <a:ext uri="{0D108BD9-81ED-4DB2-BD59-A6C34878D82A}">
                    <a16:rowId val="3"/>
                  </a:ext>
                </a:extLst>
              </a:tr>
              <a:tr h="1114273">
                <a:tc>
                  <a:txBody>
                    <a:bodyPr wrap="square" lIns="0" tIns="0" rIns="0" bIns="0" anchor="ctr">
                      <a:normAutofit/>
                    </a:bodyPr>
                    <a:p>
                      <a:pPr marL="114300" marR="114300" algn="l">
                        <a:lnSpc>
                          <a:spcPct val="120000"/>
                        </a:lnSpc>
                      </a:pPr>
                      <a:r>
                        <a:rPr sz="1013" b="1">
                          <a:solidFill>
                            <a:srgbClr val="D9534F"/>
                          </a:solidFill>
                          <a:latin typeface="Microsoft YaHei"/>
                          <a:ea typeface="Microsoft YaHei"/>
                        </a:rPr>
                        <a:t>1 — rewrite</a:t>
                      </a:r>
                      <a:endParaRPr/>
                    </a:p>
                  </a:txBody>
                  <a:tcPr marL="45720" marR="45720" marT="45720" marB="45720" anchor="ctr">
                    <a:lnL>
                      <a:noFill/>
                    </a:lnL>
                    <a:lnR>
                      <a:noFill/>
                    </a:lnR>
                    <a:lnT>
                      <a:noFill/>
                    </a:lnT>
                    <a:lnB>
                      <a:noFill/>
                    </a:lnB>
                    <a:solidFill>
                      <a:srgbClr val="FDF3F3"/>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goal is unclear, or two goals are fused, or there are no exceptions at all.</a:t>
                      </a:r>
                      <a:endParaRPr/>
                    </a:p>
                  </a:txBody>
                  <a:tcPr marL="45720" marR="45720" marT="45720" marB="45720" anchor="ctr">
                    <a:lnL>
                      <a:noFill/>
                    </a:lnL>
                    <a:lnR>
                      <a:noFill/>
                    </a:lnR>
                    <a:lnT>
                      <a:noFill/>
                    </a:lnT>
                    <a:lnB>
                      <a:noFill/>
                    </a:lnB>
                    <a:solidFill>
                      <a:srgbClr val="FDF3F3"/>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Say which criterion fails. One sentence.</a:t>
                      </a:r>
                      <a:endParaRPr/>
                    </a:p>
                  </a:txBody>
                  <a:tcPr marL="45720" marR="45720" marT="45720" marB="45720" anchor="ctr">
                    <a:lnL>
                      <a:noFill/>
                    </a:lnL>
                    <a:lnR>
                      <a:noFill/>
                    </a:lnR>
                    <a:lnT>
                      <a:noFill/>
                    </a:lnT>
                    <a:lnB>
                      <a:noFill/>
                    </a:lnB>
                    <a:solidFill>
                      <a:srgbClr val="FDF3F3"/>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Author rewrites; the reviewer does not touch the file.</a:t>
                      </a:r>
                      <a:endParaRPr/>
                    </a:p>
                  </a:txBody>
                  <a:tcPr marL="45720" marR="45720" marT="45720" marB="45720" anchor="ctr">
                    <a:lnL>
                      <a:noFill/>
                    </a:lnL>
                    <a:lnR>
                      <a:noFill/>
                    </a:lnR>
                    <a:lnT>
                      <a:noFill/>
                    </a:lnT>
                    <a:lnB>
                      <a:noFill/>
                    </a:lnB>
                    <a:solidFill>
                      <a:srgbClr val="FDF3F3"/>
                    </a:solidFill>
                  </a:tcPr>
                </a:tc>
                <a:extLst>
                  <a:ext uri="{0D108BD9-81ED-4DB2-BD59-A6C34878D82A}">
                    <a16:rowId val="4"/>
                  </a:ext>
                </a:extLst>
              </a:tr>
              <a:tr h="111427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Calibration</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Rate the spec, never the person.</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“This needs a rewrite” is not an insult; it is the most useful sentence in a review.</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review where everything scores 3 is a review nobody did.</a:t>
                      </a:r>
                      <a:endParaRPr/>
                    </a:p>
                  </a:txBody>
                  <a:tcPr marL="45720" marR="45720" marT="45720" marB="45720" anchor="ctr">
                    <a:lnL>
                      <a:noFill/>
                    </a:lnL>
                    <a:lnR>
                      <a:noFill/>
                    </a:lnR>
                    <a:lnT>
                      <a:noFill/>
                    </a:lnT>
                    <a:lnB>
                      <a:noFill/>
                    </a:lnB>
                  </a:tcPr>
                </a:tc>
                <a:extLst>
                  <a:ext uri="{0D108BD9-81ED-4DB2-BD59-A6C34878D82A}">
                    <a16:rowId val="5"/>
                  </a:ext>
                </a:extLst>
              </a:tr>
            </a:tbl>
          </a:graphicData>
        </a:graphic>
      </p:graphicFrame>
      <p:sp>
        <p:nvSpPr>
          <p:cNvPr id="501" name=""/>
          <p:cNvSpPr/>
          <p:nvPr/>
        </p:nvSpPr>
        <p:spPr>
          <a:xfrm rot="0" flipH="0" flipV="0">
            <a:off x="0" y="6419850"/>
            <a:ext cx="12192000" cy="438150"/>
          </a:xfrm>
          <a:prstGeom prst="rect">
            <a:avLst/>
          </a:prstGeom>
          <a:solidFill>
            <a:srgbClr val="0E3F8C"/>
          </a:solidFill>
          <a:ln/>
        </p:spPr>
        <p:txBody>
          <a:bodyPr/>
          <a:p/>
        </p:txBody>
      </p:sp>
      <p:sp>
        <p:nvSpPr>
          <p:cNvPr id="502" name="" descr="{&quot;isTemplate&quot;:true,&quot;type&quot;:&quot;text&quot;}"/>
          <p:cNvSpPr txBox="1"/>
          <p:nvPr/>
        </p:nvSpPr>
        <p:spPr>
          <a:xfrm rot="0" flipH="0" flipV="0">
            <a:off x="2609850" y="6543675"/>
            <a:ext cx="6981825" cy="190500"/>
          </a:xfrm>
          <a:prstGeom prst="rect"/>
        </p:spPr>
        <p:txBody>
          <a:bodyPr wrap="none" lIns="0" tIns="0" rIns="0" bIns="0"/>
          <a:p>
            <a:pPr>
              <a:lnSpc>
                <a:spcPct val="100000"/>
              </a:lnSpc>
            </a:pPr>
            <a:r>
              <a:rPr lang="en-US" sz="1238" b="1">
                <a:solidFill>
                  <a:srgbClr val="FFFFFF"/>
                </a:solidFill>
                <a:latin typeface="Microsoft YaHei"/>
                <a:ea typeface="Microsoft YaHei"/>
              </a:rPr>
              <a:t>If your partner’s spec scores 3 everywhere, you did not read it. Go back and look for group C.</a:t>
            </a:r>
            <a:endParaRPr/>
          </a:p>
        </p:txBody>
      </p:sp>
    </p:spTree>
  </p:cSld>
</p:sld>
</file>

<file path=ppt/slides/slide34.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503"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MILESTONE M1&lt;/Text&gt;&#10;  &lt;/Box&gt;&#10;  &lt;Box style={{ padding: '13px 40px 0 40px', flexDirection: 'row', alignItems: 'center', justifyContent: 'space-between' }}&gt;&#10;    &lt;Text style={{ fontSize: 29, fontWeight: 'bold', color: '#0E3F8C' }}&gt;The M1 Checklist&lt;/Text&gt;&#10;    &lt;Text style={{ fontSize: 14, color: '#1E4FA8', fontWeight: 'bold' }}&gt;34 / 38&lt;/Text&gt;&#10;  &lt;/Box&gt;&#10;  &lt;Box style={{ flex: 1, padding: '6px 40px 0 40px', justifyContent: 'center', alignItems: 'center' }}&gt;&#10;    &lt;svg width={1180} height={392} viewBox='0 0 1180 392'&gt;&#10;      &lt;text x='10' y='16' fill='#8B97A8' fontSize='13'&gt;M1 is due Sun 4 Oct. Four artefacts, one tag, one verification command.&lt;/text&gt;&#10;&#10;      &lt;g transform='translate(10,32)'&gt;&#10;        &lt;rect x='0' y='0' width='278' height='240' rx='8' fill='#F0F5FC' stroke='#1E4FA8' strokeWidth='2' /&gt;&#10;        &lt;circle cx='30' cy='30' r='14' fill='#1E4FA8' /&gt;&#10;        &lt;text x='30' y='36' textAnchor='middle' fill='#FFFFFF' fontSize='15' fontWeight='bold'&gt;1&lt;/text&gt;&#10;        &lt;text x='54' y='35' fill='#0E3F8C' fontSize='14.5' fontWeight='bold'&gt;Requirements list&lt;/text&gt;&#10;        &lt;text x='18' y='70' fill='#4A5568' fontSize='12'&gt;Every requirement testable.&lt;/text&gt;&#10;        &lt;text x='18' y='89' fill='#4A5568' fontSize='12'&gt;Functional and non-functional&lt;/text&gt;&#10;        &lt;text x='18' y='107' fill='#4A5568' fontSize='12'&gt;marked separately.&lt;/text&gt;&#10;        &lt;line x1='18' y1='126' x2='260' y2='126' stroke='#D6DCE5' strokeWidth='1' /&gt;&#10;        &lt;text x='18' y='150' fill='#1E4FA8' fontSize='11.5'&gt;docs/requirements.md&lt;/text&gt;&#10;        &lt;text x='18' y='180' fill='#8B97A8' fontSize='11.5'&gt;Tip: one row per requirement,&lt;/text&gt;&#10;        &lt;text x='18' y='197' fill='#8B97A8' fontSize='11.5'&gt;with a test column you can fill&lt;/text&gt;&#10;        &lt;text x='18' y='214' fill='#8B97A8' fontSize='11.5'&gt;in later. Empty column = bad sign.&lt;/text&gt;&#10;      &lt;/g&gt;&#10;&#10;      &lt;g transform='translate(300,32)'&gt;&#10;        &lt;rect x='0' y='0' width='278' height='240' rx='8' fill='#F0F5FC' stroke='#1E4FA8' strokeWidth='2' /&gt;&#10;        &lt;circle cx='30' cy='30' r='14' fill='#1E4FA8' /&gt;&#10;        &lt;text x='30' y='36' textAnchor='middle' fill='#FFFFFF' fontSize='15' fontWeight='bold'&gt;2&lt;/text&gt;&#10;        &lt;text x='54' y='35' fill='#0E3F8C' fontSize='14.5' fontWeight='bold'&gt;Use case diagram&lt;/text&gt;&#10;        &lt;text x='18' y='70' fill='#4A5568' fontSize='12'&gt;All actors, boundary drawn,&lt;/text&gt;&#10;        &lt;text x='18' y='89' fill='#4A5568' fontSize='12'&gt;one include and one extend&lt;/text&gt;&#10;        &lt;text x='18' y='107' fill='#4A5568' fontSize='12'&gt;labelled with a reason.&lt;/text&gt;&#10;        &lt;line x1='18' y1='126' x2='260' y2='126' stroke='#D6DCE5' strokeWidth='1' /&gt;&#10;        &lt;text x='18' y='150' fill='#1E4FA8' fontSize='11.5'&gt;docs/diagrams/use-case-v1.png&lt;/text&gt;&#10;        &lt;text x='18' y='180' fill='#8B97A8' fontSize='11.5'&gt;Both the .drawio source and&lt;/text&gt;&#10;        &lt;text x='18' y='197' fill='#8B97A8' fontSize='11.5'&gt;the .puml source are in the&lt;/text&gt;&#10;        &lt;text x='18' y='214' fill='#8B97A8' fontSize='11.5'&gt;repo. A PNG alone is not a diagram.&lt;/text&gt;&#10;      &lt;/g&gt;&#10;&#10;      &lt;g transform='translate(590,32)'&gt;&#10;        &lt;rect x='0' y='0' width='278' height='240' rx='8' fill='#FFF6E0' stroke='#FFC107' strokeWidth='2' /&gt;&#10;        &lt;circle cx='30' cy='30' r='14' fill='#996F00' /&gt;&#10;        &lt;text x='30' y='36' textAnchor='middle' fill='#FFFFFF' fontSize='15' fontWeight='bold'&gt;3&lt;/text&gt;&#10;        &lt;text x='54' y='35' fill='#996F00' fontSize='14.5' fontWeight='bold'&gt;Two full specifications&lt;/text&gt;&#10;        &lt;text x='18' y='70' fill='#4A5568' fontSize='12'&gt;Place Order plus one more.&lt;/text&gt;&#10;        &lt;text x='18' y='89' fill='#4A5568' fontSize='12'&gt;All nine fields, extensions,&lt;/text&gt;&#10;        &lt;text x='18' y='107' fill='#4A5568' fontSize='12'&gt;postconditions for every exit.&lt;/text&gt;&#10;        &lt;line x1='18' y1='126' x2='260' y2='126' stroke='#E8D9A8' strokeWidth='1' /&gt;&#10;        &lt;text x='18' y='150' fill='#996F00' fontSize='11.5'&gt;docs/use-cases/*.md&lt;/text&gt;&#10;        &lt;text x='18' y='180' fill='#8B97A8' fontSize='11.5'&gt;This is the artefact the&lt;/text&gt;&#10;        &lt;text x='18' y='197' fill='#8B97A8' fontSize='11.5'&gt;client review actually reads.&lt;/text&gt;&#10;        &lt;text x='18' y='214' fill='#8B97A8' fontSize='11.5'&gt;Budget the time for it.&lt;/text&gt;&#10;      &lt;/g&gt;&#10;&#10;      &lt;g transform='translate(880,32)'&gt;&#10;        &lt;rect x='0' y='0' width='290' height='240' rx='8' fill='#EAF6EC' stroke='#2B7A3D' strokeWidth='2' /&gt;&#10;        &lt;circle cx='30' cy='30' r='14' fill='#2B7A3D' /&gt;&#10;        &lt;text x='30' y='36' textAnchor='middle' fill='#FFFFFF' fontSize='15' fontWeight='bold'&gt;4&lt;/text&gt;&#10;        &lt;text x='54' y='35' fill='#2B7A3D' fontSize='14.5' fontWeight='bold'&gt;The tag&lt;/text&gt;&#10;        &lt;text x='18' y='70' fill='#4A5568' fontSize='12'&gt;Push is not submission.&lt;/text&gt;&#10;        &lt;text x='18' y='89' fill='#4A5568' fontSize='12'&gt;Push plus tag m1 is.&lt;/text&gt;&#10;        &lt;line x1='18' y1='108' x2='272' y2='108' stroke='#C9E0CD' strokeWidth='1' /&gt;&#10;        &lt;text x='18' y='132' fill='#2B7A3D' fontSize='11.5' fontFamily='Menlo, monospace'&gt;git tag -a m1 -m &amp;quot;M1&amp;quot;&lt;/text&gt;&#10;        &lt;text x='18' y='152' fill='#2B7A3D' fontSize='11.5' fontFamily='Menlo, monospace'&gt;git push origin m1&lt;/text&gt;&#10;        &lt;text x='18' y='182' fill='#4A5568' fontSize='11.5' fontFamily='Menlo, monospace'&gt;git ls-remote --tags origin&lt;/text&gt;&#10;        &lt;text x='18' y='204' fill='#8B97A8' fontSize='11'&gt;Run it. Read the output.&lt;/text&gt;&#10;        &lt;text x='18' y='221' fill='#8B97A8' fontSize='11'&gt;That is the verification step.&lt;/text&gt;&#10;      &lt;/g&gt;&#10;&#10;      &lt;g transform='translate(10,296)'&gt;&#10;        &lt;rect x='0' y='0' width='1160' height='76' rx='8' fill='#FDF3F3' stroke='#D9534F' strokeWidth='1.8' /&gt;&#10;        &lt;text x='20' y='28' fill='#D9534F' fontSize='14' fontWeight='bold'&gt;Two things that have cost this milestone its grade before&lt;/text&gt;&#10;        &lt;text x='20' y='52' fill='#4A5568' fontSize='12.5'&gt;1. Tagging on a commit that is not pushed yet, so the tag points at nothing the reviewer can fetch.&lt;/text&gt;&#10;        &lt;text x='20' y='68' fill='#4A5568' fontSize='12.5'&gt;2. Two specifications written by one person. The individual evidence must show four sets of handwriting.&lt;/text&gt;&#10;      &lt;/g&gt;&#10;    &lt;/svg&gt;&#10;  &lt;/Box&gt;&#10;  &lt;Box style={{ height: 34, padding: '0 40px', flexDirection: 'row', alignItems: 'center', justifyContent: 'space-between' }}&gt;&#10;    &lt;Text style={{ fontSize: 13, color: '#8B97A8' }}&gt;ISAD · Fall 2026 · Push, then tag, then verify. In that order, and every single time&lt;/Text&gt;&#10;    &lt;Text style={{ fontSize: 14, color: '#1E4FA8', fontWeight: 'bold' }}&gt;34 / 38&lt;/Text&gt;&#10;  &lt;/Box&gt;&#10;&lt;/Slide&gt;&#10;"/>
        <p:cNvGrpSpPr/>
        <p:nvPr/>
      </p:nvGrpSpPr>
      <p:grpSpPr>
        <a:xfrm>
          <a:off x="0" y="0"/>
          <a:ext cx="0" cy="0"/>
          <a:chOff x="0" y="0"/>
          <a:chExt cx="0" cy="0"/>
        </a:xfrm>
      </p:grpSpPr>
      <p:sp>
        <p:nvSpPr>
          <p:cNvPr id="504" name=""/>
          <p:cNvSpPr/>
          <p:nvPr/>
        </p:nvSpPr>
        <p:spPr>
          <a:xfrm rot="0" flipH="0" flipV="0">
            <a:off x="0" y="0"/>
            <a:ext cx="12192000" cy="6858000"/>
          </a:xfrm>
          <a:prstGeom prst="rect">
            <a:avLst/>
          </a:prstGeom>
          <a:solidFill>
            <a:srgbClr val="FFFFFF"/>
          </a:solidFill>
          <a:ln/>
        </p:spPr>
        <p:txBody>
          <a:bodyPr/>
          <a:p/>
        </p:txBody>
      </p:sp>
      <p:sp>
        <p:nvSpPr>
          <p:cNvPr id="505" name=""/>
          <p:cNvSpPr/>
          <p:nvPr/>
        </p:nvSpPr>
        <p:spPr>
          <a:xfrm rot="0" flipH="0" flipV="0">
            <a:off x="0" y="0"/>
            <a:ext cx="12192000" cy="685800"/>
          </a:xfrm>
          <a:prstGeom prst="rect">
            <a:avLst/>
          </a:prstGeom>
          <a:solidFill>
            <a:srgbClr val="1E4FA8"/>
          </a:solidFill>
          <a:ln/>
        </p:spPr>
        <p:txBody>
          <a:bodyPr/>
          <a:p/>
        </p:txBody>
      </p:sp>
      <p:sp>
        <p:nvSpPr>
          <p:cNvPr id="506"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507" name="" descr="{&quot;isTemplate&quot;:true,&quot;type&quot;:&quot;text&quot;}"/>
          <p:cNvSpPr txBox="1"/>
          <p:nvPr/>
        </p:nvSpPr>
        <p:spPr>
          <a:xfrm rot="0" flipH="0" flipV="0">
            <a:off x="10325100" y="257175"/>
            <a:ext cx="1485900" cy="171450"/>
          </a:xfrm>
          <a:prstGeom prst="rect"/>
        </p:spPr>
        <p:txBody>
          <a:bodyPr wrap="none" lIns="0" tIns="0" rIns="0" bIns="0"/>
          <a:p>
            <a:pPr>
              <a:lnSpc>
                <a:spcPct val="100000"/>
              </a:lnSpc>
            </a:pPr>
            <a:r>
              <a:rPr lang="en-US" sz="1125">
                <a:solidFill>
                  <a:srgbClr val="B9CDF0"/>
                </a:solidFill>
                <a:latin typeface="Microsoft YaHei"/>
                <a:ea typeface="Microsoft YaHei"/>
              </a:rPr>
              <a:t>W05 · MILESTONE M1</a:t>
            </a:r>
            <a:endParaRPr/>
          </a:p>
        </p:txBody>
      </p:sp>
      <p:sp>
        <p:nvSpPr>
          <p:cNvPr id="508" name="" descr="{&quot;isTemplate&quot;:true,&quot;type&quot;:&quot;text&quot;}"/>
          <p:cNvSpPr txBox="1"/>
          <p:nvPr/>
        </p:nvSpPr>
        <p:spPr>
          <a:xfrm rot="0" flipH="0" flipV="0">
            <a:off x="381000" y="809625"/>
            <a:ext cx="2257425" cy="333375"/>
          </a:xfrm>
          <a:prstGeom prst="rect"/>
        </p:spPr>
        <p:txBody>
          <a:bodyPr wrap="none" lIns="0" tIns="0" rIns="0" bIns="0"/>
          <a:p>
            <a:pPr>
              <a:lnSpc>
                <a:spcPct val="100000"/>
              </a:lnSpc>
            </a:pPr>
            <a:r>
              <a:rPr lang="en-US" sz="2175" b="1">
                <a:solidFill>
                  <a:srgbClr val="0E3F8C"/>
                </a:solidFill>
                <a:latin typeface="Microsoft YaHei"/>
                <a:ea typeface="Microsoft YaHei"/>
              </a:rPr>
              <a:t>The M1 Checklist</a:t>
            </a:r>
            <a:endParaRPr/>
          </a:p>
        </p:txBody>
      </p:sp>
      <p:sp>
        <p:nvSpPr>
          <p:cNvPr id="509"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34 / 38</a:t>
            </a:r>
            <a:endParaRPr/>
          </a:p>
        </p:txBody>
      </p:sp>
      <p:pic>
        <p:nvPicPr>
          <p:cNvPr id="510" name=""/>
          <p:cNvPicPr>
            <a:picLocks noChangeAspect="1"/>
          </p:cNvPicPr>
          <p:nvPr/>
        </p:nvPicPr>
        <p:blipFill>
          <a:blip>
            <a:extLst>
              <a:ext uri="{96DAC541-7B7A-43D3-8B79-37D633B846F1}">
                <asvg:svgBlip r:embed="rId1"/>
              </a:ext>
            </a:extLst>
          </a:blip>
          <a:stretch>
            <a:fillRect/>
          </a:stretch>
        </p:blipFill>
        <p:spPr>
          <a:xfrm rot="0" flipH="0" flipV="0">
            <a:off x="476250" y="2000250"/>
            <a:ext cx="11239500" cy="3733800"/>
          </a:xfrm>
          <a:prstGeom prst="rect">
            <a:avLst/>
          </a:prstGeom>
          <a:ln/>
        </p:spPr>
      </p:pic>
      <p:sp>
        <p:nvSpPr>
          <p:cNvPr id="511" name="" descr="{&quot;isTemplate&quot;:true,&quot;type&quot;:&quot;text&quot;}"/>
          <p:cNvSpPr txBox="1"/>
          <p:nvPr/>
        </p:nvSpPr>
        <p:spPr>
          <a:xfrm rot="0" flipH="0" flipV="0">
            <a:off x="381000" y="6619875"/>
            <a:ext cx="4419600"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Push, then tag, then verify. In that order, and every single time</a:t>
            </a:r>
            <a:endParaRPr/>
          </a:p>
        </p:txBody>
      </p:sp>
      <p:sp>
        <p:nvSpPr>
          <p:cNvPr id="512"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34 / 38</a:t>
            </a:r>
            <a:endParaRPr/>
          </a:p>
        </p:txBody>
      </p:sp>
    </p:spTree>
  </p:cSld>
</p:sld>
</file>

<file path=ppt/slides/slide35.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513"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MILESTONE M1&lt;/Text&gt;&#10;  &lt;/Box&gt;&#10;  &lt;Box style={{ padding: '13px 40px 0 40px', flexDirection: 'row', alignItems: 'center', justifyContent: 'space-between' }}&gt;&#10;    &lt;Text style={{ fontSize: 29, fontWeight: 'bold', color: '#0E3F8C' }}&gt;What the Client Will Ask&lt;/Text&gt;&#10;    &lt;Text style={{ fontSize: 14, color: '#1E4FA8', fontWeight: 'bold' }}&gt;35 / 38&lt;/Text&gt;&#10;  &lt;/Box&gt;&#10;  &lt;Box style={{ flex: 1, padding: '10px 40px 0 40px' }}&gt;&#10;    &lt;Table&#10;      style={{ width: '100%', height: '100%' }}&#10;      defaultTextStyle={{ fontSize: 13.5, textAlign: 'left', color: '#1A2230' }}&#10;      defaultCellStyle={{&#10;        border: {&#10;          left: { width: 1, color: '#E5E7EB' },&#10;          right: { width: 1, color: '#E5E7EB' },&#10;          top: { width: 1, color: '#E5E7EB' },&#10;          bottom: { width: 1, color: '#E5E7EB' },&#10;        },&#10;      }}&#10;      cells={[&#10;        [&#10;          { text: 'The client asks', textStyle: { bold: true, color: '#FFFFFF', fontSize: 15 }, cellStyle: { background: { color: '#0E3F8C' } } },&#10;          { text: 'What a weak answer sounds like', textStyle: { bold: true, color: '#FFFFFF', fontSize: 15 }, cellStyle: { background: { color: '#8B3230' } } },&#10;          { text: 'What a strong answer sounds like', textStyle: { bold: true, color: '#FFFFFF', fontSize: 15 }, cellStyle: { background: { color: '#2B5793' } } },&#10;        ],&#10;        [&#10;          { text: '“What happens if payment fails?”', textStyle: { bold: true, color: '#0E3F8C' }, cellStyle: { background: { color: '#F7F9FC' } } },&#10;          { text: '“We would show an error message.”', textStyle: { color: '#4A5568' }, cellStyle: { background: { color: '#F7F9FC' } } },&#10;          { text: '“The order is created in Pending Payment, one retry is queued, no ticket is printed. See 4c.”', textStyle: { color: '#4A5568' }, cellStyle: { background: { color: '#F7F9FC' } } },&#10;        ],&#10;        [&#10;          { text: '“Why is this one use case and not two?”', textStyle: { bold: true, color: '#0E3F8C' } },&#10;          { text: '“Because it felt like one.”', textStyle: { color: '#4A5568' } },&#10;          { text: '“One primary actor, one goal, and the goal is reached at step 5 regardless of the branches.”', textStyle: { color: '#4A5568' } },&#10;        ],&#10;        [&#10;          { text: '“How do I know the order is correct now?”', textStyle: { bold: true, color: '#0E3F8C' }, cellStyle: { background: { color: '#F7F9FC' } } },&#10;          { text: '“It will be in the database.”', textStyle: { color: '#4A5568' }, cellStyle: { background: { color: '#F7F9FC' } } },&#10;          { text: '“The postcondition names the state, and it holds on every exit including the exceptions.”', textStyle: { color: '#4A5568' }, cellStyle: { background: { color: '#F7F9FC' } } },&#10;        ],&#10;        [&#10;          { text: '“Is the payment centre part of your system?”', textStyle: { bold: true, color: '#0E3F8C' } },&#10;          { text: '“No, but it is drawn inside the box.”', textStyle: { color: '#4A5568' } },&#10;          { text: '“It is outside the boundary, so it is an actor. We call it; we do not design it.”', textStyle: { color: '#4A5568' } },&#10;        ],&#10;        [&#10;          { text: '“Which step did you not finish?”', textStyle: { bold: true, color: '#0E3F8C' }, cellStyle: { background: { color: '#F7F9FC' } } },&#10;          { text: '“None, it is complete.”', textStyle: { color: '#4A5568' }, cellStyle: { background: { color: '#F7F9FC' } } },&#10;          { text: '“The retry count for 4c is not decided — it is question 3 on the agenda, and we need your answer.”', textStyle: { color: '#4A5568' }, cellStyle: { background: { color: '#F7F9FC' } } },&#10;        ],&#10;      ]}&#10;    /&gt;&#10;  &lt;/Box&gt;&#10;  &lt;Box style={{ height: 46, background: '#0E3F8C', padding: '0 40px', flexDirection: 'row', alignItems: 'center', justifyContent: 'center' }}&gt;&#10;    &lt;Text style={{ fontSize: 16.5, color: '#FFFFFF', fontWeight: '600' }}&gt;The last row is the one that wins. Naming your open question is what the client is actually paying for.&lt;/Text&gt;&#10;  &lt;/Box&gt;&#10;&lt;/Slide&gt;&#10;"/>
        <p:cNvGrpSpPr/>
        <p:nvPr/>
      </p:nvGrpSpPr>
      <p:grpSpPr>
        <a:xfrm>
          <a:off x="0" y="0"/>
          <a:ext cx="0" cy="0"/>
          <a:chOff x="0" y="0"/>
          <a:chExt cx="0" cy="0"/>
        </a:xfrm>
      </p:grpSpPr>
      <p:sp>
        <p:nvSpPr>
          <p:cNvPr id="514" name=""/>
          <p:cNvSpPr/>
          <p:nvPr/>
        </p:nvSpPr>
        <p:spPr>
          <a:xfrm rot="0" flipH="0" flipV="0">
            <a:off x="0" y="0"/>
            <a:ext cx="12192000" cy="6858000"/>
          </a:xfrm>
          <a:prstGeom prst="rect">
            <a:avLst/>
          </a:prstGeom>
          <a:solidFill>
            <a:srgbClr val="FFFFFF"/>
          </a:solidFill>
          <a:ln/>
        </p:spPr>
        <p:txBody>
          <a:bodyPr/>
          <a:p/>
        </p:txBody>
      </p:sp>
      <p:sp>
        <p:nvSpPr>
          <p:cNvPr id="515" name=""/>
          <p:cNvSpPr/>
          <p:nvPr/>
        </p:nvSpPr>
        <p:spPr>
          <a:xfrm rot="0" flipH="0" flipV="0">
            <a:off x="0" y="0"/>
            <a:ext cx="12192000" cy="685800"/>
          </a:xfrm>
          <a:prstGeom prst="rect">
            <a:avLst/>
          </a:prstGeom>
          <a:solidFill>
            <a:srgbClr val="1E4FA8"/>
          </a:solidFill>
          <a:ln/>
        </p:spPr>
        <p:txBody>
          <a:bodyPr/>
          <a:p/>
        </p:txBody>
      </p:sp>
      <p:sp>
        <p:nvSpPr>
          <p:cNvPr id="516"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517" name="" descr="{&quot;isTemplate&quot;:true,&quot;type&quot;:&quot;text&quot;}"/>
          <p:cNvSpPr txBox="1"/>
          <p:nvPr/>
        </p:nvSpPr>
        <p:spPr>
          <a:xfrm rot="0" flipH="0" flipV="0">
            <a:off x="10325100" y="257175"/>
            <a:ext cx="1485900" cy="171450"/>
          </a:xfrm>
          <a:prstGeom prst="rect"/>
        </p:spPr>
        <p:txBody>
          <a:bodyPr wrap="none" lIns="0" tIns="0" rIns="0" bIns="0"/>
          <a:p>
            <a:pPr>
              <a:lnSpc>
                <a:spcPct val="100000"/>
              </a:lnSpc>
            </a:pPr>
            <a:r>
              <a:rPr lang="en-US" sz="1125">
                <a:solidFill>
                  <a:srgbClr val="B9CDF0"/>
                </a:solidFill>
                <a:latin typeface="Microsoft YaHei"/>
                <a:ea typeface="Microsoft YaHei"/>
              </a:rPr>
              <a:t>W05 · MILESTONE M1</a:t>
            </a:r>
            <a:endParaRPr/>
          </a:p>
        </p:txBody>
      </p:sp>
      <p:sp>
        <p:nvSpPr>
          <p:cNvPr id="518" name="" descr="{&quot;isTemplate&quot;:true,&quot;type&quot;:&quot;text&quot;}"/>
          <p:cNvSpPr txBox="1"/>
          <p:nvPr/>
        </p:nvSpPr>
        <p:spPr>
          <a:xfrm rot="0" flipH="0" flipV="0">
            <a:off x="381000" y="809625"/>
            <a:ext cx="3162300" cy="333375"/>
          </a:xfrm>
          <a:prstGeom prst="rect"/>
        </p:spPr>
        <p:txBody>
          <a:bodyPr wrap="none" lIns="0" tIns="0" rIns="0" bIns="0"/>
          <a:p>
            <a:pPr>
              <a:lnSpc>
                <a:spcPct val="100000"/>
              </a:lnSpc>
            </a:pPr>
            <a:r>
              <a:rPr lang="en-US" sz="2175" b="1">
                <a:solidFill>
                  <a:srgbClr val="0E3F8C"/>
                </a:solidFill>
                <a:latin typeface="Microsoft YaHei"/>
                <a:ea typeface="Microsoft YaHei"/>
              </a:rPr>
              <a:t>What the Client Will Ask</a:t>
            </a:r>
            <a:endParaRPr/>
          </a:p>
        </p:txBody>
      </p:sp>
      <p:sp>
        <p:nvSpPr>
          <p:cNvPr id="519"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35 / 38</a:t>
            </a:r>
            <a:endParaRPr/>
          </a:p>
        </p:txBody>
      </p:sp>
      <p:graphicFrame>
        <p:nvGraphicFramePr>
          <p:cNvPr id="520" name=""/>
          <p:cNvGraphicFramePr/>
          <p:nvPr/>
        </p:nvGraphicFramePr>
        <p:xfrm rot="0" flipH="0" flipV="0">
          <a:off x="381000" y="1238250"/>
          <a:ext cx="11430000" cy="5181600"/>
        </p:xfrm>
        <a:graphic>
          <a:graphicData uri="http://schemas.openxmlformats.org/drawingml/2006/table">
            <a:tbl>
              <a:tblGrid>
                <a:gridCol w="3007050">
                  <a:extLst>
                    <a:ext uri="{9D8B030D-6E8A-4147-A177-3AD203B41FA5}">
                      <a16:colId val="1"/>
                    </a:ext>
                  </a:extLst>
                </a:gridCol>
                <a:gridCol w="2434947">
                  <a:extLst>
                    <a:ext uri="{9D8B030D-6E8A-4147-A177-3AD203B41FA5}">
                      <a16:colId val="2"/>
                    </a:ext>
                  </a:extLst>
                </a:gridCol>
                <a:gridCol w="5988003">
                  <a:extLst>
                    <a:ext uri="{9D8B030D-6E8A-4147-A177-3AD203B41FA5}">
                      <a16:colId val="3"/>
                    </a:ext>
                  </a:extLst>
                </a:gridCol>
              </a:tblGrid>
              <a:tr h="911685">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The client asks</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What a weak answer sounds like</a:t>
                      </a:r>
                      <a:endParaRPr/>
                    </a:p>
                  </a:txBody>
                  <a:tcPr marL="45720" marR="45720" marT="45720" marB="45720" anchor="ctr">
                    <a:lnL>
                      <a:noFill/>
                    </a:lnL>
                    <a:lnR>
                      <a:noFill/>
                    </a:lnR>
                    <a:lnT>
                      <a:noFill/>
                    </a:lnT>
                    <a:lnB>
                      <a:noFill/>
                    </a:lnB>
                    <a:solidFill>
                      <a:srgbClr val="8B3230"/>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What a strong answer sounds like</a:t>
                      </a:r>
                      <a:endParaRPr/>
                    </a:p>
                  </a:txBody>
                  <a:tcPr marL="45720" marR="45720" marT="45720" marB="45720" anchor="ctr">
                    <a:lnL>
                      <a:noFill/>
                    </a:lnL>
                    <a:lnR>
                      <a:noFill/>
                    </a:lnR>
                    <a:lnT>
                      <a:noFill/>
                    </a:lnT>
                    <a:lnB>
                      <a:noFill/>
                    </a:lnB>
                    <a:solidFill>
                      <a:srgbClr val="2B5793"/>
                    </a:solidFill>
                  </a:tcPr>
                </a:tc>
                <a:extLst>
                  <a:ext uri="{0D108BD9-81ED-4DB2-BD59-A6C34878D82A}">
                    <a16:rowId val="1"/>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“What happens if payment fails?”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“We would show an error message.”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order is created in Pending Payment, one retry is queued, no ticket is printed. See 4c.”</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“Why is this one use case and not two?”</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“Because it felt like one.”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“One primary actor, one goal, and the goal is reached at step 5 regardless of the branches.”</a:t>
                      </a:r>
                      <a:endParaRPr/>
                    </a:p>
                  </a:txBody>
                  <a:tcPr marL="45720" marR="45720" marT="45720" marB="45720" anchor="ctr">
                    <a:lnL>
                      <a:noFill/>
                    </a:lnL>
                    <a:lnR>
                      <a:noFill/>
                    </a:lnR>
                    <a:lnT>
                      <a:noFill/>
                    </a:lnT>
                    <a:lnB>
                      <a:noFill/>
                    </a:lnB>
                  </a:tcPr>
                </a:tc>
                <a:extLst>
                  <a:ext uri="{0D108BD9-81ED-4DB2-BD59-A6C34878D82A}">
                    <a16:rowId val="3"/>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“How do I know the order is correct now?”</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“It will be in the database.”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postcondition names the state, and it holds on every exit including the exceptions.”</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“Is the payment centre part of your system?”</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“No, but it is drawn inside the box.”</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“It is outside the boundary, so it is an actor. We call it; we do not design it.”</a:t>
                      </a:r>
                      <a:endParaRPr/>
                    </a:p>
                  </a:txBody>
                  <a:tcPr marL="45720" marR="45720" marT="45720" marB="45720" anchor="ctr">
                    <a:lnL>
                      <a:noFill/>
                    </a:lnL>
                    <a:lnR>
                      <a:noFill/>
                    </a:lnR>
                    <a:lnT>
                      <a:noFill/>
                    </a:lnT>
                    <a:lnB>
                      <a:noFill/>
                    </a:lnB>
                  </a:tcPr>
                </a:tc>
                <a:extLst>
                  <a:ext uri="{0D108BD9-81ED-4DB2-BD59-A6C34878D82A}">
                    <a16:rowId val="5"/>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“Which step did you not finish?”</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“None, it is complete.”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retry count for 4c is not decided — it is question 3 on the agenda, and we need your answer.”</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bl>
          </a:graphicData>
        </a:graphic>
      </p:graphicFrame>
      <p:sp>
        <p:nvSpPr>
          <p:cNvPr id="521" name=""/>
          <p:cNvSpPr/>
          <p:nvPr/>
        </p:nvSpPr>
        <p:spPr>
          <a:xfrm rot="0" flipH="0" flipV="0">
            <a:off x="0" y="6419850"/>
            <a:ext cx="12192000" cy="438150"/>
          </a:xfrm>
          <a:prstGeom prst="rect">
            <a:avLst/>
          </a:prstGeom>
          <a:solidFill>
            <a:srgbClr val="0E3F8C"/>
          </a:solidFill>
          <a:ln/>
        </p:spPr>
        <p:txBody>
          <a:bodyPr/>
          <a:p/>
        </p:txBody>
      </p:sp>
      <p:sp>
        <p:nvSpPr>
          <p:cNvPr id="522" name="" descr="{&quot;isTemplate&quot;:true,&quot;type&quot;:&quot;text&quot;}"/>
          <p:cNvSpPr txBox="1"/>
          <p:nvPr/>
        </p:nvSpPr>
        <p:spPr>
          <a:xfrm rot="0" flipH="0" flipV="0">
            <a:off x="2324100" y="6543675"/>
            <a:ext cx="7543800" cy="190500"/>
          </a:xfrm>
          <a:prstGeom prst="rect"/>
        </p:spPr>
        <p:txBody>
          <a:bodyPr wrap="none" lIns="0" tIns="0" rIns="0" bIns="0"/>
          <a:p>
            <a:pPr>
              <a:lnSpc>
                <a:spcPct val="100000"/>
              </a:lnSpc>
            </a:pPr>
            <a:r>
              <a:rPr lang="en-US" sz="1238" b="1">
                <a:solidFill>
                  <a:srgbClr val="FFFFFF"/>
                </a:solidFill>
                <a:latin typeface="Microsoft YaHei"/>
                <a:ea typeface="Microsoft YaHei"/>
              </a:rPr>
              <a:t>The last row is the one that wins. Naming your open question is what the client is actually paying for.</a:t>
            </a:r>
            <a:endParaRPr/>
          </a:p>
        </p:txBody>
      </p:sp>
    </p:spTree>
  </p:cSld>
</p:sld>
</file>

<file path=ppt/slides/slide36.xml><?xml version="1.0" encoding="utf-8"?>
<p:sld xmlns:p="http://schemas.openxmlformats.org/presentationml/2006/main" xmlns:a="http://schemas.openxmlformats.org/drawingml/2006/main">
  <p:cSld>
    <p:spTree>
      <p:nvGrpSpPr>
        <p:cNvPr id="523"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WRAP-UP&lt;/Text&gt;&#10;  &lt;/Box&gt;&#10;  &lt;Box style={{ padding: '13px 40px 0 40px', flexDirection: 'row', alignItems: 'center', justifyContent: 'space-between' }}&gt;&#10;    &lt;Text style={{ fontSize: 29, fontWeight: 'bold', color: '#0E3F8C' }}&gt;Homework &amp;amp; Next Week&lt;/Text&gt;&#10;    &lt;Text style={{ fontSize: 14, color: '#1E4FA8', fontWeight: 'bold' }}&gt;36 / 38&lt;/Text&gt;&#10;  &lt;/Box&gt;&#10;  &lt;Box style={{ flex: 1, padding: '10px 40px 0 40px', flexDirection: 'row', gap: 26 }}&gt;&#10;    &lt;Box style={{ flex: 1, flexDirection: 'column', justifyContent: 'center', gap: 13 }}&gt;&#10;      &lt;Box style={{ padding: '17px 19px', background: '#F0F5FC', borderRadius: 10, borderLeft: '4px solid #1E4FA8' }}&gt;&#10;        &lt;Text style={{ fontSize: 16, fontWeight: 'bold', color: '#0E3F8C' }}&gt;Homework — one SSD skeleton&lt;/Text&gt;&#10;        &lt;Text style={{ fontSize: 13, color: '#4A5568', lineHeight: 1.6, marginTop: 6 }}&gt;&#10;          Draw the system sequence diagram skeleton for Place Order. Two lifelines, one message per main step, dashed returns.&#10;          No internal objects. Commit the PlantUML source to &lt;Text style={{ fontFamily: 'Menlo, monospace', fontSize: 12.5 }}&gt;docs/diagrams/place-order-ssd.puml&lt;/Text&gt;.&#10;        &lt;/Text&gt;&#10;      &lt;/Box&gt;&#10;      &lt;Box style={{ padding: '17px 19px', background: '#FFFFFF', borderRadius: 10, border: '1px solid #D6DCE5' }}&gt;&#10;        &lt;Text style={{ fontSize: 16, fontWeight: 'bold', color: '#0E3F8C' }}&gt;Read — Larman, on system operations&lt;/Text&gt;&#10;        &lt;Text style={{ fontSize: 13, color: '#4A5568', lineHeight: 1.6, marginTop: 6 }}&gt;&#10;          The chapter on system sequence diagrams and operation contracts. Two pages, skim is fine — you are looking for the&#10;          pre/post-condition template, not the whole argument.&#10;        &lt;/Text&gt;&#10;      &lt;/Box&gt;&#10;      &lt;Box style={{ padding: '17px 19px', background: '#FFF6E0', borderRadius: 10, borderLeft: '4px solid #FFC107' }}&gt;&#10;        &lt;Text style={{ fontSize: 16, fontWeight: 'bold', color: '#996F00' }}&gt;Also — bring your questions&lt;/Text&gt;&#10;        &lt;Text style={{ fontSize: 13, color: '#4A5568', lineHeight: 1.6, marginTop: 6 }}&gt;&#10;          Box 5 of the review form — the questions for the client. Next week the instructor plays the client and works through&#10;          that list first. An empty box means the review was cosmetic.&#10;        &lt;/Text&gt;&#10;      &lt;/Box&gt;&#10;    &lt;/Box&gt;&#10;    &lt;Box style={{ width: 470, justifyContent: 'center' }}&gt;&#10;      &lt;Box style={{ padding: '20px 22px', background: '#0E3F8C', borderRadius: 10 }}&gt;&#10;        &lt;Text style={{ fontSize: 14, color: '#7FA2D6', letterSpacing: 2, marginBottom: 12 }}&gt;NEXT WEEK · W06&lt;/Text&gt;&#10;        &lt;Text style={{ fontSize: 32, fontWeight: 'bold', color: '#FFFFFF', fontFamily: 'Georgia, serif', lineHeight: 1.2 }}&gt;&#10;          Domain Modeling&#10;        &lt;/Text&gt;&#10;        &lt;Box style={{ width: 60, height: 4, background: '#FFC107', marginTop: 16, marginBottom: 18 }} /&gt;&#10;        &lt;Text style={{ fontSize: 15, color: '#C5D4EA', lineHeight: 1.6 }}&gt;&#10;          Your two specifications are about to pay rent. Every noun you wrote — order, cart, coupon, delivery window — becomes a&#10;          candidate class. Today they are sentences. Next week they are boxes with attributes.&#10;        &lt;/Text&gt;&#10;        &lt;Box style={{ marginTop: 18, paddingTop: 16, borderTop: '1px solid #2B5793' }}&gt;&#10;          {[&#10;            'Conceptual classes, not implementation classes',&#10;            'Entity · Boundary · Control, and why the boundary is drawn',&#10;            'The 10+ class target for CampusBites',&#10;          ].map((t) =&gt; (&#10;            &lt;Box key={t} style={{ flexDirection: 'row', alignItems: 'center', gap: 10, marginBottom: 8 }}&gt;&#10;              &lt;Box style={{ width: 6, height: 6, borderRadius: 3, background: '#3D7BD9' }} /&gt;&#10;              &lt;Text style={{ fontSize: 14.5, color: '#C5D4EA' }}&gt;{t}&lt;/Text&gt;&#10;            &lt;/Box&gt;&#10;          ))}&#10;        &lt;/Box&gt;&#10;      &lt;/Box&gt;&#10;    &lt;/Box&gt;&#10;  &lt;/Box&gt;&#10;  &lt;Box style={{ height: 46, background: '#0E3F8C', padding: '0 40px', flexDirection: 'row', alignItems: 'center', justifyContent: 'center' }}&gt;&#10;    &lt;Text style={{ fontSize: 16.5, color: '#FFFFFF', fontWeight: '600' }}&gt;Every noun in your specification is a class waiting to happen. Count them before next week.&lt;/Text&gt;&#10;  &lt;/Box&gt;&#10;&lt;/Slide&gt;&#10;"/>
        <p:cNvGrpSpPr/>
        <p:nvPr/>
      </p:nvGrpSpPr>
      <p:grpSpPr>
        <a:xfrm>
          <a:off x="0" y="0"/>
          <a:ext cx="0" cy="0"/>
          <a:chOff x="0" y="0"/>
          <a:chExt cx="0" cy="0"/>
        </a:xfrm>
      </p:grpSpPr>
      <p:sp>
        <p:nvSpPr>
          <p:cNvPr id="524" name=""/>
          <p:cNvSpPr/>
          <p:nvPr/>
        </p:nvSpPr>
        <p:spPr>
          <a:xfrm rot="0" flipH="0" flipV="0">
            <a:off x="0" y="0"/>
            <a:ext cx="12192000" cy="6858000"/>
          </a:xfrm>
          <a:prstGeom prst="rect">
            <a:avLst/>
          </a:prstGeom>
          <a:solidFill>
            <a:srgbClr val="FFFFFF"/>
          </a:solidFill>
          <a:ln/>
        </p:spPr>
        <p:txBody>
          <a:bodyPr/>
          <a:p/>
        </p:txBody>
      </p:sp>
      <p:sp>
        <p:nvSpPr>
          <p:cNvPr id="525" name=""/>
          <p:cNvSpPr/>
          <p:nvPr/>
        </p:nvSpPr>
        <p:spPr>
          <a:xfrm rot="0" flipH="0" flipV="0">
            <a:off x="0" y="0"/>
            <a:ext cx="12192000" cy="685800"/>
          </a:xfrm>
          <a:prstGeom prst="rect">
            <a:avLst/>
          </a:prstGeom>
          <a:solidFill>
            <a:srgbClr val="1E4FA8"/>
          </a:solidFill>
          <a:ln/>
        </p:spPr>
        <p:txBody>
          <a:bodyPr/>
          <a:p/>
        </p:txBody>
      </p:sp>
      <p:sp>
        <p:nvSpPr>
          <p:cNvPr id="526"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527" name="" descr="{&quot;isTemplate&quot;:true,&quot;type&quot;:&quot;text&quot;}"/>
          <p:cNvSpPr txBox="1"/>
          <p:nvPr/>
        </p:nvSpPr>
        <p:spPr>
          <a:xfrm rot="0" flipH="0" flipV="0">
            <a:off x="10706100" y="257175"/>
            <a:ext cx="1104900" cy="171450"/>
          </a:xfrm>
          <a:prstGeom prst="rect"/>
        </p:spPr>
        <p:txBody>
          <a:bodyPr wrap="none" lIns="0" tIns="0" rIns="0" bIns="0"/>
          <a:p>
            <a:pPr>
              <a:lnSpc>
                <a:spcPct val="100000"/>
              </a:lnSpc>
            </a:pPr>
            <a:r>
              <a:rPr lang="en-US" sz="1125">
                <a:solidFill>
                  <a:srgbClr val="B9CDF0"/>
                </a:solidFill>
                <a:latin typeface="Microsoft YaHei"/>
                <a:ea typeface="Microsoft YaHei"/>
              </a:rPr>
              <a:t>W05 · WRAP-UP</a:t>
            </a:r>
            <a:endParaRPr/>
          </a:p>
        </p:txBody>
      </p:sp>
      <p:sp>
        <p:nvSpPr>
          <p:cNvPr id="528" name="" descr="{&quot;isTemplate&quot;:true,&quot;type&quot;:&quot;text&quot;}"/>
          <p:cNvSpPr txBox="1"/>
          <p:nvPr/>
        </p:nvSpPr>
        <p:spPr>
          <a:xfrm rot="0" flipH="0" flipV="0">
            <a:off x="381000" y="809625"/>
            <a:ext cx="3162300" cy="333375"/>
          </a:xfrm>
          <a:prstGeom prst="rect"/>
        </p:spPr>
        <p:txBody>
          <a:bodyPr wrap="none" lIns="0" tIns="0" rIns="0" bIns="0"/>
          <a:p>
            <a:pPr>
              <a:lnSpc>
                <a:spcPct val="100000"/>
              </a:lnSpc>
            </a:pPr>
            <a:r>
              <a:rPr lang="en-US" sz="2175" b="1">
                <a:solidFill>
                  <a:srgbClr val="0E3F8C"/>
                </a:solidFill>
                <a:latin typeface="Microsoft YaHei"/>
                <a:ea typeface="Microsoft YaHei"/>
              </a:rPr>
              <a:t>Homework &amp; Next Week</a:t>
            </a:r>
            <a:endParaRPr/>
          </a:p>
        </p:txBody>
      </p:sp>
      <p:sp>
        <p:nvSpPr>
          <p:cNvPr id="529"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36 / 38</a:t>
            </a:r>
            <a:endParaRPr/>
          </a:p>
        </p:txBody>
      </p:sp>
      <p:sp>
        <p:nvSpPr>
          <p:cNvPr id="530" name=""/>
          <p:cNvSpPr/>
          <p:nvPr/>
        </p:nvSpPr>
        <p:spPr>
          <a:xfrm rot="0" flipH="0" flipV="0">
            <a:off x="419100" y="2133600"/>
            <a:ext cx="6705600" cy="1047750"/>
          </a:xfrm>
          <a:prstGeom prst="roundRect">
            <a:avLst>
              <a:gd name="adj" fmla="val 9091"/>
            </a:avLst>
          </a:prstGeom>
          <a:solidFill>
            <a:srgbClr val="F0F5FC"/>
          </a:solidFill>
          <a:ln/>
        </p:spPr>
        <p:txBody>
          <a:bodyPr/>
          <a:p/>
        </p:txBody>
      </p:sp>
      <p:sp>
        <p:nvSpPr>
          <p:cNvPr id="531" name=""/>
          <p:cNvSpPr/>
          <p:nvPr/>
        </p:nvSpPr>
        <p:spPr>
          <a:xfrm rot="0" flipH="0" flipV="0">
            <a:off x="419100" y="2133600"/>
            <a:ext cx="6705600" cy="1047750"/>
          </a:xfrm>
          <a:custGeom>
            <a:pathLst>
              <a:path w="704" h="110">
                <a:moveTo>
                  <a:pt x="9" y="0"/>
                </a:moveTo>
                <a:cubicBezTo>
                  <a:pt x="6" y="0"/>
                  <a:pt x="4" y="3"/>
                  <a:pt x="4" y="6"/>
                </a:cubicBezTo>
                <a:lnTo>
                  <a:pt x="4" y="104"/>
                </a:lnTo>
                <a:cubicBezTo>
                  <a:pt x="4" y="107"/>
                  <a:pt x="6" y="109"/>
                  <a:pt x="9" y="110"/>
                </a:cubicBezTo>
                <a:cubicBezTo>
                  <a:pt x="4" y="109"/>
                  <a:pt x="0" y="105"/>
                  <a:pt x="0" y="100"/>
                </a:cubicBezTo>
                <a:lnTo>
                  <a:pt x="0" y="10"/>
                </a:lnTo>
                <a:cubicBezTo>
                  <a:pt x="0" y="5"/>
                  <a:pt x="4" y="0"/>
                  <a:pt x="10" y="0"/>
                </a:cubicBezTo>
                <a:close/>
              </a:path>
            </a:pathLst>
          </a:custGeom>
          <a:solidFill>
            <a:srgbClr val="1E4FA8"/>
          </a:solidFill>
          <a:ln/>
        </p:spPr>
        <p:txBody>
          <a:bodyPr/>
          <a:p/>
        </p:txBody>
      </p:sp>
      <p:sp>
        <p:nvSpPr>
          <p:cNvPr id="532" name="" descr="{&quot;isTemplate&quot;:true,&quot;type&quot;:&quot;text&quot;}"/>
          <p:cNvSpPr txBox="1"/>
          <p:nvPr/>
        </p:nvSpPr>
        <p:spPr>
          <a:xfrm rot="0" flipH="0" flipV="0">
            <a:off x="600075" y="2295525"/>
            <a:ext cx="6305550" cy="190500"/>
          </a:xfrm>
          <a:prstGeom prst="rect"/>
        </p:spPr>
        <p:txBody>
          <a:bodyPr wrap="none" lIns="0" tIns="0" rIns="0" bIns="0"/>
          <a:p>
            <a:pPr>
              <a:lnSpc>
                <a:spcPct val="100000"/>
              </a:lnSpc>
            </a:pPr>
            <a:r>
              <a:rPr lang="en-US" sz="1200" b="1">
                <a:solidFill>
                  <a:srgbClr val="0E3F8C"/>
                </a:solidFill>
                <a:latin typeface="Microsoft YaHei"/>
                <a:ea typeface="Microsoft YaHei"/>
              </a:rPr>
              <a:t>Homework — one SSD skeleton</a:t>
            </a:r>
            <a:endParaRPr/>
          </a:p>
        </p:txBody>
      </p:sp>
      <p:sp>
        <p:nvSpPr>
          <p:cNvPr id="533" name="" descr="{&quot;isTemplate&quot;:true,&quot;type&quot;:&quot;text&quot;}"/>
          <p:cNvSpPr txBox="1"/>
          <p:nvPr/>
        </p:nvSpPr>
        <p:spPr>
          <a:xfrm rot="0" flipH="0" flipV="0">
            <a:off x="600075" y="2543175"/>
            <a:ext cx="630555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 xml:space="preserve">Draw the system sequence diagram skeleton for Place Order. Two lifelines, one message per main step, dashed returns. No internal objects. Commit the PlantUML source to </a:t>
            </a:r>
            <a:r>
              <a:rPr lang="en-US" sz="975">
                <a:solidFill>
                  <a:srgbClr val="4A5568"/>
                </a:solidFill>
                <a:latin typeface="Microsoft YaHei"/>
                <a:ea typeface="Microsoft YaHei"/>
              </a:rPr>
              <a:t>docs/diagrams/place-order-ssd.puml</a:t>
            </a:r>
            <a:r>
              <a:rPr lang="en-US" sz="975">
                <a:solidFill>
                  <a:srgbClr val="4A5568"/>
                </a:solidFill>
                <a:latin typeface="Microsoft YaHei"/>
                <a:ea typeface="Microsoft YaHei"/>
              </a:rPr>
              <a:t>.</a:t>
            </a:r>
            <a:endParaRPr/>
          </a:p>
        </p:txBody>
      </p:sp>
      <p:sp>
        <p:nvSpPr>
          <p:cNvPr id="534" name=""/>
          <p:cNvSpPr/>
          <p:nvPr/>
        </p:nvSpPr>
        <p:spPr>
          <a:xfrm rot="0" flipH="0" flipV="0">
            <a:off x="381000" y="3305175"/>
            <a:ext cx="6705600" cy="1047750"/>
          </a:xfrm>
          <a:prstGeom prst="roundRect">
            <a:avLst>
              <a:gd name="adj" fmla="val 9091"/>
            </a:avLst>
          </a:prstGeom>
          <a:solidFill>
            <a:srgbClr val="FFFFFF"/>
          </a:solidFill>
          <a:ln w="12700">
            <a:solidFill>
              <a:srgbClr val="D6DCE5"/>
            </a:solidFill>
            <a:prstDash val="solid"/>
          </a:ln>
        </p:spPr>
        <p:txBody>
          <a:bodyPr/>
          <a:p/>
        </p:txBody>
      </p:sp>
      <p:sp>
        <p:nvSpPr>
          <p:cNvPr id="535" name="" descr="{&quot;isTemplate&quot;:true,&quot;type&quot;:&quot;text&quot;}"/>
          <p:cNvSpPr txBox="1"/>
          <p:nvPr/>
        </p:nvSpPr>
        <p:spPr>
          <a:xfrm rot="0" flipH="0" flipV="0">
            <a:off x="561975" y="3467100"/>
            <a:ext cx="6343650" cy="190500"/>
          </a:xfrm>
          <a:prstGeom prst="rect"/>
        </p:spPr>
        <p:txBody>
          <a:bodyPr wrap="none" lIns="0" tIns="0" rIns="0" bIns="0"/>
          <a:p>
            <a:pPr>
              <a:lnSpc>
                <a:spcPct val="100000"/>
              </a:lnSpc>
            </a:pPr>
            <a:r>
              <a:rPr lang="en-US" sz="1200" b="1">
                <a:solidFill>
                  <a:srgbClr val="0E3F8C"/>
                </a:solidFill>
                <a:latin typeface="Microsoft YaHei"/>
                <a:ea typeface="Microsoft YaHei"/>
              </a:rPr>
              <a:t>Read — Larman, on system operations</a:t>
            </a:r>
            <a:endParaRPr/>
          </a:p>
        </p:txBody>
      </p:sp>
      <p:sp>
        <p:nvSpPr>
          <p:cNvPr id="536" name="" descr="{&quot;isTemplate&quot;:true,&quot;type&quot;:&quot;text&quot;}"/>
          <p:cNvSpPr txBox="1"/>
          <p:nvPr/>
        </p:nvSpPr>
        <p:spPr>
          <a:xfrm rot="0" flipH="0" flipV="0">
            <a:off x="561975" y="3714750"/>
            <a:ext cx="634365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The chapter on system sequence diagrams and operation contracts. Two pages, skim is fine — you are looking for the pre/post-condition template, not the whole argument.</a:t>
            </a:r>
            <a:endParaRPr/>
          </a:p>
        </p:txBody>
      </p:sp>
      <p:sp>
        <p:nvSpPr>
          <p:cNvPr id="537" name=""/>
          <p:cNvSpPr/>
          <p:nvPr/>
        </p:nvSpPr>
        <p:spPr>
          <a:xfrm rot="0" flipH="0" flipV="0">
            <a:off x="419100" y="4476750"/>
            <a:ext cx="6705600" cy="1047750"/>
          </a:xfrm>
          <a:prstGeom prst="roundRect">
            <a:avLst>
              <a:gd name="adj" fmla="val 9091"/>
            </a:avLst>
          </a:prstGeom>
          <a:solidFill>
            <a:srgbClr val="FFF6E0"/>
          </a:solidFill>
          <a:ln/>
        </p:spPr>
        <p:txBody>
          <a:bodyPr/>
          <a:p/>
        </p:txBody>
      </p:sp>
      <p:sp>
        <p:nvSpPr>
          <p:cNvPr id="538" name=""/>
          <p:cNvSpPr/>
          <p:nvPr/>
        </p:nvSpPr>
        <p:spPr>
          <a:xfrm rot="0" flipH="0" flipV="0">
            <a:off x="419100" y="4476750"/>
            <a:ext cx="6705600" cy="1047750"/>
          </a:xfrm>
          <a:custGeom>
            <a:pathLst>
              <a:path w="704" h="110">
                <a:moveTo>
                  <a:pt x="9" y="0"/>
                </a:moveTo>
                <a:cubicBezTo>
                  <a:pt x="6" y="0"/>
                  <a:pt x="4" y="3"/>
                  <a:pt x="4" y="6"/>
                </a:cubicBezTo>
                <a:lnTo>
                  <a:pt x="4" y="104"/>
                </a:lnTo>
                <a:cubicBezTo>
                  <a:pt x="4" y="107"/>
                  <a:pt x="6" y="109"/>
                  <a:pt x="9" y="110"/>
                </a:cubicBezTo>
                <a:cubicBezTo>
                  <a:pt x="4" y="109"/>
                  <a:pt x="0" y="105"/>
                  <a:pt x="0" y="100"/>
                </a:cubicBezTo>
                <a:lnTo>
                  <a:pt x="0" y="10"/>
                </a:lnTo>
                <a:cubicBezTo>
                  <a:pt x="0" y="5"/>
                  <a:pt x="4" y="0"/>
                  <a:pt x="10" y="0"/>
                </a:cubicBezTo>
                <a:close/>
              </a:path>
            </a:pathLst>
          </a:custGeom>
          <a:solidFill>
            <a:srgbClr val="FFC107"/>
          </a:solidFill>
          <a:ln/>
        </p:spPr>
        <p:txBody>
          <a:bodyPr/>
          <a:p/>
        </p:txBody>
      </p:sp>
      <p:sp>
        <p:nvSpPr>
          <p:cNvPr id="539" name="" descr="{&quot;isTemplate&quot;:true,&quot;type&quot;:&quot;text&quot;}"/>
          <p:cNvSpPr txBox="1"/>
          <p:nvPr/>
        </p:nvSpPr>
        <p:spPr>
          <a:xfrm rot="0" flipH="0" flipV="0">
            <a:off x="600075" y="4638675"/>
            <a:ext cx="6305550" cy="190500"/>
          </a:xfrm>
          <a:prstGeom prst="rect"/>
        </p:spPr>
        <p:txBody>
          <a:bodyPr wrap="none" lIns="0" tIns="0" rIns="0" bIns="0"/>
          <a:p>
            <a:pPr>
              <a:lnSpc>
                <a:spcPct val="100000"/>
              </a:lnSpc>
            </a:pPr>
            <a:r>
              <a:rPr lang="en-US" sz="1200" b="1">
                <a:solidFill>
                  <a:srgbClr val="996F00"/>
                </a:solidFill>
                <a:latin typeface="Microsoft YaHei"/>
                <a:ea typeface="Microsoft YaHei"/>
              </a:rPr>
              <a:t>Also — bring your questions</a:t>
            </a:r>
            <a:endParaRPr/>
          </a:p>
        </p:txBody>
      </p:sp>
      <p:sp>
        <p:nvSpPr>
          <p:cNvPr id="540" name="" descr="{&quot;isTemplate&quot;:true,&quot;type&quot;:&quot;text&quot;}"/>
          <p:cNvSpPr txBox="1"/>
          <p:nvPr/>
        </p:nvSpPr>
        <p:spPr>
          <a:xfrm rot="0" flipH="0" flipV="0">
            <a:off x="600075" y="4886325"/>
            <a:ext cx="630555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Box 5 of the review form — the questions for the client. Next week the instructor plays the client and works through that list first. An empty box means the review was cosmetic.</a:t>
            </a:r>
            <a:endParaRPr/>
          </a:p>
        </p:txBody>
      </p:sp>
      <p:sp>
        <p:nvSpPr>
          <p:cNvPr id="541" name=""/>
          <p:cNvSpPr/>
          <p:nvPr/>
        </p:nvSpPr>
        <p:spPr>
          <a:xfrm rot="0" flipH="0" flipV="0">
            <a:off x="7334250" y="2009775"/>
            <a:ext cx="4476750" cy="3648075"/>
          </a:xfrm>
          <a:prstGeom prst="roundRect">
            <a:avLst>
              <a:gd name="adj" fmla="val 2611"/>
            </a:avLst>
          </a:prstGeom>
          <a:solidFill>
            <a:srgbClr val="0E3F8C"/>
          </a:solidFill>
          <a:ln/>
        </p:spPr>
        <p:txBody>
          <a:bodyPr/>
          <a:p/>
        </p:txBody>
      </p:sp>
      <p:sp>
        <p:nvSpPr>
          <p:cNvPr id="542" name="" descr="{&quot;isTemplate&quot;:true,&quot;type&quot;:&quot;text&quot;}"/>
          <p:cNvSpPr txBox="1"/>
          <p:nvPr/>
        </p:nvSpPr>
        <p:spPr>
          <a:xfrm rot="0" flipH="0" flipV="0">
            <a:off x="7543800" y="2200275"/>
            <a:ext cx="4057650" cy="161925"/>
          </a:xfrm>
          <a:prstGeom prst="rect"/>
        </p:spPr>
        <p:txBody>
          <a:bodyPr wrap="none" lIns="0" tIns="0" rIns="0" bIns="0"/>
          <a:p>
            <a:pPr>
              <a:lnSpc>
                <a:spcPct val="100000"/>
              </a:lnSpc>
            </a:pPr>
            <a:r>
              <a:rPr lang="en-US" sz="1050" spc="150">
                <a:solidFill>
                  <a:srgbClr val="7FA2D6"/>
                </a:solidFill>
                <a:latin typeface="Microsoft YaHei"/>
                <a:ea typeface="Microsoft YaHei"/>
              </a:rPr>
              <a:t>NEXT WEEK · W06</a:t>
            </a:r>
            <a:endParaRPr/>
          </a:p>
        </p:txBody>
      </p:sp>
      <p:sp>
        <p:nvSpPr>
          <p:cNvPr id="543" name="" descr="{&quot;isTemplate&quot;:true,&quot;type&quot;:&quot;text&quot;}"/>
          <p:cNvSpPr txBox="1"/>
          <p:nvPr/>
        </p:nvSpPr>
        <p:spPr>
          <a:xfrm rot="0" flipH="0" flipV="0">
            <a:off x="7543800" y="2476500"/>
            <a:ext cx="4057650" cy="447675"/>
          </a:xfrm>
          <a:prstGeom prst="rect"/>
        </p:spPr>
        <p:txBody>
          <a:bodyPr wrap="none" lIns="0" tIns="0" rIns="0" bIns="0"/>
          <a:p>
            <a:pPr>
              <a:lnSpc>
                <a:spcPct val="120000"/>
              </a:lnSpc>
            </a:pPr>
            <a:r>
              <a:rPr lang="en-US" sz="2400" b="1">
                <a:solidFill>
                  <a:srgbClr val="FFFFFF"/>
                </a:solidFill>
                <a:latin typeface="Georgia"/>
                <a:ea typeface="Georgia"/>
              </a:rPr>
              <a:t>Domain Modeling</a:t>
            </a:r>
            <a:endParaRPr/>
          </a:p>
        </p:txBody>
      </p:sp>
      <p:sp>
        <p:nvSpPr>
          <p:cNvPr id="544" name=""/>
          <p:cNvSpPr/>
          <p:nvPr/>
        </p:nvSpPr>
        <p:spPr>
          <a:xfrm rot="0" flipH="0" flipV="0">
            <a:off x="7543800" y="3076575"/>
            <a:ext cx="571500" cy="38100"/>
          </a:xfrm>
          <a:prstGeom prst="rect">
            <a:avLst/>
          </a:prstGeom>
          <a:solidFill>
            <a:srgbClr val="FFC107"/>
          </a:solidFill>
          <a:ln/>
        </p:spPr>
        <p:txBody>
          <a:bodyPr/>
          <a:p/>
        </p:txBody>
      </p:sp>
      <p:sp>
        <p:nvSpPr>
          <p:cNvPr id="545" name="" descr="{&quot;isTemplate&quot;:true,&quot;type&quot;:&quot;text&quot;}"/>
          <p:cNvSpPr txBox="1"/>
          <p:nvPr/>
        </p:nvSpPr>
        <p:spPr>
          <a:xfrm rot="0" flipH="0" flipV="0">
            <a:off x="7543800" y="3286125"/>
            <a:ext cx="4057650" cy="1104900"/>
          </a:xfrm>
          <a:prstGeom prst="rect"/>
        </p:spPr>
        <p:txBody>
          <a:bodyPr wrap="square" lIns="0" tIns="0" rIns="0" bIns="0">
            <a:normAutofit/>
          </a:bodyPr>
          <a:p>
            <a:pPr>
              <a:lnSpc>
                <a:spcPct val="160000"/>
              </a:lnSpc>
            </a:pPr>
            <a:r>
              <a:rPr lang="en-US" sz="1125">
                <a:solidFill>
                  <a:srgbClr val="C5D4EA"/>
                </a:solidFill>
                <a:latin typeface="Microsoft YaHei"/>
                <a:ea typeface="Microsoft YaHei"/>
              </a:rPr>
              <a:t>Your two specifications are about to pay rent. Every noun you wrote — order, cart, coupon, delivery window — becomes a candidate class. Today they are sentences. Next week they are boxes with attributes.</a:t>
            </a:r>
            <a:endParaRPr/>
          </a:p>
        </p:txBody>
      </p:sp>
      <p:sp>
        <p:nvSpPr>
          <p:cNvPr id="546" name=""/>
          <p:cNvSpPr/>
          <p:nvPr/>
        </p:nvSpPr>
        <p:spPr>
          <a:xfrm rot="0" flipH="0" flipV="0">
            <a:off x="7543800" y="4562475"/>
            <a:ext cx="4057650" cy="914400"/>
          </a:xfrm>
          <a:custGeom>
            <a:pathLst>
              <a:path w="426" h="96">
                <a:moveTo>
                  <a:pt x="0" y="0"/>
                </a:moveTo>
                <a:lnTo>
                  <a:pt x="426" y="0"/>
                </a:lnTo>
                <a:lnTo>
                  <a:pt x="426" y="1"/>
                </a:lnTo>
                <a:lnTo>
                  <a:pt x="0" y="1"/>
                </a:lnTo>
                <a:close/>
              </a:path>
            </a:pathLst>
          </a:custGeom>
          <a:solidFill>
            <a:srgbClr val="2B5793"/>
          </a:solidFill>
          <a:ln/>
        </p:spPr>
        <p:txBody>
          <a:bodyPr/>
          <a:p/>
        </p:txBody>
      </p:sp>
      <p:sp>
        <p:nvSpPr>
          <p:cNvPr id="547" name=""/>
          <p:cNvSpPr/>
          <p:nvPr/>
        </p:nvSpPr>
        <p:spPr>
          <a:xfrm rot="0" flipH="0" flipV="0">
            <a:off x="7543800" y="4781550"/>
            <a:ext cx="57150" cy="57150"/>
          </a:xfrm>
          <a:prstGeom prst="roundRect">
            <a:avLst>
              <a:gd name="adj" fmla="val 50000"/>
            </a:avLst>
          </a:prstGeom>
          <a:solidFill>
            <a:srgbClr val="3D7BD9"/>
          </a:solidFill>
          <a:ln/>
        </p:spPr>
        <p:txBody>
          <a:bodyPr/>
          <a:p/>
        </p:txBody>
      </p:sp>
      <p:sp>
        <p:nvSpPr>
          <p:cNvPr id="548" name="" descr="{&quot;isTemplate&quot;:true,&quot;type&quot;:&quot;text&quot;}"/>
          <p:cNvSpPr txBox="1"/>
          <p:nvPr/>
        </p:nvSpPr>
        <p:spPr>
          <a:xfrm rot="0" flipH="0" flipV="0">
            <a:off x="7696200" y="4724400"/>
            <a:ext cx="2943225" cy="171450"/>
          </a:xfrm>
          <a:prstGeom prst="rect"/>
        </p:spPr>
        <p:txBody>
          <a:bodyPr wrap="none" lIns="0" tIns="0" rIns="0" bIns="0"/>
          <a:p>
            <a:pPr>
              <a:lnSpc>
                <a:spcPct val="100000"/>
              </a:lnSpc>
            </a:pPr>
            <a:r>
              <a:rPr lang="en-US" sz="1088">
                <a:solidFill>
                  <a:srgbClr val="C5D4EA"/>
                </a:solidFill>
                <a:latin typeface="Microsoft YaHei"/>
                <a:ea typeface="Microsoft YaHei"/>
              </a:rPr>
              <a:t>Conceptual classes, not implementation classes</a:t>
            </a:r>
            <a:endParaRPr/>
          </a:p>
        </p:txBody>
      </p:sp>
      <p:sp>
        <p:nvSpPr>
          <p:cNvPr id="549" name=""/>
          <p:cNvSpPr/>
          <p:nvPr/>
        </p:nvSpPr>
        <p:spPr>
          <a:xfrm rot="0" flipH="0" flipV="0">
            <a:off x="7543800" y="5029200"/>
            <a:ext cx="57150" cy="57150"/>
          </a:xfrm>
          <a:prstGeom prst="roundRect">
            <a:avLst>
              <a:gd name="adj" fmla="val 50000"/>
            </a:avLst>
          </a:prstGeom>
          <a:solidFill>
            <a:srgbClr val="3D7BD9"/>
          </a:solidFill>
          <a:ln/>
        </p:spPr>
        <p:txBody>
          <a:bodyPr/>
          <a:p/>
        </p:txBody>
      </p:sp>
      <p:sp>
        <p:nvSpPr>
          <p:cNvPr id="550" name="" descr="{&quot;isTemplate&quot;:true,&quot;type&quot;:&quot;text&quot;}"/>
          <p:cNvSpPr txBox="1"/>
          <p:nvPr/>
        </p:nvSpPr>
        <p:spPr>
          <a:xfrm rot="0" flipH="0" flipV="0">
            <a:off x="7696200" y="4972050"/>
            <a:ext cx="3619500" cy="171450"/>
          </a:xfrm>
          <a:prstGeom prst="rect"/>
        </p:spPr>
        <p:txBody>
          <a:bodyPr wrap="none" lIns="0" tIns="0" rIns="0" bIns="0"/>
          <a:p>
            <a:pPr>
              <a:lnSpc>
                <a:spcPct val="100000"/>
              </a:lnSpc>
            </a:pPr>
            <a:r>
              <a:rPr lang="en-US" sz="1088">
                <a:solidFill>
                  <a:srgbClr val="C5D4EA"/>
                </a:solidFill>
                <a:latin typeface="Microsoft YaHei"/>
                <a:ea typeface="Microsoft YaHei"/>
              </a:rPr>
              <a:t>Entity · Boundary · Control, and why the boundary is drawn</a:t>
            </a:r>
            <a:endParaRPr/>
          </a:p>
        </p:txBody>
      </p:sp>
      <p:sp>
        <p:nvSpPr>
          <p:cNvPr id="551" name=""/>
          <p:cNvSpPr/>
          <p:nvPr/>
        </p:nvSpPr>
        <p:spPr>
          <a:xfrm rot="0" flipH="0" flipV="0">
            <a:off x="7543800" y="5276850"/>
            <a:ext cx="57150" cy="57150"/>
          </a:xfrm>
          <a:prstGeom prst="roundRect">
            <a:avLst>
              <a:gd name="adj" fmla="val 50000"/>
            </a:avLst>
          </a:prstGeom>
          <a:solidFill>
            <a:srgbClr val="3D7BD9"/>
          </a:solidFill>
          <a:ln/>
        </p:spPr>
        <p:txBody>
          <a:bodyPr/>
          <a:p/>
        </p:txBody>
      </p:sp>
      <p:sp>
        <p:nvSpPr>
          <p:cNvPr id="552" name="" descr="{&quot;isTemplate&quot;:true,&quot;type&quot;:&quot;text&quot;}"/>
          <p:cNvSpPr txBox="1"/>
          <p:nvPr/>
        </p:nvSpPr>
        <p:spPr>
          <a:xfrm rot="0" flipH="0" flipV="0">
            <a:off x="7696200" y="5219700"/>
            <a:ext cx="2314575" cy="171450"/>
          </a:xfrm>
          <a:prstGeom prst="rect"/>
        </p:spPr>
        <p:txBody>
          <a:bodyPr wrap="none" lIns="0" tIns="0" rIns="0" bIns="0"/>
          <a:p>
            <a:pPr>
              <a:lnSpc>
                <a:spcPct val="100000"/>
              </a:lnSpc>
            </a:pPr>
            <a:r>
              <a:rPr lang="en-US" sz="1088">
                <a:solidFill>
                  <a:srgbClr val="C5D4EA"/>
                </a:solidFill>
                <a:latin typeface="Microsoft YaHei"/>
                <a:ea typeface="Microsoft YaHei"/>
              </a:rPr>
              <a:t>The 10+ class target for CampusBites</a:t>
            </a:r>
            <a:endParaRPr/>
          </a:p>
        </p:txBody>
      </p:sp>
      <p:sp>
        <p:nvSpPr>
          <p:cNvPr id="553" name=""/>
          <p:cNvSpPr/>
          <p:nvPr/>
        </p:nvSpPr>
        <p:spPr>
          <a:xfrm rot="0" flipH="0" flipV="0">
            <a:off x="0" y="6419850"/>
            <a:ext cx="12192000" cy="438150"/>
          </a:xfrm>
          <a:prstGeom prst="rect">
            <a:avLst/>
          </a:prstGeom>
          <a:solidFill>
            <a:srgbClr val="0E3F8C"/>
          </a:solidFill>
          <a:ln/>
        </p:spPr>
        <p:txBody>
          <a:bodyPr/>
          <a:p/>
        </p:txBody>
      </p:sp>
      <p:sp>
        <p:nvSpPr>
          <p:cNvPr id="554" name="" descr="{&quot;isTemplate&quot;:true,&quot;type&quot;:&quot;text&quot;}"/>
          <p:cNvSpPr txBox="1"/>
          <p:nvPr/>
        </p:nvSpPr>
        <p:spPr>
          <a:xfrm rot="0" flipH="0" flipV="0">
            <a:off x="2657475" y="6543675"/>
            <a:ext cx="6877050" cy="190500"/>
          </a:xfrm>
          <a:prstGeom prst="rect"/>
        </p:spPr>
        <p:txBody>
          <a:bodyPr wrap="none" lIns="0" tIns="0" rIns="0" bIns="0"/>
          <a:p>
            <a:pPr>
              <a:lnSpc>
                <a:spcPct val="100000"/>
              </a:lnSpc>
            </a:pPr>
            <a:r>
              <a:rPr lang="en-US" sz="1238" b="1">
                <a:solidFill>
                  <a:srgbClr val="FFFFFF"/>
                </a:solidFill>
                <a:latin typeface="Microsoft YaHei"/>
                <a:ea typeface="Microsoft YaHei"/>
              </a:rPr>
              <a:t>Every noun in your specification is a class waiting to happen. Count them before next week.</a:t>
            </a:r>
            <a:endParaRPr/>
          </a:p>
        </p:txBody>
      </p:sp>
    </p:spTree>
  </p:cSld>
</p:sld>
</file>

<file path=ppt/slides/slide37.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555"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5 · WRAP-UP&lt;/Text&gt;&#10;  &lt;/Box&gt;&#10;  &lt;Box style={{ padding: '13px 40px 0 40px', flexDirection: 'row', alignItems: 'center', justifyContent: 'space-between' }}&gt;&#10;    &lt;Text style={{ fontSize: 29, fontWeight: 'bold', color: '#0E3F8C' }}&gt;Five Things To Take Home&lt;/Text&gt;&#10;    &lt;Text style={{ fontSize: 14, color: '#1E4FA8', fontWeight: 'bold' }}&gt;37 / 38&lt;/Text&gt;&#10;  &lt;/Box&gt;&#10;  &lt;Box style={{ flex: 1, padding: '10px 40px 0 40px' }}&gt;&#10;    &lt;Table&#10;      style={{ width: '100%', height: '100%' }}&#10;      defaultTextStyle={{ fontSize: 14, textAlign: 'left', color: '#1A2230' }}&#10;      defaultCellStyle={{&#10;        border: {&#10;          left: { width: 1, color: '#E5E7EB' },&#10;          right: { width: 1, color: '#E5E7EB' },&#10;          top: { width: 1, color: '#E5E7EB' },&#10;          bottom: { width: 1, color: '#E5E7EB' },&#10;        },&#10;      }}&#10;      cells={[&#10;        [&#10;          { text: '#', textStyle: { bold: true, color: '#FFFFFF', fontSize: 15 }, cellStyle: { background: { color: '#0E3F8C' } } },&#10;          { text: 'The sentence', textStyle: { bold: true, color: '#FFFFFF', fontSize: 15 }, cellStyle: { background: { color: '#1E4FA8' } } },&#10;          { text: 'Why it is the one to remember', textStyle: { bold: true, color: '#FFFFFF', fontSize: 15 }, cellStyle: { background: { color: '#2B5793' } } },&#10;        ],&#10;        [&#10;          { text: '01', textStyle: { bold: true, color: '#0E3F8C', fontSize: 16 }, cellStyle: { background: { color: '#F7F9FC' } } },&#10;          { text: 'A name is a label. A specification is a contract.', textStyle: { bold: true, color: '#1A2230' }, cellStyle: { background: { color: '#F7F9FC' } } },&#10;          { text: 'M1 is one third diagram, two thirds specification. The diagram is the easy third.', textStyle: { color: '#4A5568' }, cellStyle: { background: { color: '#F7F9FC' } } },&#10;        ],&#10;        [&#10;          { text: '02', textStyle: { bold: true, color: '#0E3F8C', fontSize: 16 } },&#10;          { text: 'Write about the system, not the screen.', textStyle: { bold: true, color: '#1A2230' } },&#10;          { text: 'It is the only rule that keeps the interface free until W10 — and the most commonly broken one.', textStyle: { color: '#4A5568' } },&#10;        ],&#10;        [&#10;          { text: '03', textStyle: { bold: true, color: '#0E3F8C', fontSize: 16 }, cellStyle: { background: { color: '#F7F9FC' } } },&#10;          { text: 'A postcondition that covers only success is not a postcondition.', textStyle: { bold: true, color: '#1A2230' }, cellStyle: { background: { color: '#F7F9FC' } } },&#10;          { text: 'It is the single most common defect in student specifications. Check group C every time.', textStyle: { color: '#4A5568' }, cellStyle: { background: { color: '#F7F9FC' } } },&#10;        ],&#10;        [&#10;          { text: '04', textStyle: { bold: true, color: '#0E3F8C', fontSize: 16 } },&#10;          { text: 'Every branch must say where it goes.', textStyle: { bold: true, color: '#1A2230' } },&#10;          { text: 'Resume at step n, or the use case ends. A branch without a destination is a rumour.', textStyle: { color: '#4A5568' } },&#10;        ],&#10;        [&#10;          { text: '05', textStyle: { bold: true, color: '#0E3F8C', fontSize: 16 }, cellStyle: { background: { color: '#F7F9FC' } } },&#10;          { text: 'Push, then tag, then verify the tag.', textStyle: { bold: true, color: '#1A2230' }, cellStyle: { background: { color: '#F7F9FC' } } },&#10;          { text: 'A push without a tag is not a submission. Run git ls-remote --tags and read the output.', textStyle: { color: '#4A5568' }, cellStyle: { background: { color: '#F7F9FC' } } },&#10;        ],&#10;      ]}&#10;    /&gt;&#10;  &lt;/Box&gt;&#10;  &lt;Box style={{ height: 46, background: '#0E3F8C', padding: '0 40px', flexDirection: 'row', alignItems: 'center', justifyContent: 'center' }}&gt;&#10;    &lt;Text style={{ fontSize: 16.5, color: '#FFFFFF', fontWeight: '600' }}&gt;If you remember only one of these, make it 03. It is where the marks are.&lt;/Text&gt;&#10;  &lt;/Box&gt;&#10;&lt;/Slide&gt;&#10;"/>
        <p:cNvGrpSpPr/>
        <p:nvPr/>
      </p:nvGrpSpPr>
      <p:grpSpPr>
        <a:xfrm>
          <a:off x="0" y="0"/>
          <a:ext cx="0" cy="0"/>
          <a:chOff x="0" y="0"/>
          <a:chExt cx="0" cy="0"/>
        </a:xfrm>
      </p:grpSpPr>
      <p:sp>
        <p:nvSpPr>
          <p:cNvPr id="556" name=""/>
          <p:cNvSpPr/>
          <p:nvPr/>
        </p:nvSpPr>
        <p:spPr>
          <a:xfrm rot="0" flipH="0" flipV="0">
            <a:off x="0" y="0"/>
            <a:ext cx="12192000" cy="6858000"/>
          </a:xfrm>
          <a:prstGeom prst="rect">
            <a:avLst/>
          </a:prstGeom>
          <a:solidFill>
            <a:srgbClr val="FFFFFF"/>
          </a:solidFill>
          <a:ln/>
        </p:spPr>
        <p:txBody>
          <a:bodyPr/>
          <a:p/>
        </p:txBody>
      </p:sp>
      <p:sp>
        <p:nvSpPr>
          <p:cNvPr id="557" name=""/>
          <p:cNvSpPr/>
          <p:nvPr/>
        </p:nvSpPr>
        <p:spPr>
          <a:xfrm rot="0" flipH="0" flipV="0">
            <a:off x="0" y="0"/>
            <a:ext cx="12192000" cy="685800"/>
          </a:xfrm>
          <a:prstGeom prst="rect">
            <a:avLst/>
          </a:prstGeom>
          <a:solidFill>
            <a:srgbClr val="1E4FA8"/>
          </a:solidFill>
          <a:ln/>
        </p:spPr>
        <p:txBody>
          <a:bodyPr/>
          <a:p/>
        </p:txBody>
      </p:sp>
      <p:sp>
        <p:nvSpPr>
          <p:cNvPr id="558"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559" name="" descr="{&quot;isTemplate&quot;:true,&quot;type&quot;:&quot;text&quot;}"/>
          <p:cNvSpPr txBox="1"/>
          <p:nvPr/>
        </p:nvSpPr>
        <p:spPr>
          <a:xfrm rot="0" flipH="0" flipV="0">
            <a:off x="10706100" y="257175"/>
            <a:ext cx="1104900" cy="171450"/>
          </a:xfrm>
          <a:prstGeom prst="rect"/>
        </p:spPr>
        <p:txBody>
          <a:bodyPr wrap="none" lIns="0" tIns="0" rIns="0" bIns="0"/>
          <a:p>
            <a:pPr>
              <a:lnSpc>
                <a:spcPct val="100000"/>
              </a:lnSpc>
            </a:pPr>
            <a:r>
              <a:rPr lang="en-US" sz="1125">
                <a:solidFill>
                  <a:srgbClr val="B9CDF0"/>
                </a:solidFill>
                <a:latin typeface="Microsoft YaHei"/>
                <a:ea typeface="Microsoft YaHei"/>
              </a:rPr>
              <a:t>W05 · WRAP-UP</a:t>
            </a:r>
            <a:endParaRPr/>
          </a:p>
        </p:txBody>
      </p:sp>
      <p:sp>
        <p:nvSpPr>
          <p:cNvPr id="560" name="" descr="{&quot;isTemplate&quot;:true,&quot;type&quot;:&quot;text&quot;}"/>
          <p:cNvSpPr txBox="1"/>
          <p:nvPr/>
        </p:nvSpPr>
        <p:spPr>
          <a:xfrm rot="0" flipH="0" flipV="0">
            <a:off x="381000" y="809625"/>
            <a:ext cx="3467100" cy="333375"/>
          </a:xfrm>
          <a:prstGeom prst="rect"/>
        </p:spPr>
        <p:txBody>
          <a:bodyPr wrap="none" lIns="0" tIns="0" rIns="0" bIns="0"/>
          <a:p>
            <a:pPr>
              <a:lnSpc>
                <a:spcPct val="100000"/>
              </a:lnSpc>
            </a:pPr>
            <a:r>
              <a:rPr lang="en-US" sz="2175" b="1">
                <a:solidFill>
                  <a:srgbClr val="0E3F8C"/>
                </a:solidFill>
                <a:latin typeface="Microsoft YaHei"/>
                <a:ea typeface="Microsoft YaHei"/>
              </a:rPr>
              <a:t>Five Things To Take Home</a:t>
            </a:r>
            <a:endParaRPr/>
          </a:p>
        </p:txBody>
      </p:sp>
      <p:sp>
        <p:nvSpPr>
          <p:cNvPr id="561"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37 / 38</a:t>
            </a:r>
            <a:endParaRPr/>
          </a:p>
        </p:txBody>
      </p:sp>
      <p:graphicFrame>
        <p:nvGraphicFramePr>
          <p:cNvPr id="562" name=""/>
          <p:cNvGraphicFramePr/>
          <p:nvPr/>
        </p:nvGraphicFramePr>
        <p:xfrm rot="0" flipH="0" flipV="0">
          <a:off x="381000" y="1238250"/>
          <a:ext cx="11430000" cy="5181600"/>
        </p:xfrm>
        <a:graphic>
          <a:graphicData uri="http://schemas.openxmlformats.org/drawingml/2006/table">
            <a:tbl>
              <a:tblGrid>
                <a:gridCol w="295437">
                  <a:extLst>
                    <a:ext uri="{9D8B030D-6E8A-4147-A177-3AD203B41FA5}">
                      <a16:colId val="1"/>
                    </a:ext>
                  </a:extLst>
                </a:gridCol>
                <a:gridCol w="4716293">
                  <a:extLst>
                    <a:ext uri="{9D8B030D-6E8A-4147-A177-3AD203B41FA5}">
                      <a16:colId val="2"/>
                    </a:ext>
                  </a:extLst>
                </a:gridCol>
                <a:gridCol w="6418269">
                  <a:extLst>
                    <a:ext uri="{9D8B030D-6E8A-4147-A177-3AD203B41FA5}">
                      <a16:colId val="3"/>
                    </a:ext>
                  </a:extLst>
                </a:gridCol>
              </a:tblGrid>
              <a:tr h="820333">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The sentence</a:t>
                      </a:r>
                      <a:endParaRPr/>
                    </a:p>
                  </a:txBody>
                  <a:tcPr marL="45720" marR="45720" marT="45720" marB="45720" anchor="ctr">
                    <a:lnL>
                      <a:noFill/>
                    </a:lnL>
                    <a:lnR>
                      <a:noFill/>
                    </a:lnR>
                    <a:lnT>
                      <a:noFill/>
                    </a:lnT>
                    <a:lnB>
                      <a:noFill/>
                    </a:lnB>
                    <a:solidFill>
                      <a:srgbClr val="1E4FA8"/>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Why it is the one to remember</a:t>
                      </a:r>
                      <a:endParaRPr/>
                    </a:p>
                  </a:txBody>
                  <a:tcPr marL="45720" marR="45720" marT="45720" marB="45720" anchor="ctr">
                    <a:lnL>
                      <a:noFill/>
                    </a:lnL>
                    <a:lnR>
                      <a:noFill/>
                    </a:lnR>
                    <a:lnT>
                      <a:noFill/>
                    </a:lnT>
                    <a:lnB>
                      <a:noFill/>
                    </a:lnB>
                    <a:solidFill>
                      <a:srgbClr val="2B5793"/>
                    </a:solidFill>
                  </a:tcPr>
                </a:tc>
                <a:extLst>
                  <a:ext uri="{0D108BD9-81ED-4DB2-BD59-A6C34878D82A}">
                    <a16:rowId val="1"/>
                  </a:ext>
                </a:extLst>
              </a:tr>
              <a:tr h="872253">
                <a:tc>
                  <a:txBody>
                    <a:bodyPr wrap="square" lIns="0" tIns="0" rIns="0" bIns="0" anchor="ctr">
                      <a:normAutofit/>
                    </a:bodyPr>
                    <a:p>
                      <a:pPr marL="114300" marR="114300" algn="l">
                        <a:lnSpc>
                          <a:spcPct val="120000"/>
                        </a:lnSpc>
                      </a:pPr>
                      <a:r>
                        <a:rPr sz="1200" b="1">
                          <a:solidFill>
                            <a:srgbClr val="0E3F8C"/>
                          </a:solidFill>
                          <a:latin typeface="Microsoft YaHei"/>
                          <a:ea typeface="Microsoft YaHei"/>
                        </a:rPr>
                        <a:t>01</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50" b="1">
                          <a:solidFill>
                            <a:srgbClr val="1A2230"/>
                          </a:solidFill>
                          <a:latin typeface="Microsoft YaHei"/>
                          <a:ea typeface="Microsoft YaHei"/>
                        </a:rPr>
                        <a:t>A name is a label. A specification is a contract.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M1 is one third diagram, two thirds specification. The diagram is the easy third.</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872253">
                <a:tc>
                  <a:txBody>
                    <a:bodyPr wrap="square" lIns="0" tIns="0" rIns="0" bIns="0" anchor="ctr">
                      <a:normAutofit/>
                    </a:bodyPr>
                    <a:p>
                      <a:pPr marL="114300" marR="114300" algn="l">
                        <a:lnSpc>
                          <a:spcPct val="120000"/>
                        </a:lnSpc>
                      </a:pPr>
                      <a:r>
                        <a:rPr sz="1200" b="1">
                          <a:solidFill>
                            <a:srgbClr val="0E3F8C"/>
                          </a:solidFill>
                          <a:latin typeface="Microsoft YaHei"/>
                          <a:ea typeface="Microsoft YaHei"/>
                        </a:rPr>
                        <a:t>02</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50" b="1">
                          <a:solidFill>
                            <a:srgbClr val="1A2230"/>
                          </a:solidFill>
                          <a:latin typeface="Microsoft YaHei"/>
                          <a:ea typeface="Microsoft YaHei"/>
                        </a:rPr>
                        <a:t>Write about the system, not the screen.</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It is the only rule that keeps the interface free until W10 — and the most commonly broken one.</a:t>
                      </a:r>
                      <a:endParaRPr/>
                    </a:p>
                  </a:txBody>
                  <a:tcPr marL="45720" marR="45720" marT="45720" marB="45720" anchor="ctr">
                    <a:lnL>
                      <a:noFill/>
                    </a:lnL>
                    <a:lnR>
                      <a:noFill/>
                    </a:lnR>
                    <a:lnT>
                      <a:noFill/>
                    </a:lnT>
                    <a:lnB>
                      <a:noFill/>
                    </a:lnB>
                  </a:tcPr>
                </a:tc>
                <a:extLst>
                  <a:ext uri="{0D108BD9-81ED-4DB2-BD59-A6C34878D82A}">
                    <a16:rowId val="3"/>
                  </a:ext>
                </a:extLst>
              </a:tr>
              <a:tr h="872253">
                <a:tc>
                  <a:txBody>
                    <a:bodyPr wrap="square" lIns="0" tIns="0" rIns="0" bIns="0" anchor="ctr">
                      <a:normAutofit/>
                    </a:bodyPr>
                    <a:p>
                      <a:pPr marL="114300" marR="114300" algn="l">
                        <a:lnSpc>
                          <a:spcPct val="120000"/>
                        </a:lnSpc>
                      </a:pPr>
                      <a:r>
                        <a:rPr sz="1200" b="1">
                          <a:solidFill>
                            <a:srgbClr val="0E3F8C"/>
                          </a:solidFill>
                          <a:latin typeface="Microsoft YaHei"/>
                          <a:ea typeface="Microsoft YaHei"/>
                        </a:rPr>
                        <a:t>03</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50" b="1">
                          <a:solidFill>
                            <a:srgbClr val="1A2230"/>
                          </a:solidFill>
                          <a:latin typeface="Microsoft YaHei"/>
                          <a:ea typeface="Microsoft YaHei"/>
                        </a:rPr>
                        <a:t>A postcondition that covers only success is not a postcondition.</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It is the single most common defect in student specifications. Check group C every time.</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872253">
                <a:tc>
                  <a:txBody>
                    <a:bodyPr wrap="square" lIns="0" tIns="0" rIns="0" bIns="0" anchor="ctr">
                      <a:normAutofit/>
                    </a:bodyPr>
                    <a:p>
                      <a:pPr marL="114300" marR="114300" algn="l">
                        <a:lnSpc>
                          <a:spcPct val="120000"/>
                        </a:lnSpc>
                      </a:pPr>
                      <a:r>
                        <a:rPr sz="1200" b="1">
                          <a:solidFill>
                            <a:srgbClr val="0E3F8C"/>
                          </a:solidFill>
                          <a:latin typeface="Microsoft YaHei"/>
                          <a:ea typeface="Microsoft YaHei"/>
                        </a:rPr>
                        <a:t>04</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50" b="1">
                          <a:solidFill>
                            <a:srgbClr val="1A2230"/>
                          </a:solidFill>
                          <a:latin typeface="Microsoft YaHei"/>
                          <a:ea typeface="Microsoft YaHei"/>
                        </a:rPr>
                        <a:t>Every branch must say where it goes.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Resume at step n, or the use case ends. A branch without a destination is a rumour.</a:t>
                      </a:r>
                      <a:endParaRPr/>
                    </a:p>
                  </a:txBody>
                  <a:tcPr marL="45720" marR="45720" marT="45720" marB="45720" anchor="ctr">
                    <a:lnL>
                      <a:noFill/>
                    </a:lnL>
                    <a:lnR>
                      <a:noFill/>
                    </a:lnR>
                    <a:lnT>
                      <a:noFill/>
                    </a:lnT>
                    <a:lnB>
                      <a:noFill/>
                    </a:lnB>
                  </a:tcPr>
                </a:tc>
                <a:extLst>
                  <a:ext uri="{0D108BD9-81ED-4DB2-BD59-A6C34878D82A}">
                    <a16:rowId val="5"/>
                  </a:ext>
                </a:extLst>
              </a:tr>
              <a:tr h="872253">
                <a:tc>
                  <a:txBody>
                    <a:bodyPr wrap="square" lIns="0" tIns="0" rIns="0" bIns="0" anchor="ctr">
                      <a:normAutofit/>
                    </a:bodyPr>
                    <a:p>
                      <a:pPr marL="114300" marR="114300" algn="l">
                        <a:lnSpc>
                          <a:spcPct val="120000"/>
                        </a:lnSpc>
                      </a:pPr>
                      <a:r>
                        <a:rPr sz="1200" b="1">
                          <a:solidFill>
                            <a:srgbClr val="0E3F8C"/>
                          </a:solidFill>
                          <a:latin typeface="Microsoft YaHei"/>
                          <a:ea typeface="Microsoft YaHei"/>
                        </a:rPr>
                        <a:t>05</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50" b="1">
                          <a:solidFill>
                            <a:srgbClr val="1A2230"/>
                          </a:solidFill>
                          <a:latin typeface="Microsoft YaHei"/>
                          <a:ea typeface="Microsoft YaHei"/>
                        </a:rPr>
                        <a:t>Push, then tag, then verify the tag.</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A push without a tag is not a submission. Run git ls-remote --tags and read the output.</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bl>
          </a:graphicData>
        </a:graphic>
      </p:graphicFrame>
      <p:sp>
        <p:nvSpPr>
          <p:cNvPr id="563" name=""/>
          <p:cNvSpPr/>
          <p:nvPr/>
        </p:nvSpPr>
        <p:spPr>
          <a:xfrm rot="0" flipH="0" flipV="0">
            <a:off x="0" y="6419850"/>
            <a:ext cx="12192000" cy="438150"/>
          </a:xfrm>
          <a:prstGeom prst="rect">
            <a:avLst/>
          </a:prstGeom>
          <a:solidFill>
            <a:srgbClr val="0E3F8C"/>
          </a:solidFill>
          <a:ln/>
        </p:spPr>
        <p:txBody>
          <a:bodyPr/>
          <a:p/>
        </p:txBody>
      </p:sp>
      <p:sp>
        <p:nvSpPr>
          <p:cNvPr id="564" name="" descr="{&quot;isTemplate&quot;:true,&quot;type&quot;:&quot;text&quot;}"/>
          <p:cNvSpPr txBox="1"/>
          <p:nvPr/>
        </p:nvSpPr>
        <p:spPr>
          <a:xfrm rot="0" flipH="0" flipV="0">
            <a:off x="3409950" y="6543675"/>
            <a:ext cx="5372100" cy="190500"/>
          </a:xfrm>
          <a:prstGeom prst="rect"/>
        </p:spPr>
        <p:txBody>
          <a:bodyPr wrap="none" lIns="0" tIns="0" rIns="0" bIns="0"/>
          <a:p>
            <a:pPr>
              <a:lnSpc>
                <a:spcPct val="100000"/>
              </a:lnSpc>
            </a:pPr>
            <a:r>
              <a:rPr lang="en-US" sz="1238" b="1">
                <a:solidFill>
                  <a:srgbClr val="FFFFFF"/>
                </a:solidFill>
                <a:latin typeface="Microsoft YaHei"/>
                <a:ea typeface="Microsoft YaHei"/>
              </a:rPr>
              <a:t>If you remember only one of these, make it 03. It is where the marks are.</a:t>
            </a:r>
            <a:endParaRPr/>
          </a:p>
        </p:txBody>
      </p:sp>
    </p:spTree>
  </p:cSld>
</p:sld>
</file>

<file path=ppt/slides/slide38.xml><?xml version="1.0" encoding="utf-8"?>
<p:sld xmlns:p="http://schemas.openxmlformats.org/presentationml/2006/main" xmlns:a="http://schemas.openxmlformats.org/drawingml/2006/main">
  <p:cSld>
    <p:spTree>
      <p:nvGrpSpPr>
        <p:cNvPr id="565" name="" descr="&lt;Slide style={{ background: '#0E3F8C', padding: 0 }}&gt;&#10;  &lt;Box style={{ flexDirection: 'column', height: '100%', position: 'relative', padding: '0 80px', justifyContent: 'center' }}&gt;&#10;    &lt;Box style={{ position: 'absolute', top: 0, left: 0, right: 0, height: 8, background: '#1E4FA8' }} /&gt;&#10;    &lt;Text style={{ fontSize: 15, color: '#7FA2D6', letterSpacing: 2, marginBottom: 16 }}&gt;WEEK 05 · WHAT YOU TAKE AWAY&lt;/Text&gt;&#10;    &lt;Text style={{ fontSize: 44, fontWeight: 'bold', color: '#FFFFFF', fontFamily: 'Georgia, serif', lineHeight: 1.15 }}&gt;&#10;      Names are cheap.&#10;      &lt;br /&gt;&#10;      States are the work.&#10;    &lt;/Text&gt;&#10;    &lt;Box style={{ width: 88, height: 5, background: '#FFC107', marginTop: 24, marginBottom: 26 }} /&gt;&#10;    &lt;Box style={{ flexDirection: 'row', flexWrap: 'wrap', gap: '12px 28px', marginBottom: 30 }}&gt;&#10;      {[&#10;        '01 · Nine fields, three compulsory',&#10;        '02 · One step is one observable response',&#10;        '03 · No buttons, no pages, no dialogs',&#10;        '04 · 3a, 3b, 3c — and where each one goes',&#10;        '05 · An exception is a failure, not a variation',&#10;        '06 · M1 tagged m1 — push, tag, verify',&#10;      ].map((t) =&gt; (&#10;        &lt;Box key={t} style={{ flexDirection: 'row', alignItems: 'center', gap: 10, width: '48%' }}&gt;&#10;          &lt;Box style={{ width: 7, height: 7, borderRadius: 4, background: '#3D7BD9' }} /&gt;&#10;          &lt;Text style={{ fontSize: 15.5, color: '#C5D4EA' }}&gt;{t}&lt;/Text&gt;&#10;        &lt;/Box&gt;&#10;      ))}&#10;    &lt;/Box&gt;&#10;    &lt;Box style={{ borderTop: '1px solid #2B5793', paddingTop: 20, flexDirection: 'row', justifyContent: 'space-between', alignItems: 'center' }}&gt;&#10;      &lt;Box style={{ flex: 1 }}&gt;&#10;        &lt;Text style={{ fontSize: 14, color: '#7FA2D6', letterSpacing: 1, marginBottom: 6 }}&gt;NEXT WEEK — W06&lt;/Text&gt;&#10;        &lt;Text style={{ fontSize: 19, color: '#FFFFFF', fontWeight: '600' }}&gt;&#10;          Domain Modeling — your nouns become classes&#10;        &lt;/Text&gt;&#10;      &lt;/Box&gt;&#10;      &lt;Box style={{ padding: '10px 22px', background: '#1E4FA8', borderRadius: 22 }}&gt;&#10;        &lt;Text style={{ fontSize: 15, color: '#FFFFFF', fontWeight: 'bold' }}&gt;Questions?&lt;/Text&gt;&#10;      &lt;/Box&gt;&#10;    &lt;/Box&gt;&#10;  &lt;/Box&gt;&#10;&lt;/Slide&gt;&#10;"/>
        <p:cNvGrpSpPr/>
        <p:nvPr/>
      </p:nvGrpSpPr>
      <p:grpSpPr>
        <a:xfrm>
          <a:off x="0" y="0"/>
          <a:ext cx="0" cy="0"/>
          <a:chOff x="0" y="0"/>
          <a:chExt cx="0" cy="0"/>
        </a:xfrm>
      </p:grpSpPr>
      <p:sp>
        <p:nvSpPr>
          <p:cNvPr id="566" name=""/>
          <p:cNvSpPr/>
          <p:nvPr/>
        </p:nvSpPr>
        <p:spPr>
          <a:xfrm rot="0" flipH="0" flipV="0">
            <a:off x="0" y="0"/>
            <a:ext cx="12192000" cy="6858000"/>
          </a:xfrm>
          <a:prstGeom prst="rect">
            <a:avLst/>
          </a:prstGeom>
          <a:solidFill>
            <a:srgbClr val="0E3F8C"/>
          </a:solidFill>
          <a:ln/>
        </p:spPr>
        <p:txBody>
          <a:bodyPr/>
          <a:p/>
        </p:txBody>
      </p:sp>
      <p:sp>
        <p:nvSpPr>
          <p:cNvPr id="567" name="" descr="{&quot;isTemplate&quot;:true,&quot;type&quot;:&quot;text&quot;}"/>
          <p:cNvSpPr txBox="1"/>
          <p:nvPr/>
        </p:nvSpPr>
        <p:spPr>
          <a:xfrm rot="0" flipH="0" flipV="0">
            <a:off x="762000" y="1581150"/>
            <a:ext cx="10668000" cy="171450"/>
          </a:xfrm>
          <a:prstGeom prst="rect"/>
        </p:spPr>
        <p:txBody>
          <a:bodyPr wrap="none" lIns="0" tIns="0" rIns="0" bIns="0"/>
          <a:p>
            <a:pPr>
              <a:lnSpc>
                <a:spcPct val="100000"/>
              </a:lnSpc>
            </a:pPr>
            <a:r>
              <a:rPr lang="en-US" sz="1125" spc="150">
                <a:solidFill>
                  <a:srgbClr val="7FA2D6"/>
                </a:solidFill>
                <a:latin typeface="Microsoft YaHei"/>
                <a:ea typeface="Microsoft YaHei"/>
              </a:rPr>
              <a:t>WEEK 05 · WHAT YOU TAKE AWAY</a:t>
            </a:r>
            <a:endParaRPr/>
          </a:p>
        </p:txBody>
      </p:sp>
      <p:sp>
        <p:nvSpPr>
          <p:cNvPr id="568" name="" descr="{&quot;isTemplate&quot;:true,&quot;type&quot;:&quot;text&quot;}"/>
          <p:cNvSpPr txBox="1"/>
          <p:nvPr/>
        </p:nvSpPr>
        <p:spPr>
          <a:xfrm rot="0" flipH="0" flipV="0">
            <a:off x="762000" y="1905000"/>
            <a:ext cx="10668000" cy="1162050"/>
          </a:xfrm>
          <a:prstGeom prst="rect"/>
        </p:spPr>
        <p:txBody>
          <a:bodyPr wrap="none" lIns="0" tIns="0" rIns="0" bIns="0"/>
          <a:p>
            <a:pPr>
              <a:lnSpc>
                <a:spcPct val="114999"/>
              </a:lnSpc>
            </a:pPr>
            <a:r>
              <a:rPr lang="en-US" sz="3300" b="1">
                <a:solidFill>
                  <a:srgbClr val="FFFFFF"/>
                </a:solidFill>
                <a:latin typeface="Georgia"/>
                <a:ea typeface="Georgia"/>
              </a:rPr>
              <a:t>Names are cheap.</a:t>
            </a:r>
            <a:endParaRPr/>
          </a:p>
          <a:p>
            <a:pPr>
              <a:lnSpc>
                <a:spcPct val="114999"/>
              </a:lnSpc>
            </a:pPr>
            <a:r>
              <a:rPr lang="en-US" sz="3300" b="1">
                <a:solidFill>
                  <a:srgbClr val="FFFFFF"/>
                </a:solidFill>
                <a:latin typeface="Georgia"/>
                <a:ea typeface="Georgia"/>
              </a:rPr>
              <a:t>States are the work.</a:t>
            </a:r>
            <a:endParaRPr/>
          </a:p>
        </p:txBody>
      </p:sp>
      <p:sp>
        <p:nvSpPr>
          <p:cNvPr id="569" name=""/>
          <p:cNvSpPr/>
          <p:nvPr/>
        </p:nvSpPr>
        <p:spPr>
          <a:xfrm rot="0" flipH="0" flipV="0">
            <a:off x="762000" y="3295650"/>
            <a:ext cx="838200" cy="47625"/>
          </a:xfrm>
          <a:prstGeom prst="rect">
            <a:avLst/>
          </a:prstGeom>
          <a:solidFill>
            <a:srgbClr val="FFC107"/>
          </a:solidFill>
          <a:ln/>
        </p:spPr>
        <p:txBody>
          <a:bodyPr/>
          <a:p/>
        </p:txBody>
      </p:sp>
      <p:sp>
        <p:nvSpPr>
          <p:cNvPr id="570" name=""/>
          <p:cNvSpPr/>
          <p:nvPr/>
        </p:nvSpPr>
        <p:spPr>
          <a:xfrm rot="0" flipH="0" flipV="0">
            <a:off x="762000" y="3648075"/>
            <a:ext cx="66675" cy="66675"/>
          </a:xfrm>
          <a:prstGeom prst="roundRect">
            <a:avLst>
              <a:gd name="adj" fmla="val 57143"/>
            </a:avLst>
          </a:prstGeom>
          <a:solidFill>
            <a:srgbClr val="3D7BD9"/>
          </a:solidFill>
          <a:ln/>
        </p:spPr>
        <p:txBody>
          <a:bodyPr/>
          <a:p/>
        </p:txBody>
      </p:sp>
      <p:sp>
        <p:nvSpPr>
          <p:cNvPr id="571" name="" descr="{&quot;isTemplate&quot;:true,&quot;type&quot;:&quot;text&quot;}"/>
          <p:cNvSpPr txBox="1"/>
          <p:nvPr/>
        </p:nvSpPr>
        <p:spPr>
          <a:xfrm rot="0" flipH="0" flipV="0">
            <a:off x="923925" y="3590925"/>
            <a:ext cx="2200275" cy="180975"/>
          </a:xfrm>
          <a:prstGeom prst="rect"/>
        </p:spPr>
        <p:txBody>
          <a:bodyPr wrap="none" lIns="0" tIns="0" rIns="0" bIns="0"/>
          <a:p>
            <a:pPr>
              <a:lnSpc>
                <a:spcPct val="100000"/>
              </a:lnSpc>
            </a:pPr>
            <a:r>
              <a:rPr lang="en-US" sz="1163">
                <a:solidFill>
                  <a:srgbClr val="C5D4EA"/>
                </a:solidFill>
                <a:latin typeface="Microsoft YaHei"/>
                <a:ea typeface="Microsoft YaHei"/>
              </a:rPr>
              <a:t>01 · Nine fields, three compulsory</a:t>
            </a:r>
            <a:endParaRPr/>
          </a:p>
        </p:txBody>
      </p:sp>
      <p:sp>
        <p:nvSpPr>
          <p:cNvPr id="572" name=""/>
          <p:cNvSpPr/>
          <p:nvPr/>
        </p:nvSpPr>
        <p:spPr>
          <a:xfrm rot="0" flipH="0" flipV="0">
            <a:off x="6000750" y="3648075"/>
            <a:ext cx="66675" cy="66675"/>
          </a:xfrm>
          <a:prstGeom prst="roundRect">
            <a:avLst>
              <a:gd name="adj" fmla="val 57143"/>
            </a:avLst>
          </a:prstGeom>
          <a:solidFill>
            <a:srgbClr val="3D7BD9"/>
          </a:solidFill>
          <a:ln/>
        </p:spPr>
        <p:txBody>
          <a:bodyPr/>
          <a:p/>
        </p:txBody>
      </p:sp>
      <p:sp>
        <p:nvSpPr>
          <p:cNvPr id="573" name="" descr="{&quot;isTemplate&quot;:true,&quot;type&quot;:&quot;text&quot;}"/>
          <p:cNvSpPr txBox="1"/>
          <p:nvPr/>
        </p:nvSpPr>
        <p:spPr>
          <a:xfrm rot="0" flipH="0" flipV="0">
            <a:off x="6162675" y="3590925"/>
            <a:ext cx="2743200" cy="180975"/>
          </a:xfrm>
          <a:prstGeom prst="rect"/>
        </p:spPr>
        <p:txBody>
          <a:bodyPr wrap="none" lIns="0" tIns="0" rIns="0" bIns="0"/>
          <a:p>
            <a:pPr>
              <a:lnSpc>
                <a:spcPct val="100000"/>
              </a:lnSpc>
            </a:pPr>
            <a:r>
              <a:rPr lang="en-US" sz="1163">
                <a:solidFill>
                  <a:srgbClr val="C5D4EA"/>
                </a:solidFill>
                <a:latin typeface="Microsoft YaHei"/>
                <a:ea typeface="Microsoft YaHei"/>
              </a:rPr>
              <a:t>02 · One step is one observable response</a:t>
            </a:r>
            <a:endParaRPr/>
          </a:p>
        </p:txBody>
      </p:sp>
      <p:sp>
        <p:nvSpPr>
          <p:cNvPr id="574" name=""/>
          <p:cNvSpPr/>
          <p:nvPr/>
        </p:nvSpPr>
        <p:spPr>
          <a:xfrm rot="0" flipH="0" flipV="0">
            <a:off x="762000" y="3943350"/>
            <a:ext cx="66675" cy="66675"/>
          </a:xfrm>
          <a:prstGeom prst="roundRect">
            <a:avLst>
              <a:gd name="adj" fmla="val 57143"/>
            </a:avLst>
          </a:prstGeom>
          <a:solidFill>
            <a:srgbClr val="3D7BD9"/>
          </a:solidFill>
          <a:ln/>
        </p:spPr>
        <p:txBody>
          <a:bodyPr/>
          <a:p/>
        </p:txBody>
      </p:sp>
      <p:sp>
        <p:nvSpPr>
          <p:cNvPr id="575" name="" descr="{&quot;isTemplate&quot;:true,&quot;type&quot;:&quot;text&quot;}"/>
          <p:cNvSpPr txBox="1"/>
          <p:nvPr/>
        </p:nvSpPr>
        <p:spPr>
          <a:xfrm rot="0" flipH="0" flipV="0">
            <a:off x="923925" y="3886200"/>
            <a:ext cx="2457450" cy="180975"/>
          </a:xfrm>
          <a:prstGeom prst="rect"/>
        </p:spPr>
        <p:txBody>
          <a:bodyPr wrap="none" lIns="0" tIns="0" rIns="0" bIns="0"/>
          <a:p>
            <a:pPr>
              <a:lnSpc>
                <a:spcPct val="100000"/>
              </a:lnSpc>
            </a:pPr>
            <a:r>
              <a:rPr lang="en-US" sz="1163">
                <a:solidFill>
                  <a:srgbClr val="C5D4EA"/>
                </a:solidFill>
                <a:latin typeface="Microsoft YaHei"/>
                <a:ea typeface="Microsoft YaHei"/>
              </a:rPr>
              <a:t>03 · No buttons, no pages, no dialogs</a:t>
            </a:r>
            <a:endParaRPr/>
          </a:p>
        </p:txBody>
      </p:sp>
      <p:sp>
        <p:nvSpPr>
          <p:cNvPr id="576" name=""/>
          <p:cNvSpPr/>
          <p:nvPr/>
        </p:nvSpPr>
        <p:spPr>
          <a:xfrm rot="0" flipH="0" flipV="0">
            <a:off x="6000750" y="3943350"/>
            <a:ext cx="66675" cy="66675"/>
          </a:xfrm>
          <a:prstGeom prst="roundRect">
            <a:avLst>
              <a:gd name="adj" fmla="val 57143"/>
            </a:avLst>
          </a:prstGeom>
          <a:solidFill>
            <a:srgbClr val="3D7BD9"/>
          </a:solidFill>
          <a:ln/>
        </p:spPr>
        <p:txBody>
          <a:bodyPr/>
          <a:p/>
        </p:txBody>
      </p:sp>
      <p:sp>
        <p:nvSpPr>
          <p:cNvPr id="577" name="" descr="{&quot;isTemplate&quot;:true,&quot;type&quot;:&quot;text&quot;}"/>
          <p:cNvSpPr txBox="1"/>
          <p:nvPr/>
        </p:nvSpPr>
        <p:spPr>
          <a:xfrm rot="0" flipH="0" flipV="0">
            <a:off x="6162675" y="3886200"/>
            <a:ext cx="2876550" cy="180975"/>
          </a:xfrm>
          <a:prstGeom prst="rect"/>
        </p:spPr>
        <p:txBody>
          <a:bodyPr wrap="none" lIns="0" tIns="0" rIns="0" bIns="0"/>
          <a:p>
            <a:pPr>
              <a:lnSpc>
                <a:spcPct val="100000"/>
              </a:lnSpc>
            </a:pPr>
            <a:r>
              <a:rPr lang="en-US" sz="1163">
                <a:solidFill>
                  <a:srgbClr val="C5D4EA"/>
                </a:solidFill>
                <a:latin typeface="Microsoft YaHei"/>
                <a:ea typeface="Microsoft YaHei"/>
              </a:rPr>
              <a:t>04 · 3a, 3b, 3c — and where each one goes</a:t>
            </a:r>
            <a:endParaRPr/>
          </a:p>
        </p:txBody>
      </p:sp>
      <p:sp>
        <p:nvSpPr>
          <p:cNvPr id="578" name=""/>
          <p:cNvSpPr/>
          <p:nvPr/>
        </p:nvSpPr>
        <p:spPr>
          <a:xfrm rot="0" flipH="0" flipV="0">
            <a:off x="762000" y="4238625"/>
            <a:ext cx="66675" cy="66675"/>
          </a:xfrm>
          <a:prstGeom prst="roundRect">
            <a:avLst>
              <a:gd name="adj" fmla="val 57143"/>
            </a:avLst>
          </a:prstGeom>
          <a:solidFill>
            <a:srgbClr val="3D7BD9"/>
          </a:solidFill>
          <a:ln/>
        </p:spPr>
        <p:txBody>
          <a:bodyPr/>
          <a:p/>
        </p:txBody>
      </p:sp>
      <p:sp>
        <p:nvSpPr>
          <p:cNvPr id="579" name="" descr="{&quot;isTemplate&quot;:true,&quot;type&quot;:&quot;text&quot;}"/>
          <p:cNvSpPr txBox="1"/>
          <p:nvPr/>
        </p:nvSpPr>
        <p:spPr>
          <a:xfrm rot="0" flipH="0" flipV="0">
            <a:off x="923925" y="4181475"/>
            <a:ext cx="2876550" cy="180975"/>
          </a:xfrm>
          <a:prstGeom prst="rect"/>
        </p:spPr>
        <p:txBody>
          <a:bodyPr wrap="none" lIns="0" tIns="0" rIns="0" bIns="0"/>
          <a:p>
            <a:pPr>
              <a:lnSpc>
                <a:spcPct val="100000"/>
              </a:lnSpc>
            </a:pPr>
            <a:r>
              <a:rPr lang="en-US" sz="1163">
                <a:solidFill>
                  <a:srgbClr val="C5D4EA"/>
                </a:solidFill>
                <a:latin typeface="Microsoft YaHei"/>
                <a:ea typeface="Microsoft YaHei"/>
              </a:rPr>
              <a:t>05 · An exception is a failure, not a variation</a:t>
            </a:r>
            <a:endParaRPr/>
          </a:p>
        </p:txBody>
      </p:sp>
      <p:sp>
        <p:nvSpPr>
          <p:cNvPr id="580" name=""/>
          <p:cNvSpPr/>
          <p:nvPr/>
        </p:nvSpPr>
        <p:spPr>
          <a:xfrm rot="0" flipH="0" flipV="0">
            <a:off x="6000750" y="4238625"/>
            <a:ext cx="66675" cy="66675"/>
          </a:xfrm>
          <a:prstGeom prst="roundRect">
            <a:avLst>
              <a:gd name="adj" fmla="val 57143"/>
            </a:avLst>
          </a:prstGeom>
          <a:solidFill>
            <a:srgbClr val="3D7BD9"/>
          </a:solidFill>
          <a:ln/>
        </p:spPr>
        <p:txBody>
          <a:bodyPr/>
          <a:p/>
        </p:txBody>
      </p:sp>
      <p:sp>
        <p:nvSpPr>
          <p:cNvPr id="581" name="" descr="{&quot;isTemplate&quot;:true,&quot;type&quot;:&quot;text&quot;}"/>
          <p:cNvSpPr txBox="1"/>
          <p:nvPr/>
        </p:nvSpPr>
        <p:spPr>
          <a:xfrm rot="0" flipH="0" flipV="0">
            <a:off x="6162675" y="4181475"/>
            <a:ext cx="2514600" cy="180975"/>
          </a:xfrm>
          <a:prstGeom prst="rect"/>
        </p:spPr>
        <p:txBody>
          <a:bodyPr wrap="none" lIns="0" tIns="0" rIns="0" bIns="0"/>
          <a:p>
            <a:pPr>
              <a:lnSpc>
                <a:spcPct val="100000"/>
              </a:lnSpc>
            </a:pPr>
            <a:r>
              <a:rPr lang="en-US" sz="1163">
                <a:solidFill>
                  <a:srgbClr val="C5D4EA"/>
                </a:solidFill>
                <a:latin typeface="Microsoft YaHei"/>
                <a:ea typeface="Microsoft YaHei"/>
              </a:rPr>
              <a:t>06 · M1 tagged m1 — push, tag, verify</a:t>
            </a:r>
            <a:endParaRPr/>
          </a:p>
        </p:txBody>
      </p:sp>
      <p:sp>
        <p:nvSpPr>
          <p:cNvPr id="582" name=""/>
          <p:cNvSpPr/>
          <p:nvPr/>
        </p:nvSpPr>
        <p:spPr>
          <a:xfrm rot="0" flipH="0" flipV="0">
            <a:off x="762000" y="4648200"/>
            <a:ext cx="10668000" cy="647700"/>
          </a:xfrm>
          <a:custGeom>
            <a:pathLst>
              <a:path w="1120" h="68">
                <a:moveTo>
                  <a:pt x="0" y="0"/>
                </a:moveTo>
                <a:lnTo>
                  <a:pt x="1120" y="0"/>
                </a:lnTo>
                <a:lnTo>
                  <a:pt x="1120" y="1"/>
                </a:lnTo>
                <a:lnTo>
                  <a:pt x="0" y="1"/>
                </a:lnTo>
                <a:close/>
              </a:path>
            </a:pathLst>
          </a:custGeom>
          <a:solidFill>
            <a:srgbClr val="2B5793"/>
          </a:solidFill>
          <a:ln/>
        </p:spPr>
        <p:txBody>
          <a:bodyPr/>
          <a:p/>
        </p:txBody>
      </p:sp>
      <p:sp>
        <p:nvSpPr>
          <p:cNvPr id="583" name="" descr="{&quot;isTemplate&quot;:true,&quot;type&quot;:&quot;text&quot;}"/>
          <p:cNvSpPr txBox="1"/>
          <p:nvPr/>
        </p:nvSpPr>
        <p:spPr>
          <a:xfrm rot="0" flipH="0" flipV="0">
            <a:off x="762000" y="4848225"/>
            <a:ext cx="9458325" cy="161925"/>
          </a:xfrm>
          <a:prstGeom prst="rect"/>
        </p:spPr>
        <p:txBody>
          <a:bodyPr wrap="none" lIns="0" tIns="0" rIns="0" bIns="0"/>
          <a:p>
            <a:pPr>
              <a:lnSpc>
                <a:spcPct val="100000"/>
              </a:lnSpc>
            </a:pPr>
            <a:r>
              <a:rPr lang="en-US" sz="1050" spc="75">
                <a:solidFill>
                  <a:srgbClr val="7FA2D6"/>
                </a:solidFill>
                <a:latin typeface="Microsoft YaHei"/>
                <a:ea typeface="Microsoft YaHei"/>
              </a:rPr>
              <a:t>NEXT WEEK — W06</a:t>
            </a:r>
            <a:endParaRPr/>
          </a:p>
        </p:txBody>
      </p:sp>
      <p:sp>
        <p:nvSpPr>
          <p:cNvPr id="584" name="" descr="{&quot;isTemplate&quot;:true,&quot;type&quot;:&quot;text&quot;}"/>
          <p:cNvSpPr txBox="1"/>
          <p:nvPr/>
        </p:nvSpPr>
        <p:spPr>
          <a:xfrm rot="0" flipH="0" flipV="0">
            <a:off x="762000" y="5067300"/>
            <a:ext cx="9458325" cy="219075"/>
          </a:xfrm>
          <a:prstGeom prst="rect"/>
        </p:spPr>
        <p:txBody>
          <a:bodyPr wrap="none" lIns="0" tIns="0" rIns="0" bIns="0"/>
          <a:p>
            <a:pPr>
              <a:lnSpc>
                <a:spcPct val="100000"/>
              </a:lnSpc>
            </a:pPr>
            <a:r>
              <a:rPr lang="en-US" sz="1425" b="1">
                <a:solidFill>
                  <a:srgbClr val="FFFFFF"/>
                </a:solidFill>
                <a:latin typeface="Microsoft YaHei"/>
                <a:ea typeface="Microsoft YaHei"/>
              </a:rPr>
              <a:t>Domain Modeling — your nouns become classes</a:t>
            </a:r>
            <a:endParaRPr/>
          </a:p>
        </p:txBody>
      </p:sp>
      <p:sp>
        <p:nvSpPr>
          <p:cNvPr id="585" name=""/>
          <p:cNvSpPr/>
          <p:nvPr/>
        </p:nvSpPr>
        <p:spPr>
          <a:xfrm rot="0" flipH="0" flipV="0">
            <a:off x="10220325" y="4886325"/>
            <a:ext cx="1209675" cy="361950"/>
          </a:xfrm>
          <a:prstGeom prst="roundRect">
            <a:avLst>
              <a:gd name="adj" fmla="val 57895"/>
            </a:avLst>
          </a:prstGeom>
          <a:solidFill>
            <a:srgbClr val="1E4FA8"/>
          </a:solidFill>
          <a:ln/>
        </p:spPr>
        <p:txBody>
          <a:bodyPr/>
          <a:p/>
        </p:txBody>
      </p:sp>
      <p:sp>
        <p:nvSpPr>
          <p:cNvPr id="586" name="" descr="{&quot;isTemplate&quot;:true,&quot;type&quot;:&quot;text&quot;}"/>
          <p:cNvSpPr txBox="1"/>
          <p:nvPr/>
        </p:nvSpPr>
        <p:spPr>
          <a:xfrm rot="0" flipH="0" flipV="0">
            <a:off x="10429875" y="4981575"/>
            <a:ext cx="790575" cy="171450"/>
          </a:xfrm>
          <a:prstGeom prst="rect"/>
        </p:spPr>
        <p:txBody>
          <a:bodyPr wrap="none" lIns="0" tIns="0" rIns="0" bIns="0"/>
          <a:p>
            <a:pPr>
              <a:lnSpc>
                <a:spcPct val="100000"/>
              </a:lnSpc>
            </a:pPr>
            <a:r>
              <a:rPr lang="en-US" sz="1125" b="1">
                <a:solidFill>
                  <a:srgbClr val="FFFFFF"/>
                </a:solidFill>
                <a:latin typeface="Microsoft YaHei"/>
                <a:ea typeface="Microsoft YaHei"/>
              </a:rPr>
              <a:t>Questions?</a:t>
            </a:r>
            <a:endParaRPr/>
          </a:p>
        </p:txBody>
      </p:sp>
      <p:sp>
        <p:nvSpPr>
          <p:cNvPr id="587" name=""/>
          <p:cNvSpPr/>
          <p:nvPr/>
        </p:nvSpPr>
        <p:spPr>
          <a:xfrm rot="0" flipH="0" flipV="0">
            <a:off x="0" y="0"/>
            <a:ext cx="12192000" cy="76200"/>
          </a:xfrm>
          <a:prstGeom prst="rect">
            <a:avLst/>
          </a:prstGeom>
          <a:solidFill>
            <a:srgbClr val="1E4FA8"/>
          </a:solidFill>
          <a:ln/>
        </p:spPr>
        <p:txBody>
          <a:body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2026-10-08T09:51:30Z</dcterms:created>
  <dcterms:modified xsi:type="dcterms:W3CDTF">2026-10-08T09:51:30Z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{"AIGC":{"Label":"1","ContentProducer":"00119111010856365494821B355","ProduceID":"cf3af5c9d9c24e358015f31e4d46c9be","ReservedCode1":"","ContentPropagator":"00119111010856365494821B355","PropagateID":"cf3af5c9d9c24e358015f31e4d46c9be","ReservedCode2":""}}</vt:lpwstr>
  </property>
</Properties>
</file>
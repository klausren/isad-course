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1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3.xml" ContentType="application/vnd.openxmlformats-officedocument.presentationml.slide+xml"/>
  <Override PartName="/ppt/slides/slide3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38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8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2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35" Type="http://schemas.openxmlformats.org/officeDocument/2006/relationships/slide" Target="slides/slide35.xml" /><Relationship Id="rId41" Type="http://schemas.openxmlformats.org/officeDocument/2006/relationships/tableStyles" Target="tableStyles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" Type="http://schemas.openxmlformats.org/officeDocument/2006/relationships/slide" Target="slides/slide3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27" Type="http://schemas.openxmlformats.org/officeDocument/2006/relationships/slide" Target="slides/slide27.xml" /><Relationship Id="rId12" Type="http://schemas.openxmlformats.org/officeDocument/2006/relationships/slide" Target="slides/slide12.xml" /><Relationship Id="rId29" Type="http://schemas.openxmlformats.org/officeDocument/2006/relationships/slide" Target="slides/slide29.xml" /><Relationship Id="rId26" Type="http://schemas.openxmlformats.org/officeDocument/2006/relationships/slide" Target="slides/slide26.xml" /><Relationship Id="rId37" Type="http://schemas.openxmlformats.org/officeDocument/2006/relationships/slide" Target="slides/slide37.xml" /><Relationship Id="rId1" Type="http://schemas.openxmlformats.org/officeDocument/2006/relationships/slide" Target="slides/slide1.xml" /><Relationship Id="rId25" Type="http://schemas.openxmlformats.org/officeDocument/2006/relationships/slide" Target="slides/slide25.xml" /><Relationship Id="rId24" Type="http://schemas.openxmlformats.org/officeDocument/2006/relationships/slide" Target="slides/slide24.xml" /><Relationship Id="rId16" Type="http://schemas.openxmlformats.org/officeDocument/2006/relationships/slide" Target="slides/slide16.xml" /><Relationship Id="rId21" Type="http://schemas.openxmlformats.org/officeDocument/2006/relationships/slide" Target="slides/slide21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36" Type="http://schemas.openxmlformats.org/officeDocument/2006/relationships/slide" Target="slides/slide36.xml" /><Relationship Id="rId17" Type="http://schemas.openxmlformats.org/officeDocument/2006/relationships/slide" Target="slides/slide17.xml" /><Relationship Id="rId40" Type="http://schemas.openxmlformats.org/officeDocument/2006/relationships/presProps" Target="presProps.xml" /><Relationship Id="rId23" Type="http://schemas.openxmlformats.org/officeDocument/2006/relationships/slide" Target="slides/slide23.xml" /><Relationship Id="rId38" Type="http://schemas.openxmlformats.org/officeDocument/2006/relationships/slide" Target="slides/slide38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20" Type="http://schemas.openxmlformats.org/officeDocument/2006/relationships/slide" Target="slides/slide20.xml" /><Relationship Id="rId42" Type="http://schemas.openxmlformats.org/officeDocument/2006/relationships/viewProps" Target="viewProps.xml" /><Relationship Id="rId22" Type="http://schemas.openxmlformats.org/officeDocument/2006/relationships/slide" Target="slides/slide22.xml" /><Relationship Id="rId39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30" Type="http://schemas.openxmlformats.org/officeDocument/2006/relationships/slide" Target="slides/slide30.xml" /><Relationship Id="rId15" Type="http://schemas.openxmlformats.org/officeDocument/2006/relationships/slide" Target="slides/slide15.xml" /><Relationship Id="rId28" Type="http://schemas.openxmlformats.org/officeDocument/2006/relationships/slide" Target="slides/slide28.xml" /><Relationship Id="rId9" Type="http://schemas.openxmlformats.org/officeDocument/2006/relationships/slide" Target="slides/slide9.xml" /><Relationship Id="rId14" Type="http://schemas.openxmlformats.org/officeDocument/2006/relationships/slide" Target="slides/slide14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4" Type="http://schemas.openxmlformats.org/officeDocument/2006/relationships/image" Target="media/image44.svg" /><Relationship Id="rId5" Type="http://schemas.openxmlformats.org/officeDocument/2006/relationships/image" Target="media/image45.svg" /><Relationship Id="rId2" Type="http://schemas.openxmlformats.org/officeDocument/2006/relationships/image" Target="media/image42.svg" /><Relationship Id="rId3" Type="http://schemas.openxmlformats.org/officeDocument/2006/relationships/image" Target="media/image4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6" Type="http://schemas.openxmlformats.org/officeDocument/2006/relationships/image" Target="media/image52.svg" /><Relationship Id="rId5" Type="http://schemas.openxmlformats.org/officeDocument/2006/relationships/image" Target="media/image51.svg" /><Relationship Id="rId3" Type="http://schemas.openxmlformats.org/officeDocument/2006/relationships/image" Target="media/image49.svg" /><Relationship Id="rId2" Type="http://schemas.openxmlformats.org/officeDocument/2006/relationships/image" Target="media/image44.svg" /><Relationship Id="rId1" Type="http://schemas.openxmlformats.org/officeDocument/2006/relationships/image" Target="media/image48.svg" /><Relationship Id="rId4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2" Type="http://schemas.openxmlformats.org/officeDocument/2006/relationships/image" Target="media/image4.svg" /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2" Type="http://schemas.openxmlformats.org/officeDocument/2006/relationships/image" Target="media/image14.svg" /><Relationship Id="rId1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2" Type="http://schemas.openxmlformats.org/officeDocument/2006/relationships/image" Target="media/image17.svg" /><Relationship Id="rId3" Type="http://schemas.openxmlformats.org/officeDocument/2006/relationships/image" Target="media/image18.svg" /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3" Type="http://schemas.openxmlformats.org/officeDocument/2006/relationships/image" Target="media/image21.svg" /><Relationship Id="rId2" Type="http://schemas.openxmlformats.org/officeDocument/2006/relationships/image" Target="media/image20.svg" /><Relationship Id="rId1" Type="http://schemas.openxmlformats.org/officeDocument/2006/relationships/image" Target="media/image19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2" Type="http://schemas.openxmlformats.org/officeDocument/2006/relationships/image" Target="media/image26.svg" /><Relationship Id="rId1" Type="http://schemas.openxmlformats.org/officeDocument/2006/relationships/image" Target="media/image25.svg" /><Relationship Id="rId3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6" Type="http://schemas.openxmlformats.org/officeDocument/2006/relationships/image" Target="media/image33.svg" /><Relationship Id="rId5" Type="http://schemas.openxmlformats.org/officeDocument/2006/relationships/image" Target="media/image32.svg" /><Relationship Id="rId3" Type="http://schemas.openxmlformats.org/officeDocument/2006/relationships/image" Target="media/image30.svg" /><Relationship Id="rId4" Type="http://schemas.openxmlformats.org/officeDocument/2006/relationships/image" Target="media/image31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image" Target="media/image34.svg" /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2" Type="http://schemas.openxmlformats.org/officeDocument/2006/relationships/image" Target="media/image36.svg" /><Relationship Id="rId3" Type="http://schemas.openxmlformats.org/officeDocument/2006/relationships/image" Target="media/image37.svg" /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2" Type="http://schemas.openxmlformats.org/officeDocument/2006/relationships/image" Target="media/image40.svg" /><Relationship Id="rId3" Type="http://schemas.openxmlformats.org/officeDocument/2006/relationships/image" Target="media/image41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3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UML Essentials&#10;      &lt;br /&gt;&#10;      &amp;amp; Modeling Workflow&#10;    &lt;/Text&gt;&#10;    &lt;Box style={{ width: 88, height: 5, background: '#FFC107', marginTop: 28, marginBottom: 22 }} /&gt;&#10;    &lt;Text style={{ fontSize: 26, color: '#B9CDF0', lineHeight: 1.45 }}&gt;&#10;      The Diagram Family, the Notation, and the Chain That Links The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03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UML Essentials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&amp; Modeling Workflow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The Diagram Family, the Notation, and the Chain That Links Them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2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3 · ROADMAP&lt;/Text&gt;&#10;      &lt;/Box&gt;&#10;      &lt;Text style={{ fontSize: 15, color: '#5B84C4', lineHeight: 1.5 }}&gt;UML Essentials&lt;br /&gt;&amp;amp; Modeling Workflow&lt;/Text&gt;&#10;    &lt;/Box&gt;&#10;    &lt;Box style={{ flex: 1, padding: '56px 56px', flexDirection: 'column', gap: 18 }}&gt;&#10;      {[&#10;        { n: '01', t: 'Recap &amp;amp; Why Models', p: '03' },&#10;        { n: '02', t: 'The UML Map', p: '07' },&#10;        { n: '03', t: 'Notation Boot Camp', p: '13' },&#10;        { n: '04', t: 'The Modeling Workflow', p: '20' },&#10;        { n: '05', t: 'Toolchain', p: '26' },&#10;        { n: '06', t: 'Lab — Exercises &amp;amp; Team Setup', p: '31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03 · ROADMAP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UML Essentials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&amp; Modeling Workflow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Why Models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UML Map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Notation Boot Camp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Modeling Workflow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26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Exercises &amp;amp; Team Setup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31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9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Why Models&lt;/Text&gt;&#10;      &lt;Box style={{ width: 64, height: 4, background: '#FFC107', marginTop: 26, marginBottom: 26 }} /&gt;&#10;      &lt;Box style={{ flexDirection: 'column', gap: 12 }}&gt;&#10;        {[&#10;          'Last week gave you the ideas',&#10;          'This week gives you the notation to write them down',&#10;          'A model is true enough — not complet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Why Models</a:t>
            </a:r>
            <a:endParaRPr/>
          </a:p>
        </p:txBody>
      </p:sp>
      <p:sp>
        <p:nvSpPr>
          <p:cNvPr id="50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514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Last week gave you the ideas</a:t>
            </a:r>
            <a:endParaRPr/>
          </a:p>
        </p:txBody>
      </p:sp>
      <p:sp>
        <p:nvSpPr>
          <p:cNvPr id="50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19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This week gives you the notation to write them down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35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model is true enough — not complete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9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RECAP&lt;/Text&gt;&#10;  &lt;/Box&gt;&#10;  &lt;Box style={{ padding: '24px 40px 0 40px' }}&gt;&#10;    &lt;Text style={{ fontSize: 34, fontWeight: 'bold', color: '#0E3F8C' }}&gt;Where Week 02 Left Us&lt;/Text&gt;&#10;  &lt;/Box&gt;&#10;  &lt;Box style={{ flex: 1, padding: '20px 40px 0 40px', flexDirection: 'row', gap: 28 }}&gt;&#10;    &lt;Box style={{ flex: 3, flexDirection: 'column', gap: 10, justifyContent: 'center' }}&gt;&#10;      {[&#10;        ['cube', 'Objects hold state and behaviour', 'Encapsulation keeps the rules with the data.'],&#10;        ['cubes', 'Composition beats inheritance — usually', 'Prefer has-a; swap behaviour at runtime.'],&#10;        ['exchange-alt', 'Polymorphism: one message, many forms', 'Declare variables by what they do.'],&#10;        ['project-diagram', 'Responsibilities, not just syntax', 'OO analysis is deciding who owns what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8px 26px', background: '#0E3F8C', borderRadius: 12, flexDirection: 'column', justifyContent: 'center', gap: 14 }}&gt;&#10;      &lt;FAIcon name='pen-fancy' style={{ fill: '#FFC107', width: 32, height: 32 }} /&gt;&#10;      &lt;Text style={{ fontSize: 22, fontWeight: 'bold', color: '#FFFFFF', lineHeight: 1.35 }}&gt;But you cannot hand a teammate a paragraph.&lt;/Text&gt;&#10;      &lt;Text style={{ fontSize: 16, color: '#C5D4EA', lineHeight: 1.55 }}&gt;Those four ideas live in your head. UML is how they get onto paper — precisely enough that someone else can check them.&lt;/Text&gt;&#10;      &lt;Box style={{ padding: '12px 16px', background: '#1E4FA8', borderRadius: 8 }}&gt;&#10;        &lt;Text style={{ fontSize: 15, color: '#B9CDF0', lineHeight: 1.45 }}&gt;Three people, three readings of a sentence. One diagram, one read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9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RECAP</a:t>
            </a:r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Week 02 Left Us</a:t>
            </a:r>
            <a:endParaRPr/>
          </a:p>
        </p:txBody>
      </p:sp>
      <p:sp>
        <p:nvSpPr>
          <p:cNvPr id="803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Objects hold state and behaviour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2428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Encapsulation keeps the rules with the data.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2990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Composition beats inheritance — usually</a:t>
            </a:r>
            <a:endParaRPr/>
          </a:p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Prefer has-a; swap behaviour at runtime.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Polymorphism: one message, many forms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3067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Declare variables by what they do.</a:t>
            </a:r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9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8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2333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Responsibilities, not just syntax</a:t>
            </a:r>
            <a:endParaRPr/>
          </a:p>
        </p:txBody>
      </p:sp>
      <p:sp>
        <p:nvSpPr>
          <p:cNvPr id="822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2333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OO analysis is deciding who owns what.</a:t>
            </a:r>
            <a:endParaRPr/>
          </a:p>
        </p:txBody>
      </p:sp>
      <p:sp>
        <p:nvSpPr>
          <p:cNvPr id="823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91425" y="2495550"/>
            <a:ext cx="304800" cy="304800"/>
          </a:xfrm>
          <a:prstGeom prst="rect">
            <a:avLst/>
          </a:prstGeom>
          <a:ln/>
        </p:spPr>
      </p:pic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7591425" y="2933700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But you cannot hand a teammate a paragraph.</a:t>
            </a:r>
            <a:endParaRPr/>
          </a:p>
        </p:txBody>
      </p:sp>
      <p:sp>
        <p:nvSpPr>
          <p:cNvPr id="826" name="" descr="{&quot;isTemplate&quot;:true,&quot;type&quot;:&quot;text&quot;}"/>
          <p:cNvSpPr txBox="1"/>
          <p:nvPr/>
        </p:nvSpPr>
        <p:spPr>
          <a:xfrm rot="0" flipH="0" flipV="0">
            <a:off x="7591425" y="3752850"/>
            <a:ext cx="39719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Those four ideas live in your head. UML is how they get onto paper — precisely enough that someone else can check them.</a:t>
            </a:r>
            <a:endParaRPr/>
          </a:p>
        </p:txBody>
      </p:sp>
      <p:sp>
        <p:nvSpPr>
          <p:cNvPr id="827" name=""/>
          <p:cNvSpPr/>
          <p:nvPr/>
        </p:nvSpPr>
        <p:spPr>
          <a:xfrm rot="0" flipH="0" flipV="0">
            <a:off x="7591425" y="4743450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7743825" y="4857750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Three people, three readings of a sentence. One diagram, one reading.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8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3&lt;/Text&gt;&#10;      &lt;Text style={{ fontSize: 20, fontWeight: 'bold', color: '#1E4FA8', letterSpacing: 2, marginTop: 6 }}&gt;REASONS&lt;/Text&gt;&#10;      &lt;Box style={{ width: 56, height: 4, background: '#FFC107', marginTop: 12 }} /&gt;&#10;    &lt;/Box&gt;&#10;    &lt;Box style={{ flex: 1, flexDirection: 'column', gap: 16 }}&gt;&#10;      {[&#10;        { n: '01', t: 'To abstract', d: 'A system is too big to hold in one head. A model throws away what does not matter.' },&#10;        { n: '02', t: 'To communicate', d: 'A diagram is a shared object you can point at. Ambiguity becomes visible.' },&#10;        { n: '03', t: 'To reason before building', d: 'Find the flaw in the model, not in the shipped system. Cheap to erase.' },&#10;      ].map((item) =&gt; (&#10;        &lt;Box key={item.n} style={{ flexDirection: 'row', alignItems: 'center', gap: 18, padding: '18px 22px', background: '#F0F5FC', borderRadius: 10, borderLeft: '4px solid #3D7BD9' }}&gt;&#10;          &lt;Text style={{ fontSize: 26, fontWeight: 'bold', color: '#3D7BD9', fontFamily: 'Georgia, serif' }}&gt;{item.n}&lt;/Text&gt;&#10;          &lt;Box style={{ flexDirection: 'column', gap: 3 }}&gt;&#10;            &lt;Text style={{ fontSize: 21, fontWeight: 'bold', color: '#0E3F8C' }}&gt;{item.t}&lt;/Text&gt;&#10;            &lt;Text style={{ fontSize: 15, color: '#4A5568', lineHeight: 1.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If a model did not change a decision, it was decor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52525" y="2200275"/>
            <a:ext cx="1133475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3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1181100" y="4429125"/>
            <a:ext cx="1076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REASONS</a:t>
            </a:r>
            <a:endParaRPr/>
          </a:p>
        </p:txBody>
      </p:sp>
      <p:sp>
        <p:nvSpPr>
          <p:cNvPr id="838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39" name=""/>
          <p:cNvSpPr/>
          <p:nvPr/>
        </p:nvSpPr>
        <p:spPr>
          <a:xfrm rot="0" flipH="0" flipV="0">
            <a:off x="3467100" y="20383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3467100" y="20383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3676650" y="23241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4143375" y="2209800"/>
            <a:ext cx="53054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abstract</a:t>
            </a:r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4143375" y="24860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system is too big to hold in one head. A model throws away what does not matter.</a:t>
            </a:r>
            <a:endParaRPr/>
          </a:p>
        </p:txBody>
      </p:sp>
      <p:sp>
        <p:nvSpPr>
          <p:cNvPr id="844" name=""/>
          <p:cNvSpPr/>
          <p:nvPr/>
        </p:nvSpPr>
        <p:spPr>
          <a:xfrm rot="0" flipH="0" flipV="0">
            <a:off x="3467100" y="30670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45" name=""/>
          <p:cNvSpPr/>
          <p:nvPr/>
        </p:nvSpPr>
        <p:spPr>
          <a:xfrm rot="0" flipH="0" flipV="0">
            <a:off x="3467100" y="30670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3676650" y="33528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4181475" y="3238500"/>
            <a:ext cx="4667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communicate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4181475" y="3514725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diagram is a shared object you can point at. Ambiguity becomes visible.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3467100" y="4095750"/>
            <a:ext cx="8382000" cy="876300"/>
          </a:xfrm>
          <a:prstGeom prst="roundRect">
            <a:avLst>
              <a:gd name="adj" fmla="val 1087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50" name=""/>
          <p:cNvSpPr/>
          <p:nvPr/>
        </p:nvSpPr>
        <p:spPr>
          <a:xfrm rot="0" flipH="0" flipV="0">
            <a:off x="3467100" y="4095750"/>
            <a:ext cx="8382000" cy="876300"/>
          </a:xfrm>
          <a:custGeom>
            <a:pathLst>
              <a:path w="880" h="9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6"/>
                </a:lnTo>
                <a:cubicBezTo>
                  <a:pt x="4" y="89"/>
                  <a:pt x="6" y="91"/>
                  <a:pt x="9" y="92"/>
                </a:cubicBezTo>
                <a:cubicBezTo>
                  <a:pt x="4" y="91"/>
                  <a:pt x="0" y="87"/>
                  <a:pt x="0" y="8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3676650" y="43815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181475" y="4267200"/>
            <a:ext cx="44291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>To reason before building</a:t>
            </a:r>
            <a:endParaRPr/>
          </a:p>
        </p:txBody>
      </p:sp>
      <p:sp>
        <p:nvSpPr>
          <p:cNvPr id="853" name="" descr="{&quot;isTemplate&quot;:true,&quot;type&quot;:&quot;text&quot;}"/>
          <p:cNvSpPr txBox="1"/>
          <p:nvPr/>
        </p:nvSpPr>
        <p:spPr>
          <a:xfrm rot="0" flipH="0" flipV="0">
            <a:off x="4181475" y="4543425"/>
            <a:ext cx="44291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Find the flaw in the model, not in the shipped system. Cheap to erase.</a:t>
            </a:r>
            <a:endParaRPr/>
          </a:p>
        </p:txBody>
      </p:sp>
      <p:sp>
        <p:nvSpPr>
          <p:cNvPr id="854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3848100" y="6486525"/>
            <a:ext cx="4505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If a model did not change a decision, it was decoration.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HY MODELS&lt;/Text&gt;&#10;  &lt;/Box&gt;&#10;  &lt;Box style={{ padding: '20px 40px 0 40px' }}&gt;&#10;    &lt;Text style={{ fontSize: 32, fontWeight: 'bold', color: '#0E3F8C' }}&gt;A Model Is True Enough&lt;/Text&gt;&#10;  &lt;/Box&gt;&#10;  &lt;Box style={{ flex: 1, padding: '8px 40px 0 40px', flexDirection: 'row', gap: 24 }}&gt;&#10;    &lt;Box style={{ flex: 5, justifyContent: 'center', alignItems: 'center' }}&gt;&#10;      &lt;svg width={620} height={400} viewBox='0 0 620 400'&gt;&#10;        &lt;rect x='24' y='14' width='380' height='136' rx='8' fill='#FFFFFF' stroke='#3D7BD9' strokeWidth='1.5' /&gt;&#10;        &lt;rect x='24' y='14' width='380' height='26' rx='8' fill='#E8EFF8' stroke='#3D7BD9' strokeWidth='1.5' /&gt;&#10;        &lt;text x='38' y='32' fill='#0E3F8C' fontSize='12.5' fontWeight='bold'&gt;Order — everything we could say&lt;/text&gt;&#10;        &lt;text x='38' y='58' fill='#4A5568' fontSize='11'&gt;- id&lt;/text&gt;&#10;        &lt;text x='38' y='71' fill='#4A5568' fontSize='11'&gt;- createdAt&lt;/text&gt;&#10;        &lt;text x='38' y='84' fill='#4A5568' fontSize='11'&gt;- updatedAt&lt;/text&gt;&#10;        &lt;text x='38' y='97' fill='#4A5568' fontSize='11'&gt;- customerId&lt;/text&gt;&#10;        &lt;text x='38' y='110' fill='#4A5568' fontSize='11'&gt;- courierId&lt;/text&gt;&#10;        &lt;text x='38' y='123' fill='#4A5568' fontSize='11'&gt;- restaurantId&lt;/text&gt;&#10;        &lt;text x='38' y='136' fill='#4A5568' fontSize='11'&gt;- items&lt;/text&gt;&#10;        &lt;text x='215' y='58' fill='#4A5568' fontSize='11'&gt;- subtotal&lt;/text&gt;&#10;        &lt;text x='215' y='71' fill='#4A5568' fontSize='11'&gt;- deliveryFee&lt;/text&gt;&#10;        &lt;text x='215' y='84' fill='#4A5568' fontSize='11'&gt;- tax&lt;/text&gt;&#10;        &lt;text x='215' y='97' fill='#4A5568' fontSize='11'&gt;- tip&lt;/text&gt;&#10;        &lt;text x='215' y='110' fill='#4A5568' fontSize='11'&gt;- total&lt;/text&gt;&#10;        &lt;text x='215' y='123' fill='#4A5568' fontSize='11'&gt;- status&lt;/text&gt;&#10;        &lt;text x='215' y='136' fill='#4A5568' fontSize='11'&gt;- deliveryAddress&lt;/text&gt;&#10;        &lt;line x1='404' y1='82' x2='420' y2='82' stroke='#D6DCE5' strokeWidth='1.5' /&gt;&#10;        &lt;text x='426' y='60' fill='#8B97A8' fontSize='11'&gt;Everything that could&lt;/text&gt;&#10;        &lt;text x='426' y='76' fill='#8B97A8' fontSize='11'&gt;be said. No omission,&lt;/text&gt;&#10;        &lt;text x='426' y='92' fill='#8B97A8' fontSize='11'&gt;and no insight either.&lt;/text&gt;&#10;&#10;        &lt;rect x='24' y='176' width='320' height='104' rx='8' fill='#FFFFFF' stroke='#1E4FA8' strokeWidth='2' /&gt;&#10;        &lt;rect x='24' y='176' width='320' height='26' rx='8' fill='#E8EFF8' stroke='#1E4FA8' strokeWidth='2' /&gt;&#10;        &lt;text x='38' y='194' fill='#0E3F8C' fontSize='12.5' fontWeight='bold'&gt;Order — what the business cares about&lt;/text&gt;&#10;        &lt;text x='38' y='218' fill='#1A2230' fontSize='11'&gt;- status&lt;/text&gt;&#10;        &lt;text x='38' y='238' fill='#1A2230' fontSize='11'&gt;- lines&lt;/text&gt;&#10;        &lt;text x='38' y='258' fill='#1A2230' fontSize='11'&gt;- total&lt;/text&gt;&#10;        &lt;line x1='344' y1='228' x2='420' y2='228' stroke='#D6DCE5' strokeWidth='1.5' /&gt;&#10;        &lt;text x='426' y='212' fill='#4A5568' fontSize='11'&gt;The words the business&lt;/text&gt;&#10;        &lt;text x='426' y='228' fill='#4A5568' fontSize='11'&gt;already uses. This is&lt;/text&gt;&#10;        &lt;text x='426' y='244' fill='#4A5568' fontSize='11'&gt;the analysis model.&lt;/text&gt;&#10;&#10;        &lt;rect x='24' y='302' width='250' height='76' rx='8' fill='#FFFFFF' stroke='#1E4FA8' strokeWidth='2' /&gt;&#10;        &lt;rect x='24' y='302' width='250' height='26' rx='8' fill='#E8EFF8' stroke='#1E4FA8' strokeWidth='2' /&gt;&#10;        &lt;text x='38' y='320' fill='#0E3F8C' fontSize='12.5' fontWeight='bold'&gt;Order — what the courier sees&lt;/text&gt;&#10;        &lt;text x='38' y='344' fill='#1A2230' fontSize='11'&gt;- status&lt;/text&gt;&#10;        &lt;text x='38' y='364' fill='#1A2230' fontSize='11'&gt;- deliveryAddress&lt;/text&gt;&#10;        &lt;line x1='274' y1='340' x2='420' y2='340' stroke='#D6DCE5' strokeWidth='1.5' /&gt;&#10;        &lt;text x='426' y='324' fill='#4A5568' fontSize='11'&gt;Two fields. Same object.&lt;/text&gt;&#10;        &lt;text x='426' y='340' fill='#4A5568' fontSize='11'&gt;A third model — and it&lt;/text&gt;&#10;        &lt;text x='426' y='356' fill='#4A5568' fontSize='11'&gt;is not wrong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8, fontWeight: 'bold', color: '#0E3F8C', lineHeight: 1.4 }}&gt;A model is not a copy of reality. It is an answer to a question.&lt;/Text&gt;&#10;      &lt;/Box&gt;&#10;      &lt;Box style={{ padding: '16px 18px', background: '#F7F9FC', borderRadius: 10, border: '1px solid #E5E7EB' }}&gt;&#10;        &lt;Text style={{ fontSize: 15, color: '#4A5568', lineHeight: 1.6 }}&gt;One Order, three models. The database wants ids and timestamps. The kitchen wants items and status. The courier wants an address. None of them is &quot;the&quot; Order — each is true enough for one purpose.&lt;/Text&gt;&#10;      &lt;/Box&gt;&#10;      &lt;Box style={{ padding: '16px 18px', background: '#FDF3F3', borderRadius: 10, borderLeft: '4px solid #D9534F' }}&gt;&#10;        &lt;Text style={{ fontSize: 15, color: '#4A5568', lineHeight: 1.6 }}&gt;&lt;Text style={{ fontWeight: 'bold', color: '#D9534F' }}&gt;Detail is cheap. Deciding what to leave out is the skill.&lt;/Text&gt;&lt;/Text&gt;&#10;      &lt;/Box&gt;&#10;      &lt;Box style={{ padding: '14px 16px', background: '#FFFFFF', borderRadius: 9, border: '1px dashed #D6DCE5' }}&gt;&#10;        &lt;Text style={{ fontSize: 14, color: '#8B97A8', lineHeight: 1.5 }}&gt;If your model omits nothing, you have written a second implementation — in a slower languag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5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WHY MODELS</a:t>
            </a:r>
            <a:endParaRPr/>
          </a:p>
        </p:txBody>
      </p:sp>
      <p:sp>
        <p:nvSpPr>
          <p:cNvPr id="861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A Model Is True Enough</a:t>
            </a:r>
            <a:endParaRPr/>
          </a:p>
        </p:txBody>
      </p:sp>
      <p:pic>
        <p:nvPicPr>
          <p:cNvPr id="8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42925" y="2000250"/>
            <a:ext cx="5905500" cy="3810000"/>
          </a:xfrm>
          <a:prstGeom prst="rect">
            <a:avLst/>
          </a:prstGeom>
          <a:ln/>
        </p:spPr>
      </p:pic>
      <p:sp>
        <p:nvSpPr>
          <p:cNvPr id="863" name=""/>
          <p:cNvSpPr/>
          <p:nvPr/>
        </p:nvSpPr>
        <p:spPr>
          <a:xfrm rot="0" flipH="0" flipV="0">
            <a:off x="6867525" y="2038350"/>
            <a:ext cx="4981575" cy="923925"/>
          </a:xfrm>
          <a:prstGeom prst="roundRect">
            <a:avLst>
              <a:gd name="adj" fmla="val 1030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6867525" y="2038350"/>
            <a:ext cx="4981575" cy="923925"/>
          </a:xfrm>
          <a:custGeom>
            <a:pathLst>
              <a:path w="523" h="9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91"/>
                </a:lnTo>
                <a:cubicBezTo>
                  <a:pt x="4" y="94"/>
                  <a:pt x="6" y="96"/>
                  <a:pt x="9" y="97"/>
                </a:cubicBezTo>
                <a:cubicBezTo>
                  <a:pt x="4" y="96"/>
                  <a:pt x="0" y="92"/>
                  <a:pt x="0" y="8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7058025" y="2209800"/>
            <a:ext cx="4562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 model is not a copy of reality. It is an answer to a question.</a:t>
            </a:r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6829425" y="3076575"/>
            <a:ext cx="4981575" cy="1133475"/>
          </a:xfrm>
          <a:prstGeom prst="roundRect">
            <a:avLst>
              <a:gd name="adj" fmla="val 840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7000875" y="3228975"/>
            <a:ext cx="4638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One Order, three models. The database wants ids and timestamps. The kitchen wants items and status. The courier wants an address. None of them is "the" Order — each is true enough for one purpose.</a:t>
            </a:r>
            <a:endParaRPr/>
          </a:p>
        </p:txBody>
      </p:sp>
      <p:sp>
        <p:nvSpPr>
          <p:cNvPr id="868" name=""/>
          <p:cNvSpPr/>
          <p:nvPr/>
        </p:nvSpPr>
        <p:spPr>
          <a:xfrm rot="0" flipH="0" flipV="0">
            <a:off x="6867525" y="4324350"/>
            <a:ext cx="4981575" cy="581025"/>
          </a:xfrm>
          <a:prstGeom prst="roundRect">
            <a:avLst>
              <a:gd name="adj" fmla="val 16393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69" name=""/>
          <p:cNvSpPr/>
          <p:nvPr/>
        </p:nvSpPr>
        <p:spPr>
          <a:xfrm rot="0" flipH="0" flipV="0">
            <a:off x="6867525" y="4324350"/>
            <a:ext cx="4981575" cy="581025"/>
          </a:xfrm>
          <a:custGeom>
            <a:pathLst>
              <a:path w="523" h="61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5"/>
                </a:lnTo>
                <a:cubicBezTo>
                  <a:pt x="4" y="58"/>
                  <a:pt x="6" y="60"/>
                  <a:pt x="9" y="61"/>
                </a:cubicBezTo>
                <a:cubicBezTo>
                  <a:pt x="4" y="60"/>
                  <a:pt x="0" y="56"/>
                  <a:pt x="0" y="5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7038975" y="4476750"/>
            <a:ext cx="46005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Detail is cheap. Deciding what to leave out is the skill.</a:t>
            </a:r>
            <a:endParaRPr/>
          </a:p>
        </p:txBody>
      </p:sp>
      <p:sp>
        <p:nvSpPr>
          <p:cNvPr id="871" name=""/>
          <p:cNvSpPr/>
          <p:nvPr/>
        </p:nvSpPr>
        <p:spPr>
          <a:xfrm rot="0" flipH="0" flipV="0">
            <a:off x="6829425" y="5019675"/>
            <a:ext cx="4981575" cy="752475"/>
          </a:xfrm>
          <a:prstGeom prst="roundRect">
            <a:avLst>
              <a:gd name="adj" fmla="val 1139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6981825" y="5153025"/>
            <a:ext cx="4676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If your model omits nothing, you have written a second implementation — in a slower language.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75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&lt;br /&gt;UML Map&lt;/Text&gt;&#10;      &lt;Box style={{ width: 64, height: 4, background: '#FFC107', marginTop: 26, marginBottom: 26 }} /&gt;&#10;      &lt;Box style={{ flexDirection: 'column', gap: 12 }}&gt;&#10;        {[&#10;          'Fourteen diagram types — you will use six',&#10;          'Structure asks what it IS; behaviour asks what it DOES',&#10;          'Every diagram exists to answer a specific ques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UML Map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2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581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Fourteen diagram types — you will use six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638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Structure asks what it IS; behaviour asks what it DOES</a:t>
            </a:r>
            <a:endParaRPr/>
          </a:p>
        </p:txBody>
      </p:sp>
      <p:sp>
        <p:nvSpPr>
          <p:cNvPr id="886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7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267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Every diagram exists to answer a specific question</a:t>
            </a:r>
            <a:endParaRPr/>
          </a:p>
        </p:txBody>
      </p:sp>
      <p:sp>
        <p:nvSpPr>
          <p:cNvPr id="88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, flexDirection: 'row', alignItems: 'baseline', justifyContent: 'space-between' }}&gt;&#10;    &lt;Text style={{ fontSize: 30, fontWeight: 'bold', color: '#0E3F8C' }}&gt;Two Families, Fourteen Diagrams&lt;/Text&gt;&#10;    &lt;Text style={{ fontSize: 14, color: '#1E4FA8', fontWeight: 'bold' }}&gt;08 / 38&lt;/Text&gt;&#10;  &lt;/Box&gt;&#10;  &lt;Box style={{ flex: 1, padding: '6px 40px 0 40px', justifyContent: 'center', alignItems: 'center' }}&gt;&#10;    &lt;svg width={1180} height={350} viewBox='0 0 1180 350'&gt;&#10;      &lt;defs&gt;&#10;        &lt;marker id='ar08' markerWidth='8' markerHeight='8' refX='7' refY='4' orient='auto'&gt;&#10;          &lt;path d='M0,0 L8,4 L0,8 z' fill='#3D7BD9' /&gt;&#10;        &lt;/marker&gt;&#10;      &lt;/defs&gt;&#10;&#10;      &lt;text x='2' y='16' fill='#8B97A8' fontSize='13' letterSpacing='1.6'&gt;STRUCTURE — WHAT THE SYSTEM IS&lt;/text&gt;&#10;      &lt;rect x='2' y='24' width='34' height='3' fill='#1E4FA8' /&gt;&#10;&#10;      &lt;g transform='translate(0,40)'&gt;&#10;        &lt;rect x='2' y='0' width='156' height='76' rx='8' fill='#E8EFF8' stroke='#1E4FA8' strokeWidth='2' /&gt;&#10;        &lt;rect x='67' y='18' width='26' height='26' rx='2' fill='#FFFFFF' stroke='#3D7BD9' strokeWidth='1.5' /&gt;&#10;        &lt;line x1='67' y1='26.7' x2='93' y2='26.7' stroke='#3D7BD9' strokeWidth='1' /&gt;&#10;        &lt;line x1='67' y1='35.3' x2='93' y2='35.3' stroke='#3D7BD9' strokeWidth='1' /&gt;&#10;        &lt;text x='80' y='64' textAnchor='middle' fill='#0E3F8C' fontSize='13' fontWeight='bold'&gt;Class&lt;/text&gt;&#10;      &lt;/g&gt;&#10;      &lt;g transform='translate(170,40)'&gt;&#10;        &lt;rect x='2' y='0' width='156' height='76' rx='8' fill='#F7F9FC' stroke='#D6DCE5' strokeWidth='1' /&gt;&#10;        &lt;rect x='67' y='18' width='26' height='26' rx='2' fill='#FFFFFF' stroke='#8B97A8' strokeWidth='1.3' /&gt;&#10;        &lt;line x1='71' y1='27' x2='89' y2='27' stroke='#8B97A8' strokeWidth='1.3' /&gt;&#10;        &lt;line x1='70' y1='33' x2='90' y2='33' stroke='#8B97A8' strokeWidth='2.2' /&gt;&#10;        &lt;text x='80' y='64' textAnchor='middle' fill='#8B97A8' fontSize='13'&gt;Object&lt;/text&gt;&#10;      &lt;/g&gt;&#10;      &lt;g transform='translate(340,40)'&gt;&#10;        &lt;rect x='2' y='0' width='156' height='76' rx='8' fill='#E8EFF8' stroke='#1E4FA8' strokeWidth='2' /&gt;&#10;        &lt;rect x='67' y='18' width='11' height='7' fill='#FFFFFF' stroke='#3D7BD9' strokeWidth='1.2' /&gt;&#10;        &lt;rect x='67' y='24' width='26' height='20' fill='#FFFFFF' stroke='#3D7BD9' strokeWidth='1.5' /&gt;&#10;        &lt;text x='80' y='64' textAnchor='middle' fill='#0E3F8C' fontSize='13' fontWeight='bold'&gt;Package&lt;/text&gt;&#10;      &lt;/g&gt;&#10;      &lt;g transform='translate(510,40)'&gt;&#10;        &lt;rect x='2' y='0' width='156' height='76' rx='8' fill='#F7F9FC' stroke='#D6DCE5' strokeWidth='1' /&gt;&#10;        &lt;rect x='67' y='21' width='22' height='20' rx='2' fill='#FFFFFF' stroke='#8B97A8' strokeWidth='1.3' /&gt;&#10;        &lt;rect x='60' y='25' width='6' height='5' fill='#FFFFFF' stroke='#8B97A8' strokeWidth='1.1' /&gt;&#10;        &lt;rect x='60' y='32' width='6' height='5' fill='#FFFFFF' stroke='#8B97A8' strokeWidth='1.1' /&gt;&#10;        &lt;text x='80' y='64' textAnchor='middle' fill='#8B97A8' fontSize='13'&gt;Component&lt;/text&gt;&#10;      &lt;/g&gt;&#10;      &lt;g transform='translate(680,40)'&gt;&#10;        &lt;rect x='2' y='0' width='156' height='76' rx='8' fill='#F7F9FC' stroke='#D6DCE5' strokeWidth='1' /&gt;&#10;        &lt;rect x='66' y='17' width='28' height='28' rx='2' fill='#FFFFFF' stroke='#8B97A8' strokeWidth='1.3' /&gt;&#10;        &lt;rect x='73' y='24' width='14' height='14' rx='1' fill='#F0F5FC' stroke='#8B97A8' strokeWidth='1.1' /&gt;&#10;        &lt;text x='80' y='64' textAnchor='middle' fill='#8B97A8' fontSize='13'&gt;Composite&lt;/text&gt;&#10;      &lt;/g&gt;&#10;      &lt;g transform='translate(850,40)'&gt;&#10;        &lt;rect x='2' y='0' width='156' height='76' rx='8' fill='#F7F9FC' stroke='#D6DCE5' strokeWidth='1' /&gt;&#10;        &lt;path d='M69,25 L76,19 L92,19 L85,25 Z' fill='#FFFFFF' stroke='#8B97A8' strokeWidth='1.1' /&gt;&#10;        &lt;path d='M69,25 L69,39 L85,39 L85,25 Z' fill='#FFFFFF' stroke='#8B97A8' strokeWidth='1.1' /&gt;&#10;        &lt;path d='M92,19 L92,33 L85,39 L85,25 Z' fill='#F0F5FC' stroke='#8B97A8' strokeWidth='1.1' /&gt;&#10;        &lt;text x='80' y='64' textAnchor='middle' fill='#8B97A8' fontSize='13'&gt;Deployment&lt;/text&gt;&#10;      &lt;/g&gt;&#10;      &lt;g transform='translate(1020,40)'&gt;&#10;        &lt;rect x='2' y='0' width='156' height='76' rx='8' fill='#F7F9FC' stroke='#D6DCE5' strokeWidth='1' /&gt;&#10;        &lt;rect x='67' y='18' width='26' height='26' rx='2' fill='#FFFFFF' stroke='#8B97A8' strokeWidth='1.3' strokeDasharray='4 3' /&gt;&#10;        &lt;line x1='72' y1='31' x2='88' y2='31' stroke='#8B97A8' strokeWidth='1.3' /&gt;&#10;        &lt;text x='80' y='64' textAnchor='middle' fill='#8B97A8' fontSize='13'&gt;Profile&lt;/text&gt;&#10;      &lt;/g&gt;&#10;&#10;      &lt;text x='2' y='152' fill='#8B97A8' fontSize='13' letterSpacing='1.6'&gt;BEHAVIOUR — WHAT THE SYSTEM DOES&lt;/text&gt;&#10;      &lt;rect x='2' y='160' width='34' height='3' fill='#1E4FA8' /&gt;&#10;&#10;      &lt;g transform='translate(0,176)'&gt;&#10;        &lt;rect x='2' y='0' width='156' height='76' rx='8' fill='#E8EFF8' stroke='#1E4FA8' strokeWidth='2' /&gt;&#10;        &lt;ellipse cx='80' cy='31' rx='15' ry='10' fill='#FFFFFF' stroke='#3D7BD9' strokeWidth='1.5' /&gt;&#10;        &lt;text x='80' y='64' textAnchor='middle' fill='#0E3F8C' fontSize='13' fontWeight='bold'&gt;Use Case&lt;/text&gt;&#10;      &lt;/g&gt;&#10;      &lt;g transform='translate(170,176)'&gt;&#10;        &lt;rect x='2' y='0' width='156' height='76' rx='8' fill='#E8EFF8' stroke='#1E4FA8' strokeWidth='2' /&gt;&#10;        &lt;rect x='56' y='22' width='20' height='14' rx='7' fill='#FFFFFF' stroke='#3D7BD9' strokeWidth='1.4' /&gt;&#10;        &lt;line x1='76' y1='29' x2='83' y2='29' stroke='#3D7BD9' strokeWidth='1.4' markerEnd='url(#ar08)' /&gt;&#10;        &lt;rect x='84' y='22' width='20' height='14' rx='7' fill='#FFFFFF' stroke='#3D7BD9' strokeWidth='1.4' /&gt;&#10;        &lt;text x='80' y='64' textAnchor='middle' fill='#0E3F8C' fontSize='13' fontWeight='bold'&gt;Activity&lt;/text&gt;&#10;      &lt;/g&gt;&#10;      &lt;g transform='translate(340,176)'&gt;&#10;        &lt;rect x='2' y='0' width='156' height='76' rx='8' fill='#E8EFF8' stroke='#1E4FA8' strokeWidth='2' /&gt;&#10;        &lt;rect x='62' y='21' width='36' height='20' rx='10' fill='#FFFFFF' stroke='#3D7BD9' strokeWidth='1.5' /&gt;&#10;        &lt;line x1='62' y1='28' x2='98' y2='28' stroke='#3D7BD9' strokeWidth='1' /&gt;&#10;        &lt;text x='80' y='64' textAnchor='middle' fill='#0E3F8C' fontSize='13' fontWeight='bold'&gt;State Machine&lt;/text&gt;&#10;      &lt;/g&gt;&#10;      &lt;g transform='translate(510,176)'&gt;&#10;        &lt;rect x='2' y='0' width='156' height='76' rx='8' fill='#E8EFF8' stroke='#1E4FA8' strokeWidth='2' /&gt;&#10;        &lt;line x1='66' y1='18' x2='66' y2='44' stroke='#3D7BD9' strokeWidth='1' strokeDasharray='3 2' /&gt;&#10;        &lt;line x1='80' y1='18' x2='80' y2='44' stroke='#3D7BD9' strokeWidth='1' strokeDasharray='3 2' /&gt;&#10;        &lt;line x1='94' y1='18' x2='94' y2='44' stroke='#3D7BD9' strokeWidth='1' strokeDasharray='3 2' /&gt;&#10;        &lt;line x1='66' y1='30' x2='93' y2='30' stroke='#3D7BD9' strokeWidth='1.5' markerEnd='url(#ar08)' /&gt;&#10;        &lt;text x='80' y='64' textAnchor='middle' fill='#0E3F8C' fontSize='13' fontWeight='bold'&gt;Sequence&lt;/text&gt;&#10;      &lt;/g&gt;&#10;      &lt;g transform='translate(680,176)'&gt;&#10;        &lt;rect x='2' y='0' width='156' height='76' rx='8' fill='#F7F9FC' stroke='#D6DCE5' strokeWidth='1' /&gt;&#10;        &lt;line x1='66' y1='24' x2='94' y2='24' stroke='#8B97A8' strokeWidth='1' /&gt;&#10;        &lt;line x1='67' y1='26' x2='79' y2='41' stroke='#8B97A8' strokeWidth='1' /&gt;&#10;        &lt;line x1='93' y1='26' x2='81' y2='41' stroke='#8B97A8' strokeWidth='1' /&gt;&#10;        &lt;circle cx='66' cy='24' r='4' fill='#FFFFFF' stroke='#8B97A8' strokeWidth='1.2' /&gt;&#10;        &lt;circle cx='94' cy='24' r='4' fill='#FFFFFF' stroke='#8B97A8' strokeWidth='1.2' /&gt;&#10;        &lt;circle cx='80' cy='42' r='4' fill='#FFFFFF' stroke='#8B97A8' strokeWidth='1.2' /&gt;&#10;        &lt;text x='80' y='64' textAnchor='middle' fill='#8B97A8' fontSize='13'&gt;Communic.&lt;/text&gt;&#10;      &lt;/g&gt;&#10;      &lt;g transform='translate(850,176)'&gt;&#10;        &lt;rect x='2' y='0' width='156' height='76' rx='8' fill='#F7F9FC' stroke='#D6DCE5' strokeWidth='1' /&gt;&#10;        &lt;rect x='58' y='17' width='20' height='12' rx='2' fill='#FFFFFF' stroke='#8B97A8' strokeWidth='1.1' /&gt;&#10;        &lt;line x1='78' y1='23' x2='82' y2='23' stroke='#8B97A8' strokeWidth='1.1' markerEnd='url(#ar08)' /&gt;&#10;        &lt;rect x='82' y='17' width='20' height='12' rx='2' fill='#FFFFFF' stroke='#8B97A8' strokeWidth='1.1' /&gt;&#10;        &lt;line x1='68' y1='29' x2='68' y2='36' stroke='#8B97A8' strokeWidth='1.1' /&gt;&#10;        &lt;line x1='92' y1='29' x2='92' y2='36' stroke='#8B97A8' strokeWidth='1.1' /&gt;&#10;        &lt;rect x='68' y='36' width='24' height='12' rx='2' fill='#FFFFFF' stroke='#8B97A8' strokeWidth='1.1' /&gt;&#10;        &lt;text x='80' y='64' textAnchor='middle' fill='#8B97A8' fontSize='12'&gt;Interact. Overview&lt;/text&gt;&#10;      &lt;/g&gt;&#10;      &lt;g transform='translate(1020,176)'&gt;&#10;        &lt;rect x='2' y='0' width='156' height='76' rx='8' fill='#F7F9FC' stroke='#D6DCE5' strokeWidth='1' /&gt;&#10;        &lt;line x1='60' y1='42' x2='100' y2='42' stroke='#D6DCE5' strokeWidth='1' /&gt;&#10;        &lt;line x1='60' y1='17' x2='60' y2='42' stroke='#D6DCE5' strokeWidth='1' /&gt;&#10;        &lt;path d='M62,38 L74,38 L74,26 L86,26 L86,34 L98,34' fill='none' stroke='#8B97A8' strokeWidth='1.6' /&gt;&#10;        &lt;text x='80' y='64' textAnchor='middle' fill='#8B97A8' fontSize='13'&gt;Timing&lt;/text&gt;&#10;      &lt;/g&gt;&#10;&#10;      &lt;rect x='2' y='284' width='18' height='12' rx='3' fill='#E8EFF8' stroke='#1E4FA8' strokeWidth='2' /&gt;&#10;      &lt;text x='30' y='294' fill='#0E3F8C' fontSize='13' fontWeight='bold'&gt;The six we use in this course&lt;/text&gt;&#10;      &lt;rect x='260' y='284' width='18' height='12' rx='3' fill='#F7F9FC' stroke='#D6DCE5' strokeWidth='1' /&gt;&#10;      &lt;text x='288' y='294' fill='#8B97A8' fontSize='13'&gt;The other eight — real UML 2.5, but out of scope here&lt;/text&gt;&#10;      &lt;line x1='2' y1='312' x2='1178' y2='312' stroke='#E5E7EB' strokeWidth='1' /&gt;&#10;      &lt;text x='2' y='336' fill='#4A5568' fontSize='14'&gt;Competence is not knowing fourteen notations. It is knowing which one the question calls for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3, color: '#8B97A8' }}&gt;UML 2.5 diagram taxonomy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9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Two Families, Fourteen Diagrams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1401425" y="8572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  <p:pic>
        <p:nvPicPr>
          <p:cNvPr id="8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228850"/>
            <a:ext cx="11239500" cy="3333750"/>
          </a:xfrm>
          <a:prstGeom prst="rect">
            <a:avLst/>
          </a:prstGeom>
          <a:ln/>
        </p:spPr>
      </p:pic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10287000" y="6619875"/>
            <a:ext cx="1524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UML 2.5 diagram taxonomy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9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0 40px' }}&gt;&#10;    &lt;Text style={{ fontSize: 30, fontWeight: 'bold', color: '#0E3F8C' }}&gt;The Six That Matter Here&lt;/Text&gt;&#10;  &lt;/Box&gt;&#10;  &lt;Box style={{ flex: 1, padding: '12px 40px 0 40px', flexDirection: 'row', flexWrap: 'wrap', gap: 13, alignContent: 'center' }}&gt;&#10;    {[&#10;      { i: 'clipboard-list', t: 'Use Case', d: 'What the system does, and for whom. No internals, no screens.', w: 'Weeks 04–05' },&#10;      { i: 'project-diagram', t: 'Class', d: 'The concepts, their attributes, and the links between them.', w: 'Week 06 domain · 07 design' },&#10;      { i: 'stream', t: 'Sequence', d: 'Who sends which message to whom, and in what order.', w: 'Week 08' },&#10;      { i: 'circle-notch', t: 'State Machine', d: 'One object’s whole life, event by event.', w: 'Week 09' },&#10;      { i: 'sitemap', t: 'Activity', d: 'A flow of steps, including the ones that run in parallel.', w: 'Week 09' },&#10;      { i: 'box-open', t: 'Package', d: 'How the system is cut into parts that can be built apart.', w: 'Week 14' },&#10;    ].map((c) =&gt; (&#10;      &lt;Box key={c.t} style={{ width: '31.8%', padding: '15px 17px', background: '#F7F9FC', borderRadius: 10, border: '1px solid #E5E7EB', flexDirection: 'column', gap: 7 }}&gt;&#10;        &lt;Box style={{ flexDirection: 'row', alignItems: 'center', gap: 10 }}&gt;&#10;          &lt;Box style={{ width: 36, height: 36, borderRadius: 9, background: '#E8EFF8', justifyContent: 'center', alignItems: 'center' }}&gt;&#10;            &lt;FAIcon name={c.i} style={{ fill: '#1E4FA8', width: 18, height: 18 }} /&gt;&#10;          &lt;/Box&gt;&#10;          &lt;Text style={{ flex: 1, fontSize: 18, fontWeight: 'bold', color: '#0E3F8C' }}&gt;{c.t}&lt;/Text&gt;&#10;        &lt;/Box&gt;&#10;        &lt;Text style={{ fontSize: 14, color: '#4A5568', lineHeight: 1.5 }}&gt;{c.d}&lt;/Text&gt;&#10;        &lt;Box style={{ alignSelf: 'flex-start', padding: '4px 10px', background: '#E8EFF8', borderRadius: 12 }}&gt;&#10;          &lt;Text style={{ fontSize: 12, color: '#1E4FA8', fontWeight: 'bold' }}&gt;{c.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Each one is drawn in the week it becomes the answer to a real question — not befor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The Six That Matter Here</a:t>
            </a:r>
            <a:endParaRPr/>
          </a:p>
        </p:txBody>
      </p:sp>
      <p:sp>
        <p:nvSpPr>
          <p:cNvPr id="905" name=""/>
          <p:cNvSpPr/>
          <p:nvPr/>
        </p:nvSpPr>
        <p:spPr>
          <a:xfrm rot="0" flipH="0" flipV="0">
            <a:off x="381000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06" name=""/>
          <p:cNvSpPr/>
          <p:nvPr/>
        </p:nvSpPr>
        <p:spPr>
          <a:xfrm rot="0" flipH="0" flipV="0">
            <a:off x="542925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543050"/>
            <a:ext cx="171450" cy="171450"/>
          </a:xfrm>
          <a:prstGeom prst="rect">
            <a:avLst/>
          </a:prstGeom>
          <a:ln/>
        </p:spPr>
      </p:pic>
      <p:sp>
        <p:nvSpPr>
          <p:cNvPr id="908" name="" descr="{&quot;isTemplate&quot;:true,&quot;type&quot;:&quot;text&quot;}"/>
          <p:cNvSpPr txBox="1"/>
          <p:nvPr/>
        </p:nvSpPr>
        <p:spPr>
          <a:xfrm rot="0" flipH="0" flipV="0">
            <a:off x="981075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542925" y="1866900"/>
            <a:ext cx="3314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the system does, and for whom. No internals, no screens.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42925" y="2419350"/>
            <a:ext cx="90487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638175" y="2457450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Weeks 04–05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4143375" y="1314450"/>
            <a:ext cx="3629025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13" name=""/>
          <p:cNvSpPr/>
          <p:nvPr/>
        </p:nvSpPr>
        <p:spPr>
          <a:xfrm rot="0" flipH="0" flipV="0">
            <a:off x="430530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391025" y="1543050"/>
            <a:ext cx="171450" cy="171450"/>
          </a:xfrm>
          <a:prstGeom prst="rect">
            <a:avLst/>
          </a:prstGeom>
          <a:ln/>
        </p:spPr>
      </p:pic>
      <p:sp>
        <p:nvSpPr>
          <p:cNvPr id="915" name="" descr="{&quot;isTemplate&quot;:true,&quot;type&quot;:&quot;text&quot;}"/>
          <p:cNvSpPr txBox="1"/>
          <p:nvPr/>
        </p:nvSpPr>
        <p:spPr>
          <a:xfrm rot="0" flipH="0" flipV="0">
            <a:off x="4743450" y="15240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4305300" y="1866900"/>
            <a:ext cx="33051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concepts, their attributes, and the links between them.</a:t>
            </a:r>
            <a:endParaRPr/>
          </a:p>
        </p:txBody>
      </p:sp>
      <p:sp>
        <p:nvSpPr>
          <p:cNvPr id="917" name=""/>
          <p:cNvSpPr/>
          <p:nvPr/>
        </p:nvSpPr>
        <p:spPr>
          <a:xfrm rot="0" flipH="0" flipV="0">
            <a:off x="4305300" y="2419350"/>
            <a:ext cx="17145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18" name="" descr="{&quot;isTemplate&quot;:true,&quot;type&quot;:&quot;text&quot;}"/>
          <p:cNvSpPr txBox="1"/>
          <p:nvPr/>
        </p:nvSpPr>
        <p:spPr>
          <a:xfrm rot="0" flipH="0" flipV="0">
            <a:off x="4400550" y="2457450"/>
            <a:ext cx="1524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06 domain · 07 design</a:t>
            </a:r>
            <a:endParaRPr/>
          </a:p>
        </p:txBody>
      </p:sp>
      <p:sp>
        <p:nvSpPr>
          <p:cNvPr id="919" name=""/>
          <p:cNvSpPr/>
          <p:nvPr/>
        </p:nvSpPr>
        <p:spPr>
          <a:xfrm rot="0" flipH="0" flipV="0">
            <a:off x="7896225" y="1314450"/>
            <a:ext cx="3638550" cy="2619375"/>
          </a:xfrm>
          <a:prstGeom prst="roundRect">
            <a:avLst>
              <a:gd name="adj" fmla="val 363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0" name=""/>
          <p:cNvSpPr/>
          <p:nvPr/>
        </p:nvSpPr>
        <p:spPr>
          <a:xfrm rot="0" flipH="0" flipV="0">
            <a:off x="8058150" y="14573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43875" y="1543050"/>
            <a:ext cx="171450" cy="171450"/>
          </a:xfrm>
          <a:prstGeom prst="rect">
            <a:avLst/>
          </a:prstGeom>
          <a:ln/>
        </p:spPr>
      </p:pic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8496300" y="15240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8058150" y="18669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Who sends which message to whom, and in what order.</a:t>
            </a:r>
            <a:endParaRPr/>
          </a:p>
        </p:txBody>
      </p:sp>
      <p:sp>
        <p:nvSpPr>
          <p:cNvPr id="924" name=""/>
          <p:cNvSpPr/>
          <p:nvPr/>
        </p:nvSpPr>
        <p:spPr>
          <a:xfrm rot="0" flipH="0" flipV="0">
            <a:off x="8058150" y="21812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153400" y="22193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08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381000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27" name=""/>
          <p:cNvSpPr/>
          <p:nvPr/>
        </p:nvSpPr>
        <p:spPr>
          <a:xfrm rot="0" flipH="0" flipV="0">
            <a:off x="542925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8650" y="4286250"/>
            <a:ext cx="171450" cy="171450"/>
          </a:xfrm>
          <a:prstGeom prst="rect">
            <a:avLst/>
          </a:prstGeom>
          <a:ln/>
        </p:spPr>
      </p:pic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981075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State Machine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542925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object’s whole life, event by event.</a:t>
            </a:r>
            <a:endParaRPr/>
          </a:p>
        </p:txBody>
      </p:sp>
      <p:sp>
        <p:nvSpPr>
          <p:cNvPr id="931" name=""/>
          <p:cNvSpPr/>
          <p:nvPr/>
        </p:nvSpPr>
        <p:spPr>
          <a:xfrm rot="0" flipH="0" flipV="0">
            <a:off x="542925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2" name="" descr="{&quot;isTemplate&quot;:true,&quot;type&quot;:&quot;text&quot;}"/>
          <p:cNvSpPr txBox="1"/>
          <p:nvPr/>
        </p:nvSpPr>
        <p:spPr>
          <a:xfrm rot="0" flipH="0" flipV="0">
            <a:off x="638175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33" name=""/>
          <p:cNvSpPr/>
          <p:nvPr/>
        </p:nvSpPr>
        <p:spPr>
          <a:xfrm rot="0" flipH="0" flipV="0">
            <a:off x="4143375" y="4057650"/>
            <a:ext cx="3629025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34" name=""/>
          <p:cNvSpPr/>
          <p:nvPr/>
        </p:nvSpPr>
        <p:spPr>
          <a:xfrm rot="0" flipH="0" flipV="0">
            <a:off x="430530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4391025" y="4286250"/>
            <a:ext cx="171450" cy="171450"/>
          </a:xfrm>
          <a:prstGeom prst="rect">
            <a:avLst/>
          </a:prstGeom>
          <a:ln/>
        </p:spPr>
      </p:pic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4743450" y="4267200"/>
            <a:ext cx="2867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4305300" y="4610100"/>
            <a:ext cx="33051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flow of steps, including the ones that run in parallel.</a:t>
            </a:r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430530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440055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09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7896225" y="4057650"/>
            <a:ext cx="3638550" cy="238125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1" name=""/>
          <p:cNvSpPr/>
          <p:nvPr/>
        </p:nvSpPr>
        <p:spPr>
          <a:xfrm rot="0" flipH="0" flipV="0">
            <a:off x="8058150" y="42005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143875" y="4286250"/>
            <a:ext cx="171450" cy="171450"/>
          </a:xfrm>
          <a:prstGeom prst="rect">
            <a:avLst/>
          </a:prstGeom>
          <a:ln/>
        </p:spPr>
      </p:pic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8496300" y="4267200"/>
            <a:ext cx="2876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944" name="" descr="{&quot;isTemplate&quot;:true,&quot;type&quot;:&quot;text&quot;}"/>
          <p:cNvSpPr txBox="1"/>
          <p:nvPr/>
        </p:nvSpPr>
        <p:spPr>
          <a:xfrm rot="0" flipH="0" flipV="0">
            <a:off x="8058150" y="4610100"/>
            <a:ext cx="33147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How the system is cut into parts that can be built apart.</a:t>
            </a:r>
            <a:endParaRPr/>
          </a:p>
        </p:txBody>
      </p:sp>
      <p:sp>
        <p:nvSpPr>
          <p:cNvPr id="945" name=""/>
          <p:cNvSpPr/>
          <p:nvPr/>
        </p:nvSpPr>
        <p:spPr>
          <a:xfrm rot="0" flipH="0" flipV="0">
            <a:off x="8058150" y="4924425"/>
            <a:ext cx="64770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8153400" y="496252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Week 14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2800350" y="6553200"/>
            <a:ext cx="6600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Each one is drawn in the week it becomes the answer to a real question — not before.</a:t>
            </a:r>
            <a:endParaRPr/>
          </a:p>
        </p:txBody>
      </p:sp>
    </p:spTree>
  </p:cSld>
</p:sld>
</file>

<file path=ppt/slides/slide10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HE UML MAP&lt;/Text&gt;&#10;  &lt;/Box&gt;&#10;  &lt;Box style={{ padding: '18px 40px 4px 40px', flexDirection: 'row', alignItems: 'center', justifyContent: 'space-between' }}&gt;&#10;    &lt;Text style={{ fontSize: 30, fontWeight: 'bold', color: '#0E3F8C' }}&gt;Which Diagram Answers Which Question&lt;/Text&gt;&#10;    &lt;Text style={{ fontSize: 14, color: '#1E4FA8', fontWeight: 'bold' }}&gt;10 / 38&lt;/Text&gt;&#10;  &lt;/Box&gt;&#10;  &lt;Box style={{ flex: 1, padding: '10px 40px 6px 40px' }}&gt;&#10;    &lt;Table&#10;      style={{ width: '100%', height: '100%' }}&#10;      defaultTextStyle={{ fontSize: 1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The question you are asking', textStyle: { bold: true, color: '#FFFFFF', textAlign: 'left' }, cellStyle: { background: { color: '#0E3F8C' } } },&#10;          { text: 'The diagram that answers it', textStyle: { bold: true, color: '#FFFFFF', textAlign: 'left' }, cellStyle: { background: { color: '#1E4FA8' } } },&#10;          { text: 'Drawn in', textStyle: { bold: true, color: '#FFFFFF', textAlign: 'left' }, cellStyle: { background: { color: '#3D7BD9' } } },&#10;        ],&#10;        [&#10;          { text: 'What does the system do, for each kind of user?', textStyle: { bold: true, color: '#0E3F8C' }, cellStyle: { background: { color: '#F7F9FC' } } },&#10;          { text: 'Use case diagram', textStyle: { color: '#4A5568' }, cellStyle: { background: { color: '#F7F9FC' } } },&#10;          { text: 'Weeks 04–05', textStyle: { color: '#4A5568' }, cellStyle: { background: { color: '#F7F9FC' } } },&#10;        ],&#10;        [&#10;          { text: 'Which words does the business actually use?', textStyle: { bold: true, color: '#0E3F8C' } },&#10;          { text: 'Domain model — a class diagram', textStyle: { color: '#4A5568' } },&#10;          { text: 'Week 06', textStyle: { color: '#4A5568' } },&#10;        ],&#10;        [&#10;          { text: 'Who calls whom to make this scenario work?', textStyle: { bold: true, color: '#0E3F8C' }, cellStyle: { background: { color: '#F7F9FC' } } },&#10;          { text: 'Sequence diagram', textStyle: { color: '#4A5568' }, cellStyle: { background: { color: '#F7F9FC' } } },&#10;          { text: 'Week 08', textStyle: { color: '#4A5568' }, cellStyle: { background: { color: '#F7F9FC' } } },&#10;        ],&#10;        [&#10;          { text: 'What can happen to this one object over time?', textStyle: { bold: true, color: '#0E3F8C' } },&#10;          { text: 'State machine diagram', textStyle: { color: '#4A5568' } },&#10;          { text: 'Week 09', textStyle: { color: '#4A5568' } },&#10;        ],&#10;        [&#10;          { text: 'What are the steps, and which can run at once?', textStyle: { bold: true, color: '#0E3F8C' }, cellStyle: { background: { color: '#F7F9FC' } } },&#10;          { text: 'Activity diagram', textStyle: { color: '#4A5568' }, cellStyle: { background: { color: '#F7F9FC' } } },&#10;          { text: 'Week 09', textStyle: { color: '#4A5568' }, cellStyle: { background: { color: '#F7F9FC' } } },&#10;        ],&#10;        [&#10;          { text: 'How is the code cut into parts?', textStyle: { bold: true, color: '#0E3F8C' } },&#10;          { text: 'Package diagram', textStyle: { color: '#4A5568' } },&#10;          { text: 'Week 14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Start from the question. The diagram follows it — never the other way roun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410825" y="257175"/>
            <a:ext cx="1400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THE UML MAP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57250"/>
            <a:ext cx="5610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Which Diagram Answers Which Question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1401425" y="9525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graphicFrame>
        <p:nvGraphicFramePr>
          <p:cNvPr id="22" name=""/>
          <p:cNvGraphicFramePr/>
          <p:nvPr/>
        </p:nvGraphicFramePr>
        <p:xfrm rot="0" flipH="0" flipV="0">
          <a:off x="381000" y="1333500"/>
          <a:ext cx="11430000" cy="5029200"/>
        </p:xfrm>
        <a:graphic>
          <a:graphicData uri="http://schemas.openxmlformats.org/drawingml/2006/table">
            <a:tbl>
              <a:tblGrid>
                <a:gridCol w="5866784">
                  <a:extLst>
                    <a:ext uri="{9D8B030D-6E8A-4147-A177-3AD203B41FA5}">
                      <a16:colId val="1"/>
                    </a:ext>
                  </a:extLst>
                </a:gridCol>
                <a:gridCol w="3886992">
                  <a:extLst>
                    <a:ext uri="{9D8B030D-6E8A-4147-A177-3AD203B41FA5}">
                      <a16:colId val="2"/>
                    </a:ext>
                  </a:extLst>
                </a:gridCol>
                <a:gridCol w="1676224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you are asking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diagram that answers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Drawn in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does the system do, for each kind of user?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Weeks 04–05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Which words does the business actually use?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 — a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Who calls whom to make this scenario work?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are the steps, and which can run at once?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184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is the code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Week 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3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3143250" y="6543675"/>
            <a:ext cx="5905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Start from the question. The diagram follows it — never the other way round.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Use Case &amp;amp; Class&lt;/Text&gt;&#10;    &lt;Text style={{ fontSize: 14, color: '#1E4FA8', fontWeight: 'bold' }}&gt;11 / 38&lt;/Text&gt;&#10;  &lt;/Box&gt;&#10;  &lt;Box style={{ flex: 1, padding: '8px 40px 0 40px', flexDirection: 'row', gap: 26 }}&gt;&#10;    &lt;Box style={{ flex: 5, flexDirection: 'column', gap: 8, justifyContent: 'center' }}&gt;&#10;      &lt;Text style={{ fontSize: 18, fontWeight: 'bold', color: '#0E3F8C' }}&gt;Use case diagram — the outside view&lt;/Text&gt;&#10;      &lt;svg width={420} height={300} viewBox='0 0 420 300'&gt;&#10;        &lt;rect x='140' y='24' width='270' height='252' rx='8' fill='#FFFFFF' stroke='#3D7BD9' strokeWidth='1.5' /&gt;&#10;        &lt;text x='150' y='42' fill='#8B97A8' fontSize='11'&gt;CampusBites&lt;/text&gt;&#10;        &lt;circle cx='60' cy='80' r='10' fill='#FFFFFF' stroke='#1E4FA8' strokeWidth='1.8' /&gt;&#10;        &lt;line x1='60' y1='90' x2='60' y2='118' stroke='#1E4FA8' strokeWidth='1.8' /&gt;&#10;        &lt;line x1='46' y1='100' x2='74' y2='100' stroke='#1E4FA8' strokeWidth='1.8' /&gt;&#10;        &lt;line x1='60' y1='118' x2='50' y2='140' stroke='#1E4FA8' strokeWidth='1.8' /&gt;&#10;        &lt;line x1='60' y1='118' x2='70' y2='140' stroke='#1E4FA8' strokeWidth='1.8' /&gt;&#10;        &lt;text x='60' y='158' textAnchor='middle' fill='#1A2230' fontSize='12' fontWeight='bold'&gt;Customer&lt;/text&gt;&#10;        &lt;circle cx='60' cy='205' r='10' fill='#FFFFFF' stroke='#1E4FA8' strokeWidth='1.8' /&gt;&#10;        &lt;line x1='60' y1='215' x2='60' y2='243' stroke='#1E4FA8' strokeWidth='1.8' /&gt;&#10;        &lt;line x1='46' y1='225' x2='74' y2='225' stroke='#1E4FA8' strokeWidth='1.8' /&gt;&#10;        &lt;line x1='60' y1='243' x2='50' y2='265' stroke='#1E4FA8' strokeWidth='1.8' /&gt;&#10;        &lt;line x1='60' y1='243' x2='70' y2='265' stroke='#1E4FA8' strokeWidth='1.8' /&gt;&#10;        &lt;text x='60' y='283' textAnchor='middle' fill='#1A2230' fontSize='12' fontWeight='bold'&gt;Courier&lt;/text&gt;&#10;        &lt;ellipse cx='275' cy='95' rx='110' ry='28' fill='#E8EFF8' stroke='#1E4FA8' strokeWidth='1.8' /&gt;&#10;        &lt;text x='275' y='100' textAnchor='middle' fill='#0E3F8C' fontSize='13' fontWeight='bold'&gt;Place Order&lt;/text&gt;&#10;        &lt;ellipse cx='275' cy='215' rx='110' ry='28' fill='#E8EFF8' stroke='#1E4FA8' strokeWidth='1.8' /&gt;&#10;        &lt;text x='275' y='220' textAnchor='middle' fill='#0E3F8C' fontSize='13' fontWeight='bold'&gt;Track Delivery&lt;/text&gt;&#10;        &lt;line x1='78' y1='105' x2='163' y2='95' stroke='#1E4FA8' strokeWidth='1.5' /&gt;&#10;        &lt;line x1='78' y1='225' x2='163' y2='215' stroke='#1E4FA8' strokeWidth='1.5' /&gt;&#10;        &lt;line x1='275' y1='123' x2='275' y2='185' stroke='#3D7BD9' strokeWidth='1.5' strokeDasharray='5 3' markerEnd='url(#ar11)' /&gt;&#10;        &lt;text x='284' y='158' fill='#3D7BD9' fontSize='11'&gt;«include»&lt;/text&gt;&#10;        &lt;defs&gt;&#10;          &lt;marker id='ar11' markerWidth='8' markerHeight='8' refX='7' refY='4' orient='auto'&gt;&#10;            &lt;path d='M0,0 L8,4 L0,8 z' fill='#3D7BD9' /&gt;&#10;          &lt;/marker&gt;&#10;        &lt;/defs&gt;&#10;      &lt;/svg&gt;&#10;      &lt;Text style={{ fontSize: 13, color: '#8B97A8', lineHeight: 1.5 }}&gt;Actor (outside) · use case (inside the box) · association line · dashed «include».&lt;/Text&gt;&#10;    &lt;/Box&gt;&#10;    &lt;Box style={{ flex: 6, flexDirection: 'column', gap: 8, justifyContent: 'center' }}&gt;&#10;      &lt;Text style={{ fontSize: 18, fontWeight: 'bold', color: '#0E3F8C' }}&gt;Class diagram — the inside view&lt;/Text&gt;&#10;      &lt;svg width={460} height={300} viewBox='0 0 460 300'&gt;&#10;        &lt;rect x='24' y='30' width='196' height='126' rx='4' fill='#FFFFFF' stroke='#1E4FA8' strokeWidth='1.8' /&gt;&#10;        &lt;line x1='24' y1='58' x2='220' y2='58' stroke='#1E4FA8' strokeWidth='1.4' /&gt;&#10;        &lt;line x1='24' y1='118' x2='220' y2='118' stroke='#1E4FA8' strokeWidth='1.4' /&gt;&#10;        &lt;text x='122' y='50' textAnchor='middle' fill='#0E3F8C' fontSize='13' fontWeight='bold'&gt;Order&lt;/text&gt;&#10;        &lt;text x='34' y='74' fill='#4A5568' fontSize='10.5'&gt;- status : OrderStatus&lt;/text&gt;&#10;        &lt;text x='34' y='92' fill='#4A5568' fontSize='10.5'&gt;- placedAt : LocalDateTime&lt;/text&gt;&#10;        &lt;text x='34' y='110' fill='#4A5568' fontSize='10.5'&gt;- lines : OrderLine[0..*]&lt;/text&gt;&#10;        &lt;text x='34' y='134' fill='#4A5568' fontSize='10.5'&gt;+ total() : Money&lt;/text&gt;&#10;        &lt;text x='34' y='150' fill='#4A5568' fontSize='10.5'&gt;+ addItem(i, qty)&lt;/text&gt;&#10;        &lt;rect x='300' y='30' width='146' height='76' rx='4' fill='#FFFFFF' stroke='#1E4FA8' strokeWidth='1.8' /&gt;&#10;        &lt;line x1='300' y1='58' x2='446' y2='58' stroke='#1E4FA8' strokeWidth='1.4' /&gt;&#10;        &lt;text x='373' y='50' textAnchor='middle' fill='#0E3F8C' fontSize='13' fontWeight='bold'&gt;Payment&lt;/text&gt;&#10;        &lt;text x='310' y='74' fill='#4A5568' fontSize='10.5'&gt;+ amount : Money&lt;/text&gt;&#10;        &lt;text x='310' y='92' fill='#4A5568' fontSize='10.5'&gt;+ method : String&lt;/text&gt;&#10;        &lt;line x1='220' y1='68' x2='298' y2='68' stroke='#1E4FA8' strokeWidth='1.6' /&gt;&#10;        &lt;text x='230' y='62' fill='#1E4FA8' fontSize='11' fontWeight='bold'&gt;1&lt;/text&gt;&#10;        &lt;text x='262' y='62' fill='#1E4FA8' fontSize='11' fontWeight='bold'&gt;pays&lt;/text&gt;&#10;        &lt;text x='272' y='84' fill='#1E4FA8' fontSize='11' fontWeight='bold'&gt;0..1&lt;/text&gt;&#10;        &lt;rect x='24' y='210' width='196' height='70' rx='4' fill='#FFFFFF' stroke='#1E4FA8' strokeWidth='1.8' /&gt;&#10;        &lt;line x1='24' y1='238' x2='220' y2='238' stroke='#1E4FA8' strokeWidth='1.4' /&gt;&#10;        &lt;text x='122' y='230' textAnchor='middle' fill='#0E3F8C' fontSize='13' fontWeight='bold'&gt;DeliveryOrder&lt;/text&gt;&#10;        &lt;text x='34' y='256' fill='#4A5568' fontSize='10.5'&gt;+ courier : Courier&lt;/text&gt;&#10;        &lt;text x='34' y='272' fill='#4A5568' fontSize='10.5'&gt;+ slot : TimeSlot&lt;/text&gt;&#10;        &lt;polygon points='122,156 112,176 132,176' fill='#FFFFFF' stroke='#1E4FA8' strokeWidth='1.6' /&gt;&#10;        &lt;line x1='122' y1='176' x2='122' y2='208' stroke='#1E4FA8' strokeWidth='1.6' /&gt;&#10;        &lt;text x='140' y='172' fill='#8B97A8' fontSize='11'&gt;hollow triangle = generalisation&lt;/text&gt;&#10;        &lt;text x='300' y='132' fill='#8B97A8' fontSize='11'&gt;solid line = association,&lt;/text&gt;&#10;        &lt;text x='300' y='148' fill='#8B97A8' fontSize='11'&gt;with a name and multiplicities&lt;/text&gt;&#10;      &lt;/svg&gt;&#10;      &lt;Text style={{ fontSize: 13, color: '#8B97A8', lineHeight: 1.5 }}&gt;Three compartments: name · attributes · operations. Sign visibility with + and −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14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Use Case &amp; Class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2162175"/>
            <a:ext cx="5086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diagram — the outside view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2447925"/>
            <a:ext cx="4000500" cy="285750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50863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Actor (outside) · use case (inside the box) · association line · dashed «include».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715000" y="2162175"/>
            <a:ext cx="6096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Class diagram — the inside view</a:t>
            </a:r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715000" y="2447925"/>
            <a:ext cx="4381500" cy="28575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5715000" y="5381625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Three compartments: name · attributes · operations. Sign visibility with + and −.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, flexDirection: 'row', alignItems: 'center', justifyContent: 'space-between' }}&gt;&#10;    &lt;Text style={{ fontSize: 30, fontWeight: 'bold', color: '#0E3F8C' }}&gt;Cheat Sheet — Sequence, State, Activity&lt;/Text&gt;&#10;    &lt;Text style={{ fontSize: 14, color: '#1E4FA8', fontWeight: 'bold' }}&gt;12 / 38&lt;/Text&gt;&#10;  &lt;/Box&gt;&#10;  &lt;Box style={{ flex: 1, padding: '8px 40px 0 40px', flexDirection: 'row', gap: 24 }}&gt;&#10;    &lt;Box style={{ flex: 4, flexDirection: 'column', gap: 6, justifyContent: 'center', alignItems: 'center' }}&gt;&#10;      &lt;Text style={{ fontSize: 17, fontWeight: 'bold', color: '#0E3F8C', alignSelf: 'flex-start' }}&gt;Sequence — time runs downward&lt;/Text&gt;&#10;      &lt;svg width={380} height={300} viewBox='0 0 380 300'&gt;&#10;        &lt;defs&gt;&#10;          &lt;marker id='ar12' markerWidth='8' markerHeight='8' refX='7' refY='4' orient='auto'&gt;&#10;            &lt;path d='M0,0 L8,4 L0,8 z' fill='#1E4FA8' /&gt;&#10;          &lt;/marker&gt;&#10;        &lt;/defs&gt;&#10;        &lt;rect x='40' y='26' width='70' height='26' rx='3' fill='#E8EFF8' stroke='#1E4FA8' strokeWidth='1.5' /&gt;&#10;        &lt;text x='75' y='44' textAnchor='middle' fill='#0E3F8C' fontSize='11' fontWeight='bold'&gt;: Customer&lt;/text&gt;&#10;        &lt;rect x='155' y='26' width='70' height='26' rx='3' fill='#E8EFF8' stroke='#1E4FA8' strokeWidth='1.5' /&gt;&#10;        &lt;text x='190' y='44' textAnchor='middle' fill='#0E3F8C' fontSize='11' fontWeight='bold'&gt;: Order&lt;/text&gt;&#10;        &lt;rect x='280' y='26' width='70' height='26' rx='3' fill='#E8EFF8' stroke='#1E4FA8' strokeWidth='1.5' /&gt;&#10;        &lt;text x='315' y='44' textAnchor='middle' fill='#0E3F8C' fontSize='11' fontWeight='bold'&gt;: Kitchen&lt;/text&gt;&#10;        &lt;line x1='75' y1='52' x2='75' y2='276' stroke='#8B97A8' strokeWidth='1' strokeDasharray='4 3' /&gt;&#10;        &lt;line x1='190' y1='52' x2='190' y2='276' stroke='#8B97A8' strokeWidth='1' strokeDasharray='4 3' /&gt;&#10;        &lt;line x1='315' y1='52' x2='315' y2='276' stroke='#8B97A8' strokeWidth='1' strokeDasharray='4 3' /&gt;&#10;        &lt;rect x='184' y='88' width='13' height='118' fill='#DCE8F8' stroke='#3D7BD9' strokeWidth='1' /&gt;&#10;        &lt;line x1='75' y1='88' x2='187' y2='88' stroke='#1E4FA8' strokeWidth='1.6' markerEnd='url(#ar12)' /&gt;&#10;        &lt;text x='82' y='81' fill='#1A2230' fontSize='11'&gt;placeOrder()&lt;/text&gt;&#10;        &lt;line x1='190' y1='140' x2='312' y2='140' stroke='#1E4FA8' strokeWidth='1.6' markerEnd='url(#ar12)' /&gt;&#10;        &lt;text x='198' y='133' fill='#1A2230' fontSize='11'&gt;notify()&lt;/text&gt;&#10;        &lt;line x1='315' y1='192' x2='194' y2='192' stroke='#3D7BD9' strokeWidth='1.6' strokeDasharray='5 3' markerEnd='url(#ar12)' /&gt;&#10;        &lt;text x='206' y='185' fill='#3D7BD9' fontSize='11'&gt;ready at 18:40 (return)&lt;/text&gt;&#10;        &lt;line x1='190' y1='240' x2='78' y2='240' stroke='#1E4FA8' strokeWidth='1.6' markerEnd='url(#ar12)' /&gt;&#10;        &lt;text x='96' y='233' fill='#1A2230' fontSize='11'&gt;confirmation&lt;/text&gt;&#10;        &lt;text x='75' y='292' textAnchor='middle' fill='#8B97A8' fontSize='10'&gt;lifeline&lt;/text&gt;&#10;      &lt;/svg&gt;&#10;      &lt;Text style={{ fontSize: 13, color: '#8B97A8', lineHeight: 1.5, alignSelf: 'flex-start' }}&gt;Dashed lifeline · narrow activation bar · solid arrow = call, dashed arrow = return.&lt;/Text&gt;&#10;    &lt;/Box&gt;&#10;    &lt;Box style={{ flex: 5, flexDirection: 'column', gap: 10, justifyContent: 'center' }}&gt;&#10;      &lt;Box style={{ flexDirection: 'column', gap: 4 }}&gt;&#10;        &lt;Text style={{ fontSize: 17, fontWeight: 'bold', color: '#0E3F8C' }}&gt;State — one object, its whole life&lt;/Text&gt;&#10;        &lt;svg width={420} height={168} viewBox='0 0 300 120'&gt;&#10;          &lt;defs&gt;&#10;            &lt;marker id='ar12b' markerWidth='7' markerHeight='7' refX='6' refY='3.5' orient='auto'&gt;&#10;              &lt;path d='M0,0 L7,3.5 L0,7 z' fill='#1E4FA8' /&gt;&#10;            &lt;/marker&gt;&#10;          &lt;/defs&gt;&#10;          &lt;circle cx='14' cy='30' r='7' fill='#1E4FA8' /&gt;&#10;          &lt;line x1='21' y1='30' x2='42' y2='30' stroke='#1E4FA8' strokeWidth='1.4' markerEnd='url(#ar12b)' /&gt;&#10;          &lt;rect x='44' y='14' width='84' height='32' rx='16' fill='#E8EFF8' stroke='#1E4FA8' strokeWidth='1.6' /&gt;&#10;          &lt;text x='86' y='35' textAnchor='middle' fill='#0E3F8C' fontSize='12' fontWeight='bold'&gt;Draft&lt;/text&gt;&#10;          &lt;line x1='128' y1='30' x2='172' y2='30' stroke='#1E4FA8' strokeWidth='1.4' markerEnd='url(#ar12b)' /&gt;&#10;          &lt;text x='132' y='23' fill='#4A5568' fontSize='10'&gt;submit&lt;/text&gt;&#10;          &lt;rect x='174' y='14' width='84' height='32' rx='16' fill='#E8EFF8' stroke='#1E4FA8' strokeWidth='1.6' /&gt;&#10;          &lt;text x='216' y='35' textAnchor='middle' fill='#0E3F8C' fontSize='12' fontWeight='bold'&gt;Placed&lt;/text&gt;&#10;          &lt;line x1='86' y1='46' x2='86' y2='76' stroke='#1E4FA8' strokeWidth='1.4' markerEnd='url(#ar12b)' /&gt;&#10;          &lt;text x='92' y='66' fill='#4A5568' fontSize='10'&gt;cancel&lt;/text&gt;&#10;          &lt;rect x='44' y='78' width='84' height='32' rx='16' fill='#F7F9FC' stroke='#8B97A8' strokeWidth='1.4' /&gt;&#10;          &lt;text x='86' y='99' textAnchor='middle' fill='#4A5568' fontSize='12' fontWeight='bold'&gt;Cancelled&lt;/text&gt;&#10;          &lt;line x1='216' y1='46' x2='216' y2='76' stroke='#1E4FA8' strokeWidth='1.4' markerEnd='url(#ar12b)' /&gt;&#10;          &lt;text x='222' y='66' fill='#4A5568' fontSize='10'&gt;deliver&lt;/text&gt;&#10;          &lt;rect x='174' y='78' width='84' height='32' rx='16' fill='#E8EFF8' stroke='#1E4FA8' strokeWidth='1.6' /&gt;&#10;          &lt;text x='216' y='99' textAnchor='middle' fill='#0E3F8C' fontSize='12' fontWeight='bold'&gt;Delivered&lt;/text&gt;&#10;          &lt;circle cx='282' cy='94' r='9' fill='#FFFFFF' stroke='#1E4FA8' strokeWidth='1.6' /&gt;&#10;          &lt;circle cx='282' cy='94' r='5' fill='#1E4FA8' /&gt;&#10;          &lt;line x1='258' y1='94' x2='272' y2='94' stroke='#1E4FA8' strokeWidth='1.4' markerEnd='url(#ar12b)' /&gt;&#10;        &lt;/svg&gt;&#10;      &lt;/Box&gt;&#10;      &lt;Box style={{ flexDirection: 'column', gap: 4 }}&gt;&#10;        &lt;Text style={{ fontSize: 17, fontWeight: 'bold', color: '#0E3F8C' }}&gt;Activity — steps, and the ones that overlap&lt;/Text&gt;&#10;        &lt;svg width={420} height={266} viewBox='0 0 300 190'&gt;&#10;          &lt;defs&gt;&#10;            &lt;marker id='ar12c' markerWidth='7' markerHeight='7' refX='6' refY='3.5' orient='auto'&gt;&#10;              &lt;path d='M0,0 L7,3.5 L0,7 z' fill='#1E4FA8' /&gt;&#10;            &lt;/marker&gt;&#10;          &lt;/defs&gt;&#10;          &lt;circle cx='16' cy='20' r='7' fill='#1E4FA8' /&gt;&#10;          &lt;line x1='23' y1='20' x2='42' y2='20' stroke='#1E4FA8' strokeWidth='1.4' markerEnd='url(#ar12c)' /&gt;&#10;          &lt;rect x='44' y='6' width='92' height='28' rx='14' fill='#E8EFF8' stroke='#1E4FA8' strokeWidth='1.6' /&gt;&#10;          &lt;text x='90' y='25' textAnchor='middle' fill='#0E3F8C' fontSize='11' fontWeight='bold'&gt;Take order&lt;/text&gt;&#10;          &lt;line x1='90' y1='34' x2='90' y2='56' stroke='#1E4FA8' strokeWidth='1.4' markerEnd='url(#ar12c)' /&gt;&#10;          &lt;line x1='30' y1='58' x2='250' y2='58' stroke='#1E4FA8' strokeWidth='5' /&gt;&#10;          &lt;line x1='30' y1='58' x2='30' y2='76' stroke='#1E4FA8' strokeWidth='1.4' markerEnd='url(#ar12c)' /&gt;&#10;          &lt;line x1='250' y1='58' x2='250' y2='76' stroke='#1E4FA8' strokeWidth='1.4' markerEnd='url(#ar12c)' /&gt;&#10;          &lt;rect x='4' y='78' width='112' height='30' rx='15' fill='#FFFFFF' stroke='#1E4FA8' strokeWidth='1.6' /&gt;&#10;          &lt;text x='60' y='97' textAnchor='middle' fill='#0E3F8C' fontSize='11' fontWeight='bold'&gt;Prepare food&lt;/text&gt;&#10;          &lt;rect x='184' y='78' width='116' height='30' rx='15' fill='#FFFFFF' stroke='#1E4FA8' strokeWidth='1.6' /&gt;&#10;          &lt;text x='242' y='97' textAnchor='middle' fill='#0E3F8C' fontSize='11' fontWeight='bold'&gt;Assign courier&lt;/text&gt;&#10;          &lt;line x1='60' y1='108' x2='60' y2='128' stroke='#1E4FA8' strokeWidth='1.4' markerEnd='url(#ar12c)' /&gt;&#10;          &lt;line x1='242' y1='108' x2='242' y2='128' stroke='#1E4FA8' strokeWidth='1.4' markerEnd='url(#ar12c)' /&gt;&#10;          &lt;line x1='30' y1='130' x2='250' y2='130' stroke='#1E4FA8' strokeWidth='5' /&gt;&#10;          &lt;line x1='140' y1='130' x2='140' y2='150' stroke='#1E4FA8' strokeWidth='1.4' markerEnd='url(#ar12c)' /&gt;&#10;          &lt;rect x='90' y='152' width='100' height='30' rx='15' fill='#E8EFF8' stroke='#1E4FA8' strokeWidth='1.6' /&gt;&#10;          &lt;text x='140' y='171' textAnchor='middle' fill='#0E3F8C' fontSize='11' fontWeight='bold'&gt;Notify customer&lt;/text&gt;&#10;        &lt;/svg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thick bars are fork and join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5495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Cheat Sheet — Sequence, State, Activity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81000" y="2200275"/>
            <a:ext cx="2600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Sequence — time runs downward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57450"/>
            <a:ext cx="3619500" cy="2857500"/>
          </a:xfrm>
          <a:prstGeom prst="rect">
            <a:avLst/>
          </a:prstGeom>
          <a:ln/>
        </p:spPr>
      </p:pic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81000" y="53721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Dashed lifeline · narrow activation bar · solid arrow = call, dashed arrow = return.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591175" y="1543050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State — one object, its whole life</a:t>
            </a:r>
            <a:endParaRPr/>
          </a:p>
        </p:txBody>
      </p:sp>
      <p:pic>
        <p:nvPicPr>
          <p:cNvPr id="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591175" y="1781175"/>
            <a:ext cx="4000500" cy="1600200"/>
          </a:xfrm>
          <a:prstGeom prst="rect">
            <a:avLst/>
          </a:prstGeom>
          <a:ln/>
        </p:spPr>
      </p:pic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591175" y="3476625"/>
            <a:ext cx="6219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Activity — steps, and the ones that overlap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591175" y="3714750"/>
            <a:ext cx="4000500" cy="25336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2476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thick bars are fork and join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Notation&lt;br /&gt;Boot Camp&lt;/Text&gt;&#10;      &lt;Box style={{ width: 64, height: 4, background: '#FFC107', marginTop: 26, marginBottom: 26 }} /&gt;&#10;      &lt;Box style={{ flexDirection: 'column', gap: 12 }}&gt;&#10;        {[&#10;          'The class box, top to bottom',&#10;          'Associations: name, role, multiplicity, direction',&#10;          'Lifelines and the messages between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Notation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Boot Camp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400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class box, top to bottom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876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Associations: name, role, multiplicity, direction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Lifelines and the messages between them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Class Box Anatomy&lt;/Text&gt;&#10;    &lt;Text style={{ fontSize: 14, color: '#1E4FA8', fontWeight: 'bold' }}&gt;14 / 38&lt;/Text&gt;&#10;  &lt;/Box&gt;&#10;  &lt;Box style={{ flex: 1, padding: '4px 40px 0 40px', justifyContent: 'center', alignItems: 'center' }}&gt;&#10;    &lt;svg width={1180} height={380} viewBox='0 0 1180 380'&gt;&#10;      &lt;rect x='420' y='24' width='360' height='256' rx='4' fill='#FFFFFF' stroke='#1E4FA8' strokeWidth='2' /&gt;&#10;      &lt;line x1='420' y1='64' x2='780' y2='64' stroke='#1E4FA8' strokeWidth='1.6' /&gt;&#10;      &lt;line x1='420' y1='188' x2='780' y2='188' stroke='#1E4FA8' strokeWidth='1.6' /&gt;&#10;      &lt;text x='600' y='52' textAnchor='middle' fill='#0E3F8C' fontSize='17' fontWeight='bold'&gt;Order&lt;/text&gt;&#10;      &lt;text x='436' y='90' fill='#4A5568' fontSize='12.5'&gt;- status : OrderStatus&lt;/text&gt;&#10;      &lt;text x='436' y='113' fill='#4A5568' fontSize='12.5'&gt;- placedAt : LocalDateTime&lt;/text&gt;&#10;      &lt;text x='436' y='136' fill='#4A5568' fontSize='12.5'&gt;- lines : List&amp;amp;lt;OrderLine&amp;amp;gt;&lt;/text&gt;&#10;      &lt;text x='436' y='166' fill='#3D7BD9' fontSize='12.5' fontStyle='italic'&gt;/total : Money&lt;/text&gt;&#10;      &lt;text x='436' y='212' fill='#4A5568' fontSize='12.5'&gt;+ total() : Money&lt;/text&gt;&#10;      &lt;text x='436' y='235' fill='#4A5568' fontSize='12.5'&gt;+ addItem(item : MenuItem, qty : int)&lt;/text&gt;&#10;      &lt;text x='436' y='262' fill='#4A5568' fontSize='12.5'&gt;+ cancel(reason : String)&lt;/text&gt;&#10;&#10;      &lt;line x1='404' y1='48' x2='418' y2='48' stroke='#D6DCE5' strokeWidth='1.4' /&gt;&#10;      &lt;text x='400' y='40' textAnchor='end' fill='#0E3F8C' fontSize='16' fontWeight='bold'&gt;1 · Class name&lt;/text&gt;&#10;      &lt;text x='400' y='60' textAnchor='end' fill='#8B97A8' fontSize='12.5'&gt;Singular noun, UpperCamelCase&lt;/text&gt;&#10;&#10;      &lt;line x1='404' y1='130' x2='418' y2='130' stroke='#D6DCE5' strokeWidth='1.4' /&gt;&#10;      &lt;text x='400' y='122' textAnchor='end' fill='#0E3F8C' fontSize='16' fontWeight='bold'&gt;2 · Attributes&lt;/text&gt;&#10;      &lt;text x='400' y='142' textAnchor='end' fill='#8B97A8' fontSize='12.5'&gt;What each object knows&lt;/text&gt;&#10;&#10;      &lt;line x1='404' y1='238' x2='418' y2='238' stroke='#D6DCE5' strokeWidth='1.4' /&gt;&#10;      &lt;text x='400' y='230' textAnchor='end' fill='#0E3F8C' fontSize='16' fontWeight='bold'&gt;3 · Operations&lt;/text&gt;&#10;      &lt;text x='400' y='250' textAnchor='end' fill='#8B97A8' fontSize='12.5'&gt;What each object can be asked&lt;/text&gt;&#10;&#10;      &lt;line x1='782' y1='48' x2='796' y2='48' stroke='#D6DCE5' strokeWidth='1.4' /&gt;&#10;      &lt;text x='800' y='40' fill='#0E3F8C' fontSize='16' fontWeight='bold'&gt;Stereotypes&lt;/text&gt;&#10;      &lt;text x='800' y='60' fill='#8B97A8' fontSize='12.5'&gt;Name in italics = abstract&lt;/text&gt;&#10;      &lt;text x='800' y='78' fill='#8B97A8' fontSize='12.5'&gt;«interface» above the name = pure contract&lt;/text&gt;&#10;&#10;      &lt;line x1='782' y1='130' x2='796' y2='130' stroke='#D6DCE5' strokeWidth='1.4' /&gt;&#10;      &lt;text x='800' y='122' fill='#0E3F8C' fontSize='16' fontWeight='bold'&gt;Syntax&lt;/text&gt;&#10;      &lt;text x='800' y='142' fill='#4A5568' fontSize='12.5'&gt;visibility name : type&lt;/text&gt;&#10;      &lt;text x='800' y='160' fill='#8B97A8' fontSize='12'&gt;A leading / means the value is derived,&lt;/text&gt;&#10;      &lt;text x='800' y='177' fill='#8B97A8' fontSize='12'&gt;never stored — total() is computed.&lt;/text&gt;&#10;&#10;      &lt;line x1='782' y1='238' x2='796' y2='238' stroke='#D6DCE5' strokeWidth='1.4' /&gt;&#10;      &lt;text x='800' y='230' fill='#0E3F8C' fontSize='16' fontWeight='bold'&gt;Syntax&lt;/text&gt;&#10;      &lt;text x='800' y='250' fill='#4A5568' fontSize='12.5'&gt;vis name(params) : returnType&lt;/text&gt;&#10;      &lt;text x='800' y='268' fill='#8B97A8' fontSize='12'&gt;Skip the compartment you do not need.&lt;/text&gt;&#10;&#10;      &lt;line x1='20' y1='312' x2='1160' y2='312' stroke='#E5E7EB' strokeWidth='1' /&gt;&#10;      &lt;text x='20' y='342' fill='#1A2230' fontSize='15'&gt;Three compartments, not three obligations. On a whiteboard, a bare box with a name is a legitimate class — as long as the reader knows you chose it.&lt;/text&gt;&#10;      &lt;text x='20' y='366' fill='#8B97A8' fontSize='13'&gt;Weeks 06–07 decide what goes in these compartments. This week is only about reading them.&lt;/text&gt;&#10;    &lt;/svg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686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Class Box Anatomy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pic>
        <p:nvPicPr>
          <p:cNvPr id="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57400"/>
            <a:ext cx="11239500" cy="3619500"/>
          </a:xfrm>
          <a:prstGeom prst="rect">
            <a:avLst/>
          </a:prstGeom>
          <a:ln/>
        </p:spPr>
      </p:pic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spTree>
      <p:nvGrpSpPr>
        <p:cNvPr id="8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6px 40px 0 40px' }}&gt;&#10;    &lt;Text style={{ fontSize: 30, fontWeight: 'bold', color: '#0E3F8C' }}&gt;Visibility Marks&lt;/Text&gt;&#10;  &lt;/Box&gt;&#10;  &lt;Box style={{ flex: 1, padding: '12px 40px 0 40px', flexDirection: 'row', gap: 16, alignItems: 'center' }}&gt;&#10;    {[&#10;      { m: '+', n: 'public', j: 'public', d: 'Part of the contract. Any class may call it.', hint: 'Use it for operations, rarely for fields.' },&#10;      { m: '−', n: 'private', j: 'private', d: 'Visible only inside this class. The default choice.', hint: 'If a field has no reason to be public, this is its mark.' },&#10;      { m: '#', n: 'protected', j: 'protected', d: 'This class and its subclasses.', hint: 'Legitimate — but it couples you to the hierarchy.' },&#10;      { m: '~', n: 'package', j: '(no keyword)', d: 'Everything in the same package.', hint: 'Rare in analysis models; appears in code-level diagrams.' },&#10;    ].map((v) =&gt; (&#10;      &lt;Box key={v.n} style={{ flex: 1, padding: '18px 18px', background: '#F7F9FC', borderRadius: 10, border: '1px solid #E5E7EB', flexDirection: 'column', gap: 8, alignItems: 'center' }}&gt;&#10;        &lt;Text style={{ fontSize: 62, fontWeight: 'bold', color: '#1E4FA8', fontFamily: 'Georgia, serif', lineHeight: 1 }}&gt;{v.m}&lt;/Text&gt;&#10;        &lt;Text style={{ fontSize: 19, fontWeight: 'bold', color: '#0E3F8C' }}&gt;{v.n}&lt;/Text&gt;&#10;        &lt;Box style={{ padding: '4px 12px', background: '#E8EFF8', borderRadius: 12 }}&gt;&#10;          &lt;Text style={{ fontSize: 12.5, color: '#1E4FA8', fontWeight: 'bold' }}&gt;In code: {v.j}&lt;/Text&gt;&#10;        &lt;/Box&gt;&#10;        &lt;Text style={{ fontSize: 13.5, color: '#4A5568', lineHeight: 1.5, textAlign: 'center' }}&gt;{v.d}&lt;/Text&gt;&#10;        &lt;Text style={{ fontSize: 12.5, color: '#8B97A8', lineHeight: 1.45, textAlign: 'center', fontStyle: 'italic' }}&gt;{v.hint}&lt;/Text&gt;&#10;      &lt;/Box&gt;&#10;    ))}&#10;  &lt;/Box&gt;&#10;  &lt;Box style={{ height: 46, background: '#0E3F8C', padding: '0 40px', flexDirection: 'row', alignItems: 'center', justifyContent: 'center' }}&gt;&#10;    &lt;Text style={{ fontSize: 17, color: '#FFFFFF', fontWeight: '600' }}&gt;Default to − and open up only with a reason. Encapsulation is a visibility decision before it is anything el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Visibility Marks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" y="2733675"/>
            <a:ext cx="2743200" cy="2247900"/>
          </a:xfrm>
          <a:prstGeom prst="roundRect">
            <a:avLst>
              <a:gd name="adj" fmla="val 423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543050" y="2905125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+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485900" y="3695700"/>
            <a:ext cx="533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1219200" y="3990975"/>
            <a:ext cx="10763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333500" y="4029075"/>
            <a:ext cx="8477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public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81025" y="4286250"/>
            <a:ext cx="2352675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Part of the contract. Any class may call it.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81050" y="4600575"/>
            <a:ext cx="19526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Use it for operations, rarely for fields.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276600" y="2514600"/>
            <a:ext cx="2743200" cy="2686050"/>
          </a:xfrm>
          <a:prstGeom prst="roundRect">
            <a:avLst>
              <a:gd name="adj" fmla="val 354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438650" y="26860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4650" b="1">
                <a:solidFill>
                  <a:srgbClr val="1E4FA8"/>
                </a:solidFill>
                <a:latin typeface="Georgia"/>
                <a:ea typeface="Georgia"/>
              </a:rPr>
              <a:t>−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52925" y="3476625"/>
            <a:ext cx="600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095750" y="3771900"/>
            <a:ext cx="11144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210050" y="3810000"/>
            <a:ext cx="8858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private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3448050" y="4067175"/>
            <a:ext cx="2400300" cy="4667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Visible only inside this class. The default choice.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448050" y="46101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a field has no reason to be public, this is its mark.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3342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#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134225" y="3590925"/>
            <a:ext cx="828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915150" y="3886200"/>
            <a:ext cx="1266825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029450" y="3924300"/>
            <a:ext cx="10382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protected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696075" y="4181475"/>
            <a:ext cx="169545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This class and its subclasses.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3436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Legitimate — but it couples you to the hierarchy.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9067800" y="2628900"/>
            <a:ext cx="2743200" cy="2457450"/>
          </a:xfrm>
          <a:prstGeom prst="roundRect">
            <a:avLst>
              <a:gd name="adj" fmla="val 387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0229850" y="2800350"/>
            <a:ext cx="41910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E4FA8"/>
                </a:solidFill>
                <a:latin typeface="Georgia"/>
                <a:ea typeface="Georgia"/>
              </a:rPr>
              <a:t>~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10077450" y="3590925"/>
            <a:ext cx="7334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705975" y="3886200"/>
            <a:ext cx="1466850" cy="219075"/>
          </a:xfrm>
          <a:prstGeom prst="roundRect">
            <a:avLst>
              <a:gd name="adj" fmla="val 5217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820275" y="3924300"/>
            <a:ext cx="1238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In code: </a:t>
            </a:r>
            <a:r>
              <a:rPr lang="en-US" sz="938" b="1">
                <a:solidFill>
                  <a:srgbClr val="1E4FA8"/>
                </a:solidFill>
                <a:latin typeface="Microsoft YaHei"/>
                <a:ea typeface="Microsoft YaHei"/>
              </a:rPr>
              <a:t>(no keyword)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505950" y="4181475"/>
            <a:ext cx="1866900" cy="23812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in the same package.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239250" y="4495800"/>
            <a:ext cx="2400300" cy="41910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45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Rare in analysis models; appears in code-level diagrams.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971675" y="6543675"/>
            <a:ext cx="8248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 to − and open up only with a reason. Encapsulation is a visibility decision before it is anything else.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baseline', justifyContent: 'space-between' }}&gt;&#10;    &lt;Text style={{ fontSize: 30, fontWeight: 'bold', color: '#0E3F8C' }}&gt;Association Anatomy&lt;/Text&gt;&#10;    &lt;Text style={{ fontSize: 14, color: '#1E4FA8', fontWeight: 'bold' }}&gt;16 / 38&lt;/Text&gt;&#10;  &lt;/Box&gt;&#10;  &lt;Box style={{ flex: 1, padding: '2px 40px 0 40px', justifyContent: 'center', alignItems: 'center' }}&gt;&#10;    &lt;svg width={1180} height={372} viewBox='0 0 1180 372'&gt;&#10;      &lt;defs&gt;&#10;        &lt;marker id='ar16' markerWidth='10' markerHeight='10' refX='9' refY='5' orient='auto'&gt;&#10;          &lt;path d='M0,0 L10,5 L0,10 z' fill='none' stroke='#1E4FA8' strokeWidth='1.6' /&gt;&#10;        &lt;/marker&gt;&#10;      &lt;/defs&gt;&#10;&#10;      &lt;rect x='100' y='60' width='280' height='150' rx='4' fill='#FFFFFF' stroke='#1E4FA8' strokeWidth='2' /&gt;&#10;      &lt;line x1='100' y1='94' x2='380' y2='94' stroke='#1E4FA8' strokeWidth='1.6' /&gt;&#10;      &lt;text x='240' y='82' textAnchor='middle' fill='#0E3F8C' fontSize='16' fontWeight='bold'&gt;Order&lt;/text&gt;&#10;      &lt;text x='116' y='120' fill='#4A5568' fontSize='12'&gt;- status : OrderStatus&lt;/text&gt;&#10;      &lt;text x='116' y='142' fill='#4A5568' fontSize='12'&gt;- placedAt : LocalDateTime&lt;/text&gt;&#10;      &lt;text x='116' y='178' fill='#4A5568' fontSize='12'&gt;+ total() : Money&lt;/text&gt;&#10;&#10;      &lt;rect x='800' y='60' width='280' height='150' rx='4' fill='#FFFFFF' stroke='#1E4FA8' strokeWidth='2' /&gt;&#10;      &lt;line x1='800' y1='94' x2='1080' y2='94' stroke='#1E4FA8' strokeWidth='1.6' /&gt;&#10;      &lt;text x='940' y='82' textAnchor='middle' fill='#0E3F8C' fontSize='16' fontWeight='bold'&gt;MenuItem&lt;/text&gt;&#10;      &lt;text x='816' y='120' fill='#4A5568' fontSize='12'&gt;- name : String&lt;/text&gt;&#10;      &lt;text x='816' y='142' fill='#4A5568' fontSize='12'&gt;- price : Money&lt;/text&gt;&#10;      &lt;text x='816' y='178' fill='#4A5568' fontSize='12'&gt;+ isAvailable() : boolean&lt;/text&gt;&#10;&#10;      &lt;line x1='380' y1='155' x2='798' y2='155' stroke='#1E4FA8' strokeWidth='2' markerEnd='url(#ar16)' /&gt;&#10;&#10;      &lt;circle cx='392' cy='120' r='13' fill='#1E4FA8' /&gt;&#10;      &lt;text x='392' y='125' textAnchor='middle' fill='#FFFFFF' fontSize='13' fontWeight='bold'&gt;1&lt;/text&gt;&#10;      &lt;text x='392' y='147' textAnchor='middle' fill='#0E3F8C' fontSize='13' fontWeight='bold'&gt;1&lt;/text&gt;&#10;&#10;      &lt;text x='556' y='178' textAnchor='end' fill='#1A2230' fontSize='14' fontStyle='italic'&gt;contains&lt;/text&gt;&#10;      &lt;polygon points='566,171 578,174.5 566,178' fill='#1A2230' /&gt;&#10;      &lt;circle cx='560' cy='208' r='13' fill='#1E4FA8' /&gt;&#10;      &lt;text x='560' y='213' textAnchor='middle' fill='#FFFFFF' fontSize='13' fontWeight='bold'&gt;2&lt;/text&gt;&#10;&#10;      &lt;circle cx='668' cy='120' r='13' fill='#1E4FA8' /&gt;&#10;      &lt;text x='668' y='125' textAnchor='middle' fill='#FFFFFF' fontSize='13' fontWeight='bold'&gt;3&lt;/text&gt;&#10;      &lt;text x='668' y='147' textAnchor='middle' fill='#0E3F8C' fontSize='13' fontWeight='bold'&gt;items&lt;/text&gt;&#10;&#10;      &lt;text x='782' y='147' textAnchor='middle' fill='#0E3F8C' fontSize='13' fontWeight='bold'&gt;1..*&lt;/text&gt;&#10;      &lt;circle cx='775' cy='192' r='13' fill='#1E4FA8' /&gt;&#10;      &lt;text x='775' y='197' textAnchor='middle' fill='#FFFFFF' fontSize='13' fontWeight='bold'&gt;4&lt;/text&gt;&#10;&#10;      &lt;line x1='20' y1='248' x2='1160' y2='248' stroke='#E5E7EB' strokeWidth='1' /&gt;&#10;&#10;      &lt;g transform='translate(2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1&lt;/text&gt;&#10;        &lt;text x='42' y='20' fill='#0E3F8C' fontSize='15' fontWeight='bold'&gt;Multiplicity&lt;/text&gt;&#10;        &lt;text x='42' y='40' fill='#4A5568' fontSize='12'&gt;How many may sit at this end.&lt;/text&gt;&#10;        &lt;text x='42' y='58' fill='#4A5568' fontSize='12'&gt;Read it aloud: one Order&lt;/text&gt;&#10;        &lt;text x='42' y='75' fill='#4A5568' fontSize='12'&gt;contains 1..* items.&lt;/text&gt;&#10;      &lt;/g&gt;&#10;      &lt;g transform='translate(315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2&lt;/text&gt;&#10;        &lt;text x='42' y='20' fill='#0E3F8C' fontSize='15' fontWeight='bold'&gt;Association name&lt;/text&gt;&#10;        &lt;text x='42' y='40' fill='#4A5568' fontSize='12'&gt;What the link means, read left&lt;/text&gt;&#10;        &lt;text x='42' y='58' fill='#4A5568' fontSize='12'&gt;to right. Optional — but it&lt;/text&gt;&#10;        &lt;text x='42' y='75' fill='#4A5568' fontSize='12'&gt;removes every second guess.&lt;/text&gt;&#10;      &lt;/g&gt;&#10;      &lt;g transform='translate(610,266)'&gt;&#10;        &lt;rect x='0' y='0' width='270' height='86' rx='8' fill='#F0F5FC' stroke='#D6DCE5' strokeWidth='1' /&gt;&#10;        &lt;circle cx='22' cy='22' r='12' fill='#1E4FA8' /&gt;&#10;        &lt;text x='22' y='27' textAnchor='middle' fill='#FFFFFF' fontSize='12' fontWeight='bold'&gt;3&lt;/text&gt;&#10;        &lt;text x='42' y='20' fill='#0E3F8C' fontSize='15' fontWeight='bold'&gt;Role&lt;/text&gt;&#10;        &lt;text x='42' y='40' fill='#4A5568' fontSize='12'&gt;The name this class gives the&lt;/text&gt;&#10;        &lt;text x='42' y='58' fill='#4A5568' fontSize='12'&gt;other one. It usually becomes&lt;/text&gt;&#10;        &lt;text x='42' y='75' fill='#4A5568' fontSize='12'&gt;a field name in the code.&lt;/text&gt;&#10;      &lt;/g&gt;&#10;      &lt;g transform='translate(905,266)'&gt;&#10;        &lt;rect x='0' y='0' width='255' height='86' rx='8' fill='#F0F5FC' stroke='#D6DCE5' strokeWidth='1' /&gt;&#10;        &lt;circle cx='22' cy='22' r='12' fill='#1E4FA8' /&gt;&#10;        &lt;text x='22' y='27' textAnchor='middle' fill='#FFFFFF' fontSize='12' fontWeight='bold'&gt;4&lt;/text&gt;&#10;        &lt;text x='42' y='20' fill='#0E3F8C' fontSize='15' fontWeight='bold'&gt;Navigability&lt;/text&gt;&#10;        &lt;text x='42' y='40' fill='#4A5568' fontSize='12'&gt;The open arrow says: Order&lt;/text&gt;&#10;        &lt;text x='42' y='58' fill='#4A5568' fontSize='12'&gt;holds a reference, MenuItem&lt;/text&gt;&#10;        &lt;text x='42' y='75' fill='#4A5568' fontSize='12'&gt;does not look back.&lt;/text&gt;&#10;      &lt;/g&gt;&#10;    &lt;/svg&gt;&#10;  &lt;/Box&gt;&#10;  &lt;Box style={{ height: 32, padding: '0 40px', flexDirection: 'row', alignItems: 'center', justifyContent: 'space-between' }}&gt;&#10;    &lt;Text style={{ fontSize: 13, color: '#8B97A8' }}&gt;ISAD · Fall 2026 · aggregation and composition diamonds: Week 07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Association Anatomy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095500"/>
            <a:ext cx="11239500" cy="354330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3743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aggregation and composition diamonds: Week 07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18px 40px 0 40px', flexDirection: 'row', gap: 28 }}&gt;&#10;    &lt;Box style={{ width: 330, flexDirection: 'column', gap: 14, justifyContent: 'center' }}&gt;&#10;      &lt;Text style={{ fontSize: 32, fontWeight: 'bold', color: '#0E3F8C', lineHeight: 1.2 }}&gt;Multiplicity&lt;br /&gt;in Practice&lt;/Text&gt;&#10;      &lt;Box style={{ width: 56, height: 4, background: '#FFC107' }} /&gt;&#10;      &lt;Text style={{ fontSize: 15, color: '#4A5568', lineHeight: 1.6 }}&gt;A multiplicity is a constraint, not a comment. It is the first thing a reviewer should attack, because a wrong one silently breaks the code that follows.&lt;/Text&gt;&#10;      &lt;Box style={{ padding: '14px 16px', background: '#F0F5FC', borderRadius: 9, borderLeft: '4px solid #1E4FA8' }}&gt;&#10;        &lt;Text style={{ fontSize: 14, color: '#0E3F8C', lineHeight: 1.5, fontWeight: 'bold' }}&gt;Read it from the far end, out loud.&lt;/Text&gt;&#10;      &lt;/Box&gt;&#10;      &lt;Text style={{ fontSize: 13.5, color: '#8B97A8', lineHeight: 1.5 }}&gt;&quot;One Restaurant offers 1..* MenuItems.&quot; If the sentence sounds wrong, the number is wrong.&lt;/Text&gt;&#10;    &lt;/Box&gt;&#10;    &lt;Box style={{ flex: 1, flexDirection: 'column', gap: 10, justifyContent: 'center' }}&gt;&#10;      {[&#10;        { m: '1', n: 'exactly one', e: 'Each OrderLine belongs to exactly 1 Order.', w: 'A line with no order is meaningless — so the model forbids it.' },&#10;        { m: '0..1', n: 'optional', e: 'An Order has 0..1 Payment.', w: 'Unpaid is a legal state; do not force a Payment at construction.' },&#10;        { m: '*', n: 'zero or more', e: 'A Restaurant offers * MenuItems.', w: 'A brand-new restaurant with an empty menu is still valid.' },&#10;        { m: '1..*', n: 'at least one', e: 'An Order has 1..* OrderLines.', w: 'This is the rule that stops the empty order reaching the kitchen.' },&#10;        { m: 'm..n', n: 'a bounded range', e: 'A delivery slot takes 1..5 Orders.', w: 'Ranges carry a real business limit — the courier has one bag.' },&#10;      ].map((r) =&gt; (&#10;        &lt;Box key={r.m} style={{ flexDirection: 'row', alignItems: 'center', gap: 16, padding: '12px 18px', background: '#F7F9FC', borderRadius: 10, border: '1px solid #E5E7EB' }}&gt;&#10;          &lt;Box style={{ width: 92, alignItems: 'center', padding: '6px 0', background: '#0E3F8C', borderRadius: 8 }}&gt;&#10;            &lt;Text style={{ fontSize: 18, fontWeight: 'bold', color: '#FFFFFF', fontFamily: 'Georgia, serif' }}&gt;{r.m}&lt;/Text&gt;&#10;          &lt;/Box&gt;&#10;          &lt;Box style={{ flex: 1, flexDirection: 'column', gap: 2 }}&gt;&#10;            &lt;Text style={{ fontSize: 16, fontWeight: 'bold', color: '#0E3F8C' }}&gt;{r.n} — &lt;Text style={{ fontWeight: 'normal', color: '#1A2230' }}&gt;{r.e}&lt;/Text&gt;&lt;/Text&gt;&#10;            &lt;Text style={{ fontSize: 13, color: '#8B97A8', lineHeight: 1.4 }}&gt;{r.w}&lt;/Text&gt;&#10;          &lt;/Box&gt;&#10;        &lt;/Box&gt;&#10;      ))}&#10;    &lt;/Box&gt;&#10;  &lt;/Box&gt;&#10;  &lt;Box style={{ height: 44, background: '#0E3F8C', padding: '0 40px', flexDirection: 'row', alignItems: 'center', justifyContent: 'center' }}&gt;&#10;    &lt;Text style={{ fontSize: 17, color: '#FFFFFF', fontWeight: '600' }}&gt;Every multiplicity you write is a rule the database and the constructor will have to enfor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019300"/>
            <a:ext cx="3143250" cy="8858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Multiplicity</a:t>
            </a:r>
            <a:endParaRPr/>
          </a:p>
          <a:p>
            <a:pPr>
              <a:lnSpc>
                <a:spcPct val="12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 Practice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381000" y="303847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3209925"/>
            <a:ext cx="31432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multiplicity is a constraint, not a comment. It is the first thing a reviewer should attack, because a wrong one silently breaks the code that follows.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419100" y="4171950"/>
            <a:ext cx="31432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19100" y="4171950"/>
            <a:ext cx="3143250" cy="514350"/>
          </a:xfrm>
          <a:custGeom>
            <a:pathLst>
              <a:path w="330" h="54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9"/>
                </a:lnTo>
                <a:cubicBezTo>
                  <a:pt x="4" y="51"/>
                  <a:pt x="6" y="53"/>
                  <a:pt x="8" y="54"/>
                </a:cubicBezTo>
                <a:cubicBezTo>
                  <a:pt x="4" y="54"/>
                  <a:pt x="0" y="50"/>
                  <a:pt x="0" y="45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28003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Read it from the far end, out loud.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381000" y="4819650"/>
            <a:ext cx="3143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"One Restaurant offers 1..* MenuItems." If the sentence sounds wrong, the number is wrong.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790950" y="18383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3962400" y="20002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362450" y="20574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991100" y="19526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exactly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Each OrderLine belongs to exactly 1 Order.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991100" y="21621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line with no order is meaningless — so the model forbids it.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790950" y="25812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3962400" y="27432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38625" y="2800350"/>
            <a:ext cx="32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0..1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991100" y="26955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optional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0..1 Payment.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991100" y="29051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Unpaid is a legal state; do not force a Payment at construction.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3790950" y="33242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3962400" y="34861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362450" y="3543300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*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991100" y="34385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zero or more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Restaurant offers * MenuItems.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991100" y="36480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 brand-new restaurant with an empty menu is still valid.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790950" y="406717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3962400" y="422910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257675" y="4286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1..*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991100" y="418147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at least one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An Order has 1..* OrderLines.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991100" y="439102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is the rule that stops the empty order reaching the kitchen.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3790950" y="4810125"/>
            <a:ext cx="8020050" cy="647700"/>
          </a:xfrm>
          <a:prstGeom prst="roundRect">
            <a:avLst>
              <a:gd name="adj" fmla="val 1470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3962400" y="4972050"/>
            <a:ext cx="876300" cy="323850"/>
          </a:xfrm>
          <a:prstGeom prst="roundRect">
            <a:avLst>
              <a:gd name="adj" fmla="val 2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200525" y="5029200"/>
            <a:ext cx="409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Georgia"/>
                <a:ea typeface="Georgia"/>
              </a:rPr>
              <a:t>m..n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991100" y="4924425"/>
            <a:ext cx="664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bounded range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 — </a:t>
            </a: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 delivery slot takes 1..5 Orders.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991100" y="5133975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Ranges carry a real business limit — the courier has one bag.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2619375" y="6553200"/>
            <a:ext cx="695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multiplicity you write is a rule the database and the constructor will have to enforce.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padding: '14px 40px 0 40px', flexDirection: 'row', alignItems: 'center', justifyContent: 'space-between' }}&gt;&#10;    &lt;Text style={{ fontSize: 30, fontWeight: 'bold', color: '#0E3F8C' }}&gt;Lifelines &amp;amp; Messages&lt;/Text&gt;&#10;    &lt;Text style={{ fontSize: 14, color: '#1E4FA8', fontWeight: 'bold' }}&gt;18 / 38&lt;/Text&gt;&#10;  &lt;/Box&gt;&#10;  &lt;Box style={{ flex: 1, padding: '6px 40px 0 40px', flexDirection: 'row', gap: 26 }}&gt;&#10;    &lt;Box style={{ flex: 5, justifyContent: 'center', alignItems: 'center' }}&gt;&#10;      &lt;svg width={560} height={400} viewBox='0 0 560 400'&gt;&#10;        &lt;defs&gt;&#10;          &lt;marker id='f18' markerWidth='9' markerHeight='9' refX='8' refY='4.5' orient='auto'&gt;&#10;            &lt;path d='M0,0 L9,4.5 L0,9 z' fill='#1E4FA8' /&gt;&#10;          &lt;/marker&gt;&#10;          &lt;marker id='o18' markerWidth='9' markerHeight='9' refX='8' refY='4.5' orient='auto'&gt;&#10;            &lt;path d='M0,0 L9,4.5 L0,9 z' fill='#FFFFFF' stroke='#1E4FA8' strokeWidth='1.4' /&gt;&#10;          &lt;/marker&gt;&#10;        &lt;/defs&gt;&#10;&#10;        &lt;rect x='20' y='18' width='150' height='30' rx='3' fill='#E8EFF8' stroke='#1E4FA8' strokeWidth='1.6' /&gt;&#10;        &lt;text x='95' y='38' textAnchor='middle' fill='#0E3F8C' fontSize='11.5' fontWeight='bold'&gt;:OrderController&lt;/text&gt;&#10;        &lt;rect x='200' y='18' width='150' height='30' rx='3' fill='#E8EFF8' stroke='#1E4FA8' strokeWidth='1.6' /&gt;&#10;        &lt;text x='275' y='38' textAnchor='middle' fill='#0E3F8C' fontSize='11.5' fontWeight='bold'&gt;: Order&lt;/text&gt;&#10;&#10;        &lt;line x1='95' y1='48' x2='95' y2='384' stroke='#8B97A8' strokeWidth='1' strokeDasharray='4 3' /&gt;&#10;        &lt;line x1='275' y1='48' x2='275' y2='384' stroke='#8B97A8' strokeWidth='1' strokeDasharray='4 3' /&gt;&#10;        &lt;line x1='465' y1='190' x2='465' y2='384' stroke='#8B97A8' strokeWidth='1' strokeDasharray='4 3' /&gt;&#10;&#10;        &lt;rect x='269' y='80' width='13' height='190' fill='#DCE8F8' stroke='#3D7BD9' strokeWidth='1' /&gt;&#10;        &lt;rect x='459' y='222' width='13' height='56' fill='#DCE8F8' stroke='#3D7BD9' strokeWidth='1' /&gt;&#10;&#10;        &lt;line x1='95' y1='80' x2='267' y2='80' stroke='#1E4FA8' strokeWidth='1.6' markerEnd='url(#f18)' /&gt;&#10;        &lt;text x='104' y='74' fill='#1A2230' fontSize='11'&gt;submit(cart)&lt;/text&gt;&#10;        &lt;text x='288' y='74' fill='#8B97A8' fontSize='10'&gt;synchronous call&lt;/text&gt;&#10;&#10;        &lt;path d='M275,118 L308,118 L308,138 L279,138' fill='none' stroke='#1E4FA8' strokeWidth='1.6' markerEnd='url(#f18)' /&gt;&#10;        &lt;text x='316' y='130' fill='#1A2230' fontSize='11'&gt;validate()&lt;/text&gt;&#10;        &lt;text x='316' y='146' fill='#8B97A8' fontSize='10'&gt;self-message&lt;/text&gt;&#10;&#10;        &lt;rect x='390' y='160' width='150' height='30' rx='3' fill='#FFFFFF' stroke='#1E4FA8' strokeWidth='1.6' /&gt;&#10;        &lt;text x='465' y='180' textAnchor='middle' fill='#0E3F8C' fontSize='11.5' fontWeight='bold'&gt;: OrderLine&lt;/text&gt;&#10;        &lt;line x1='275' y1='175' x2='386' y2='175' stroke='#1E4FA8' strokeWidth='1.6' markerEnd='url(#f18)' /&gt;&#10;        &lt;text x='286' y='169' fill='#3D7BD9' fontSize='11'&gt;«create»&lt;/text&gt;&#10;&#10;        &lt;line x1='275' y1='238' x2='457' y2='238' stroke='#1E4FA8' strokeWidth='1.6' markerEnd='url(#f18)' /&gt;&#10;        &lt;text x='286' y='232' fill='#1A2230' fontSize='11'&gt;setQty(2)&lt;/text&gt;&#10;&#10;        &lt;line x1='465' y1='272' x2='279' y2='272' stroke='#3D7BD9' strokeWidth='1.6' strokeDasharray='5 3' markerEnd='url(#f18)' /&gt;&#10;        &lt;text x='292' y='266' fill='#3D7BD9' fontSize='11'&gt;subtotal : Money&lt;/text&gt;&#10;        &lt;text x='292' y='290' fill='#8B97A8' fontSize='10'&gt;dashed = return&lt;/text&gt;&#10;&#10;        &lt;line x1='275' y1='330' x2='99' y2='330' stroke='#1E4FA8' strokeWidth='1.6' markerEnd='url(#o18)' /&gt;&#10;        &lt;text x='120' y='324' fill='#1A2230' fontSize='11'&gt;notify()&lt;/text&gt;&#10;        &lt;text x='120' y='346' fill='#8B97A8' fontSize='10'&gt;open head = asynchronous&lt;/text&gt;&#10;      &lt;/svg&gt;&#10;    &lt;/Box&gt;&#10;    &lt;Box style={{ flex: 4, flexDirection: 'column', gap: 11, justifyContent: 'center' }}&gt;&#10;      {[&#10;        ['grip-lines-vertical', 'Lifeline', 'A dashed vertical line: this object exists and is available. It is not a thread.'],&#10;        ['bars-progress', 'Activation bar', 'The narrow box on the lifeline: this object is on the call stack right now.'],&#10;        ['arrow-right', 'Message', 'Filled head = a call that blocks. Open head = fire and forget. Dashed = the answer.'],&#10;        ['plus', 'Creation', 'The arrow points at the box, not at the lifeline — the object starts life mid-scenario.'],&#10;      ].map(([icon, t, d]) =&gt; (&#10;        &lt;Box key={t} style={{ flexDirection: 'row', gap: 12, alignItems: 'flex-start', padding: '13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6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DF3F3', borderRadius: 10, borderLeft: '4px solid #D9534F' }}&gt;&#10;        &lt;Text style={{ fontSize: 14, color: '#4A5568', lineHeight: 1.5 }}&gt;&lt;Text style={{ fontWeight: 'bold', color: '#D9534F' }}&gt;One diagram, one scenario.&lt;/Text&gt; Do not draw every branch on the same sheet — Week 08 shows what to do instead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895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Lifelines &amp; Messages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1971675"/>
            <a:ext cx="5334000" cy="38100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1714500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6991350" y="18383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1933575"/>
            <a:ext cx="171450" cy="17145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467600" y="18383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Lifeline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467600" y="2047875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dashed vertical line: this object exists and is available. It is not a thread.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2505075"/>
            <a:ext cx="497205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6991350" y="2628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2724150"/>
            <a:ext cx="171450" cy="17145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467600" y="2628900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Activation bar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narrow box on the lifeline: this object is on the call stack right now.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329565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6991350" y="34194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86600" y="3514725"/>
            <a:ext cx="171450" cy="17145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4676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Message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67600" y="362902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Filled head = a call that blocks. Open head = fire and forget. Dashed = the answer.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6838950" y="4305300"/>
            <a:ext cx="4972050" cy="904875"/>
          </a:xfrm>
          <a:prstGeom prst="roundRect">
            <a:avLst>
              <a:gd name="adj" fmla="val 1052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6991350" y="44291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86600" y="4524375"/>
            <a:ext cx="171450" cy="171450"/>
          </a:xfrm>
          <a:prstGeom prst="rect">
            <a:avLst/>
          </a:prstGeom>
          <a:ln/>
        </p:spPr>
      </p:pic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467600" y="442912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Creation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7467600" y="4638675"/>
            <a:ext cx="41910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points at the box, not at the lifeline — the object starts life mid-scenario.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6877050" y="53149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6877050" y="53149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7029450" y="5438775"/>
            <a:ext cx="46291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diagram, one scenario.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Do not draw every branch on the same sheet — Week 08 shows what to do instead.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9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NOTATION&lt;/Text&gt;&#10;  &lt;/Box&gt;&#10;  &lt;Box style={{ flex: 1, padding: '30px 80px 0 80px', flexDirection: 'column', justifyContent: 'center', alignItems: 'center', gap: 28 }}&gt;&#10;    &lt;Text style={{ fontSize: 40, fontWeight: 'bold', color: '#0E3F8C', fontFamily: 'Georgia, serif', textAlign: 'center', lineHeight: 1.25 }}&gt;&#10;      Drawing it correctly is not&lt;br /&gt;the same as saying something.&#10;    &lt;/Text&gt;&#10;    &lt;Box style={{ width: 80, height: 4, background: '#FFC107' }} /&gt;&#10;    &lt;Box style={{ flexDirection: 'column', gap: 16, width: '100%' }}&gt;&#10;      {[&#10;        {&#10;          i: 'check-double',&#10;          t: 'Syntax is the easy half',&#10;          d: 'Correct arrowheads, matching multiplicities, legal compartment syntax. A tool can check all of it for you — and a correct diagram can still say nothing at all.',&#10;        },&#10;        {&#10;          i: 'triangle-exclamation',&#10;          t: 'Semantics is where models fail',&#10;          d: 'A class called &quot;OrderManager&quot;, an association nobody can read aloud, a state diagram with no events. Every box is legal; the model conveys no decision.',&#10;        },&#10;      ].map((a) =&gt; (&#10;        &lt;Box key={a.t} style={{ flexDirection: 'row', gap: 18, padding: '20px 24px', background: '#F7F9FC', borderRadius: 12, border: '1px solid #E5E7EB', alignItems: 'flex-start' }}&gt;&#10;          &lt;Box style={{ width: 46, height: 46, borderRadius: 11, background: '#E8EFF8', justifyContent: 'center', alignItems: 'center' }}&gt;&#10;            &lt;FAIcon name={a.i} style={{ fill: '#1E4FA8', width: 22, height: 22 }} /&gt;&#10;          &lt;/Box&gt;&#10;          &lt;Box style={{ flex: 1, flexDirection: 'column', gap: 5 }}&gt;&#10;            &lt;Text style={{ fontSize: 19, fontWeight: 'bold', color: '#0E3F8C' }}&gt;{a.t}&lt;/Text&gt;&#10;            &lt;Text style={{ fontSize: 15, color: '#4A5568', lineHeight: 1.6 }}&gt;{a.d}&lt;/Text&gt;&#10;          &lt;/Box&gt;&#10;        &lt;/Box&gt;&#10;      ))}&#10;    &lt;/Box&gt;&#10;    &lt;Box style={{ padding: '16px 24px', background: '#0E3F8C', borderRadius: 10, width: '100%', flexDirection: 'column', gap: 4 }}&gt;&#10;      &lt;Text style={{ fontSize: 16, color: '#FFFFFF', fontWeight: 'bold' }}&gt;The test to apply to every diagram you draw this term&lt;/Text&gt;&#10;      &lt;Text style={{ fontSize: 15, color: '#C5D4EA', lineHeight: 1.55 }}&gt;Hand it to someone who was not in the room. If they cannot state back the decision you made, the notation was fine and the model was empty.&lt;/Text&gt;&#10;    &lt;/Box&gt;&#10;  &lt;/Box&gt;&#10;  &lt;Box style={{ height: 36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0668000" y="2571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NOTATION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143250" y="1076325"/>
            <a:ext cx="5915025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Drawing it correctly is not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the same as saying something.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0" y="2486025"/>
            <a:ext cx="762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762000" y="279082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990600" y="298132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04900" y="3095625"/>
            <a:ext cx="209550" cy="209550"/>
          </a:xfrm>
          <a:prstGeom prst="rect">
            <a:avLst/>
          </a:prstGeom>
          <a:ln/>
        </p:spPr>
      </p:pic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600200" y="298132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Syntax is the easy half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600200" y="324802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Correct arrowheads, matching multiplicities, legal compartment syntax. A tool can check all of it for you — and a correct diagram can still say nothing at all.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762000" y="4143375"/>
            <a:ext cx="10668000" cy="1200150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990600" y="4333875"/>
            <a:ext cx="438150" cy="438150"/>
          </a:xfrm>
          <a:prstGeom prst="roundRect">
            <a:avLst>
              <a:gd name="adj" fmla="val 2391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1104900" y="4448175"/>
            <a:ext cx="209550" cy="20955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1600200" y="4333875"/>
            <a:ext cx="960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Semantics is where models fail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1600200" y="4600575"/>
            <a:ext cx="9601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A class called "OrderManager", an association nobody can read aloud, a state diagram with no events. Every box is legal; the model conveys no decision.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762000" y="5610225"/>
            <a:ext cx="10668000" cy="800100"/>
          </a:xfrm>
          <a:prstGeom prst="roundRect">
            <a:avLst>
              <a:gd name="adj" fmla="val 119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90600" y="5762625"/>
            <a:ext cx="10210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The test to apply to every diagram you draw this term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990600" y="5991225"/>
            <a:ext cx="102108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Hand it to someone who was not in the room. If they cannot state back the decision you made, the notation was fine and the model was empty.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81000" y="661035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401425" y="6610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57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Modeling&lt;br /&gt;Workflow&lt;/Text&gt;&#10;      &lt;Box style={{ width: 64, height: 4, background: '#FFC107', marginTop: 26, marginBottom: 26 }} /&gt;&#10;      &lt;Box style={{ flexDirection: 'column', gap: 12 }}&gt;&#10;        {[&#10;          'Use case → domain model → sequence → design class',&#10;          'Each artefact feeds the next one',&#10;          'Iterate in passes; never finish one before starting two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Modeling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Workflow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Use case → domain model → sequence → design class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Each artefact feeds the next one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476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Iterate in passes; never finish one before starting two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baseline', justifyContent: 'space-between' }}&gt;&#10;    &lt;Text style={{ fontSize: 30, fontWeight: 'bold', color: '#0E3F8C' }}&gt;From Use Case to Design Class&lt;/Text&gt;&#10;    &lt;Text style={{ fontSize: 14, color: '#1E4FA8', fontWeight: 'bold' }}&gt;21 / 38&lt;/Text&gt;&#10;  &lt;/Box&gt;&#10;  &lt;Box style={{ flex: 1, padding: '4px 40px 0 40px', justifyContent: 'center', alignItems: 'center' }}&gt;&#10;    &lt;svg width={1180} height={372} viewBox='0 0 1180 372'&gt;&#10;      &lt;defs&gt;&#10;        &lt;marker id='ar21' markerWidth='10' markerHeight='10' refX='9' refY='5' orient='auto'&gt;&#10;          &lt;path d='M0,0 L10,5 L0,10 z' fill='#1E4FA8' /&gt;&#10;        &lt;/marker&gt;&#10;        &lt;marker id='ar21b' markerWidth='10' markerHeight='10' refX='9' refY='5' orient='auto'&gt;&#10;          &lt;path d='M0,0 L10,5 L0,10 z' fill='#FFC107' /&gt;&#10;        &lt;/marker&gt;&#10;      &lt;/defs&gt;&#10;&#10;      &lt;rect x='20' y='30' width='250' height='170' rx='8' fill='#FFFFFF' stroke='#1E4FA8' strokeWidth='2' /&gt;&#10;      &lt;rect x='20' y='30' width='250' height='34' rx='8' fill='#0E3F8C' /&gt;&#10;      &lt;text x='38' y='53' fill='#FFFFFF' fontSize='14' fontWeight='bold'&gt;01 · USE CASE&lt;/text&gt;&#10;      &lt;text x='145' y='92' textAnchor='middle' fill='#0E3F8C' fontSize='17' fontWeight='bold'&gt;Place an order&lt;/text&gt;&#10;      &lt;text x='38' y='122' fill='#8B97A8' fontSize='11.5' letterSpacing='1'&gt;ANSWERS&lt;/text&gt;&#10;      &lt;text x='38' y='142' fill='#1A2230' fontSize='13'&gt;What must the system do?&lt;/text&gt;&#10;      &lt;text x='38' y='172' fill='#8B97A8' fontSize='11.5' letterSpacing='1'&gt;PRODUCES&lt;/text&gt;&#10;      &lt;text x='38' y='192' fill='#1E4FA8' fontSize='13' fontWeight='bold'&gt;A scenario, step by step&lt;/text&gt;&#10;      &lt;line x1='270' y1='115' x2='316' y2='115' stroke='#1E4FA8' strokeWidth='2' markerEnd='url(#ar21)' /&gt;&#10;&#10;      &lt;rect x='320' y='30' width='250' height='170' rx='8' fill='#FFFFFF' stroke='#1E4FA8' strokeWidth='2' /&gt;&#10;      &lt;rect x='320' y='30' width='250' height='34' rx='8' fill='#1E4FA8' /&gt;&#10;      &lt;text x='338' y='53' fill='#FFFFFF' fontSize='14' fontWeight='bold'&gt;02 · DOMAIN MODEL&lt;/text&gt;&#10;      &lt;text x='445' y='92' textAnchor='middle' fill='#0E3F8C' fontSize='17' fontWeight='bold'&gt;The business words&lt;/text&gt;&#10;      &lt;text x='338' y='122' fill='#8B97A8' fontSize='11.5' letterSpacing='1'&gt;ANSWERS&lt;/text&gt;&#10;      &lt;text x='338' y='142' fill='#1A2230' fontSize='13'&gt;Which concepts exist?&lt;/text&gt;&#10;      &lt;text x='338' y='172' fill='#8B97A8' fontSize='11.5' letterSpacing='1'&gt;PRODUCES&lt;/text&gt;&#10;      &lt;text x='338' y='192' fill='#1E4FA8' fontSize='13' fontWeight='bold'&gt;Candidate classes, links&lt;/text&gt;&#10;      &lt;line x1='570' y1='115' x2='616' y2='115' stroke='#1E4FA8' strokeWidth='2' markerEnd='url(#ar21)' /&gt;&#10;&#10;      &lt;rect x='620' y='30' width='250' height='170' rx='8' fill='#FFFFFF' stroke='#1E4FA8' strokeWidth='2' /&gt;&#10;      &lt;rect x='620' y='30' width='250' height='34' rx='8' fill='#1E4FA8' /&gt;&#10;      &lt;text x='638' y='53' fill='#FFFFFF' fontSize='14' fontWeight='bold'&gt;03 · SEQUENCE&lt;/text&gt;&#10;      &lt;text x='745' y='92' textAnchor='middle' fill='#0E3F8C' fontSize='17' fontWeight='bold'&gt;Walk the scenario&lt;/text&gt;&#10;      &lt;text x='638' y='122' fill='#8B97A8' fontSize='11.5' letterSpacing='1'&gt;ANSWERS&lt;/text&gt;&#10;      &lt;text x='638' y='142' fill='#1A2230' fontSize='13'&gt;Who calls whom, when?&lt;/text&gt;&#10;      &lt;text x='638' y='172' fill='#8B97A8' fontSize='11.5' letterSpacing='1'&gt;PRODUCES&lt;/text&gt;&#10;      &lt;text x='638' y='192' fill='#1E4FA8' fontSize='13' fontWeight='bold'&gt;The messages = the methods&lt;/text&gt;&#10;      &lt;line x1='870' y1='115' x2='916' y2='115' stroke='#1E4FA8' strokeWidth='2' markerEnd='url(#ar21)' /&gt;&#10;&#10;      &lt;rect x='920' y='30' width='260' height='170' rx='8' fill='#FFFFFF' stroke='#1E4FA8' strokeWidth='2' /&gt;&#10;      &lt;rect x='920' y='30' width='260' height='34' rx='8' fill='#0E3F8C' /&gt;&#10;      &lt;text x='938' y='53' fill='#FFFFFF' fontSize='14' fontWeight='bold'&gt;04 · DESIGN CLASS&lt;/text&gt;&#10;      &lt;text x='1050' y='92' textAnchor='middle' fill='#0E3F8C' fontSize='17' fontWeight='bold'&gt;What you will code&lt;/text&gt;&#10;      &lt;text x='938' y='122' fill='#8B97A8' fontSize='11.5' letterSpacing='1'&gt;ANSWERS&lt;/text&gt;&#10;      &lt;text x='938' y='142' fill='#1A2230' fontSize='13'&gt;What does each class own?&lt;/text&gt;&#10;      &lt;text x='938' y='172' fill='#8B97A8' fontSize='11.5' letterSpacing='1'&gt;PRODUCES&lt;/text&gt;&#10;      &lt;text x='938' y='192' fill='#1E4FA8' fontSize='13' fontWeight='bold'&gt;Attributes + method signatures&lt;/text&gt;&#10;&#10;      &lt;text x='145' y='228' textAnchor='middle' fill='#8B97A8' fontSize='12'&gt;Source: the stakeholders&lt;/text&gt;&#10;      &lt;text x='445' y='228' textAnchor='middle' fill='#8B97A8' fontSize='12'&gt;Source: the nouns in step 01&lt;/text&gt;&#10;      &lt;text x='745' y='228' textAnchor='middle' fill='#8B97A8' fontSize='12'&gt;Source: step 01 + step 02 together&lt;/text&gt;&#10;      &lt;text x='1050' y='228' textAnchor='middle' fill='#8B97A8' fontSize='12'&gt;Source: the arrows of step 03&lt;/text&gt;&#10;&#10;      &lt;path d='M1050,206 L1050,316 L145,316 L145,208' fill='none' stroke='#FFC107' strokeWidth='2.4' markerEnd='url(#ar21b)' /&gt;&#10;      &lt;rect x='470' y='296' width='256' height='24' rx='4' fill='#FFFFFF' /&gt;&#10;      &lt;text x='598' y='313' textAnchor='middle' fill='#B08A00' fontSize='13' fontWeight='bold'&gt;the next pass adds a layer&lt;/text&gt;&#10;&#10;      &lt;line x1='20' y1='340' x2='1160' y2='340' stroke='#E5E7EB' strokeWidth='1' /&gt;&#10;      &lt;text x='20' y='364' fill='#1A2230' fontSize='15'&gt;Each artefact is produced by the one before it and constrains the one after it. That dependency is what makes this a workflow instead of four separate diagrams.&lt;/text&gt;&#10;    &lt;/svg&gt;&#10;  &lt;/Box&gt;&#10;  &lt;Box style={{ height: 3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305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From Use Case to Design Class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401425" y="819150"/>
            <a:ext cx="40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2114550"/>
            <a:ext cx="11239500" cy="354330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381000" y="66389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1401425" y="66389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6px 40px 0 40px', flexDirection: 'row', alignItems: 'center', justifyContent: 'space-between' }}&gt;&#10;    &lt;Text style={{ fontSize: 30, fontWeight: 'bold', color: '#0E3F8C' }}&gt;Steps 1–2 — Use Case to Domain&lt;/Text&gt;&#10;    &lt;Text style={{ fontSize: 14, color: '#1E4FA8', fontWeight: 'bold' }}&gt;22 / 38&lt;/Text&gt;&#10;  &lt;/Box&gt;&#10;  &lt;Box style={{ flex: 1, padding: '12px 40px 0 40px', flexDirection: 'row', gap: 24 }}&gt;&#10;    &lt;Box style={{ flex: 4, flexDirection: 'column', gap: 10, justifyContent: 'center' }}&gt;&#10;      &lt;Box style={{ flexDirection: 'row', alignItems: 'center', gap: 10 }}&gt;&#10;        &lt;Box style={{ padding: '5px 12px', background: '#0E3F8C', borderRadius: 6 }}&gt;&#10;          &lt;Text style={{ fontSize: 13, color: '#FFFFFF', fontWeight: 'bold', letterSpacing: 1 }}&gt;STEP 01&lt;/Text&gt;&#10;        &lt;/Box&gt;&#10;        &lt;Text style={{ fontSize: 19, fontWeight: 'bold', color: '#0E3F8C' }}&gt;The use case gives behaviour&lt;/Text&gt;&#10;      &lt;/Box&gt;&#10;      &lt;Box style={{ padding: '16px 20px', background: '#F7F9FC', borderRadius: 10, border: '1px solid #E5E7EB', flexDirection: 'column', gap: 8 }}&gt;&#10;        {[&#10;          '1. The student picks a restaurant and adds items to a cart.',&#10;          '2. The system shows the subtotal and the delivery fee.',&#10;          '3. The student chooses a payment method and confirms.',&#10;          '4. The system charges the payment and notifies the kitchen.',&#10;        ].map((s) =&gt; (&#10;          &lt;Text key={s} style={{ fontSize: 14.5, color: '#4A5568', lineHeight: 1.5 }}&gt;{s}&lt;/Text&gt;&#10;        ))}&#10;      &lt;/Box&gt;&#10;      &lt;Box style={{ padding: '13px 18px', background: '#F0F5FC', borderRadius: 9, borderLeft: '4px solid #1E4FA8' }}&gt;&#10;        &lt;Text style={{ fontSize: 14, color: '#0E3F8C', lineHeight: 1.5, fontWeight: 'bold' }}&gt;A use case is a verb. It tells you what happens — not what the pieces are called.&lt;/Text&gt;&#10;      &lt;/Box&gt;&#10;    &lt;/Box&gt;&#10;    &lt;Box style={{ flex: 3, flexDirection: 'column', gap: 10, justifyContent: 'center' }}&gt;&#10;      &lt;Box style={{ flexDirection: 'row', alignItems: 'center', gap: 10 }}&gt;&#10;        &lt;Box style={{ padding: '5px 12px', background: '#1E4FA8', borderRadius: 6 }}&gt;&#10;          &lt;Text style={{ fontSize: 13, color: '#FFFFFF', fontWeight: 'bold', letterSpacing: 1 }}&gt;STEP 02&lt;/Text&gt;&#10;        &lt;/Box&gt;&#10;        &lt;Text style={{ fontSize: 19, fontWeight: 'bold', color: '#0E3F8C' }}&gt;The domain gives vocabulary&lt;/Text&gt;&#10;      &lt;/Box&gt;&#10;      &lt;Box style={{ flexDirection: 'row', flexWrap: 'wrap', gap: 8 }}&gt;&#10;        {['Order', 'OrderLine', 'MenuItem', 'Restaurant', 'Cart', 'Payment', 'Courier', 'Delivery'].map((c) =&gt; (&#10;          &lt;Box key={c} style={{ padding: '8px 14px', background: '#E8EFF8', borderRadius: 16, border: '1px solid #C9D9F2' }}&gt;&#10;            &lt;Text style={{ fontSize: 14, color: '#0E3F8C', fontWeight: 'bold' }}&gt;{c}&lt;/Text&gt;&#10;          &lt;/Box&gt;&#10;        ))}&#10;      &lt;/Box&gt;&#10;      &lt;Box style={{ padding: '13px 18px', background: '#FFFFFF', borderRadius: 9, border: '1px dashed #D6DCE5', flexDirection: 'column', gap: 5 }}&gt;&#10;        &lt;Text style={{ fontSize: 14, color: '#4A5568', lineHeight: 1.5 }}&gt;Nouns in the scenario become candidate concepts. Verbs become the associations and, later, the methods.&lt;/Text&gt;&#10;        &lt;Text style={{ fontSize: 13.5, color: '#8B97A8', lineHeight: 1.5 }}&gt;&quot;Notifies the kitchen&quot; is not a class — it is a message you will draw in step 03.&lt;/Text&gt;&#10;      &lt;/Box&gt;&#10;      &lt;Box style={{ padding: '12px 16px', background: '#FDF3F3', borderRadius: 9, borderLeft: '4px solid #D9534F' }}&gt;&#10;        &lt;Text style={{ fontSize: 13.5, color: '#4A5568', lineHeight: 1.5 }}&gt;&lt;Text style={{ fontWeight: 'bold', color: '#D9534F' }}&gt;Do not add classes for the software itself.&lt;/Text&gt; &quot;Database&quot;, &quot;System&quot;, &quot;Logger&quot; are not domain concepts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Week 06 turns this noun list into a real domain model. Today you only need to see where it comes fro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45434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Steps 1–2 — Use Case to Domain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381000" y="26193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495300" y="26670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276350" y="2638425"/>
            <a:ext cx="2571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use case gives behaviour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381000" y="2962275"/>
            <a:ext cx="6400800" cy="1562100"/>
          </a:xfrm>
          <a:prstGeom prst="roundRect">
            <a:avLst>
              <a:gd name="adj" fmla="val 609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571500" y="311467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1. The student picks a restaurant and adds items to a cart.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2. The system shows the subtotal and the delivery fee.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71500" y="3781425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3. The student chooses a payment method and confirms.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6019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4. The system charges the payment and notifies the kitchen.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9100" y="4619625"/>
            <a:ext cx="6400800" cy="495300"/>
          </a:xfrm>
          <a:prstGeom prst="roundRect">
            <a:avLst>
              <a:gd name="adj" fmla="val 1730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419100" y="4619625"/>
            <a:ext cx="6400800" cy="495300"/>
          </a:xfrm>
          <a:custGeom>
            <a:pathLst>
              <a:path w="672" h="52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7"/>
                </a:lnTo>
                <a:cubicBezTo>
                  <a:pt x="4" y="49"/>
                  <a:pt x="6" y="51"/>
                  <a:pt x="8" y="52"/>
                </a:cubicBezTo>
                <a:cubicBezTo>
                  <a:pt x="4" y="52"/>
                  <a:pt x="0" y="48"/>
                  <a:pt x="0" y="43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90550" y="4743450"/>
            <a:ext cx="60198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 use case is a verb. It tells you what happens — not what the pieces are called.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7010400" y="2390775"/>
            <a:ext cx="800100" cy="24765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7124700" y="2438400"/>
            <a:ext cx="571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05750" y="2409825"/>
            <a:ext cx="2543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The domain gives vocabulary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010400" y="2733675"/>
            <a:ext cx="6381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7143750" y="2809875"/>
            <a:ext cx="371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7724775" y="2733675"/>
            <a:ext cx="9048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7858125" y="2809875"/>
            <a:ext cx="638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OrderLine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8705850" y="2733675"/>
            <a:ext cx="8953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839200" y="2809875"/>
            <a:ext cx="628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9677400" y="2733675"/>
            <a:ext cx="9715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9810750" y="2809875"/>
            <a:ext cx="704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Restaurant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10725150" y="2733675"/>
            <a:ext cx="54292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58500" y="28098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Cart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010400" y="3124200"/>
            <a:ext cx="8286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43750" y="3200400"/>
            <a:ext cx="561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Payment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915275" y="3124200"/>
            <a:ext cx="742950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8048625" y="32004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Courier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8734425" y="3124200"/>
            <a:ext cx="790575" cy="314325"/>
          </a:xfrm>
          <a:prstGeom prst="roundRect">
            <a:avLst>
              <a:gd name="adj" fmla="val 48485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867775" y="3200400"/>
            <a:ext cx="523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Delivery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7010400" y="3533775"/>
            <a:ext cx="4800600" cy="1019175"/>
          </a:xfrm>
          <a:prstGeom prst="roundRect">
            <a:avLst>
              <a:gd name="adj" fmla="val 8411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81850" y="3657600"/>
            <a:ext cx="44577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Nouns in the scenario become candidate concepts. Verbs become the associations and, later, the methods.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181850" y="4191000"/>
            <a:ext cx="44577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"Notifies the kitchen" is not a class — it is a message you will draw in step 03.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7048500" y="4648200"/>
            <a:ext cx="480060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7048500" y="4648200"/>
            <a:ext cx="4800600" cy="695325"/>
          </a:xfrm>
          <a:custGeom>
            <a:pathLst>
              <a:path w="504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7200900" y="4762500"/>
            <a:ext cx="44577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 not add classes for the software itself.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"Database", "System", "Logger" are not domain concepts.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2114550" y="6553200"/>
            <a:ext cx="797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Week 06 turns this noun list into a real domain model. Today you only need to see where it comes from.</a:t>
            </a:r>
            <a:endParaRPr/>
          </a:p>
        </p:txBody>
      </p:sp>
    </p:spTree>
  </p:cSld>
</p:sld>
</file>

<file path=ppt/slides/slide2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2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Step 3 — Sequence Drives Design&lt;/Text&gt;&#10;    &lt;Text style={{ fontSize: 14, color: '#1E4FA8', fontWeight: 'bold' }}&gt;23 / 38&lt;/Text&gt;&#10;  &lt;/Box&gt;&#10;  &lt;Box style={{ flex: 1, padding: '10px 40px 0 40px', flexDirection: 'row', gap: 26 }}&gt;&#10;    &lt;Box style={{ flex: 5, justifyContent: 'center' }}&gt;&#10;      &lt;CodeBlock code={`# Draw the arrow, then write the operation.&#10;# Every message on the diagram is one&#10;# operation on the class at the arrow head.&#10;&#10;:OrderController  -&gt;  :Order&#10;        submit(cart)&#10;&#10;Class OrderController&#10;    + submit(cart)&#10;&#10;:Order  -&gt;  :OrderLine&#10;        create(item, qty)&#10;&#10;Class Order&#10;    + create(item, qty) : OrderLine&#10;&#10;:Order  -&gt;  :Order&#10;        total() : Money&#10;&#10;Class Order&#10;    + total() : Money`} language='text' width={620} fontSize={11.5} /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One arrow, one method. That is the whole trick.&lt;/Text&gt;&#10;      &lt;/Box&gt;&#10;      {[&#10;        ['sign-in-alt', 'Receiver decides the class', 'The arrow head lands on a lifeline — that class must own the method.'],&#10;        ['font', 'Name and parameters come free', 'A message is already a signature; you are transcribing, not inventing.'],&#10;        ['reply', 'The return becomes the type', 'If you drew a dashed reply with a name, the method returns it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2px 16px', background: '#FFFFFF', borderRadius: 9, border: '1px dashed #D6DCE5' }}&gt;&#10;        &lt;Text style={{ fontSize: 13.5, color: '#8B97A8', lineHeight: 1.5 }}&gt;This is why the sequence diagram is drawn &lt;Text style={{ fontWeight: 'bold', color: '#4A5568' }}&gt;before&lt;/Text&gt; the design class diagram — the methods are discovered, not guessed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638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Step 3 — Sequence Drives Design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6877050" y="20002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4" name=""/>
          <p:cNvSpPr/>
          <p:nvPr/>
        </p:nvSpPr>
        <p:spPr>
          <a:xfrm rot="0" flipH="0" flipV="0">
            <a:off x="6877050" y="20002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7048500" y="21526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One arrow, one method. That is the whole trick.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6838950" y="26955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6991350" y="28194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914650"/>
            <a:ext cx="161925" cy="161925"/>
          </a:xfrm>
          <a:prstGeom prst="rect">
            <a:avLst/>
          </a:prstGeom>
          <a:ln/>
        </p:spPr>
      </p:pic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448550" y="28194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Receiver decides the class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448550" y="30194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arrow head lands on a lifeline — that class must own the method.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838950" y="347662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991350" y="36004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695700"/>
            <a:ext cx="161925" cy="161925"/>
          </a:xfrm>
          <a:prstGeom prst="rect">
            <a:avLst/>
          </a:prstGeom>
          <a:ln/>
        </p:spPr>
      </p:pic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448550" y="360045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Name and parameters come free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7448550" y="380047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message is already a signature; you are transcribing, not inventing.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38950" y="4257675"/>
            <a:ext cx="4972050" cy="676275"/>
          </a:xfrm>
          <a:prstGeom prst="roundRect">
            <a:avLst>
              <a:gd name="adj" fmla="val 1408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6991350" y="43815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476750"/>
            <a:ext cx="161925" cy="161925"/>
          </a:xfrm>
          <a:prstGeom prst="rect">
            <a:avLst/>
          </a:prstGeom>
          <a:ln/>
        </p:spPr>
      </p:pic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448550" y="43815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return becomes the type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48550" y="4581525"/>
            <a:ext cx="4210050" cy="2286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If you drew a dashed reply with a name, the method returns it.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6838950" y="50387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6991350" y="5153025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This is why the sequence diagram is drawn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before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 the design class diagram — the methods are discovered, not guessed.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23 / 38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1800225"/>
            <a:ext cx="6210300" cy="4133850"/>
          </a:xfrm>
          <a:prstGeom prst="roundRect">
            <a:avLst>
              <a:gd name="adj" fmla="val 184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56" name=""/>
          <p:cNvSpPr txBox="1"/>
          <p:nvPr/>
        </p:nvSpPr>
        <p:spPr>
          <a:xfrm rot="0" flipH="0" flipV="0">
            <a:off x="533400" y="1933575"/>
            <a:ext cx="5905500" cy="3867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# Draw the arrow, then write the operation.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# Every message on the diagram is one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# operation on the class at the arrow head.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:OrderController  -&gt;  :Order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    submit(cart)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OrderController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+ submit(cart)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:Order  -&gt;  :OrderLine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    create(item, qty)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+ create(item, qty) : OrderLine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:Order  -&gt;  :Order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    total() : Money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Order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  + total() : Money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padding: '14px 40px 0 40px', flexDirection: 'row', alignItems: 'center', justifyContent: 'space-between' }}&gt;&#10;    &lt;Text style={{ fontSize: 30, fontWeight: 'bold', color: '#0E3F8C' }}&gt;Where State Diagrams Fit&lt;/Text&gt;&#10;    &lt;Text style={{ fontSize: 14, color: '#1E4FA8', fontWeight: 'bold' }}&gt;24 / 38&lt;/Text&gt;&#10;  &lt;/Box&gt;&#10;  &lt;Box style={{ flex: 1, padding: '6px 40px 0 40px', flexDirection: 'row', gap: 26 }}&gt;&#10;    &lt;Box style={{ flex: 5, justifyContent: 'center', alignItems: 'center' }}&gt;&#10;      &lt;svg width={560} height={300} viewBox='0 0 560 300'&gt;&#10;        &lt;defs&gt;&#10;          &lt;marker id='ar24' markerWidth='9' markerHeight='9' refX='8' refY='4.5' orient='auto'&gt;&#10;            &lt;path d='M0,0 L9,4.5 L0,9 z' fill='#1E4FA8' /&gt;&#10;          &lt;/marker&gt;&#10;        &lt;/defs&gt;&#10;        &lt;circle cx='12' cy='52' r='7' fill='#1E4FA8' /&gt;&#10;        &lt;line x1='19' y1='52' x2='27' y2='52' stroke='#1E4FA8' strokeWidth='1.5' markerEnd='url(#ar24)' /&gt;&#10;&#10;        &lt;rect x='30' y='30' width='120' height='44' rx='22' fill='#E8EFF8' stroke='#1E4FA8' strokeWidth='1.8' /&gt;&#10;        &lt;text x='90' y='58' textAnchor='middle' fill='#0E3F8C' fontSize='14' fontWeight='bold'&gt;Draft&lt;/text&gt;&#10;        &lt;rect x='200' y='30' width='120' height='44' rx='22' fill='#E8EFF8' stroke='#1E4FA8' strokeWidth='1.8' /&gt;&#10;        &lt;text x='260' y='58' textAnchor='middle' fill='#0E3F8C' fontSize='14' fontWeight='bold'&gt;Placed&lt;/text&gt;&#10;        &lt;rect x='370' y='30' width='120' height='44' rx='22' fill='#E8EFF8' stroke='#1E4FA8' strokeWidth='1.8' /&gt;&#10;        &lt;text x='430' y='58' textAnchor='middle' fill='#0E3F8C' fontSize='14' fontWeight='bold'&gt;Ready&lt;/text&gt;&#10;        &lt;rect x='370' y='170' width='120' height='44' rx='22' fill='#E8EFF8' stroke='#1E4FA8' strokeWidth='1.8' /&gt;&#10;        &lt;text x='430' y='198' textAnchor='middle' fill='#0E3F8C' fontSize='14' fontWeight='bold'&gt;Delivered&lt;/text&gt;&#10;        &lt;rect x='200' y='170' width='120' height='44' rx='22' fill='#F7F9FC' stroke='#8B97A8' strokeWidth='1.5' /&gt;&#10;        &lt;text x='260' y='198' textAnchor='middle' fill='#4A5568' fontSize='14' fontWeight='bold'&gt;Cancelled&lt;/text&gt;&#10;&#10;        &lt;line x1='150' y1='52' x2='197' y2='52' stroke='#1E4FA8' strokeWidth='1.6' markerEnd='url(#ar24)' /&gt;&#10;        &lt;text x='174' y='44' textAnchor='middle' fill='#4A5568' fontSize='11'&gt;submit&lt;/text&gt;&#10;        &lt;line x1='320' y1='52' x2='367' y2='52' stroke='#1E4FA8' strokeWidth='1.6' markerEnd='url(#ar24)' /&gt;&#10;        &lt;text x='344' y='44' textAnchor='middle' fill='#4A5568' fontSize='11'&gt;ready&lt;/text&gt;&#10;        &lt;line x1='430' y1='74' x2='430' y2='167' stroke='#1E4FA8' strokeWidth='1.6' markerEnd='url(#ar24)' /&gt;&#10;        &lt;text x='440' y='124' fill='#4A5568' fontSize='11'&gt;handed over&lt;/text&gt;&#10;        &lt;line x1='260' y1='74' x2='260' y2='167' stroke='#D9534F' strokeWidth='1.6' markerEnd='url(#ar24)' /&gt;&#10;        &lt;text x='270' y='124' fill='#D9534F' fontSize='11'&gt;cancel&lt;/text&gt;&#10;        &lt;line x1='490' y1='192' x2='534' y2='192' stroke='#1E4FA8' strokeWidth='1.6' markerEnd='url(#ar24)' /&gt;&#10;        &lt;circle cx='546' cy='192' r='9' fill='#FFFFFF' stroke='#1E4FA8' strokeWidth='1.8' /&gt;&#10;        &lt;circle cx='546' cy='192' r='5' fill='#1E4FA8' /&gt;&#10;&#10;        &lt;text x='20' y='262' fill='#8B97A8' fontSize='12'&gt;Order — an object whose behaviour depends on where it has been.&lt;/text&gt;&#10;        &lt;text x='20' y='282' fill='#8B97A8' fontSize='12'&gt;addItem() succeeds in Draft, and must be refused in Placed.&lt;/text&gt;&#10;      &lt;/svg&gt;&#10;    &lt;/Box&gt;&#10;    &lt;Box style={{ flex: 4, flexDirection: 'column', gap: 11, justifyContent: 'center' }}&gt;&#10;      &lt;Box style={{ padding: '16px 18px', background: '#F0F5FC', borderRadius: 10, borderLeft: '4px solid #1E4FA8' }}&gt;&#10;        &lt;Text style={{ fontSize: 17, fontWeight: 'bold', color: '#0E3F8C', lineHeight: 1.45 }}&gt;Not every class deserves a state diagram.&lt;/Text&gt;&#10;      &lt;/Box&gt;&#10;      {[&#10;        ['history', 'Draw one when history matters', 'The same message gets a different answer depending on the state. That is the only real trigger.'],&#10;        ['ban', 'Skip it for passive records', 'MenuItem has a price and a name. It has no life. A state diagram adds nothing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.5, fontWeight: 'bold', color: '#0E3F8C' }}&gt;{t}&lt;/Text&gt;&#10;            &lt;Text style={{ fontSize: 13.5, color: '#4A5568', lineHeight: 1.45 }}&gt;{d}&lt;/Text&gt;&#10;          &lt;/Box&gt;&#10;        &lt;/Box&gt;&#10;      ))}&#10;      &lt;Box style={{ padding: '13px 16px', background: '#FFFFFF', borderRadius: 9, border: '1px dashed #D6DCE5' }}&gt;&#10;        &lt;Text style={{ fontSize: 13.5, color: '#4A5568', lineHeight: 1.5 }}&gt;&lt;Text style={{ fontWeight: 'bold', color: '#0E3F8C' }}&gt;The one-line test:&lt;/Text&gt; if you cannot name the events, there are no states — only attributes.&lt;/Text&gt;&#10;      &lt;/Box&gt;&#10;      &lt;Box style={{ padding: '12px 16px', background: '#FDF3F3', borderRadius: 9, borderLeft: '4px solid #D9534F' }}&gt;&#10;        &lt;Text style={{ fontSize: 13.5, color: '#4A5568', lineHeight: 1.5 }}&gt;CampusBites needs exactly two: &lt;Text style={{ fontWeight: 'bold', color: '#D9534F' }}&gt;Order&lt;/Text&gt; and &lt;Text style={{ fontWeight: 'bold', color: '#D9534F' }}&gt;Delivery&lt;/Text&gt;. Everything else can wait for Week 09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Where State Diagrams Fit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6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447925"/>
            <a:ext cx="5334000" cy="2857500"/>
          </a:xfrm>
          <a:prstGeom prst="rect">
            <a:avLst/>
          </a:prstGeom>
          <a:ln/>
        </p:spPr>
      </p:pic>
      <p:sp>
        <p:nvSpPr>
          <p:cNvPr id="365" name=""/>
          <p:cNvSpPr/>
          <p:nvPr/>
        </p:nvSpPr>
        <p:spPr>
          <a:xfrm rot="0" flipH="0" flipV="0">
            <a:off x="6877050" y="1771650"/>
            <a:ext cx="4972050" cy="590550"/>
          </a:xfrm>
          <a:prstGeom prst="roundRect">
            <a:avLst>
              <a:gd name="adj" fmla="val 161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877050" y="1771650"/>
            <a:ext cx="4972050" cy="590550"/>
          </a:xfrm>
          <a:custGeom>
            <a:pathLst>
              <a:path w="522" h="6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6"/>
                </a:lnTo>
                <a:cubicBezTo>
                  <a:pt x="4" y="59"/>
                  <a:pt x="6" y="61"/>
                  <a:pt x="9" y="62"/>
                </a:cubicBezTo>
                <a:cubicBezTo>
                  <a:pt x="4" y="61"/>
                  <a:pt x="0" y="57"/>
                  <a:pt x="0" y="5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048500" y="1924050"/>
            <a:ext cx="45910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Not every class deserves a state diagram.</a:t>
            </a:r>
            <a:endParaRPr/>
          </a:p>
        </p:txBody>
      </p:sp>
      <p:sp>
        <p:nvSpPr>
          <p:cNvPr id="368" name=""/>
          <p:cNvSpPr/>
          <p:nvPr/>
        </p:nvSpPr>
        <p:spPr>
          <a:xfrm rot="0" flipH="0" flipV="0">
            <a:off x="6838950" y="2466975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69" name=""/>
          <p:cNvSpPr/>
          <p:nvPr/>
        </p:nvSpPr>
        <p:spPr>
          <a:xfrm rot="0" flipH="0" flipV="0">
            <a:off x="6991350" y="25908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2686050"/>
            <a:ext cx="161925" cy="161925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7448550" y="2590800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 one when history matters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7448550" y="2790825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same message gets a different answer depending on the state. That is the only real trigger.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38950" y="3467100"/>
            <a:ext cx="4972050" cy="895350"/>
          </a:xfrm>
          <a:prstGeom prst="roundRect">
            <a:avLst>
              <a:gd name="adj" fmla="val 1063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6991350" y="35909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3686175"/>
            <a:ext cx="161925" cy="161925"/>
          </a:xfrm>
          <a:prstGeom prst="rect">
            <a:avLst/>
          </a:prstGeom>
          <a:ln/>
        </p:spPr>
      </p:pic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7448550" y="3590925"/>
            <a:ext cx="42100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Skip it for passive records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7448550" y="3790950"/>
            <a:ext cx="4210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MenuItem has a price and a name. It has no life. A state diagram adds nothing.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6838950" y="4467225"/>
            <a:ext cx="4972050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991350" y="4591050"/>
            <a:ext cx="46672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one-line test: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if you cannot name the events, there are no states — only attributes.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877050" y="528637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6877050" y="528637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7029450" y="540067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CampusBites needs exactly two: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Order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and 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Delivery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. Everything else can wait for Week 09.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8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WORKFLOW&lt;/Text&gt;&#10;  &lt;/Box&gt;&#10;  &lt;Box style={{ flex: 1, padding: '24px 80px 0 80px', flexDirection: 'column', justifyContent: 'center', alignItems: 'center', gap: 22 }}&gt;&#10;    &lt;Text style={{ fontSize: 38, fontWeight: 'bold', color: '#0E3F8C', fontFamily: 'Georgia, serif', textAlign: 'center', lineHeight: 1.25 }}&gt;&#10;      One workflow, many passes.&#10;    &lt;/Text&gt;&#10;    &lt;Box style={{ width: 76, height: 4, background: '#FFC107' }} /&gt;&#10;    &lt;Box style={{ flexDirection: 'column', gap: 14, width: '100%' }}&gt;&#10;      {[&#10;        { n: '01', t: 'Breadth first, depth later', d: 'Sketch every use case at one line each before you write a single full scenario. You will throw away fewer pages that way.' },&#10;        { n: '02', t: 'Ten per cent of the use cases, ten per cent of the classes', d: 'Larman\'s rule of thumb: one short pass across the whole system beats a perfect model of one corner of it.' },&#10;        { n: '03', t: 'Stop when modelling costs more than coding', d: 'The moment a diagram stops changing a decision, put it down and write the code. You can always come back with a better question.' },&#10;      ].map((p) =&gt; (&#10;        &lt;Box key={p.n} style={{ flexDirection: 'row', gap: 18, padding: '17px 22px', background: '#F7F9FC', borderRadius: 12, border: '1px solid #E5E7EB', alignItems: 'flex-start' }}&gt;&#10;          &lt;Text style={{ fontSize: 30, fontWeight: 'bold', color: '#3D7BD9', fontFamily: 'Georgia, serif', lineHeight: 1 }}&gt;{p.n}&lt;/Text&gt;&#10;          &lt;Box style={{ flex: 1, flexDirection: 'column', gap: 4 }}&gt;&#10;            &lt;Text style={{ fontSize: 18, fontWeight: 'bold', color: '#0E3F8C' }}&gt;{p.t}&lt;/Text&gt;&#10;            &lt;Text style={{ fontSize: 14.5, color: '#4A5568', lineHeight: 1.55 }}&gt;{p.d}&lt;/Text&gt;&#10;          &lt;/Box&gt;&#10;        &lt;/Box&gt;&#10;      ))}&#10;    &lt;/Box&gt;&#10;    &lt;Box style={{ padding: '15px 24px', background: '#0E3F8C', borderRadius: 10, width: '100%' }}&gt;&#10;      &lt;Text style={{ fontSize: 16, color: '#FFFFFF', fontWeight: '600', lineHeight: 1.5 }}&gt;Your M1 submission is the end of pass one — not the end of modelling. Expect to redraw all of it in Week 06, and again in Week 08.&lt;/Text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525125" y="257175"/>
            <a:ext cx="1285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WORKFLOW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5295900" cy="542925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2850" b="1">
                <a:solidFill>
                  <a:srgbClr val="0E3F8C"/>
                </a:solidFill>
                <a:latin typeface="Georgia"/>
                <a:ea typeface="Georgia"/>
              </a:rPr>
              <a:t>One workflow, many passes.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5734050" y="22193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762000" y="246697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971550" y="2628900"/>
            <a:ext cx="3429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1485900" y="2628900"/>
            <a:ext cx="9734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Breadth first, depth later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485900" y="2876550"/>
            <a:ext cx="97345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Sketch every use case at one line each before you write a single full scenario. You will throw away fewer pages that way.</a:t>
            </a:r>
            <a:endParaRPr/>
          </a:p>
        </p:txBody>
      </p:sp>
      <p:sp>
        <p:nvSpPr>
          <p:cNvPr id="396" name=""/>
          <p:cNvSpPr/>
          <p:nvPr/>
        </p:nvSpPr>
        <p:spPr>
          <a:xfrm rot="0" flipH="0" flipV="0">
            <a:off x="762000" y="3429000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1524000" y="3590925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Ten per cent of the use cases, ten per cent of the classes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524000" y="3838575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Larman's rule of thumb: one short pass across the whole system beats a perfect model of one corner of it.</a:t>
            </a:r>
            <a:endParaRPr/>
          </a:p>
        </p:txBody>
      </p:sp>
      <p:sp>
        <p:nvSpPr>
          <p:cNvPr id="400" name=""/>
          <p:cNvSpPr/>
          <p:nvPr/>
        </p:nvSpPr>
        <p:spPr>
          <a:xfrm rot="0" flipH="0" flipV="0">
            <a:off x="762000" y="4391025"/>
            <a:ext cx="10668000" cy="828675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971550" y="4552950"/>
            <a:ext cx="381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1524000" y="4552950"/>
            <a:ext cx="9696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Stop when modelling costs more than coding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1524000" y="4800600"/>
            <a:ext cx="9696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Microsoft YaHei"/>
                <a:ea typeface="Microsoft YaHei"/>
              </a:rPr>
              <a:t>The moment a diagram stops changing a decision, put it down and write the code. You can always come back with a better question.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762000" y="5429250"/>
            <a:ext cx="10668000" cy="561975"/>
          </a:xfrm>
          <a:prstGeom prst="roundRect">
            <a:avLst>
              <a:gd name="adj" fmla="val 1694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990600" y="5572125"/>
            <a:ext cx="102108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Your M1 submission is the end of pass one — not the end of modelling. Expect to redraw all of it in Week 06, and again in Week 08.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40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oolchain&lt;/Text&gt;&#10;      &lt;Box style={{ width: 64, height: 4, background: '#FFC107', marginTop: 26, marginBottom: 26 }} /&gt;&#10;      &lt;Box style={{ flexDirection: 'column', gap: 12 }}&gt;&#10;        {[&#10;          'draw.io for the diagrams you will present',&#10;          'PlantUML for the diagrams you will maintain',&#10;          'Both live in the repository, next to the cod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Toolchain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1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draw.io for the diagrams you will present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PlantUML for the diagrams you will maintain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Both live in the repository, next to the code</a:t>
            </a:r>
            <a:endParaRPr/>
          </a:p>
        </p:txBody>
      </p:sp>
      <p:sp>
        <p:nvSpPr>
          <p:cNvPr id="42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2px 40px', flexDirection: 'row', alignItems: 'center', justifyContent: 'space-between' }}&gt;&#10;    &lt;Text style={{ fontSize: 30, fontWeight: 'bold', color: '#0E3F8C' }}&gt;draw.io or PlantUML?&lt;/Text&gt;&#10;    &lt;Text style={{ fontSize: 14, color: '#1E4FA8', fontWeight: 'bold' }}&gt;27 / 38&lt;/Text&gt;&#10;  &lt;/Box&gt;&#10;  &lt;Box style={{ flex: 1, padding: '8px 40px 4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Dimension', textStyle: { bold: true, color: '#FFFFFF', textAlign: 'left' }, cellStyle: { background: { color: '#0E3F8C' } } },&#10;          { text: 'draw.io', textStyle: { bold: true, color: '#FFFFFF', textAlign: 'left' }, cellStyle: { background: { color: '#1E4FA8' } } },&#10;          { text: 'PlantUML', textStyle: { bold: true, color: '#FFFFFF', textAlign: 'left' }, cellStyle: { background: { color: '#3D7BD9' } } },&#10;        ],&#10;        [&#10;          { text: 'How you draw', textStyle: { bold: true, color: '#0E3F8C' }, cellStyle: { background: { color: '#F7F9FC' } } },&#10;          { text: 'Drag shapes with the mouse', textStyle: { color: '#4A5568' }, cellStyle: { background: { color: '#F7F9FC' } } },&#10;          { text: 'Type text, see the picture appear', textStyle: { color: '#4A5568' }, cellStyle: { background: { color: '#F7F9FC' } } },&#10;        ],&#10;        [&#10;          { text: 'Source file', textStyle: { bold: true, color: '#0E3F8C' } },&#10;          { text: '.drawio — compressed XML', textStyle: { color: '#4A5568' } },&#10;          { text: '.puml — plain text, readable', textStyle: { color: '#4A5568' } },&#10;        ],&#10;        [&#10;          { text: 'Free-form layout', textStyle: { bold: true, color: '#0E3F8C' }, cellStyle: { background: { color: '#F7F9FC' } } },&#10;          { text: 'Excellent — you place every box', textStyle: { color: '#1E4FA8', bold: true }, cellStyle: { background: { color: '#F7F9FC' } } },&#10;          { text: 'The tool decides; you live with it', textStyle: { color: '#4A5568' }, cellStyle: { background: { color: '#F7F9FC' } } },&#10;        ],&#10;        [&#10;          { text: 'Speed of a small edit', textStyle: { bold: true, color: '#0E3F8C' } },&#10;          { text: 'Fast for one box, slow for a rename', textStyle: { color: '#4A5568' } },&#10;          { text: 'Find and replace; instant', textStyle: { color: '#1E4FA8', bold: true }, cellStyle: {} },&#10;        ],&#10;        [&#10;          { text: 'Diff in a pull request', textStyle: { bold: true, color: '#0E3F8C' }, cellStyle: { background: { color: '#F7F9FC' } } },&#10;          { text: 'Unreadable — the whole file changes', textStyle: { color: '#D9534F' }, cellStyle: { background: { color: '#F7F9FC' } } },&#10;          { text: 'One line per change', textStyle: { color: '#1E4FA8', bold: true }, cellStyle: { background: { color: '#F7F9FC' } } },&#10;        ],&#10;        [&#10;          { text: 'Learning curve', textStyle: { bold: true, color: '#0E3F8C' } },&#10;          { text: 'Ten minutes', textStyle: { color: '#4A5568' } },&#10;          { text: 'An afternoon', textStyle: { color: '#4A5568' } },&#10;        ],&#10;        [&#10;          { text: 'Best used for', textStyle: { bold: true, color: '#0E3F8C' }, cellStyle: { background: { color: '#F7F9FC' } } },&#10;          { text: 'Presentation diagrams, posters, one-offs', textStyle: { color: '#4A5568' }, cellStyle: { background: { color: '#F7F9FC' } } },&#10;          { text: 'Models the team edits all term', textStyle: { color: '#4A5568' }, cellStyle: { background: { color: '#F7F9FC' } } },&#10;        ],&#10;      ]}&#10;    /&gt;&#10;  &lt;/Box&gt;&#10;  &lt;Box style={{ height: 48, background: '#0E3F8C', padding: '0 40px', flexDirection: 'row', alignItems: 'center', justifyContent: 'center' }}&gt;&#10;    &lt;Text style={{ fontSize: 16.5, color: '#FFFFFF', fontWeight: '600' }}&gt;Course default: model in PlantUML, present in draw.io. Both source files go in the repository — a PNG on its own is not a submiss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33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draw.io or PlantUML?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graphicFrame>
        <p:nvGraphicFramePr>
          <p:cNvPr id="429" name=""/>
          <p:cNvGraphicFramePr/>
          <p:nvPr/>
        </p:nvGraphicFramePr>
        <p:xfrm rot="0" flipH="0" flipV="0">
          <a:off x="381000" y="1276350"/>
          <a:ext cx="11430000" cy="5086350"/>
        </p:xfrm>
        <a:graphic>
          <a:graphicData uri="http://schemas.openxmlformats.org/drawingml/2006/table">
            <a:tbl>
              <a:tblGrid>
                <a:gridCol w="2737294">
                  <a:extLst>
                    <a:ext uri="{9D8B030D-6E8A-4147-A177-3AD203B41FA5}">
                      <a16:colId val="1"/>
                    </a:ext>
                  </a:extLst>
                </a:gridCol>
                <a:gridCol w="4781746">
                  <a:extLst>
                    <a:ext uri="{9D8B030D-6E8A-4147-A177-3AD203B41FA5}">
                      <a16:colId val="2"/>
                    </a:ext>
                  </a:extLst>
                </a:gridCol>
                <a:gridCol w="3910961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Dimension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draw.io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PlantUML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How you draw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Drag shapes with the mouse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Type text, see the picture appear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Source file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.drawio — compressed XML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.puml — plain text, readable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Free-form layout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Excellent — you place every box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The tool decides; you live with 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Speed of a small edit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Fast for one box, slow for a rename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Find and replace; instant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Diff in a pull request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Unreadable — the whole file changes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One line per change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Learning curve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Ten minutes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An afternoon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63579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Best used for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Presentation diagrams, posters, one-offs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Models the team edits all term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43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1095375" y="6534150"/>
            <a:ext cx="10010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Course default: model in PlantUML, present in draw.io. Both source files go in the repository — a PNG on its own is not a submission.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PlantUML by Example&lt;/Text&gt;&#10;    &lt;Text style={{ fontSize: 14, color: '#1E4FA8', fontWeight: 'bold' }}&gt;28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Library &quot;1&quot; o-- &quot;0..*&quot; Member : registers&#10;@enduml`} language='text' width={600} fontSize={12.5} /&gt;&#10;    &lt;/Box&gt;&#10;    &lt;Box style={{ flex: 4, flexDirection: 'column', gap: 11, justifyContent: 'center' }}&gt;&#10;      {[&#10;        ['cube', 'class Name { ... }', 'Everything between the braces is the class box — name, attributes, operations, in that order.'],&#10;        ['grip-lines', 'The line between classes', 'Read it left to right: multiplicity, the line style, multiplicity, then a colon and the association name.'],&#10;        ['shapes', '*-- and o--', 'A filled diamond is composition: the parts die with the whole. A hollow one is aggregation. A bare -- is a plain association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3 }}&gt;&#10;            &lt;Text style={{ fontSize: 15.5, fontWeight: 'bold', color: '#0E3F8C' }}&gt;{t}&lt;/Text&gt;&#10;            &lt;Text style={{ fontSize: 13.5, color: '#4A5568', lineHeight: 1.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You will write exactly this file in Exercise 3.2 — with two lines left blank for you to fill in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 · PlantUML renders in VS Code and on plantuml.com/plantuml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2990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PlantUML by Example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6838950" y="19716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0" name=""/>
          <p:cNvSpPr/>
          <p:nvPr/>
        </p:nvSpPr>
        <p:spPr>
          <a:xfrm rot="0" flipH="0" flipV="0">
            <a:off x="6991350" y="21050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86600" y="2200275"/>
            <a:ext cx="171450" cy="171450"/>
          </a:xfrm>
          <a:prstGeom prst="rect">
            <a:avLst/>
          </a:prstGeom>
          <a:ln/>
        </p:spPr>
      </p:pic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7467600" y="21050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class Name { ... }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467600" y="23145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Everything between the braces is the class box — name, attributes, operations, in that order.</a:t>
            </a:r>
            <a:endParaRPr/>
          </a:p>
        </p:txBody>
      </p:sp>
      <p:sp>
        <p:nvSpPr>
          <p:cNvPr id="444" name=""/>
          <p:cNvSpPr/>
          <p:nvPr/>
        </p:nvSpPr>
        <p:spPr>
          <a:xfrm rot="0" flipH="0" flipV="0">
            <a:off x="6838950" y="301942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6991350" y="315277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86600" y="3248025"/>
            <a:ext cx="171450" cy="17145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467600" y="315277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line between classes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7467600" y="336232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Read it left to right: multiplicity, the line style, multiplicity, then a colon and the association name.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838950" y="4067175"/>
            <a:ext cx="4972050" cy="942975"/>
          </a:xfrm>
          <a:prstGeom prst="roundRect">
            <a:avLst>
              <a:gd name="adj" fmla="val 10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0" name=""/>
          <p:cNvSpPr/>
          <p:nvPr/>
        </p:nvSpPr>
        <p:spPr>
          <a:xfrm rot="0" flipH="0" flipV="0">
            <a:off x="6991350" y="4200525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86600" y="4295775"/>
            <a:ext cx="171450" cy="171450"/>
          </a:xfrm>
          <a:prstGeom prst="rect">
            <a:avLst/>
          </a:prstGeom>
          <a:ln/>
        </p:spPr>
      </p:pic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7467600" y="4200525"/>
            <a:ext cx="4191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*-- and o--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7467600" y="4410075"/>
            <a:ext cx="4191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filled diamond is composition: the parts die with the whole. A hollow one is aggregation. A bare -- is a plain association.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877050" y="5114925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55" name=""/>
          <p:cNvSpPr/>
          <p:nvPr/>
        </p:nvSpPr>
        <p:spPr>
          <a:xfrm rot="0" flipH="0" flipV="0">
            <a:off x="6877050" y="5114925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7029450" y="52292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You will write exactly this file in Exercise 3.2 — with two lines left blank for you to fill in.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4371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 · PlantUML renders in VS Code and on plantuml.com/plantuml</a:t>
            </a:r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381000" y="1552575"/>
            <a:ext cx="6210300" cy="4667250"/>
          </a:xfrm>
          <a:prstGeom prst="roundRect">
            <a:avLst>
              <a:gd name="adj" fmla="val 163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60" name=""/>
          <p:cNvSpPr txBox="1"/>
          <p:nvPr/>
        </p:nvSpPr>
        <p:spPr>
          <a:xfrm rot="0" flipH="0" flipV="0">
            <a:off x="533400" y="1685925"/>
            <a:ext cx="5905500" cy="440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@startuml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class Library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+ addBook(b : Book)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+ findByIsbn(isbn : String) : Book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class Book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- isbn :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- title :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+ isAvailable() : boolean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class Member {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- id :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  + borrow(b : Book) : void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Library "1" *-- "0..*" Book : holds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Library "1" o-- "0..*" Member : registers</a:t>
            </a:r>
            <a:endParaRPr/>
          </a:p>
          <a:p>
            <a:pPr>
              <a:lnSpc>
                <a:spcPct val="140000"/>
              </a:lnSpc>
            </a:pPr>
            <a:r>
              <a:rPr sz="938">
                <a:solidFill>
                  <a:srgbClr val="E5E7EB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6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4px 40px 0 40px', flexDirection: 'row', alignItems: 'center', justifyContent: 'space-between' }}&gt;&#10;    &lt;Text style={{ fontSize: 30, fontWeight: 'bold', color: '#0E3F8C' }}&gt;Version-Controlling Diagrams&lt;/Text&gt;&#10;    &lt;Text style={{ fontSize: 14, color: '#1E4FA8', fontWeight: 'bold' }}&gt;29 / 38&lt;/Text&gt;&#10;  &lt;/Box&gt;&#10;  &lt;Box style={{ flex: 1, padding: '8px 40px 0 40px', flexDirection: 'row', gap: 24 }}&gt;&#10;    &lt;Box style={{ flex: 5, flexDirection: 'column', gap: 8, justifyContent: 'center' }}&gt;&#10;      &lt;Box style={{ flexDirection: 'row', alignItems: 'center', gap: 8 }}&gt;&#10;        &lt;Box style={{ padding: '3px 10px', background: '#FDF3F3', borderRadius: 6, border: '1px solid #F0C9C7' }}&gt;&#10;          &lt;Text style={{ fontSize: 12, color: '#D9534F', fontWeight: 'bold' }}&gt;.drawio&lt;/Text&gt;&#10;        &lt;/Box&gt;&#10;        &lt;Text style={{ fontSize: 12.5, color: '#8B97A8' }}&gt;one box moved — 340 lines rewritten&lt;/Text&gt;&#10;      &lt;/Box&gt;&#10;      &lt;CodeBlock code={`-  &lt;mxCell id=&quot;9&quot; value=&quot;Book&quot; style=&quot;rounded=0;&#10;-     whiteSpace=wrap;html=1;&quot; vertex=&quot;1&quot; parent=&quot;1&quot;&gt;&#10;-    &lt;mxGeometry x=&quot;320&quot; y=&quot;80&quot; width=&quot;160&quot;&#10;-       height=&quot;60&quot; as=&quot;geometry&quot; /&gt;&#10;+  &lt;mxCell id=&quot;9&quot; value=&quot;Book&quot; style=&quot;rounded=0;&#10;+     whiteSpace=wrap;html=1;fillColor=#E8EFF8;&quot;&#10;+     vertex=&quot;1&quot; parent=&quot;1&quot;&gt;&#10;+    &lt;mxGeometry x=&quot;320&quot; y=&quot;80&quot; width=&quot;160&quot;&#10;+       height=&quot;86&quot; as=&quot;geometry&quot; /&gt;`} language='text' width={600} fontSize={10.5} /&gt;&#10;      &lt;Box style={{ flexDirection: 'row', alignItems: 'center', gap: 8 }}&gt;&#10;        &lt;Box style={{ padding: '3px 10px', background: '#E8EFF8', borderRadius: 6, border: '1px solid #C9D9F2' }}&gt;&#10;          &lt;Text style={{ fontSize: 12, color: '#1E4FA8', fontWeight: 'bold' }}&gt;.puml&lt;/Text&gt;&#10;        &lt;/Box&gt;&#10;        &lt;Text style={{ fontSize: 12.5, color: '#8B97A8' }}&gt;the same edit — two lines&lt;/Text&gt;&#10;      &lt;/Box&gt;&#10;      &lt;CodeBlock code={`- Member &quot;1&quot;     -- &quot;0..*&quot; Book : borrows&#10;+ Member &quot;0..1&quot;  -- &quot;0..*&quot; Book : borrows&#10;+ Member &quot;1&quot;     -- &quot;0..1&quot; Library : registers`} language='text' width={600} fontSize={11.5} /&gt;&#10;    &lt;/Box&gt;&#10;    &lt;Box style={{ flex: 4, flexDirection: 'column', gap: 11, justifyContent: 'center' }}&gt;&#10;      {[&#10;        ['code-branch', 'A diff you can actually read', 'Two lines instead of three hundred. A reviewer can see what changed and disagree with it in writing.'],&#10;        ['user-clock', 'History becomes evidence', 'The log shows who added the multiplicity and when. That is what makes the contribution review possible at all.'],&#10;        ['users', 'This is why it touches your grade', 'Individual work is 40% of the mark and is assessed from the repository. If your edit is invisible, it cannot be counted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7, height: 17 }} /&gt;&#10;          &lt;/Box&gt;&#10;          &lt;Box style={{ flex: 1, flexDirection: 'column', gap: 2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0E3F8C', borderRadius: 9 }}&gt;&#10;        &lt;Text style={{ fontSize: 13.5, color: '#FFFFFF', lineHeight: 1.5 }}&gt;A PNG with no source file is worth zero. The source is the deliverable; the image is only its shadow.&lt;/Text&gt;&#10;      &lt;/Box&gt;&#10;    &lt;/Box&gt;&#10;  &lt;/Box&gt;&#10;  &lt;Box style={{ height: 32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038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Version-Controlling Diagrams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2286000"/>
            <a:ext cx="600075" cy="200025"/>
          </a:xfrm>
          <a:prstGeom prst="roundRect">
            <a:avLst>
              <a:gd name="adj" fmla="val 28571"/>
            </a:avLst>
          </a:prstGeom>
          <a:solidFill>
            <a:srgbClr val="FDF3F3"/>
          </a:solidFill>
          <a:ln w="12700">
            <a:solidFill>
              <a:srgbClr val="F0C9C7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476250" y="2314575"/>
            <a:ext cx="409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D9534F"/>
                </a:solidFill>
                <a:latin typeface="Microsoft YaHei"/>
                <a:ea typeface="Microsoft YaHei"/>
              </a:rPr>
              <a:t>.drawio</a:t>
            </a:r>
            <a:endParaRPr/>
          </a:p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57275" y="2314575"/>
            <a:ext cx="1971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one box moved — 340 lines rewritten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381000" y="4419600"/>
            <a:ext cx="495300" cy="200025"/>
          </a:xfrm>
          <a:prstGeom prst="roundRect">
            <a:avLst>
              <a:gd name="adj" fmla="val 28571"/>
            </a:avLst>
          </a:prstGeom>
          <a:solidFill>
            <a:srgbClr val="E8EFF8"/>
          </a:solidFill>
          <a:ln w="12700">
            <a:solidFill>
              <a:srgbClr val="C9D9F2"/>
            </a:solidFill>
            <a:prstDash val="solid"/>
          </a:ln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476250" y="4448175"/>
            <a:ext cx="3048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.puml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952500" y="4448175"/>
            <a:ext cx="1371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the same edit — two lines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829425" y="207645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6981825" y="220027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77075" y="2295525"/>
            <a:ext cx="161925" cy="161925"/>
          </a:xfrm>
          <a:prstGeom prst="rect">
            <a:avLst/>
          </a:prstGeom>
          <a:ln/>
        </p:spPr>
      </p:pic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7439025" y="220027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A diff you can actually read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7439025" y="239077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Two lines instead of three hundred. A reviewer can see what changed and disagree with it in writing.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6829425" y="3057525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6981825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3276600"/>
            <a:ext cx="161925" cy="161925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7439025" y="3181350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History becomes evidence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439025" y="3371850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log shows who added the multiplicity and when. That is what makes the contribution review possible at all.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6829425" y="4038600"/>
            <a:ext cx="4981575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6981825" y="41624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4257675"/>
            <a:ext cx="161925" cy="161925"/>
          </a:xfrm>
          <a:prstGeom prst="rect">
            <a:avLst/>
          </a:prstGeom>
          <a:ln/>
        </p:spPr>
      </p:pic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7439025" y="41624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is why it touches your grade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7439025" y="4352925"/>
            <a:ext cx="421957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Individual work is 40% of the mark and is assessed from the repository. If your edit is invisible, it cannot be counted.</a:t>
            </a:r>
            <a:endParaRPr/>
          </a:p>
        </p:txBody>
      </p:sp>
      <p:sp>
        <p:nvSpPr>
          <p:cNvPr id="489" name=""/>
          <p:cNvSpPr/>
          <p:nvPr/>
        </p:nvSpPr>
        <p:spPr>
          <a:xfrm rot="0" flipH="0" flipV="0">
            <a:off x="6829425" y="5019675"/>
            <a:ext cx="4981575" cy="695325"/>
          </a:xfrm>
          <a:prstGeom prst="roundRect">
            <a:avLst>
              <a:gd name="adj" fmla="val 123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6981825" y="5133975"/>
            <a:ext cx="46767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/>
                </a:solidFill>
                <a:latin typeface="Microsoft YaHei"/>
                <a:ea typeface="Microsoft YaHei"/>
              </a:rPr>
              <a:t>A PNG with no source file is worth zero. The source is the deliverable; the image is only its shadow.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381000" y="66294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11401425" y="6629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29 / 38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381000" y="2562225"/>
            <a:ext cx="6219825" cy="1781175"/>
          </a:xfrm>
          <a:prstGeom prst="roundRect">
            <a:avLst>
              <a:gd name="adj" fmla="val 42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4" name=""/>
          <p:cNvSpPr txBox="1"/>
          <p:nvPr/>
        </p:nvSpPr>
        <p:spPr>
          <a:xfrm rot="0" flipH="0" flipV="0">
            <a:off x="533400" y="2695575"/>
            <a:ext cx="5915025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&lt;mxCell id="9" value="Book" style="rounded=0;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   whiteSpace=wrap;html=1;" vertex="1" parent="1"&gt;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  &lt;mxGeometry x="320" y="80" width="160"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-       height="60" as="geometry" /&gt;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+  &lt;mxCell id="9" value="Book" style="rounded=0;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+     whiteSpace=wrap;html=1;fillColor=#E8EFF8;"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+     vertex="1" parent="1"&gt;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+    &lt;mxGeometry x="320" y="80" width="160"</a:t>
            </a:r>
            <a:endParaRPr/>
          </a:p>
          <a:p>
            <a:pPr>
              <a:lnSpc>
                <a:spcPct val="140000"/>
              </a:lnSpc>
            </a:pPr>
            <a:r>
              <a:rPr sz="788">
                <a:solidFill>
                  <a:srgbClr val="E5E7EB"/>
                </a:solidFill>
                <a:latin typeface="Menlo"/>
                <a:ea typeface="Menlo"/>
              </a:rPr>
              <a:t>+       height="86" as="geometry" /&gt;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381000" y="4695825"/>
            <a:ext cx="6219825" cy="819150"/>
          </a:xfrm>
          <a:prstGeom prst="roundRect">
            <a:avLst>
              <a:gd name="adj" fmla="val 930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96" name=""/>
          <p:cNvSpPr txBox="1"/>
          <p:nvPr/>
        </p:nvSpPr>
        <p:spPr>
          <a:xfrm rot="0" flipH="0" flipV="0">
            <a:off x="533400" y="4829175"/>
            <a:ext cx="5915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- Member "1"     -- "0..*"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+ Member "0..1"  -- "0..*"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+ Member "1"     -- "0..1" Library : registers</a:t>
            </a:r>
            <a:endParaRPr/>
          </a:p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TOOLCHAIN&lt;/Text&gt;&#10;  &lt;/Box&gt;&#10;  &lt;Box style={{ padding: '16px 40px 0 40px', flexDirection: 'row', alignItems: 'center', justifyContent: 'space-between' }}&gt;&#10;    &lt;Text style={{ fontSize: 30, fontWeight: 'bold', color: '#0E3F8C' }}&gt;Team Diagram Conventions&lt;/Text&gt;&#10;    &lt;Text style={{ fontSize: 14, color: '#1E4FA8', fontWeight: 'bold' }}&gt;30 / 38&lt;/Text&gt;&#10;  &lt;/Box&gt;&#10;  &lt;Box style={{ flex: 1, padding: '12px 40px 0 40px', flexDirection: 'column', gap: 10, justifyContent: 'center' }}&gt;&#10;    {[&#10;      ['file-signature', 'Naming', 'Lower-case kebab, one artefact per file: domain-model.puml, order-sequence.puml, order-state.puml. No &quot;final&quot;, no &quot;v3&quot;.', 'A file name is the first thing a reviewer reads.'],&#10;      ['folder-open', 'Location', 'Everything under docs/diagrams/ in the team repository. Never on a laptop, never as a chat attachment.', 'If it is not in the repo, it does not exist.'],&#10;      ['palette', 'Colour', 'One palette only: white = agreed concept, blue = proposed this week, grey = deprecated. Nothing else.', 'Colour that carries no meaning is noise.'],&#10;      ['pen-to-square', 'Decision line', 'Every diagram gets one sentence in the README next to it: the decision the diagram is making.', 'Forces you to know what the diagram is for.'],&#10;      ['image', 'Export', 'The PNG is exported from the source and committed beside it, same name, different extension.', 'So a reader can look at the picture without the tool.'],&#10;      ['user-check', 'Ownership', 'The README names an owner for each file. Editing someone else\'s file needs a commit message that says why.', 'This is what the contribution review reads.'],&#10;    ].map(([icon, t, d, w]) =&gt; (&#10;      &lt;Box key={t} style={{ flexDirection: 'row', gap: 16, alignItems: 'center', padding: '12px 18px', background: '#F7F9FC', borderRadius: 10, border: '1px solid #E5E7EB' }}&gt;&#10;        &lt;Box style={{ width: 38, height: 38, borderRadius: 9, background: '#E8EFF8', justifyContent: 'center', alignItems: 'center' }}&gt;&#10;          &lt;FAIcon name={icon} style={{ fill: '#1E4FA8', width: 18, height: 18 }} /&gt;&#10;        &lt;/Box&gt;&#10;        &lt;Box style={{ width: 120 }}&gt;&#10;          &lt;Text style={{ fontSize: 16, fontWeight: 'bold', color: '#0E3F8C' }}&gt;{t}&lt;/Text&gt;&#10;        &lt;/Box&gt;&#10;        &lt;Box style={{ flex: 1, flexDirection: 'column', gap: 2 }}&gt;&#10;          &lt;Text style={{ fontSize: 14, color: '#1A2230', lineHeight: 1.45 }}&gt;{d}&lt;/Text&gt;&#10;          &lt;Text style={{ fontSize: 12.5, color: '#8B97A8', lineHeight: 1.4, fontStyle: 'italic' }}&gt;{w}&lt;/Text&gt;&#10;        &lt;/Box&gt;&#10;      &lt;/Box&gt;&#10;    ))}&#10;  &lt;/Box&gt;&#10;  &lt;Box style={{ height: 44, background: '#0E3F8C', padding: '0 40px', flexDirection: 'row', alignItems: 'center', justifyContent: 'center' }}&gt;&#10;    &lt;Text style={{ fontSize: 17, color: '#FFFFFF', fontWeight: '600' }}&gt;Agree these six today, write them into the README, and stop re-arguing them for the rest of the term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10553700" y="257175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TOOLCHAIN</a:t>
            </a:r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37623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Diagram Conventions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381000" y="15716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9" name=""/>
          <p:cNvSpPr/>
          <p:nvPr/>
        </p:nvSpPr>
        <p:spPr>
          <a:xfrm rot="0" flipH="0" flipV="0">
            <a:off x="552450" y="17335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828800"/>
            <a:ext cx="171450" cy="1714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66800" y="18192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Naming</a:t>
            </a:r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2362200" y="16859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Lower-case kebab, one artefact per file: domain-model.puml, order-sequence.puml, order-state.puml. No "final", no "v3".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2362200" y="19431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A file name is the first thing a reviewer reads.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381000" y="23526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552450" y="2514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2609850"/>
            <a:ext cx="171450" cy="1714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1066800" y="26003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Location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362200" y="24669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Everything under docs/diagrams/ in the team repository. Never on a laptop, never as a chat attachment.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2362200" y="27241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If it is not in the repo, it does not exist.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381000" y="31337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552450" y="32956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3390900"/>
            <a:ext cx="171450" cy="1714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1066800" y="33813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Colour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2362200" y="32480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One palette only: white = agreed concept, blue = proposed this week, grey = deprecated. Nothing else.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2362200" y="35052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Colour that carries no meaning is noise.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381000" y="39147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7" name=""/>
          <p:cNvSpPr/>
          <p:nvPr/>
        </p:nvSpPr>
        <p:spPr>
          <a:xfrm rot="0" flipH="0" flipV="0">
            <a:off x="552450" y="40767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171950"/>
            <a:ext cx="171450" cy="171450"/>
          </a:xfrm>
          <a:prstGeom prst="rect">
            <a:avLst/>
          </a:prstGeom>
          <a:ln/>
        </p:spPr>
      </p:pic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1066800" y="41624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Decision line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2362200" y="40290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Every diagram gets one sentence in the README next to it: the decision the diagram is making.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2362200" y="42862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Forces you to know what the diagram is for.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469582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552450" y="4857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47700" y="4953000"/>
            <a:ext cx="171450" cy="171450"/>
          </a:xfrm>
          <a:prstGeom prst="rect">
            <a:avLst/>
          </a:prstGeom>
          <a:ln/>
        </p:spPr>
      </p:pic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1066800" y="494347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Export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2362200" y="481012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PNG is exported from the source and committed beside it, same name, different extension.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62200" y="506730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So a reader can look at the picture without the tool.</a:t>
            </a:r>
            <a:endParaRPr/>
          </a:p>
        </p:txBody>
      </p:sp>
      <p:sp>
        <p:nvSpPr>
          <p:cNvPr id="548" name=""/>
          <p:cNvSpPr/>
          <p:nvPr/>
        </p:nvSpPr>
        <p:spPr>
          <a:xfrm rot="0" flipH="0" flipV="0">
            <a:off x="381000" y="5476875"/>
            <a:ext cx="11430000" cy="685800"/>
          </a:xfrm>
          <a:prstGeom prst="roundRect">
            <a:avLst>
              <a:gd name="adj" fmla="val 1388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49" name=""/>
          <p:cNvSpPr/>
          <p:nvPr/>
        </p:nvSpPr>
        <p:spPr>
          <a:xfrm rot="0" flipH="0" flipV="0">
            <a:off x="552450" y="56388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647700" y="5734050"/>
            <a:ext cx="171450" cy="1714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066800" y="5724525"/>
            <a:ext cx="114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Ownership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2362200" y="5591175"/>
            <a:ext cx="92773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The README names an owner for each file. Editing someone else's file needs a commit message that says why.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2362200" y="5848350"/>
            <a:ext cx="927735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 i="1">
                <a:solidFill>
                  <a:srgbClr val="8B97A8"/>
                </a:solidFill>
                <a:latin typeface="Microsoft YaHei"/>
                <a:ea typeface="Microsoft YaHei"/>
              </a:rPr>
              <a:t>This is what the contribution review reads.</a:t>
            </a:r>
            <a:endParaRPr/>
          </a:p>
        </p:txBody>
      </p:sp>
      <p:sp>
        <p:nvSpPr>
          <p:cNvPr id="55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2200275" y="6553200"/>
            <a:ext cx="7800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Agree these six today, write them into the README, and stop re-arguing them for the rest of the term.</a:t>
            </a:r>
            <a:endParaRPr/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spTree>
      <p:nvGrpSpPr>
        <p:cNvPr id="5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90 MINUTES&lt;/Text&gt;&#10;      &lt;Text style={{ fontSize: 46, fontWeight: 'bold', color: '#FFFFFF', lineHeight: 1.18 }}&gt;Exercises &amp;amp;&lt;br /&gt;Team Setup&lt;/Text&gt;&#10;      &lt;Box style={{ width: 64, height: 4, background: '#FFC107', marginTop: 26, marginBottom: 26 }} /&gt;&#10;      &lt;Box style={{ flexDirection: 'column', gap: 12 }}&gt;&#10;        {[&#10;          'Exercise 3.1 — name that diagram',&#10;          'Exercise 3.2 — model a library in PlantUML',&#10;          'Then: the toolchain and the conventions, checked 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90 MINUTES</a:t>
            </a:r>
            <a:endParaRPr/>
          </a:p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Exercises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Team Setup</a:t>
            </a:r>
            <a:endParaRPr/>
          </a:p>
        </p:txBody>
      </p:sp>
      <p:sp>
        <p:nvSpPr>
          <p:cNvPr id="5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3.1 — name that diagram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3.2 — model a library in PlantUML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4457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the toolchain and the conventions, checked off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57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flex: 1, padding: '18px 40px 0 40px', flexDirection: 'row', gap: 26 }}&gt;&#10;    &lt;Box style={{ width: 320, flexDirection: 'column', gap: 12, justifyContent: 'center' }}&gt;&#10;      &lt;Box style={{ padding: '6px 14px', background: '#0E3F8C', borderRadius: 6, alignSelf: 'flex-start' }}&gt;&#10;        &lt;Text style={{ fontSize: 13, color: '#FFFFFF', fontWeight: 'bold', letterSpacing: 1 }}&gt;EXERCISE 3.1&lt;/Text&gt;&#10;      &lt;/Box&gt;&#10;      &lt;Text style={{ fontSize: 30, fontWeight: 'bold', color: '#0E3F8C', lineHeight: 1.2 }}&gt;Name That&lt;br /&gt;Diagram&lt;/Text&gt;&#10;      &lt;Box style={{ width: 52, height: 4, background: '#FFC107' }} /&gt;&#10;      &lt;Text style={{ fontSize: 15, color: '#4A5568', lineHeight: 1.6 }}&gt;Six fragments. For each one, write down two things: which diagram it is, and the question that diagram answers.&lt;/Text&gt;&#10;      &lt;Box style={{ padding: '13px 16px', background: '#F0F5FC', borderRadius: 9, borderLeft: '4px solid #1E4FA8' }}&gt;&#10;        &lt;Text style={{ fontSize: 14, color: '#0E3F8C', lineHeight: 1.5, fontWeight: 'bold' }}&gt;Answer the question, not just the name. &quot;It is a class diagram&quot; earns half a mark.&lt;/Text&gt;&#10;      &lt;/Box&gt;&#10;      &lt;Text style={{ fontSize: 13.5, color: '#8B97A8', lineHeight: 1.5 }}&gt;Ten minutes alone, then the pair next to you reads your answers. Answers on the next slide — do not scroll ahead.&lt;/Text&gt;&#10;    &lt;/Box&gt;&#10;    &lt;Box style={{ flex: 1, flexDirection: 'column', gap: 9, justifyContent: 'center' }}&gt;&#10;      {[&#10;        ['A', 'A stick figure labelled Student, an ellipse labelled Place Order, and a thin rectangle drawn around the ellipse.'],&#10;        ['B', 'Three boxes — Order, OrderLine, MenuItem — joined by lines carrying the labels 1 and 1..*.'],&#10;        ['C', 'Three dashed vertical lines running down the page, with horizontal arrows stepping between them.'],&#10;        ['D', 'Four rounded rectangles connected by arrows labelled submit, cancel, deliver, hand over.'],&#10;        ['E', 'One thick horizontal bar that splits a single flow into two, and a second bar further down that brings them back together.'],&#10;        ['F', 'Four large boxes, each containing several smaller ones, with arrows drawn between the large boxes.'],&#10;      ].map(([k, d]) =&gt; (&#10;        &lt;Box key={k} style={{ flexDirection: 'row', gap: 14, alignItems: 'flex-start', padding: '12px 16px', background: '#F7F9FC', borderRadius: 10, border: '1px solid #E5E7EB' }}&gt;&#10;          &lt;Box style={{ width: 30, height: 30, borderRadius: 7, background: '#E8EFF8', justifyContent: 'center', alignItems: 'center' }}&gt;&#10;            &lt;Text style={{ fontSize: 15, fontWeight: 'bold', color: '#1E4FA8' }}&gt;{k}&lt;/Text&gt;&#10;          &lt;/Box&gt;&#10;          &lt;Text style={{ flex: 1, fontSize: 14.5, color: '#1A2230', lineHeight: 1.5 }}&gt;{d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81000" y="1685925"/>
            <a:ext cx="1219200" cy="266700"/>
          </a:xfrm>
          <a:prstGeom prst="roundRect">
            <a:avLst>
              <a:gd name="adj" fmla="val 214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514350" y="17430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FFFFFF"/>
                </a:solidFill>
                <a:latin typeface="Microsoft YaHei"/>
                <a:ea typeface="Microsoft YaHei"/>
              </a:rPr>
              <a:t>EXERCISE 3.1</a:t>
            </a:r>
            <a:endParaRPr/>
          </a:p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381000" y="2066925"/>
            <a:ext cx="3048000" cy="82867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Name That</a:t>
            </a:r>
            <a:endParaRPr/>
          </a:p>
          <a:p>
            <a:pPr>
              <a:lnSpc>
                <a:spcPct val="12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Diagram</a:t>
            </a:r>
            <a:endParaRPr/>
          </a:p>
        </p:txBody>
      </p:sp>
      <p:sp>
        <p:nvSpPr>
          <p:cNvPr id="578" name=""/>
          <p:cNvSpPr/>
          <p:nvPr/>
        </p:nvSpPr>
        <p:spPr>
          <a:xfrm rot="0" flipH="0" flipV="0">
            <a:off x="381000" y="3009900"/>
            <a:ext cx="4953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381000" y="3162300"/>
            <a:ext cx="30480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Six fragments. For each one, write down two things: which diagram it is, and the question that diagram answers.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19100" y="4105275"/>
            <a:ext cx="3048000" cy="733425"/>
          </a:xfrm>
          <a:prstGeom prst="roundRect">
            <a:avLst>
              <a:gd name="adj" fmla="val 1168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419100" y="4105275"/>
            <a:ext cx="3048000" cy="733425"/>
          </a:xfrm>
          <a:custGeom>
            <a:pathLst>
              <a:path w="320" h="77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72"/>
                </a:lnTo>
                <a:cubicBezTo>
                  <a:pt x="4" y="74"/>
                  <a:pt x="6" y="76"/>
                  <a:pt x="8" y="77"/>
                </a:cubicBezTo>
                <a:cubicBezTo>
                  <a:pt x="4" y="77"/>
                  <a:pt x="0" y="73"/>
                  <a:pt x="0" y="68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571500" y="4229100"/>
            <a:ext cx="27051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Answer the question, not just the name. "It is a class diagram" earns half a mark.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381000" y="4953000"/>
            <a:ext cx="30480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Ten minutes alone, then the pair next to you reads your answers. Answers on the next slide — do not scroll ahead.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3676650" y="19145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5" name=""/>
          <p:cNvSpPr/>
          <p:nvPr/>
        </p:nvSpPr>
        <p:spPr>
          <a:xfrm rot="0" flipH="0" flipV="0">
            <a:off x="3829050" y="20288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86" name="" descr="{&quot;isTemplate&quot;:true,&quot;type&quot;:&quot;text&quot;}"/>
          <p:cNvSpPr txBox="1"/>
          <p:nvPr/>
        </p:nvSpPr>
        <p:spPr>
          <a:xfrm rot="0" flipH="0" flipV="0">
            <a:off x="3924300" y="20859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4248150" y="20288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A stick figure labelled Student, an ellipse labelled Place Order, and a thin rectangle drawn around the ellipse.</a:t>
            </a:r>
            <a:endParaRPr/>
          </a:p>
        </p:txBody>
      </p:sp>
      <p:sp>
        <p:nvSpPr>
          <p:cNvPr id="588" name=""/>
          <p:cNvSpPr/>
          <p:nvPr/>
        </p:nvSpPr>
        <p:spPr>
          <a:xfrm rot="0" flipH="0" flipV="0">
            <a:off x="3676650" y="25146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9" name=""/>
          <p:cNvSpPr/>
          <p:nvPr/>
        </p:nvSpPr>
        <p:spPr>
          <a:xfrm rot="0" flipH="0" flipV="0">
            <a:off x="3829050" y="26289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924300" y="268605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248150" y="26289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boxes — Order, OrderLine, MenuItem — joined by lines carrying the labels 1 and 1..*.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3676650" y="311467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3" name=""/>
          <p:cNvSpPr/>
          <p:nvPr/>
        </p:nvSpPr>
        <p:spPr>
          <a:xfrm rot="0" flipH="0" flipV="0">
            <a:off x="3829050" y="322897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924300" y="328612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4248150" y="322897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Three dashed vertical lines running down the page, with horizontal arrows stepping between them.</a:t>
            </a:r>
            <a:endParaRPr/>
          </a:p>
        </p:txBody>
      </p:sp>
      <p:sp>
        <p:nvSpPr>
          <p:cNvPr id="596" name=""/>
          <p:cNvSpPr/>
          <p:nvPr/>
        </p:nvSpPr>
        <p:spPr>
          <a:xfrm rot="0" flipH="0" flipV="0">
            <a:off x="3676650" y="371475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3829050" y="382905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924300" y="3886200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248150" y="382905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rounded rectangles connected by arrows labelled submit, cancel, deliver, hand over.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676650" y="4314825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3829050" y="4429125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3924300" y="4486275"/>
            <a:ext cx="104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E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4248150" y="4429125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One thick horizontal bar that splits a single flow into two, and a second bar further down that brings them back together.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3676650" y="4914900"/>
            <a:ext cx="8134350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3829050" y="5029200"/>
            <a:ext cx="285750" cy="285750"/>
          </a:xfrm>
          <a:prstGeom prst="roundRect">
            <a:avLst>
              <a:gd name="adj" fmla="val 2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3924300" y="50863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F</a:t>
            </a:r>
            <a:endParaRPr/>
          </a:p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4248150" y="5029200"/>
            <a:ext cx="7410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1A2230"/>
                </a:solidFill>
                <a:latin typeface="Microsoft YaHei"/>
                <a:ea typeface="Microsoft YaHei"/>
              </a:rPr>
              <a:t>Four large boxes, each containing several smaller ones, with arrows drawn between the large boxes.</a:t>
            </a:r>
            <a:endParaRPr/>
          </a:p>
        </p:txBody>
      </p:sp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16="http://schemas.microsoft.com/office/drawing/2014/main"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16 asvg">
  <p:cSld>
    <p:spTree>
      <p:nvGrpSpPr>
        <p:cNvPr id="61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2px 40px 0 40px', flexDirection: 'row', alignItems: 'center', justifyContent: 'space-between' }}&gt;&#10;    &lt;Text style={{ fontSize: 30, fontWeight: 'bold', color: '#0E3F8C' }}&gt;Exercise 3.1 — Answers&lt;/Text&gt;&#10;    &lt;Text style={{ fontSize: 14, color: '#1E4FA8', fontWeight: 'bold' }}&gt;33 / 38&lt;/Text&gt;&#10;  &lt;/Box&gt;&#10;  &lt;Box style={{ flex: 1, padding: '6px 40px 2px 40px' }}&gt;&#10;    &lt;Table&#10;      style={{ width: '100%', height: '100%' }}&#10;      defaultTextStyle={{ fontSize: 13.5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Fragment', textStyle: { bold: true, color: '#FFFFFF', textAlign: 'left' }, cellStyle: { background: { color: '#0E3F8C' } } },&#10;          { text: 'Diagram', textStyle: { bold: true, color: '#FFFFFF', textAlign: 'left' }, cellStyle: { background: { color: '#1E4FA8' } } },&#10;          { text: 'The question it answers', textStyle: { bold: true, color: '#FFFFFF', textAlign: 'left' }, cellStyle: { background: { color: '#3D7BD9' } } },&#10;        ],&#10;        [&#10;          { text: 'A', textStyle: { bold: true, color: '#0E3F8C' }, cellStyle: { background: { color: '#F7F9FC' } } },&#10;          { text: 'Use case', textStyle: { color: '#4A5568' }, cellStyle: { background: { color: '#F7F9FC' } } },&#10;          { text: 'What does the system do, and for whom?', textStyle: { color: '#4A5568' }, cellStyle: { background: { color: '#F7F9FC' } } },&#10;        ],&#10;        [&#10;          { text: 'B', textStyle: { bold: true, color: '#0E3F8C' } },&#10;          { text: 'Class (domain model)', textStyle: { color: '#4A5568' } },&#10;          { text: 'Which concepts exist, and how many of each?', textStyle: { color: '#4A5568' } },&#10;        ],&#10;        [&#10;          { text: 'C', textStyle: { bold: true, color: '#0E3F8C' }, cellStyle: { background: { color: '#F7F9FC' } } },&#10;          { text: 'Sequence', textStyle: { color: '#4A5568' }, cellStyle: { background: { color: '#F7F9FC' } } },&#10;          { text: 'Who sends which message to whom, in what order?', textStyle: { color: '#4A5568' }, cellStyle: { background: { color: '#F7F9FC' } } },&#10;        ],&#10;        [&#10;          { text: 'D', textStyle: { bold: true, color: '#0E3F8C' } },&#10;          { text: 'State machine', textStyle: { color: '#4A5568' } },&#10;          { text: 'What can happen to this one object over time?', textStyle: { color: '#4A5568' } },&#10;        ],&#10;        [&#10;          { text: 'E', textStyle: { bold: true, color: '#0E3F8C' }, cellStyle: { background: { color: '#F7F9FC' } } },&#10;          { text: 'Activity', textStyle: { color: '#4A5568' }, cellStyle: { background: { color: '#F7F9FC' } } },&#10;          { text: 'What are the steps, and which can run at the same time?', textStyle: { color: '#4A5568' }, cellStyle: { background: { color: '#F7F9FC' } } },&#10;        ],&#10;        [&#10;          { text: 'F', textStyle: { bold: true, color: '#0E3F8C' } },&#10;          { text: 'Package', textStyle: { color: '#4A5568' } },&#10;          { text: 'How is the system cut into parts?', textStyle: { color: '#4A5568' } },&#10;        ],&#10;      ]}&#10;    /&gt;&#10;  &lt;/Box&gt;&#10;  &lt;Box style={{ height: 44, padding: '0 40px', flexDirection: 'row', alignItems: 'center', gap: 16, background: '#FDF3F3' }}&gt;&#10;    &lt;FAIcon name='triangle-exclamation' style={{ fill: '#D9534F', width: 19, height: 19 }} /&gt;&#10;    &lt;Text style={{ fontSize: 13.5, color: '#4A5568', lineHeight: 1.4 }}&gt;&#10;      &lt;Text style={{ fontWeight: 'bold', color: '#D9534F' }}&gt;D and E are the ones people mix up.&lt;/Text&gt; Labelled arrows between rounded boxes make it a state machine; an activity diagram labels the boxes themselves.&#10;    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381000" y="800100"/>
            <a:ext cx="32956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3.1 — Answers</a:t>
            </a:r>
            <a:endParaRPr/>
          </a:p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11401425" y="8953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  <p:graphicFrame>
        <p:nvGraphicFramePr>
          <p:cNvPr id="617" name=""/>
          <p:cNvGraphicFramePr/>
          <p:nvPr/>
        </p:nvGraphicFramePr>
        <p:xfrm rot="0" flipH="0" flipV="0">
          <a:off x="381000" y="1200150"/>
          <a:ext cx="11430000" cy="5219700"/>
        </p:xfrm>
        <a:graphic>
          <a:graphicData uri="http://schemas.openxmlformats.org/drawingml/2006/table">
            <a:tbl>
              <a:tblGrid>
                <a:gridCol w="1448987">
                  <a:extLst>
                    <a:ext uri="{9D8B030D-6E8A-4147-A177-3AD203B41FA5}">
                      <a16:colId val="1"/>
                    </a:ext>
                  </a:extLst>
                </a:gridCol>
                <a:gridCol w="2865595">
                  <a:extLst>
                    <a:ext uri="{9D8B030D-6E8A-4147-A177-3AD203B41FA5}">
                      <a16:colId val="2"/>
                    </a:ext>
                  </a:extLst>
                </a:gridCol>
                <a:gridCol w="711541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Fragment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The question it answers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does the system do, and for whom?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Class (domain model)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Which concepts exist, and how many of each?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Sequence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Who sends which message to whom, in what order?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State machine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can happen to this one object over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are the steps, and which can run at the same time?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4567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Package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13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is the system cut into parts?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618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FDF3F3"/>
          </a:solidFill>
          <a:ln/>
        </p:spPr>
        <p:txBody>
          <a:bodyPr/>
          <a:p/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6562725"/>
            <a:ext cx="180975" cy="180975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14375" y="6543675"/>
            <a:ext cx="8667750" cy="2190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 and E are the ones people mix up.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Labelled arrows between rounded boxes make it a state machine; an activity diagram labels the boxes themselves.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Library Model&lt;/Text&gt;&#10;    &lt;Text style={{ fontSize: 14, color: '#1E4FA8', fontWeight: 'bold' }}&gt;34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}&#10;&#10;class Book {&#10;  - isbn : String&#10;  + isAvailable() : boolean&#10;}&#10;&#10;class Member {&#10;  - name : String&#10;  + borrow(b : Book) : void&#10;}&#10;&#10;' TODO 1  Library holds Books -- a&#10;'         composition. One library,&#10;'         many books. Fill the ???&#10;Library &quot;1&quot; *-- &quot;???&quot; Book : holds&#10;&#10;' TODO 2  A Member may hold zero or more&#10;'         Books. A plain link, no diamond.&#10;Member &quot;???&quot; -- &quot;???&quot; Book : borrows&#10;@enduml`} language='text' width={600} fontSize={11.5} /&gt;&#10;    &lt;/Box&gt;&#10;    &lt;Box style={{ flex: 4, flexDirection: 'column', gap: 9, justifyContent: 'center' }}&gt;&#10;      &lt;Box style={{ padding: '13px 16px', background: '#F0F5FC', borderRadius: 10, borderLeft: '4px solid #1E4FA8' }}&gt;&#10;        &lt;Text style={{ fontSize: 16, fontWeight: 'bold', color: '#0E3F8C', lineHeight: 1.4 }}&gt;Fill in the two question marks — and be ready to defend each number.&lt;/Text&gt;&#10;      &lt;/Box&gt;&#10;      {[&#10;        ['list-ol', 'Work in pairs, one file', 'Pair on the keyboard, not on the conversation. The driver types; the navigator argues about multiplicities.'],&#10;        ['comments', 'A comment is allowed', 'Use a line starting with an apostrophe to record the decision you could not settle. That is worth marks.'],&#10;        ['eye', 'Render before you submit', 'A .puml file that does not render is not a model. Check it in VS Code or on the web renderer first.'],&#10;      ].map(([icon, t, d]) =&gt; (&#10;        &lt;Box key={t} style={{ flexDirection: 'row', gap: 12, alignItems: 'flex-start', padding: '11px 14px', background: '#F7F9FC', borderRadius: 10, border: '1px solid #E5E7EB' }}&gt;&#10;          &lt;Box style={{ width: 33, height: 33, borderRadius: 9, background: '#E8EFF8', justifyContent: 'center', alignItems: 'center' }}&gt;&#10;            &lt;FAIcon name={icon} style={{ fill: '#1E4FA8', width: 16, height: 16 }} /&gt;&#10;          &lt;/Box&gt;&#10;          &lt;Box style={{ flex: 1, flexDirection: 'column', gap: 2 }}&gt;&#10;            &lt;Text style={{ fontSize: 14.5, fontWeight: 'bold', color: '#0E3F8C' }}&gt;{t}&lt;/Text&gt;&#10;            &lt;Text style={{ fontSize: 13, color: '#4A5568', lineHeight: 1.4 }}&gt;{d}&lt;/Text&gt;&#10;          &lt;/Box&gt;&#10;        &lt;/Box&gt;&#10;      ))}&#10;      &lt;Box style={{ padding: '10px 14px', background: '#FFFFFF', borderRadius: 9, border: '1px dashed #D6DCE5' }}&gt;&#10;        &lt;Text style={{ fontSize: 12.5, color: '#8B97A8', lineHeight: 1.45 }}&gt;Submit &lt;Text style={{ fontWeight: 'bold', color: '#0E3F8C' }}&gt;library.puml&lt;/Text&gt; plus the exported PNG, in &lt;Text style={{ fontWeight: 'bold', color: '#0E3F8C' }}&gt;docs/diagrams/&lt;/Text&gt;. Twenty-five minutes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2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3971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Library Model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6877050" y="190500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29" name=""/>
          <p:cNvSpPr/>
          <p:nvPr/>
        </p:nvSpPr>
        <p:spPr>
          <a:xfrm rot="0" flipH="0" flipV="0">
            <a:off x="6877050" y="1905000"/>
            <a:ext cx="4972050" cy="762000"/>
          </a:xfrm>
          <a:custGeom>
            <a:pathLst>
              <a:path w="522" h="8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4"/>
                </a:lnTo>
                <a:cubicBezTo>
                  <a:pt x="4" y="77"/>
                  <a:pt x="6" y="79"/>
                  <a:pt x="9" y="80"/>
                </a:cubicBezTo>
                <a:cubicBezTo>
                  <a:pt x="4" y="79"/>
                  <a:pt x="0" y="75"/>
                  <a:pt x="0" y="7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7029450" y="2028825"/>
            <a:ext cx="4629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Fill in the two question marks — and be ready to defend each number.</a:t>
            </a:r>
            <a:endParaRPr/>
          </a:p>
        </p:txBody>
      </p:sp>
      <p:sp>
        <p:nvSpPr>
          <p:cNvPr id="631" name=""/>
          <p:cNvSpPr/>
          <p:nvPr/>
        </p:nvSpPr>
        <p:spPr>
          <a:xfrm rot="0" flipH="0" flipV="0">
            <a:off x="6838950" y="275272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2" name=""/>
          <p:cNvSpPr/>
          <p:nvPr/>
        </p:nvSpPr>
        <p:spPr>
          <a:xfrm rot="0" flipH="0" flipV="0">
            <a:off x="6972300" y="285750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58025" y="2943225"/>
            <a:ext cx="152400" cy="152400"/>
          </a:xfrm>
          <a:prstGeom prst="rect">
            <a:avLst/>
          </a:prstGeom>
          <a:ln/>
        </p:spPr>
      </p:pic>
      <p:sp>
        <p:nvSpPr>
          <p:cNvPr id="634" name="" descr="{&quot;isTemplate&quot;:true,&quot;type&quot;:&quot;text&quot;}"/>
          <p:cNvSpPr txBox="1"/>
          <p:nvPr/>
        </p:nvSpPr>
        <p:spPr>
          <a:xfrm rot="0" flipH="0" flipV="0">
            <a:off x="7400925" y="28575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Work in pairs, one file</a:t>
            </a:r>
            <a:endParaRPr/>
          </a:p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7400925" y="304800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Pair on the keyboard, not on the conversation. The driver types; the navigator argues about multiplicities.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6838950" y="3657600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37" name=""/>
          <p:cNvSpPr/>
          <p:nvPr/>
        </p:nvSpPr>
        <p:spPr>
          <a:xfrm rot="0" flipH="0" flipV="0">
            <a:off x="6972300" y="3762375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58025" y="3848100"/>
            <a:ext cx="152400" cy="152400"/>
          </a:xfrm>
          <a:prstGeom prst="rect">
            <a:avLst/>
          </a:prstGeom>
          <a:ln/>
        </p:spPr>
      </p:pic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7400925" y="376237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A comment is allowed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400925" y="3952875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Use a line starting with an apostrophe to record the decision you could not settle. That is worth marks.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6838950" y="4562475"/>
            <a:ext cx="497205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42" name=""/>
          <p:cNvSpPr/>
          <p:nvPr/>
        </p:nvSpPr>
        <p:spPr>
          <a:xfrm rot="0" flipH="0" flipV="0">
            <a:off x="6972300" y="4667250"/>
            <a:ext cx="314325" cy="314325"/>
          </a:xfrm>
          <a:prstGeom prst="roundRect">
            <a:avLst>
              <a:gd name="adj" fmla="val 27273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4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58025" y="4752975"/>
            <a:ext cx="152400" cy="152400"/>
          </a:xfrm>
          <a:prstGeom prst="rect">
            <a:avLst/>
          </a:prstGeom>
          <a:ln/>
        </p:spPr>
      </p:pic>
      <p:sp>
        <p:nvSpPr>
          <p:cNvPr id="644" name="" descr="{&quot;isTemplate&quot;:true,&quot;type&quot;:&quot;text&quot;}"/>
          <p:cNvSpPr txBox="1"/>
          <p:nvPr/>
        </p:nvSpPr>
        <p:spPr>
          <a:xfrm rot="0" flipH="0" flipV="0">
            <a:off x="7400925" y="466725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Microsoft YaHei"/>
                <a:ea typeface="Microsoft YaHei"/>
              </a:rPr>
              <a:t>Render before you submit</a:t>
            </a:r>
            <a:endParaRPr/>
          </a:p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7400925" y="4857750"/>
            <a:ext cx="42767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.puml file that does not render is not a model. Check it in VS Code or on the web renderer first.</a:t>
            </a:r>
            <a:endParaRPr/>
          </a:p>
        </p:txBody>
      </p:sp>
      <p:sp>
        <p:nvSpPr>
          <p:cNvPr id="646" name=""/>
          <p:cNvSpPr/>
          <p:nvPr/>
        </p:nvSpPr>
        <p:spPr>
          <a:xfrm rot="0" flipH="0" flipV="0">
            <a:off x="6838950" y="5467350"/>
            <a:ext cx="4972050" cy="40005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6972300" y="5562600"/>
            <a:ext cx="4705350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Submit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library.puml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 plus the exported PNG, in 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docs/diagrams/</a:t>
            </a: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. Twenty-five minutes.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381000" y="1447800"/>
            <a:ext cx="6210300" cy="4876800"/>
          </a:xfrm>
          <a:prstGeom prst="roundRect">
            <a:avLst>
              <a:gd name="adj" fmla="val 1563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51" name=""/>
          <p:cNvSpPr txBox="1"/>
          <p:nvPr/>
        </p:nvSpPr>
        <p:spPr>
          <a:xfrm rot="0" flipH="0" flipV="0">
            <a:off x="533400" y="1581150"/>
            <a:ext cx="5905500" cy="461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@startuml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Library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+ addBook(b : Book)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Book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- isbn :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+ isAvailable() : boolean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class Member {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  + borrow(b : Book) : void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' TODO 1  Library holds Books -- a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'         composition. One library,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'         many books. Fill the ???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Library "1" *-- "???" Book : holds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' TODO 2  A Member may hold zero or more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'         Books. A plain link, no diamond.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Member "???" -- "???" Book : borrows</a:t>
            </a:r>
            <a:endParaRPr/>
          </a:p>
          <a:p>
            <a:pPr>
              <a:lnSpc>
                <a:spcPct val="140000"/>
              </a:lnSpc>
            </a:pPr>
            <a:r>
              <a:rPr sz="863">
                <a:solidFill>
                  <a:srgbClr val="E5E7EB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35.xml><?xml version="1.0" encoding="utf-8"?>
<p:sld xmlns:a="http://schemas.openxmlformats.org/drawingml/2006/main" xmlns:p="http://schemas.openxmlformats.org/presentationml/2006/main">
  <p:cSld>
    <p:spTree>
      <p:nvGrpSpPr>
        <p:cNvPr id="6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4px 40px 0 40px', flexDirection: 'row', alignItems: 'center', justifyContent: 'space-between' }}&gt;&#10;    &lt;Text style={{ fontSize: 30, fontWeight: 'bold', color: '#0E3F8C' }}&gt;Exercise 3.2 — Reference Solut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 }}&gt;&#10;      &lt;CodeBlock code={`@startuml&#10;class Library {&#10;  - name : String&#10;  + addBook(b : Book) : void&#10;  + findByIsbn(isbn : String) : Book&#10;}&#10;&#10;class Book {&#10;  - isbn : String&#10;  - title : String&#10;  + isAvailable() : boolean&#10;}&#10;&#10;class Member {&#10;  - id : String&#10;  - name : String&#10;  + borrow(b : Book) : void&#10;}&#10;&#10;Library &quot;1&quot; *-- &quot;0..*&quot; Book : holds&#10;Member &quot;0..1&quot; -- &quot;0..*&quot; Book : borrows&#10;@enduml`} language='text' width={600} fontSize={12} /&gt;&#10;    &lt;/Box&gt;&#10;    &lt;Box style={{ flex: 4, flexDirection: 'column', gap: 10, justifyContent: 'center' }}&gt;&#10;      {[&#10;        ['1', '0..* at the Book end', 'A library with no books yet is still a legal library. Writing 1..* here would force a fake Book into every new branch — that is the kind of error that reaches production.'],&#10;        ['2', '0..1 at the Member end', 'The Book side of a loan is optional: a Book on the shelf is borrowed by nobody. Write 1 and no Book can ever sit on a shelf.'],&#10;        ['3', '*-- and not o--', 'Composition says the Books go when the Library record goes. If your pair disagreed, write the disagreement in the README — the argument is the deliverable, not the symbol.'],&#10;      ].map(([n, t, d]) =&gt; (&#10;        &lt;Box key={n} style={{ flexDirection: 'row', gap: 13, alignItems: 'flex-start', padding: '13px 16px', background: '#F7F9FC', borderRadius: 10, border: '1px solid #E5E7EB' }}&gt;&#10;          &lt;Box style={{ width: 28, height: 28, borderRadius: 14, background: '#1E4FA8', justifyContent: 'center', alignItems: 'center' }}&gt;&#10;            &lt;Text style={{ fontSize: 14, fontWeight: 'bold', color: '#FFFFFF' }}&gt;{n}&lt;/Text&gt;&#10;          &lt;/Box&gt;&#10;          &lt;Box style={{ flex: 1, flexDirection: 'column', gap: 3 }}&gt;&#10;            &lt;Text style={{ fontSize: 15, fontWeight: 'bold', color: '#0E3F8C' }}&gt;{t}&lt;/Text&gt;&#10;            &lt;Text style={{ fontSize: 13, color: '#4A5568', lineHeight: 1.45 }}&gt;{d}&lt;/Text&gt;&#10;          &lt;/Box&gt;&#10;        &lt;/Box&gt;&#10;      ))}&#10;      &lt;Box style={{ padding: '12px 16px', background: '#F0F5FC', borderRadius: 9, borderLeft: '4px solid #1E4FA8' }}&gt;&#10;        &lt;Text style={{ fontSize: 13.5, color: '#0E3F8C', lineHeight: 1.5, fontWeight: 'bold' }}&gt;A different answer can be correct. It stops being correct the moment you cannot say why.&lt;/Text&gt;&#10;      &lt;/Box&gt;&#10;    &lt;/Box&gt;&#10;  &lt;/Box&gt;&#10;  &lt;Box style={{ height: 34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57" name="" descr="{&quot;isTemplate&quot;:true,&quot;type&quot;:&quot;text&quot;}"/>
          <p:cNvSpPr txBox="1"/>
          <p:nvPr/>
        </p:nvSpPr>
        <p:spPr>
          <a:xfrm rot="0" flipH="0" flipV="0">
            <a:off x="381000" y="819150"/>
            <a:ext cx="4705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Exercise 3.2 — Reference Solution</a:t>
            </a:r>
            <a:endParaRPr/>
          </a:p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11401425" y="9144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59" name=""/>
          <p:cNvSpPr/>
          <p:nvPr/>
        </p:nvSpPr>
        <p:spPr>
          <a:xfrm rot="0" flipH="0" flipV="0">
            <a:off x="6838950" y="18573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0" name=""/>
          <p:cNvSpPr/>
          <p:nvPr/>
        </p:nvSpPr>
        <p:spPr>
          <a:xfrm rot="0" flipH="0" flipV="0">
            <a:off x="6991350" y="19812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7086600" y="20383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381875" y="19812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0..* at the Book end</a:t>
            </a:r>
            <a:endParaRPr/>
          </a:p>
        </p:txBody>
      </p:sp>
      <p:sp>
        <p:nvSpPr>
          <p:cNvPr id="663" name="" descr="{&quot;isTemplate&quot;:true,&quot;type&quot;:&quot;text&quot;}"/>
          <p:cNvSpPr txBox="1"/>
          <p:nvPr/>
        </p:nvSpPr>
        <p:spPr>
          <a:xfrm rot="0" flipH="0" flipV="0">
            <a:off x="7381875" y="21812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library with no books yet is still a legal library. Writing 1..* here would force a fake Book into every new branch — that is the kind of error that reaches production.</a:t>
            </a:r>
            <a:endParaRPr/>
          </a:p>
        </p:txBody>
      </p:sp>
      <p:sp>
        <p:nvSpPr>
          <p:cNvPr id="664" name=""/>
          <p:cNvSpPr/>
          <p:nvPr/>
        </p:nvSpPr>
        <p:spPr>
          <a:xfrm rot="0" flipH="0" flipV="0">
            <a:off x="6838950" y="3048000"/>
            <a:ext cx="4972050" cy="885825"/>
          </a:xfrm>
          <a:prstGeom prst="roundRect">
            <a:avLst>
              <a:gd name="adj" fmla="val 1075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5" name=""/>
          <p:cNvSpPr/>
          <p:nvPr/>
        </p:nvSpPr>
        <p:spPr>
          <a:xfrm rot="0" flipH="0" flipV="0">
            <a:off x="6991350" y="31718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66" name="" descr="{&quot;isTemplate&quot;:true,&quot;type&quot;:&quot;text&quot;}"/>
          <p:cNvSpPr txBox="1"/>
          <p:nvPr/>
        </p:nvSpPr>
        <p:spPr>
          <a:xfrm rot="0" flipH="0" flipV="0">
            <a:off x="7086600" y="3228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381875" y="3171825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0..1 at the Member end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7381875" y="3371850"/>
            <a:ext cx="42767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The Book side of a loan is optional: a Book on the shelf is borrowed by nobody. Write 1 and no Book can ever sit on a shelf.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6838950" y="4029075"/>
            <a:ext cx="4972050" cy="1095375"/>
          </a:xfrm>
          <a:prstGeom prst="roundRect">
            <a:avLst>
              <a:gd name="adj" fmla="val 869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70" name=""/>
          <p:cNvSpPr/>
          <p:nvPr/>
        </p:nvSpPr>
        <p:spPr>
          <a:xfrm rot="0" flipH="0" flipV="0">
            <a:off x="6991350" y="4152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086600" y="42100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7381875" y="4152900"/>
            <a:ext cx="427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*-- and not o--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381875" y="4352925"/>
            <a:ext cx="4276725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Composition says the Books go when the Library record goes. If your pair disagreed, write the disagreement in the README — the argument is the deliverable, not the symbol.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6877050" y="5219700"/>
            <a:ext cx="4972050" cy="695325"/>
          </a:xfrm>
          <a:prstGeom prst="roundRect">
            <a:avLst>
              <a:gd name="adj" fmla="val 12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6877050" y="5219700"/>
            <a:ext cx="4972050" cy="695325"/>
          </a:xfrm>
          <a:custGeom>
            <a:pathLst>
              <a:path w="522" h="73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68"/>
                </a:lnTo>
                <a:cubicBezTo>
                  <a:pt x="4" y="70"/>
                  <a:pt x="6" y="72"/>
                  <a:pt x="8" y="73"/>
                </a:cubicBezTo>
                <a:cubicBezTo>
                  <a:pt x="4" y="73"/>
                  <a:pt x="0" y="69"/>
                  <a:pt x="0" y="64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7029450" y="53340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 b="1">
                <a:solidFill>
                  <a:srgbClr val="0E3F8C"/>
                </a:solidFill>
                <a:latin typeface="Microsoft YaHei"/>
                <a:ea typeface="Microsoft YaHei"/>
              </a:rPr>
              <a:t>A different answer can be correct. It stops being correct the moment you cannot say why.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381000" y="661987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11401425" y="66198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381000" y="1638300"/>
            <a:ext cx="62103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680" name=""/>
          <p:cNvSpPr txBox="1"/>
          <p:nvPr/>
        </p:nvSpPr>
        <p:spPr>
          <a:xfrm rot="0" flipH="0" flipV="0">
            <a:off x="533400" y="1771650"/>
            <a:ext cx="59055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@startuml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Library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+ addBook(b : Book)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+ findByIsbn(isbn : String) : Book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Book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- isbn :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- title :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+ isAvailable() : boolean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class Member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- id :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- name : String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 + borrow(b : Book) : void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Library "1" *-- "0..*" Book : holds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Member "0..1" -- "0..*" Book : borrows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@enduml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3 · LAB&lt;/Text&gt;&#10;  &lt;/Box&gt;&#10;  &lt;Box style={{ padding: '16px 40px 0 40px', flexDirection: 'row', alignItems: 'center', justifyContent: 'space-between' }}&gt;&#10;    &lt;Text style={{ fontSize: 30, fontWeight: 'bold', color: '#0E3F8C' }}&gt;Team Setup Checklist&lt;/Text&gt;&#10;    &lt;Text style={{ fontSize: 14, color: '#1E4FA8', fontWeight: 'bold' }}&gt;36 / 38&lt;/Text&gt;&#10;  &lt;/Box&gt;&#10;  &lt;Box style={{ flex: 1, padding: '12px 40px 0 40px', flexDirection: 'row', gap: 26 }}&gt;&#10;    &lt;Box style={{ flex: 5, flexDirection: 'column', gap: 9, justifyContent: 'center' }}&gt;&#10;      {[&#10;        { t: 'draw.io can open, edit and export', d: 'Prove it: draw one class box, save the .drawio file, export a PNG, and check both files exist on disk.', w: 'two minutes' },&#10;        { t: 'PlantUML renders on your machine', d: 'Prove it: paste the Exercise 3.2 solution into a .puml file and see a picture. Extension or web renderer, either is fine.', w: 'five minutes' },&#10;        { t: 'docs/diagrams/ exists in the team repo', d: 'Commit an empty .gitkeep if the folder has nothing in it yet. The path must be right before M1, not during it.', w: 'two minutes' },&#10;        { t: 'The conventions document is committed', d: 'Naming, colour, decision line, export rule, ownership table. Copy the six rules from slide 30 and make them yours.', w: 'ten minutes' },&#10;        { t: 'Every member has pushed one commit', d: 'Not the Lead — everyone. If only one person has commits, the other two are invisible in the contribution review.', w: 'today' },&#10;      ].map((c) =&gt; (&#10;        &lt;Box key={c.t} style={{ flexDirection: 'row', gap: 14, alignItems: 'flex-start', padding: '12px 16px', background: '#F7F9FC', borderRadius: 10, border: '1px solid #E5E7EB' }}&gt;&#10;          &lt;Box style={{ width: 26, height: 26, borderRadius: 6, border: '2px solid #1E4FA8', justifyContent: 'center', alignItems: 'center', marginTop: 2 }} /&gt;&#10;          &lt;Box style={{ flex: 1, flexDirection: 'column', gap: 3 }}&gt;&#10;            &lt;Box style={{ flexDirection: 'row', alignItems: 'center', gap: 10 }}&gt;&#10;              &lt;Text style={{ flex: 1, fontSize: 15.5, fontWeight: 'bold', color: '#0E3F8C' }}&gt;{c.t}&lt;/Text&gt;&#10;              &lt;Box style={{ padding: '2px 9px', background: '#E8EFF8', borderRadius: 10 }}&gt;&#10;                &lt;Text style={{ fontSize: 11.5, color: '#1E4FA8', fontWeight: 'bold' }}&gt;{c.w}&lt;/Text&gt;&#10;              &lt;/Box&gt;&#10;            &lt;/Box&gt;&#10;            &lt;Text style={{ fontSize: 13, color: '#4A5568', lineHeight: 1.45 }}&gt;{c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FAIcon name='flag-checkered' style={{ fill: '#FFC107', width: 26, height: 26 }} /&gt;&#10;        &lt;Text style={{ fontSize: 19, fontWeight: 'bold', color: '#FFFFFF', lineHeight: 1.35 }}&gt;M1 lands on Sun Oct 4&lt;/Text&gt;&#10;        &lt;Text style={{ fontSize: 14.5, color: '#C5D4EA', lineHeight: 1.55 }}&gt;It asks for a use-case diagram and two written specifications. The toolchain you finish today is the one you will submit with — there is no second chance to install it on Oct 3.&lt;/Text&gt;&#10;      &lt;/Box&gt;&#10;      &lt;Box style={{ padding: '16px 18px', background: '#F7F9FC', borderRadius: 10, border: '1px solid #E5E7EB', flexDirection: 'column', gap: 6 }}&gt;&#10;        &lt;Text style={{ fontSize: 15, fontWeight: 'bold', color: '#0E3F8C' }}&gt;Week 03 carries no deliverable&lt;/Text&gt;&#10;        &lt;Text style={{ fontSize: 13.5, color: '#4A5568', lineHeight: 1.5 }}&gt;That is deliberate. It is the breathing room before the requirements pack lands in Week 04 — use it to make the pipeline boring.&lt;/Text&gt;&#10;      &lt;/Box&gt;&#10;      &lt;Box style={{ padding: '14px 16px', background: '#FDF3F3', borderRadius: 10, borderLeft: '4px solid #D9534F' }}&gt;&#10;        &lt;Text style={{ fontSize: 13.5, color: '#4A5568', lineHeight: 1.5 }}&gt;&lt;Text style={{ fontWeight: 'bold', color: '#D9534F' }}&gt;Nothing is submitted until the tag is pushed.&lt;/Text&gt; A commit on Sunday night is not a submission. Full protocol: Deadline Schedule §4.&lt;/Text&gt;&#10;      &lt;/Box&gt;&#10;    &lt;/Box&gt;&#10;  &lt;/Box&gt;&#10;  &lt;Box style={{ height: 38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W03 · LAB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381000" y="838200"/>
            <a:ext cx="2952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Microsoft YaHei"/>
                <a:ea typeface="Microsoft YaHei"/>
              </a:rPr>
              <a:t>Team Setup Checklist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1401425" y="9334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381000" y="1647825"/>
            <a:ext cx="621030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/>
          <p:cNvSpPr/>
          <p:nvPr/>
        </p:nvSpPr>
        <p:spPr>
          <a:xfrm rot="0" flipH="0" flipV="0">
            <a:off x="533400" y="1781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914400" y="176212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draw.io can open, edit and export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5619750" y="177165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705475" y="179070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14400" y="1971675"/>
            <a:ext cx="552450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draw one class box, save the .drawio file, export a PNG, and check both files exist on disk.</a:t>
            </a:r>
            <a:endParaRPr/>
          </a:p>
        </p:txBody>
      </p:sp>
      <p:sp>
        <p:nvSpPr>
          <p:cNvPr id="694" name=""/>
          <p:cNvSpPr/>
          <p:nvPr/>
        </p:nvSpPr>
        <p:spPr>
          <a:xfrm rot="0" flipH="0" flipV="0">
            <a:off x="381000" y="239077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5" name=""/>
          <p:cNvSpPr/>
          <p:nvPr/>
        </p:nvSpPr>
        <p:spPr>
          <a:xfrm rot="0" flipH="0" flipV="0">
            <a:off x="533400" y="252412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PlantUML renders on your machine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5619750" y="2514600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05475" y="2533650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five minutes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914400" y="271462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Prove it: paste the Exercise 3.2 solution into a .puml file and see a picture. Extension or web renderer, either is fine.</a:t>
            </a:r>
            <a:endParaRPr/>
          </a:p>
        </p:txBody>
      </p:sp>
      <p:sp>
        <p:nvSpPr>
          <p:cNvPr id="700" name=""/>
          <p:cNvSpPr/>
          <p:nvPr/>
        </p:nvSpPr>
        <p:spPr>
          <a:xfrm rot="0" flipH="0" flipV="0">
            <a:off x="381000" y="335280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1" name=""/>
          <p:cNvSpPr/>
          <p:nvPr/>
        </p:nvSpPr>
        <p:spPr>
          <a:xfrm rot="0" flipH="0" flipV="0">
            <a:off x="533400" y="348615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914400" y="3467100"/>
            <a:ext cx="4610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docs/diagrams/ exists in the team repo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5619750" y="3476625"/>
            <a:ext cx="819150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5705475" y="3495675"/>
            <a:ext cx="647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two minutes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914400" y="367665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Commit an empty .gitkeep if the folder has nothing in it yet. The path must be right before M1, not during it.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4314825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533400" y="4448175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14400" y="4429125"/>
            <a:ext cx="46386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The conventions document is committed</a:t>
            </a:r>
            <a:endParaRPr/>
          </a:p>
        </p:txBody>
      </p:sp>
      <p:sp>
        <p:nvSpPr>
          <p:cNvPr id="709" name=""/>
          <p:cNvSpPr/>
          <p:nvPr/>
        </p:nvSpPr>
        <p:spPr>
          <a:xfrm rot="0" flipH="0" flipV="0">
            <a:off x="5648325" y="4438650"/>
            <a:ext cx="79057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5734050" y="4457700"/>
            <a:ext cx="6191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ten minutes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914400" y="4638675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Naming, colour, decision line, export rule, ownership table. Copy the six rules from slide 30 and make them yours.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381000" y="5276850"/>
            <a:ext cx="6210300" cy="876300"/>
          </a:xfrm>
          <a:prstGeom prst="roundRect">
            <a:avLst>
              <a:gd name="adj" fmla="val 1087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33400" y="5410200"/>
            <a:ext cx="247650" cy="247650"/>
          </a:xfrm>
          <a:prstGeom prst="roundRect">
            <a:avLst>
              <a:gd name="adj" fmla="val 23077"/>
            </a:avLst>
          </a:prstGeom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914400" y="5391150"/>
            <a:ext cx="49625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Microsoft YaHei"/>
                <a:ea typeface="Microsoft YaHei"/>
              </a:rPr>
              <a:t>Every member has pushed one commit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972175" y="5400675"/>
            <a:ext cx="466725" cy="171450"/>
          </a:xfrm>
          <a:prstGeom prst="roundRect">
            <a:avLst>
              <a:gd name="adj" fmla="val 5555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6057900" y="5419725"/>
            <a:ext cx="2952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 b="1">
                <a:solidFill>
                  <a:srgbClr val="1E4FA8"/>
                </a:solidFill>
                <a:latin typeface="Microsoft YaHei"/>
                <a:ea typeface="Microsoft YaHei"/>
              </a:rPr>
              <a:t>today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914400" y="5600700"/>
            <a:ext cx="552450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the Lead — everyone. If only one person has commits, the other two are invisible in the contribution review.</a:t>
            </a:r>
            <a:endParaRPr/>
          </a:p>
        </p:txBody>
      </p:sp>
      <p:sp>
        <p:nvSpPr>
          <p:cNvPr id="718" name=""/>
          <p:cNvSpPr/>
          <p:nvPr/>
        </p:nvSpPr>
        <p:spPr>
          <a:xfrm rot="0" flipH="0" flipV="0">
            <a:off x="6838950" y="2009775"/>
            <a:ext cx="4972050" cy="1809750"/>
          </a:xfrm>
          <a:prstGeom prst="roundRect">
            <a:avLst>
              <a:gd name="adj" fmla="val 6316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29450" y="2181225"/>
            <a:ext cx="247650" cy="24765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029450" y="2505075"/>
            <a:ext cx="459105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M1 lands on Sun Oct 4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7029450" y="2876550"/>
            <a:ext cx="4591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C5D4EA"/>
                </a:solidFill>
                <a:latin typeface="Microsoft YaHei"/>
                <a:ea typeface="Microsoft YaHei"/>
              </a:rPr>
              <a:t>It asks for a use-case diagram and two written specifications. The toolchain you finish today is the one you will submit with — there is no second chance to install it on Oct 3.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6838950" y="393382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7010400" y="4086225"/>
            <a:ext cx="4629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Week 03 carries no deliverable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7010400" y="4314825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That is deliberate. It is the breathing room before the requirements pack lands in Week 04 — use it to make the pipeline boring.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6877050" y="5048250"/>
            <a:ext cx="4972050" cy="733425"/>
          </a:xfrm>
          <a:prstGeom prst="roundRect">
            <a:avLst>
              <a:gd name="adj" fmla="val 1298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6877050" y="5048250"/>
            <a:ext cx="4972050" cy="733425"/>
          </a:xfrm>
          <a:custGeom>
            <a:pathLst>
              <a:path w="522" h="77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1"/>
                </a:lnTo>
                <a:cubicBezTo>
                  <a:pt x="4" y="74"/>
                  <a:pt x="6" y="76"/>
                  <a:pt x="9" y="77"/>
                </a:cubicBezTo>
                <a:cubicBezTo>
                  <a:pt x="4" y="76"/>
                  <a:pt x="0" y="72"/>
                  <a:pt x="0" y="6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7029450" y="5181600"/>
            <a:ext cx="4629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Nothing is submitted until the tag is pushed.</a:t>
            </a: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 A commit on Sunday night is not a submission. Full protocol: Deadline Schedule §4.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381000" y="66008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1401425" y="66008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30" name="" descr="&lt;Slide style={{ background: '#FFFFFF', padding: 0 }}&gt;&#10;  &lt;Box style={{ padding: '22px 40px 4px 40px', flexDirection: 'row', alignItems: 'center', justifyContent: 'space-between' }}&gt;&#10;    &lt;Text style={{ fontSize: 32, fontWeight: 'bold', color: '#0E3F8C' }}&gt;Homework&lt;/Text&gt;&#10;    &lt;Text style={{ fontSize: 14, color: '#1E4FA8', fontWeight: 'bold' }}&gt;37 / 38&lt;/Text&gt;&#10;  &lt;/Box&gt;&#10;  &lt;Box style={{ flex: 1, padding: '10px 40px 0 40px', flexDirection: 'row', gap: 24 }}&gt;&#10;    &lt;Box style={{ flex: 5, flexDirection: 'column', gap: 11, justifyContent: 'center' }}&gt;&#10;      {[&#10;        {&#10;          i: 'code',&#10;          tag: 'PLANTUML',&#10;          t: 'Reproduce two diagrams from their text specs',&#10;          d: 'The specs are on the course site under Week 03: a four-class CampusBites domain sketch, and the Order state machine from slide 24. Commit both .puml files with their exported PNGs.',&#10;          due: 'Before the Week 04 class',&#10;        },&#10;        {&#10;          i: 'book-open',&#10;          tag: 'READING',&#10;          t: 'Fowler, UML Distilled — class and sequence chapters',&#10;          d: 'A skim is enough. Come back with one thing you disagree with, or one notation you had not met. We start Week 04 by collecting them.',&#10;          due: 'Before the Week 04 class',&#10;        },&#10;        {&#10;          i: 'folder-tree',&#10;          tag: 'PROJECT',&#10;          t: 'Create the team diagrams folder and commit the conventions',&#10;          d: 'docs/diagrams/ in the team repository, plus the six conventions from slide 30 written into a README. Every member should appear in the ownership table.',&#10;          due: 'End of this week',&#10;        },&#10;      ].map((h) =&gt; (&#10;        &lt;Box key={h.t} style={{ flexDirection: 'row', gap: 15, alignItems: 'flex-start', padding: '15px 18px', background: '#F7F9FC', borderRadius: 11, border: '1px solid #E5E7EB' }}&gt;&#10;          &lt;Box style={{ width: 42, height: 42, borderRadius: 10, background: '#E8EFF8', justifyContent: 'center', alignItems: 'center' }}&gt;&#10;            &lt;FAIcon name={h.i} style={{ fill: '#1E4FA8', width: 19, height: 19 }} /&gt;&#10;          &lt;/Box&gt;&#10;          &lt;Box style={{ flex: 1, flexDirection: 'column', gap: 4 }}&gt;&#10;            &lt;Box style={{ flexDirection: 'row', alignItems: 'center', gap: 10 }}&gt;&#10;              &lt;Box style={{ padding: '2px 9px', background: '#0E3F8C', borderRadius: 9 }}&gt;&#10;                &lt;Text style={{ fontSize: 11, color: '#FFFFFF', fontWeight: 'bold', letterSpacing: 1 }}&gt;{h.tag}&lt;/Text&gt;&#10;              &lt;/Box&gt;&#10;              &lt;Text style={{ fontSize: 12.5, color: '#8B97A8' }}&gt;{h.due}&lt;/Text&gt;&#10;            &lt;/Box&gt;&#10;            &lt;Text style={{ fontSize: 16.5, fontWeight: 'bold', color: '#0E3F8C', lineHeight: 1.35 }}&gt;{h.t}&lt;/Text&gt;&#10;            &lt;Text style={{ fontSize: 13.5, color: '#4A5568', lineHeight: 1.5 }}&gt;{h.d}&lt;/Text&gt;&#10;          &lt;/Box&gt;&#10;        &lt;/Box&gt;&#10;      ))}&#10;    &lt;/Box&gt;&#10;    &lt;Box style={{ flex: 4, flexDirection: 'column', gap: 12, justifyContent: 'center' }}&gt;&#10;      &lt;Box style={{ padding: '18px 20px', background: '#0E3F8C', borderRadius: 12, flexDirection: 'column', gap: 8 }}&gt;&#10;        &lt;Text style={{ fontSize: 17, fontWeight: 'bold', color: '#FFFFFF' }}&gt;Why the reading is not optional homework filler&lt;/Text&gt;&#10;        &lt;Text style={{ fontSize: 14, color: '#C5D4EA', lineHeight: 1.55 }}&gt;Fowler writes in short, opinionated chapters and tells you which 20% of UML is worth your time. That is exactly the argument this lecture has been making — and he makes it in better English than I do.&lt;/Text&gt;&#10;      &lt;/Box&gt;&#10;      &lt;Box style={{ padding: '15px 18px', background: '#F0F5FC', borderRadius: 10, borderLeft: '4px solid #1E4FA8' }}&gt;&#10;        &lt;Text style={{ fontSize: 14, color: '#0E3F8C', lineHeight: 1.55, fontWeight: 'bold' }}&gt;The two PlantUML files count towards your individual contribution. Commit them from your own account, in your own words — even if the pair shared the keyboard.&lt;/Text&gt;&#10;      &lt;/Box&gt;&#10;      &lt;Box style={{ padding: '14px 16px', background: '#FFFFFF', borderRadius: 9, border: '1px dashed #D6DCE5' }}&gt;&#10;        &lt;Text style={{ fontSize: 13, color: '#8B97A8', lineHeight: 1.5 }}&gt;Stuck on syntax? plantuml.com/plantuml renders any snippet in the browser and shows the error inline. Use it, do not fight the extension.&lt;/Text&gt;&#10;      &lt;/Box&gt;&#10;    &lt;/Box&gt;&#10;  &lt;/Box&gt;&#10;  &lt;Box style={{ height: 42, background: '#0E3F8C', padding: '0 40px', flexDirection: 'row', alignItems: 'center', justifyContent: 'center' }}&gt;&#10;    &lt;Text style={{ fontSize: 16.5, color: '#FFFFFF', fontWeight: '600' }}&gt;Next week the requirements pack lands — and the use case stops being a picture and becomes a specificatio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562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Homework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381000" y="160020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5" name=""/>
          <p:cNvSpPr/>
          <p:nvPr/>
        </p:nvSpPr>
        <p:spPr>
          <a:xfrm rot="0" flipH="0" flipV="0">
            <a:off x="552450" y="17430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1857375"/>
            <a:ext cx="180975" cy="180975"/>
          </a:xfrm>
          <a:prstGeom prst="rect">
            <a:avLst/>
          </a:prstGeom>
          <a:ln/>
        </p:spPr>
      </p:pic>
      <p:sp>
        <p:nvSpPr>
          <p:cNvPr id="737" name=""/>
          <p:cNvSpPr/>
          <p:nvPr/>
        </p:nvSpPr>
        <p:spPr>
          <a:xfrm rot="0" flipH="0" flipV="0">
            <a:off x="1095375" y="1743075"/>
            <a:ext cx="82867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1181100" y="1762125"/>
            <a:ext cx="6572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PLANTUML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2019300" y="17621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095375" y="195262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Reproduce two diagrams from their text specs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095375" y="224790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The specs are on the course site under Week 03: a four-class CampusBites domain sketch, and the Order state machine from slide 24. Commit both .puml files with their exported PNGs.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381000" y="2962275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552450" y="3105150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219450"/>
            <a:ext cx="180975" cy="180975"/>
          </a:xfrm>
          <a:prstGeom prst="rect">
            <a:avLst/>
          </a:prstGeom>
          <a:ln/>
        </p:spPr>
      </p:pic>
      <p:sp>
        <p:nvSpPr>
          <p:cNvPr id="745" name=""/>
          <p:cNvSpPr/>
          <p:nvPr/>
        </p:nvSpPr>
        <p:spPr>
          <a:xfrm rot="0" flipH="0" flipV="0">
            <a:off x="1095375" y="3105150"/>
            <a:ext cx="723900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181100" y="3124200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READING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914525" y="3124200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Before the Week 04 class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095375" y="3314700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Fowler, UML Distilled — class and sequence chapters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095375" y="3609975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A skim is enough. Come back with one thing you disagree with, or one notation you had not met. We start Week 04 by collecting them.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381000" y="4324350"/>
            <a:ext cx="6219825" cy="1257300"/>
          </a:xfrm>
          <a:prstGeom prst="roundRect">
            <a:avLst>
              <a:gd name="adj" fmla="val 8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552450" y="44672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581525"/>
            <a:ext cx="180975" cy="180975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1095375" y="4467225"/>
            <a:ext cx="733425" cy="17145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1181100" y="4486275"/>
            <a:ext cx="561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75">
                <a:solidFill>
                  <a:srgbClr val="FFFFFF"/>
                </a:solidFill>
                <a:latin typeface="Microsoft YaHei"/>
                <a:ea typeface="Microsoft YaHei"/>
              </a:rPr>
              <a:t>PROJECT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1924050" y="4486275"/>
            <a:ext cx="876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Microsoft YaHei"/>
                <a:ea typeface="Microsoft YaHei"/>
              </a:rPr>
              <a:t>End of this week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1095375" y="4676775"/>
            <a:ext cx="5334000" cy="2571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238" b="1">
                <a:solidFill>
                  <a:srgbClr val="0E3F8C"/>
                </a:solidFill>
                <a:latin typeface="Microsoft YaHei"/>
                <a:ea typeface="Microsoft YaHei"/>
              </a:rPr>
              <a:t>Create the team diagrams folder and commit the conventions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1095375" y="4972050"/>
            <a:ext cx="53340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Microsoft YaHei"/>
                <a:ea typeface="Microsoft YaHei"/>
              </a:rPr>
              <a:t>docs/diagrams/ in the team repository, plus the six conventions from slide 30 written into a README. Every member should appear in the ownership table.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6829425" y="1914525"/>
            <a:ext cx="4981575" cy="1371600"/>
          </a:xfrm>
          <a:prstGeom prst="roundRect">
            <a:avLst>
              <a:gd name="adj" fmla="val 8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7019925" y="2085975"/>
            <a:ext cx="4600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Why the reading is not optional homework filler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7019925" y="23622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Fowler writes in short, opinionated chapters and tells you which 20% of UML is worth your time. That is exactly the argument this lecture has been making — and he makes it in better English than I do.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867525" y="3400425"/>
            <a:ext cx="4981575" cy="1038225"/>
          </a:xfrm>
          <a:prstGeom prst="roundRect">
            <a:avLst>
              <a:gd name="adj" fmla="val 917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6867525" y="3400425"/>
            <a:ext cx="4981575" cy="1038225"/>
          </a:xfrm>
          <a:custGeom>
            <a:pathLst>
              <a:path w="523" h="10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3"/>
                </a:lnTo>
                <a:cubicBezTo>
                  <a:pt x="4" y="106"/>
                  <a:pt x="6" y="108"/>
                  <a:pt x="9" y="109"/>
                </a:cubicBezTo>
                <a:cubicBezTo>
                  <a:pt x="4" y="108"/>
                  <a:pt x="0" y="104"/>
                  <a:pt x="0" y="9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7038975" y="3543300"/>
            <a:ext cx="4600575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 b="1">
                <a:solidFill>
                  <a:srgbClr val="0E3F8C"/>
                </a:solidFill>
                <a:latin typeface="Microsoft YaHei"/>
                <a:ea typeface="Microsoft YaHei"/>
              </a:rPr>
              <a:t>The two PlantUML files count towards your individual contribution. Commit them from your own account, in your own words — even if the pair shared the keyboard.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829425" y="4552950"/>
            <a:ext cx="4981575" cy="714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981825" y="4686300"/>
            <a:ext cx="467677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syntax? plantuml.com/plantuml renders any snippet in the browser and shows the error inline. Use it, do not fight the extension.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0" y="6457950"/>
            <a:ext cx="12192000" cy="4000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1943100" y="6562725"/>
            <a:ext cx="8315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FFFFFF"/>
                </a:solidFill>
                <a:latin typeface="Microsoft YaHei"/>
                <a:ea typeface="Microsoft YaHei"/>
              </a:rPr>
              <a:t>Next week the requirements pack lands — and the use case stops being a picture and becomes a specification.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76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3 · WRAP-UP&lt;/Text&gt;&#10;    &lt;Text style={{ fontSize: 46, fontWeight: 'bold', color: '#FFFFFF', fontFamily: 'Georgia, serif', lineHeight: 1.15 }}&gt;&#10;      Six diagrams.&lt;br /&gt;One question each.&#10;    &lt;/Text&gt;&#10;    &lt;Box style={{ width: 76, height: 4, background: '#FFC107', marginTop: 24, marginBottom: 24 }} /&gt;&#10;    &lt;Box style={{ flexDirection: 'row', gap: 12, marginBottom: 26 }}&gt;&#10;      {[&#10;        ['Use case', 'what it does'],&#10;        ['Class', 'what exists'],&#10;        ['Sequence', 'who calls whom'],&#10;        ['State', 'one life story'],&#10;        ['Activity', 'steps in parallel'],&#10;        ['Package', 'how it is cut'],&#10;      ].map(([t, d]) =&gt; (&#10;        &lt;Box key={t} style={{ flex: 1, padding: '14px 12px', background: '#1E4FA8', borderRadius: 10, flexDirection: 'column', gap: 4 }}&gt;&#10;          &lt;Text style={{ fontSize: 15.5, fontWeight: 'bold', color: '#FFFFFF' }}&gt;{t}&lt;/Text&gt;&#10;          &lt;Text style={{ fontSize: 12.5, color: '#B9CDF0', lineHeight: 1.4 }}&gt;{d}&lt;/Text&gt;&#10;        &lt;/Box&gt;&#10;      ))}&#10;    &lt;/Box&gt;&#10;    &lt;Text style={{ fontSize: 21, color: '#C5D4EA', lineHeight: 1.5 }}&gt;&#10;      Learn the question first. &lt;Text style={{ fontWeight: 'bold', color: '#FFC107' }}&gt;The notation is only the handwriting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Requirements &amp;amp; Use Case Modelling: the CampusBites requirements pack arrives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762000" y="17526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03 · WRAP-UP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762000" y="21145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Six diagrams.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question each.</a:t>
            </a:r>
            <a:endParaRPr/>
          </a:p>
        </p:txBody>
      </p:sp>
      <p:sp>
        <p:nvSpPr>
          <p:cNvPr id="772" name=""/>
          <p:cNvSpPr/>
          <p:nvPr/>
        </p:nvSpPr>
        <p:spPr>
          <a:xfrm rot="0" flipH="0" flipV="0">
            <a:off x="762000" y="35528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73" name=""/>
          <p:cNvSpPr/>
          <p:nvPr/>
        </p:nvSpPr>
        <p:spPr>
          <a:xfrm rot="0" flipH="0" flipV="0">
            <a:off x="76200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87630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Use case</a:t>
            </a:r>
            <a:endParaRPr/>
          </a:p>
        </p:txBody>
      </p:sp>
      <p:sp>
        <p:nvSpPr>
          <p:cNvPr id="775" name="" descr="{&quot;isTemplate&quot;:true,&quot;type&quot;:&quot;text&quot;}"/>
          <p:cNvSpPr txBox="1"/>
          <p:nvPr/>
        </p:nvSpPr>
        <p:spPr>
          <a:xfrm rot="0" flipH="0" flipV="0">
            <a:off x="87630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it does</a:t>
            </a:r>
            <a:endParaRPr/>
          </a:p>
        </p:txBody>
      </p:sp>
      <p:sp>
        <p:nvSpPr>
          <p:cNvPr id="776" name=""/>
          <p:cNvSpPr/>
          <p:nvPr/>
        </p:nvSpPr>
        <p:spPr>
          <a:xfrm rot="0" flipH="0" flipV="0">
            <a:off x="256222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267652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Class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267652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what exists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435292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446722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Sequence</a:t>
            </a:r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446722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who calls whom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6153150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6267450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6267450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one life story</a:t>
            </a:r>
            <a:endParaRPr/>
          </a:p>
        </p:txBody>
      </p:sp>
      <p:sp>
        <p:nvSpPr>
          <p:cNvPr id="785" name=""/>
          <p:cNvSpPr/>
          <p:nvPr/>
        </p:nvSpPr>
        <p:spPr>
          <a:xfrm rot="0" flipH="0" flipV="0">
            <a:off x="7953375" y="3819525"/>
            <a:ext cx="1676400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8067675" y="3952875"/>
            <a:ext cx="14478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Activity</a:t>
            </a:r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8067675" y="4171950"/>
            <a:ext cx="1447800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steps in parallel</a:t>
            </a:r>
            <a:endParaRPr/>
          </a:p>
        </p:txBody>
      </p:sp>
      <p:sp>
        <p:nvSpPr>
          <p:cNvPr id="788" name=""/>
          <p:cNvSpPr/>
          <p:nvPr/>
        </p:nvSpPr>
        <p:spPr>
          <a:xfrm rot="0" flipH="0" flipV="0">
            <a:off x="9744075" y="3819525"/>
            <a:ext cx="1685925" cy="685800"/>
          </a:xfrm>
          <a:prstGeom prst="roundRect">
            <a:avLst>
              <a:gd name="adj" fmla="val 1388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9858375" y="3952875"/>
            <a:ext cx="14573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FFFFFF"/>
                </a:solidFill>
                <a:latin typeface="Microsoft YaHei"/>
                <a:ea typeface="Microsoft YaHei"/>
              </a:rPr>
              <a:t>Package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9858375" y="4171950"/>
            <a:ext cx="1457325" cy="2000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38">
                <a:solidFill>
                  <a:srgbClr val="B9CDF0"/>
                </a:solidFill>
                <a:latin typeface="Microsoft YaHei"/>
                <a:ea typeface="Microsoft YaHei"/>
              </a:rPr>
              <a:t>how it is cut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762000" y="47529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Learn the question first.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The notation is only the handwriting.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3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4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6943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Requirements &amp; Use Case Modelling: the CampusBites requirements pack arrives.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2026-09-09T14:59:06Z</dcterms:created>
  <dcterms:modified xsi:type="dcterms:W3CDTF">2026-09-09T14:59:06Z</dcterms:modified>
</cp:coreProperties>
</file>
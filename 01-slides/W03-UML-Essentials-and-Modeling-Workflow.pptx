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  <Override PartName="/docProps/core.xml" ContentType="application/vnd.openxmlformats-package.core-propertie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slides/slide2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1" Type="http://schemas.openxmlformats.org/officeDocument/2006/relationships/tableStyles" Target="tableStyles.xml" /><Relationship Id="rId40" Type="http://schemas.openxmlformats.org/officeDocument/2006/relationships/presProps" Target="presProps.xml" /><Relationship Id="rId4" Type="http://schemas.openxmlformats.org/officeDocument/2006/relationships/slide" Target="slides/slide4.xml" /><Relationship Id="rId37" Type="http://schemas.openxmlformats.org/officeDocument/2006/relationships/slide" Target="slides/slide37.xml" /><Relationship Id="rId42" Type="http://schemas.openxmlformats.org/officeDocument/2006/relationships/viewProps" Target="viewProps.xml" /><Relationship Id="rId34" Type="http://schemas.openxmlformats.org/officeDocument/2006/relationships/slide" Target="slides/slide34.xml" /><Relationship Id="rId32" Type="http://schemas.openxmlformats.org/officeDocument/2006/relationships/slide" Target="slides/slide32.xml" /><Relationship Id="rId9" Type="http://schemas.openxmlformats.org/officeDocument/2006/relationships/slide" Target="slides/slide9.xml" /><Relationship Id="rId31" Type="http://schemas.openxmlformats.org/officeDocument/2006/relationships/slide" Target="slides/slide31.xml" /><Relationship Id="rId3" Type="http://schemas.openxmlformats.org/officeDocument/2006/relationships/slide" Target="slides/slide3.xml" /><Relationship Id="rId38" Type="http://schemas.openxmlformats.org/officeDocument/2006/relationships/slide" Target="slides/slide38.xml" /><Relationship Id="rId29" Type="http://schemas.openxmlformats.org/officeDocument/2006/relationships/slide" Target="slides/slide29.xml" /><Relationship Id="rId27" Type="http://schemas.openxmlformats.org/officeDocument/2006/relationships/slide" Target="slides/slide27.xml" /><Relationship Id="rId35" Type="http://schemas.openxmlformats.org/officeDocument/2006/relationships/slide" Target="slides/slide35.xml" /><Relationship Id="rId25" Type="http://schemas.openxmlformats.org/officeDocument/2006/relationships/slide" Target="slides/slide25.xml" /><Relationship Id="rId23" Type="http://schemas.openxmlformats.org/officeDocument/2006/relationships/slide" Target="slides/slide23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22" Type="http://schemas.openxmlformats.org/officeDocument/2006/relationships/slide" Target="slides/slide22.xml" /><Relationship Id="rId33" Type="http://schemas.openxmlformats.org/officeDocument/2006/relationships/slide" Target="slides/slide33.xml" /><Relationship Id="rId20" Type="http://schemas.openxmlformats.org/officeDocument/2006/relationships/slide" Target="slides/slide20.xml" /><Relationship Id="rId36" Type="http://schemas.openxmlformats.org/officeDocument/2006/relationships/slide" Target="slides/slide36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8" Type="http://schemas.openxmlformats.org/officeDocument/2006/relationships/slide" Target="slides/slide18.xml" /><Relationship Id="rId28" Type="http://schemas.openxmlformats.org/officeDocument/2006/relationships/slide" Target="slides/slide28.xml" /><Relationship Id="rId26" Type="http://schemas.openxmlformats.org/officeDocument/2006/relationships/slide" Target="slides/slide26.xml" /><Relationship Id="rId15" Type="http://schemas.openxmlformats.org/officeDocument/2006/relationships/slide" Target="slides/slide15.xml" /><Relationship Id="rId24" Type="http://schemas.openxmlformats.org/officeDocument/2006/relationships/slide" Target="slides/slide24.xml" /><Relationship Id="rId39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30" Type="http://schemas.openxmlformats.org/officeDocument/2006/relationships/slide" Target="slides/slide30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45.svg" /><Relationship Id="rId3" Type="http://schemas.openxmlformats.org/officeDocument/2006/relationships/image" Target="media/image43.svg" /><Relationship Id="rId4" Type="http://schemas.openxmlformats.org/officeDocument/2006/relationships/image" Target="media/image4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2.svg" /><Relationship Id="rId1" Type="http://schemas.openxmlformats.org/officeDocument/2006/relationships/image" Target="media/image2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6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7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6" Type="http://schemas.openxmlformats.org/officeDocument/2006/relationships/image" Target="media/image52.svg" /><Relationship Id="rId5" Type="http://schemas.openxmlformats.org/officeDocument/2006/relationships/image" Target="media/image51.svg" /><Relationship Id="rId3" Type="http://schemas.openxmlformats.org/officeDocument/2006/relationships/image" Target="media/image49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50.svg" /><Relationship Id="rId2" Type="http://schemas.openxmlformats.org/officeDocument/2006/relationships/image" Target="media/image44.svg" /><Relationship Id="rId1" Type="http://schemas.openxmlformats.org/officeDocument/2006/relationships/image" Target="media/image48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4" Type="http://schemas.openxmlformats.org/officeDocument/2006/relationships/image" Target="media/image11.svg" /><Relationship Id="rId3" Type="http://schemas.openxmlformats.org/officeDocument/2006/relationships/image" Target="media/image10.svg" /><Relationship Id="rId2" Type="http://schemas.openxmlformats.org/officeDocument/2006/relationships/image" Target="media/image9.svg" /><Relationship Id="rId5" Type="http://schemas.openxmlformats.org/officeDocument/2006/relationships/image" Target="media/image12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3" Type="http://schemas.openxmlformats.org/officeDocument/2006/relationships/image" Target="media/image18.svg" /><Relationship Id="rId1" Type="http://schemas.openxmlformats.org/officeDocument/2006/relationships/image" Target="media/image16.svg" /><Relationship Id="rId2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3" Type="http://schemas.openxmlformats.org/officeDocument/2006/relationships/image" Target="media/image21.svg" /><Relationship Id="rId2" Type="http://schemas.openxmlformats.org/officeDocument/2006/relationships/image" Target="media/image20.svg" /><Relationship Id="rId1" Type="http://schemas.openxmlformats.org/officeDocument/2006/relationships/image" Target="media/image19.sv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3" Type="http://schemas.openxmlformats.org/officeDocument/2006/relationships/image" Target="media/image24.svg" /><Relationship Id="rId2" Type="http://schemas.openxmlformats.org/officeDocument/2006/relationships/image" Target="media/image23.svg" /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3" Type="http://schemas.openxmlformats.org/officeDocument/2006/relationships/image" Target="media/image27.svg" /><Relationship Id="rId2" Type="http://schemas.openxmlformats.org/officeDocument/2006/relationships/image" Target="media/image26.svg" /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3" Type="http://schemas.openxmlformats.org/officeDocument/2006/relationships/image" Target="media/image30.svg" /><Relationship Id="rId5" Type="http://schemas.openxmlformats.org/officeDocument/2006/relationships/image" Target="media/image32.svg" /><Relationship Id="rId2" Type="http://schemas.openxmlformats.org/officeDocument/2006/relationships/image" Target="media/image29.svg" /><Relationship Id="rId4" Type="http://schemas.openxmlformats.org/officeDocument/2006/relationships/image" Target="media/image31.svg" /><Relationship Id="rId6" Type="http://schemas.openxmlformats.org/officeDocument/2006/relationships/image" Target="media/image33.svg" /><Relationship Id="rId1" Type="http://schemas.openxmlformats.org/officeDocument/2006/relationships/image" Target="media/image28.sv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34.sv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3" Type="http://schemas.openxmlformats.org/officeDocument/2006/relationships/image" Target="media/image37.svg" /><Relationship Id="rId1" Type="http://schemas.openxmlformats.org/officeDocument/2006/relationships/image" Target="media/image35.svg" /><Relationship Id="rId2" Type="http://schemas.openxmlformats.org/officeDocument/2006/relationships/image" Target="media/image36.sv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8.sv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3" Type="http://schemas.openxmlformats.org/officeDocument/2006/relationships/image" Target="media/image41.svg" /><Relationship Id="rId2" Type="http://schemas.openxmlformats.org/officeDocument/2006/relationships/image" Target="media/image40.svg" /><Relationship Id="rId1" Type="http://schemas.openxmlformats.org/officeDocument/2006/relationships/image" Target="media/image39.sv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762000" y="1905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1971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03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066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1971675"/>
            <a:ext cx="2257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A · FOUNDATIONS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UML Essentials</a:t>
            </a:r>
            <a:endParaRPr/>
          </a:p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&amp; Modeling Workflow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267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524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The Diagram Family, the Notation, and the Chain That Links Them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03 · ROADMAP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UML Essentials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&amp; Modeling Workflow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581400" y="5334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771900" y="6858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905250" y="8096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57700" y="8096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Recap &amp;amp; Why Models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249025" y="8191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3581400" y="15049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771900" y="1657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905250" y="1781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457700" y="17811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The UML Map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249025" y="1790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581400" y="24765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3771900" y="26289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905250" y="27527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457700" y="27527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Notation Boot Camp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249025" y="27622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581400" y="34480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771900" y="36004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905250" y="37242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457700" y="37242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The Modeling Workflow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49025" y="37338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581400" y="44196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771900" y="45720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905250" y="46958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457700" y="46958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Toolchain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249025" y="47053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26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3581400" y="53911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771900" y="55435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905250" y="56673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457700" y="56673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Lab — Exercises &amp;amp; Team Setup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249025" y="56769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31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Recap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Why Models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Last week gave you the ideas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This week gives you the notation to write them down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model is true enough — not complete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896600" y="2571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RECAP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Where Week 02 Left Us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381000" y="25908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552450" y="27146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" y="2809875"/>
            <a:ext cx="190500" cy="190500"/>
          </a:xfrm>
          <a:prstGeom prst="rect">
            <a:avLst/>
          </a:prstGeom>
          <a:ln/>
        </p:spPr>
      </p:pic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066800" y="272415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Objects hold state and behaviour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066800" y="2933700"/>
            <a:ext cx="2428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Encapsulation keeps the rules with the data.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381000" y="33147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552450" y="34385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" y="3533775"/>
            <a:ext cx="190500" cy="190500"/>
          </a:xfrm>
          <a:prstGeom prst="rect">
            <a:avLst/>
          </a:prstGeom>
          <a:ln/>
        </p:spPr>
      </p:pic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066800" y="3448050"/>
            <a:ext cx="299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Composition beats inheritance — usually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1066800" y="3657600"/>
            <a:ext cx="299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Prefer has-a; swap behaviour at runtime.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381000" y="40386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552450" y="41624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7700" y="4257675"/>
            <a:ext cx="190500" cy="190500"/>
          </a:xfrm>
          <a:prstGeom prst="rect">
            <a:avLst/>
          </a:prstGeom>
          <a:ln/>
        </p:spPr>
      </p:pic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066800" y="417195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Polymorphism: one message, many forms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066800" y="4381500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Declare variables by what they do.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381000" y="4762500"/>
            <a:ext cx="6696075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552450" y="4886325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7700" y="4981575"/>
            <a:ext cx="190500" cy="190500"/>
          </a:xfrm>
          <a:prstGeom prst="rect">
            <a:avLst/>
          </a:prstGeom>
          <a:ln/>
        </p:spPr>
      </p:pic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1066800" y="48958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Responsibilities, not just syntax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1066800" y="5105400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OO analysis is deciding who owns what.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7343775" y="1495425"/>
            <a:ext cx="4467225" cy="498157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591425" y="2495550"/>
            <a:ext cx="304800" cy="304800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7591425" y="2933700"/>
            <a:ext cx="39719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But you cannot hand a teammate a paragraph.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7591425" y="3752850"/>
            <a:ext cx="39719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Those four ideas live in your head. UML is how they get onto paper — precisely enough that someone else can check them.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7591425" y="4743450"/>
            <a:ext cx="3971925" cy="733425"/>
          </a:xfrm>
          <a:prstGeom prst="roundRect">
            <a:avLst>
              <a:gd name="adj" fmla="val 1039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7743825" y="4857750"/>
            <a:ext cx="36671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Three people, three readings of a sentence. One diagram, one reading.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8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10410825" y="2571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WHY MODELS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152525" y="2200275"/>
            <a:ext cx="11334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1181100" y="4429125"/>
            <a:ext cx="1076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1E4FA8"/>
                </a:solidFill>
                <a:latin typeface="Microsoft YaHei"/>
                <a:ea typeface="Microsoft YaHei"/>
              </a:rPr>
              <a:t>REASONS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1447800" y="47720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3467100" y="2038350"/>
            <a:ext cx="83820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3467100" y="2038350"/>
            <a:ext cx="8382000" cy="876300"/>
          </a:xfrm>
          <a:custGeom>
            <a:pathLst>
              <a:path w="880" h="9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6"/>
                </a:lnTo>
                <a:cubicBezTo>
                  <a:pt x="4" y="89"/>
                  <a:pt x="6" y="91"/>
                  <a:pt x="9" y="92"/>
                </a:cubicBezTo>
                <a:cubicBezTo>
                  <a:pt x="4" y="91"/>
                  <a:pt x="0" y="87"/>
                  <a:pt x="0" y="8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3676650" y="2324100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4143375" y="2209800"/>
            <a:ext cx="5305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To abstract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4143375" y="248602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 system is too big to hold in one head. A model throws away what does not matter.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3467100" y="3067050"/>
            <a:ext cx="83820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3467100" y="3067050"/>
            <a:ext cx="8382000" cy="876300"/>
          </a:xfrm>
          <a:custGeom>
            <a:pathLst>
              <a:path w="880" h="9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6"/>
                </a:lnTo>
                <a:cubicBezTo>
                  <a:pt x="4" y="89"/>
                  <a:pt x="6" y="91"/>
                  <a:pt x="9" y="92"/>
                </a:cubicBezTo>
                <a:cubicBezTo>
                  <a:pt x="4" y="91"/>
                  <a:pt x="0" y="87"/>
                  <a:pt x="0" y="8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3676650" y="33528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181475" y="3238500"/>
            <a:ext cx="4667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To communicate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181475" y="3514725"/>
            <a:ext cx="4667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 diagram is a shared object you can point at. Ambiguity becomes visible.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3467100" y="4095750"/>
            <a:ext cx="83820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3467100" y="4095750"/>
            <a:ext cx="8382000" cy="876300"/>
          </a:xfrm>
          <a:custGeom>
            <a:pathLst>
              <a:path w="880" h="9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6"/>
                </a:lnTo>
                <a:cubicBezTo>
                  <a:pt x="4" y="89"/>
                  <a:pt x="6" y="91"/>
                  <a:pt x="9" y="92"/>
                </a:cubicBezTo>
                <a:cubicBezTo>
                  <a:pt x="4" y="91"/>
                  <a:pt x="0" y="87"/>
                  <a:pt x="0" y="8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3676650" y="43815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4181475" y="4267200"/>
            <a:ext cx="442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To reason before building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4181475" y="4543425"/>
            <a:ext cx="4429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Find the flaw in the model, not in the shipped system. Cheap to erase.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3848100" y="648652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If a model did not change a decision, it was decoration.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0410825" y="2571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WHY MODELS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A Model Is True Enough</a:t>
            </a:r>
            <a:endParaRPr/>
          </a:p>
        </p:txBody>
      </p:sp>
      <p:pic>
        <p:nvPicPr>
          <p:cNvPr id="8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2925" y="2000250"/>
            <a:ext cx="5905500" cy="3810000"/>
          </a:xfrm>
          <a:prstGeom prst="rect">
            <a:avLst/>
          </a:prstGeom>
          <a:ln/>
        </p:spPr>
      </p:pic>
      <p:sp>
        <p:nvSpPr>
          <p:cNvPr id="863" name=""/>
          <p:cNvSpPr/>
          <p:nvPr/>
        </p:nvSpPr>
        <p:spPr>
          <a:xfrm rot="0" flipH="0" flipV="0">
            <a:off x="6867525" y="2038350"/>
            <a:ext cx="4981575" cy="923925"/>
          </a:xfrm>
          <a:prstGeom prst="roundRect">
            <a:avLst>
              <a:gd name="adj" fmla="val 1030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867525" y="2038350"/>
            <a:ext cx="4981575" cy="923925"/>
          </a:xfrm>
          <a:custGeom>
            <a:pathLst>
              <a:path w="523" h="9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1"/>
                </a:lnTo>
                <a:cubicBezTo>
                  <a:pt x="4" y="94"/>
                  <a:pt x="6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7058025" y="2209800"/>
            <a:ext cx="45624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A model is not a copy of reality. It is an answer to a question.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6829425" y="3076575"/>
            <a:ext cx="4981575" cy="1133475"/>
          </a:xfrm>
          <a:prstGeom prst="roundRect">
            <a:avLst>
              <a:gd name="adj" fmla="val 840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7000875" y="3228975"/>
            <a:ext cx="46386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One Order, three models. The database wants ids and timestamps. The kitchen wants items and status. The courier wants an address. None of them is "the" Order — each is true enough for one purpose.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867525" y="4324350"/>
            <a:ext cx="4981575" cy="581025"/>
          </a:xfrm>
          <a:prstGeom prst="roundRect">
            <a:avLst>
              <a:gd name="adj" fmla="val 16393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6867525" y="4324350"/>
            <a:ext cx="4981575" cy="581025"/>
          </a:xfrm>
          <a:custGeom>
            <a:pathLst>
              <a:path w="523" h="6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5"/>
                </a:lnTo>
                <a:cubicBezTo>
                  <a:pt x="4" y="58"/>
                  <a:pt x="6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7038975" y="4476750"/>
            <a:ext cx="4600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Detail is cheap. Deciding what to leave out is the skill.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6829425" y="5019675"/>
            <a:ext cx="4981575" cy="752475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981825" y="5153025"/>
            <a:ext cx="46767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If your model omits nothing, you have written a second implementation — in a slower language.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The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UML Map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Fourteen diagram types — you will use six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4638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Structure asks what it IS; behaviour asks what it DOES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426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Every diagram exists to answer a specific question</a:t>
            </a:r>
            <a:endParaRPr/>
          </a:p>
        </p:txBody>
      </p:sp>
      <p:sp>
        <p:nvSpPr>
          <p:cNvPr id="88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10410825" y="2571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THE UML MAP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381000" y="857250"/>
            <a:ext cx="4543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Two Families, Fourteen Diagrams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11401425" y="85725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  <p:pic>
        <p:nvPicPr>
          <p:cNvPr id="8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2228850"/>
            <a:ext cx="11239500" cy="3333750"/>
          </a:xfrm>
          <a:prstGeom prst="rect">
            <a:avLst/>
          </a:prstGeom>
          <a:ln/>
        </p:spPr>
      </p:pic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0287000" y="661987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UML 2.5 diagram taxonomy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10410825" y="2571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THE UML MAP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381000" y="85725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The Six That Matter Here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381000" y="1314450"/>
            <a:ext cx="3638550" cy="2619375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542925" y="14573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1543050"/>
            <a:ext cx="171450" cy="171450"/>
          </a:xfrm>
          <a:prstGeom prst="rect">
            <a:avLst/>
          </a:prstGeom>
          <a:ln/>
        </p:spPr>
      </p:pic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981075" y="15240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Use Case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542925" y="1866900"/>
            <a:ext cx="3314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What the system does, and for whom. No internals, no screens.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542925" y="2419350"/>
            <a:ext cx="90487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38175" y="2457450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Weeks 04–05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4143375" y="1314450"/>
            <a:ext cx="3629025" cy="2619375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4305300" y="14573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91025" y="1543050"/>
            <a:ext cx="171450" cy="171450"/>
          </a:xfrm>
          <a:prstGeom prst="rect">
            <a:avLst/>
          </a:prstGeom>
          <a:ln/>
        </p:spPr>
      </p:pic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4743450" y="15240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Class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4305300" y="1866900"/>
            <a:ext cx="33051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The concepts, their attributes, and the links between them.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4305300" y="2419350"/>
            <a:ext cx="17145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4400550" y="245745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 06 domain · 07 design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7896225" y="1314450"/>
            <a:ext cx="3638550" cy="2619375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8058150" y="14573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43875" y="1543050"/>
            <a:ext cx="171450" cy="171450"/>
          </a:xfrm>
          <a:prstGeom prst="rect">
            <a:avLst/>
          </a:prstGeom>
          <a:ln/>
        </p:spPr>
      </p:pic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496300" y="15240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Sequence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058150" y="1866900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Who sends which message to whom, and in what order.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8058150" y="21812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8153400" y="2219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 08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381000" y="4057650"/>
            <a:ext cx="3638550" cy="23812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542925" y="42005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28650" y="4286250"/>
            <a:ext cx="171450" cy="171450"/>
          </a:xfrm>
          <a:prstGeom prst="rect">
            <a:avLst/>
          </a:prstGeom>
          <a:ln/>
        </p:spPr>
      </p:pic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981075" y="42672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State Machine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42925" y="4610100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One object’s whole life, event by event.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542925" y="49244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38175" y="4962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 09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4143375" y="4057650"/>
            <a:ext cx="3629025" cy="23812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4305300" y="42005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391025" y="4286250"/>
            <a:ext cx="171450" cy="171450"/>
          </a:xfrm>
          <a:prstGeom prst="rect">
            <a:avLst/>
          </a:prstGeom>
          <a:ln/>
        </p:spPr>
      </p:pic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4743450" y="42672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Activity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4305300" y="4610100"/>
            <a:ext cx="33051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 flow of steps, including the ones that run in parallel.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4305300" y="49244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4400550" y="4962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 09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7896225" y="4057650"/>
            <a:ext cx="3638550" cy="238125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8058150" y="42005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43875" y="4286250"/>
            <a:ext cx="171450" cy="171450"/>
          </a:xfrm>
          <a:prstGeom prst="rect">
            <a:avLst/>
          </a:prstGeom>
          <a:ln/>
        </p:spPr>
      </p:pic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8496300" y="4267200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Package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8058150" y="4610100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How the system is cut into parts that can be built apart.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8058150" y="49244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8153400" y="49625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Week 14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2800350" y="6553200"/>
            <a:ext cx="6600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Each one is drawn in the week it becomes the answer to a real question — not before.</a:t>
            </a:r>
            <a:endParaRPr/>
          </a:p>
        </p:txBody>
      </p:sp>
    </p:spTree>
  </p:cSld>
</p:sld>
</file>

<file path=ppt/slides/slide10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410825" y="2571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THE UML MAP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857250"/>
            <a:ext cx="5610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Which Diagram Answers Which Question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01425" y="952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graphicFrame>
        <p:nvGraphicFramePr>
          <p:cNvPr id="22" name=""/>
          <p:cNvGraphicFramePr/>
          <p:nvPr/>
        </p:nvGraphicFramePr>
        <p:xfrm rot="0" flipH="0" flipV="0">
          <a:off x="381000" y="1333500"/>
          <a:ext cx="11430000" cy="5029200"/>
        </p:xfrm>
        <a:graphic>
          <a:graphicData uri="http://schemas.openxmlformats.org/drawingml/2006/table">
            <a:tbl>
              <a:tblGrid>
                <a:gridCol w="5866784">
                  <a:extLst>
                    <a:ext uri="{9D8B030D-6E8A-4147-A177-3AD203B41FA5}">
                      <a16:colId val="1"/>
                    </a:ext>
                  </a:extLst>
                </a:gridCol>
                <a:gridCol w="3886992">
                  <a:extLst>
                    <a:ext uri="{9D8B030D-6E8A-4147-A177-3AD203B41FA5}">
                      <a16:colId val="2"/>
                    </a:ext>
                  </a:extLst>
                </a:gridCol>
                <a:gridCol w="167622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question you are asking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diagram that answers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Drawn 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7BD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What does the system do, for each kind of user?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case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Weeks 04–05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Which words does the business actually use?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model — a class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 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Who calls whom to make this scenario work?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Sequence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 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What can happen to this one object over time?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 machine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 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What are the steps, and which can run at once?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Activity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 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71845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How is the code cut into parts?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Package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Week 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3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143250" y="6543675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Start from the question. The diagram follows it — never the other way round.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4514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Cheat Sheet — Use Case &amp; Class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2162175"/>
            <a:ext cx="5086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Use case diagram — the outside view</a:t>
            </a:r>
            <a:endParaRPr/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2447925"/>
            <a:ext cx="4000500" cy="285750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81000" y="5381625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Actor (outside) · use case (inside the box) · association line · dashed «include».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0" y="2162175"/>
            <a:ext cx="609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Class diagram — the inside view</a:t>
            </a:r>
            <a:endParaRPr/>
          </a:p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15000" y="2447925"/>
            <a:ext cx="4381500" cy="28575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0" y="5381625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Three compartments: name · attributes · operations. Sign visibility with + and −.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81000" y="661035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401425" y="6610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5495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Cheat Sheet — Sequence, State, Activity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2200275"/>
            <a:ext cx="260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Sequence — time runs downward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457450"/>
            <a:ext cx="3619500" cy="28575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537210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Dashed lifeline · narrow activation bar · solid arrow = call, dashed arrow = return.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591175" y="1543050"/>
            <a:ext cx="621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State — one object, its whole life</a:t>
            </a:r>
            <a:endParaRPr/>
          </a:p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591175" y="1781175"/>
            <a:ext cx="4000500" cy="1600200"/>
          </a:xfrm>
          <a:prstGeom prst="rect">
            <a:avLst/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591175" y="3476625"/>
            <a:ext cx="621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Activity — steps, and the ones that overlap</a:t>
            </a:r>
            <a:endParaRPr/>
          </a:p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591175" y="3714750"/>
            <a:ext cx="4000500" cy="253365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247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thick bars are fork and join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Notation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Boot Camp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class box, top to bottom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387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Associations: name, role, multiplicity, direction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3562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Lifelines and the messages between them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2686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Class Box Anatomy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401425" y="81915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2057400"/>
            <a:ext cx="11239500" cy="361950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Visibility Marks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81000" y="2733675"/>
            <a:ext cx="2743200" cy="2247900"/>
          </a:xfrm>
          <a:prstGeom prst="roundRect">
            <a:avLst>
              <a:gd name="adj" fmla="val 423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543050" y="2905125"/>
            <a:ext cx="419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Georgia"/>
                <a:ea typeface="Georgia"/>
              </a:rPr>
              <a:t>+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485900" y="3695700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public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1219200" y="3990975"/>
            <a:ext cx="107632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333500" y="4029075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In code: </a:t>
            </a: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public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81025" y="4286250"/>
            <a:ext cx="23526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Part of the contract. Any class may call it.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81050" y="4600575"/>
            <a:ext cx="19526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Use it for operations, rarely for fields.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276600" y="2514600"/>
            <a:ext cx="2743200" cy="2686050"/>
          </a:xfrm>
          <a:prstGeom prst="roundRect">
            <a:avLst>
              <a:gd name="adj" fmla="val 354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38650" y="2686050"/>
            <a:ext cx="419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650" b="1">
                <a:solidFill>
                  <a:srgbClr val="1E4FA8"/>
                </a:solidFill>
                <a:latin typeface="Georgia"/>
                <a:ea typeface="Georgia"/>
              </a:rPr>
              <a:t>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352925" y="347662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private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4095750" y="3771900"/>
            <a:ext cx="111442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210050" y="3810000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In code: </a:t>
            </a: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private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448050" y="4067175"/>
            <a:ext cx="2400300" cy="4667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Visible only inside this class. The default choice.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448050" y="4610100"/>
            <a:ext cx="2400300" cy="4191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If a field has no reason to be public, this is its mark.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172200" y="2628900"/>
            <a:ext cx="2743200" cy="2457450"/>
          </a:xfrm>
          <a:prstGeom prst="roundRect">
            <a:avLst>
              <a:gd name="adj" fmla="val 387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334250" y="2800350"/>
            <a:ext cx="419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Georgia"/>
                <a:ea typeface="Georgia"/>
              </a:rPr>
              <a:t>#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134225" y="3590925"/>
            <a:ext cx="828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protected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915150" y="3886200"/>
            <a:ext cx="126682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029450" y="39243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In code: </a:t>
            </a: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protected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96075" y="4181475"/>
            <a:ext cx="169545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This class and its subclasses.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43650" y="4495800"/>
            <a:ext cx="2400300" cy="4191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Legitimate — but it couples you to the hierarchy.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9067800" y="2628900"/>
            <a:ext cx="2743200" cy="2457450"/>
          </a:xfrm>
          <a:prstGeom prst="roundRect">
            <a:avLst>
              <a:gd name="adj" fmla="val 387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229850" y="2800350"/>
            <a:ext cx="419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E4FA8"/>
                </a:solidFill>
                <a:latin typeface="Georgia"/>
                <a:ea typeface="Georgia"/>
              </a:rPr>
              <a:t>~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077450" y="3590925"/>
            <a:ext cx="733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package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9705975" y="3886200"/>
            <a:ext cx="146685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820275" y="392430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In code: </a:t>
            </a:r>
            <a:r>
              <a:rPr lang="en-US" sz="938" b="1">
                <a:solidFill>
                  <a:srgbClr val="1E4FA8"/>
                </a:solidFill>
                <a:latin typeface="Microsoft YaHei"/>
                <a:ea typeface="Microsoft YaHei"/>
              </a:rPr>
              <a:t>(no keyword)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505950" y="4181475"/>
            <a:ext cx="18669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Everything in the same package.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239250" y="4495800"/>
            <a:ext cx="2400300" cy="4191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Rare in analysis models; appears in code-level diagrams.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971675" y="6543675"/>
            <a:ext cx="824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Default to − and open up only with a reason. Encapsulation is a visibility decision before it is anything else.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2924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Association Anatomy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401425" y="81915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2095500"/>
            <a:ext cx="11239500" cy="354330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6629400"/>
            <a:ext cx="3743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aggregation and composition diamonds: Week 07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401425" y="6629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2019300"/>
            <a:ext cx="314325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Multiplicity</a:t>
            </a:r>
            <a:endParaRPr/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in Practice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30384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3209925"/>
            <a:ext cx="31432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 multiplicity is a constraint, not a comment. It is the first thing a reviewer should attack, because a wrong one silently breaks the code that follows.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19100" y="4171950"/>
            <a:ext cx="3143250" cy="51435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19100" y="4171950"/>
            <a:ext cx="3143250" cy="514350"/>
          </a:xfrm>
          <a:custGeom>
            <a:pathLst>
              <a:path w="330" h="54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49"/>
                </a:lnTo>
                <a:cubicBezTo>
                  <a:pt x="4" y="51"/>
                  <a:pt x="6" y="53"/>
                  <a:pt x="8" y="54"/>
                </a:cubicBezTo>
                <a:cubicBezTo>
                  <a:pt x="4" y="54"/>
                  <a:pt x="0" y="50"/>
                  <a:pt x="0" y="45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430530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Read it from the far end, out loud.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81000" y="4819650"/>
            <a:ext cx="3143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"One Restaurant offers 1..* MenuItems." If the sentence sounds wrong, the number is wrong.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790950" y="1838325"/>
            <a:ext cx="8020050" cy="647700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962400" y="2000250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362450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991100" y="195262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exactly one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Each OrderLine belongs to exactly 1 Order.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991100" y="2162175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 line with no order is meaningless — so the model forbids it.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790950" y="2581275"/>
            <a:ext cx="8020050" cy="647700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962400" y="2743200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238625" y="280035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Georgia"/>
                <a:ea typeface="Georgia"/>
              </a:rPr>
              <a:t>0..1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991100" y="26955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optional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An Order has 0..1 Payment.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991100" y="2905125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Unpaid is a legal state; do not force a Payment at construction.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790950" y="3324225"/>
            <a:ext cx="8020050" cy="647700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3962400" y="3486150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362450" y="35433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Georgia"/>
                <a:ea typeface="Georgia"/>
              </a:rPr>
              <a:t>*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991100" y="343852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zero or more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 Restaurant offers * MenuItems.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991100" y="3648075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 brand-new restaurant with an empty menu is still valid.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3790950" y="4067175"/>
            <a:ext cx="8020050" cy="647700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962400" y="4229100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257675" y="42862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Georgia"/>
                <a:ea typeface="Georgia"/>
              </a:rPr>
              <a:t>1..*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991100" y="418147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at least one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An Order has 1..* OrderLines.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991100" y="4391025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This is the rule that stops the empty order reaching the kitchen.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790950" y="4810125"/>
            <a:ext cx="8020050" cy="647700"/>
          </a:xfrm>
          <a:prstGeom prst="roundRect">
            <a:avLst>
              <a:gd name="adj" fmla="val 1470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3962400" y="4972050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200525" y="5029200"/>
            <a:ext cx="409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Georgia"/>
                <a:ea typeface="Georgia"/>
              </a:rPr>
              <a:t>m..n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991100" y="4924425"/>
            <a:ext cx="664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 bounded range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 delivery slot takes 1..5 Orders.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991100" y="5133975"/>
            <a:ext cx="6648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Ranges carry a real business limit — the courier has one bag.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619375" y="6553200"/>
            <a:ext cx="6953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Every multiplicity you write is a rule the database and the constructor will have to enforce.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2895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Lifelines &amp; Messages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971675"/>
            <a:ext cx="5334000" cy="3810000"/>
          </a:xfrm>
          <a:prstGeom prst="rect">
            <a:avLst/>
          </a:prstGeom>
          <a:ln/>
        </p:spPr>
      </p:pic>
      <p:sp>
        <p:nvSpPr>
          <p:cNvPr id="173" name=""/>
          <p:cNvSpPr/>
          <p:nvPr/>
        </p:nvSpPr>
        <p:spPr>
          <a:xfrm rot="0" flipH="0" flipV="0">
            <a:off x="6838950" y="1714500"/>
            <a:ext cx="497205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991350" y="183832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86600" y="1933575"/>
            <a:ext cx="171450" cy="1714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467600" y="183832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Lifeline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67600" y="204787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A dashed vertical line: this object exists and is available. It is not a thread.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38950" y="2505075"/>
            <a:ext cx="497205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991350" y="26289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86600" y="2724150"/>
            <a:ext cx="171450" cy="17145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467600" y="2628900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Activation bar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467600" y="283845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narrow box on the lifeline: this object is on the call stack right now.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838950" y="3295650"/>
            <a:ext cx="4972050" cy="904875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991350" y="34194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86600" y="3514725"/>
            <a:ext cx="171450" cy="17145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467600" y="341947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Message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467600" y="3629025"/>
            <a:ext cx="4191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Filled head = a call that blocks. Open head = fire and forget. Dashed = the answer.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838950" y="4305300"/>
            <a:ext cx="4972050" cy="904875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991350" y="442912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4524375"/>
            <a:ext cx="171450" cy="17145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467600" y="442912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Creation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467600" y="4638675"/>
            <a:ext cx="4191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arrow points at the box, not at the lifeline — the object starts life mid-scenario.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877050" y="5314950"/>
            <a:ext cx="4972050" cy="733425"/>
          </a:xfrm>
          <a:prstGeom prst="roundRect">
            <a:avLst>
              <a:gd name="adj" fmla="val 12987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77050" y="5314950"/>
            <a:ext cx="4972050" cy="733425"/>
          </a:xfrm>
          <a:custGeom>
            <a:pathLst>
              <a:path w="522" h="7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1"/>
                </a:lnTo>
                <a:cubicBezTo>
                  <a:pt x="4" y="74"/>
                  <a:pt x="6" y="76"/>
                  <a:pt x="9" y="77"/>
                </a:cubicBezTo>
                <a:cubicBezTo>
                  <a:pt x="4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029450" y="5438775"/>
            <a:ext cx="46291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One diagram, one scenario.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Do not draw every branch on the same sheet — Week 08 shows what to do instead.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668000" y="2571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NOTATION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143250" y="1076325"/>
            <a:ext cx="5915025" cy="11430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en-US" sz="3000" b="1">
                <a:solidFill>
                  <a:srgbClr val="0E3F8C"/>
                </a:solidFill>
                <a:latin typeface="Georgia"/>
                <a:ea typeface="Georgia"/>
              </a:rPr>
              <a:t>Drawing it correctly is not</a:t>
            </a:r>
            <a:endParaRPr/>
          </a:p>
          <a:p>
            <a:pPr algn="ctr">
              <a:lnSpc>
                <a:spcPct val="125000"/>
              </a:lnSpc>
            </a:pPr>
            <a:r>
              <a:rPr lang="en-US" sz="3000" b="1">
                <a:solidFill>
                  <a:srgbClr val="0E3F8C"/>
                </a:solidFill>
                <a:latin typeface="Georgia"/>
                <a:ea typeface="Georgia"/>
              </a:rPr>
              <a:t>the same as saying something.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715000" y="2486025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62000" y="2790825"/>
            <a:ext cx="10668000" cy="120015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90600" y="2981325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4900" y="3095625"/>
            <a:ext cx="209550" cy="2095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600200" y="2981325"/>
            <a:ext cx="960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Syntax is the easy half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600200" y="3248025"/>
            <a:ext cx="9601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Correct arrowheads, matching multiplicities, legal compartment syntax. A tool can check all of it for you — and a correct diagram can still say nothing at all.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62000" y="4143375"/>
            <a:ext cx="10668000" cy="120015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990600" y="4333875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04900" y="4448175"/>
            <a:ext cx="209550" cy="209550"/>
          </a:xfrm>
          <a:prstGeom prst="rect">
            <a:avLst/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600200" y="4333875"/>
            <a:ext cx="960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Semantics is where models fail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600200" y="4600575"/>
            <a:ext cx="9601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 class called "OrderManager", an association nobody can read aloud, a state diagram with no events. Every box is legal; the model conveys no decision.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62000" y="5610225"/>
            <a:ext cx="10668000" cy="800100"/>
          </a:xfrm>
          <a:prstGeom prst="roundRect">
            <a:avLst>
              <a:gd name="adj" fmla="val 11905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90600" y="5762625"/>
            <a:ext cx="1021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The test to apply to every diagram you draw this term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90600" y="5991225"/>
            <a:ext cx="102108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Hand it to someone who was not in the room. If they cannot state back the decision you made, the notation was fine and the model was empty.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81000" y="661035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401425" y="6610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The Modeling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Workflow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Use case → domain model → sequence → design class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Each artefact feeds the next one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Iterate in passes; never finish one before starting two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0525125" y="2571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WORKFLOW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430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From Use Case to Design Class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401425" y="81915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2114550"/>
            <a:ext cx="11239500" cy="354330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66389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401425" y="66389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525125" y="2571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WORKFLOW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4543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Steps 1–2 — Use Case to Domain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1000" y="2619375"/>
            <a:ext cx="80010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95300" y="266700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STEP 01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76350" y="263842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use case gives behaviour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381000" y="2962275"/>
            <a:ext cx="6400800" cy="1562100"/>
          </a:xfrm>
          <a:prstGeom prst="roundRect">
            <a:avLst>
              <a:gd name="adj" fmla="val 609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" y="31146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1. The student picks a restaurant and adds items to a cart.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71500" y="3448050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2. The system shows the subtotal and the delivery fee.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71500" y="378142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3. The student chooses a payment method and confirms.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4114800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4. The system charges the payment and notifies the kitchen.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19100" y="4619625"/>
            <a:ext cx="6400800" cy="495300"/>
          </a:xfrm>
          <a:prstGeom prst="roundRect">
            <a:avLst>
              <a:gd name="adj" fmla="val 1730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19100" y="4619625"/>
            <a:ext cx="6400800" cy="495300"/>
          </a:xfrm>
          <a:custGeom>
            <a:pathLst>
              <a:path w="672" h="52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47"/>
                </a:lnTo>
                <a:cubicBezTo>
                  <a:pt x="4" y="49"/>
                  <a:pt x="6" y="51"/>
                  <a:pt x="8" y="52"/>
                </a:cubicBezTo>
                <a:cubicBezTo>
                  <a:pt x="4" y="52"/>
                  <a:pt x="0" y="48"/>
                  <a:pt x="0" y="4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90550" y="4743450"/>
            <a:ext cx="6019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A use case is a verb. It tells you what happens — not what the pieces are called.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010400" y="2390775"/>
            <a:ext cx="80010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124700" y="243840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STEP 02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905750" y="2409825"/>
            <a:ext cx="2543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domain gives vocabulary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010400" y="2733675"/>
            <a:ext cx="63817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143750" y="28098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Order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7724775" y="2733675"/>
            <a:ext cx="90487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858125" y="2809875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OrderLine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705850" y="2733675"/>
            <a:ext cx="895350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839200" y="2809875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MenuItem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677400" y="2733675"/>
            <a:ext cx="971550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810750" y="2809875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Restaurant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725150" y="2733675"/>
            <a:ext cx="54292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858500" y="2809875"/>
            <a:ext cx="27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Cart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010400" y="3124200"/>
            <a:ext cx="82867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143750" y="32004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Payment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915275" y="3124200"/>
            <a:ext cx="742950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048625" y="32004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Courier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734425" y="3124200"/>
            <a:ext cx="790575" cy="314325"/>
          </a:xfrm>
          <a:prstGeom prst="roundRect">
            <a:avLst>
              <a:gd name="adj" fmla="val 48485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867775" y="3200400"/>
            <a:ext cx="52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Delivery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010400" y="3533775"/>
            <a:ext cx="4800600" cy="1019175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181850" y="3657600"/>
            <a:ext cx="4457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Nouns in the scenario become candidate concepts. Verbs become the associations and, later, the methods.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181850" y="4191000"/>
            <a:ext cx="44577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"Notifies the kitchen" is not a class — it is a message you will draw in step 03.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7048500" y="4648200"/>
            <a:ext cx="4800600" cy="695325"/>
          </a:xfrm>
          <a:prstGeom prst="roundRect">
            <a:avLst>
              <a:gd name="adj" fmla="val 12329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7048500" y="4648200"/>
            <a:ext cx="4800600" cy="695325"/>
          </a:xfrm>
          <a:custGeom>
            <a:pathLst>
              <a:path w="504" h="73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68"/>
                </a:lnTo>
                <a:cubicBezTo>
                  <a:pt x="4" y="70"/>
                  <a:pt x="6" y="72"/>
                  <a:pt x="8" y="73"/>
                </a:cubicBezTo>
                <a:cubicBezTo>
                  <a:pt x="4" y="73"/>
                  <a:pt x="0" y="69"/>
                  <a:pt x="0" y="64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200900" y="4762500"/>
            <a:ext cx="4457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Do not add classes for the software itself.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 "Database", "System", "Logger" are not domain concepts.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2114550" y="6553200"/>
            <a:ext cx="797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Week 06 turns this noun list into a real domain model. Today you only need to see where it comes from.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525125" y="2571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WORKFLOW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Step 3 — Sequence Drives Design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877050" y="2000250"/>
            <a:ext cx="4972050" cy="590550"/>
          </a:xfrm>
          <a:prstGeom prst="roundRect">
            <a:avLst>
              <a:gd name="adj" fmla="val 1612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877050" y="2000250"/>
            <a:ext cx="4972050" cy="590550"/>
          </a:xfrm>
          <a:custGeom>
            <a:pathLst>
              <a:path w="522" h="6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6"/>
                </a:lnTo>
                <a:cubicBezTo>
                  <a:pt x="4" y="59"/>
                  <a:pt x="6" y="61"/>
                  <a:pt x="9" y="62"/>
                </a:cubicBezTo>
                <a:cubicBezTo>
                  <a:pt x="4" y="61"/>
                  <a:pt x="0" y="57"/>
                  <a:pt x="0" y="5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048500" y="2152650"/>
            <a:ext cx="45910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One arrow, one method. That is the whole trick.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838950" y="2695575"/>
            <a:ext cx="4972050" cy="676275"/>
          </a:xfrm>
          <a:prstGeom prst="roundRect">
            <a:avLst>
              <a:gd name="adj" fmla="val 140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991350" y="28194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86600" y="2914650"/>
            <a:ext cx="161925" cy="161925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448550" y="2819400"/>
            <a:ext cx="42100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Receiver decides the class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448550" y="3019425"/>
            <a:ext cx="42100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arrow head lands on a lifeline — that class must own the method.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838950" y="3476625"/>
            <a:ext cx="4972050" cy="676275"/>
          </a:xfrm>
          <a:prstGeom prst="roundRect">
            <a:avLst>
              <a:gd name="adj" fmla="val 140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991350" y="3600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86600" y="3695700"/>
            <a:ext cx="161925" cy="161925"/>
          </a:xfrm>
          <a:prstGeom prst="rect">
            <a:avLst/>
          </a:pr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448550" y="3600450"/>
            <a:ext cx="42100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Name and parameters come free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448550" y="3800475"/>
            <a:ext cx="42100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A message is already a signature; you are transcribing, not inventing.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838950" y="4257675"/>
            <a:ext cx="4972050" cy="676275"/>
          </a:xfrm>
          <a:prstGeom prst="roundRect">
            <a:avLst>
              <a:gd name="adj" fmla="val 1408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991350" y="43815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86600" y="4476750"/>
            <a:ext cx="161925" cy="161925"/>
          </a:xfrm>
          <a:prstGeom prst="rect">
            <a:avLst/>
          </a:prstGeom>
          <a:ln/>
        </p:spPr>
      </p:pic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448550" y="4381500"/>
            <a:ext cx="42100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The return becomes the type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448550" y="4581525"/>
            <a:ext cx="42100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If you drew a dashed reply with a name, the method returns it.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838950" y="5038725"/>
            <a:ext cx="4972050" cy="695325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991350" y="5153025"/>
            <a:ext cx="4667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This is why the sequence diagram is drawn 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before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 the design class diagram — the methods are discovered, not guessed.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2352675"/>
            <a:ext cx="6210300" cy="3028950"/>
          </a:xfrm>
          <a:prstGeom prst="roundRect">
            <a:avLst>
              <a:gd name="adj" fmla="val 251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/>
          <p:cNvSpPr txBox="1"/>
          <p:nvPr/>
        </p:nvSpPr>
        <p:spPr>
          <a:xfrm rot="0" flipH="0" flipV="0">
            <a:off x="533400" y="2486025"/>
            <a:ext cx="5905500" cy="27622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63">
                <a:solidFill>
                  <a:srgbClr val="E5E7EB"/>
                </a:solidFill>
                <a:latin typeface="Menlo"/>
                <a:ea typeface="Menlo"/>
              </a:rPr>
              <a:t># Draw the arrow, then write the operation.
# Every message on the diagram is one
# operation on the class at the arrow head.
:OrderController  -&gt;  :Order
        submit(cart)
Class OrderController
    + submit(cart)
:Order  -&gt;  :OrderLine
        create(item, qty)
Class Order
    + create(item, qty) : OrderLine
:Order  -&gt;  :Order
        total() : Money
Class Order
    + total() : Money</a:t>
            </a:r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525125" y="2571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WORKFLOW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Where State Diagrams Fit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  <p:pic>
        <p:nvPicPr>
          <p:cNvPr id="3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447925"/>
            <a:ext cx="5334000" cy="2857500"/>
          </a:xfrm>
          <a:prstGeom prst="rect">
            <a:avLst/>
          </a:prstGeom>
          <a:ln/>
        </p:spPr>
      </p:pic>
      <p:sp>
        <p:nvSpPr>
          <p:cNvPr id="365" name=""/>
          <p:cNvSpPr/>
          <p:nvPr/>
        </p:nvSpPr>
        <p:spPr>
          <a:xfrm rot="0" flipH="0" flipV="0">
            <a:off x="6877050" y="1771650"/>
            <a:ext cx="4972050" cy="590550"/>
          </a:xfrm>
          <a:prstGeom prst="roundRect">
            <a:avLst>
              <a:gd name="adj" fmla="val 1612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877050" y="1771650"/>
            <a:ext cx="4972050" cy="590550"/>
          </a:xfrm>
          <a:custGeom>
            <a:pathLst>
              <a:path w="522" h="6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6"/>
                </a:lnTo>
                <a:cubicBezTo>
                  <a:pt x="4" y="59"/>
                  <a:pt x="6" y="61"/>
                  <a:pt x="9" y="62"/>
                </a:cubicBezTo>
                <a:cubicBezTo>
                  <a:pt x="4" y="61"/>
                  <a:pt x="0" y="57"/>
                  <a:pt x="0" y="5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048500" y="1924050"/>
            <a:ext cx="45910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Not every class deserves a state diagram.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838950" y="2466975"/>
            <a:ext cx="497205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991350" y="259080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86600" y="2686050"/>
            <a:ext cx="161925" cy="161925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448550" y="2590800"/>
            <a:ext cx="42100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Draw one when history matters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448550" y="2790825"/>
            <a:ext cx="4210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same message gets a different answer depending on the state. That is the only real trigger.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838950" y="3467100"/>
            <a:ext cx="497205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991350" y="35909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86600" y="3686175"/>
            <a:ext cx="161925" cy="161925"/>
          </a:xfrm>
          <a:prstGeom prst="rect">
            <a:avLst/>
          </a:prstGeom>
          <a:ln/>
        </p:spPr>
      </p:pic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448550" y="3590925"/>
            <a:ext cx="42100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Skip it for passive records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448550" y="3790950"/>
            <a:ext cx="4210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MenuItem has a price and a name. It has no life. A state diagram adds nothing.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38950" y="4467225"/>
            <a:ext cx="4972050" cy="7143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991350" y="4591050"/>
            <a:ext cx="4667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one-line test: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 if you cannot name the events, there are no states — only attributes.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877050" y="5286375"/>
            <a:ext cx="4972050" cy="695325"/>
          </a:xfrm>
          <a:prstGeom prst="roundRect">
            <a:avLst>
              <a:gd name="adj" fmla="val 12329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877050" y="5286375"/>
            <a:ext cx="4972050" cy="695325"/>
          </a:xfrm>
          <a:custGeom>
            <a:pathLst>
              <a:path w="522" h="73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68"/>
                </a:lnTo>
                <a:cubicBezTo>
                  <a:pt x="4" y="70"/>
                  <a:pt x="6" y="72"/>
                  <a:pt x="8" y="73"/>
                </a:cubicBezTo>
                <a:cubicBezTo>
                  <a:pt x="4" y="73"/>
                  <a:pt x="0" y="69"/>
                  <a:pt x="0" y="64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029450" y="5400675"/>
            <a:ext cx="4629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CampusBites needs exactly two: 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Order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 and 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Delivery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. Everything else can wait for Week 09.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0525125" y="2571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WORKFLOW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448050" y="1466850"/>
            <a:ext cx="5295900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en-US" sz="2850" b="1">
                <a:solidFill>
                  <a:srgbClr val="0E3F8C"/>
                </a:solidFill>
                <a:latin typeface="Georgia"/>
                <a:ea typeface="Georgia"/>
              </a:rPr>
              <a:t>One workflow, many passes.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5734050" y="2219325"/>
            <a:ext cx="7239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62000" y="2466975"/>
            <a:ext cx="10668000" cy="828675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71550" y="2628900"/>
            <a:ext cx="342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485900" y="2628900"/>
            <a:ext cx="9734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Breadth first, depth later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485900" y="2876550"/>
            <a:ext cx="9734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Sketch every use case at one line each before you write a single full scenario. You will throw away fewer pages that way.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62000" y="3429000"/>
            <a:ext cx="10668000" cy="828675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71550" y="359092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524000" y="3590925"/>
            <a:ext cx="969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Ten per cent of the use cases, ten per cent of the classes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524000" y="3838575"/>
            <a:ext cx="9696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Larman's rule of thumb: one short pass across the whole system beats a perfect model of one corner of it.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762000" y="4391025"/>
            <a:ext cx="10668000" cy="828675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71550" y="4552950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524000" y="4552950"/>
            <a:ext cx="969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Stop when modelling costs more than coding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524000" y="4800600"/>
            <a:ext cx="9696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The moment a diagram stops changing a decision, put it down and write the code. You can always come back with a better question.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762000" y="5429250"/>
            <a:ext cx="10668000" cy="561975"/>
          </a:xfrm>
          <a:prstGeom prst="roundRect">
            <a:avLst>
              <a:gd name="adj" fmla="val 1694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90600" y="5572125"/>
            <a:ext cx="1021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Your M1 submission is the end of pass one — not the end of modelling. Expect to redraw all of it in Week 06, and again in Week 08.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25 / 38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467100" y="220980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467100" y="2552700"/>
            <a:ext cx="8115300" cy="647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Toolchain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467100" y="34480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346710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657600" y="3733800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draw.io for the diagrams you will present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467100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657600" y="4076700"/>
            <a:ext cx="3724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PlantUML for the diagrams you will maintain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467100" y="4495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657600" y="4419600"/>
            <a:ext cx="3590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Both live in the repository, next to the code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27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0553700" y="25717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TOOLCHAIN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2933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draw.io or PlantUML?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graphicFrame>
        <p:nvGraphicFramePr>
          <p:cNvPr id="429" name=""/>
          <p:cNvGraphicFramePr/>
          <p:nvPr/>
        </p:nvGraphicFramePr>
        <p:xfrm rot="0" flipH="0" flipV="0">
          <a:off x="381000" y="1276350"/>
          <a:ext cx="11430000" cy="5086350"/>
        </p:xfrm>
        <a:graphic>
          <a:graphicData uri="http://schemas.openxmlformats.org/drawingml/2006/table">
            <a:tbl>
              <a:tblGrid>
                <a:gridCol w="2737294">
                  <a:extLst>
                    <a:ext uri="{9D8B030D-6E8A-4147-A177-3AD203B41FA5}">
                      <a16:colId val="1"/>
                    </a:ext>
                  </a:extLst>
                </a:gridCol>
                <a:gridCol w="4781746">
                  <a:extLst>
                    <a:ext uri="{9D8B030D-6E8A-4147-A177-3AD203B41FA5}">
                      <a16:colId val="2"/>
                    </a:ext>
                  </a:extLst>
                </a:gridCol>
                <a:gridCol w="391096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Dimension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draw.io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PlantUML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7BD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How you draw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Drag shapes with the mouse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Type text, see the picture appear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Source file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.drawio — compressed XML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.puml — plain text, readable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Free-form layout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Excellent — you place every box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tool decides; you live with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Speed of a small edit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Fast for one box, slow for a rename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Find and replace; instant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Diff in a pull request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Unreadable — the whole file changes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One line per change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Learning curve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Ten minutes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afternoon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63579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Best used 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Presentation diagrams, posters, one-offs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Models the team edits all term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430" name=""/>
          <p:cNvSpPr/>
          <p:nvPr/>
        </p:nvSpPr>
        <p:spPr>
          <a:xfrm rot="0" flipH="0" flipV="0">
            <a:off x="0" y="6400800"/>
            <a:ext cx="12192000" cy="457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095375" y="6534150"/>
            <a:ext cx="1001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Course default: model in PlantUML, present in draw.io. Both source files go in the repository — a PNG on its own is not a submission.</a:t>
            </a:r>
            <a:endParaRPr/>
          </a:p>
        </p:txBody>
      </p:sp>
    </p:spTree>
  </p:cSld>
</p:sld>
</file>

<file path=ppt/slides/slide2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0553700" y="25717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TOOLCHAIN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2990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PlantUML by Example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838950" y="1971675"/>
            <a:ext cx="4972050" cy="942975"/>
          </a:xfrm>
          <a:prstGeom prst="roundRect">
            <a:avLst>
              <a:gd name="adj" fmla="val 1010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991350" y="210502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86600" y="2200275"/>
            <a:ext cx="171450" cy="171450"/>
          </a:xfrm>
          <a:prstGeom prst="rect">
            <a:avLst/>
          </a:prstGeom>
          <a:ln/>
        </p:spPr>
      </p:pic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467600" y="2105025"/>
            <a:ext cx="4191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class Name { ... }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467600" y="2314575"/>
            <a:ext cx="4191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Everything between the braces is the class box — name, attributes, operations, in that order.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838950" y="3019425"/>
            <a:ext cx="4972050" cy="942975"/>
          </a:xfrm>
          <a:prstGeom prst="roundRect">
            <a:avLst>
              <a:gd name="adj" fmla="val 1010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991350" y="31527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86600" y="3248025"/>
            <a:ext cx="171450" cy="171450"/>
          </a:xfrm>
          <a:prstGeom prst="rect">
            <a:avLst/>
          </a:prstGeom>
          <a:ln/>
        </p:spPr>
      </p:pic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467600" y="3152775"/>
            <a:ext cx="4191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The line between classes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467600" y="3362325"/>
            <a:ext cx="4191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Read it left to right: multiplicity, the line style, multiplicity, then a colon and the association name.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838950" y="4067175"/>
            <a:ext cx="4972050" cy="942975"/>
          </a:xfrm>
          <a:prstGeom prst="roundRect">
            <a:avLst>
              <a:gd name="adj" fmla="val 1010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991350" y="420052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86600" y="4295775"/>
            <a:ext cx="171450" cy="171450"/>
          </a:xfrm>
          <a:prstGeom prst="rect">
            <a:avLst/>
          </a:prstGeom>
          <a:ln/>
        </p:spPr>
      </p:pic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467600" y="4200525"/>
            <a:ext cx="4191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*-- and o--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467600" y="4410075"/>
            <a:ext cx="4191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A filled diamond is composition: the parts die with the whole. A hollow one is aggregation. A bare -- is a plain association.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877050" y="5114925"/>
            <a:ext cx="4972050" cy="695325"/>
          </a:xfrm>
          <a:prstGeom prst="roundRect">
            <a:avLst>
              <a:gd name="adj" fmla="val 1232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877050" y="5114925"/>
            <a:ext cx="4972050" cy="695325"/>
          </a:xfrm>
          <a:custGeom>
            <a:pathLst>
              <a:path w="522" h="73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68"/>
                </a:lnTo>
                <a:cubicBezTo>
                  <a:pt x="4" y="70"/>
                  <a:pt x="6" y="72"/>
                  <a:pt x="8" y="73"/>
                </a:cubicBezTo>
                <a:cubicBezTo>
                  <a:pt x="4" y="73"/>
                  <a:pt x="0" y="69"/>
                  <a:pt x="0" y="64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029450" y="5229225"/>
            <a:ext cx="4629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 b="1">
                <a:solidFill>
                  <a:srgbClr val="0E3F8C"/>
                </a:solidFill>
                <a:latin typeface="Microsoft YaHei"/>
                <a:ea typeface="Microsoft YaHei"/>
              </a:rPr>
              <a:t>You will write exactly this file in Exercise 3.2 — with two lines left blank for you to fill in.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PlantUML renders in VS Code and on plantuml.com/plantuml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381000" y="2181225"/>
            <a:ext cx="6210300" cy="3409950"/>
          </a:xfrm>
          <a:prstGeom prst="roundRect">
            <a:avLst>
              <a:gd name="adj" fmla="val 2235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/>
          <p:cNvSpPr txBox="1"/>
          <p:nvPr/>
        </p:nvSpPr>
        <p:spPr>
          <a:xfrm rot="0" flipH="0" flipV="0">
            <a:off x="533400" y="2314575"/>
            <a:ext cx="5905500" cy="31432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>@startuml
class Library {
  - name : String
  + addBook(b : Book) : void
  + findByIsbn(isbn : String) : Book
}
class Book {
  - isbn : String
  - title : String
  + isAvailable() : boolean
}
class Member {
  - id : String
  - name : String
  + borrow(b : Book) : void
}
Library "1" *-- "0..*" Book : holds
Library "1" o-- "0..*" Member : registers
@enduml</a:t>
            </a:r>
            <a:endParaRPr/>
          </a:p>
        </p:txBody>
      </p:sp>
    </p:spTree>
  </p:cSld>
</p:sld>
</file>

<file path=ppt/slides/slide2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553700" y="25717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TOOLCHAIN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4038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Version-Controlling Diagrams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381000" y="2571750"/>
            <a:ext cx="600075" cy="200025"/>
          </a:xfrm>
          <a:prstGeom prst="roundRect">
            <a:avLst>
              <a:gd name="adj" fmla="val 28571"/>
            </a:avLst>
          </a:prstGeom>
          <a:solidFill>
            <a:srgbClr val="FDF3F3"/>
          </a:solidFill>
          <a:ln w="12700">
            <a:solidFill>
              <a:srgbClr val="F0C9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76250" y="26003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D9534F"/>
                </a:solidFill>
                <a:latin typeface="Microsoft YaHei"/>
                <a:ea typeface="Microsoft YaHei"/>
              </a:rPr>
              <a:t>.drawio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57275" y="2600325"/>
            <a:ext cx="1971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one box moved — 340 lines rewritten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81000" y="4276725"/>
            <a:ext cx="495300" cy="200025"/>
          </a:xfrm>
          <a:prstGeom prst="roundRect">
            <a:avLst>
              <a:gd name="adj" fmla="val 28571"/>
            </a:avLst>
          </a:prstGeom>
          <a:solidFill>
            <a:srgbClr val="E8EFF8"/>
          </a:solidFill>
          <a:ln w="12700">
            <a:solidFill>
              <a:srgbClr val="C9D9F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76250" y="4305300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.puml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952500" y="43053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the same edit — two lines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829425" y="2076450"/>
            <a:ext cx="4981575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981825" y="22002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77075" y="2295525"/>
            <a:ext cx="161925" cy="161925"/>
          </a:xfrm>
          <a:prstGeom prst="rect">
            <a:avLst/>
          </a:prstGeom>
          <a:ln/>
        </p:spPr>
      </p:pic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439025" y="2200275"/>
            <a:ext cx="421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 diff you can actually read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439025" y="2390775"/>
            <a:ext cx="42195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Two lines instead of three hundred. A reviewer can see what changed and disagree with it in writing.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829425" y="3057525"/>
            <a:ext cx="4981575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981825" y="31813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77075" y="3276600"/>
            <a:ext cx="161925" cy="161925"/>
          </a:xfrm>
          <a:prstGeom prst="rect">
            <a:avLst/>
          </a:prstGeom>
          <a:ln/>
        </p:spPr>
      </p:pic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439025" y="3181350"/>
            <a:ext cx="421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History becomes evidence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439025" y="3371850"/>
            <a:ext cx="42195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log shows who added the multiplicity and when. That is what makes the contribution review possible at all.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829425" y="4038600"/>
            <a:ext cx="4981575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981825" y="41624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77075" y="4257675"/>
            <a:ext cx="161925" cy="161925"/>
          </a:xfrm>
          <a:prstGeom prst="rect">
            <a:avLst/>
          </a:prstGeom>
          <a:ln/>
        </p:spPr>
      </p:pic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439025" y="4162425"/>
            <a:ext cx="421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This is why it touches your grade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439025" y="4352925"/>
            <a:ext cx="42195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Individual work is 40% of the mark and is assessed from the repository. If your edit is invisible, it cannot be counted.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829425" y="5019675"/>
            <a:ext cx="4981575" cy="695325"/>
          </a:xfrm>
          <a:prstGeom prst="roundRect">
            <a:avLst>
              <a:gd name="adj" fmla="val 123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981825" y="5133975"/>
            <a:ext cx="46767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A PNG with no source file is worth zero. The source is what is graded — but export the PNG and commit it beside it.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1000" y="66294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401425" y="6629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81000" y="2847975"/>
            <a:ext cx="6219825" cy="1352550"/>
          </a:xfrm>
          <a:prstGeom prst="roundRect">
            <a:avLst>
              <a:gd name="adj" fmla="val 563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94" name=""/>
          <p:cNvSpPr txBox="1"/>
          <p:nvPr/>
        </p:nvSpPr>
        <p:spPr>
          <a:xfrm rot="0" flipH="0" flipV="0">
            <a:off x="533400" y="2981325"/>
            <a:ext cx="5915025" cy="10858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788">
                <a:solidFill>
                  <a:srgbClr val="E5E7EB"/>
                </a:solidFill>
                <a:latin typeface="Menlo"/>
                <a:ea typeface="Menlo"/>
              </a:rPr>
              <a:t>-  &lt;mxCell id="9" value="Book" style="rounded=0;
-     whiteSpace=wrap;html=1;" vertex="1" parent="1"&gt;
-    &lt;mxGeometry x="320" y="80" width="160"
-       height="60" as="geometry" /&gt;
+  &lt;mxCell id="9" value="Book" style="rounded=0;
+     whiteSpace=wrap;html=1;fillColor=#E8EFF8;"
+     vertex="1" parent="1"&gt;
+    &lt;mxGeometry x="320" y="80" width="160"
+       height="86" as="geometry" /&gt;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381000" y="4552950"/>
            <a:ext cx="6219825" cy="666750"/>
          </a:xfrm>
          <a:prstGeom prst="roundRect">
            <a:avLst>
              <a:gd name="adj" fmla="val 11429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/>
          <p:cNvSpPr txBox="1"/>
          <p:nvPr/>
        </p:nvSpPr>
        <p:spPr>
          <a:xfrm rot="0" flipH="0" flipV="0">
            <a:off x="533400" y="4686300"/>
            <a:ext cx="5915025" cy="400050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63">
                <a:solidFill>
                  <a:srgbClr val="E5E7EB"/>
                </a:solidFill>
                <a:latin typeface="Menlo"/>
                <a:ea typeface="Menlo"/>
              </a:rPr>
              <a:t>- Member "1"     -- "0..*" Book : borrows
+ Member "0..1"  -- "0..*" Book : borrows
+ Member "1"     -- "0..1" Library : registers</a:t>
            </a:r>
            <a:endParaRPr/>
          </a:p>
        </p:txBody>
      </p:sp>
    </p:spTree>
  </p:cSld>
</p:sld>
</file>

<file path=ppt/slides/slide3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553700" y="25717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TOOLCHAIN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3762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Team Diagram Conventions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30 / 38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381000" y="157162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552450" y="17335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" y="1828800"/>
            <a:ext cx="171450" cy="171450"/>
          </a:xfrm>
          <a:prstGeom prst="rect">
            <a:avLst/>
          </a:prstGeom>
          <a:ln/>
        </p:spPr>
      </p:pic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066800" y="181927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Naming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362200" y="168592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Lower-case kebab, one artefact per file: domain-model.puml, order-sequence.puml, order-state.puml. No "final", no "v3".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2362200" y="194310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A file name is the first thing a reviewer reads.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381000" y="235267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552450" y="25146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" y="2609850"/>
            <a:ext cx="171450" cy="171450"/>
          </a:xfrm>
          <a:prstGeom prst="rect">
            <a:avLst/>
          </a:prstGeom>
          <a:ln/>
        </p:spPr>
      </p:pic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066800" y="260032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Location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2362200" y="246697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Everything under docs/diagrams/ in the team repository. Never on a laptop, never as a chat attachment.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2362200" y="272415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If it is not in the repo, it does not exist.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381000" y="313372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52450" y="32956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7700" y="3390900"/>
            <a:ext cx="171450" cy="17145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66800" y="338137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Colour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2362200" y="324802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One palette only: white = agreed concept, blue = proposed this week, grey = deprecated. Nothing else.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2362200" y="350520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Colour that carries no meaning is noise.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381000" y="391477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552450" y="40767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7700" y="4171950"/>
            <a:ext cx="171450" cy="171450"/>
          </a:xfrm>
          <a:prstGeom prst="rect">
            <a:avLst/>
          </a:prstGeom>
          <a:ln/>
        </p:spPr>
      </p:pic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066800" y="416242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Decision line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2362200" y="402907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Every diagram gets one sentence in the README next to it: the decision the diagram is making.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2362200" y="428625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Forces you to know what the diagram is for.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381000" y="469582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552450" y="48577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7700" y="4953000"/>
            <a:ext cx="171450" cy="171450"/>
          </a:xfrm>
          <a:prstGeom prst="rect">
            <a:avLst/>
          </a:prstGeom>
          <a:ln/>
        </p:spPr>
      </p:pic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66800" y="494347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Export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362200" y="481012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The PNG is exported from the source and committed beside it, same name, different extension.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2362200" y="506730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So a reader can look at the picture without the tool.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81000" y="5476875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552450" y="56388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47700" y="5734050"/>
            <a:ext cx="171450" cy="171450"/>
          </a:xfrm>
          <a:prstGeom prst="rect">
            <a:avLst/>
          </a:prstGeom>
          <a:ln/>
        </p:spPr>
      </p:pic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066800" y="572452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Ownership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2362200" y="5591175"/>
            <a:ext cx="92773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The README names an owner for each file. Editing someone else's file needs a commit message that says why.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2362200" y="5848350"/>
            <a:ext cx="9277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i="1">
                <a:solidFill>
                  <a:srgbClr val="8B97A8"/>
                </a:solidFill>
                <a:latin typeface="Microsoft YaHei"/>
                <a:ea typeface="Microsoft YaHei"/>
              </a:rPr>
              <a:t>This is what the contribution review reads.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2200275" y="6553200"/>
            <a:ext cx="780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Agree these six today, write them into the README, and stop re-arguing them for the rest of the term.</a:t>
            </a:r>
            <a:endParaRPr/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5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467100" y="19145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LAB · 90 MINUTES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467100" y="2257425"/>
            <a:ext cx="8115300" cy="12477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Exercises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Team Setup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3467100" y="37528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3467100" y="4114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657600" y="40386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Exercise 3.1 — name that diagram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3467100" y="4457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3657600" y="4381500"/>
            <a:ext cx="3686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Exercise 3.2 — model a library in PlantUML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467100" y="4800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3657600" y="4724400"/>
            <a:ext cx="4457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Then: the toolchain and the conventions, checked off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5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LAB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81000" y="1685925"/>
            <a:ext cx="1219200" cy="266700"/>
          </a:xfrm>
          <a:prstGeom prst="roundRect">
            <a:avLst>
              <a:gd name="adj" fmla="val 214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14350" y="1743075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EXERCISE 3.1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81000" y="2066925"/>
            <a:ext cx="30480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Name That</a:t>
            </a:r>
            <a:endParaRPr/>
          </a:p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Diagram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381000" y="3009900"/>
            <a:ext cx="4953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81000" y="3162300"/>
            <a:ext cx="30480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Six fragments. For each one, write down two things: which diagram it is, and the question that diagram answers.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419100" y="4105275"/>
            <a:ext cx="3048000" cy="733425"/>
          </a:xfrm>
          <a:prstGeom prst="roundRect">
            <a:avLst>
              <a:gd name="adj" fmla="val 1168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419100" y="4105275"/>
            <a:ext cx="3048000" cy="733425"/>
          </a:xfrm>
          <a:custGeom>
            <a:pathLst>
              <a:path w="320" h="77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72"/>
                </a:lnTo>
                <a:cubicBezTo>
                  <a:pt x="4" y="74"/>
                  <a:pt x="6" y="76"/>
                  <a:pt x="8" y="77"/>
                </a:cubicBezTo>
                <a:cubicBezTo>
                  <a:pt x="4" y="77"/>
                  <a:pt x="0" y="73"/>
                  <a:pt x="0" y="68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71500" y="4229100"/>
            <a:ext cx="2705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Answer the question, not just the name. "It is a class diagram" earns half a mark.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81000" y="4953000"/>
            <a:ext cx="3048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Ten minutes alone, then the pair next to you reads your answers. Answers on the next slide — do not scroll ahead.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3676650" y="1914525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829050" y="202882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924300" y="2085975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248150" y="2028825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A stick figure labelled Student, an ellipse labelled Place Order, and a thin rectangle drawn around the ellipse.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3676650" y="2514600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3829050" y="2628900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924300" y="2686050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248150" y="2628900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Three boxes — Order, OrderLine, MenuItem — joined by lines carrying the labels 1 and 1..*.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3676650" y="3114675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3829050" y="322897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924300" y="3286125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4248150" y="3228975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Three dashed vertical lines running down the page, with horizontal arrows stepping between them.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3676650" y="3714750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829050" y="3829050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3924300" y="3886200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248150" y="3829050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Four rounded rectangles connected by arrows labelled submit, cancel, deliver, hand over.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3676650" y="4314825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3829050" y="4429125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3924300" y="4486275"/>
            <a:ext cx="10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E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248150" y="4429125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One thick horizontal bar that splits a single flow into two, and a second bar further down that brings them back together.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3676650" y="4914900"/>
            <a:ext cx="813435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3829050" y="5029200"/>
            <a:ext cx="285750" cy="285750"/>
          </a:xfrm>
          <a:prstGeom prst="roundRect">
            <a:avLst>
              <a:gd name="adj" fmla="val 23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3924300" y="50863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F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248150" y="5029200"/>
            <a:ext cx="7410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1A2230"/>
                </a:solidFill>
                <a:latin typeface="Microsoft YaHei"/>
                <a:ea typeface="Microsoft YaHei"/>
              </a:rPr>
              <a:t>Four large boxes, each containing several smaller ones, with arrows drawn between the large boxes.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</p:spTree>
  </p:cSld>
</p:sld>
</file>

<file path=ppt/slides/slide33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16 asvg">
  <p:cSld>
    <p:spTree>
      <p:nvGrpSpPr>
        <p:cNvPr id="6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LAB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81000" y="80010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Exercise 3.1 — Answers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graphicFrame>
        <p:nvGraphicFramePr>
          <p:cNvPr id="617" name=""/>
          <p:cNvGraphicFramePr/>
          <p:nvPr/>
        </p:nvGraphicFramePr>
        <p:xfrm rot="0" flipH="0" flipV="0">
          <a:off x="381000" y="1200150"/>
          <a:ext cx="11430000" cy="5219700"/>
        </p:xfrm>
        <a:graphic>
          <a:graphicData uri="http://schemas.openxmlformats.org/drawingml/2006/table">
            <a:tbl>
              <a:tblGrid>
                <a:gridCol w="1448987">
                  <a:extLst>
                    <a:ext uri="{9D8B030D-6E8A-4147-A177-3AD203B41FA5}">
                      <a16:colId val="1"/>
                    </a:ext>
                  </a:extLst>
                </a:gridCol>
                <a:gridCol w="2865595">
                  <a:extLst>
                    <a:ext uri="{9D8B030D-6E8A-4147-A177-3AD203B41FA5}">
                      <a16:colId val="2"/>
                    </a:ext>
                  </a:extLst>
                </a:gridCol>
                <a:gridCol w="711541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Fragment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The question it answers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7BD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case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does the system do, and for whom?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Class (domain model)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Which concepts exist, and how many of each?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Sequence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Who sends which message to whom, in what order?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can happen to this one object over time?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Activity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are the steps, and which can run at the same time?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7456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Package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How is the system cut into parts?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618" name=""/>
          <p:cNvSpPr/>
          <p:nvPr/>
        </p:nvSpPr>
        <p:spPr>
          <a:xfrm rot="0" flipH="0" flipV="0">
            <a:off x="0" y="6438900"/>
            <a:ext cx="12192000" cy="419100"/>
          </a:xfrm>
          <a:prstGeom prst="rect">
            <a:avLst/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6562725"/>
            <a:ext cx="180975" cy="180975"/>
          </a:xfrm>
          <a:prstGeom prst="rect">
            <a:avLst/>
          </a:prstGeom>
          <a:ln/>
        </p:spPr>
      </p:pic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14375" y="6543675"/>
            <a:ext cx="866775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D and E are the ones people mix up.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 Labelled arrows between rounded boxes make it a state machine; an activity diagram labels the boxes themselves.</a:t>
            </a:r>
            <a:endParaRPr/>
          </a:p>
        </p:txBody>
      </p:sp>
    </p:spTree>
  </p:cSld>
</p:sld>
</file>

<file path=ppt/slides/slide3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LAB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3971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Exercise 3.2 — Library Model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877050" y="1905000"/>
            <a:ext cx="4972050" cy="7620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6877050" y="1905000"/>
            <a:ext cx="4972050" cy="762000"/>
          </a:xfrm>
          <a:custGeom>
            <a:pathLst>
              <a:path w="522" h="8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4"/>
                </a:lnTo>
                <a:cubicBezTo>
                  <a:pt x="4" y="77"/>
                  <a:pt x="6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029450" y="2028825"/>
            <a:ext cx="4629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Fill in the two question marks — and be ready to defend each number.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838950" y="2752725"/>
            <a:ext cx="497205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972300" y="2857500"/>
            <a:ext cx="314325" cy="314325"/>
          </a:xfrm>
          <a:prstGeom prst="roundRect">
            <a:avLst>
              <a:gd name="adj" fmla="val 2727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58025" y="2943225"/>
            <a:ext cx="152400" cy="152400"/>
          </a:xfrm>
          <a:prstGeom prst="rect">
            <a:avLst/>
          </a:prstGeom>
          <a:ln/>
        </p:spPr>
      </p:pic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400925" y="2857500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3F8C"/>
                </a:solidFill>
                <a:latin typeface="Microsoft YaHei"/>
                <a:ea typeface="Microsoft YaHei"/>
              </a:rPr>
              <a:t>Work in pairs, one file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400925" y="3048000"/>
            <a:ext cx="42767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Pair on the keyboard, not on the conversation. The driver types; the navigator argues about multiplicities.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838950" y="3657600"/>
            <a:ext cx="497205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972300" y="3762375"/>
            <a:ext cx="314325" cy="314325"/>
          </a:xfrm>
          <a:prstGeom prst="roundRect">
            <a:avLst>
              <a:gd name="adj" fmla="val 2727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58025" y="3848100"/>
            <a:ext cx="152400" cy="152400"/>
          </a:xfrm>
          <a:prstGeom prst="rect">
            <a:avLst/>
          </a:prstGeom>
          <a:ln/>
        </p:spPr>
      </p:pic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400925" y="3762375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3F8C"/>
                </a:solidFill>
                <a:latin typeface="Microsoft YaHei"/>
                <a:ea typeface="Microsoft YaHei"/>
              </a:rPr>
              <a:t>A comment is allowed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400925" y="3952875"/>
            <a:ext cx="42767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Use a line starting with an apostrophe to record the decision you could not settle. That is worth marks.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838950" y="4562475"/>
            <a:ext cx="497205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972300" y="4667250"/>
            <a:ext cx="314325" cy="314325"/>
          </a:xfrm>
          <a:prstGeom prst="roundRect">
            <a:avLst>
              <a:gd name="adj" fmla="val 2727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58025" y="4752975"/>
            <a:ext cx="152400" cy="152400"/>
          </a:xfrm>
          <a:prstGeom prst="rect">
            <a:avLst/>
          </a:prstGeom>
          <a:ln/>
        </p:spPr>
      </p:pic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400925" y="4667250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3F8C"/>
                </a:solidFill>
                <a:latin typeface="Microsoft YaHei"/>
                <a:ea typeface="Microsoft YaHei"/>
              </a:rPr>
              <a:t>Render before you submit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400925" y="4857750"/>
            <a:ext cx="42767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.puml file that does not render is not a model. Check it in VS Code or on the web renderer first.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838950" y="5467350"/>
            <a:ext cx="4972050" cy="40005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972300" y="5562600"/>
            <a:ext cx="47053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Submit 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library.puml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 plus the exported PNG, in 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docs/diagrams/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. Twenty-five minutes.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381000" y="2114550"/>
            <a:ext cx="6210300" cy="3552825"/>
          </a:xfrm>
          <a:prstGeom prst="roundRect">
            <a:avLst>
              <a:gd name="adj" fmla="val 2145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/>
          <p:cNvSpPr txBox="1"/>
          <p:nvPr/>
        </p:nvSpPr>
        <p:spPr>
          <a:xfrm rot="0" flipH="0" flipV="0">
            <a:off x="533400" y="2247900"/>
            <a:ext cx="5905500" cy="32861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863">
                <a:solidFill>
                  <a:srgbClr val="E5E7EB"/>
                </a:solidFill>
                <a:latin typeface="Menlo"/>
                <a:ea typeface="Menlo"/>
              </a:rPr>
              <a:t>@startuml
class Library {
  - name : String
  + addBook(b : Book) : void
}
class Book {
  - isbn : String
  + isAvailable() : boolean
}
class Member {
  - name : String
  + borrow(b : Book) : void
}
' TODO 1  Library holds Books -- a
'         composition. One library,
'         many books. Fill the ???
Library "1" *-- "???" Book : holds
' TODO 2  A Member may hold zero or more
'         Books. A plain link, no diamond.
Member "???" -- "???" Book : borrows
@enduml</a:t>
            </a:r>
            <a:endParaRPr/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6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LAB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4705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Exercise 3.2 — Reference Solution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1401425" y="9144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838950" y="1857375"/>
            <a:ext cx="4972050" cy="1095375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991350" y="19812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086600" y="203835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381875" y="1981200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0..* at the Book end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381875" y="2181225"/>
            <a:ext cx="42767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library with no books yet is still a legal library. Writing 1..* here would force a fake Book into every new branch — that is the kind of error that reaches production.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838950" y="3048000"/>
            <a:ext cx="4972050" cy="885825"/>
          </a:xfrm>
          <a:prstGeom prst="roundRect">
            <a:avLst>
              <a:gd name="adj" fmla="val 1075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991350" y="31718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086600" y="3228975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381875" y="3171825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0..1 at the Member end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7381875" y="3371850"/>
            <a:ext cx="42767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Book side of a loan is optional: a Book on the shelf is borrowed by nobody. Write 1 and no Book can ever sit on a shelf.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838950" y="4029075"/>
            <a:ext cx="4972050" cy="1095375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991350" y="4152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086600" y="421005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381875" y="4152900"/>
            <a:ext cx="427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*-- and not o--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381875" y="4352925"/>
            <a:ext cx="42767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Composition says the Books go when the Library record goes. If your pair disagreed, write the disagreement in the README — the argument is the deliverable, not the symbol.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877050" y="5219700"/>
            <a:ext cx="4972050" cy="695325"/>
          </a:xfrm>
          <a:prstGeom prst="roundRect">
            <a:avLst>
              <a:gd name="adj" fmla="val 12329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6877050" y="5219700"/>
            <a:ext cx="4972050" cy="695325"/>
          </a:xfrm>
          <a:custGeom>
            <a:pathLst>
              <a:path w="522" h="73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68"/>
                </a:lnTo>
                <a:cubicBezTo>
                  <a:pt x="4" y="70"/>
                  <a:pt x="6" y="72"/>
                  <a:pt x="8" y="73"/>
                </a:cubicBezTo>
                <a:cubicBezTo>
                  <a:pt x="4" y="73"/>
                  <a:pt x="0" y="69"/>
                  <a:pt x="0" y="64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029450" y="5334000"/>
            <a:ext cx="4629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 b="1">
                <a:solidFill>
                  <a:srgbClr val="0E3F8C"/>
                </a:solidFill>
                <a:latin typeface="Microsoft YaHei"/>
                <a:ea typeface="Microsoft YaHei"/>
              </a:rPr>
              <a:t>A different answer can be correct. It stops being correct the moment you cannot say why.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381000" y="2247900"/>
            <a:ext cx="6210300" cy="3286125"/>
          </a:xfrm>
          <a:prstGeom prst="roundRect">
            <a:avLst>
              <a:gd name="adj" fmla="val 2319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/>
          <p:cNvSpPr txBox="1"/>
          <p:nvPr/>
        </p:nvSpPr>
        <p:spPr>
          <a:xfrm rot="0" flipH="0" flipV="0">
            <a:off x="533400" y="2381250"/>
            <a:ext cx="5905500" cy="301942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@startuml
class Library {
  - name : String
  + addBook(b : Book) : void
  + findByIsbn(isbn : String) : Book
}
class Book {
  - isbn : String
  - title : String
  + isAvailable() : boolean
}
class Member {
  - id : String
  - name : String
  + borrow(b : Book) : void
}
Library "1" *-- "0..*" Book : holds
Member "0..1" -- "0..*" Book : borrows
@enduml</a:t>
            </a:r>
            <a:endParaRPr/>
          </a:p>
        </p:txBody>
      </p:sp>
    </p:spTree>
  </p:cSld>
</p:sld>
</file>

<file path=ppt/slides/slide3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W03 · LAB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Team Setup Checklist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1401425" y="9334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81000" y="1647825"/>
            <a:ext cx="6210300" cy="657225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533400" y="1781175"/>
            <a:ext cx="247650" cy="247650"/>
          </a:xfrm>
          <a:prstGeom prst="roundRect">
            <a:avLst>
              <a:gd name="adj" fmla="val 23077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914400" y="1762125"/>
            <a:ext cx="4610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draw.io can open, edit and export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5619750" y="1771650"/>
            <a:ext cx="819150" cy="171450"/>
          </a:xfrm>
          <a:prstGeom prst="roundRect">
            <a:avLst>
              <a:gd name="adj" fmla="val 5555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705475" y="17907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E4FA8"/>
                </a:solidFill>
                <a:latin typeface="Microsoft YaHei"/>
                <a:ea typeface="Microsoft YaHei"/>
              </a:rPr>
              <a:t>two minutes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14400" y="1971675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Prove it: draw one class box, save the .drawio file, export a PNG, and check both files exist on disk.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381000" y="2390775"/>
            <a:ext cx="62103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533400" y="2524125"/>
            <a:ext cx="247650" cy="247650"/>
          </a:xfrm>
          <a:prstGeom prst="roundRect">
            <a:avLst>
              <a:gd name="adj" fmla="val 23077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914400" y="2505075"/>
            <a:ext cx="4610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PlantUML renders on your machine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5619750" y="2514600"/>
            <a:ext cx="819150" cy="171450"/>
          </a:xfrm>
          <a:prstGeom prst="roundRect">
            <a:avLst>
              <a:gd name="adj" fmla="val 5555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5705475" y="253365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E4FA8"/>
                </a:solidFill>
                <a:latin typeface="Microsoft YaHei"/>
                <a:ea typeface="Microsoft YaHei"/>
              </a:rPr>
              <a:t>five minutes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14400" y="2714625"/>
            <a:ext cx="552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Prove it: paste the Exercise 3.2 solution into a .puml file and see a picture. Extension or web renderer, either is fine.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381000" y="3352800"/>
            <a:ext cx="62103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533400" y="3486150"/>
            <a:ext cx="247650" cy="247650"/>
          </a:xfrm>
          <a:prstGeom prst="roundRect">
            <a:avLst>
              <a:gd name="adj" fmla="val 23077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914400" y="3467100"/>
            <a:ext cx="4610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docs/diagrams/ exists in the team repo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5619750" y="3476625"/>
            <a:ext cx="819150" cy="171450"/>
          </a:xfrm>
          <a:prstGeom prst="roundRect">
            <a:avLst>
              <a:gd name="adj" fmla="val 5555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5705475" y="34956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E4FA8"/>
                </a:solidFill>
                <a:latin typeface="Microsoft YaHei"/>
                <a:ea typeface="Microsoft YaHei"/>
              </a:rPr>
              <a:t>two minutes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914400" y="3676650"/>
            <a:ext cx="552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Commit an empty .gitkeep if the folder has nothing in it yet. The path must be right before M1, not during it.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381000" y="4314825"/>
            <a:ext cx="62103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533400" y="4448175"/>
            <a:ext cx="247650" cy="247650"/>
          </a:xfrm>
          <a:prstGeom prst="roundRect">
            <a:avLst>
              <a:gd name="adj" fmla="val 23077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914400" y="4429125"/>
            <a:ext cx="46386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The conventions document is committed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5648325" y="4438650"/>
            <a:ext cx="790575" cy="171450"/>
          </a:xfrm>
          <a:prstGeom prst="roundRect">
            <a:avLst>
              <a:gd name="adj" fmla="val 5555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734050" y="4457700"/>
            <a:ext cx="619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E4FA8"/>
                </a:solidFill>
                <a:latin typeface="Microsoft YaHei"/>
                <a:ea typeface="Microsoft YaHei"/>
              </a:rPr>
              <a:t>ten minutes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914400" y="4638675"/>
            <a:ext cx="552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Naming, colour, decision line, export rule, ownership table. Copy the six rules from slide 30 and make them yours.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381000" y="5276850"/>
            <a:ext cx="62103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533400" y="5410200"/>
            <a:ext cx="247650" cy="247650"/>
          </a:xfrm>
          <a:prstGeom prst="roundRect">
            <a:avLst>
              <a:gd name="adj" fmla="val 23077"/>
            </a:avLst>
          </a:prstGeom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914400" y="5391150"/>
            <a:ext cx="4962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E3F8C"/>
                </a:solidFill>
                <a:latin typeface="Microsoft YaHei"/>
                <a:ea typeface="Microsoft YaHei"/>
              </a:rPr>
              <a:t>Every member has pushed one commit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5972175" y="5400675"/>
            <a:ext cx="466725" cy="171450"/>
          </a:xfrm>
          <a:prstGeom prst="roundRect">
            <a:avLst>
              <a:gd name="adj" fmla="val 5555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057900" y="5419725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1E4FA8"/>
                </a:solidFill>
                <a:latin typeface="Microsoft YaHei"/>
                <a:ea typeface="Microsoft YaHei"/>
              </a:rPr>
              <a:t>today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914400" y="5600700"/>
            <a:ext cx="5524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Not the Lead — everyone. If only one person has commits, the other three are invisible in the contribution review.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838950" y="2009775"/>
            <a:ext cx="4972050" cy="1809750"/>
          </a:xfrm>
          <a:prstGeom prst="roundRect">
            <a:avLst>
              <a:gd name="adj" fmla="val 631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2181225"/>
            <a:ext cx="247650" cy="247650"/>
          </a:xfrm>
          <a:prstGeom prst="rect">
            <a:avLst/>
          </a:prstGeom>
          <a:ln/>
        </p:spPr>
      </p:pic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7029450" y="2505075"/>
            <a:ext cx="4591050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M1 lands on Sun Oct 4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029450" y="2876550"/>
            <a:ext cx="45910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88">
                <a:solidFill>
                  <a:srgbClr val="C5D4EA"/>
                </a:solidFill>
                <a:latin typeface="Microsoft YaHei"/>
                <a:ea typeface="Microsoft YaHei"/>
              </a:rPr>
              <a:t>It asks for a use-case diagram and two written specifications. The toolchain you finish today is the one you will submit with — there is no second chance to install it on Oct 3.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6838950" y="3933825"/>
            <a:ext cx="4972050" cy="1000125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010400" y="408622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Week 03 carries no deliverable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7010400" y="4314825"/>
            <a:ext cx="4629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That is deliberate. It is the breathing room before the requirements pack lands in Week 04 — use it to make the pipeline boring.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877050" y="5048250"/>
            <a:ext cx="4972050" cy="733425"/>
          </a:xfrm>
          <a:prstGeom prst="roundRect">
            <a:avLst>
              <a:gd name="adj" fmla="val 12987"/>
            </a:avLst>
          </a:prstGeom>
          <a:solidFill>
            <a:srgbClr val="FDF3F3"/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6877050" y="5048250"/>
            <a:ext cx="4972050" cy="733425"/>
          </a:xfrm>
          <a:custGeom>
            <a:pathLst>
              <a:path w="522" h="7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1"/>
                </a:lnTo>
                <a:cubicBezTo>
                  <a:pt x="4" y="74"/>
                  <a:pt x="6" y="76"/>
                  <a:pt x="9" y="77"/>
                </a:cubicBezTo>
                <a:cubicBezTo>
                  <a:pt x="4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7029450" y="5181600"/>
            <a:ext cx="4629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Nothing is submitted until the tag is pushed.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 A commit on Sunday night is not a submission. Full protocol: Deadline Schedule §4.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1401425" y="66008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</p:spTree>
  </p:cSld>
</p:sld>
</file>

<file path=ppt/slides/slide3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0" name="" descr="&lt;Slide style={{ background: '#FFFFFF', padding: 0 }}&gt;&#10;  &lt;Box style={{ padding: '22px 40px 4px 40px', flexDirection: 'row', alignItems: 'center', justifyContent: 'space-between' }}&gt;&#10;    &lt;Text style={{ fontSize: 32, fontWeight: 'bold', color: '#0E3F8C' }}&gt;Homework&lt;/Text&gt;&#10;    &lt;Text style={{ fontSize: 14, color: '#1E4FA8', fontWeight: 'bold' }}&gt;37 / 38&lt;/Text&gt;&#10;  &lt;/Box&gt;&#10;  &lt;Box style={{ flex: 1, padding: '10px 40px 0 40px', flexDirection: 'row', gap: 24 }}&gt;&#10;    &lt;Box style={{ flex: 5, flexDirection: 'column', gap: 11, justifyContent: 'center' }}&gt;&#10;      {[&#10;        {&#10;          i: 'code',&#10;          tag: 'PLANTUML',&#10;          t: 'Reproduce two diagrams from their text specs',&#10;          d: 'The specs are on the course site under Week 03 — 03-project/specs/W03-text-specs.md: a four-class CampusBites domain model, and a sequence diagram. Commit both .puml files with their exported PNGs.',&#10;          due: 'Before the Week 04 class',&#10;        },&#10;        {&#10;          i: 'book-open',&#10;          tag: 'READING',&#10;          t: 'Fowler, UML Distilled — class and sequence chapters',&#10;          d: 'A skim is enough. Come back with one thing you disagree with, or one notation you had not met. We start Week 04 by collecting them.',&#10;          due: 'Before the Week 04 class',&#10;        },&#10;        {&#10;          i: 'folder-tree',&#10;          tag: 'PROJECT',&#10;          t: 'Create the team diagrams folder and commit the conventions',&#10;          d: 'docs/diagrams/ in the team repository, plus the six conventions from slide 30 written into a README. Every member should appear in the ownership table.',&#10;          due: 'End of this week',&#10;        },&#10;      ].map((h) =&gt; (&#10;        &lt;Box key={h.t} style={{ flexDirection: 'row', gap: 15, alignItems: 'flex-start', padding: '15px 18px', background: '#F7F9FC', borderRadius: 11, border: '1px solid #E5E7EB' }}&gt;&#10;          &lt;Box style={{ width: 42, height: 42, borderRadius: 10, background: '#E8EFF8', justifyContent: 'center', alignItems: 'center' }}&gt;&#10;            &lt;FAIcon name={h.i} style={{ fill: '#1E4FA8', width: 19, height: 19 }} /&gt;&#10;          &lt;/Box&gt;&#10;          &lt;Box style={{ flex: 1, flexDirection: 'column', gap: 4 }}&gt;&#10;            &lt;Box style={{ flexDirection: 'row', alignItems: 'center', gap: 10 }}&gt;&#10;              &lt;Box style={{ padding: '2px 9px', background: '#0E3F8C', borderRadius: 9 }}&gt;&#10;                &lt;Text style={{ fontSize: 11, color: '#FFFFFF', fontWeight: 'bold', letterSpacing: 1 }}&gt;{h.tag}&lt;/Text&gt;&#10;              &lt;/Box&gt;&#10;              &lt;Text style={{ fontSize: 12.5, color: '#8B97A8' }}&gt;{h.due}&lt;/Text&gt;&#10;            &lt;/Box&gt;&#10;            &lt;Text style={{ fontSize: 16.5, fontWeight: 'bold', color: '#0E3F8C', lineHeight: 1.35 }}&gt;{h.t}&lt;/Text&gt;&#10;            &lt;Text style={{ fontSize: 13.5, color: '#4A5568', lineHeight: 1.5 }}&gt;{h.d}&lt;/Text&gt;&#10;          &lt;/Box&gt;&#10;        &lt;/Box&gt;&#10;      ))}&#10;    &lt;/Box&gt;&#10;    &lt;Box style={{ flex: 4, flexDirection: 'column', gap: 12, justifyContent: 'center' }}&gt;&#10;      &lt;Box style={{ padding: '18px 20px', background: '#0E3F8C', borderRadius: 12, flexDirection: 'column', gap: 8 }}&gt;&#10;        &lt;Text style={{ fontSize: 17, fontWeight: 'bold', color: '#FFFFFF' }}&gt;Why the reading is not optional homework filler&lt;/Text&gt;&#10;        &lt;Text style={{ fontSize: 14, color: '#C5D4EA', lineHeight: 1.55 }}&gt;Fowler writes in short, opinionated chapters and tells you which 20% of UML is worth your time. That is exactly the argument this lecture has been making — and he makes it in better English than I do.&lt;/Text&gt;&#10;      &lt;/Box&gt;&#10;      &lt;Box style={{ padding: '15px 18px', background: '#F0F5FC', borderRadius: 10, borderLeft: '4px solid #1E4FA8' }}&gt;&#10;        &lt;Text style={{ fontSize: 14, color: '#0E3F8C', lineHeight: 1.55, fontWeight: 'bold' }}&gt;The two PlantUML files count towards your individual contribution. Commit them from your own account, in your own words — even if the pair shared the keyboard.&lt;/Text&gt;&#10;      &lt;/Box&gt;&#10;      &lt;Box style={{ padding: '14px 16px', background: '#FFFFFF', borderRadius: 9, border: '1px dashed #D6DCE5' }}&gt;&#10;        &lt;Text style={{ fontSize: 13, color: '#8B97A8', lineHeight: 1.5 }}&gt;Stuck on syntax? plantuml.com/plantuml renders any snippet in the browser and shows the error inline. Use it, do not fight the extension.&lt;/Text&gt;&#10;      &lt;/Box&gt;&#10;    &lt;/Box&gt;&#10;  &lt;/Box&gt;&#10;  &lt;Box style={{ height: 42, background: '#0E3F8C', padding: '0 40px', flexDirection: 'row', alignItems: 'center', justifyContent: 'center' }}&gt;&#10;    &lt;Text style={{ fontSize: 16.5, color: '#FFFFFF', fontWeight: '600' }}&gt;Next week the requirements pack lands — and the use case stops being a picture and becomes a specification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562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Homework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401425" y="314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381000" y="1485900"/>
            <a:ext cx="6219825" cy="1485900"/>
          </a:xfrm>
          <a:prstGeom prst="roundRect">
            <a:avLst>
              <a:gd name="adj" fmla="val 705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552450" y="16287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7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743075"/>
            <a:ext cx="180975" cy="180975"/>
          </a:xfrm>
          <a:prstGeom prst="rect">
            <a:avLst/>
          </a:prstGeom>
          <a:ln/>
        </p:spPr>
      </p:pic>
      <p:sp>
        <p:nvSpPr>
          <p:cNvPr id="737" name=""/>
          <p:cNvSpPr/>
          <p:nvPr/>
        </p:nvSpPr>
        <p:spPr>
          <a:xfrm rot="0" flipH="0" flipV="0">
            <a:off x="1095375" y="1628775"/>
            <a:ext cx="828675" cy="171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181100" y="16478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PLANTUML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019300" y="1647825"/>
            <a:ext cx="136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Before the Week 04 class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1095375" y="1838325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38" b="1">
                <a:solidFill>
                  <a:srgbClr val="0E3F8C"/>
                </a:solidFill>
                <a:latin typeface="Microsoft YaHei"/>
                <a:ea typeface="Microsoft YaHei"/>
              </a:rPr>
              <a:t>Reproduce two diagrams from their text specs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095375" y="2133600"/>
            <a:ext cx="5334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The specs are on the course site under Week 03 — 03-project/specs/W03-text-specs.md: a four-class CampusBites domain model, and a sequence diagram. Commit both .puml files with their exported PNGs.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381000" y="3076575"/>
            <a:ext cx="6219825" cy="12573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552450" y="32194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7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6750" y="3333750"/>
            <a:ext cx="180975" cy="180975"/>
          </a:xfrm>
          <a:prstGeom prst="rect">
            <a:avLst/>
          </a:prstGeom>
          <a:ln/>
        </p:spPr>
      </p:pic>
      <p:sp>
        <p:nvSpPr>
          <p:cNvPr id="745" name=""/>
          <p:cNvSpPr/>
          <p:nvPr/>
        </p:nvSpPr>
        <p:spPr>
          <a:xfrm rot="0" flipH="0" flipV="0">
            <a:off x="1095375" y="3219450"/>
            <a:ext cx="723900" cy="171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1181100" y="323850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READING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914525" y="3238500"/>
            <a:ext cx="136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Before the Week 04 class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095375" y="342900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38" b="1">
                <a:solidFill>
                  <a:srgbClr val="0E3F8C"/>
                </a:solidFill>
                <a:latin typeface="Microsoft YaHei"/>
                <a:ea typeface="Microsoft YaHei"/>
              </a:rPr>
              <a:t>Fowler, UML Distilled — class and sequence chapters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1095375" y="3724275"/>
            <a:ext cx="5334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A skim is enough. Come back with one thing you disagree with, or one notation you had not met. We start Week 04 by collecting them.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381000" y="4438650"/>
            <a:ext cx="6219825" cy="12573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552450" y="45815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7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66750" y="4695825"/>
            <a:ext cx="180975" cy="180975"/>
          </a:xfrm>
          <a:prstGeom prst="rect">
            <a:avLst/>
          </a:prstGeom>
          <a:ln/>
        </p:spPr>
      </p:pic>
      <p:sp>
        <p:nvSpPr>
          <p:cNvPr id="753" name=""/>
          <p:cNvSpPr/>
          <p:nvPr/>
        </p:nvSpPr>
        <p:spPr>
          <a:xfrm rot="0" flipH="0" flipV="0">
            <a:off x="1095375" y="4581525"/>
            <a:ext cx="733425" cy="1714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1181100" y="4600575"/>
            <a:ext cx="561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FFFFF"/>
                </a:solidFill>
                <a:latin typeface="Microsoft YaHei"/>
                <a:ea typeface="Microsoft YaHei"/>
              </a:rPr>
              <a:t>PROJECT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924050" y="4600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End of this week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095375" y="4791075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38" b="1">
                <a:solidFill>
                  <a:srgbClr val="0E3F8C"/>
                </a:solidFill>
                <a:latin typeface="Microsoft YaHei"/>
                <a:ea typeface="Microsoft YaHei"/>
              </a:rPr>
              <a:t>Create the team diagrams folder and commit the conventions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095375" y="5086350"/>
            <a:ext cx="5334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docs/diagrams/ in the team repository, plus the six conventions from slide 30 written into a README. Every member should appear in the ownership table.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6829425" y="1914525"/>
            <a:ext cx="4981575" cy="1371600"/>
          </a:xfrm>
          <a:prstGeom prst="roundRect">
            <a:avLst>
              <a:gd name="adj" fmla="val 8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019925" y="2085975"/>
            <a:ext cx="4600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Why the reading is not optional homework filler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019925" y="2362200"/>
            <a:ext cx="460057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C5D4EA"/>
                </a:solidFill>
                <a:latin typeface="Microsoft YaHei"/>
                <a:ea typeface="Microsoft YaHei"/>
              </a:rPr>
              <a:t>Fowler writes in short, opinionated chapters and tells you which 20% of UML is worth your time. That is exactly the argument this lecture has been making — and he makes it in better English than I do.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6867525" y="3400425"/>
            <a:ext cx="4981575" cy="1038225"/>
          </a:xfrm>
          <a:prstGeom prst="roundRect">
            <a:avLst>
              <a:gd name="adj" fmla="val 91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6867525" y="3400425"/>
            <a:ext cx="4981575" cy="1038225"/>
          </a:xfrm>
          <a:custGeom>
            <a:pathLst>
              <a:path w="523" h="10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3"/>
                </a:lnTo>
                <a:cubicBezTo>
                  <a:pt x="4" y="106"/>
                  <a:pt x="6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038975" y="3543300"/>
            <a:ext cx="460057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The two PlantUML files count towards your individual contribution. Commit them from your own account, in your own words — even if the pair shared the keyboard.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6829425" y="4552950"/>
            <a:ext cx="4981575" cy="71437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dash"/>
          </a:ln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6981825" y="4686300"/>
            <a:ext cx="4676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Stuck on syntax? plantuml.com/plantuml renders any snippet in the browser and shows the error inline. Use it, do not fight the extension.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0" y="6457950"/>
            <a:ext cx="12192000" cy="4000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943100" y="6562725"/>
            <a:ext cx="831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Next week the requirements pack lands — and the use case stops being a picture and becomes a specification.</a:t>
            </a:r>
            <a:endParaRPr/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7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03 · WRAP-UP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10668000" cy="1209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Six diagrams.</a:t>
            </a:r>
            <a:endParaRPr/>
          </a:p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One question each.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762000" y="3552825"/>
            <a:ext cx="7239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762000" y="3819525"/>
            <a:ext cx="1685925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76300" y="3952875"/>
            <a:ext cx="14573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Use case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876300" y="41719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what it does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2562225" y="3819525"/>
            <a:ext cx="167640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2676525" y="3952875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Class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2676525" y="41719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what exists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4352925" y="3819525"/>
            <a:ext cx="1685925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4467225" y="3952875"/>
            <a:ext cx="14573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Sequence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4467225" y="41719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who calls whom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153150" y="3819525"/>
            <a:ext cx="1685925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6267450" y="3952875"/>
            <a:ext cx="14573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State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6267450" y="41719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one life story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7953375" y="3819525"/>
            <a:ext cx="167640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8067675" y="3952875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Activity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8067675" y="41719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steps in parallel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9744075" y="3819525"/>
            <a:ext cx="1685925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858375" y="3952875"/>
            <a:ext cx="14573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Package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858375" y="41719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B9CDF0"/>
                </a:solidFill>
                <a:latin typeface="Microsoft YaHei"/>
                <a:ea typeface="Microsoft YaHei"/>
              </a:rPr>
              <a:t>how it is cut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762000" y="4752975"/>
            <a:ext cx="10668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C5D4EA"/>
                </a:solidFill>
                <a:latin typeface="Microsoft YaHei"/>
                <a:ea typeface="Microsoft YaHei"/>
              </a:rPr>
              <a:t>Learn the question first. </a:t>
            </a:r>
            <a:r>
              <a:rPr lang="en-US" sz="1575">
                <a:solidFill>
                  <a:srgbClr val="C5D4EA"/>
                </a:solidFill>
                <a:latin typeface="Microsoft YaHei"/>
                <a:ea typeface="Microsoft YaHei"/>
              </a:rPr>
              <a:t>The notation is only the handwriting.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694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Next week — Requirements &amp; Use Case Modelling: the CampusBites requirements pack arrives.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10534650" y="6219825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C107"/>
                </a:solidFill>
                <a:latin typeface="Microsoft YaHei"/>
                <a:ea typeface="Microsoft YaHei"/>
              </a:rPr>
              <a:t>Questions?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2026-09-16T16:22:46Z</dcterms:created>
  <dcterms:modified xsi:type="dcterms:W3CDTF">2026-09-16T16:22:46Z</dcterms:modified>
</cp:coreProperties>
</file>
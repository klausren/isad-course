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theme/theme2.xml" ContentType="application/vnd.openxmlformats-officedocument.theme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6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34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7" Type="http://schemas.openxmlformats.org/officeDocument/2006/relationships/slide" Target="slides/slide7.xml" /><Relationship Id="rId42" Type="http://schemas.openxmlformats.org/officeDocument/2006/relationships/viewProps" Target="viewProps.xml" /><Relationship Id="rId41" Type="http://schemas.openxmlformats.org/officeDocument/2006/relationships/tableStyles" Target="tableStyles.xml" /><Relationship Id="rId4" Type="http://schemas.openxmlformats.org/officeDocument/2006/relationships/slide" Target="slides/slide4.xml" /><Relationship Id="rId40" Type="http://schemas.openxmlformats.org/officeDocument/2006/relationships/presProps" Target="presProps.xml" /><Relationship Id="rId39" Type="http://schemas.openxmlformats.org/officeDocument/2006/relationships/notesMaster" Target="notesMasters/notesMaster1.xml" /><Relationship Id="rId38" Type="http://schemas.openxmlformats.org/officeDocument/2006/relationships/slide" Target="slides/slide38.xml" /><Relationship Id="rId34" Type="http://schemas.openxmlformats.org/officeDocument/2006/relationships/slide" Target="slides/slide34.xml" /><Relationship Id="rId37" Type="http://schemas.openxmlformats.org/officeDocument/2006/relationships/slide" Target="slides/slide37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0" Type="http://schemas.openxmlformats.org/officeDocument/2006/relationships/slide" Target="slides/slide30.xml" /><Relationship Id="rId29" Type="http://schemas.openxmlformats.org/officeDocument/2006/relationships/slide" Target="slides/slide29.xml" /><Relationship Id="rId28" Type="http://schemas.openxmlformats.org/officeDocument/2006/relationships/slide" Target="slides/slide28.xml" /><Relationship Id="rId5" Type="http://schemas.openxmlformats.org/officeDocument/2006/relationships/slide" Target="slides/slide5.xml" /><Relationship Id="rId1" Type="http://schemas.openxmlformats.org/officeDocument/2006/relationships/slide" Target="slides/slide1.xml" /><Relationship Id="rId26" Type="http://schemas.openxmlformats.org/officeDocument/2006/relationships/slide" Target="slides/slide26.xml" /><Relationship Id="rId27" Type="http://schemas.openxmlformats.org/officeDocument/2006/relationships/slide" Target="slides/slide27.xml" /><Relationship Id="rId25" Type="http://schemas.openxmlformats.org/officeDocument/2006/relationships/slide" Target="slides/slide25.xml" /><Relationship Id="rId23" Type="http://schemas.openxmlformats.org/officeDocument/2006/relationships/slide" Target="slides/slide23.xml" /><Relationship Id="rId20" Type="http://schemas.openxmlformats.org/officeDocument/2006/relationships/slide" Target="slides/slide20.xml" /><Relationship Id="rId24" Type="http://schemas.openxmlformats.org/officeDocument/2006/relationships/slide" Target="slides/slide24.xml" /><Relationship Id="rId2" Type="http://schemas.openxmlformats.org/officeDocument/2006/relationships/slide" Target="slides/slide2.xml" /><Relationship Id="rId13" Type="http://schemas.openxmlformats.org/officeDocument/2006/relationships/slide" Target="slides/slide13.xml" /><Relationship Id="rId19" Type="http://schemas.openxmlformats.org/officeDocument/2006/relationships/slide" Target="slides/slide19.xml" /><Relationship Id="rId0" Type="http://schemas.openxmlformats.org/officeDocument/2006/relationships/slideMaster" Target="slideMasters/slideMaster1.xml" /><Relationship Id="rId6" Type="http://schemas.openxmlformats.org/officeDocument/2006/relationships/slide" Target="slides/slide6.xml" /><Relationship Id="rId35" Type="http://schemas.openxmlformats.org/officeDocument/2006/relationships/slide" Target="slides/slide35.xml" /><Relationship Id="rId18" Type="http://schemas.openxmlformats.org/officeDocument/2006/relationships/slide" Target="slides/slide18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33" Type="http://schemas.openxmlformats.org/officeDocument/2006/relationships/slide" Target="slides/slide33.xml" /><Relationship Id="rId3" Type="http://schemas.openxmlformats.org/officeDocument/2006/relationships/slide" Target="slides/slide3.xml" /><Relationship Id="rId21" Type="http://schemas.openxmlformats.org/officeDocument/2006/relationships/slide" Target="slides/slide21.xml" /><Relationship Id="rId16" Type="http://schemas.openxmlformats.org/officeDocument/2006/relationships/slide" Target="slides/slide16.xml" /><Relationship Id="rId22" Type="http://schemas.openxmlformats.org/officeDocument/2006/relationships/slide" Target="slides/slide22.xml" /><Relationship Id="rId15" Type="http://schemas.openxmlformats.org/officeDocument/2006/relationships/slide" Target="slides/slide15.xml" /><Relationship Id="rId36" Type="http://schemas.openxmlformats.org/officeDocument/2006/relationships/slide" Target="slides/slide36.xml" /><Relationship Id="rId17" Type="http://schemas.openxmlformats.org/officeDocument/2006/relationships/slide" Target="slides/slide17.xml" /><Relationship Id="rId10" Type="http://schemas.openxmlformats.org/officeDocument/2006/relationships/slide" Target="slides/slide10.xml" /><Relationship Id="rId14" Type="http://schemas.openxmlformats.org/officeDocument/2006/relationships/slide" Target="slides/slide14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45.svg" /><Relationship Id="rId3" Type="http://schemas.openxmlformats.org/officeDocument/2006/relationships/image" Target="media/image43.svg" /><Relationship Id="rId2" Type="http://schemas.openxmlformats.org/officeDocument/2006/relationships/image" Target="media/image42.svg" /><Relationship Id="rId1" Type="http://schemas.openxmlformats.org/officeDocument/2006/relationships/image" Target="media/image22.svg" /><Relationship Id="rId4" Type="http://schemas.openxmlformats.org/officeDocument/2006/relationships/image" Target="media/image44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6" Type="http://schemas.openxmlformats.org/officeDocument/2006/relationships/image" Target="media/image52.svg" /><Relationship Id="rId3" Type="http://schemas.openxmlformats.org/officeDocument/2006/relationships/image" Target="media/image49.svg" /><Relationship Id="rId5" Type="http://schemas.openxmlformats.org/officeDocument/2006/relationships/image" Target="media/image51.svg" /><Relationship Id="rId2" Type="http://schemas.openxmlformats.org/officeDocument/2006/relationships/image" Target="media/image44.svg" /><Relationship Id="rId1" Type="http://schemas.openxmlformats.org/officeDocument/2006/relationships/image" Target="media/image48.svg" /><Relationship Id="rId4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3" Type="http://schemas.openxmlformats.org/officeDocument/2006/relationships/image" Target="media/image5.svg" /><Relationship Id="rId1" Type="http://schemas.openxmlformats.org/officeDocument/2006/relationships/image" Target="media/image3.svg" /><Relationship Id="rId2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3" Type="http://schemas.openxmlformats.org/officeDocument/2006/relationships/image" Target="media/image10.svg" /><Relationship Id="rId5" Type="http://schemas.openxmlformats.org/officeDocument/2006/relationships/image" Target="media/image12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2" Type="http://schemas.openxmlformats.org/officeDocument/2006/relationships/image" Target="media/image14.svg" /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2" Type="http://schemas.openxmlformats.org/officeDocument/2006/relationships/image" Target="media/image17.svg" /><Relationship Id="rId3" Type="http://schemas.openxmlformats.org/officeDocument/2006/relationships/image" Target="media/image18.svg" /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media/image21.svg" /><Relationship Id="rId2" Type="http://schemas.openxmlformats.org/officeDocument/2006/relationships/image" Target="media/image20.sv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1" Type="http://schemas.openxmlformats.org/officeDocument/2006/relationships/image" Target="media/image22.svg" /><Relationship Id="rId2" Type="http://schemas.openxmlformats.org/officeDocument/2006/relationships/image" Target="media/image23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3" Type="http://schemas.openxmlformats.org/officeDocument/2006/relationships/image" Target="media/image27.svg" /><Relationship Id="rId2" Type="http://schemas.openxmlformats.org/officeDocument/2006/relationships/image" Target="media/image26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6" Type="http://schemas.openxmlformats.org/officeDocument/2006/relationships/image" Target="media/image33.svg" /><Relationship Id="rId2" Type="http://schemas.openxmlformats.org/officeDocument/2006/relationships/image" Target="media/image29.svg" /><Relationship Id="rId5" Type="http://schemas.openxmlformats.org/officeDocument/2006/relationships/image" Target="media/image32.svg" /><Relationship Id="rId4" Type="http://schemas.openxmlformats.org/officeDocument/2006/relationships/image" Target="media/image31.svg" /><Relationship Id="rId1" Type="http://schemas.openxmlformats.org/officeDocument/2006/relationships/image" Target="media/image28.svg" /><Relationship Id="rId3" Type="http://schemas.openxmlformats.org/officeDocument/2006/relationships/image" Target="media/image30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3" Type="http://schemas.openxmlformats.org/officeDocument/2006/relationships/image" Target="media/image37.svg" /><Relationship Id="rId2" Type="http://schemas.openxmlformats.org/officeDocument/2006/relationships/image" Target="media/image36.svg" /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3" Type="http://schemas.openxmlformats.org/officeDocument/2006/relationships/image" Target="media/image41.svg" /><Relationship Id="rId1" Type="http://schemas.openxmlformats.org/officeDocument/2006/relationships/image" Target="media/image39.svg" /><Relationship Id="rId2" Type="http://schemas.openxmlformats.org/officeDocument/2006/relationships/image" Target="media/image4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03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UML Essentials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&amp; Modeling Workflow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The Diagram Family, the Notation, and the Chain That Links Them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2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3 · ROADMAP&lt;/Text&gt;&#10;      &lt;/Box&gt;&#10;      &lt;Text style={{ fontSize: 15, color: '#5B84C4', lineHeight: 1.5 }}&gt;UML Essentials&lt;br /&gt;&amp;amp; Modeling Workflow&lt;/Text&gt;&#10;    &lt;/Box&gt;&#10;    &lt;Box style={{ flex: 1, padding: '56px 56px', flexDirection: 'column', gap: 18 }}&gt;&#10;      {[&#10;        { n: '01', t: 'Recap &amp; Why Models', p: '03' },&#10;        { n: '02', t: 'The UML Map', p: '07' },&#10;        { n: '03', t: 'Notation Boot Camp', p: '13' },&#10;        { n: '04', t: 'The Modeling Workflow', p: '20' },&#10;        { n: '05', t: 'Toolchain', p: '26' },&#10;        { n: '06', t: 'Lab — Exercises &amp; Team Setup', p: '31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03 · ROADMAP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UML Essentials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Modeling Workflow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 Why Models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UML Map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Notation Boot Camp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Modeling Workflow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26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Exercises &amp; Team Setup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9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Why Models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50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514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Last week gave you the ideas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1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This week gives you the notation to write them down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35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model is true enough — not complete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9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RECAP</a:t>
            </a:r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Week 02 Left Us</a:t>
            </a:r>
            <a:endParaRPr/>
          </a:p>
        </p:txBody>
      </p:sp>
      <p:sp>
        <p:nvSpPr>
          <p:cNvPr id="803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8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Objects hold state and behaviour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2428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Encapsulation keeps the rules with the data.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09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8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2990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Composition beats inheritance — usually</a:t>
            </a:r>
            <a:endParaRPr/>
          </a:p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Prefer has-a; swap behaviour at runtime.</a:t>
            </a:r>
            <a:endParaRPr/>
          </a:p>
        </p:txBody>
      </p:sp>
      <p:sp>
        <p:nvSpPr>
          <p:cNvPr id="813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14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8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3067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Polymorphism: one message, many forms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3067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Declare variables by what they do.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19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8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2333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Responsibilities, not just syntax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2333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OO analysis is deciding who owns what.</a:t>
            </a:r>
            <a:endParaRPr/>
          </a:p>
        </p:txBody>
      </p:sp>
      <p:sp>
        <p:nvSpPr>
          <p:cNvPr id="823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8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91425" y="2495550"/>
            <a:ext cx="304800" cy="304800"/>
          </a:xfrm>
          <a:prstGeom prst="rect">
            <a:avLst/>
          </a:prstGeom>
          <a:ln/>
        </p:spPr>
      </p:pic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7591425" y="2933700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But you cannot hand a teammate a paragraph.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7591425" y="3752850"/>
            <a:ext cx="39719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Those four ideas live in your head. UML is how they get onto paper — precisely enough that someone else can check them.</a:t>
            </a:r>
            <a:endParaRPr/>
          </a:p>
        </p:txBody>
      </p:sp>
      <p:sp>
        <p:nvSpPr>
          <p:cNvPr id="827" name=""/>
          <p:cNvSpPr/>
          <p:nvPr/>
        </p:nvSpPr>
        <p:spPr>
          <a:xfrm rot="0" flipH="0" flipV="0">
            <a:off x="7591425" y="4743450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7743825" y="4857750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Three people, three readings of a sentence. One diagram, one reading.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8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52525" y="2200275"/>
            <a:ext cx="1133475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3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181100" y="4429125"/>
            <a:ext cx="1076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REASONS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39" name=""/>
          <p:cNvSpPr/>
          <p:nvPr/>
        </p:nvSpPr>
        <p:spPr>
          <a:xfrm rot="0" flipH="0" flipV="0">
            <a:off x="3467100" y="20383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40" name=""/>
          <p:cNvSpPr/>
          <p:nvPr/>
        </p:nvSpPr>
        <p:spPr>
          <a:xfrm rot="0" flipH="0" flipV="0">
            <a:off x="3467100" y="20383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3676650" y="23241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4143375" y="2209800"/>
            <a:ext cx="5305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abstract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4143375" y="2486025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system is too big to hold in one head. A model throws away what does not matter.</a:t>
            </a:r>
            <a:endParaRPr/>
          </a:p>
        </p:txBody>
      </p:sp>
      <p:sp>
        <p:nvSpPr>
          <p:cNvPr id="844" name=""/>
          <p:cNvSpPr/>
          <p:nvPr/>
        </p:nvSpPr>
        <p:spPr>
          <a:xfrm rot="0" flipH="0" flipV="0">
            <a:off x="3467100" y="30670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3467100" y="30670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3676650" y="33528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4181475" y="3238500"/>
            <a:ext cx="4667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communicate</a:t>
            </a:r>
            <a:endParaRPr/>
          </a:p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4181475" y="3514725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diagram is a shared object you can point at. Ambiguity becomes visible.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3467100" y="40957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50" name=""/>
          <p:cNvSpPr/>
          <p:nvPr/>
        </p:nvSpPr>
        <p:spPr>
          <a:xfrm rot="0" flipH="0" flipV="0">
            <a:off x="3467100" y="40957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3676650" y="43815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4181475" y="4267200"/>
            <a:ext cx="4429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reason before building</a:t>
            </a:r>
            <a:endParaRPr/>
          </a:p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4181475" y="4543425"/>
            <a:ext cx="44291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Find the flaw in the model, not in the shipped system. Cheap to erase.</a:t>
            </a:r>
            <a:endParaRPr/>
          </a:p>
        </p:txBody>
      </p:sp>
      <p:sp>
        <p:nvSpPr>
          <p:cNvPr id="854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3848100" y="6486525"/>
            <a:ext cx="4505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If a model did not change a decision, it was decoration.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A Model Is True Enough</a:t>
            </a:r>
            <a:endParaRPr/>
          </a:p>
        </p:txBody>
      </p:sp>
      <p:pic>
        <p:nvPicPr>
          <p:cNvPr id="8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42925" y="2000250"/>
            <a:ext cx="5905500" cy="3810000"/>
          </a:xfrm>
          <a:prstGeom prst="rect">
            <a:avLst/>
          </a:prstGeom>
          <a:ln/>
        </p:spPr>
      </p:pic>
      <p:sp>
        <p:nvSpPr>
          <p:cNvPr id="863" name=""/>
          <p:cNvSpPr/>
          <p:nvPr/>
        </p:nvSpPr>
        <p:spPr>
          <a:xfrm rot="0" flipH="0" flipV="0">
            <a:off x="6867525" y="2038350"/>
            <a:ext cx="4981575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64" name=""/>
          <p:cNvSpPr/>
          <p:nvPr/>
        </p:nvSpPr>
        <p:spPr>
          <a:xfrm rot="0" flipH="0" flipV="0">
            <a:off x="6867525" y="2038350"/>
            <a:ext cx="4981575" cy="923925"/>
          </a:xfrm>
          <a:custGeom>
            <a:pathLst>
              <a:path w="523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7058025" y="2209800"/>
            <a:ext cx="4562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 model is not a copy of reality. It is an answer to a question.</a:t>
            </a:r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6829425" y="3076575"/>
            <a:ext cx="4981575" cy="1133475"/>
          </a:xfrm>
          <a:prstGeom prst="roundRect">
            <a:avLst>
              <a:gd name="adj" fmla="val 840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7000875" y="3228975"/>
            <a:ext cx="4638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One Order, three models. The database wants ids and timestamps. The kitchen wants items and status. The courier wants an address. None of them is "the" Order — each is true enough for one purpose.</a:t>
            </a:r>
            <a:endParaRPr/>
          </a:p>
        </p:txBody>
      </p:sp>
      <p:sp>
        <p:nvSpPr>
          <p:cNvPr id="868" name=""/>
          <p:cNvSpPr/>
          <p:nvPr/>
        </p:nvSpPr>
        <p:spPr>
          <a:xfrm rot="0" flipH="0" flipV="0">
            <a:off x="6867525" y="4324350"/>
            <a:ext cx="4981575" cy="581025"/>
          </a:xfrm>
          <a:prstGeom prst="roundRect">
            <a:avLst>
              <a:gd name="adj" fmla="val 16393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869" name=""/>
          <p:cNvSpPr/>
          <p:nvPr/>
        </p:nvSpPr>
        <p:spPr>
          <a:xfrm rot="0" flipH="0" flipV="0">
            <a:off x="6867525" y="4324350"/>
            <a:ext cx="4981575" cy="581025"/>
          </a:xfrm>
          <a:custGeom>
            <a:pathLst>
              <a:path w="523" h="6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5"/>
                </a:lnTo>
                <a:cubicBezTo>
                  <a:pt x="4" y="58"/>
                  <a:pt x="6" y="60"/>
                  <a:pt x="9" y="61"/>
                </a:cubicBezTo>
                <a:cubicBezTo>
                  <a:pt x="4" y="60"/>
                  <a:pt x="0" y="56"/>
                  <a:pt x="0" y="5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7038975" y="4476750"/>
            <a:ext cx="46005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Detail is cheap. Deciding what to leave out is the skill.</a:t>
            </a:r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6829425" y="5019675"/>
            <a:ext cx="4981575" cy="752475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6981825" y="5153025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If your model omits nothing, you have written a second implementation — in a slower language.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877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UML Map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82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581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Fourteen diagram types — you will use six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638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Structure asks what it IS; behaviour asks what it DOES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887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267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Every diagram exists to answer a specific question</a:t>
            </a:r>
            <a:endParaRPr/>
          </a:p>
        </p:txBody>
      </p:sp>
      <p:sp>
        <p:nvSpPr>
          <p:cNvPr id="88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Two Families, Fourteen Diagrams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11401425" y="8572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  <p:pic>
        <p:nvPicPr>
          <p:cNvPr id="8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228850"/>
            <a:ext cx="11239500" cy="3333750"/>
          </a:xfrm>
          <a:prstGeom prst="rect">
            <a:avLst/>
          </a:prstGeom>
          <a:ln/>
        </p:spPr>
      </p:pic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10287000" y="66198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UML 2.5 diagram taxonomy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0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Six That Matter Here</a:t>
            </a:r>
            <a:endParaRPr/>
          </a:p>
        </p:txBody>
      </p:sp>
      <p:sp>
        <p:nvSpPr>
          <p:cNvPr id="905" name=""/>
          <p:cNvSpPr/>
          <p:nvPr/>
        </p:nvSpPr>
        <p:spPr>
          <a:xfrm rot="0" flipH="0" flipV="0">
            <a:off x="381000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06" name=""/>
          <p:cNvSpPr/>
          <p:nvPr/>
        </p:nvSpPr>
        <p:spPr>
          <a:xfrm rot="0" flipH="0" flipV="0">
            <a:off x="542925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543050"/>
            <a:ext cx="171450" cy="171450"/>
          </a:xfrm>
          <a:prstGeom prst="rect">
            <a:avLst/>
          </a:prstGeom>
          <a:ln/>
        </p:spPr>
      </p:pic>
      <p:sp>
        <p:nvSpPr>
          <p:cNvPr id="908" name="" descr="{&quot;isTemplate&quot;:true,&quot;type&quot;:&quot;text&quot;}"/>
          <p:cNvSpPr txBox="1"/>
          <p:nvPr/>
        </p:nvSpPr>
        <p:spPr>
          <a:xfrm rot="0" flipH="0" flipV="0">
            <a:off x="981075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542925" y="1866900"/>
            <a:ext cx="3314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the system does, and for whom. No internals, no screens.</a:t>
            </a:r>
            <a:endParaRPr/>
          </a:p>
        </p:txBody>
      </p:sp>
      <p:sp>
        <p:nvSpPr>
          <p:cNvPr id="910" name=""/>
          <p:cNvSpPr/>
          <p:nvPr/>
        </p:nvSpPr>
        <p:spPr>
          <a:xfrm rot="0" flipH="0" flipV="0">
            <a:off x="542925" y="2419350"/>
            <a:ext cx="90487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638175" y="2457450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Weeks 04–05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4143375" y="1314450"/>
            <a:ext cx="3629025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13" name=""/>
          <p:cNvSpPr/>
          <p:nvPr/>
        </p:nvSpPr>
        <p:spPr>
          <a:xfrm rot="0" flipH="0" flipV="0">
            <a:off x="430530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391025" y="1543050"/>
            <a:ext cx="171450" cy="171450"/>
          </a:xfrm>
          <a:prstGeom prst="rect">
            <a:avLst/>
          </a:prstGeom>
          <a:ln/>
        </p:spPr>
      </p:pic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4743450" y="15240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4305300" y="1866900"/>
            <a:ext cx="33051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concepts, their attributes, and the links between them.</a:t>
            </a:r>
            <a:endParaRPr/>
          </a:p>
        </p:txBody>
      </p:sp>
      <p:sp>
        <p:nvSpPr>
          <p:cNvPr id="917" name=""/>
          <p:cNvSpPr/>
          <p:nvPr/>
        </p:nvSpPr>
        <p:spPr>
          <a:xfrm rot="0" flipH="0" flipV="0">
            <a:off x="4305300" y="2419350"/>
            <a:ext cx="17145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18" name="" descr="{&quot;isTemplate&quot;:true,&quot;type&quot;:&quot;text&quot;}"/>
          <p:cNvSpPr txBox="1"/>
          <p:nvPr/>
        </p:nvSpPr>
        <p:spPr>
          <a:xfrm rot="0" flipH="0" flipV="0">
            <a:off x="4400550" y="24574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06 domain · 07 design</a:t>
            </a:r>
            <a:endParaRPr/>
          </a:p>
        </p:txBody>
      </p:sp>
      <p:sp>
        <p:nvSpPr>
          <p:cNvPr id="919" name=""/>
          <p:cNvSpPr/>
          <p:nvPr/>
        </p:nvSpPr>
        <p:spPr>
          <a:xfrm rot="0" flipH="0" flipV="0">
            <a:off x="7896225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805815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143875" y="1543050"/>
            <a:ext cx="171450" cy="171450"/>
          </a:xfrm>
          <a:prstGeom prst="rect">
            <a:avLst/>
          </a:prstGeom>
          <a:ln/>
        </p:spPr>
      </p:pic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8496300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058150" y="18669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Who sends which message to whom, and in what order.</a:t>
            </a:r>
            <a:endParaRPr/>
          </a:p>
        </p:txBody>
      </p:sp>
      <p:sp>
        <p:nvSpPr>
          <p:cNvPr id="924" name=""/>
          <p:cNvSpPr/>
          <p:nvPr/>
        </p:nvSpPr>
        <p:spPr>
          <a:xfrm rot="0" flipH="0" flipV="0">
            <a:off x="8058150" y="21812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8153400" y="22193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08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381000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27" name=""/>
          <p:cNvSpPr/>
          <p:nvPr/>
        </p:nvSpPr>
        <p:spPr>
          <a:xfrm rot="0" flipH="0" flipV="0">
            <a:off x="542925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4286250"/>
            <a:ext cx="171450" cy="171450"/>
          </a:xfrm>
          <a:prstGeom prst="rect">
            <a:avLst/>
          </a:prstGeom>
          <a:ln/>
        </p:spPr>
      </p:pic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981075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State Machine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542925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object’s whole life, event by event.</a:t>
            </a:r>
            <a:endParaRPr/>
          </a:p>
        </p:txBody>
      </p:sp>
      <p:sp>
        <p:nvSpPr>
          <p:cNvPr id="931" name=""/>
          <p:cNvSpPr/>
          <p:nvPr/>
        </p:nvSpPr>
        <p:spPr>
          <a:xfrm rot="0" flipH="0" flipV="0">
            <a:off x="542925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638175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4143375" y="4057650"/>
            <a:ext cx="3629025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34" name=""/>
          <p:cNvSpPr/>
          <p:nvPr/>
        </p:nvSpPr>
        <p:spPr>
          <a:xfrm rot="0" flipH="0" flipV="0">
            <a:off x="430530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4391025" y="4286250"/>
            <a:ext cx="171450" cy="171450"/>
          </a:xfrm>
          <a:prstGeom prst="rect">
            <a:avLst/>
          </a:prstGeom>
          <a:ln/>
        </p:spPr>
      </p:pic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4743450" y="42672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4305300" y="4610100"/>
            <a:ext cx="33051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flow of steps, including the ones that run in parallel.</a:t>
            </a:r>
            <a:endParaRPr/>
          </a:p>
        </p:txBody>
      </p:sp>
      <p:sp>
        <p:nvSpPr>
          <p:cNvPr id="938" name=""/>
          <p:cNvSpPr/>
          <p:nvPr/>
        </p:nvSpPr>
        <p:spPr>
          <a:xfrm rot="0" flipH="0" flipV="0">
            <a:off x="430530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440055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940" name=""/>
          <p:cNvSpPr/>
          <p:nvPr/>
        </p:nvSpPr>
        <p:spPr>
          <a:xfrm rot="0" flipH="0" flipV="0">
            <a:off x="7896225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41" name=""/>
          <p:cNvSpPr/>
          <p:nvPr/>
        </p:nvSpPr>
        <p:spPr>
          <a:xfrm rot="0" flipH="0" flipV="0">
            <a:off x="805815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143875" y="4286250"/>
            <a:ext cx="171450" cy="171450"/>
          </a:xfrm>
          <a:prstGeom prst="rect">
            <a:avLst/>
          </a:prstGeom>
          <a:ln/>
        </p:spPr>
      </p:pic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8496300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8058150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How the system is cut into parts that can be built apart.</a:t>
            </a:r>
            <a:endParaRPr/>
          </a:p>
        </p:txBody>
      </p:sp>
      <p:sp>
        <p:nvSpPr>
          <p:cNvPr id="945" name=""/>
          <p:cNvSpPr/>
          <p:nvPr/>
        </p:nvSpPr>
        <p:spPr>
          <a:xfrm rot="0" flipH="0" flipV="0">
            <a:off x="805815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815340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14</a:t>
            </a:r>
            <a:endParaRPr/>
          </a:p>
        </p:txBody>
      </p:sp>
      <p:sp>
        <p:nvSpPr>
          <p:cNvPr id="947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948" name="" descr="{&quot;isTemplate&quot;:true,&quot;type&quot;:&quot;text&quot;}"/>
          <p:cNvSpPr txBox="1"/>
          <p:nvPr/>
        </p:nvSpPr>
        <p:spPr>
          <a:xfrm rot="0" flipH="0" flipV="0">
            <a:off x="2800350" y="6553200"/>
            <a:ext cx="6600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Each one is drawn in the week it becomes the answer to a real question — not before.</a:t>
            </a:r>
            <a:endParaRPr/>
          </a:p>
        </p:txBody>
      </p:sp>
    </p:spTree>
  </p:cSld>
</p:sld>
</file>

<file path=ppt/slides/slide10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5610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Which Diagram Answers Which Question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9525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graphicFrame>
        <p:nvGraphicFramePr>
          <p:cNvPr id="22" name=""/>
          <p:cNvGraphicFramePr/>
          <p:nvPr/>
        </p:nvGraphicFramePr>
        <p:xfrm rot="0" flipH="0" flipV="0">
          <a:off x="381000" y="1333500"/>
          <a:ext cx="11430000" cy="5029200"/>
        </p:xfrm>
        <a:graphic>
          <a:graphicData uri="http://schemas.openxmlformats.org/drawingml/2006/table">
            <a:tbl>
              <a:tblGrid>
                <a:gridCol w="5866784">
                  <a:extLst>
                    <a:ext uri="{9D8B030D-6E8A-4147-A177-3AD203B41FA5}">
                      <a16:colId val="1"/>
                    </a:ext>
                  </a:extLst>
                </a:gridCol>
                <a:gridCol w="3886992">
                  <a:extLst>
                    <a:ext uri="{9D8B030D-6E8A-4147-A177-3AD203B41FA5}">
                      <a16:colId val="2"/>
                    </a:ext>
                  </a:extLst>
                </a:gridCol>
                <a:gridCol w="167622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you are asking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diagram that answers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Drawn 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does the system do, for each kind of user?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Weeks 04–05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Which words does the business actually use?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 — a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calls whom to make this scenario work?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are the steps, and which can run at once?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is the code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3143250" y="6543675"/>
            <a:ext cx="5905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Start from the question. The diagram follows it — never the other way round.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14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Use Case &amp; Class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2162175"/>
            <a:ext cx="5086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diagram — the outside view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447925"/>
            <a:ext cx="4000500" cy="2857500"/>
          </a:xfrm>
          <a:prstGeom prst="rect">
            <a:avLst/>
          </a:prstGeom>
          <a:ln/>
        </p:spPr>
      </p:pic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50863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Actor (outside) · use case (inside the box) · association line · dashed «include».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715000" y="2162175"/>
            <a:ext cx="609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 diagram — the inside view</a:t>
            </a:r>
            <a:endParaRPr/>
          </a:p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715000" y="2447925"/>
            <a:ext cx="4381500" cy="28575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5715000" y="5381625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Three compartments: name · attributes · operations. Sign visibility with + and −.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5495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Sequence, State, Activity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81000" y="220027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Sequence — time runs downward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57450"/>
            <a:ext cx="3619500" cy="2857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81000" y="5372100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Dashed lifeline · narrow activation bar · solid arrow = call, dashed arrow = return.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591175" y="1543050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State — one object, its whole life</a:t>
            </a:r>
            <a:endParaRPr/>
          </a:p>
        </p:txBody>
      </p:sp>
      <p:pic>
        <p:nvPicPr>
          <p:cNvPr id="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91175" y="1781175"/>
            <a:ext cx="4000500" cy="1600200"/>
          </a:xfrm>
          <a:prstGeom prst="rect">
            <a:avLst/>
          </a:prstGeom>
          <a:ln/>
        </p:spPr>
      </p:pic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591175" y="3476625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Activity — steps, and the ones that overlap</a:t>
            </a:r>
            <a:endParaRPr/>
          </a:p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591175" y="3714750"/>
            <a:ext cx="4000500" cy="25336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2476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thick bars are fork and join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Notation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Boot Camp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400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class box, top to bottom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876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Associations: name, role, multiplicity, direction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Lifelines and the messages between them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686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Class Box Anatomy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pic>
        <p:nvPicPr>
          <p:cNvPr id="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57400"/>
            <a:ext cx="11239500" cy="3619500"/>
          </a:xfrm>
          <a:prstGeom prst="rect">
            <a:avLst/>
          </a:prstGeom>
          <a:ln/>
        </p:spPr>
      </p:pic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Visibility Marks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81000" y="2733675"/>
            <a:ext cx="2743200" cy="2247900"/>
          </a:xfrm>
          <a:prstGeom prst="roundRect">
            <a:avLst>
              <a:gd name="adj" fmla="val 423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543050" y="2905125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+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485900" y="36957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1219200" y="3990975"/>
            <a:ext cx="10763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333500" y="4029075"/>
            <a:ext cx="84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81025" y="4286250"/>
            <a:ext cx="2352675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Part of the contract. Any class may call it.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81050" y="4600575"/>
            <a:ext cx="19526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Use it for operations, rarely for fields.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276600" y="2514600"/>
            <a:ext cx="2743200" cy="2686050"/>
          </a:xfrm>
          <a:prstGeom prst="roundRect">
            <a:avLst>
              <a:gd name="adj" fmla="val 354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438650" y="26860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Georgia"/>
                <a:ea typeface="Georgia"/>
              </a:rPr>
              <a:t>−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52925" y="347662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4095750" y="3771900"/>
            <a:ext cx="11144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210050" y="3810000"/>
            <a:ext cx="88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3448050" y="4067175"/>
            <a:ext cx="2400300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Visible only inside this class. The default choice.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448050" y="46101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a field has no reason to be public, this is its mark.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1722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3342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#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134225" y="3590925"/>
            <a:ext cx="828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915150" y="3886200"/>
            <a:ext cx="12668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029450" y="3924300"/>
            <a:ext cx="10382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96075" y="4181475"/>
            <a:ext cx="169545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This class and its subclasses.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3436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Legitimate — but it couples you to the hierarchy.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90678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02298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~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10077450" y="3590925"/>
            <a:ext cx="7334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9705975" y="3886200"/>
            <a:ext cx="146685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820275" y="3924300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(no keyword)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505950" y="4181475"/>
            <a:ext cx="18669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in the same package.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2392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Rare in analysis models; appears in code-level diagrams.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971675" y="6543675"/>
            <a:ext cx="8248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 to − and open up only with a reason. Encapsulation is a visibility decision before it is anything else.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Association Anatomy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95500"/>
            <a:ext cx="11239500" cy="354330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3743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aggregation and composition diamonds: Week 07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019300"/>
            <a:ext cx="3143250" cy="8858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Multiplicity</a:t>
            </a:r>
            <a:endParaRPr/>
          </a:p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 Practice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381000" y="3038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3209925"/>
            <a:ext cx="31432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multiplicity is a constraint, not a comment. It is the first thing a reviewer should attack, because a wrong one silently breaks the code that follows.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19100" y="4171950"/>
            <a:ext cx="31432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19100" y="4171950"/>
            <a:ext cx="3143250" cy="514350"/>
          </a:xfrm>
          <a:custGeom>
            <a:pathLst>
              <a:path w="330" h="5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9"/>
                </a:lnTo>
                <a:cubicBezTo>
                  <a:pt x="4" y="51"/>
                  <a:pt x="6" y="53"/>
                  <a:pt x="8" y="54"/>
                </a:cubicBezTo>
                <a:cubicBezTo>
                  <a:pt x="4" y="54"/>
                  <a:pt x="0" y="50"/>
                  <a:pt x="0" y="4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1500" y="4305300"/>
            <a:ext cx="28003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Read it from the far end, out loud.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381000" y="4819650"/>
            <a:ext cx="3143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"One Restaurant offers 1..* MenuItems." If the sentence sounds wrong, the number is wrong.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790950" y="18383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962400" y="20002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362450" y="20574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991100" y="19526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exactly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Each OrderLine belongs to exactly 1 Order.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991100" y="21621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line with no order is meaningless — so the model forbids it.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790950" y="25812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962400" y="27432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38625" y="2800350"/>
            <a:ext cx="32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0..1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991100" y="26955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optional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0..1 Payment.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991100" y="29051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Unpaid is a legal state; do not force a Payment at construction.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3790950" y="33242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3962400" y="34861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362450" y="35433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*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991100" y="34385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zero or more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Restaurant offers * MenuItems.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991100" y="36480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brand-new restaurant with an empty menu is still valid.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790950" y="40671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3962400" y="42291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257675" y="4286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1..*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991100" y="41814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at least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1..* OrderLines.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991100" y="43910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is the rule that stops the empty order reaching the kitchen.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790950" y="48101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3962400" y="49720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200525" y="5029200"/>
            <a:ext cx="409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m..n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991100" y="49244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bounded range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delivery slot takes 1..5 Orders.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991100" y="51339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Ranges carry a real business limit — the courier has one bag.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2619375" y="6553200"/>
            <a:ext cx="695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multiplicity you write is a rule the database and the constructor will have to enforce.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895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Lifelines &amp; Messages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1971675"/>
            <a:ext cx="5334000" cy="38100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1714500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991350" y="18383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1933575"/>
            <a:ext cx="171450" cy="17145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467600" y="18383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Lifeline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467600" y="2047875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dashed vertical line: this object exists and is available. It is not a thread.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2505075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6991350" y="2628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2724150"/>
            <a:ext cx="171450" cy="17145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467600" y="2628900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Activation bar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467600" y="2838450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narrow box on the lifeline: this object is on the call stack right now.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329565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991350" y="34194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86600" y="3514725"/>
            <a:ext cx="171450" cy="17145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4676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Message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467600" y="362902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Filled head = a call that blocks. Open head = fire and forget. Dashed = the answer.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838950" y="430530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6991350" y="44291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86600" y="4524375"/>
            <a:ext cx="171450" cy="171450"/>
          </a:xfrm>
          <a:prstGeom prst="rect">
            <a:avLst/>
          </a:prstGeom>
          <a:ln/>
        </p:spPr>
      </p:pic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467600" y="44291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Creation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7467600" y="463867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points at the box, not at the lifeline — the object starts life mid-scenario.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877050" y="53149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877050" y="53149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7029450" y="5438775"/>
            <a:ext cx="46291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diagram, one scenario.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Do not draw every branch on the same sheet — Week 08 shows what to do instead.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143250" y="1076325"/>
            <a:ext cx="5915025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Drawing it correctly is not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the same as saying something.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0" y="2486025"/>
            <a:ext cx="762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762000" y="279082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990600" y="298132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04900" y="3095625"/>
            <a:ext cx="209550" cy="209550"/>
          </a:xfrm>
          <a:prstGeom prst="rect">
            <a:avLst/>
          </a:prstGeom>
          <a:ln/>
        </p:spPr>
      </p:pic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600200" y="298132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Syntax is the easy half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600200" y="324802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Correct arrowheads, matching multiplicities, legal compartment syntax. A tool can check all of it for you — and a correct diagram can still say nothing at all.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762000" y="414337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990600" y="433387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104900" y="4448175"/>
            <a:ext cx="209550" cy="20955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00200" y="433387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Semantics is where models fail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600200" y="460057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class called "OrderManager", an association nobody can read aloud, a state diagram with no events. Every box is legal; the model conveys no decision.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762000" y="5610225"/>
            <a:ext cx="10668000" cy="800100"/>
          </a:xfrm>
          <a:prstGeom prst="roundRect">
            <a:avLst>
              <a:gd name="adj" fmla="val 11905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90600" y="5762625"/>
            <a:ext cx="1021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The test to apply to every diagram you draw this term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90600" y="5991225"/>
            <a:ext cx="10210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Hand it to someone who was not in the room. If they cannot state back the decision you made, the notation was fine and the model was empty.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Modeling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Workflow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76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Use case → domain model → sequence → design class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Each artefact feeds the next one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Iterate in passes; never finish one before starting two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From Use Case to Design Class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114550"/>
            <a:ext cx="11239500" cy="3543300"/>
          </a:xfrm>
          <a:prstGeom prst="rect">
            <a:avLst/>
          </a:prstGeom>
          <a:ln/>
        </p:spPr>
      </p:pic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81000" y="66389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Steps 1–2 — Use Case to Domain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381000" y="26193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495300" y="26670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276350" y="2638425"/>
            <a:ext cx="2571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use case gives behaviour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381000" y="2962275"/>
            <a:ext cx="6400800" cy="1562100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71500" y="311467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1. The student picks a restaurant and adds items to a cart.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71500" y="344805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2. The system shows the subtotal and the delivery fee.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71500" y="378142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3. The student chooses a payment method and confirms.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4. The system charges the payment and notifies the kitchen.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19100" y="4619625"/>
            <a:ext cx="6400800" cy="495300"/>
          </a:xfrm>
          <a:prstGeom prst="roundRect">
            <a:avLst>
              <a:gd name="adj" fmla="val 17308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419100" y="4619625"/>
            <a:ext cx="6400800" cy="495300"/>
          </a:xfrm>
          <a:custGeom>
            <a:pathLst>
              <a:path w="672" h="5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7"/>
                </a:lnTo>
                <a:cubicBezTo>
                  <a:pt x="4" y="49"/>
                  <a:pt x="6" y="51"/>
                  <a:pt x="8" y="52"/>
                </a:cubicBezTo>
                <a:cubicBezTo>
                  <a:pt x="4" y="52"/>
                  <a:pt x="0" y="48"/>
                  <a:pt x="0" y="4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90550" y="4743450"/>
            <a:ext cx="6019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 use case is a verb. It tells you what happens — not what the pieces are called.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010400" y="23907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7124700" y="24384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05750" y="2409825"/>
            <a:ext cx="2543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domain gives vocabulary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010400" y="2733675"/>
            <a:ext cx="6381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7143750" y="280987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7724775" y="2733675"/>
            <a:ext cx="9048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7858125" y="2809875"/>
            <a:ext cx="638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OrderLine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8705850" y="2733675"/>
            <a:ext cx="8953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839200" y="2809875"/>
            <a:ext cx="628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9677400" y="2733675"/>
            <a:ext cx="9715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9810750" y="2809875"/>
            <a:ext cx="704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Restaurant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10725150" y="2733675"/>
            <a:ext cx="54292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58500" y="28098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Cart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010400" y="3124200"/>
            <a:ext cx="8286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143750" y="3200400"/>
            <a:ext cx="561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Payment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915275" y="3124200"/>
            <a:ext cx="7429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048625" y="32004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Courier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8734425" y="3124200"/>
            <a:ext cx="7905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867775" y="320040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Delivery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7010400" y="3533775"/>
            <a:ext cx="4800600" cy="1019175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181850" y="3657600"/>
            <a:ext cx="4457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Nouns in the scenario become candidate concepts. Verbs become the associations and, later, the methods.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181850" y="4191000"/>
            <a:ext cx="44577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"Notifies the kitchen" is not a class — it is a message you will draw in step 03.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7048500" y="4648200"/>
            <a:ext cx="480060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7048500" y="4648200"/>
            <a:ext cx="4800600" cy="695325"/>
          </a:xfrm>
          <a:custGeom>
            <a:pathLst>
              <a:path w="504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200900" y="4762500"/>
            <a:ext cx="44577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 not add classes for the software itself.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"Database", "System", "Logger" are not domain concepts.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2114550" y="6553200"/>
            <a:ext cx="797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Week 06 turns this noun list into a real domain model. Today you only need to see where it comes from.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638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 3 — Sequence Drives Design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877050" y="20002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6877050" y="20002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048500" y="21526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One arrow, one method. That is the whole trick.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6838950" y="26955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6991350" y="28194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914650"/>
            <a:ext cx="161925" cy="161925"/>
          </a:xfrm>
          <a:prstGeom prst="rect">
            <a:avLst/>
          </a:prstGeom>
          <a:ln/>
        </p:spPr>
      </p:pic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48550" y="28194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Receiver decides the class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448550" y="30194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head lands on a lifeline — that class must own the method.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38950" y="347662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991350" y="36004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695700"/>
            <a:ext cx="161925" cy="161925"/>
          </a:xfrm>
          <a:prstGeom prst="rect">
            <a:avLst/>
          </a:prstGeom>
          <a:ln/>
        </p:spPr>
      </p:pic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448550" y="360045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Name and parameters come free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448550" y="380047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message is already a signature; you are transcribing, not inventing.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838950" y="42576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6991350" y="43815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476750"/>
            <a:ext cx="161925" cy="161925"/>
          </a:xfrm>
          <a:prstGeom prst="rect">
            <a:avLst/>
          </a:prstGeom>
          <a:ln/>
        </p:spPr>
      </p:pic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448550" y="43815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return becomes the type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48550" y="45815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If you drew a dashed reply with a name, the method returns it.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6838950" y="50387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991350" y="5153025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This is why the sequence diagram is drawn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before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 the design class diagram — the methods are discovered, not guessed.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381000" y="2352675"/>
            <a:ext cx="6210300" cy="3028950"/>
          </a:xfrm>
          <a:prstGeom prst="roundRect">
            <a:avLst>
              <a:gd name="adj" fmla="val 2516"/>
            </a:avLst>
          </a:prstGeom>
          <a:solidFill>
            <a:srgbClr val="0E1116"/>
          </a:solidFill>
          <a:ln/>
        </p:spPr>
        <p:txBody>
          <a:bodyPr/>
          <a:p>
            <a:pPr/>
            <a:endParaRPr/>
          </a:p>
        </p:txBody>
      </p:sp>
      <p:sp>
        <p:nvSpPr>
          <p:cNvPr id="356" name=""/>
          <p:cNvSpPr txBox="1"/>
          <p:nvPr/>
        </p:nvSpPr>
        <p:spPr>
          <a:xfrm rot="0" flipH="0" flipV="0">
            <a:off x="533400" y="2486025"/>
            <a:ext cx="5905500" cy="27622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# Draw the arrow, then write the operation.
# Every message on the diagram is one
# operation on the class at the arrow head.
:OrderController  -&gt;  :Order
        submit(cart)
Class OrderController
    + submit(cart)
:Order  -&gt;  :OrderLine
        create(item, qty)
Class Order
    + create(item, qty) : OrderLine
:Order  -&gt;  :Order
        total() : Money
Class Order
    + total() : Money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Where State Diagrams Fit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447925"/>
            <a:ext cx="5334000" cy="2857500"/>
          </a:xfrm>
          <a:prstGeom prst="rect">
            <a:avLst/>
          </a:prstGeom>
          <a:ln/>
        </p:spPr>
      </p:pic>
      <p:sp>
        <p:nvSpPr>
          <p:cNvPr id="365" name=""/>
          <p:cNvSpPr/>
          <p:nvPr/>
        </p:nvSpPr>
        <p:spPr>
          <a:xfrm rot="0" flipH="0" flipV="0">
            <a:off x="6877050" y="17716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6877050" y="17716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048500" y="19240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Not every class deserves a state diagram.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6838950" y="2466975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6991350" y="25908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2686050"/>
            <a:ext cx="161925" cy="161925"/>
          </a:xfrm>
          <a:prstGeom prst="rect">
            <a:avLst/>
          </a:prstGeom>
          <a:ln/>
        </p:spPr>
      </p:pic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448550" y="25908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 one when history matters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448550" y="2790825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same message gets a different answer depending on the state. That is the only real trigger.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38950" y="3467100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6991350" y="35909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3686175"/>
            <a:ext cx="161925" cy="161925"/>
          </a:xfrm>
          <a:prstGeom prst="rect">
            <a:avLst/>
          </a:prstGeom>
          <a:ln/>
        </p:spPr>
      </p:pic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448550" y="3590925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Skip it for passive records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7448550" y="3790950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MenuItem has a price and a name. It has no life. A state diagram adds nothing.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838950" y="4467225"/>
            <a:ext cx="4972050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991350" y="4591050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one-line test: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if you cannot name the events, there are no states — only attributes.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877050" y="528637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77050" y="528637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029450" y="540067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CampusBites needs exactly two: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Order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Delivery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Everything else can wait for Week 09.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3448050" y="1466850"/>
            <a:ext cx="5295900" cy="542925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2850" b="1">
                <a:solidFill>
                  <a:srgbClr val="0E3F8C"/>
                </a:solidFill>
                <a:latin typeface="Georgia"/>
                <a:ea typeface="Georgia"/>
              </a:rPr>
              <a:t>One workflow, many passes.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5734050" y="22193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762000" y="246697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971550" y="2628900"/>
            <a:ext cx="342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1485900" y="2628900"/>
            <a:ext cx="9734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Breadth first, depth later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485900" y="2876550"/>
            <a:ext cx="9734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Sketch every use case at one line each before you write a single full scenario. You will throw away fewer pages that way.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762000" y="3429000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1524000" y="3590925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Ten per cent of the use cases, ten per cent of the classes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524000" y="3838575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Larman's rule of thumb: one short pass across the whole system beats a perfect model of one corner of it.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762000" y="439102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971550" y="4552950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524000" y="4552950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Stop when modelling costs more than coding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524000" y="4800600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The moment a diagram stops changing a decision, put it down and write the code. You can always come back with a better question.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762000" y="5429250"/>
            <a:ext cx="10668000" cy="561975"/>
          </a:xfrm>
          <a:prstGeom prst="roundRect">
            <a:avLst>
              <a:gd name="adj" fmla="val 1694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990600" y="5572125"/>
            <a:ext cx="1021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Your M1 submission is the end of pass one — not the end of modelling. Expect to redraw all of it in Week 06, and again in Week 08.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4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draw.io for the diagrams you will present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PlantUML for the diagrams you will maintain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Both live in the repository, next to the code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2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draw.io or PlantUML?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graphicFrame>
        <p:nvGraphicFramePr>
          <p:cNvPr id="429" name=""/>
          <p:cNvGraphicFramePr/>
          <p:nvPr/>
        </p:nvGraphicFramePr>
        <p:xfrm rot="0" flipH="0" flipV="0">
          <a:off x="381000" y="1276350"/>
          <a:ext cx="11430000" cy="5086350"/>
        </p:xfrm>
        <a:graphic>
          <a:graphicData uri="http://schemas.openxmlformats.org/drawingml/2006/table">
            <a:tbl>
              <a:tblGrid>
                <a:gridCol w="2737294">
                  <a:extLst>
                    <a:ext uri="{9D8B030D-6E8A-4147-A177-3AD203B41FA5}">
                      <a16:colId val="1"/>
                    </a:ext>
                  </a:extLst>
                </a:gridCol>
                <a:gridCol w="4781746">
                  <a:extLst>
                    <a:ext uri="{9D8B030D-6E8A-4147-A177-3AD203B41FA5}">
                      <a16:colId val="2"/>
                    </a:ext>
                  </a:extLst>
                </a:gridCol>
                <a:gridCol w="39109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draw.io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PlantUML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draw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Drag shapes with the mouse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Type text, see the picture appear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Source file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.drawio — compressed XML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.puml — plain text, readable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Free-form layout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Excellent — you place every box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tool decides; you live with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Speed of a small edit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Fast for one box, slow for a rename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Find and replace; instant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Diff in a pull request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Unreadable — the whole file changes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One line per change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Learning curve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Ten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afternoon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Best used for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Presentation diagrams, posters, one-offs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Models the team edits all term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43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1095375" y="6534150"/>
            <a:ext cx="10010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Course default: model in PlantUML, present in draw.io. Both source files go in the repository — a PNG on its own is not a submission.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90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PlantUML by Example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6838950" y="19716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6991350" y="21050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200275"/>
            <a:ext cx="171450" cy="171450"/>
          </a:xfrm>
          <a:prstGeom prst="rect">
            <a:avLst/>
          </a:prstGeom>
          <a:ln/>
        </p:spPr>
      </p:pic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7467600" y="21050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class Name { ... }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467600" y="23145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between the braces is the class box — name, attributes, operations, in that order.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6838950" y="301942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45" name=""/>
          <p:cNvSpPr/>
          <p:nvPr/>
        </p:nvSpPr>
        <p:spPr>
          <a:xfrm rot="0" flipH="0" flipV="0">
            <a:off x="6991350" y="31527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248025"/>
            <a:ext cx="171450" cy="17145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467600" y="315277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line between classes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7467600" y="336232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Read it left to right: multiplicity, the line style, multiplicity, then a colon and the association name.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838950" y="40671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6991350" y="42005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295775"/>
            <a:ext cx="171450" cy="171450"/>
          </a:xfrm>
          <a:prstGeom prst="rect">
            <a:avLst/>
          </a:prstGeom>
          <a:ln/>
        </p:spPr>
      </p:pic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7467600" y="42005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*-- and o--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7467600" y="44100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filled diamond is composition: the parts die with the whole. A hollow one is aggregation. A bare -- is a plain association.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877050" y="51149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455" name=""/>
          <p:cNvSpPr/>
          <p:nvPr/>
        </p:nvSpPr>
        <p:spPr>
          <a:xfrm rot="0" flipH="0" flipV="0">
            <a:off x="6877050" y="511492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7029450" y="52292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You will write exactly this file in Exercise 3.2 — with two lines left blank for you to fill in.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371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PlantUML renders in VS Code and on plantuml.com/plantuml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59" name=""/>
          <p:cNvSpPr/>
          <p:nvPr/>
        </p:nvSpPr>
        <p:spPr>
          <a:xfrm rot="0" flipH="0" flipV="0">
            <a:off x="381000" y="2181225"/>
            <a:ext cx="6210300" cy="3409950"/>
          </a:xfrm>
          <a:prstGeom prst="roundRect">
            <a:avLst>
              <a:gd name="adj" fmla="val 2235"/>
            </a:avLst>
          </a:prstGeom>
          <a:solidFill>
            <a:srgbClr val="0E1116"/>
          </a:solidFill>
          <a:ln/>
        </p:spPr>
        <p:txBody>
          <a:bodyPr/>
          <a:p>
            <a:pPr/>
            <a:endParaRPr/>
          </a:p>
        </p:txBody>
      </p:sp>
      <p:sp>
        <p:nvSpPr>
          <p:cNvPr id="460" name=""/>
          <p:cNvSpPr txBox="1"/>
          <p:nvPr/>
        </p:nvSpPr>
        <p:spPr>
          <a:xfrm rot="0" flipH="0" flipV="0">
            <a:off x="533400" y="2314575"/>
            <a:ext cx="5905500" cy="31432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@startuml
class Library {
  - name : String
  + addBook(b : Book) : void
  + findByIsbn(isbn : String) : Book
}
class Book {
  - isbn : String
  - title : String
  + isAvailable() : boolean
}
class Member {
  - id : String
  - name : String
  + borrow(b : Book) : void
}
Library "1" *-- "0..*" Book : holds
Library "1" o-- "0..*" Member : registers
@enduml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6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38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Version-Controlling Diagrams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381000" y="2571750"/>
            <a:ext cx="600075" cy="200025"/>
          </a:xfrm>
          <a:prstGeom prst="roundRect">
            <a:avLst>
              <a:gd name="adj" fmla="val 28571"/>
            </a:avLst>
          </a:prstGeom>
          <a:solidFill>
            <a:srgbClr val="FDF3F3"/>
          </a:solidFill>
          <a:ln w="12700">
            <a:solidFill>
              <a:srgbClr val="F0C9C7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476250" y="2600325"/>
            <a:ext cx="409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D9534F"/>
                </a:solidFill>
                <a:latin typeface="Microsoft YaHei"/>
                <a:ea typeface="Microsoft YaHei"/>
              </a:rPr>
              <a:t>.drawio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57275" y="2600325"/>
            <a:ext cx="1971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one box moved — 340 lines rewritten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381000" y="4276725"/>
            <a:ext cx="495300" cy="200025"/>
          </a:xfrm>
          <a:prstGeom prst="roundRect">
            <a:avLst>
              <a:gd name="adj" fmla="val 28571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76250" y="4305300"/>
            <a:ext cx="30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.puml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952500" y="4305300"/>
            <a:ext cx="1371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the same edit — two lines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829425" y="207645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6981825" y="220027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77075" y="2295525"/>
            <a:ext cx="161925" cy="161925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7439025" y="220027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 diff you can actually read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7439025" y="239077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lines instead of three hundred. A reviewer can see what changed and disagree with it in writing.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6829425" y="3057525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80" name=""/>
          <p:cNvSpPr/>
          <p:nvPr/>
        </p:nvSpPr>
        <p:spPr>
          <a:xfrm rot="0" flipH="0" flipV="0">
            <a:off x="6981825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3276600"/>
            <a:ext cx="161925" cy="161925"/>
          </a:xfrm>
          <a:prstGeom prst="rect">
            <a:avLst/>
          </a:prstGeom>
          <a:ln/>
        </p:spPr>
      </p:pic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7439025" y="3181350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History becomes evidence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439025" y="3371850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log shows who added the multiplicity and when. That is what makes the contribution review possible at all.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6829425" y="403860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6981825" y="41624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4257675"/>
            <a:ext cx="161925" cy="161925"/>
          </a:xfrm>
          <a:prstGeom prst="rect">
            <a:avLst/>
          </a:prstGeom>
          <a:ln/>
        </p:spPr>
      </p:pic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7439025" y="41624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is why it touches your grade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7439025" y="435292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Individual work is 40% of the mark and is assessed from the repository. If your edit is invisible, it cannot be counted.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829425" y="5019675"/>
            <a:ext cx="4981575" cy="695325"/>
          </a:xfrm>
          <a:prstGeom prst="roundRect">
            <a:avLst>
              <a:gd name="adj" fmla="val 123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6981825" y="5133975"/>
            <a:ext cx="46767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/>
                </a:solidFill>
                <a:latin typeface="Microsoft YaHei"/>
                <a:ea typeface="Microsoft YaHei"/>
              </a:rPr>
              <a:t>A PNG with no source file is worth zero. The source is what is graded — but export the PNG and commit it beside it.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381000" y="2847975"/>
            <a:ext cx="6219825" cy="1352550"/>
          </a:xfrm>
          <a:prstGeom prst="roundRect">
            <a:avLst>
              <a:gd name="adj" fmla="val 5634"/>
            </a:avLst>
          </a:prstGeom>
          <a:solidFill>
            <a:srgbClr val="0E1116"/>
          </a:solidFill>
          <a:ln/>
        </p:spPr>
        <p:txBody>
          <a:bodyPr/>
          <a:p>
            <a:pPr/>
            <a:endParaRPr/>
          </a:p>
        </p:txBody>
      </p:sp>
      <p:sp>
        <p:nvSpPr>
          <p:cNvPr id="494" name=""/>
          <p:cNvSpPr txBox="1"/>
          <p:nvPr/>
        </p:nvSpPr>
        <p:spPr>
          <a:xfrm rot="0" flipH="0" flipV="0">
            <a:off x="533400" y="2981325"/>
            <a:ext cx="5915025" cy="10858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-  &lt;mxCell id="9" value="Book" style="rounded=0;
-     whiteSpace=wrap;html=1;" vertex="1" parent="1"&gt;
-    &lt;mxGeometry x="320" y="80" width="160"
-       height="60" as="geometry" /&gt;
+  &lt;mxCell id="9" value="Book" style="rounded=0;
+     whiteSpace=wrap;html=1;fillColor=#E8EFF8;"
+     vertex="1" parent="1"&gt;
+    &lt;mxGeometry x="320" y="80" width="160"
+       height="86" as="geometry" /&gt;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381000" y="4552950"/>
            <a:ext cx="6219825" cy="666750"/>
          </a:xfrm>
          <a:prstGeom prst="roundRect">
            <a:avLst>
              <a:gd name="adj" fmla="val 11429"/>
            </a:avLst>
          </a:prstGeom>
          <a:solidFill>
            <a:srgbClr val="0E1116"/>
          </a:solidFill>
          <a:ln/>
        </p:spPr>
        <p:txBody>
          <a:bodyPr/>
          <a:p>
            <a:pPr/>
            <a:endParaRPr/>
          </a:p>
        </p:txBody>
      </p:sp>
      <p:sp>
        <p:nvSpPr>
          <p:cNvPr id="496" name=""/>
          <p:cNvSpPr txBox="1"/>
          <p:nvPr/>
        </p:nvSpPr>
        <p:spPr>
          <a:xfrm rot="0" flipH="0" flipV="0">
            <a:off x="533400" y="4686300"/>
            <a:ext cx="5915025" cy="400050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- Member "1"     -- "0..*" Book : borrows
+ Member "0..1"  -- "0..*" Book : borrows
+ Member "1"     -- "0..1" Library : registers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5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37623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Diagram Conventions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381000" y="15716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552450" y="17335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828800"/>
            <a:ext cx="171450" cy="1714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66800" y="18192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Naming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2362200" y="16859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Lower-case kebab, one artefact per file: domain-model.puml, order-sequence.puml, order-state.puml. No "final", no "v3".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2362200" y="19431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A file name is the first thing a reviewer reads.</a:t>
            </a:r>
            <a:endParaRPr/>
          </a:p>
        </p:txBody>
      </p:sp>
      <p:sp>
        <p:nvSpPr>
          <p:cNvPr id="524" name=""/>
          <p:cNvSpPr/>
          <p:nvPr/>
        </p:nvSpPr>
        <p:spPr>
          <a:xfrm rot="0" flipH="0" flipV="0">
            <a:off x="381000" y="23526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552450" y="2514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2609850"/>
            <a:ext cx="171450" cy="1714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1066800" y="26003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Location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362200" y="24669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Everything under docs/diagrams/ in the team repository. Never on a laptop, never as a chat attachment.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2362200" y="27241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it is not in the repo, it does not exist.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381000" y="31337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552450" y="32956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3390900"/>
            <a:ext cx="171450" cy="1714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1066800" y="33813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Colour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2362200" y="32480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One palette only: white = agreed concept, blue = proposed this week, grey = deprecated. Nothing else.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2362200" y="35052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Colour that carries no meaning is noise.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381000" y="39147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552450" y="40767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171950"/>
            <a:ext cx="171450" cy="17145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1066800" y="41624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Decision line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2362200" y="40290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 diagram gets one sentence in the README next to it: the decision the diagram is making.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2362200" y="42862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Forces you to know what the diagram is for.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46958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43" name=""/>
          <p:cNvSpPr/>
          <p:nvPr/>
        </p:nvSpPr>
        <p:spPr>
          <a:xfrm rot="0" flipH="0" flipV="0">
            <a:off x="552450" y="4857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5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7700" y="4953000"/>
            <a:ext cx="171450" cy="171450"/>
          </a:xfrm>
          <a:prstGeom prst="rect">
            <a:avLst/>
          </a:prstGeom>
          <a:ln/>
        </p:spPr>
      </p:pic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1066800" y="49434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Export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2362200" y="48101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PNG is exported from the source and committed beside it, same name, different extension.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62200" y="50673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So a reader can look at the picture without the tool.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381000" y="54768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552450" y="56388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647700" y="5734050"/>
            <a:ext cx="171450" cy="1714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66800" y="57245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Ownership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2362200" y="55911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README names an owner for each file. Editing someone else's file needs a commit message that says why.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2362200" y="58483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This is what the contribution review reads.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2200275" y="6553200"/>
            <a:ext cx="780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Agree these six today, write them into the README, and stop re-arguing them for the rest of the term.</a:t>
            </a:r>
            <a:endParaRPr/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90 MINUTES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Exercises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Team Setup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3.1 — name that diagram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686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3.2 — model a library in PlantUML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57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the toolchain and the conventions, checked off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81000" y="1685925"/>
            <a:ext cx="1219200" cy="266700"/>
          </a:xfrm>
          <a:prstGeom prst="roundRect">
            <a:avLst>
              <a:gd name="adj" fmla="val 2142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514350" y="17430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EXERCISE 3.1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381000" y="2066925"/>
            <a:ext cx="30480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Name That</a:t>
            </a:r>
            <a:endParaRPr/>
          </a:p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381000" y="3009900"/>
            <a:ext cx="4953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381000" y="3162300"/>
            <a:ext cx="30480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Six fragments. For each one, write down two things: which diagram it is, and the question that diagram answers.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419100" y="4105275"/>
            <a:ext cx="3048000" cy="733425"/>
          </a:xfrm>
          <a:prstGeom prst="roundRect">
            <a:avLst>
              <a:gd name="adj" fmla="val 11688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419100" y="4105275"/>
            <a:ext cx="3048000" cy="733425"/>
          </a:xfrm>
          <a:custGeom>
            <a:pathLst>
              <a:path w="320" h="7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72"/>
                </a:lnTo>
                <a:cubicBezTo>
                  <a:pt x="4" y="74"/>
                  <a:pt x="6" y="76"/>
                  <a:pt x="8" y="77"/>
                </a:cubicBezTo>
                <a:cubicBezTo>
                  <a:pt x="4" y="77"/>
                  <a:pt x="0" y="73"/>
                  <a:pt x="0" y="6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571500" y="4229100"/>
            <a:ext cx="27051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Answer the question, not just the name. "It is a class diagram" earns half a mark.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381000" y="4953000"/>
            <a:ext cx="30480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Ten minutes alone, then the pair next to you reads your answers. Answers on the next slide — do not scroll ahead.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3676650" y="19145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3829050" y="20288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3924300" y="20859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4248150" y="20288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A stick figure labelled Student, an ellipse labelled Place Order, and a thin rectangle drawn around the ellipse.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676650" y="25146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89" name=""/>
          <p:cNvSpPr/>
          <p:nvPr/>
        </p:nvSpPr>
        <p:spPr>
          <a:xfrm rot="0" flipH="0" flipV="0">
            <a:off x="3829050" y="26289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924300" y="268605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248150" y="26289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boxes — Order, OrderLine, MenuItem — joined by lines carrying the labels 1 and 1..*.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3676650" y="311467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93" name=""/>
          <p:cNvSpPr/>
          <p:nvPr/>
        </p:nvSpPr>
        <p:spPr>
          <a:xfrm rot="0" flipH="0" flipV="0">
            <a:off x="3829050" y="322897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924300" y="328612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4248150" y="322897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dashed vertical lines running down the page, with horizontal arrows stepping between them.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3676650" y="371475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97" name=""/>
          <p:cNvSpPr/>
          <p:nvPr/>
        </p:nvSpPr>
        <p:spPr>
          <a:xfrm rot="0" flipH="0" flipV="0">
            <a:off x="3829050" y="382905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924300" y="388620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D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4248150" y="382905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rounded rectangles connected by arrows labelled submit, cancel, deliver, hand over.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676650" y="43148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01" name=""/>
          <p:cNvSpPr/>
          <p:nvPr/>
        </p:nvSpPr>
        <p:spPr>
          <a:xfrm rot="0" flipH="0" flipV="0">
            <a:off x="3829050" y="44291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3924300" y="44862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E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4248150" y="44291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One thick horizontal bar that splits a single flow into two, and a second bar further down that brings them back together.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3676650" y="49149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3829050" y="50292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3924300" y="508635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F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4248150" y="50292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large boxes, each containing several smaller ones, with arrows drawn between the large boxes.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16 asvg">
  <p:cSld>
    <p:spTree>
      <p:nvGrpSpPr>
        <p:cNvPr id="6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1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3.1 — Answers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17" name=""/>
          <p:cNvGraphicFramePr/>
          <p:nvPr/>
        </p:nvGraphicFramePr>
        <p:xfrm rot="0" flipH="0" flipV="0">
          <a:off x="381000" y="1200150"/>
          <a:ext cx="11430000" cy="5219700"/>
        </p:xfrm>
        <a:graphic>
          <a:graphicData uri="http://schemas.openxmlformats.org/drawingml/2006/table">
            <a:tbl>
              <a:tblGrid>
                <a:gridCol w="1448987">
                  <a:extLst>
                    <a:ext uri="{9D8B030D-6E8A-4147-A177-3AD203B41FA5}">
                      <a16:colId val="1"/>
                    </a:ext>
                  </a:extLst>
                </a:gridCol>
                <a:gridCol w="2865595">
                  <a:extLst>
                    <a:ext uri="{9D8B030D-6E8A-4147-A177-3AD203B41FA5}">
                      <a16:colId val="2"/>
                    </a:ext>
                  </a:extLst>
                </a:gridCol>
                <a:gridCol w="711541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Fragment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it answers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does the system do, and for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Class (domain model)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Which concepts exist, and how many of each?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Who sends which message to whom, in what order?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are the steps, and which can run at the same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is the system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618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6562725"/>
            <a:ext cx="180975" cy="180975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14375" y="6543675"/>
            <a:ext cx="8667750" cy="2190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 and E are the ones people mix up.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Labelled arrows between rounded boxes make it a state machine; an activity diagram labels the boxes themselves.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2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971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Library Model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6877050" y="190500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6877050" y="1905000"/>
            <a:ext cx="4972050" cy="762000"/>
          </a:xfrm>
          <a:custGeom>
            <a:pathLst>
              <a:path w="522" h="8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4"/>
                </a:lnTo>
                <a:cubicBezTo>
                  <a:pt x="4" y="77"/>
                  <a:pt x="6" y="79"/>
                  <a:pt x="9" y="80"/>
                </a:cubicBezTo>
                <a:cubicBezTo>
                  <a:pt x="4" y="79"/>
                  <a:pt x="0" y="75"/>
                  <a:pt x="0" y="7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7029450" y="2028825"/>
            <a:ext cx="46291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Fill in the two question marks — and be ready to defend each number.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6838950" y="275272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6972300" y="285750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58025" y="2943225"/>
            <a:ext cx="152400" cy="152400"/>
          </a:xfrm>
          <a:prstGeom prst="rect">
            <a:avLst/>
          </a:prstGeom>
          <a:ln/>
        </p:spPr>
      </p:pic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7400925" y="28575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Work in pairs, one file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7400925" y="304800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Pair on the keyboard, not on the conversation. The driver types; the navigator argues about multiplicities.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6838950" y="3657600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37" name=""/>
          <p:cNvSpPr/>
          <p:nvPr/>
        </p:nvSpPr>
        <p:spPr>
          <a:xfrm rot="0" flipH="0" flipV="0">
            <a:off x="6972300" y="3762375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58025" y="3848100"/>
            <a:ext cx="152400" cy="152400"/>
          </a:xfrm>
          <a:prstGeom prst="rect">
            <a:avLst/>
          </a:prstGeom>
          <a:ln/>
        </p:spPr>
      </p:pic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7400925" y="376237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A comment is allowed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400925" y="3952875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Use a line starting with an apostrophe to record the decision you could not settle. That is worth marks.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6838950" y="456247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42" name=""/>
          <p:cNvSpPr/>
          <p:nvPr/>
        </p:nvSpPr>
        <p:spPr>
          <a:xfrm rot="0" flipH="0" flipV="0">
            <a:off x="6972300" y="466725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58025" y="4752975"/>
            <a:ext cx="152400" cy="152400"/>
          </a:xfrm>
          <a:prstGeom prst="rect">
            <a:avLst/>
          </a:prstGeom>
          <a:ln/>
        </p:spPr>
      </p:pic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7400925" y="466725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Render before you submit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7400925" y="485775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.puml file that does not render is not a model. Check it in VS Code or on the web renderer first.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6838950" y="5467350"/>
            <a:ext cx="4972050" cy="40005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6972300" y="5562600"/>
            <a:ext cx="470535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Submit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library.puml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 plus the exported PNG, in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docs/diagrams/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. Twenty-five minutes.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2114550"/>
            <a:ext cx="6210300" cy="3552825"/>
          </a:xfrm>
          <a:prstGeom prst="roundRect">
            <a:avLst>
              <a:gd name="adj" fmla="val 2145"/>
            </a:avLst>
          </a:prstGeom>
          <a:solidFill>
            <a:srgbClr val="0E1116"/>
          </a:solidFill>
          <a:ln/>
        </p:spPr>
        <p:txBody>
          <a:bodyPr/>
          <a:p>
            <a:pPr/>
            <a:endParaRPr/>
          </a:p>
        </p:txBody>
      </p:sp>
      <p:sp>
        <p:nvSpPr>
          <p:cNvPr id="651" name=""/>
          <p:cNvSpPr txBox="1"/>
          <p:nvPr/>
        </p:nvSpPr>
        <p:spPr>
          <a:xfrm rot="0" flipH="0" flipV="0">
            <a:off x="533400" y="2247900"/>
            <a:ext cx="5905500" cy="328612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@startuml
class Library {
  - name : String
  + addBook(b : Book) : void
}
class Book {
  - isbn : String
  + isAvailable() : boolean
}
class Member {
  - name : String
  + borrow(b : Book) : void
}
' TODO 1  Library holds Books -- a
'         composition. One library,
'         many books. Fill the ???
Library "1" *-- "???" Book : holds
' TODO 2  A Member may hold zero or more
'         Books. A plain link, no diamond.
Member "???" -- "???" Book : borrows
@enduml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705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Reference Solution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59" name=""/>
          <p:cNvSpPr/>
          <p:nvPr/>
        </p:nvSpPr>
        <p:spPr>
          <a:xfrm rot="0" flipH="0" flipV="0">
            <a:off x="6838950" y="18573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6991350" y="19812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86600" y="20383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381875" y="19812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0..* at the Book end</a:t>
            </a:r>
            <a:endParaRPr/>
          </a:p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381875" y="21812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library with no books yet is still a legal library. Writing 1..* here would force a fake Book into every new branch — that is the kind of error that reaches production.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38950" y="3048000"/>
            <a:ext cx="4972050" cy="885825"/>
          </a:xfrm>
          <a:prstGeom prst="roundRect">
            <a:avLst>
              <a:gd name="adj" fmla="val 1075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65" name=""/>
          <p:cNvSpPr/>
          <p:nvPr/>
        </p:nvSpPr>
        <p:spPr>
          <a:xfrm rot="0" flipH="0" flipV="0">
            <a:off x="6991350" y="31718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7086600" y="3228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381875" y="317182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0..1 at the Member end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7381875" y="3371850"/>
            <a:ext cx="42767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Book side of a loan is optional: a Book on the shelf is borrowed by nobody. Write 1 and no Book can ever sit on a shelf.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6838950" y="40290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6991350" y="4152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86600" y="42100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7381875" y="41529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*-- and not o--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381875" y="43529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Composition says the Books go when the Library record goes. If your pair disagreed, write the disagreement in the README — the argument is the deliverable, not the symbol.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6877050" y="5219700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675" name=""/>
          <p:cNvSpPr/>
          <p:nvPr/>
        </p:nvSpPr>
        <p:spPr>
          <a:xfrm rot="0" flipH="0" flipV="0">
            <a:off x="6877050" y="5219700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7029450" y="53340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A different answer can be correct. It stops being correct the moment you cannot say why.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381000" y="2247900"/>
            <a:ext cx="6210300" cy="3286125"/>
          </a:xfrm>
          <a:prstGeom prst="roundRect">
            <a:avLst>
              <a:gd name="adj" fmla="val 2319"/>
            </a:avLst>
          </a:prstGeom>
          <a:solidFill>
            <a:srgbClr val="0E1116"/>
          </a:solidFill>
          <a:ln/>
        </p:spPr>
        <p:txBody>
          <a:bodyPr/>
          <a:p>
            <a:pPr/>
            <a:endParaRPr/>
          </a:p>
        </p:txBody>
      </p:sp>
      <p:sp>
        <p:nvSpPr>
          <p:cNvPr id="680" name=""/>
          <p:cNvSpPr txBox="1"/>
          <p:nvPr/>
        </p:nvSpPr>
        <p:spPr>
          <a:xfrm rot="0" flipH="0" flipV="0">
            <a:off x="533400" y="2381250"/>
            <a:ext cx="5905500" cy="301942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@startuml
class Library {
  - name : String
  + addBook(b : Book) : void
  + findByIsbn(isbn : String) : Book
}
class Book {
  - isbn : String
  - title : String
  + isAvailable() : boolean
}
class Member {
  - id : String
  - name : String
  + borrow(b : Book) : void
}
Library "1" *-- "0..*" Book : holds
Member "0..1" -- "0..*" Book : borrows
@enduml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Setup Checklist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381000" y="1647825"/>
            <a:ext cx="621030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89" name=""/>
          <p:cNvSpPr/>
          <p:nvPr/>
        </p:nvSpPr>
        <p:spPr>
          <a:xfrm rot="0" flipH="0" flipV="0">
            <a:off x="533400" y="1781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914400" y="176212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draw.io can open, edit and export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5619750" y="177165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5705475" y="179070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14400" y="1971675"/>
            <a:ext cx="552450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draw one class box, save the .drawio file, export a PNG, and check both files exist on disk.</a:t>
            </a:r>
            <a:endParaRPr/>
          </a:p>
        </p:txBody>
      </p:sp>
      <p:sp>
        <p:nvSpPr>
          <p:cNvPr id="694" name=""/>
          <p:cNvSpPr/>
          <p:nvPr/>
        </p:nvSpPr>
        <p:spPr>
          <a:xfrm rot="0" flipH="0" flipV="0">
            <a:off x="381000" y="239077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95" name=""/>
          <p:cNvSpPr/>
          <p:nvPr/>
        </p:nvSpPr>
        <p:spPr>
          <a:xfrm rot="0" flipH="0" flipV="0">
            <a:off x="533400" y="252412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PlantUML renders on your machine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5619750" y="251460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05475" y="253365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five minutes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914400" y="271462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paste the Exercise 3.2 solution into a .puml file and see a picture. Extension or web renderer, either is fine.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381000" y="335280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01" name=""/>
          <p:cNvSpPr/>
          <p:nvPr/>
        </p:nvSpPr>
        <p:spPr>
          <a:xfrm rot="0" flipH="0" flipV="0">
            <a:off x="533400" y="348615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914400" y="3467100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docs/diagrams/ exists in the team repo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5619750" y="3476625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5705475" y="3495675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914400" y="367665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Commit an empty .gitkeep if the folder has nothing in it yet. The path must be right before M1, not during it.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381000" y="431482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07" name=""/>
          <p:cNvSpPr/>
          <p:nvPr/>
        </p:nvSpPr>
        <p:spPr>
          <a:xfrm rot="0" flipH="0" flipV="0">
            <a:off x="533400" y="4448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914400" y="4429125"/>
            <a:ext cx="46386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conventions document is committed</a:t>
            </a:r>
            <a:endParaRPr/>
          </a:p>
        </p:txBody>
      </p:sp>
      <p:sp>
        <p:nvSpPr>
          <p:cNvPr id="709" name=""/>
          <p:cNvSpPr/>
          <p:nvPr/>
        </p:nvSpPr>
        <p:spPr>
          <a:xfrm rot="0" flipH="0" flipV="0">
            <a:off x="5648325" y="4438650"/>
            <a:ext cx="79057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5734050" y="4457700"/>
            <a:ext cx="6191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ten minutes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914400" y="463867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Naming, colour, decision line, export rule, ownership table. Copy the six rules from slide 30 and make them yours.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381000" y="527685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13" name=""/>
          <p:cNvSpPr/>
          <p:nvPr/>
        </p:nvSpPr>
        <p:spPr>
          <a:xfrm rot="0" flipH="0" flipV="0">
            <a:off x="533400" y="541020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914400" y="5391150"/>
            <a:ext cx="49625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Every member has pushed one commit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5972175" y="5400675"/>
            <a:ext cx="46672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057900" y="5419725"/>
            <a:ext cx="295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today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914400" y="560070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the Lead — everyone. If only one person has commits, the other three are invisible in the contribution review.</a:t>
            </a:r>
            <a:endParaRPr/>
          </a:p>
        </p:txBody>
      </p:sp>
      <p:sp>
        <p:nvSpPr>
          <p:cNvPr id="718" name=""/>
          <p:cNvSpPr/>
          <p:nvPr/>
        </p:nvSpPr>
        <p:spPr>
          <a:xfrm rot="0" flipH="0" flipV="0">
            <a:off x="6838950" y="2009775"/>
            <a:ext cx="4972050" cy="1809750"/>
          </a:xfrm>
          <a:prstGeom prst="roundRect">
            <a:avLst>
              <a:gd name="adj" fmla="val 6316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29450" y="2181225"/>
            <a:ext cx="247650" cy="24765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7029450" y="2505075"/>
            <a:ext cx="459105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M1 lands on Sun Oct 4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7029450" y="2876550"/>
            <a:ext cx="4591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C5D4EA"/>
                </a:solidFill>
                <a:latin typeface="Microsoft YaHei"/>
                <a:ea typeface="Microsoft YaHei"/>
              </a:rPr>
              <a:t>It asks for a use-case diagram and two written specifications. The toolchain you finish today is the one you will submit with — there is no second chance to install it on Oct 3.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6838950" y="393382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7010400" y="4086225"/>
            <a:ext cx="4629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Week 03 carries no deliverable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7010400" y="43148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That is deliberate. It is the breathing room before the requirements pack lands in Week 04 — use it to make the pipeline boring.</a:t>
            </a:r>
            <a:endParaRPr/>
          </a:p>
        </p:txBody>
      </p:sp>
      <p:sp>
        <p:nvSpPr>
          <p:cNvPr id="725" name=""/>
          <p:cNvSpPr/>
          <p:nvPr/>
        </p:nvSpPr>
        <p:spPr>
          <a:xfrm rot="0" flipH="0" flipV="0">
            <a:off x="6877050" y="50482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726" name=""/>
          <p:cNvSpPr/>
          <p:nvPr/>
        </p:nvSpPr>
        <p:spPr>
          <a:xfrm rot="0" flipH="0" flipV="0">
            <a:off x="6877050" y="50482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029450" y="51816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Nothing is submitted until the tag is pushed.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 commit on Sunday night is not a submission. Full protocol: Deadline Schedule §4.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381000" y="66008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1401425" y="6600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1562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Homework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381000" y="1485900"/>
            <a:ext cx="6219825" cy="1485900"/>
          </a:xfrm>
          <a:prstGeom prst="roundRect">
            <a:avLst>
              <a:gd name="adj" fmla="val 705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35" name=""/>
          <p:cNvSpPr/>
          <p:nvPr/>
        </p:nvSpPr>
        <p:spPr>
          <a:xfrm rot="0" flipH="0" flipV="0">
            <a:off x="552450" y="1628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7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1743075"/>
            <a:ext cx="180975" cy="180975"/>
          </a:xfrm>
          <a:prstGeom prst="rect">
            <a:avLst/>
          </a:prstGeom>
          <a:ln/>
        </p:spPr>
      </p:pic>
      <p:sp>
        <p:nvSpPr>
          <p:cNvPr id="737" name=""/>
          <p:cNvSpPr/>
          <p:nvPr/>
        </p:nvSpPr>
        <p:spPr>
          <a:xfrm rot="0" flipH="0" flipV="0">
            <a:off x="1095375" y="1628775"/>
            <a:ext cx="82867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1181100" y="1647825"/>
            <a:ext cx="6572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PLANTUML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2019300" y="1647825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095375" y="183832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Reproduce two diagrams from their text specs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095375" y="2133600"/>
            <a:ext cx="53340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specs are on the course site under Week 03 — 03-project/specs/W03-text-specs.md: a four-class CampusBites domain model, and a sequence diagram. Commit both .puml files with their exported PNGs.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381000" y="3076575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43" name=""/>
          <p:cNvSpPr/>
          <p:nvPr/>
        </p:nvSpPr>
        <p:spPr>
          <a:xfrm rot="0" flipH="0" flipV="0">
            <a:off x="552450" y="3219450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7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333750"/>
            <a:ext cx="180975" cy="180975"/>
          </a:xfrm>
          <a:prstGeom prst="rect">
            <a:avLst/>
          </a:prstGeom>
          <a:ln/>
        </p:spPr>
      </p:pic>
      <p:sp>
        <p:nvSpPr>
          <p:cNvPr id="745" name=""/>
          <p:cNvSpPr/>
          <p:nvPr/>
        </p:nvSpPr>
        <p:spPr>
          <a:xfrm rot="0" flipH="0" flipV="0">
            <a:off x="1095375" y="3219450"/>
            <a:ext cx="723900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181100" y="3238500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READING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914525" y="3238500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095375" y="3429000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Fowler, UML Distilled — class and sequence chapters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095375" y="3724275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skim is enough. Come back with one thing you disagree with, or one notation you had not met. We start Week 04 by collecting them.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381000" y="443865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51" name=""/>
          <p:cNvSpPr/>
          <p:nvPr/>
        </p:nvSpPr>
        <p:spPr>
          <a:xfrm rot="0" flipH="0" flipV="0">
            <a:off x="552450" y="45815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7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695825"/>
            <a:ext cx="180975" cy="180975"/>
          </a:xfrm>
          <a:prstGeom prst="rect">
            <a:avLst/>
          </a:prstGeom>
          <a:ln/>
        </p:spPr>
      </p:pic>
      <p:sp>
        <p:nvSpPr>
          <p:cNvPr id="753" name=""/>
          <p:cNvSpPr/>
          <p:nvPr/>
        </p:nvSpPr>
        <p:spPr>
          <a:xfrm rot="0" flipH="0" flipV="0">
            <a:off x="1095375" y="4581525"/>
            <a:ext cx="73342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81100" y="4600575"/>
            <a:ext cx="5619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PROJECT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1924050" y="4600575"/>
            <a:ext cx="876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End of this week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1095375" y="479107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Create the team diagrams folder and commit the conventions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95375" y="508635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docs/diagrams/ in the team repository, plus the six conventions from slide 30 written into a README. Every member should appear in the ownership table.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6829425" y="1914525"/>
            <a:ext cx="4981575" cy="1371600"/>
          </a:xfrm>
          <a:prstGeom prst="roundRect">
            <a:avLst>
              <a:gd name="adj" fmla="val 833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7019925" y="2085975"/>
            <a:ext cx="460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Why the reading is not optional homework filler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7019925" y="23622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Fowler writes in short, opinionated chapters and tells you which 20% of UML is worth your time. That is exactly the argument this lecture has been making — and he makes it in better English than I do.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6867525" y="3400425"/>
            <a:ext cx="4981575" cy="1038225"/>
          </a:xfrm>
          <a:prstGeom prst="roundRect">
            <a:avLst>
              <a:gd name="adj" fmla="val 9174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762" name=""/>
          <p:cNvSpPr/>
          <p:nvPr/>
        </p:nvSpPr>
        <p:spPr>
          <a:xfrm rot="0" flipH="0" flipV="0">
            <a:off x="6867525" y="3400425"/>
            <a:ext cx="4981575" cy="1038225"/>
          </a:xfrm>
          <a:custGeom>
            <a:pathLst>
              <a:path w="523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7038975" y="35433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The two PlantUML files count towards your individual contribution. Commit them from your own account, in your own words — even if the pair shared the keyboard.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6829425" y="4552950"/>
            <a:ext cx="4981575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981825" y="4686300"/>
            <a:ext cx="46767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syntax? plantuml.com/plantuml renders any snippet in the browser and shows the error inline. Use it, do not fight the extension.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0" y="6457950"/>
            <a:ext cx="12192000" cy="4000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1943100" y="6562725"/>
            <a:ext cx="831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Next week the requirements pack lands — and the use case stops being a picture and becomes a specification.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762000" y="17526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03 · WRAP-UP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762000" y="21145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Six diagrams.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question each.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762000" y="35528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773" name=""/>
          <p:cNvSpPr/>
          <p:nvPr/>
        </p:nvSpPr>
        <p:spPr>
          <a:xfrm rot="0" flipH="0" flipV="0">
            <a:off x="76200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87630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87630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it does</a:t>
            </a:r>
            <a:endParaRPr/>
          </a:p>
        </p:txBody>
      </p:sp>
      <p:sp>
        <p:nvSpPr>
          <p:cNvPr id="776" name=""/>
          <p:cNvSpPr/>
          <p:nvPr/>
        </p:nvSpPr>
        <p:spPr>
          <a:xfrm rot="0" flipH="0" flipV="0">
            <a:off x="256222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267652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267652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exists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435292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446722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446722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who calls whom</a:t>
            </a:r>
            <a:endParaRPr/>
          </a:p>
        </p:txBody>
      </p:sp>
      <p:sp>
        <p:nvSpPr>
          <p:cNvPr id="782" name=""/>
          <p:cNvSpPr/>
          <p:nvPr/>
        </p:nvSpPr>
        <p:spPr>
          <a:xfrm rot="0" flipH="0" flipV="0">
            <a:off x="615315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626745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626745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one life story</a:t>
            </a:r>
            <a:endParaRPr/>
          </a:p>
        </p:txBody>
      </p:sp>
      <p:sp>
        <p:nvSpPr>
          <p:cNvPr id="785" name=""/>
          <p:cNvSpPr/>
          <p:nvPr/>
        </p:nvSpPr>
        <p:spPr>
          <a:xfrm rot="0" flipH="0" flipV="0">
            <a:off x="795337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806767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806767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steps in parallel</a:t>
            </a:r>
            <a:endParaRPr/>
          </a:p>
        </p:txBody>
      </p:sp>
      <p:sp>
        <p:nvSpPr>
          <p:cNvPr id="788" name=""/>
          <p:cNvSpPr/>
          <p:nvPr/>
        </p:nvSpPr>
        <p:spPr>
          <a:xfrm rot="0" flipH="0" flipV="0">
            <a:off x="974407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985837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985837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how it is cut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2000" y="47529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Learn the question first.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The notation is only the handwriting.</a:t>
            </a:r>
            <a:endParaRPr/>
          </a:p>
        </p:txBody>
      </p:sp>
      <p:sp>
        <p:nvSpPr>
          <p:cNvPr id="79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93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794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6943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Requirements &amp; Use Case Modelling: the CampusBites requirements pack arrives.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2026-09-16T16:32:37Z</dcterms:created>
  <dcterms:modified xsi:type="dcterms:W3CDTF">2026-09-16T16:32:37Z</dcterms:modified>
</cp:coreProperties>
</file>